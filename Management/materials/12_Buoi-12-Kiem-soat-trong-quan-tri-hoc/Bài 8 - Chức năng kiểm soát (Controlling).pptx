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907" y="412826"/>
            <a:ext cx="109880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82" y="1576832"/>
            <a:ext cx="10841634" cy="319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28464" y="6514339"/>
            <a:ext cx="2355850" cy="29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7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73766" y="6416476"/>
            <a:ext cx="317500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48.png"/><Relationship Id="rId16" Type="http://schemas.openxmlformats.org/officeDocument/2006/relationships/image" Target="../media/image14.png"/><Relationship Id="rId20" Type="http://schemas.openxmlformats.org/officeDocument/2006/relationships/image" Target="../media/image5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roling jako „analityczny wywiad” do podejmowania decyzji managerskich -  felieton Krzysztofa Noska - Horeca Business Club">
            <a:extLst>
              <a:ext uri="{FF2B5EF4-FFF2-40B4-BE49-F238E27FC236}">
                <a16:creationId xmlns:a16="http://schemas.microsoft.com/office/drawing/2014/main" id="{86A82CF1-837A-D05A-AE53-755E982A9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833" y="498221"/>
            <a:ext cx="952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53262"/>
            <a:ext cx="7651750" cy="3174365"/>
            <a:chOff x="704087" y="1449311"/>
            <a:chExt cx="7651750" cy="317436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5352" y="1449311"/>
              <a:ext cx="2123694" cy="10005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087" y="1933956"/>
              <a:ext cx="7651242" cy="268909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2965" y="5715000"/>
            <a:ext cx="4974326" cy="11429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5204" y="6339713"/>
            <a:ext cx="3079575" cy="518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11908535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" y="124968"/>
              <a:ext cx="12117324" cy="61447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100" y="126492"/>
              <a:ext cx="12115800" cy="6143625"/>
            </a:xfrm>
            <a:custGeom>
              <a:avLst/>
              <a:gdLst/>
              <a:ahLst/>
              <a:cxnLst/>
              <a:rect l="l" t="t" r="r" b="b"/>
              <a:pathLst>
                <a:path w="12115800" h="6143625">
                  <a:moveTo>
                    <a:pt x="0" y="69850"/>
                  </a:moveTo>
                  <a:lnTo>
                    <a:pt x="5489" y="42648"/>
                  </a:lnTo>
                  <a:lnTo>
                    <a:pt x="20459" y="20447"/>
                  </a:lnTo>
                  <a:lnTo>
                    <a:pt x="42663" y="5484"/>
                  </a:lnTo>
                  <a:lnTo>
                    <a:pt x="69853" y="0"/>
                  </a:lnTo>
                  <a:lnTo>
                    <a:pt x="12045950" y="0"/>
                  </a:lnTo>
                  <a:lnTo>
                    <a:pt x="12073151" y="5484"/>
                  </a:lnTo>
                  <a:lnTo>
                    <a:pt x="12095353" y="20447"/>
                  </a:lnTo>
                  <a:lnTo>
                    <a:pt x="12110315" y="42648"/>
                  </a:lnTo>
                  <a:lnTo>
                    <a:pt x="12115800" y="69850"/>
                  </a:lnTo>
                  <a:lnTo>
                    <a:pt x="12115800" y="6073394"/>
                  </a:lnTo>
                  <a:lnTo>
                    <a:pt x="12110315" y="6100579"/>
                  </a:lnTo>
                  <a:lnTo>
                    <a:pt x="12095353" y="6122782"/>
                  </a:lnTo>
                  <a:lnTo>
                    <a:pt x="12073151" y="6137753"/>
                  </a:lnTo>
                  <a:lnTo>
                    <a:pt x="12045950" y="6143244"/>
                  </a:lnTo>
                  <a:lnTo>
                    <a:pt x="69853" y="6143244"/>
                  </a:lnTo>
                  <a:lnTo>
                    <a:pt x="42663" y="6137753"/>
                  </a:lnTo>
                  <a:lnTo>
                    <a:pt x="20459" y="6122782"/>
                  </a:lnTo>
                  <a:lnTo>
                    <a:pt x="5489" y="6100579"/>
                  </a:lnTo>
                  <a:lnTo>
                    <a:pt x="0" y="6073394"/>
                  </a:lnTo>
                  <a:lnTo>
                    <a:pt x="0" y="69850"/>
                  </a:lnTo>
                  <a:close/>
                </a:path>
              </a:pathLst>
            </a:custGeom>
            <a:ln w="3175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126" y="214121"/>
              <a:ext cx="11737975" cy="6006465"/>
            </a:xfrm>
            <a:custGeom>
              <a:avLst/>
              <a:gdLst/>
              <a:ahLst/>
              <a:cxnLst/>
              <a:rect l="l" t="t" r="r" b="b"/>
              <a:pathLst>
                <a:path w="11737975" h="6006465">
                  <a:moveTo>
                    <a:pt x="11737721" y="94361"/>
                  </a:moveTo>
                  <a:lnTo>
                    <a:pt x="11728069" y="57404"/>
                  </a:lnTo>
                  <a:lnTo>
                    <a:pt x="11715242" y="40386"/>
                  </a:lnTo>
                  <a:lnTo>
                    <a:pt x="11714861" y="39878"/>
                  </a:lnTo>
                  <a:lnTo>
                    <a:pt x="11714353" y="39497"/>
                  </a:lnTo>
                  <a:lnTo>
                    <a:pt x="11704320" y="31254"/>
                  </a:lnTo>
                  <a:lnTo>
                    <a:pt x="11703685" y="30607"/>
                  </a:lnTo>
                  <a:lnTo>
                    <a:pt x="11703304" y="30480"/>
                  </a:lnTo>
                  <a:lnTo>
                    <a:pt x="11696827" y="26555"/>
                  </a:lnTo>
                  <a:lnTo>
                    <a:pt x="11690096" y="23380"/>
                  </a:lnTo>
                  <a:lnTo>
                    <a:pt x="11682857" y="20701"/>
                  </a:lnTo>
                  <a:lnTo>
                    <a:pt x="11681803" y="20472"/>
                  </a:lnTo>
                  <a:lnTo>
                    <a:pt x="11681409" y="19862"/>
                  </a:lnTo>
                  <a:lnTo>
                    <a:pt x="11659845" y="5334"/>
                  </a:lnTo>
                  <a:lnTo>
                    <a:pt x="11633454" y="0"/>
                  </a:lnTo>
                  <a:lnTo>
                    <a:pt x="67868" y="0"/>
                  </a:lnTo>
                  <a:lnTo>
                    <a:pt x="41452" y="5334"/>
                  </a:lnTo>
                  <a:lnTo>
                    <a:pt x="19875" y="19862"/>
                  </a:lnTo>
                  <a:lnTo>
                    <a:pt x="5334" y="41427"/>
                  </a:lnTo>
                  <a:lnTo>
                    <a:pt x="0" y="67830"/>
                  </a:lnTo>
                  <a:lnTo>
                    <a:pt x="0" y="5901639"/>
                  </a:lnTo>
                  <a:lnTo>
                    <a:pt x="5334" y="5928055"/>
                  </a:lnTo>
                  <a:lnTo>
                    <a:pt x="19875" y="5949632"/>
                  </a:lnTo>
                  <a:lnTo>
                    <a:pt x="20523" y="5950077"/>
                  </a:lnTo>
                  <a:lnTo>
                    <a:pt x="21056" y="5952121"/>
                  </a:lnTo>
                  <a:lnTo>
                    <a:pt x="51968" y="5992965"/>
                  </a:lnTo>
                  <a:lnTo>
                    <a:pt x="94856" y="6005969"/>
                  </a:lnTo>
                  <a:lnTo>
                    <a:pt x="11660886" y="6005957"/>
                  </a:lnTo>
                  <a:lnTo>
                    <a:pt x="11703355" y="5992927"/>
                  </a:lnTo>
                  <a:lnTo>
                    <a:pt x="11704320" y="5992165"/>
                  </a:lnTo>
                  <a:lnTo>
                    <a:pt x="11710645" y="5986932"/>
                  </a:lnTo>
                  <a:lnTo>
                    <a:pt x="11714353" y="5983871"/>
                  </a:lnTo>
                  <a:lnTo>
                    <a:pt x="11714861" y="5983490"/>
                  </a:lnTo>
                  <a:lnTo>
                    <a:pt x="11715242" y="5983071"/>
                  </a:lnTo>
                  <a:lnTo>
                    <a:pt x="11723878" y="5972619"/>
                  </a:lnTo>
                  <a:lnTo>
                    <a:pt x="11724259" y="5972264"/>
                  </a:lnTo>
                  <a:lnTo>
                    <a:pt x="11724767" y="5971502"/>
                  </a:lnTo>
                  <a:lnTo>
                    <a:pt x="11737721" y="5928626"/>
                  </a:lnTo>
                  <a:lnTo>
                    <a:pt x="11737721" y="94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6125" y="214122"/>
              <a:ext cx="11701780" cy="5969635"/>
            </a:xfrm>
            <a:custGeom>
              <a:avLst/>
              <a:gdLst/>
              <a:ahLst/>
              <a:cxnLst/>
              <a:rect l="l" t="t" r="r" b="b"/>
              <a:pathLst>
                <a:path w="11701780" h="5969635">
                  <a:moveTo>
                    <a:pt x="0" y="67818"/>
                  </a:moveTo>
                  <a:lnTo>
                    <a:pt x="5334" y="41415"/>
                  </a:lnTo>
                  <a:lnTo>
                    <a:pt x="19880" y="19859"/>
                  </a:lnTo>
                  <a:lnTo>
                    <a:pt x="41453" y="5328"/>
                  </a:lnTo>
                  <a:lnTo>
                    <a:pt x="67868" y="0"/>
                  </a:lnTo>
                  <a:lnTo>
                    <a:pt x="11633454" y="0"/>
                  </a:lnTo>
                  <a:lnTo>
                    <a:pt x="11659856" y="5328"/>
                  </a:lnTo>
                  <a:lnTo>
                    <a:pt x="11681412" y="19859"/>
                  </a:lnTo>
                  <a:lnTo>
                    <a:pt x="11695943" y="41415"/>
                  </a:lnTo>
                  <a:lnTo>
                    <a:pt x="11701272" y="67818"/>
                  </a:lnTo>
                  <a:lnTo>
                    <a:pt x="11701272" y="5901639"/>
                  </a:lnTo>
                  <a:lnTo>
                    <a:pt x="11695943" y="5928054"/>
                  </a:lnTo>
                  <a:lnTo>
                    <a:pt x="11681412" y="5949627"/>
                  </a:lnTo>
                  <a:lnTo>
                    <a:pt x="11659856" y="5964173"/>
                  </a:lnTo>
                  <a:lnTo>
                    <a:pt x="11633454" y="5969508"/>
                  </a:lnTo>
                  <a:lnTo>
                    <a:pt x="67868" y="5969508"/>
                  </a:lnTo>
                  <a:lnTo>
                    <a:pt x="41453" y="5964173"/>
                  </a:lnTo>
                  <a:lnTo>
                    <a:pt x="19880" y="5949627"/>
                  </a:lnTo>
                  <a:lnTo>
                    <a:pt x="5334" y="5928054"/>
                  </a:lnTo>
                  <a:lnTo>
                    <a:pt x="0" y="5901639"/>
                  </a:lnTo>
                  <a:lnTo>
                    <a:pt x="0" y="67818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27948" y="6272783"/>
              <a:ext cx="1240790" cy="431800"/>
            </a:xfrm>
            <a:custGeom>
              <a:avLst/>
              <a:gdLst/>
              <a:ahLst/>
              <a:cxnLst/>
              <a:rect l="l" t="t" r="r" b="b"/>
              <a:pathLst>
                <a:path w="1240790" h="431800">
                  <a:moveTo>
                    <a:pt x="605028" y="0"/>
                  </a:moveTo>
                  <a:lnTo>
                    <a:pt x="431800" y="0"/>
                  </a:lnTo>
                  <a:lnTo>
                    <a:pt x="0" y="431292"/>
                  </a:lnTo>
                  <a:lnTo>
                    <a:pt x="173228" y="431292"/>
                  </a:lnTo>
                  <a:lnTo>
                    <a:pt x="605028" y="0"/>
                  </a:lnTo>
                  <a:close/>
                </a:path>
                <a:path w="1240790" h="431800">
                  <a:moveTo>
                    <a:pt x="922020" y="0"/>
                  </a:moveTo>
                  <a:lnTo>
                    <a:pt x="749173" y="0"/>
                  </a:lnTo>
                  <a:lnTo>
                    <a:pt x="318516" y="431292"/>
                  </a:lnTo>
                  <a:lnTo>
                    <a:pt x="491363" y="431292"/>
                  </a:lnTo>
                  <a:lnTo>
                    <a:pt x="922020" y="0"/>
                  </a:lnTo>
                  <a:close/>
                </a:path>
                <a:path w="1240790" h="431800">
                  <a:moveTo>
                    <a:pt x="1240536" y="0"/>
                  </a:moveTo>
                  <a:lnTo>
                    <a:pt x="1067689" y="0"/>
                  </a:lnTo>
                  <a:lnTo>
                    <a:pt x="637032" y="431292"/>
                  </a:lnTo>
                  <a:lnTo>
                    <a:pt x="809879" y="4312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6588" y="6425178"/>
              <a:ext cx="605027" cy="4328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76588" y="6422936"/>
              <a:ext cx="607060" cy="435609"/>
            </a:xfrm>
            <a:custGeom>
              <a:avLst/>
              <a:gdLst/>
              <a:ahLst/>
              <a:cxnLst/>
              <a:rect l="l" t="t" r="r" b="b"/>
              <a:pathLst>
                <a:path w="607059" h="435609">
                  <a:moveTo>
                    <a:pt x="2285" y="0"/>
                  </a:moveTo>
                  <a:lnTo>
                    <a:pt x="940" y="3191"/>
                  </a:lnTo>
                  <a:lnTo>
                    <a:pt x="431297" y="435061"/>
                  </a:lnTo>
                  <a:lnTo>
                    <a:pt x="600514" y="435061"/>
                  </a:lnTo>
                  <a:lnTo>
                    <a:pt x="599799" y="434344"/>
                  </a:lnTo>
                  <a:lnTo>
                    <a:pt x="435101" y="434344"/>
                  </a:lnTo>
                  <a:lnTo>
                    <a:pt x="432815" y="433410"/>
                  </a:lnTo>
                  <a:lnTo>
                    <a:pt x="434171" y="433410"/>
                  </a:lnTo>
                  <a:lnTo>
                    <a:pt x="2285" y="0"/>
                  </a:lnTo>
                  <a:close/>
                </a:path>
                <a:path w="607059" h="435609">
                  <a:moveTo>
                    <a:pt x="171450" y="4483"/>
                  </a:moveTo>
                  <a:lnTo>
                    <a:pt x="600514" y="435061"/>
                  </a:lnTo>
                  <a:lnTo>
                    <a:pt x="605033" y="435061"/>
                  </a:lnTo>
                  <a:lnTo>
                    <a:pt x="176899" y="5422"/>
                  </a:lnTo>
                  <a:lnTo>
                    <a:pt x="173735" y="5422"/>
                  </a:lnTo>
                  <a:lnTo>
                    <a:pt x="171450" y="4483"/>
                  </a:lnTo>
                  <a:close/>
                </a:path>
                <a:path w="607059" h="435609">
                  <a:moveTo>
                    <a:pt x="606551" y="433410"/>
                  </a:moveTo>
                  <a:lnTo>
                    <a:pt x="603388" y="433410"/>
                  </a:lnTo>
                  <a:lnTo>
                    <a:pt x="605033" y="435061"/>
                  </a:lnTo>
                  <a:lnTo>
                    <a:pt x="605855" y="435061"/>
                  </a:lnTo>
                  <a:lnTo>
                    <a:pt x="606551" y="433410"/>
                  </a:lnTo>
                  <a:close/>
                </a:path>
                <a:path w="607059" h="435609">
                  <a:moveTo>
                    <a:pt x="434171" y="433410"/>
                  </a:moveTo>
                  <a:lnTo>
                    <a:pt x="432815" y="433410"/>
                  </a:lnTo>
                  <a:lnTo>
                    <a:pt x="435101" y="434344"/>
                  </a:lnTo>
                  <a:lnTo>
                    <a:pt x="434171" y="433410"/>
                  </a:lnTo>
                  <a:close/>
                </a:path>
                <a:path w="607059" h="435609">
                  <a:moveTo>
                    <a:pt x="598869" y="433410"/>
                  </a:moveTo>
                  <a:lnTo>
                    <a:pt x="434171" y="433410"/>
                  </a:lnTo>
                  <a:lnTo>
                    <a:pt x="435101" y="434344"/>
                  </a:lnTo>
                  <a:lnTo>
                    <a:pt x="599799" y="434344"/>
                  </a:lnTo>
                  <a:lnTo>
                    <a:pt x="598869" y="433410"/>
                  </a:lnTo>
                  <a:close/>
                </a:path>
                <a:path w="607059" h="435609">
                  <a:moveTo>
                    <a:pt x="940" y="3191"/>
                  </a:moveTo>
                  <a:lnTo>
                    <a:pt x="0" y="5422"/>
                  </a:lnTo>
                  <a:lnTo>
                    <a:pt x="3163" y="5422"/>
                  </a:lnTo>
                  <a:lnTo>
                    <a:pt x="940" y="3191"/>
                  </a:lnTo>
                  <a:close/>
                </a:path>
                <a:path w="607059" h="435609">
                  <a:moveTo>
                    <a:pt x="173735" y="2247"/>
                  </a:moveTo>
                  <a:lnTo>
                    <a:pt x="4525" y="2247"/>
                  </a:lnTo>
                  <a:lnTo>
                    <a:pt x="7689" y="5422"/>
                  </a:lnTo>
                  <a:lnTo>
                    <a:pt x="172386" y="5422"/>
                  </a:lnTo>
                  <a:lnTo>
                    <a:pt x="171450" y="4483"/>
                  </a:lnTo>
                  <a:lnTo>
                    <a:pt x="175963" y="4483"/>
                  </a:lnTo>
                  <a:lnTo>
                    <a:pt x="173735" y="2247"/>
                  </a:lnTo>
                  <a:close/>
                </a:path>
                <a:path w="607059" h="435609">
                  <a:moveTo>
                    <a:pt x="175963" y="4483"/>
                  </a:moveTo>
                  <a:lnTo>
                    <a:pt x="171450" y="4483"/>
                  </a:lnTo>
                  <a:lnTo>
                    <a:pt x="173735" y="5422"/>
                  </a:lnTo>
                  <a:lnTo>
                    <a:pt x="176899" y="5422"/>
                  </a:lnTo>
                  <a:lnTo>
                    <a:pt x="175963" y="4483"/>
                  </a:lnTo>
                  <a:close/>
                </a:path>
                <a:path w="607059" h="435609">
                  <a:moveTo>
                    <a:pt x="1338" y="2247"/>
                  </a:moveTo>
                  <a:lnTo>
                    <a:pt x="0" y="2247"/>
                  </a:lnTo>
                  <a:lnTo>
                    <a:pt x="940" y="3191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8071" y="6425178"/>
              <a:ext cx="606551" cy="432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958071" y="6422936"/>
              <a:ext cx="608330" cy="435609"/>
            </a:xfrm>
            <a:custGeom>
              <a:avLst/>
              <a:gdLst/>
              <a:ahLst/>
              <a:cxnLst/>
              <a:rect l="l" t="t" r="r" b="b"/>
              <a:pathLst>
                <a:path w="608329" h="435609">
                  <a:moveTo>
                    <a:pt x="2285" y="0"/>
                  </a:moveTo>
                  <a:lnTo>
                    <a:pt x="941" y="3189"/>
                  </a:lnTo>
                  <a:lnTo>
                    <a:pt x="432436" y="435061"/>
                  </a:lnTo>
                  <a:lnTo>
                    <a:pt x="602026" y="435061"/>
                  </a:lnTo>
                  <a:lnTo>
                    <a:pt x="601307" y="434341"/>
                  </a:lnTo>
                  <a:lnTo>
                    <a:pt x="436118" y="434341"/>
                  </a:lnTo>
                  <a:lnTo>
                    <a:pt x="433958" y="433410"/>
                  </a:lnTo>
                  <a:lnTo>
                    <a:pt x="435188" y="433410"/>
                  </a:lnTo>
                  <a:lnTo>
                    <a:pt x="2285" y="0"/>
                  </a:lnTo>
                  <a:close/>
                </a:path>
                <a:path w="608329" h="435609">
                  <a:moveTo>
                    <a:pt x="171957" y="4495"/>
                  </a:moveTo>
                  <a:lnTo>
                    <a:pt x="602026" y="435061"/>
                  </a:lnTo>
                  <a:lnTo>
                    <a:pt x="606553" y="435061"/>
                  </a:lnTo>
                  <a:lnTo>
                    <a:pt x="177289" y="5422"/>
                  </a:lnTo>
                  <a:lnTo>
                    <a:pt x="174117" y="5422"/>
                  </a:lnTo>
                  <a:lnTo>
                    <a:pt x="171957" y="4495"/>
                  </a:lnTo>
                  <a:close/>
                </a:path>
                <a:path w="608329" h="435609">
                  <a:moveTo>
                    <a:pt x="608076" y="433410"/>
                  </a:moveTo>
                  <a:lnTo>
                    <a:pt x="604903" y="433410"/>
                  </a:lnTo>
                  <a:lnTo>
                    <a:pt x="606553" y="435061"/>
                  </a:lnTo>
                  <a:lnTo>
                    <a:pt x="607379" y="435061"/>
                  </a:lnTo>
                  <a:lnTo>
                    <a:pt x="608076" y="433410"/>
                  </a:lnTo>
                  <a:close/>
                </a:path>
                <a:path w="608329" h="435609">
                  <a:moveTo>
                    <a:pt x="435188" y="433410"/>
                  </a:moveTo>
                  <a:lnTo>
                    <a:pt x="433958" y="433410"/>
                  </a:lnTo>
                  <a:lnTo>
                    <a:pt x="436118" y="434341"/>
                  </a:lnTo>
                  <a:lnTo>
                    <a:pt x="435188" y="433410"/>
                  </a:lnTo>
                  <a:close/>
                </a:path>
                <a:path w="608329" h="435609">
                  <a:moveTo>
                    <a:pt x="600377" y="433410"/>
                  </a:moveTo>
                  <a:lnTo>
                    <a:pt x="435188" y="433410"/>
                  </a:lnTo>
                  <a:lnTo>
                    <a:pt x="436118" y="434341"/>
                  </a:lnTo>
                  <a:lnTo>
                    <a:pt x="601307" y="434341"/>
                  </a:lnTo>
                  <a:lnTo>
                    <a:pt x="600377" y="433410"/>
                  </a:lnTo>
                  <a:close/>
                </a:path>
                <a:path w="608329" h="435609">
                  <a:moveTo>
                    <a:pt x="941" y="3189"/>
                  </a:moveTo>
                  <a:lnTo>
                    <a:pt x="0" y="5422"/>
                  </a:lnTo>
                  <a:lnTo>
                    <a:pt x="3172" y="5422"/>
                  </a:lnTo>
                  <a:lnTo>
                    <a:pt x="941" y="3189"/>
                  </a:lnTo>
                  <a:close/>
                </a:path>
                <a:path w="608329" h="435609">
                  <a:moveTo>
                    <a:pt x="174117" y="2247"/>
                  </a:moveTo>
                  <a:lnTo>
                    <a:pt x="4531" y="2247"/>
                  </a:lnTo>
                  <a:lnTo>
                    <a:pt x="7702" y="5422"/>
                  </a:lnTo>
                  <a:lnTo>
                    <a:pt x="172884" y="5422"/>
                  </a:lnTo>
                  <a:lnTo>
                    <a:pt x="171957" y="4495"/>
                  </a:lnTo>
                  <a:lnTo>
                    <a:pt x="176362" y="4495"/>
                  </a:lnTo>
                  <a:lnTo>
                    <a:pt x="174117" y="2247"/>
                  </a:lnTo>
                  <a:close/>
                </a:path>
                <a:path w="608329" h="435609">
                  <a:moveTo>
                    <a:pt x="176362" y="4495"/>
                  </a:moveTo>
                  <a:lnTo>
                    <a:pt x="171957" y="4495"/>
                  </a:lnTo>
                  <a:lnTo>
                    <a:pt x="174117" y="5422"/>
                  </a:lnTo>
                  <a:lnTo>
                    <a:pt x="177289" y="5422"/>
                  </a:lnTo>
                  <a:lnTo>
                    <a:pt x="176362" y="4495"/>
                  </a:lnTo>
                  <a:close/>
                </a:path>
                <a:path w="608329" h="435609">
                  <a:moveTo>
                    <a:pt x="1338" y="2247"/>
                  </a:moveTo>
                  <a:lnTo>
                    <a:pt x="0" y="2247"/>
                  </a:lnTo>
                  <a:lnTo>
                    <a:pt x="941" y="3189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1080" y="6425178"/>
              <a:ext cx="605027" cy="4328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766815"/>
              <a:ext cx="1703832" cy="10911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8576" y="5961888"/>
              <a:ext cx="2596896" cy="8961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53856" y="6362700"/>
              <a:ext cx="349757" cy="3192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54744" y="6364389"/>
              <a:ext cx="350520" cy="318770"/>
            </a:xfrm>
            <a:custGeom>
              <a:avLst/>
              <a:gdLst/>
              <a:ahLst/>
              <a:cxnLst/>
              <a:rect l="l" t="t" r="r" b="b"/>
              <a:pathLst>
                <a:path w="350520" h="318770">
                  <a:moveTo>
                    <a:pt x="350393" y="206235"/>
                  </a:moveTo>
                  <a:lnTo>
                    <a:pt x="235203" y="128346"/>
                  </a:lnTo>
                  <a:lnTo>
                    <a:pt x="217804" y="0"/>
                  </a:lnTo>
                  <a:lnTo>
                    <a:pt x="138683" y="102476"/>
                  </a:lnTo>
                  <a:lnTo>
                    <a:pt x="0" y="112344"/>
                  </a:lnTo>
                  <a:lnTo>
                    <a:pt x="115188" y="190233"/>
                  </a:lnTo>
                  <a:lnTo>
                    <a:pt x="132460" y="318579"/>
                  </a:lnTo>
                  <a:lnTo>
                    <a:pt x="211708" y="216090"/>
                  </a:lnTo>
                  <a:lnTo>
                    <a:pt x="350393" y="206235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0956" y="6577583"/>
              <a:ext cx="128016" cy="1173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412480" y="6579107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2" y="57912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2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4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2" y="57912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03792" y="6092952"/>
              <a:ext cx="204850" cy="1864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005951" y="6095149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5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25"/>
                  </a:lnTo>
                  <a:lnTo>
                    <a:pt x="0" y="77482"/>
                  </a:lnTo>
                  <a:lnTo>
                    <a:pt x="69723" y="113474"/>
                  </a:lnTo>
                  <a:lnTo>
                    <a:pt x="88010" y="184264"/>
                  </a:lnTo>
                  <a:lnTo>
                    <a:pt x="125602" y="121539"/>
                  </a:lnTo>
                  <a:lnTo>
                    <a:pt x="202692" y="10678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2228" y="6153911"/>
              <a:ext cx="97536" cy="899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683752" y="6155435"/>
              <a:ext cx="96520" cy="88900"/>
            </a:xfrm>
            <a:custGeom>
              <a:avLst/>
              <a:gdLst/>
              <a:ahLst/>
              <a:cxnLst/>
              <a:rect l="l" t="t" r="r" b="b"/>
              <a:pathLst>
                <a:path w="96520" h="88900">
                  <a:moveTo>
                    <a:pt x="96012" y="44195"/>
                  </a:moveTo>
                  <a:lnTo>
                    <a:pt x="92243" y="26992"/>
                  </a:lnTo>
                  <a:lnTo>
                    <a:pt x="81962" y="12944"/>
                  </a:lnTo>
                  <a:lnTo>
                    <a:pt x="66704" y="3473"/>
                  </a:lnTo>
                  <a:lnTo>
                    <a:pt x="48005" y="0"/>
                  </a:lnTo>
                  <a:lnTo>
                    <a:pt x="29307" y="3473"/>
                  </a:lnTo>
                  <a:lnTo>
                    <a:pt x="14049" y="12944"/>
                  </a:lnTo>
                  <a:lnTo>
                    <a:pt x="3768" y="26992"/>
                  </a:lnTo>
                  <a:lnTo>
                    <a:pt x="0" y="44195"/>
                  </a:lnTo>
                  <a:lnTo>
                    <a:pt x="3768" y="61399"/>
                  </a:lnTo>
                  <a:lnTo>
                    <a:pt x="14049" y="75447"/>
                  </a:lnTo>
                  <a:lnTo>
                    <a:pt x="29307" y="84918"/>
                  </a:lnTo>
                  <a:lnTo>
                    <a:pt x="48005" y="88391"/>
                  </a:lnTo>
                  <a:lnTo>
                    <a:pt x="66704" y="84918"/>
                  </a:lnTo>
                  <a:lnTo>
                    <a:pt x="81962" y="75447"/>
                  </a:lnTo>
                  <a:lnTo>
                    <a:pt x="92243" y="61399"/>
                  </a:lnTo>
                  <a:lnTo>
                    <a:pt x="96012" y="44195"/>
                  </a:lnTo>
                  <a:close/>
                </a:path>
              </a:pathLst>
            </a:custGeom>
            <a:ln w="12699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3643" y="6291071"/>
              <a:ext cx="128015" cy="1173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345168" y="6292596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1" y="57911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1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3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1" y="5791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1723" y="6330696"/>
              <a:ext cx="73151" cy="670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223247" y="6332220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3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3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29828" y="6380988"/>
              <a:ext cx="73151" cy="6705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31352" y="6382511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4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4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71076" y="6518147"/>
              <a:ext cx="204597" cy="1860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72981" y="6519900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4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12"/>
                  </a:lnTo>
                  <a:lnTo>
                    <a:pt x="0" y="77469"/>
                  </a:lnTo>
                  <a:lnTo>
                    <a:pt x="69850" y="113461"/>
                  </a:lnTo>
                  <a:lnTo>
                    <a:pt x="88011" y="184251"/>
                  </a:lnTo>
                  <a:lnTo>
                    <a:pt x="125602" y="121538"/>
                  </a:lnTo>
                  <a:lnTo>
                    <a:pt x="202692" y="106781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13976" y="6617207"/>
              <a:ext cx="73151" cy="670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25640" y="299720"/>
              <a:ext cx="6466840" cy="5852795"/>
            </a:xfrm>
            <a:custGeom>
              <a:avLst/>
              <a:gdLst/>
              <a:ahLst/>
              <a:cxnLst/>
              <a:rect l="l" t="t" r="r" b="b"/>
              <a:pathLst>
                <a:path w="6466840" h="5852795">
                  <a:moveTo>
                    <a:pt x="6399771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7"/>
                  </a:lnTo>
                  <a:lnTo>
                    <a:pt x="0" y="5785688"/>
                  </a:lnTo>
                  <a:lnTo>
                    <a:pt x="5229" y="5811589"/>
                  </a:lnTo>
                  <a:lnTo>
                    <a:pt x="19489" y="5832738"/>
                  </a:lnTo>
                  <a:lnTo>
                    <a:pt x="40639" y="5846995"/>
                  </a:lnTo>
                  <a:lnTo>
                    <a:pt x="66535" y="5852223"/>
                  </a:lnTo>
                  <a:lnTo>
                    <a:pt x="6399771" y="5852223"/>
                  </a:lnTo>
                  <a:lnTo>
                    <a:pt x="6425707" y="5846995"/>
                  </a:lnTo>
                  <a:lnTo>
                    <a:pt x="6446856" y="5832738"/>
                  </a:lnTo>
                  <a:lnTo>
                    <a:pt x="6461100" y="5811589"/>
                  </a:lnTo>
                  <a:lnTo>
                    <a:pt x="6466319" y="5785688"/>
                  </a:lnTo>
                  <a:lnTo>
                    <a:pt x="6466319" y="66547"/>
                  </a:lnTo>
                  <a:lnTo>
                    <a:pt x="6461100" y="40665"/>
                  </a:lnTo>
                  <a:lnTo>
                    <a:pt x="6446856" y="19510"/>
                  </a:lnTo>
                  <a:lnTo>
                    <a:pt x="6425707" y="5236"/>
                  </a:lnTo>
                  <a:lnTo>
                    <a:pt x="6399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8704" y="272795"/>
              <a:ext cx="6466840" cy="5852795"/>
            </a:xfrm>
            <a:custGeom>
              <a:avLst/>
              <a:gdLst/>
              <a:ahLst/>
              <a:cxnLst/>
              <a:rect l="l" t="t" r="r" b="b"/>
              <a:pathLst>
                <a:path w="6466840" h="5852795">
                  <a:moveTo>
                    <a:pt x="6399784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8"/>
                  </a:lnTo>
                  <a:lnTo>
                    <a:pt x="0" y="5785675"/>
                  </a:lnTo>
                  <a:lnTo>
                    <a:pt x="5229" y="5811571"/>
                  </a:lnTo>
                  <a:lnTo>
                    <a:pt x="19489" y="5832721"/>
                  </a:lnTo>
                  <a:lnTo>
                    <a:pt x="40639" y="5846981"/>
                  </a:lnTo>
                  <a:lnTo>
                    <a:pt x="66535" y="5852210"/>
                  </a:lnTo>
                  <a:lnTo>
                    <a:pt x="6399784" y="5852210"/>
                  </a:lnTo>
                  <a:lnTo>
                    <a:pt x="6425666" y="5846981"/>
                  </a:lnTo>
                  <a:lnTo>
                    <a:pt x="6446821" y="5832721"/>
                  </a:lnTo>
                  <a:lnTo>
                    <a:pt x="6461095" y="5811571"/>
                  </a:lnTo>
                  <a:lnTo>
                    <a:pt x="6466332" y="5785675"/>
                  </a:lnTo>
                  <a:lnTo>
                    <a:pt x="6466332" y="66548"/>
                  </a:lnTo>
                  <a:lnTo>
                    <a:pt x="6461095" y="40665"/>
                  </a:lnTo>
                  <a:lnTo>
                    <a:pt x="6446821" y="19510"/>
                  </a:lnTo>
                  <a:lnTo>
                    <a:pt x="6425666" y="5236"/>
                  </a:lnTo>
                  <a:lnTo>
                    <a:pt x="6399784" y="0"/>
                  </a:lnTo>
                  <a:close/>
                </a:path>
              </a:pathLst>
            </a:custGeom>
            <a:solidFill>
              <a:srgbClr val="EBE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1188" y="341375"/>
              <a:ext cx="3227070" cy="13129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41819" y="1214627"/>
              <a:ext cx="4366260" cy="44775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69128" y="1241515"/>
              <a:ext cx="4262787" cy="43749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933432" y="6457188"/>
              <a:ext cx="1583690" cy="203200"/>
            </a:xfrm>
            <a:custGeom>
              <a:avLst/>
              <a:gdLst/>
              <a:ahLst/>
              <a:cxnLst/>
              <a:rect l="l" t="t" r="r" b="b"/>
              <a:pathLst>
                <a:path w="1583690" h="203200">
                  <a:moveTo>
                    <a:pt x="1583436" y="0"/>
                  </a:moveTo>
                  <a:lnTo>
                    <a:pt x="1570736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89992"/>
                  </a:lnTo>
                  <a:lnTo>
                    <a:pt x="0" y="202692"/>
                  </a:lnTo>
                  <a:lnTo>
                    <a:pt x="12700" y="202692"/>
                  </a:lnTo>
                  <a:lnTo>
                    <a:pt x="1570736" y="202692"/>
                  </a:lnTo>
                  <a:lnTo>
                    <a:pt x="1583436" y="202692"/>
                  </a:lnTo>
                  <a:lnTo>
                    <a:pt x="1583436" y="189992"/>
                  </a:lnTo>
                  <a:lnTo>
                    <a:pt x="1583436" y="12700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00566" y="806576"/>
              <a:ext cx="1537334" cy="1479423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27126" y="1946275"/>
            <a:ext cx="6393180" cy="334835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Explain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nature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importance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control.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three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steps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process.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Explain</a:t>
            </a:r>
            <a:r>
              <a:rPr sz="2400" b="1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employee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measured.</a:t>
            </a:r>
            <a:endParaRPr sz="2400">
              <a:latin typeface="Trebuchet MS"/>
              <a:cs typeface="Trebuchet MS"/>
            </a:endParaRPr>
          </a:p>
          <a:p>
            <a:pPr marL="299085" marR="190500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400" b="1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tools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used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measure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organizational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performance.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Discuss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contemporary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issues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control.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084307" y="6478341"/>
            <a:ext cx="11595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5" dirty="0"/>
              <a:t>WHAT</a:t>
            </a:r>
            <a:r>
              <a:rPr spc="355" dirty="0"/>
              <a:t> </a:t>
            </a:r>
            <a:r>
              <a:rPr spc="95" dirty="0"/>
              <a:t>IS</a:t>
            </a:r>
            <a:r>
              <a:rPr spc="409" dirty="0"/>
              <a:t> </a:t>
            </a:r>
            <a:r>
              <a:rPr spc="165" dirty="0"/>
              <a:t>CONTROLLING?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642" y="1349755"/>
            <a:ext cx="104362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105025" algn="l"/>
                <a:tab pos="2444750" algn="l"/>
                <a:tab pos="3031490" algn="l"/>
                <a:tab pos="4168775" algn="l"/>
                <a:tab pos="4599940" algn="l"/>
                <a:tab pos="6185535" algn="l"/>
                <a:tab pos="7697470" algn="l"/>
                <a:tab pos="8322309" algn="l"/>
                <a:tab pos="977455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Controlling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process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monitoring,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comparing,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correcting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work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performance.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0268" y="3153155"/>
            <a:ext cx="5372100" cy="1041400"/>
            <a:chOff x="620268" y="3153155"/>
            <a:chExt cx="5372100" cy="1041400"/>
          </a:xfrm>
        </p:grpSpPr>
        <p:sp>
          <p:nvSpPr>
            <p:cNvPr id="5" name="object 5"/>
            <p:cNvSpPr/>
            <p:nvPr/>
          </p:nvSpPr>
          <p:spPr>
            <a:xfrm>
              <a:off x="621792" y="3154679"/>
              <a:ext cx="5369560" cy="1038225"/>
            </a:xfrm>
            <a:custGeom>
              <a:avLst/>
              <a:gdLst/>
              <a:ahLst/>
              <a:cxnLst/>
              <a:rect l="l" t="t" r="r" b="b"/>
              <a:pathLst>
                <a:path w="5369560" h="1038225">
                  <a:moveTo>
                    <a:pt x="5196078" y="0"/>
                  </a:moveTo>
                  <a:lnTo>
                    <a:pt x="172973" y="0"/>
                  </a:lnTo>
                  <a:lnTo>
                    <a:pt x="126991" y="6180"/>
                  </a:lnTo>
                  <a:lnTo>
                    <a:pt x="85671" y="23622"/>
                  </a:lnTo>
                  <a:lnTo>
                    <a:pt x="50663" y="50673"/>
                  </a:lnTo>
                  <a:lnTo>
                    <a:pt x="23616" y="85682"/>
                  </a:lnTo>
                  <a:lnTo>
                    <a:pt x="6178" y="127000"/>
                  </a:lnTo>
                  <a:lnTo>
                    <a:pt x="0" y="172974"/>
                  </a:lnTo>
                  <a:lnTo>
                    <a:pt x="0" y="864870"/>
                  </a:lnTo>
                  <a:lnTo>
                    <a:pt x="6178" y="910844"/>
                  </a:lnTo>
                  <a:lnTo>
                    <a:pt x="23616" y="952161"/>
                  </a:lnTo>
                  <a:lnTo>
                    <a:pt x="50663" y="987171"/>
                  </a:lnTo>
                  <a:lnTo>
                    <a:pt x="85671" y="1014222"/>
                  </a:lnTo>
                  <a:lnTo>
                    <a:pt x="126991" y="1031663"/>
                  </a:lnTo>
                  <a:lnTo>
                    <a:pt x="172973" y="1037844"/>
                  </a:lnTo>
                  <a:lnTo>
                    <a:pt x="5196078" y="1037844"/>
                  </a:lnTo>
                  <a:lnTo>
                    <a:pt x="5242052" y="1031663"/>
                  </a:lnTo>
                  <a:lnTo>
                    <a:pt x="5283369" y="1014222"/>
                  </a:lnTo>
                  <a:lnTo>
                    <a:pt x="5318379" y="987171"/>
                  </a:lnTo>
                  <a:lnTo>
                    <a:pt x="5345430" y="952161"/>
                  </a:lnTo>
                  <a:lnTo>
                    <a:pt x="5362871" y="910844"/>
                  </a:lnTo>
                  <a:lnTo>
                    <a:pt x="5369052" y="864870"/>
                  </a:lnTo>
                  <a:lnTo>
                    <a:pt x="5369052" y="172974"/>
                  </a:lnTo>
                  <a:lnTo>
                    <a:pt x="5362871" y="127000"/>
                  </a:lnTo>
                  <a:lnTo>
                    <a:pt x="5345430" y="85682"/>
                  </a:lnTo>
                  <a:lnTo>
                    <a:pt x="5318379" y="50673"/>
                  </a:lnTo>
                  <a:lnTo>
                    <a:pt x="5283369" y="23622"/>
                  </a:lnTo>
                  <a:lnTo>
                    <a:pt x="5242052" y="6180"/>
                  </a:lnTo>
                  <a:lnTo>
                    <a:pt x="5196078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0268" y="3153155"/>
              <a:ext cx="5372100" cy="1041400"/>
            </a:xfrm>
            <a:custGeom>
              <a:avLst/>
              <a:gdLst/>
              <a:ahLst/>
              <a:cxnLst/>
              <a:rect l="l" t="t" r="r" b="b"/>
              <a:pathLst>
                <a:path w="5372100" h="1041400">
                  <a:moveTo>
                    <a:pt x="5198999" y="0"/>
                  </a:moveTo>
                  <a:lnTo>
                    <a:pt x="173164" y="0"/>
                  </a:lnTo>
                  <a:lnTo>
                    <a:pt x="155447" y="889"/>
                  </a:lnTo>
                  <a:lnTo>
                    <a:pt x="105727" y="13589"/>
                  </a:lnTo>
                  <a:lnTo>
                    <a:pt x="63055" y="39624"/>
                  </a:lnTo>
                  <a:lnTo>
                    <a:pt x="29616" y="76454"/>
                  </a:lnTo>
                  <a:lnTo>
                    <a:pt x="7810" y="121920"/>
                  </a:lnTo>
                  <a:lnTo>
                    <a:pt x="0" y="173482"/>
                  </a:lnTo>
                  <a:lnTo>
                    <a:pt x="0" y="867410"/>
                  </a:lnTo>
                  <a:lnTo>
                    <a:pt x="7810" y="919099"/>
                  </a:lnTo>
                  <a:lnTo>
                    <a:pt x="29616" y="964438"/>
                  </a:lnTo>
                  <a:lnTo>
                    <a:pt x="63055" y="1001268"/>
                  </a:lnTo>
                  <a:lnTo>
                    <a:pt x="105727" y="1027303"/>
                  </a:lnTo>
                  <a:lnTo>
                    <a:pt x="155447" y="1040003"/>
                  </a:lnTo>
                  <a:lnTo>
                    <a:pt x="173164" y="1040892"/>
                  </a:lnTo>
                  <a:lnTo>
                    <a:pt x="5198999" y="1040892"/>
                  </a:lnTo>
                  <a:lnTo>
                    <a:pt x="5216779" y="1040003"/>
                  </a:lnTo>
                  <a:lnTo>
                    <a:pt x="5233924" y="1037336"/>
                  </a:lnTo>
                  <a:lnTo>
                    <a:pt x="5244606" y="1034542"/>
                  </a:lnTo>
                  <a:lnTo>
                    <a:pt x="173164" y="1034542"/>
                  </a:lnTo>
                  <a:lnTo>
                    <a:pt x="155752" y="1033653"/>
                  </a:lnTo>
                  <a:lnTo>
                    <a:pt x="107911" y="1021334"/>
                  </a:lnTo>
                  <a:lnTo>
                    <a:pt x="66865" y="996188"/>
                  </a:lnTo>
                  <a:lnTo>
                    <a:pt x="34721" y="960628"/>
                  </a:lnTo>
                  <a:lnTo>
                    <a:pt x="13779" y="916940"/>
                  </a:lnTo>
                  <a:lnTo>
                    <a:pt x="6349" y="867410"/>
                  </a:lnTo>
                  <a:lnTo>
                    <a:pt x="6350" y="173482"/>
                  </a:lnTo>
                  <a:lnTo>
                    <a:pt x="13957" y="123444"/>
                  </a:lnTo>
                  <a:lnTo>
                    <a:pt x="35039" y="79756"/>
                  </a:lnTo>
                  <a:lnTo>
                    <a:pt x="67335" y="44323"/>
                  </a:lnTo>
                  <a:lnTo>
                    <a:pt x="108496" y="19304"/>
                  </a:lnTo>
                  <a:lnTo>
                    <a:pt x="156425" y="7112"/>
                  </a:lnTo>
                  <a:lnTo>
                    <a:pt x="173469" y="6350"/>
                  </a:lnTo>
                  <a:lnTo>
                    <a:pt x="5245015" y="6350"/>
                  </a:lnTo>
                  <a:lnTo>
                    <a:pt x="5233924" y="3556"/>
                  </a:lnTo>
                  <a:lnTo>
                    <a:pt x="5216779" y="889"/>
                  </a:lnTo>
                  <a:lnTo>
                    <a:pt x="5198999" y="0"/>
                  </a:lnTo>
                  <a:close/>
                </a:path>
                <a:path w="5372100" h="1041400">
                  <a:moveTo>
                    <a:pt x="5245015" y="6350"/>
                  </a:moveTo>
                  <a:lnTo>
                    <a:pt x="5198999" y="6350"/>
                  </a:lnTo>
                  <a:lnTo>
                    <a:pt x="5216398" y="7239"/>
                  </a:lnTo>
                  <a:lnTo>
                    <a:pt x="5232908" y="9779"/>
                  </a:lnTo>
                  <a:lnTo>
                    <a:pt x="5278755" y="26670"/>
                  </a:lnTo>
                  <a:lnTo>
                    <a:pt x="5317108" y="55499"/>
                  </a:lnTo>
                  <a:lnTo>
                    <a:pt x="5345810" y="94107"/>
                  </a:lnTo>
                  <a:lnTo>
                    <a:pt x="5362448" y="140208"/>
                  </a:lnTo>
                  <a:lnTo>
                    <a:pt x="5365750" y="867410"/>
                  </a:lnTo>
                  <a:lnTo>
                    <a:pt x="5364893" y="884174"/>
                  </a:lnTo>
                  <a:lnTo>
                    <a:pt x="5352542" y="932815"/>
                  </a:lnTo>
                  <a:lnTo>
                    <a:pt x="5327523" y="973963"/>
                  </a:lnTo>
                  <a:lnTo>
                    <a:pt x="5291962" y="1006221"/>
                  </a:lnTo>
                  <a:lnTo>
                    <a:pt x="5248275" y="1027176"/>
                  </a:lnTo>
                  <a:lnTo>
                    <a:pt x="5198745" y="1034542"/>
                  </a:lnTo>
                  <a:lnTo>
                    <a:pt x="5244606" y="1034542"/>
                  </a:lnTo>
                  <a:lnTo>
                    <a:pt x="5281549" y="1019937"/>
                  </a:lnTo>
                  <a:lnTo>
                    <a:pt x="5321427" y="990092"/>
                  </a:lnTo>
                  <a:lnTo>
                    <a:pt x="5351272" y="950087"/>
                  </a:lnTo>
                  <a:lnTo>
                    <a:pt x="5368544" y="902335"/>
                  </a:lnTo>
                  <a:lnTo>
                    <a:pt x="5372100" y="867410"/>
                  </a:lnTo>
                  <a:lnTo>
                    <a:pt x="5372100" y="173482"/>
                  </a:lnTo>
                  <a:lnTo>
                    <a:pt x="5364226" y="121920"/>
                  </a:lnTo>
                  <a:lnTo>
                    <a:pt x="5342508" y="76454"/>
                  </a:lnTo>
                  <a:lnTo>
                    <a:pt x="5309108" y="39624"/>
                  </a:lnTo>
                  <a:lnTo>
                    <a:pt x="5266308" y="13589"/>
                  </a:lnTo>
                  <a:lnTo>
                    <a:pt x="5250560" y="7747"/>
                  </a:lnTo>
                  <a:lnTo>
                    <a:pt x="5245015" y="6350"/>
                  </a:lnTo>
                  <a:close/>
                </a:path>
              </a:pathLst>
            </a:custGeom>
            <a:solidFill>
              <a:srgbClr val="75BC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1362" y="3401314"/>
            <a:ext cx="50260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220" dirty="0">
                <a:solidFill>
                  <a:srgbClr val="093B70"/>
                </a:solidFill>
                <a:latin typeface="Trebuchet MS"/>
                <a:cs typeface="Trebuchet MS"/>
              </a:rPr>
              <a:t>Why</a:t>
            </a:r>
            <a:r>
              <a:rPr sz="3200" b="1" spc="-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3200" b="1" spc="-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r>
              <a:rPr sz="3200" b="1" spc="-1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093B70"/>
                </a:solidFill>
                <a:latin typeface="Trebuchet MS"/>
                <a:cs typeface="Trebuchet MS"/>
              </a:rPr>
              <a:t>important?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0696" y="2450592"/>
            <a:ext cx="5184648" cy="27919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95" dirty="0"/>
              <a:t>PLANNING-</a:t>
            </a:r>
            <a:r>
              <a:rPr spc="170" dirty="0"/>
              <a:t>CONTROLLING</a:t>
            </a:r>
            <a:r>
              <a:rPr spc="380" dirty="0"/>
              <a:t> </a:t>
            </a:r>
            <a:r>
              <a:rPr spc="125" dirty="0"/>
              <a:t>LINK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083" y="1239011"/>
            <a:ext cx="8561832" cy="45384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10" dirty="0"/>
              <a:t>VALUE</a:t>
            </a:r>
            <a:r>
              <a:rPr spc="365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65" dirty="0"/>
              <a:t>CONTROL</a:t>
            </a:r>
            <a:r>
              <a:rPr spc="295" dirty="0"/>
              <a:t> </a:t>
            </a:r>
            <a:r>
              <a:rPr spc="160" dirty="0"/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7544" y="2005583"/>
            <a:ext cx="2403475" cy="1146175"/>
            <a:chOff x="2447544" y="2005583"/>
            <a:chExt cx="2403475" cy="1146175"/>
          </a:xfrm>
        </p:grpSpPr>
        <p:sp>
          <p:nvSpPr>
            <p:cNvPr id="4" name="object 4"/>
            <p:cNvSpPr/>
            <p:nvPr/>
          </p:nvSpPr>
          <p:spPr>
            <a:xfrm>
              <a:off x="2449068" y="2007107"/>
              <a:ext cx="2400300" cy="1143000"/>
            </a:xfrm>
            <a:custGeom>
              <a:avLst/>
              <a:gdLst/>
              <a:ahLst/>
              <a:cxnLst/>
              <a:rect l="l" t="t" r="r" b="b"/>
              <a:pathLst>
                <a:path w="2400300" h="1143000">
                  <a:moveTo>
                    <a:pt x="2209799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2209799" y="1143000"/>
                  </a:lnTo>
                  <a:lnTo>
                    <a:pt x="2253462" y="1137965"/>
                  </a:lnTo>
                  <a:lnTo>
                    <a:pt x="2293553" y="1123627"/>
                  </a:lnTo>
                  <a:lnTo>
                    <a:pt x="2328925" y="1101132"/>
                  </a:lnTo>
                  <a:lnTo>
                    <a:pt x="2358432" y="1071625"/>
                  </a:lnTo>
                  <a:lnTo>
                    <a:pt x="2380927" y="1036253"/>
                  </a:lnTo>
                  <a:lnTo>
                    <a:pt x="2395265" y="996162"/>
                  </a:lnTo>
                  <a:lnTo>
                    <a:pt x="2400299" y="952500"/>
                  </a:lnTo>
                  <a:lnTo>
                    <a:pt x="2400299" y="190500"/>
                  </a:lnTo>
                  <a:lnTo>
                    <a:pt x="2395265" y="146837"/>
                  </a:lnTo>
                  <a:lnTo>
                    <a:pt x="2380927" y="106746"/>
                  </a:lnTo>
                  <a:lnTo>
                    <a:pt x="2358432" y="71374"/>
                  </a:lnTo>
                  <a:lnTo>
                    <a:pt x="2328925" y="41867"/>
                  </a:lnTo>
                  <a:lnTo>
                    <a:pt x="2293553" y="19372"/>
                  </a:lnTo>
                  <a:lnTo>
                    <a:pt x="2253462" y="5034"/>
                  </a:lnTo>
                  <a:lnTo>
                    <a:pt x="2209799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7544" y="2005583"/>
              <a:ext cx="2403475" cy="1146175"/>
            </a:xfrm>
            <a:custGeom>
              <a:avLst/>
              <a:gdLst/>
              <a:ahLst/>
              <a:cxnLst/>
              <a:rect l="l" t="t" r="r" b="b"/>
              <a:pathLst>
                <a:path w="2403475" h="1146175">
                  <a:moveTo>
                    <a:pt x="2212594" y="0"/>
                  </a:moveTo>
                  <a:lnTo>
                    <a:pt x="190754" y="0"/>
                  </a:lnTo>
                  <a:lnTo>
                    <a:pt x="171195" y="888"/>
                  </a:lnTo>
                  <a:lnTo>
                    <a:pt x="116458" y="14986"/>
                  </a:lnTo>
                  <a:lnTo>
                    <a:pt x="69468" y="43561"/>
                  </a:lnTo>
                  <a:lnTo>
                    <a:pt x="32512" y="84200"/>
                  </a:lnTo>
                  <a:lnTo>
                    <a:pt x="8508" y="134238"/>
                  </a:lnTo>
                  <a:lnTo>
                    <a:pt x="0" y="191007"/>
                  </a:lnTo>
                  <a:lnTo>
                    <a:pt x="0" y="955039"/>
                  </a:lnTo>
                  <a:lnTo>
                    <a:pt x="3937" y="993520"/>
                  </a:lnTo>
                  <a:lnTo>
                    <a:pt x="22987" y="1046099"/>
                  </a:lnTo>
                  <a:lnTo>
                    <a:pt x="55880" y="1090167"/>
                  </a:lnTo>
                  <a:lnTo>
                    <a:pt x="99822" y="1122933"/>
                  </a:lnTo>
                  <a:lnTo>
                    <a:pt x="152273" y="1142111"/>
                  </a:lnTo>
                  <a:lnTo>
                    <a:pt x="190754" y="1146048"/>
                  </a:lnTo>
                  <a:lnTo>
                    <a:pt x="2212594" y="1146048"/>
                  </a:lnTo>
                  <a:lnTo>
                    <a:pt x="2232152" y="1145031"/>
                  </a:lnTo>
                  <a:lnTo>
                    <a:pt x="2251075" y="1142111"/>
                  </a:lnTo>
                  <a:lnTo>
                    <a:pt x="2269363" y="1137412"/>
                  </a:lnTo>
                  <a:lnTo>
                    <a:pt x="2280579" y="1133348"/>
                  </a:lnTo>
                  <a:lnTo>
                    <a:pt x="190754" y="1133348"/>
                  </a:lnTo>
                  <a:lnTo>
                    <a:pt x="171831" y="1132458"/>
                  </a:lnTo>
                  <a:lnTo>
                    <a:pt x="120776" y="1119124"/>
                  </a:lnTo>
                  <a:lnTo>
                    <a:pt x="77088" y="1092327"/>
                  </a:lnTo>
                  <a:lnTo>
                    <a:pt x="42799" y="1054227"/>
                  </a:lnTo>
                  <a:lnTo>
                    <a:pt x="20574" y="1007490"/>
                  </a:lnTo>
                  <a:lnTo>
                    <a:pt x="12726" y="955039"/>
                  </a:lnTo>
                  <a:lnTo>
                    <a:pt x="12700" y="191007"/>
                  </a:lnTo>
                  <a:lnTo>
                    <a:pt x="13588" y="172212"/>
                  </a:lnTo>
                  <a:lnTo>
                    <a:pt x="26924" y="121030"/>
                  </a:lnTo>
                  <a:lnTo>
                    <a:pt x="53720" y="77088"/>
                  </a:lnTo>
                  <a:lnTo>
                    <a:pt x="91693" y="42799"/>
                  </a:lnTo>
                  <a:lnTo>
                    <a:pt x="138430" y="20446"/>
                  </a:lnTo>
                  <a:lnTo>
                    <a:pt x="191388" y="12700"/>
                  </a:lnTo>
                  <a:lnTo>
                    <a:pt x="2280703" y="12700"/>
                  </a:lnTo>
                  <a:lnTo>
                    <a:pt x="2269363" y="8508"/>
                  </a:lnTo>
                  <a:lnTo>
                    <a:pt x="2251075" y="3937"/>
                  </a:lnTo>
                  <a:lnTo>
                    <a:pt x="2232152" y="888"/>
                  </a:lnTo>
                  <a:lnTo>
                    <a:pt x="2212594" y="0"/>
                  </a:lnTo>
                  <a:close/>
                </a:path>
                <a:path w="2403475" h="1146175">
                  <a:moveTo>
                    <a:pt x="2280703" y="12700"/>
                  </a:moveTo>
                  <a:lnTo>
                    <a:pt x="2212594" y="12700"/>
                  </a:lnTo>
                  <a:lnTo>
                    <a:pt x="2231517" y="13588"/>
                  </a:lnTo>
                  <a:lnTo>
                    <a:pt x="2249170" y="16510"/>
                  </a:lnTo>
                  <a:lnTo>
                    <a:pt x="2298065" y="34543"/>
                  </a:lnTo>
                  <a:lnTo>
                    <a:pt x="2338959" y="65404"/>
                  </a:lnTo>
                  <a:lnTo>
                    <a:pt x="2369439" y="106552"/>
                  </a:lnTo>
                  <a:lnTo>
                    <a:pt x="2387092" y="155701"/>
                  </a:lnTo>
                  <a:lnTo>
                    <a:pt x="2390647" y="955039"/>
                  </a:lnTo>
                  <a:lnTo>
                    <a:pt x="2389759" y="973963"/>
                  </a:lnTo>
                  <a:lnTo>
                    <a:pt x="2376423" y="1025143"/>
                  </a:lnTo>
                  <a:lnTo>
                    <a:pt x="2349627" y="1069086"/>
                  </a:lnTo>
                  <a:lnTo>
                    <a:pt x="2311654" y="1103249"/>
                  </a:lnTo>
                  <a:lnTo>
                    <a:pt x="2265045" y="1125601"/>
                  </a:lnTo>
                  <a:lnTo>
                    <a:pt x="2212085" y="1133348"/>
                  </a:lnTo>
                  <a:lnTo>
                    <a:pt x="2280579" y="1133348"/>
                  </a:lnTo>
                  <a:lnTo>
                    <a:pt x="2319273" y="1113408"/>
                  </a:lnTo>
                  <a:lnTo>
                    <a:pt x="2359786" y="1076578"/>
                  </a:lnTo>
                  <a:lnTo>
                    <a:pt x="2388361" y="1029462"/>
                  </a:lnTo>
                  <a:lnTo>
                    <a:pt x="2402332" y="974598"/>
                  </a:lnTo>
                  <a:lnTo>
                    <a:pt x="2403347" y="955039"/>
                  </a:lnTo>
                  <a:lnTo>
                    <a:pt x="2403347" y="191007"/>
                  </a:lnTo>
                  <a:lnTo>
                    <a:pt x="2399410" y="152526"/>
                  </a:lnTo>
                  <a:lnTo>
                    <a:pt x="2380234" y="99949"/>
                  </a:lnTo>
                  <a:lnTo>
                    <a:pt x="2347468" y="56006"/>
                  </a:lnTo>
                  <a:lnTo>
                    <a:pt x="2303526" y="22987"/>
                  </a:lnTo>
                  <a:lnTo>
                    <a:pt x="2286889" y="14986"/>
                  </a:lnTo>
                  <a:lnTo>
                    <a:pt x="2280703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23361" y="2370835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64095" y="2005583"/>
            <a:ext cx="2403475" cy="1146175"/>
            <a:chOff x="6864095" y="2005583"/>
            <a:chExt cx="2403475" cy="1146175"/>
          </a:xfrm>
        </p:grpSpPr>
        <p:sp>
          <p:nvSpPr>
            <p:cNvPr id="8" name="object 8"/>
            <p:cNvSpPr/>
            <p:nvPr/>
          </p:nvSpPr>
          <p:spPr>
            <a:xfrm>
              <a:off x="6865619" y="2007107"/>
              <a:ext cx="2400300" cy="1143000"/>
            </a:xfrm>
            <a:custGeom>
              <a:avLst/>
              <a:gdLst/>
              <a:ahLst/>
              <a:cxnLst/>
              <a:rect l="l" t="t" r="r" b="b"/>
              <a:pathLst>
                <a:path w="2400300" h="1143000">
                  <a:moveTo>
                    <a:pt x="2209800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2209800" y="1143000"/>
                  </a:lnTo>
                  <a:lnTo>
                    <a:pt x="2253462" y="1137965"/>
                  </a:lnTo>
                  <a:lnTo>
                    <a:pt x="2293553" y="1123627"/>
                  </a:lnTo>
                  <a:lnTo>
                    <a:pt x="2328925" y="1101132"/>
                  </a:lnTo>
                  <a:lnTo>
                    <a:pt x="2358432" y="1071625"/>
                  </a:lnTo>
                  <a:lnTo>
                    <a:pt x="2380927" y="1036253"/>
                  </a:lnTo>
                  <a:lnTo>
                    <a:pt x="2395265" y="996162"/>
                  </a:lnTo>
                  <a:lnTo>
                    <a:pt x="2400300" y="952500"/>
                  </a:lnTo>
                  <a:lnTo>
                    <a:pt x="2400300" y="190500"/>
                  </a:lnTo>
                  <a:lnTo>
                    <a:pt x="2395265" y="146837"/>
                  </a:lnTo>
                  <a:lnTo>
                    <a:pt x="2380927" y="106746"/>
                  </a:lnTo>
                  <a:lnTo>
                    <a:pt x="2358432" y="71374"/>
                  </a:lnTo>
                  <a:lnTo>
                    <a:pt x="2328925" y="41867"/>
                  </a:lnTo>
                  <a:lnTo>
                    <a:pt x="2293553" y="19372"/>
                  </a:lnTo>
                  <a:lnTo>
                    <a:pt x="2253462" y="5034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64095" y="2005583"/>
              <a:ext cx="2403475" cy="1146175"/>
            </a:xfrm>
            <a:custGeom>
              <a:avLst/>
              <a:gdLst/>
              <a:ahLst/>
              <a:cxnLst/>
              <a:rect l="l" t="t" r="r" b="b"/>
              <a:pathLst>
                <a:path w="2403475" h="1146175">
                  <a:moveTo>
                    <a:pt x="2212594" y="0"/>
                  </a:moveTo>
                  <a:lnTo>
                    <a:pt x="190753" y="0"/>
                  </a:lnTo>
                  <a:lnTo>
                    <a:pt x="171196" y="888"/>
                  </a:lnTo>
                  <a:lnTo>
                    <a:pt x="116458" y="14986"/>
                  </a:lnTo>
                  <a:lnTo>
                    <a:pt x="69469" y="43561"/>
                  </a:lnTo>
                  <a:lnTo>
                    <a:pt x="32511" y="84200"/>
                  </a:lnTo>
                  <a:lnTo>
                    <a:pt x="8508" y="134238"/>
                  </a:lnTo>
                  <a:lnTo>
                    <a:pt x="888" y="171576"/>
                  </a:lnTo>
                  <a:lnTo>
                    <a:pt x="0" y="191007"/>
                  </a:lnTo>
                  <a:lnTo>
                    <a:pt x="0" y="955039"/>
                  </a:lnTo>
                  <a:lnTo>
                    <a:pt x="3936" y="993520"/>
                  </a:lnTo>
                  <a:lnTo>
                    <a:pt x="22986" y="1046099"/>
                  </a:lnTo>
                  <a:lnTo>
                    <a:pt x="55879" y="1090167"/>
                  </a:lnTo>
                  <a:lnTo>
                    <a:pt x="99822" y="1122933"/>
                  </a:lnTo>
                  <a:lnTo>
                    <a:pt x="152273" y="1142111"/>
                  </a:lnTo>
                  <a:lnTo>
                    <a:pt x="190753" y="1146048"/>
                  </a:lnTo>
                  <a:lnTo>
                    <a:pt x="2212594" y="1146048"/>
                  </a:lnTo>
                  <a:lnTo>
                    <a:pt x="2232152" y="1145031"/>
                  </a:lnTo>
                  <a:lnTo>
                    <a:pt x="2251075" y="1142111"/>
                  </a:lnTo>
                  <a:lnTo>
                    <a:pt x="2269362" y="1137412"/>
                  </a:lnTo>
                  <a:lnTo>
                    <a:pt x="2280579" y="1133348"/>
                  </a:lnTo>
                  <a:lnTo>
                    <a:pt x="190753" y="1133348"/>
                  </a:lnTo>
                  <a:lnTo>
                    <a:pt x="171830" y="1132458"/>
                  </a:lnTo>
                  <a:lnTo>
                    <a:pt x="120776" y="1119124"/>
                  </a:lnTo>
                  <a:lnTo>
                    <a:pt x="77088" y="1092327"/>
                  </a:lnTo>
                  <a:lnTo>
                    <a:pt x="42799" y="1054227"/>
                  </a:lnTo>
                  <a:lnTo>
                    <a:pt x="20574" y="1007490"/>
                  </a:lnTo>
                  <a:lnTo>
                    <a:pt x="12726" y="955039"/>
                  </a:lnTo>
                  <a:lnTo>
                    <a:pt x="12700" y="191007"/>
                  </a:lnTo>
                  <a:lnTo>
                    <a:pt x="13588" y="172212"/>
                  </a:lnTo>
                  <a:lnTo>
                    <a:pt x="26924" y="121030"/>
                  </a:lnTo>
                  <a:lnTo>
                    <a:pt x="53721" y="77088"/>
                  </a:lnTo>
                  <a:lnTo>
                    <a:pt x="91694" y="42799"/>
                  </a:lnTo>
                  <a:lnTo>
                    <a:pt x="138429" y="20446"/>
                  </a:lnTo>
                  <a:lnTo>
                    <a:pt x="191388" y="12700"/>
                  </a:lnTo>
                  <a:lnTo>
                    <a:pt x="2280703" y="12700"/>
                  </a:lnTo>
                  <a:lnTo>
                    <a:pt x="2269362" y="8508"/>
                  </a:lnTo>
                  <a:lnTo>
                    <a:pt x="2251075" y="3937"/>
                  </a:lnTo>
                  <a:lnTo>
                    <a:pt x="2232152" y="888"/>
                  </a:lnTo>
                  <a:lnTo>
                    <a:pt x="2212594" y="0"/>
                  </a:lnTo>
                  <a:close/>
                </a:path>
                <a:path w="2403475" h="1146175">
                  <a:moveTo>
                    <a:pt x="2280703" y="12700"/>
                  </a:moveTo>
                  <a:lnTo>
                    <a:pt x="2212594" y="12700"/>
                  </a:lnTo>
                  <a:lnTo>
                    <a:pt x="2231517" y="13588"/>
                  </a:lnTo>
                  <a:lnTo>
                    <a:pt x="2249170" y="16510"/>
                  </a:lnTo>
                  <a:lnTo>
                    <a:pt x="2298064" y="34543"/>
                  </a:lnTo>
                  <a:lnTo>
                    <a:pt x="2338958" y="65404"/>
                  </a:lnTo>
                  <a:lnTo>
                    <a:pt x="2369438" y="106552"/>
                  </a:lnTo>
                  <a:lnTo>
                    <a:pt x="2387092" y="155701"/>
                  </a:lnTo>
                  <a:lnTo>
                    <a:pt x="2390648" y="955039"/>
                  </a:lnTo>
                  <a:lnTo>
                    <a:pt x="2389758" y="973963"/>
                  </a:lnTo>
                  <a:lnTo>
                    <a:pt x="2376424" y="1025143"/>
                  </a:lnTo>
                  <a:lnTo>
                    <a:pt x="2349627" y="1069086"/>
                  </a:lnTo>
                  <a:lnTo>
                    <a:pt x="2311654" y="1103249"/>
                  </a:lnTo>
                  <a:lnTo>
                    <a:pt x="2265045" y="1125601"/>
                  </a:lnTo>
                  <a:lnTo>
                    <a:pt x="2212085" y="1133348"/>
                  </a:lnTo>
                  <a:lnTo>
                    <a:pt x="2280579" y="1133348"/>
                  </a:lnTo>
                  <a:lnTo>
                    <a:pt x="2319274" y="1113408"/>
                  </a:lnTo>
                  <a:lnTo>
                    <a:pt x="2359786" y="1076578"/>
                  </a:lnTo>
                  <a:lnTo>
                    <a:pt x="2388361" y="1029462"/>
                  </a:lnTo>
                  <a:lnTo>
                    <a:pt x="2402331" y="974598"/>
                  </a:lnTo>
                  <a:lnTo>
                    <a:pt x="2403348" y="955039"/>
                  </a:lnTo>
                  <a:lnTo>
                    <a:pt x="2403348" y="191007"/>
                  </a:lnTo>
                  <a:lnTo>
                    <a:pt x="2399410" y="152526"/>
                  </a:lnTo>
                  <a:lnTo>
                    <a:pt x="2380233" y="99949"/>
                  </a:lnTo>
                  <a:lnTo>
                    <a:pt x="2347468" y="56006"/>
                  </a:lnTo>
                  <a:lnTo>
                    <a:pt x="2303526" y="22987"/>
                  </a:lnTo>
                  <a:lnTo>
                    <a:pt x="2286888" y="14986"/>
                  </a:lnTo>
                  <a:lnTo>
                    <a:pt x="2280703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54926" y="2187955"/>
            <a:ext cx="18224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marR="5080" indent="-21209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Empowering employee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48200" y="3752088"/>
            <a:ext cx="2403475" cy="1146175"/>
            <a:chOff x="4648200" y="3752088"/>
            <a:chExt cx="2403475" cy="1146175"/>
          </a:xfrm>
        </p:grpSpPr>
        <p:sp>
          <p:nvSpPr>
            <p:cNvPr id="12" name="object 12"/>
            <p:cNvSpPr/>
            <p:nvPr/>
          </p:nvSpPr>
          <p:spPr>
            <a:xfrm>
              <a:off x="4649723" y="3753612"/>
              <a:ext cx="2400300" cy="1143000"/>
            </a:xfrm>
            <a:custGeom>
              <a:avLst/>
              <a:gdLst/>
              <a:ahLst/>
              <a:cxnLst/>
              <a:rect l="l" t="t" r="r" b="b"/>
              <a:pathLst>
                <a:path w="2400300" h="1143000">
                  <a:moveTo>
                    <a:pt x="2209800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2209800" y="1143000"/>
                  </a:lnTo>
                  <a:lnTo>
                    <a:pt x="2253462" y="1137965"/>
                  </a:lnTo>
                  <a:lnTo>
                    <a:pt x="2293553" y="1123627"/>
                  </a:lnTo>
                  <a:lnTo>
                    <a:pt x="2328925" y="1101132"/>
                  </a:lnTo>
                  <a:lnTo>
                    <a:pt x="2358432" y="1071625"/>
                  </a:lnTo>
                  <a:lnTo>
                    <a:pt x="2380927" y="1036253"/>
                  </a:lnTo>
                  <a:lnTo>
                    <a:pt x="2395265" y="996162"/>
                  </a:lnTo>
                  <a:lnTo>
                    <a:pt x="2400300" y="952500"/>
                  </a:lnTo>
                  <a:lnTo>
                    <a:pt x="2400300" y="190500"/>
                  </a:lnTo>
                  <a:lnTo>
                    <a:pt x="2395265" y="146837"/>
                  </a:lnTo>
                  <a:lnTo>
                    <a:pt x="2380927" y="106746"/>
                  </a:lnTo>
                  <a:lnTo>
                    <a:pt x="2358432" y="71374"/>
                  </a:lnTo>
                  <a:lnTo>
                    <a:pt x="2328925" y="41867"/>
                  </a:lnTo>
                  <a:lnTo>
                    <a:pt x="2293553" y="19372"/>
                  </a:lnTo>
                  <a:lnTo>
                    <a:pt x="2253462" y="5034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8200" y="3752088"/>
              <a:ext cx="2403475" cy="1146175"/>
            </a:xfrm>
            <a:custGeom>
              <a:avLst/>
              <a:gdLst/>
              <a:ahLst/>
              <a:cxnLst/>
              <a:rect l="l" t="t" r="r" b="b"/>
              <a:pathLst>
                <a:path w="2403475" h="1146175">
                  <a:moveTo>
                    <a:pt x="2212594" y="0"/>
                  </a:moveTo>
                  <a:lnTo>
                    <a:pt x="190753" y="0"/>
                  </a:lnTo>
                  <a:lnTo>
                    <a:pt x="171196" y="888"/>
                  </a:lnTo>
                  <a:lnTo>
                    <a:pt x="116459" y="14986"/>
                  </a:lnTo>
                  <a:lnTo>
                    <a:pt x="69469" y="43561"/>
                  </a:lnTo>
                  <a:lnTo>
                    <a:pt x="32512" y="84200"/>
                  </a:lnTo>
                  <a:lnTo>
                    <a:pt x="8509" y="134238"/>
                  </a:lnTo>
                  <a:lnTo>
                    <a:pt x="888" y="171576"/>
                  </a:lnTo>
                  <a:lnTo>
                    <a:pt x="0" y="191007"/>
                  </a:lnTo>
                  <a:lnTo>
                    <a:pt x="0" y="955039"/>
                  </a:lnTo>
                  <a:lnTo>
                    <a:pt x="3937" y="993520"/>
                  </a:lnTo>
                  <a:lnTo>
                    <a:pt x="22987" y="1046099"/>
                  </a:lnTo>
                  <a:lnTo>
                    <a:pt x="55879" y="1090168"/>
                  </a:lnTo>
                  <a:lnTo>
                    <a:pt x="99822" y="1122934"/>
                  </a:lnTo>
                  <a:lnTo>
                    <a:pt x="152273" y="1142111"/>
                  </a:lnTo>
                  <a:lnTo>
                    <a:pt x="190753" y="1146048"/>
                  </a:lnTo>
                  <a:lnTo>
                    <a:pt x="2212594" y="1146048"/>
                  </a:lnTo>
                  <a:lnTo>
                    <a:pt x="2232152" y="1145032"/>
                  </a:lnTo>
                  <a:lnTo>
                    <a:pt x="2251075" y="1142111"/>
                  </a:lnTo>
                  <a:lnTo>
                    <a:pt x="2269363" y="1137412"/>
                  </a:lnTo>
                  <a:lnTo>
                    <a:pt x="2280579" y="1133348"/>
                  </a:lnTo>
                  <a:lnTo>
                    <a:pt x="190753" y="1133348"/>
                  </a:lnTo>
                  <a:lnTo>
                    <a:pt x="171830" y="1132459"/>
                  </a:lnTo>
                  <a:lnTo>
                    <a:pt x="120776" y="1119124"/>
                  </a:lnTo>
                  <a:lnTo>
                    <a:pt x="77088" y="1092327"/>
                  </a:lnTo>
                  <a:lnTo>
                    <a:pt x="42799" y="1054227"/>
                  </a:lnTo>
                  <a:lnTo>
                    <a:pt x="20574" y="1007491"/>
                  </a:lnTo>
                  <a:lnTo>
                    <a:pt x="12726" y="955039"/>
                  </a:lnTo>
                  <a:lnTo>
                    <a:pt x="12700" y="191007"/>
                  </a:lnTo>
                  <a:lnTo>
                    <a:pt x="13588" y="172212"/>
                  </a:lnTo>
                  <a:lnTo>
                    <a:pt x="26924" y="121031"/>
                  </a:lnTo>
                  <a:lnTo>
                    <a:pt x="53721" y="77088"/>
                  </a:lnTo>
                  <a:lnTo>
                    <a:pt x="91694" y="42799"/>
                  </a:lnTo>
                  <a:lnTo>
                    <a:pt x="138429" y="20447"/>
                  </a:lnTo>
                  <a:lnTo>
                    <a:pt x="191388" y="12700"/>
                  </a:lnTo>
                  <a:lnTo>
                    <a:pt x="2280703" y="12700"/>
                  </a:lnTo>
                  <a:lnTo>
                    <a:pt x="2269363" y="8509"/>
                  </a:lnTo>
                  <a:lnTo>
                    <a:pt x="2251075" y="3937"/>
                  </a:lnTo>
                  <a:lnTo>
                    <a:pt x="2232152" y="888"/>
                  </a:lnTo>
                  <a:lnTo>
                    <a:pt x="2212594" y="0"/>
                  </a:lnTo>
                  <a:close/>
                </a:path>
                <a:path w="2403475" h="1146175">
                  <a:moveTo>
                    <a:pt x="2280703" y="12700"/>
                  </a:moveTo>
                  <a:lnTo>
                    <a:pt x="2212594" y="12700"/>
                  </a:lnTo>
                  <a:lnTo>
                    <a:pt x="2231517" y="13588"/>
                  </a:lnTo>
                  <a:lnTo>
                    <a:pt x="2249170" y="16510"/>
                  </a:lnTo>
                  <a:lnTo>
                    <a:pt x="2298065" y="34543"/>
                  </a:lnTo>
                  <a:lnTo>
                    <a:pt x="2338958" y="65405"/>
                  </a:lnTo>
                  <a:lnTo>
                    <a:pt x="2369439" y="106553"/>
                  </a:lnTo>
                  <a:lnTo>
                    <a:pt x="2387092" y="155701"/>
                  </a:lnTo>
                  <a:lnTo>
                    <a:pt x="2390648" y="955039"/>
                  </a:lnTo>
                  <a:lnTo>
                    <a:pt x="2389758" y="973963"/>
                  </a:lnTo>
                  <a:lnTo>
                    <a:pt x="2376424" y="1025144"/>
                  </a:lnTo>
                  <a:lnTo>
                    <a:pt x="2349627" y="1069086"/>
                  </a:lnTo>
                  <a:lnTo>
                    <a:pt x="2311654" y="1103249"/>
                  </a:lnTo>
                  <a:lnTo>
                    <a:pt x="2265045" y="1125601"/>
                  </a:lnTo>
                  <a:lnTo>
                    <a:pt x="2212085" y="1133348"/>
                  </a:lnTo>
                  <a:lnTo>
                    <a:pt x="2280579" y="1133348"/>
                  </a:lnTo>
                  <a:lnTo>
                    <a:pt x="2319274" y="1113409"/>
                  </a:lnTo>
                  <a:lnTo>
                    <a:pt x="2359786" y="1076579"/>
                  </a:lnTo>
                  <a:lnTo>
                    <a:pt x="2388361" y="1029462"/>
                  </a:lnTo>
                  <a:lnTo>
                    <a:pt x="2402331" y="974598"/>
                  </a:lnTo>
                  <a:lnTo>
                    <a:pt x="2403348" y="955039"/>
                  </a:lnTo>
                  <a:lnTo>
                    <a:pt x="2403348" y="191007"/>
                  </a:lnTo>
                  <a:lnTo>
                    <a:pt x="2399410" y="152526"/>
                  </a:lnTo>
                  <a:lnTo>
                    <a:pt x="2380233" y="99949"/>
                  </a:lnTo>
                  <a:lnTo>
                    <a:pt x="2347468" y="56006"/>
                  </a:lnTo>
                  <a:lnTo>
                    <a:pt x="2303526" y="22987"/>
                  </a:lnTo>
                  <a:lnTo>
                    <a:pt x="2286889" y="14986"/>
                  </a:lnTo>
                  <a:lnTo>
                    <a:pt x="2280703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07711" y="3935348"/>
            <a:ext cx="2083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Protecting</a:t>
            </a:r>
            <a:r>
              <a:rPr sz="24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workplace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65" dirty="0"/>
              <a:t>CONTROL</a:t>
            </a:r>
            <a:r>
              <a:rPr spc="300" dirty="0"/>
              <a:t> </a:t>
            </a:r>
            <a:r>
              <a:rPr spc="155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607" y="1239011"/>
            <a:ext cx="9144000" cy="43906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25" dirty="0"/>
              <a:t>STEP</a:t>
            </a:r>
            <a:r>
              <a:rPr sz="2900" spc="345" dirty="0"/>
              <a:t> </a:t>
            </a:r>
            <a:r>
              <a:rPr sz="2900" spc="100" dirty="0"/>
              <a:t>1:</a:t>
            </a:r>
            <a:r>
              <a:rPr sz="2900" spc="385" dirty="0"/>
              <a:t> </a:t>
            </a:r>
            <a:r>
              <a:rPr sz="2900" spc="160" dirty="0"/>
              <a:t>MEASURING</a:t>
            </a:r>
            <a:r>
              <a:rPr sz="2900" spc="254" dirty="0"/>
              <a:t> </a:t>
            </a:r>
            <a:r>
              <a:rPr sz="2900" spc="145" dirty="0"/>
              <a:t>ACTUAL</a:t>
            </a:r>
            <a:r>
              <a:rPr sz="2900" spc="320" dirty="0"/>
              <a:t> </a:t>
            </a:r>
            <a:r>
              <a:rPr sz="2900" spc="150" dirty="0"/>
              <a:t>PERFORMANCE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6985" y="2620974"/>
            <a:ext cx="2299970" cy="2616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Char char="-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Human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-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Finance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-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Manufacturing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-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Information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54965" algn="l"/>
              </a:tabLst>
            </a:pPr>
            <a:r>
              <a:rPr sz="2400" spc="-50" dirty="0">
                <a:solidFill>
                  <a:srgbClr val="093B70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Arial MT"/>
                <a:cs typeface="Arial MT"/>
              </a:rPr>
              <a:t>….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5323" y="1277111"/>
            <a:ext cx="7853680" cy="4302760"/>
            <a:chOff x="3735323" y="1277111"/>
            <a:chExt cx="7853680" cy="43027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7435" y="2444495"/>
              <a:ext cx="4671060" cy="31348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36847" y="1278635"/>
              <a:ext cx="4076700" cy="820419"/>
            </a:xfrm>
            <a:custGeom>
              <a:avLst/>
              <a:gdLst/>
              <a:ahLst/>
              <a:cxnLst/>
              <a:rect l="l" t="t" r="r" b="b"/>
              <a:pathLst>
                <a:path w="4076700" h="820419">
                  <a:moveTo>
                    <a:pt x="3940048" y="0"/>
                  </a:moveTo>
                  <a:lnTo>
                    <a:pt x="136651" y="0"/>
                  </a:lnTo>
                  <a:lnTo>
                    <a:pt x="93471" y="6969"/>
                  </a:lnTo>
                  <a:lnTo>
                    <a:pt x="55961" y="26375"/>
                  </a:lnTo>
                  <a:lnTo>
                    <a:pt x="26375" y="55961"/>
                  </a:lnTo>
                  <a:lnTo>
                    <a:pt x="6969" y="93472"/>
                  </a:lnTo>
                  <a:lnTo>
                    <a:pt x="0" y="136651"/>
                  </a:lnTo>
                  <a:lnTo>
                    <a:pt x="0" y="683260"/>
                  </a:lnTo>
                  <a:lnTo>
                    <a:pt x="6969" y="726440"/>
                  </a:lnTo>
                  <a:lnTo>
                    <a:pt x="26375" y="763950"/>
                  </a:lnTo>
                  <a:lnTo>
                    <a:pt x="55961" y="793536"/>
                  </a:lnTo>
                  <a:lnTo>
                    <a:pt x="93472" y="812942"/>
                  </a:lnTo>
                  <a:lnTo>
                    <a:pt x="136651" y="819912"/>
                  </a:lnTo>
                  <a:lnTo>
                    <a:pt x="3940048" y="819912"/>
                  </a:lnTo>
                  <a:lnTo>
                    <a:pt x="3983227" y="812942"/>
                  </a:lnTo>
                  <a:lnTo>
                    <a:pt x="4020738" y="793536"/>
                  </a:lnTo>
                  <a:lnTo>
                    <a:pt x="4050324" y="763950"/>
                  </a:lnTo>
                  <a:lnTo>
                    <a:pt x="4069730" y="726439"/>
                  </a:lnTo>
                  <a:lnTo>
                    <a:pt x="4076700" y="683260"/>
                  </a:lnTo>
                  <a:lnTo>
                    <a:pt x="4076700" y="136651"/>
                  </a:lnTo>
                  <a:lnTo>
                    <a:pt x="4069730" y="93471"/>
                  </a:lnTo>
                  <a:lnTo>
                    <a:pt x="4050324" y="55961"/>
                  </a:lnTo>
                  <a:lnTo>
                    <a:pt x="4020738" y="26375"/>
                  </a:lnTo>
                  <a:lnTo>
                    <a:pt x="3983228" y="6969"/>
                  </a:lnTo>
                  <a:lnTo>
                    <a:pt x="3940048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5323" y="1277111"/>
              <a:ext cx="4079875" cy="822960"/>
            </a:xfrm>
            <a:custGeom>
              <a:avLst/>
              <a:gdLst/>
              <a:ahLst/>
              <a:cxnLst/>
              <a:rect l="l" t="t" r="r" b="b"/>
              <a:pathLst>
                <a:path w="4079875" h="822960">
                  <a:moveTo>
                    <a:pt x="3943096" y="0"/>
                  </a:moveTo>
                  <a:lnTo>
                    <a:pt x="136778" y="0"/>
                  </a:lnTo>
                  <a:lnTo>
                    <a:pt x="122809" y="635"/>
                  </a:lnTo>
                  <a:lnTo>
                    <a:pt x="83565" y="10795"/>
                  </a:lnTo>
                  <a:lnTo>
                    <a:pt x="49784" y="31368"/>
                  </a:lnTo>
                  <a:lnTo>
                    <a:pt x="23367" y="60451"/>
                  </a:lnTo>
                  <a:lnTo>
                    <a:pt x="6223" y="96392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6223" y="726566"/>
                  </a:lnTo>
                  <a:lnTo>
                    <a:pt x="23367" y="762508"/>
                  </a:lnTo>
                  <a:lnTo>
                    <a:pt x="49784" y="791590"/>
                  </a:lnTo>
                  <a:lnTo>
                    <a:pt x="83565" y="812164"/>
                  </a:lnTo>
                  <a:lnTo>
                    <a:pt x="122809" y="822325"/>
                  </a:lnTo>
                  <a:lnTo>
                    <a:pt x="136778" y="822960"/>
                  </a:lnTo>
                  <a:lnTo>
                    <a:pt x="3943096" y="822960"/>
                  </a:lnTo>
                  <a:lnTo>
                    <a:pt x="3983735" y="816737"/>
                  </a:lnTo>
                  <a:lnTo>
                    <a:pt x="4000201" y="810260"/>
                  </a:lnTo>
                  <a:lnTo>
                    <a:pt x="136778" y="810260"/>
                  </a:lnTo>
                  <a:lnTo>
                    <a:pt x="123443" y="809625"/>
                  </a:lnTo>
                  <a:lnTo>
                    <a:pt x="77215" y="795020"/>
                  </a:lnTo>
                  <a:lnTo>
                    <a:pt x="40639" y="764539"/>
                  </a:lnTo>
                  <a:lnTo>
                    <a:pt x="18161" y="722249"/>
                  </a:lnTo>
                  <a:lnTo>
                    <a:pt x="12700" y="137160"/>
                  </a:lnTo>
                  <a:lnTo>
                    <a:pt x="13335" y="123825"/>
                  </a:lnTo>
                  <a:lnTo>
                    <a:pt x="27939" y="77215"/>
                  </a:lnTo>
                  <a:lnTo>
                    <a:pt x="58420" y="40766"/>
                  </a:lnTo>
                  <a:lnTo>
                    <a:pt x="100456" y="18161"/>
                  </a:lnTo>
                  <a:lnTo>
                    <a:pt x="137413" y="12700"/>
                  </a:lnTo>
                  <a:lnTo>
                    <a:pt x="4000288" y="12700"/>
                  </a:lnTo>
                  <a:lnTo>
                    <a:pt x="3996308" y="10795"/>
                  </a:lnTo>
                  <a:lnTo>
                    <a:pt x="3983735" y="6223"/>
                  </a:lnTo>
                  <a:lnTo>
                    <a:pt x="3970528" y="2793"/>
                  </a:lnTo>
                  <a:lnTo>
                    <a:pt x="3957066" y="635"/>
                  </a:lnTo>
                  <a:lnTo>
                    <a:pt x="3943096" y="0"/>
                  </a:lnTo>
                  <a:close/>
                </a:path>
                <a:path w="4079875" h="822960">
                  <a:moveTo>
                    <a:pt x="4000288" y="12700"/>
                  </a:moveTo>
                  <a:lnTo>
                    <a:pt x="3943096" y="12700"/>
                  </a:lnTo>
                  <a:lnTo>
                    <a:pt x="3956430" y="13335"/>
                  </a:lnTo>
                  <a:lnTo>
                    <a:pt x="3968623" y="15366"/>
                  </a:lnTo>
                  <a:lnTo>
                    <a:pt x="4012946" y="34289"/>
                  </a:lnTo>
                  <a:lnTo>
                    <a:pt x="4046220" y="68072"/>
                  </a:lnTo>
                  <a:lnTo>
                    <a:pt x="4064634" y="112649"/>
                  </a:lnTo>
                  <a:lnTo>
                    <a:pt x="4067048" y="685800"/>
                  </a:lnTo>
                  <a:lnTo>
                    <a:pt x="4066412" y="699135"/>
                  </a:lnTo>
                  <a:lnTo>
                    <a:pt x="4051807" y="745743"/>
                  </a:lnTo>
                  <a:lnTo>
                    <a:pt x="4021581" y="782192"/>
                  </a:lnTo>
                  <a:lnTo>
                    <a:pt x="3979418" y="804799"/>
                  </a:lnTo>
                  <a:lnTo>
                    <a:pt x="3942460" y="810260"/>
                  </a:lnTo>
                  <a:lnTo>
                    <a:pt x="4000201" y="810260"/>
                  </a:lnTo>
                  <a:lnTo>
                    <a:pt x="4039743" y="782827"/>
                  </a:lnTo>
                  <a:lnTo>
                    <a:pt x="4063237" y="751204"/>
                  </a:lnTo>
                  <a:lnTo>
                    <a:pt x="4076954" y="713359"/>
                  </a:lnTo>
                  <a:lnTo>
                    <a:pt x="4079748" y="685800"/>
                  </a:lnTo>
                  <a:lnTo>
                    <a:pt x="4079748" y="137160"/>
                  </a:lnTo>
                  <a:lnTo>
                    <a:pt x="4073652" y="96392"/>
                  </a:lnTo>
                  <a:lnTo>
                    <a:pt x="4056379" y="60451"/>
                  </a:lnTo>
                  <a:lnTo>
                    <a:pt x="4029964" y="31368"/>
                  </a:lnTo>
                  <a:lnTo>
                    <a:pt x="4008247" y="16510"/>
                  </a:lnTo>
                  <a:lnTo>
                    <a:pt x="4000288" y="1270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24653" y="1485391"/>
            <a:ext cx="1102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93B70"/>
                </a:solidFill>
                <a:latin typeface="Arial"/>
                <a:cs typeface="Arial"/>
              </a:rPr>
              <a:t>WHAT?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25" dirty="0"/>
              <a:t>STEP</a:t>
            </a:r>
            <a:r>
              <a:rPr sz="2900" spc="345" dirty="0"/>
              <a:t> </a:t>
            </a:r>
            <a:r>
              <a:rPr sz="2900" spc="100" dirty="0"/>
              <a:t>1:</a:t>
            </a:r>
            <a:r>
              <a:rPr sz="2900" spc="385" dirty="0"/>
              <a:t> </a:t>
            </a:r>
            <a:r>
              <a:rPr sz="2900" spc="160" dirty="0"/>
              <a:t>MEASURING</a:t>
            </a:r>
            <a:r>
              <a:rPr sz="2900" spc="254" dirty="0"/>
              <a:t> </a:t>
            </a:r>
            <a:r>
              <a:rPr sz="2900" spc="145" dirty="0"/>
              <a:t>ACTUAL</a:t>
            </a:r>
            <a:r>
              <a:rPr sz="2900" spc="320" dirty="0"/>
              <a:t> </a:t>
            </a:r>
            <a:r>
              <a:rPr sz="2900" spc="150" dirty="0"/>
              <a:t>PERFORMANCE</a:t>
            </a:r>
            <a:endParaRPr sz="2900"/>
          </a:p>
        </p:txBody>
      </p:sp>
      <p:grpSp>
        <p:nvGrpSpPr>
          <p:cNvPr id="3" name="object 3"/>
          <p:cNvGrpSpPr/>
          <p:nvPr/>
        </p:nvGrpSpPr>
        <p:grpSpPr>
          <a:xfrm>
            <a:off x="2935223" y="3601211"/>
            <a:ext cx="6563995" cy="1511935"/>
            <a:chOff x="2935223" y="3601211"/>
            <a:chExt cx="6563995" cy="1511935"/>
          </a:xfrm>
        </p:grpSpPr>
        <p:sp>
          <p:nvSpPr>
            <p:cNvPr id="4" name="object 4"/>
            <p:cNvSpPr/>
            <p:nvPr/>
          </p:nvSpPr>
          <p:spPr>
            <a:xfrm>
              <a:off x="2936747" y="3602735"/>
              <a:ext cx="6560820" cy="1508760"/>
            </a:xfrm>
            <a:custGeom>
              <a:avLst/>
              <a:gdLst/>
              <a:ahLst/>
              <a:cxnLst/>
              <a:rect l="l" t="t" r="r" b="b"/>
              <a:pathLst>
                <a:path w="6560820" h="1508760">
                  <a:moveTo>
                    <a:pt x="6309359" y="0"/>
                  </a:moveTo>
                  <a:lnTo>
                    <a:pt x="251459" y="0"/>
                  </a:ln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0" y="1257300"/>
                  </a:lnTo>
                  <a:lnTo>
                    <a:pt x="4049" y="1302516"/>
                  </a:lnTo>
                  <a:lnTo>
                    <a:pt x="15725" y="1345066"/>
                  </a:lnTo>
                  <a:lnTo>
                    <a:pt x="34318" y="1384243"/>
                  </a:lnTo>
                  <a:lnTo>
                    <a:pt x="59120" y="1419337"/>
                  </a:lnTo>
                  <a:lnTo>
                    <a:pt x="89422" y="1449639"/>
                  </a:lnTo>
                  <a:lnTo>
                    <a:pt x="124516" y="1474441"/>
                  </a:lnTo>
                  <a:lnTo>
                    <a:pt x="163693" y="1493034"/>
                  </a:lnTo>
                  <a:lnTo>
                    <a:pt x="206243" y="1504710"/>
                  </a:lnTo>
                  <a:lnTo>
                    <a:pt x="251459" y="1508759"/>
                  </a:lnTo>
                  <a:lnTo>
                    <a:pt x="6309359" y="1508759"/>
                  </a:lnTo>
                  <a:lnTo>
                    <a:pt x="6354576" y="1504710"/>
                  </a:lnTo>
                  <a:lnTo>
                    <a:pt x="6397126" y="1493034"/>
                  </a:lnTo>
                  <a:lnTo>
                    <a:pt x="6436303" y="1474441"/>
                  </a:lnTo>
                  <a:lnTo>
                    <a:pt x="6471397" y="1449639"/>
                  </a:lnTo>
                  <a:lnTo>
                    <a:pt x="6501699" y="1419337"/>
                  </a:lnTo>
                  <a:lnTo>
                    <a:pt x="6526501" y="1384243"/>
                  </a:lnTo>
                  <a:lnTo>
                    <a:pt x="6545094" y="1345066"/>
                  </a:lnTo>
                  <a:lnTo>
                    <a:pt x="6556770" y="1302516"/>
                  </a:lnTo>
                  <a:lnTo>
                    <a:pt x="6560820" y="1257300"/>
                  </a:lnTo>
                  <a:lnTo>
                    <a:pt x="6560820" y="251459"/>
                  </a:lnTo>
                  <a:lnTo>
                    <a:pt x="6556770" y="206243"/>
                  </a:lnTo>
                  <a:lnTo>
                    <a:pt x="6545094" y="163693"/>
                  </a:lnTo>
                  <a:lnTo>
                    <a:pt x="6526501" y="124516"/>
                  </a:lnTo>
                  <a:lnTo>
                    <a:pt x="6501699" y="89422"/>
                  </a:lnTo>
                  <a:lnTo>
                    <a:pt x="6471397" y="59120"/>
                  </a:lnTo>
                  <a:lnTo>
                    <a:pt x="6436303" y="34318"/>
                  </a:lnTo>
                  <a:lnTo>
                    <a:pt x="6397126" y="15725"/>
                  </a:lnTo>
                  <a:lnTo>
                    <a:pt x="6354576" y="4049"/>
                  </a:lnTo>
                  <a:lnTo>
                    <a:pt x="6309359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223" y="3601211"/>
              <a:ext cx="6563995" cy="1511935"/>
            </a:xfrm>
            <a:custGeom>
              <a:avLst/>
              <a:gdLst/>
              <a:ahLst/>
              <a:cxnLst/>
              <a:rect l="l" t="t" r="r" b="b"/>
              <a:pathLst>
                <a:path w="6563995" h="1511935">
                  <a:moveTo>
                    <a:pt x="6312281" y="0"/>
                  </a:moveTo>
                  <a:lnTo>
                    <a:pt x="251587" y="0"/>
                  </a:lnTo>
                  <a:lnTo>
                    <a:pt x="238632" y="253"/>
                  </a:lnTo>
                  <a:lnTo>
                    <a:pt x="188721" y="7874"/>
                  </a:lnTo>
                  <a:lnTo>
                    <a:pt x="131699" y="30352"/>
                  </a:lnTo>
                  <a:lnTo>
                    <a:pt x="91567" y="57531"/>
                  </a:lnTo>
                  <a:lnTo>
                    <a:pt x="57403" y="91693"/>
                  </a:lnTo>
                  <a:lnTo>
                    <a:pt x="30352" y="131952"/>
                  </a:lnTo>
                  <a:lnTo>
                    <a:pt x="11302" y="177037"/>
                  </a:lnTo>
                  <a:lnTo>
                    <a:pt x="1269" y="226313"/>
                  </a:lnTo>
                  <a:lnTo>
                    <a:pt x="0" y="251968"/>
                  </a:lnTo>
                  <a:lnTo>
                    <a:pt x="0" y="1259839"/>
                  </a:lnTo>
                  <a:lnTo>
                    <a:pt x="2793" y="1298194"/>
                  </a:lnTo>
                  <a:lnTo>
                    <a:pt x="19684" y="1357883"/>
                  </a:lnTo>
                  <a:lnTo>
                    <a:pt x="42925" y="1400683"/>
                  </a:lnTo>
                  <a:lnTo>
                    <a:pt x="73659" y="1438020"/>
                  </a:lnTo>
                  <a:lnTo>
                    <a:pt x="110998" y="1468755"/>
                  </a:lnTo>
                  <a:lnTo>
                    <a:pt x="153669" y="1491995"/>
                  </a:lnTo>
                  <a:lnTo>
                    <a:pt x="200913" y="1506601"/>
                  </a:lnTo>
                  <a:lnTo>
                    <a:pt x="251587" y="1511808"/>
                  </a:lnTo>
                  <a:lnTo>
                    <a:pt x="6312281" y="1511808"/>
                  </a:lnTo>
                  <a:lnTo>
                    <a:pt x="6350634" y="1508887"/>
                  </a:lnTo>
                  <a:lnTo>
                    <a:pt x="6390878" y="1499108"/>
                  </a:lnTo>
                  <a:lnTo>
                    <a:pt x="251587" y="1499108"/>
                  </a:lnTo>
                  <a:lnTo>
                    <a:pt x="239013" y="1498854"/>
                  </a:lnTo>
                  <a:lnTo>
                    <a:pt x="191643" y="1491488"/>
                  </a:lnTo>
                  <a:lnTo>
                    <a:pt x="137287" y="1470025"/>
                  </a:lnTo>
                  <a:lnTo>
                    <a:pt x="99059" y="1444117"/>
                  </a:lnTo>
                  <a:lnTo>
                    <a:pt x="66801" y="1411477"/>
                  </a:lnTo>
                  <a:lnTo>
                    <a:pt x="41275" y="1373377"/>
                  </a:lnTo>
                  <a:lnTo>
                    <a:pt x="23240" y="1330452"/>
                  </a:lnTo>
                  <a:lnTo>
                    <a:pt x="13843" y="1283970"/>
                  </a:lnTo>
                  <a:lnTo>
                    <a:pt x="12700" y="251968"/>
                  </a:lnTo>
                  <a:lnTo>
                    <a:pt x="12941" y="240030"/>
                  </a:lnTo>
                  <a:lnTo>
                    <a:pt x="20319" y="191896"/>
                  </a:lnTo>
                  <a:lnTo>
                    <a:pt x="41782" y="137413"/>
                  </a:lnTo>
                  <a:lnTo>
                    <a:pt x="67563" y="99313"/>
                  </a:lnTo>
                  <a:lnTo>
                    <a:pt x="100075" y="66929"/>
                  </a:lnTo>
                  <a:lnTo>
                    <a:pt x="138302" y="41275"/>
                  </a:lnTo>
                  <a:lnTo>
                    <a:pt x="181228" y="23240"/>
                  </a:lnTo>
                  <a:lnTo>
                    <a:pt x="227583" y="13843"/>
                  </a:lnTo>
                  <a:lnTo>
                    <a:pt x="251968" y="12700"/>
                  </a:lnTo>
                  <a:lnTo>
                    <a:pt x="6390984" y="12700"/>
                  </a:lnTo>
                  <a:lnTo>
                    <a:pt x="6387210" y="11302"/>
                  </a:lnTo>
                  <a:lnTo>
                    <a:pt x="6338061" y="1270"/>
                  </a:lnTo>
                  <a:lnTo>
                    <a:pt x="6325234" y="253"/>
                  </a:lnTo>
                  <a:lnTo>
                    <a:pt x="6312281" y="0"/>
                  </a:lnTo>
                  <a:close/>
                </a:path>
                <a:path w="6563995" h="1511935">
                  <a:moveTo>
                    <a:pt x="6390984" y="12700"/>
                  </a:moveTo>
                  <a:lnTo>
                    <a:pt x="6312281" y="12700"/>
                  </a:lnTo>
                  <a:lnTo>
                    <a:pt x="6324981" y="12954"/>
                  </a:lnTo>
                  <a:lnTo>
                    <a:pt x="6337046" y="13969"/>
                  </a:lnTo>
                  <a:lnTo>
                    <a:pt x="6383655" y="23494"/>
                  </a:lnTo>
                  <a:lnTo>
                    <a:pt x="6426708" y="41782"/>
                  </a:lnTo>
                  <a:lnTo>
                    <a:pt x="6464681" y="67690"/>
                  </a:lnTo>
                  <a:lnTo>
                    <a:pt x="6497066" y="100202"/>
                  </a:lnTo>
                  <a:lnTo>
                    <a:pt x="6522593" y="138556"/>
                  </a:lnTo>
                  <a:lnTo>
                    <a:pt x="6540627" y="181482"/>
                  </a:lnTo>
                  <a:lnTo>
                    <a:pt x="6549898" y="227837"/>
                  </a:lnTo>
                  <a:lnTo>
                    <a:pt x="6551168" y="1259839"/>
                  </a:lnTo>
                  <a:lnTo>
                    <a:pt x="6550926" y="1271905"/>
                  </a:lnTo>
                  <a:lnTo>
                    <a:pt x="6543548" y="1320038"/>
                  </a:lnTo>
                  <a:lnTo>
                    <a:pt x="6522084" y="1374394"/>
                  </a:lnTo>
                  <a:lnTo>
                    <a:pt x="6496304" y="1412620"/>
                  </a:lnTo>
                  <a:lnTo>
                    <a:pt x="6463792" y="1444879"/>
                  </a:lnTo>
                  <a:lnTo>
                    <a:pt x="6425565" y="1470533"/>
                  </a:lnTo>
                  <a:lnTo>
                    <a:pt x="6382766" y="1488567"/>
                  </a:lnTo>
                  <a:lnTo>
                    <a:pt x="6336410" y="1497838"/>
                  </a:lnTo>
                  <a:lnTo>
                    <a:pt x="6311900" y="1499108"/>
                  </a:lnTo>
                  <a:lnTo>
                    <a:pt x="6390878" y="1499108"/>
                  </a:lnTo>
                  <a:lnTo>
                    <a:pt x="6432169" y="1481455"/>
                  </a:lnTo>
                  <a:lnTo>
                    <a:pt x="6472301" y="1454277"/>
                  </a:lnTo>
                  <a:lnTo>
                    <a:pt x="6506464" y="1420114"/>
                  </a:lnTo>
                  <a:lnTo>
                    <a:pt x="6533515" y="1379982"/>
                  </a:lnTo>
                  <a:lnTo>
                    <a:pt x="6552565" y="1334770"/>
                  </a:lnTo>
                  <a:lnTo>
                    <a:pt x="6562471" y="1285620"/>
                  </a:lnTo>
                  <a:lnTo>
                    <a:pt x="6563868" y="1259839"/>
                  </a:lnTo>
                  <a:lnTo>
                    <a:pt x="6563868" y="251968"/>
                  </a:lnTo>
                  <a:lnTo>
                    <a:pt x="6560947" y="213613"/>
                  </a:lnTo>
                  <a:lnTo>
                    <a:pt x="6544056" y="153924"/>
                  </a:lnTo>
                  <a:lnTo>
                    <a:pt x="6520942" y="111125"/>
                  </a:lnTo>
                  <a:lnTo>
                    <a:pt x="6490208" y="73787"/>
                  </a:lnTo>
                  <a:lnTo>
                    <a:pt x="6452997" y="43052"/>
                  </a:lnTo>
                  <a:lnTo>
                    <a:pt x="6410198" y="19812"/>
                  </a:lnTo>
                  <a:lnTo>
                    <a:pt x="6390984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53464" y="1422272"/>
            <a:ext cx="9730105" cy="3361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spc="105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We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Measure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personal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observations,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statistical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reports,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oral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reports,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written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reports.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spc="160" dirty="0">
                <a:solidFill>
                  <a:srgbClr val="093B70"/>
                </a:solidFill>
                <a:latin typeface="Trebuchet MS"/>
                <a:cs typeface="Trebuchet MS"/>
              </a:rPr>
              <a:t>What</a:t>
            </a:r>
            <a:r>
              <a:rPr sz="2400" b="1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We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Measure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what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measured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probably</a:t>
            </a:r>
            <a:r>
              <a:rPr sz="2400" spc="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critical</a:t>
            </a:r>
            <a:r>
              <a:rPr sz="2400" spc="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process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than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it’s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measured.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400">
              <a:latin typeface="Trebuchet MS"/>
              <a:cs typeface="Trebuchet MS"/>
            </a:endParaRPr>
          </a:p>
          <a:p>
            <a:pPr marL="431165" algn="ctr">
              <a:lnSpc>
                <a:spcPct val="100000"/>
              </a:lnSpc>
            </a:pPr>
            <a:r>
              <a:rPr sz="2800" b="1" spc="11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800" b="1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one</a:t>
            </a:r>
            <a:r>
              <a:rPr sz="2800" b="1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800" b="1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5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800" b="1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important,</a:t>
            </a:r>
            <a:endParaRPr sz="2800">
              <a:latin typeface="Trebuchet MS"/>
              <a:cs typeface="Trebuchet MS"/>
            </a:endParaRPr>
          </a:p>
          <a:p>
            <a:pPr marL="399415" algn="ctr">
              <a:lnSpc>
                <a:spcPct val="100000"/>
              </a:lnSpc>
              <a:spcBef>
                <a:spcPts val="5"/>
              </a:spcBef>
              <a:tabLst>
                <a:tab pos="2848610" algn="l"/>
              </a:tabLst>
            </a:pPr>
            <a:r>
              <a:rPr sz="2800" b="1" spc="-3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800" b="1" spc="-2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“How”</a:t>
            </a:r>
            <a:r>
              <a:rPr sz="2800" b="1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25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800" b="1" spc="-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800" b="1" spc="-3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45" dirty="0">
                <a:solidFill>
                  <a:srgbClr val="093B70"/>
                </a:solidFill>
                <a:latin typeface="Trebuchet MS"/>
                <a:cs typeface="Trebuchet MS"/>
              </a:rPr>
              <a:t>“What”?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45" dirty="0"/>
              <a:t>STEP</a:t>
            </a:r>
            <a:r>
              <a:rPr sz="2900" spc="335" dirty="0"/>
              <a:t> </a:t>
            </a:r>
            <a:r>
              <a:rPr sz="2900" spc="100" dirty="0"/>
              <a:t>1:</a:t>
            </a:r>
            <a:r>
              <a:rPr sz="2900" spc="370" dirty="0"/>
              <a:t> </a:t>
            </a:r>
            <a:r>
              <a:rPr sz="2900" spc="165" dirty="0"/>
              <a:t>MEASURING</a:t>
            </a:r>
            <a:r>
              <a:rPr sz="2900" spc="245" dirty="0"/>
              <a:t> </a:t>
            </a:r>
            <a:r>
              <a:rPr sz="2900" spc="150" dirty="0"/>
              <a:t>ACTUAL</a:t>
            </a:r>
            <a:r>
              <a:rPr sz="2900" spc="305" dirty="0"/>
              <a:t> </a:t>
            </a:r>
            <a:r>
              <a:rPr sz="2900" spc="155" dirty="0"/>
              <a:t>PERFORMANCE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81659" y="2184653"/>
            <a:ext cx="323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Personal</a:t>
            </a:r>
            <a:r>
              <a:rPr sz="2400" spc="-114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observation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54196" y="1237488"/>
            <a:ext cx="4483735" cy="4474845"/>
            <a:chOff x="3854196" y="1237488"/>
            <a:chExt cx="4483735" cy="4474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6220" y="2979420"/>
              <a:ext cx="4099560" cy="273253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55720" y="1239012"/>
              <a:ext cx="4480560" cy="620395"/>
            </a:xfrm>
            <a:custGeom>
              <a:avLst/>
              <a:gdLst/>
              <a:ahLst/>
              <a:cxnLst/>
              <a:rect l="l" t="t" r="r" b="b"/>
              <a:pathLst>
                <a:path w="4480559" h="620394">
                  <a:moveTo>
                    <a:pt x="4377182" y="0"/>
                  </a:moveTo>
                  <a:lnTo>
                    <a:pt x="103377" y="0"/>
                  </a:lnTo>
                  <a:lnTo>
                    <a:pt x="63115" y="8116"/>
                  </a:lnTo>
                  <a:lnTo>
                    <a:pt x="30257" y="30257"/>
                  </a:lnTo>
                  <a:lnTo>
                    <a:pt x="8116" y="63115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16" y="557152"/>
                  </a:lnTo>
                  <a:lnTo>
                    <a:pt x="30257" y="590010"/>
                  </a:lnTo>
                  <a:lnTo>
                    <a:pt x="63115" y="612151"/>
                  </a:lnTo>
                  <a:lnTo>
                    <a:pt x="103377" y="620267"/>
                  </a:lnTo>
                  <a:lnTo>
                    <a:pt x="4377182" y="620267"/>
                  </a:lnTo>
                  <a:lnTo>
                    <a:pt x="4417444" y="612151"/>
                  </a:lnTo>
                  <a:lnTo>
                    <a:pt x="4450302" y="590010"/>
                  </a:lnTo>
                  <a:lnTo>
                    <a:pt x="4472443" y="557152"/>
                  </a:lnTo>
                  <a:lnTo>
                    <a:pt x="4480559" y="516889"/>
                  </a:lnTo>
                  <a:lnTo>
                    <a:pt x="4480559" y="103377"/>
                  </a:lnTo>
                  <a:lnTo>
                    <a:pt x="4472443" y="63115"/>
                  </a:lnTo>
                  <a:lnTo>
                    <a:pt x="4450302" y="30257"/>
                  </a:lnTo>
                  <a:lnTo>
                    <a:pt x="4417444" y="8116"/>
                  </a:lnTo>
                  <a:lnTo>
                    <a:pt x="4377182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4196" y="1237488"/>
              <a:ext cx="4483735" cy="623570"/>
            </a:xfrm>
            <a:custGeom>
              <a:avLst/>
              <a:gdLst/>
              <a:ahLst/>
              <a:cxnLst/>
              <a:rect l="l" t="t" r="r" b="b"/>
              <a:pathLst>
                <a:path w="4483734" h="623569">
                  <a:moveTo>
                    <a:pt x="4380103" y="0"/>
                  </a:moveTo>
                  <a:lnTo>
                    <a:pt x="103504" y="0"/>
                  </a:lnTo>
                  <a:lnTo>
                    <a:pt x="92963" y="508"/>
                  </a:lnTo>
                  <a:lnTo>
                    <a:pt x="54228" y="12573"/>
                  </a:lnTo>
                  <a:lnTo>
                    <a:pt x="23621" y="37846"/>
                  </a:lnTo>
                  <a:lnTo>
                    <a:pt x="4699" y="73025"/>
                  </a:lnTo>
                  <a:lnTo>
                    <a:pt x="0" y="103886"/>
                  </a:lnTo>
                  <a:lnTo>
                    <a:pt x="0" y="519429"/>
                  </a:lnTo>
                  <a:lnTo>
                    <a:pt x="8127" y="559815"/>
                  </a:lnTo>
                  <a:lnTo>
                    <a:pt x="30225" y="592963"/>
                  </a:lnTo>
                  <a:lnTo>
                    <a:pt x="63245" y="615061"/>
                  </a:lnTo>
                  <a:lnTo>
                    <a:pt x="103504" y="623315"/>
                  </a:lnTo>
                  <a:lnTo>
                    <a:pt x="4380103" y="623315"/>
                  </a:lnTo>
                  <a:lnTo>
                    <a:pt x="4420488" y="615061"/>
                  </a:lnTo>
                  <a:lnTo>
                    <a:pt x="4429713" y="610615"/>
                  </a:lnTo>
                  <a:lnTo>
                    <a:pt x="103504" y="610615"/>
                  </a:lnTo>
                  <a:lnTo>
                    <a:pt x="93599" y="610108"/>
                  </a:lnTo>
                  <a:lnTo>
                    <a:pt x="52196" y="594740"/>
                  </a:lnTo>
                  <a:lnTo>
                    <a:pt x="23240" y="562356"/>
                  </a:lnTo>
                  <a:lnTo>
                    <a:pt x="12725" y="519429"/>
                  </a:lnTo>
                  <a:lnTo>
                    <a:pt x="12700" y="103886"/>
                  </a:lnTo>
                  <a:lnTo>
                    <a:pt x="13207" y="93979"/>
                  </a:lnTo>
                  <a:lnTo>
                    <a:pt x="28575" y="52450"/>
                  </a:lnTo>
                  <a:lnTo>
                    <a:pt x="60705" y="23495"/>
                  </a:lnTo>
                  <a:lnTo>
                    <a:pt x="104266" y="12700"/>
                  </a:lnTo>
                  <a:lnTo>
                    <a:pt x="4429718" y="12700"/>
                  </a:lnTo>
                  <a:lnTo>
                    <a:pt x="4429506" y="12573"/>
                  </a:lnTo>
                  <a:lnTo>
                    <a:pt x="4420488" y="8127"/>
                  </a:lnTo>
                  <a:lnTo>
                    <a:pt x="4410963" y="4699"/>
                  </a:lnTo>
                  <a:lnTo>
                    <a:pt x="4401058" y="2032"/>
                  </a:lnTo>
                  <a:lnTo>
                    <a:pt x="4390771" y="508"/>
                  </a:lnTo>
                  <a:lnTo>
                    <a:pt x="4380103" y="0"/>
                  </a:lnTo>
                  <a:close/>
                </a:path>
                <a:path w="4483734" h="623569">
                  <a:moveTo>
                    <a:pt x="4429718" y="12700"/>
                  </a:moveTo>
                  <a:lnTo>
                    <a:pt x="4380103" y="12700"/>
                  </a:lnTo>
                  <a:lnTo>
                    <a:pt x="4390008" y="13208"/>
                  </a:lnTo>
                  <a:lnTo>
                    <a:pt x="4399153" y="14604"/>
                  </a:lnTo>
                  <a:lnTo>
                    <a:pt x="4438396" y="33909"/>
                  </a:lnTo>
                  <a:lnTo>
                    <a:pt x="4464050" y="68961"/>
                  </a:lnTo>
                  <a:lnTo>
                    <a:pt x="4470908" y="519429"/>
                  </a:lnTo>
                  <a:lnTo>
                    <a:pt x="4470400" y="529336"/>
                  </a:lnTo>
                  <a:lnTo>
                    <a:pt x="4455159" y="570864"/>
                  </a:lnTo>
                  <a:lnTo>
                    <a:pt x="4422902" y="599948"/>
                  </a:lnTo>
                  <a:lnTo>
                    <a:pt x="4379468" y="610615"/>
                  </a:lnTo>
                  <a:lnTo>
                    <a:pt x="4429713" y="610615"/>
                  </a:lnTo>
                  <a:lnTo>
                    <a:pt x="4459985" y="585470"/>
                  </a:lnTo>
                  <a:lnTo>
                    <a:pt x="4478908" y="550290"/>
                  </a:lnTo>
                  <a:lnTo>
                    <a:pt x="4483608" y="519429"/>
                  </a:lnTo>
                  <a:lnTo>
                    <a:pt x="4483608" y="103886"/>
                  </a:lnTo>
                  <a:lnTo>
                    <a:pt x="4475480" y="63500"/>
                  </a:lnTo>
                  <a:lnTo>
                    <a:pt x="4453255" y="30479"/>
                  </a:lnTo>
                  <a:lnTo>
                    <a:pt x="4438014" y="17652"/>
                  </a:lnTo>
                  <a:lnTo>
                    <a:pt x="4429718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189221" y="130919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Sources</a:t>
            </a:r>
            <a:r>
              <a:rPr sz="2800" b="1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800" b="1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45" dirty="0"/>
              <a:t>STEP</a:t>
            </a:r>
            <a:r>
              <a:rPr sz="2900" spc="335" dirty="0"/>
              <a:t> </a:t>
            </a:r>
            <a:r>
              <a:rPr sz="2900" spc="100" dirty="0"/>
              <a:t>1:</a:t>
            </a:r>
            <a:r>
              <a:rPr sz="2900" spc="370" dirty="0"/>
              <a:t> </a:t>
            </a:r>
            <a:r>
              <a:rPr sz="2900" spc="165" dirty="0"/>
              <a:t>MEASURING</a:t>
            </a:r>
            <a:r>
              <a:rPr sz="2900" spc="245" dirty="0"/>
              <a:t> </a:t>
            </a:r>
            <a:r>
              <a:rPr sz="2900" spc="150" dirty="0"/>
              <a:t>ACTUAL</a:t>
            </a:r>
            <a:r>
              <a:rPr sz="2900" spc="305" dirty="0"/>
              <a:t> </a:t>
            </a:r>
            <a:r>
              <a:rPr sz="2900" spc="155" dirty="0"/>
              <a:t>PERFORMANCE</a:t>
            </a:r>
            <a:endParaRPr sz="2900"/>
          </a:p>
        </p:txBody>
      </p:sp>
      <p:grpSp>
        <p:nvGrpSpPr>
          <p:cNvPr id="3" name="object 3"/>
          <p:cNvGrpSpPr/>
          <p:nvPr/>
        </p:nvGrpSpPr>
        <p:grpSpPr>
          <a:xfrm>
            <a:off x="3854196" y="1237488"/>
            <a:ext cx="4483735" cy="623570"/>
            <a:chOff x="3854196" y="1237488"/>
            <a:chExt cx="4483735" cy="623570"/>
          </a:xfrm>
        </p:grpSpPr>
        <p:sp>
          <p:nvSpPr>
            <p:cNvPr id="4" name="object 4"/>
            <p:cNvSpPr/>
            <p:nvPr/>
          </p:nvSpPr>
          <p:spPr>
            <a:xfrm>
              <a:off x="3855720" y="1239012"/>
              <a:ext cx="4480560" cy="620395"/>
            </a:xfrm>
            <a:custGeom>
              <a:avLst/>
              <a:gdLst/>
              <a:ahLst/>
              <a:cxnLst/>
              <a:rect l="l" t="t" r="r" b="b"/>
              <a:pathLst>
                <a:path w="4480559" h="620394">
                  <a:moveTo>
                    <a:pt x="4377182" y="0"/>
                  </a:moveTo>
                  <a:lnTo>
                    <a:pt x="103377" y="0"/>
                  </a:lnTo>
                  <a:lnTo>
                    <a:pt x="63115" y="8116"/>
                  </a:lnTo>
                  <a:lnTo>
                    <a:pt x="30257" y="30257"/>
                  </a:lnTo>
                  <a:lnTo>
                    <a:pt x="8116" y="63115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16" y="557152"/>
                  </a:lnTo>
                  <a:lnTo>
                    <a:pt x="30257" y="590010"/>
                  </a:lnTo>
                  <a:lnTo>
                    <a:pt x="63115" y="612151"/>
                  </a:lnTo>
                  <a:lnTo>
                    <a:pt x="103377" y="620267"/>
                  </a:lnTo>
                  <a:lnTo>
                    <a:pt x="4377182" y="620267"/>
                  </a:lnTo>
                  <a:lnTo>
                    <a:pt x="4417444" y="612151"/>
                  </a:lnTo>
                  <a:lnTo>
                    <a:pt x="4450302" y="590010"/>
                  </a:lnTo>
                  <a:lnTo>
                    <a:pt x="4472443" y="557152"/>
                  </a:lnTo>
                  <a:lnTo>
                    <a:pt x="4480559" y="516889"/>
                  </a:lnTo>
                  <a:lnTo>
                    <a:pt x="4480559" y="103377"/>
                  </a:lnTo>
                  <a:lnTo>
                    <a:pt x="4472443" y="63115"/>
                  </a:lnTo>
                  <a:lnTo>
                    <a:pt x="4450302" y="30257"/>
                  </a:lnTo>
                  <a:lnTo>
                    <a:pt x="4417444" y="8116"/>
                  </a:lnTo>
                  <a:lnTo>
                    <a:pt x="4377182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4196" y="1237488"/>
              <a:ext cx="4483735" cy="623570"/>
            </a:xfrm>
            <a:custGeom>
              <a:avLst/>
              <a:gdLst/>
              <a:ahLst/>
              <a:cxnLst/>
              <a:rect l="l" t="t" r="r" b="b"/>
              <a:pathLst>
                <a:path w="4483734" h="623569">
                  <a:moveTo>
                    <a:pt x="4380103" y="0"/>
                  </a:moveTo>
                  <a:lnTo>
                    <a:pt x="103504" y="0"/>
                  </a:lnTo>
                  <a:lnTo>
                    <a:pt x="92963" y="508"/>
                  </a:lnTo>
                  <a:lnTo>
                    <a:pt x="54228" y="12573"/>
                  </a:lnTo>
                  <a:lnTo>
                    <a:pt x="23621" y="37846"/>
                  </a:lnTo>
                  <a:lnTo>
                    <a:pt x="4699" y="73025"/>
                  </a:lnTo>
                  <a:lnTo>
                    <a:pt x="0" y="103886"/>
                  </a:lnTo>
                  <a:lnTo>
                    <a:pt x="0" y="519429"/>
                  </a:lnTo>
                  <a:lnTo>
                    <a:pt x="8127" y="559815"/>
                  </a:lnTo>
                  <a:lnTo>
                    <a:pt x="30225" y="592963"/>
                  </a:lnTo>
                  <a:lnTo>
                    <a:pt x="63245" y="615061"/>
                  </a:lnTo>
                  <a:lnTo>
                    <a:pt x="103504" y="623315"/>
                  </a:lnTo>
                  <a:lnTo>
                    <a:pt x="4380103" y="623315"/>
                  </a:lnTo>
                  <a:lnTo>
                    <a:pt x="4420488" y="615061"/>
                  </a:lnTo>
                  <a:lnTo>
                    <a:pt x="4429713" y="610615"/>
                  </a:lnTo>
                  <a:lnTo>
                    <a:pt x="103504" y="610615"/>
                  </a:lnTo>
                  <a:lnTo>
                    <a:pt x="93599" y="610108"/>
                  </a:lnTo>
                  <a:lnTo>
                    <a:pt x="52196" y="594740"/>
                  </a:lnTo>
                  <a:lnTo>
                    <a:pt x="23240" y="562356"/>
                  </a:lnTo>
                  <a:lnTo>
                    <a:pt x="12725" y="519429"/>
                  </a:lnTo>
                  <a:lnTo>
                    <a:pt x="12700" y="103886"/>
                  </a:lnTo>
                  <a:lnTo>
                    <a:pt x="13207" y="93979"/>
                  </a:lnTo>
                  <a:lnTo>
                    <a:pt x="28575" y="52450"/>
                  </a:lnTo>
                  <a:lnTo>
                    <a:pt x="60705" y="23495"/>
                  </a:lnTo>
                  <a:lnTo>
                    <a:pt x="104266" y="12700"/>
                  </a:lnTo>
                  <a:lnTo>
                    <a:pt x="4429718" y="12700"/>
                  </a:lnTo>
                  <a:lnTo>
                    <a:pt x="4429506" y="12573"/>
                  </a:lnTo>
                  <a:lnTo>
                    <a:pt x="4420488" y="8127"/>
                  </a:lnTo>
                  <a:lnTo>
                    <a:pt x="4410963" y="4699"/>
                  </a:lnTo>
                  <a:lnTo>
                    <a:pt x="4401058" y="2032"/>
                  </a:lnTo>
                  <a:lnTo>
                    <a:pt x="4390771" y="508"/>
                  </a:lnTo>
                  <a:lnTo>
                    <a:pt x="4380103" y="0"/>
                  </a:lnTo>
                  <a:close/>
                </a:path>
                <a:path w="4483734" h="623569">
                  <a:moveTo>
                    <a:pt x="4429718" y="12700"/>
                  </a:moveTo>
                  <a:lnTo>
                    <a:pt x="4380103" y="12700"/>
                  </a:lnTo>
                  <a:lnTo>
                    <a:pt x="4390008" y="13208"/>
                  </a:lnTo>
                  <a:lnTo>
                    <a:pt x="4399153" y="14604"/>
                  </a:lnTo>
                  <a:lnTo>
                    <a:pt x="4438396" y="33909"/>
                  </a:lnTo>
                  <a:lnTo>
                    <a:pt x="4464050" y="68961"/>
                  </a:lnTo>
                  <a:lnTo>
                    <a:pt x="4470908" y="519429"/>
                  </a:lnTo>
                  <a:lnTo>
                    <a:pt x="4470400" y="529336"/>
                  </a:lnTo>
                  <a:lnTo>
                    <a:pt x="4455159" y="570864"/>
                  </a:lnTo>
                  <a:lnTo>
                    <a:pt x="4422902" y="599948"/>
                  </a:lnTo>
                  <a:lnTo>
                    <a:pt x="4379468" y="610615"/>
                  </a:lnTo>
                  <a:lnTo>
                    <a:pt x="4429713" y="610615"/>
                  </a:lnTo>
                  <a:lnTo>
                    <a:pt x="4459985" y="585470"/>
                  </a:lnTo>
                  <a:lnTo>
                    <a:pt x="4478908" y="550290"/>
                  </a:lnTo>
                  <a:lnTo>
                    <a:pt x="4483608" y="519429"/>
                  </a:lnTo>
                  <a:lnTo>
                    <a:pt x="4483608" y="103886"/>
                  </a:lnTo>
                  <a:lnTo>
                    <a:pt x="4475480" y="63500"/>
                  </a:lnTo>
                  <a:lnTo>
                    <a:pt x="4453255" y="30479"/>
                  </a:lnTo>
                  <a:lnTo>
                    <a:pt x="4438014" y="17652"/>
                  </a:lnTo>
                  <a:lnTo>
                    <a:pt x="4429718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1296" y="1309192"/>
            <a:ext cx="7432675" cy="1200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029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Sources</a:t>
            </a:r>
            <a:r>
              <a:rPr sz="2800" b="1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800" b="1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endParaRPr sz="2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301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Báo</a:t>
            </a:r>
            <a:r>
              <a:rPr sz="2400" spc="-80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cáo</a:t>
            </a:r>
            <a:r>
              <a:rPr sz="2400" spc="-3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240" dirty="0">
                <a:solidFill>
                  <a:srgbClr val="093B70"/>
                </a:solidFill>
                <a:latin typeface="Arial MT"/>
                <a:cs typeface="Arial MT"/>
              </a:rPr>
              <a:t>thống</a:t>
            </a: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 kê</a:t>
            </a:r>
            <a:r>
              <a:rPr sz="2400" spc="-3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(statistical</a:t>
            </a:r>
            <a:r>
              <a:rPr sz="2400" spc="-5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report)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887979"/>
            <a:ext cx="6204204" cy="30251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45" dirty="0"/>
              <a:t>STEP</a:t>
            </a:r>
            <a:r>
              <a:rPr sz="2900" spc="335" dirty="0"/>
              <a:t> </a:t>
            </a:r>
            <a:r>
              <a:rPr sz="2900" spc="100" dirty="0"/>
              <a:t>1:</a:t>
            </a:r>
            <a:r>
              <a:rPr sz="2900" spc="370" dirty="0"/>
              <a:t> </a:t>
            </a:r>
            <a:r>
              <a:rPr sz="2900" spc="165" dirty="0"/>
              <a:t>MEASURING</a:t>
            </a:r>
            <a:r>
              <a:rPr sz="2900" spc="245" dirty="0"/>
              <a:t> </a:t>
            </a:r>
            <a:r>
              <a:rPr sz="2900" spc="150" dirty="0"/>
              <a:t>ACTUAL</a:t>
            </a:r>
            <a:r>
              <a:rPr sz="2900" spc="305" dirty="0"/>
              <a:t> </a:t>
            </a:r>
            <a:r>
              <a:rPr sz="2900" spc="155" dirty="0"/>
              <a:t>PERFORMANCE</a:t>
            </a:r>
            <a:endParaRPr sz="2900"/>
          </a:p>
        </p:txBody>
      </p:sp>
      <p:grpSp>
        <p:nvGrpSpPr>
          <p:cNvPr id="3" name="object 3"/>
          <p:cNvGrpSpPr/>
          <p:nvPr/>
        </p:nvGrpSpPr>
        <p:grpSpPr>
          <a:xfrm>
            <a:off x="3854196" y="1237488"/>
            <a:ext cx="4483735" cy="623570"/>
            <a:chOff x="3854196" y="1237488"/>
            <a:chExt cx="4483735" cy="623570"/>
          </a:xfrm>
        </p:grpSpPr>
        <p:sp>
          <p:nvSpPr>
            <p:cNvPr id="4" name="object 4"/>
            <p:cNvSpPr/>
            <p:nvPr/>
          </p:nvSpPr>
          <p:spPr>
            <a:xfrm>
              <a:off x="3855720" y="1239012"/>
              <a:ext cx="4480560" cy="620395"/>
            </a:xfrm>
            <a:custGeom>
              <a:avLst/>
              <a:gdLst/>
              <a:ahLst/>
              <a:cxnLst/>
              <a:rect l="l" t="t" r="r" b="b"/>
              <a:pathLst>
                <a:path w="4480559" h="620394">
                  <a:moveTo>
                    <a:pt x="4377182" y="0"/>
                  </a:moveTo>
                  <a:lnTo>
                    <a:pt x="103377" y="0"/>
                  </a:lnTo>
                  <a:lnTo>
                    <a:pt x="63115" y="8116"/>
                  </a:lnTo>
                  <a:lnTo>
                    <a:pt x="30257" y="30257"/>
                  </a:lnTo>
                  <a:lnTo>
                    <a:pt x="8116" y="63115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16" y="557152"/>
                  </a:lnTo>
                  <a:lnTo>
                    <a:pt x="30257" y="590010"/>
                  </a:lnTo>
                  <a:lnTo>
                    <a:pt x="63115" y="612151"/>
                  </a:lnTo>
                  <a:lnTo>
                    <a:pt x="103377" y="620267"/>
                  </a:lnTo>
                  <a:lnTo>
                    <a:pt x="4377182" y="620267"/>
                  </a:lnTo>
                  <a:lnTo>
                    <a:pt x="4417444" y="612151"/>
                  </a:lnTo>
                  <a:lnTo>
                    <a:pt x="4450302" y="590010"/>
                  </a:lnTo>
                  <a:lnTo>
                    <a:pt x="4472443" y="557152"/>
                  </a:lnTo>
                  <a:lnTo>
                    <a:pt x="4480559" y="516889"/>
                  </a:lnTo>
                  <a:lnTo>
                    <a:pt x="4480559" y="103377"/>
                  </a:lnTo>
                  <a:lnTo>
                    <a:pt x="4472443" y="63115"/>
                  </a:lnTo>
                  <a:lnTo>
                    <a:pt x="4450302" y="30257"/>
                  </a:lnTo>
                  <a:lnTo>
                    <a:pt x="4417444" y="8116"/>
                  </a:lnTo>
                  <a:lnTo>
                    <a:pt x="4377182" y="0"/>
                  </a:lnTo>
                  <a:close/>
                </a:path>
              </a:pathLst>
            </a:custGeom>
            <a:solidFill>
              <a:srgbClr val="BBE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4196" y="1237488"/>
              <a:ext cx="4483735" cy="623570"/>
            </a:xfrm>
            <a:custGeom>
              <a:avLst/>
              <a:gdLst/>
              <a:ahLst/>
              <a:cxnLst/>
              <a:rect l="l" t="t" r="r" b="b"/>
              <a:pathLst>
                <a:path w="4483734" h="623569">
                  <a:moveTo>
                    <a:pt x="4380103" y="0"/>
                  </a:moveTo>
                  <a:lnTo>
                    <a:pt x="103504" y="0"/>
                  </a:lnTo>
                  <a:lnTo>
                    <a:pt x="92963" y="508"/>
                  </a:lnTo>
                  <a:lnTo>
                    <a:pt x="54228" y="12573"/>
                  </a:lnTo>
                  <a:lnTo>
                    <a:pt x="23621" y="37846"/>
                  </a:lnTo>
                  <a:lnTo>
                    <a:pt x="4699" y="73025"/>
                  </a:lnTo>
                  <a:lnTo>
                    <a:pt x="0" y="103886"/>
                  </a:lnTo>
                  <a:lnTo>
                    <a:pt x="0" y="519429"/>
                  </a:lnTo>
                  <a:lnTo>
                    <a:pt x="8127" y="559815"/>
                  </a:lnTo>
                  <a:lnTo>
                    <a:pt x="30225" y="592963"/>
                  </a:lnTo>
                  <a:lnTo>
                    <a:pt x="63245" y="615061"/>
                  </a:lnTo>
                  <a:lnTo>
                    <a:pt x="103504" y="623315"/>
                  </a:lnTo>
                  <a:lnTo>
                    <a:pt x="4380103" y="623315"/>
                  </a:lnTo>
                  <a:lnTo>
                    <a:pt x="4420488" y="615061"/>
                  </a:lnTo>
                  <a:lnTo>
                    <a:pt x="4429713" y="610615"/>
                  </a:lnTo>
                  <a:lnTo>
                    <a:pt x="103504" y="610615"/>
                  </a:lnTo>
                  <a:lnTo>
                    <a:pt x="93599" y="610108"/>
                  </a:lnTo>
                  <a:lnTo>
                    <a:pt x="52196" y="594740"/>
                  </a:lnTo>
                  <a:lnTo>
                    <a:pt x="23240" y="562356"/>
                  </a:lnTo>
                  <a:lnTo>
                    <a:pt x="12725" y="519429"/>
                  </a:lnTo>
                  <a:lnTo>
                    <a:pt x="12700" y="103886"/>
                  </a:lnTo>
                  <a:lnTo>
                    <a:pt x="13207" y="93979"/>
                  </a:lnTo>
                  <a:lnTo>
                    <a:pt x="28575" y="52450"/>
                  </a:lnTo>
                  <a:lnTo>
                    <a:pt x="60705" y="23495"/>
                  </a:lnTo>
                  <a:lnTo>
                    <a:pt x="104266" y="12700"/>
                  </a:lnTo>
                  <a:lnTo>
                    <a:pt x="4429718" y="12700"/>
                  </a:lnTo>
                  <a:lnTo>
                    <a:pt x="4429506" y="12573"/>
                  </a:lnTo>
                  <a:lnTo>
                    <a:pt x="4420488" y="8127"/>
                  </a:lnTo>
                  <a:lnTo>
                    <a:pt x="4410963" y="4699"/>
                  </a:lnTo>
                  <a:lnTo>
                    <a:pt x="4401058" y="2032"/>
                  </a:lnTo>
                  <a:lnTo>
                    <a:pt x="4390771" y="508"/>
                  </a:lnTo>
                  <a:lnTo>
                    <a:pt x="4380103" y="0"/>
                  </a:lnTo>
                  <a:close/>
                </a:path>
                <a:path w="4483734" h="623569">
                  <a:moveTo>
                    <a:pt x="4429718" y="12700"/>
                  </a:moveTo>
                  <a:lnTo>
                    <a:pt x="4380103" y="12700"/>
                  </a:lnTo>
                  <a:lnTo>
                    <a:pt x="4390008" y="13208"/>
                  </a:lnTo>
                  <a:lnTo>
                    <a:pt x="4399153" y="14604"/>
                  </a:lnTo>
                  <a:lnTo>
                    <a:pt x="4438396" y="33909"/>
                  </a:lnTo>
                  <a:lnTo>
                    <a:pt x="4464050" y="68961"/>
                  </a:lnTo>
                  <a:lnTo>
                    <a:pt x="4470908" y="519429"/>
                  </a:lnTo>
                  <a:lnTo>
                    <a:pt x="4470400" y="529336"/>
                  </a:lnTo>
                  <a:lnTo>
                    <a:pt x="4455159" y="570864"/>
                  </a:lnTo>
                  <a:lnTo>
                    <a:pt x="4422902" y="599948"/>
                  </a:lnTo>
                  <a:lnTo>
                    <a:pt x="4379468" y="610615"/>
                  </a:lnTo>
                  <a:lnTo>
                    <a:pt x="4429713" y="610615"/>
                  </a:lnTo>
                  <a:lnTo>
                    <a:pt x="4459985" y="585470"/>
                  </a:lnTo>
                  <a:lnTo>
                    <a:pt x="4478908" y="550290"/>
                  </a:lnTo>
                  <a:lnTo>
                    <a:pt x="4483608" y="519429"/>
                  </a:lnTo>
                  <a:lnTo>
                    <a:pt x="4483608" y="103886"/>
                  </a:lnTo>
                  <a:lnTo>
                    <a:pt x="4475480" y="63500"/>
                  </a:lnTo>
                  <a:lnTo>
                    <a:pt x="4453255" y="30479"/>
                  </a:lnTo>
                  <a:lnTo>
                    <a:pt x="4438014" y="17652"/>
                  </a:lnTo>
                  <a:lnTo>
                    <a:pt x="4429718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01521" y="1309192"/>
            <a:ext cx="6502400" cy="3369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00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Sources</a:t>
            </a:r>
            <a:r>
              <a:rPr sz="2800" b="1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800" b="1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Personal</a:t>
            </a:r>
            <a:r>
              <a:rPr sz="2400" spc="-110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observation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Statistical</a:t>
            </a:r>
            <a:r>
              <a:rPr sz="2400" spc="-15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Arial MT"/>
                <a:cs typeface="Arial MT"/>
              </a:rPr>
              <a:t>report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093B70"/>
                </a:solidFill>
                <a:latin typeface="Arial"/>
                <a:cs typeface="Arial"/>
              </a:rPr>
              <a:t>Oral</a:t>
            </a:r>
            <a:r>
              <a:rPr sz="2400" b="1" spc="-15" dirty="0">
                <a:solidFill>
                  <a:srgbClr val="093B7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Arial"/>
                <a:cs typeface="Arial"/>
              </a:rPr>
              <a:t>report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093B70"/>
                </a:solidFill>
                <a:latin typeface="Arial"/>
                <a:cs typeface="Arial"/>
              </a:rPr>
              <a:t>Written</a:t>
            </a:r>
            <a:r>
              <a:rPr sz="2400" b="1" spc="-60" dirty="0">
                <a:solidFill>
                  <a:srgbClr val="093B7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Arial"/>
                <a:cs typeface="Arial"/>
              </a:rPr>
              <a:t>report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6683" y="2305811"/>
            <a:ext cx="4070604" cy="30388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145" dirty="0"/>
              <a:t>STEP</a:t>
            </a:r>
            <a:r>
              <a:rPr sz="2900" spc="335" dirty="0"/>
              <a:t> </a:t>
            </a:r>
            <a:r>
              <a:rPr sz="2900" spc="100" dirty="0"/>
              <a:t>1:</a:t>
            </a:r>
            <a:r>
              <a:rPr sz="2900" spc="370" dirty="0"/>
              <a:t> </a:t>
            </a:r>
            <a:r>
              <a:rPr sz="2900" spc="165" dirty="0"/>
              <a:t>MEASURING</a:t>
            </a:r>
            <a:r>
              <a:rPr sz="2900" spc="245" dirty="0"/>
              <a:t> </a:t>
            </a:r>
            <a:r>
              <a:rPr sz="2900" spc="150" dirty="0"/>
              <a:t>ACTUAL</a:t>
            </a:r>
            <a:r>
              <a:rPr sz="2900" spc="305" dirty="0"/>
              <a:t> </a:t>
            </a:r>
            <a:r>
              <a:rPr sz="2900" spc="155" dirty="0"/>
              <a:t>PERFORMANCE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088" y="1321308"/>
            <a:ext cx="9259823" cy="457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907" y="415874"/>
            <a:ext cx="8947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647189" algn="l"/>
                <a:tab pos="1911350" algn="l"/>
                <a:tab pos="2821305" algn="l"/>
              </a:tabLst>
            </a:pPr>
            <a:r>
              <a:rPr sz="2800" spc="140" dirty="0"/>
              <a:t>STEP</a:t>
            </a:r>
            <a:r>
              <a:rPr sz="2800" spc="340" dirty="0"/>
              <a:t> </a:t>
            </a:r>
            <a:r>
              <a:rPr sz="2800" spc="60" dirty="0"/>
              <a:t>2:</a:t>
            </a:r>
            <a:r>
              <a:rPr sz="2800" dirty="0"/>
              <a:t>	</a:t>
            </a:r>
            <a:r>
              <a:rPr sz="2800" spc="135" dirty="0"/>
              <a:t>COMPARING</a:t>
            </a:r>
            <a:r>
              <a:rPr sz="2800" spc="310" dirty="0"/>
              <a:t> </a:t>
            </a:r>
            <a:r>
              <a:rPr sz="2800" spc="140" dirty="0"/>
              <a:t>ACTUAL</a:t>
            </a:r>
            <a:r>
              <a:rPr sz="2800" spc="400" dirty="0"/>
              <a:t> </a:t>
            </a:r>
            <a:r>
              <a:rPr sz="2800" spc="150" dirty="0"/>
              <a:t>PERFORMANCE </a:t>
            </a:r>
            <a:r>
              <a:rPr sz="2800" spc="145" dirty="0"/>
              <a:t>AGAINST</a:t>
            </a:r>
            <a:r>
              <a:rPr sz="2800" dirty="0"/>
              <a:t>	</a:t>
            </a:r>
            <a:r>
              <a:rPr sz="2800" spc="90" dirty="0"/>
              <a:t>THE</a:t>
            </a:r>
            <a:r>
              <a:rPr sz="2800" dirty="0"/>
              <a:t>	</a:t>
            </a:r>
            <a:r>
              <a:rPr sz="2800" spc="114" dirty="0"/>
              <a:t>STANDARD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7427" y="1925573"/>
            <a:ext cx="956754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Determining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degree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variation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between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actual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the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standard.</a:t>
            </a:r>
            <a:endParaRPr sz="2400">
              <a:latin typeface="Trebuchet MS"/>
              <a:cs typeface="Trebuchet MS"/>
            </a:endParaRPr>
          </a:p>
          <a:p>
            <a:pPr marL="299085" marR="7620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1315720" algn="l"/>
                <a:tab pos="1731645" algn="l"/>
                <a:tab pos="3138805" algn="l"/>
                <a:tab pos="3434079" algn="l"/>
                <a:tab pos="3977004" algn="l"/>
                <a:tab pos="5411470" algn="l"/>
                <a:tab pos="6953250" algn="l"/>
                <a:tab pos="7340600" algn="l"/>
                <a:tab pos="8496300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Range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variation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acceptable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parameters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variance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between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actual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standard.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907" y="415874"/>
            <a:ext cx="8947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647189" algn="l"/>
                <a:tab pos="1911350" algn="l"/>
                <a:tab pos="2821305" algn="l"/>
              </a:tabLst>
            </a:pPr>
            <a:r>
              <a:rPr sz="2800" spc="140" dirty="0"/>
              <a:t>STEP</a:t>
            </a:r>
            <a:r>
              <a:rPr sz="2800" spc="340" dirty="0"/>
              <a:t> </a:t>
            </a:r>
            <a:r>
              <a:rPr sz="2800" spc="60" dirty="0"/>
              <a:t>2:</a:t>
            </a:r>
            <a:r>
              <a:rPr sz="2800" dirty="0"/>
              <a:t>	</a:t>
            </a:r>
            <a:r>
              <a:rPr sz="2800" spc="135" dirty="0"/>
              <a:t>COMPARING</a:t>
            </a:r>
            <a:r>
              <a:rPr sz="2800" spc="310" dirty="0"/>
              <a:t> </a:t>
            </a:r>
            <a:r>
              <a:rPr sz="2800" spc="140" dirty="0"/>
              <a:t>ACTUAL</a:t>
            </a:r>
            <a:r>
              <a:rPr sz="2800" spc="400" dirty="0"/>
              <a:t> </a:t>
            </a:r>
            <a:r>
              <a:rPr sz="2800" spc="150" dirty="0"/>
              <a:t>PERFORMANCE </a:t>
            </a:r>
            <a:r>
              <a:rPr sz="2800" spc="145" dirty="0"/>
              <a:t>AGAINST</a:t>
            </a:r>
            <a:r>
              <a:rPr sz="2800" dirty="0"/>
              <a:t>	</a:t>
            </a:r>
            <a:r>
              <a:rPr sz="2800" spc="90" dirty="0"/>
              <a:t>THE</a:t>
            </a:r>
            <a:r>
              <a:rPr sz="2800" dirty="0"/>
              <a:t>	</a:t>
            </a:r>
            <a:r>
              <a:rPr sz="2800" spc="114" dirty="0"/>
              <a:t>STANDARD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652" y="1568196"/>
            <a:ext cx="9535668" cy="45628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916" y="1668779"/>
            <a:ext cx="9726168" cy="40782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5907" y="415874"/>
            <a:ext cx="8947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647189" algn="l"/>
                <a:tab pos="1911350" algn="l"/>
                <a:tab pos="2821305" algn="l"/>
              </a:tabLst>
            </a:pPr>
            <a:r>
              <a:rPr sz="2800" spc="140" dirty="0"/>
              <a:t>STEP</a:t>
            </a:r>
            <a:r>
              <a:rPr sz="2800" spc="340" dirty="0"/>
              <a:t> </a:t>
            </a:r>
            <a:r>
              <a:rPr sz="2800" spc="60" dirty="0"/>
              <a:t>2:</a:t>
            </a:r>
            <a:r>
              <a:rPr sz="2800" dirty="0"/>
              <a:t>	</a:t>
            </a:r>
            <a:r>
              <a:rPr sz="2800" spc="135" dirty="0"/>
              <a:t>COMPARING</a:t>
            </a:r>
            <a:r>
              <a:rPr sz="2800" spc="310" dirty="0"/>
              <a:t> </a:t>
            </a:r>
            <a:r>
              <a:rPr sz="2800" spc="140" dirty="0"/>
              <a:t>ACTUAL</a:t>
            </a:r>
            <a:r>
              <a:rPr sz="2800" spc="400" dirty="0"/>
              <a:t> </a:t>
            </a:r>
            <a:r>
              <a:rPr sz="2800" spc="150" dirty="0"/>
              <a:t>PERFORMANCE </a:t>
            </a:r>
            <a:r>
              <a:rPr sz="2800" spc="145" dirty="0"/>
              <a:t>AGAINST</a:t>
            </a:r>
            <a:r>
              <a:rPr sz="2800" dirty="0"/>
              <a:t>	</a:t>
            </a:r>
            <a:r>
              <a:rPr sz="2800" spc="90" dirty="0"/>
              <a:t>THE</a:t>
            </a:r>
            <a:r>
              <a:rPr sz="2800" dirty="0"/>
              <a:t>	</a:t>
            </a:r>
            <a:r>
              <a:rPr sz="2800" spc="114" dirty="0"/>
              <a:t>STANDARD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15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652" y="1239011"/>
            <a:ext cx="9319260" cy="48143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107" y="1182624"/>
            <a:ext cx="7171944" cy="47868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8938" y="1682877"/>
            <a:ext cx="9438640" cy="340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Immediate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corrective</a:t>
            </a:r>
            <a:r>
              <a:rPr sz="2400" b="1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action</a:t>
            </a:r>
            <a:r>
              <a:rPr sz="2400" b="1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corrective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action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corrects</a:t>
            </a:r>
            <a:r>
              <a:rPr sz="2400" spc="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problems </a:t>
            </a:r>
            <a:r>
              <a:rPr sz="2400" spc="-210" dirty="0">
                <a:solidFill>
                  <a:srgbClr val="093B70"/>
                </a:solidFill>
                <a:latin typeface="Trebuchet MS"/>
                <a:cs typeface="Trebuchet MS"/>
              </a:rPr>
              <a:t>at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once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order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get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back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track.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Basic</a:t>
            </a:r>
            <a:r>
              <a:rPr sz="2400" b="1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corrective</a:t>
            </a:r>
            <a:r>
              <a:rPr sz="2400" b="1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action</a:t>
            </a:r>
            <a:r>
              <a:rPr sz="2400" b="1" spc="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corrective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action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looks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at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why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deviated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before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correcting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source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deviation.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Revise</a:t>
            </a:r>
            <a:r>
              <a:rPr sz="2400" b="1" spc="-1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b="1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Standard</a:t>
            </a:r>
            <a:r>
              <a:rPr sz="2400" b="1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65" dirty="0">
                <a:solidFill>
                  <a:srgbClr val="093B70"/>
                </a:solidFill>
                <a:latin typeface="Trebuchet MS"/>
                <a:cs typeface="Trebuchet MS"/>
              </a:rPr>
              <a:t>if</a:t>
            </a:r>
            <a:r>
              <a:rPr sz="2400" spc="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consistently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exceeds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60" dirty="0">
                <a:solidFill>
                  <a:srgbClr val="093B70"/>
                </a:solidFill>
                <a:latin typeface="Trebuchet MS"/>
                <a:cs typeface="Trebuchet MS"/>
              </a:rPr>
              <a:t>goal,</a:t>
            </a:r>
            <a:r>
              <a:rPr sz="2400" spc="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then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manager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should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look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at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whether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goal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too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easy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needs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be raised.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400" u="sng" spc="-11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Managers</a:t>
            </a:r>
            <a:r>
              <a:rPr sz="2400" u="sng" spc="-5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3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must</a:t>
            </a:r>
            <a:r>
              <a:rPr sz="2400" u="sng" spc="-6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6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be</a:t>
            </a:r>
            <a:r>
              <a:rPr sz="2400" u="sng" spc="-6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cautious</a:t>
            </a:r>
            <a:r>
              <a:rPr sz="2400" b="1" u="sng" spc="-7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2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about</a:t>
            </a:r>
            <a:r>
              <a:rPr sz="2400" u="sng" spc="-5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revising</a:t>
            </a:r>
            <a:r>
              <a:rPr sz="2400" u="sng" spc="-6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a</a:t>
            </a:r>
            <a:r>
              <a:rPr sz="2400" b="1" u="sng" spc="-65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standard</a:t>
            </a:r>
            <a:r>
              <a:rPr sz="2400" b="1" u="sng" spc="-6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spc="-10" dirty="0">
                <a:solidFill>
                  <a:srgbClr val="093B70"/>
                </a:solidFill>
                <a:uFill>
                  <a:solidFill>
                    <a:srgbClr val="093B70"/>
                  </a:solidFill>
                </a:uFill>
                <a:latin typeface="Trebuchet MS"/>
                <a:cs typeface="Trebuchet MS"/>
              </a:rPr>
              <a:t>downward.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416" y="1321308"/>
            <a:ext cx="7453883" cy="4192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739" y="1853183"/>
            <a:ext cx="7970519" cy="33817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360" y="1638300"/>
            <a:ext cx="7955280" cy="3581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00" dirty="0"/>
              <a:t> </a:t>
            </a:r>
            <a:r>
              <a:rPr spc="95" dirty="0"/>
              <a:t>3:</a:t>
            </a:r>
            <a:r>
              <a:rPr spc="395" dirty="0"/>
              <a:t> </a:t>
            </a:r>
            <a:r>
              <a:rPr spc="125" dirty="0"/>
              <a:t>TAKING</a:t>
            </a:r>
            <a:r>
              <a:rPr spc="345" dirty="0"/>
              <a:t> </a:t>
            </a:r>
            <a:r>
              <a:rPr spc="175" dirty="0"/>
              <a:t>MANAGERIAL</a:t>
            </a:r>
            <a:r>
              <a:rPr spc="170" dirty="0"/>
              <a:t> </a:t>
            </a:r>
            <a:r>
              <a:rPr spc="155" dirty="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52827"/>
            <a:ext cx="10363200" cy="25389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MEASURES</a:t>
            </a:r>
            <a:r>
              <a:rPr spc="350" dirty="0"/>
              <a:t> </a:t>
            </a:r>
            <a:r>
              <a:rPr spc="100" dirty="0"/>
              <a:t>OF</a:t>
            </a:r>
            <a:r>
              <a:rPr spc="385" dirty="0"/>
              <a:t> </a:t>
            </a:r>
            <a:r>
              <a:rPr spc="160" dirty="0"/>
              <a:t>ORGANIZATIONAL</a:t>
            </a:r>
            <a:r>
              <a:rPr spc="300" dirty="0"/>
              <a:t> </a:t>
            </a:r>
            <a:r>
              <a:rPr spc="165" dirty="0"/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6870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6870" algn="l"/>
              </a:tabLst>
            </a:pPr>
            <a:r>
              <a:rPr b="1" dirty="0">
                <a:latin typeface="Trebuchet MS"/>
                <a:cs typeface="Trebuchet MS"/>
              </a:rPr>
              <a:t>Performance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spc="310" dirty="0"/>
              <a:t>–</a:t>
            </a:r>
            <a:r>
              <a:rPr spc="-55" dirty="0"/>
              <a:t> </a:t>
            </a:r>
            <a:r>
              <a:rPr spc="-150" dirty="0"/>
              <a:t>the</a:t>
            </a:r>
            <a:r>
              <a:rPr spc="-45" dirty="0"/>
              <a:t> </a:t>
            </a:r>
            <a:r>
              <a:rPr spc="-140" dirty="0"/>
              <a:t>end</a:t>
            </a:r>
            <a:r>
              <a:rPr spc="-55" dirty="0"/>
              <a:t> </a:t>
            </a:r>
            <a:r>
              <a:rPr spc="-125" dirty="0"/>
              <a:t>result</a:t>
            </a:r>
            <a:r>
              <a:rPr spc="-50" dirty="0"/>
              <a:t> </a:t>
            </a:r>
            <a:r>
              <a:rPr spc="-135" dirty="0"/>
              <a:t>of</a:t>
            </a:r>
            <a:r>
              <a:rPr spc="-45" dirty="0"/>
              <a:t> </a:t>
            </a:r>
            <a:r>
              <a:rPr spc="-190" dirty="0"/>
              <a:t>an</a:t>
            </a:r>
            <a:r>
              <a:rPr spc="-55" dirty="0"/>
              <a:t> </a:t>
            </a:r>
            <a:r>
              <a:rPr spc="-90" dirty="0"/>
              <a:t>activity.</a:t>
            </a:r>
          </a:p>
          <a:p>
            <a:pPr marL="356870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6870" algn="l"/>
              </a:tabLst>
            </a:pPr>
            <a:r>
              <a:rPr b="1" dirty="0">
                <a:latin typeface="Trebuchet MS"/>
                <a:cs typeface="Trebuchet MS"/>
              </a:rPr>
              <a:t>Organizational</a:t>
            </a:r>
            <a:r>
              <a:rPr b="1" spc="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performance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spc="310" dirty="0"/>
              <a:t>–</a:t>
            </a:r>
            <a:r>
              <a:rPr spc="35" dirty="0"/>
              <a:t> </a:t>
            </a:r>
            <a:r>
              <a:rPr spc="-45" dirty="0"/>
              <a:t>the</a:t>
            </a:r>
            <a:r>
              <a:rPr spc="60" dirty="0"/>
              <a:t> </a:t>
            </a:r>
            <a:r>
              <a:rPr spc="-155" dirty="0"/>
              <a:t>accumulated</a:t>
            </a:r>
            <a:r>
              <a:rPr spc="55" dirty="0"/>
              <a:t> </a:t>
            </a:r>
            <a:r>
              <a:rPr spc="-75" dirty="0"/>
              <a:t>results</a:t>
            </a:r>
            <a:r>
              <a:rPr spc="5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spc="-145" dirty="0"/>
              <a:t>all</a:t>
            </a:r>
            <a:r>
              <a:rPr spc="45" dirty="0"/>
              <a:t> </a:t>
            </a:r>
            <a:r>
              <a:rPr spc="-45" dirty="0"/>
              <a:t>the</a:t>
            </a:r>
            <a:r>
              <a:rPr spc="50" dirty="0"/>
              <a:t> </a:t>
            </a:r>
            <a:r>
              <a:rPr spc="-125" dirty="0"/>
              <a:t>organization’s</a:t>
            </a:r>
          </a:p>
          <a:p>
            <a:pPr marL="357505">
              <a:lnSpc>
                <a:spcPct val="100000"/>
              </a:lnSpc>
            </a:pPr>
            <a:r>
              <a:rPr spc="-20" dirty="0"/>
              <a:t>work</a:t>
            </a:r>
            <a:r>
              <a:rPr spc="-145" dirty="0"/>
              <a:t> </a:t>
            </a:r>
            <a:r>
              <a:rPr spc="-85" dirty="0"/>
              <a:t>activities.</a:t>
            </a:r>
          </a:p>
          <a:p>
            <a:pPr marL="357505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7505" algn="l"/>
              </a:tabLst>
            </a:pPr>
            <a:r>
              <a:rPr b="1" dirty="0">
                <a:latin typeface="Trebuchet MS"/>
                <a:cs typeface="Trebuchet MS"/>
              </a:rPr>
              <a:t>Productivity</a:t>
            </a:r>
            <a:r>
              <a:rPr b="1" spc="25" dirty="0">
                <a:latin typeface="Trebuchet MS"/>
                <a:cs typeface="Trebuchet MS"/>
              </a:rPr>
              <a:t> </a:t>
            </a:r>
            <a:r>
              <a:rPr spc="310" dirty="0"/>
              <a:t>–</a:t>
            </a:r>
            <a:r>
              <a:rPr spc="35" dirty="0"/>
              <a:t> </a:t>
            </a:r>
            <a:r>
              <a:rPr spc="-35" dirty="0"/>
              <a:t>the</a:t>
            </a:r>
            <a:r>
              <a:rPr spc="25" dirty="0"/>
              <a:t> </a:t>
            </a:r>
            <a:r>
              <a:rPr spc="-75" dirty="0"/>
              <a:t>amount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goods</a:t>
            </a:r>
            <a:r>
              <a:rPr spc="35" dirty="0"/>
              <a:t> </a:t>
            </a:r>
            <a:r>
              <a:rPr dirty="0"/>
              <a:t>or</a:t>
            </a:r>
            <a:r>
              <a:rPr spc="25" dirty="0"/>
              <a:t> </a:t>
            </a:r>
            <a:r>
              <a:rPr spc="-65" dirty="0"/>
              <a:t>services</a:t>
            </a:r>
            <a:r>
              <a:rPr spc="30" dirty="0"/>
              <a:t> </a:t>
            </a:r>
            <a:r>
              <a:rPr spc="-65" dirty="0"/>
              <a:t>produced</a:t>
            </a:r>
            <a:r>
              <a:rPr spc="30" dirty="0"/>
              <a:t> </a:t>
            </a:r>
            <a:r>
              <a:rPr spc="-100" dirty="0"/>
              <a:t>divided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spc="-35" dirty="0"/>
              <a:t>the</a:t>
            </a:r>
            <a:r>
              <a:rPr spc="40" dirty="0"/>
              <a:t> </a:t>
            </a:r>
            <a:r>
              <a:rPr spc="-80" dirty="0"/>
              <a:t>inputs </a:t>
            </a:r>
            <a:r>
              <a:rPr spc="-150" dirty="0"/>
              <a:t>needed</a:t>
            </a:r>
            <a:r>
              <a:rPr spc="-45" dirty="0"/>
              <a:t> </a:t>
            </a:r>
            <a:r>
              <a:rPr spc="-20" dirty="0"/>
              <a:t>to</a:t>
            </a:r>
            <a:r>
              <a:rPr spc="-55" dirty="0"/>
              <a:t> </a:t>
            </a:r>
            <a:r>
              <a:rPr spc="-160" dirty="0"/>
              <a:t>generate</a:t>
            </a:r>
            <a:r>
              <a:rPr spc="-30" dirty="0"/>
              <a:t> </a:t>
            </a:r>
            <a:r>
              <a:rPr spc="-175" dirty="0"/>
              <a:t>that</a:t>
            </a:r>
            <a:r>
              <a:rPr spc="-45" dirty="0"/>
              <a:t> </a:t>
            </a:r>
            <a:r>
              <a:rPr spc="-10" dirty="0"/>
              <a:t>output.</a:t>
            </a:r>
          </a:p>
          <a:p>
            <a:pPr marL="357505" marR="8255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7505" algn="l"/>
                <a:tab pos="2641600" algn="l"/>
                <a:tab pos="4603750" algn="l"/>
                <a:tab pos="4918710" algn="l"/>
                <a:tab pos="5211445" algn="l"/>
                <a:tab pos="6416040" algn="l"/>
                <a:tab pos="6823075" algn="l"/>
                <a:tab pos="7522845" algn="l"/>
                <a:tab pos="9115425" algn="l"/>
              </a:tabLst>
            </a:pPr>
            <a:r>
              <a:rPr b="1" spc="-10" dirty="0">
                <a:latin typeface="Trebuchet MS"/>
                <a:cs typeface="Trebuchet MS"/>
              </a:rPr>
              <a:t>Organizational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10" dirty="0">
                <a:latin typeface="Trebuchet MS"/>
                <a:cs typeface="Trebuchet MS"/>
              </a:rPr>
              <a:t>effectiveness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spc="260" dirty="0"/>
              <a:t>–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measure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how</a:t>
            </a:r>
            <a:r>
              <a:rPr dirty="0"/>
              <a:t>	</a:t>
            </a:r>
            <a:r>
              <a:rPr spc="-20" dirty="0"/>
              <a:t>appropriate</a:t>
            </a:r>
            <a:r>
              <a:rPr dirty="0"/>
              <a:t>	</a:t>
            </a:r>
            <a:r>
              <a:rPr spc="-140" dirty="0"/>
              <a:t>organizational goals</a:t>
            </a:r>
            <a:r>
              <a:rPr spc="-50" dirty="0"/>
              <a:t> </a:t>
            </a:r>
            <a:r>
              <a:rPr spc="-160" dirty="0"/>
              <a:t>are</a:t>
            </a:r>
            <a:r>
              <a:rPr spc="-45" dirty="0"/>
              <a:t> </a:t>
            </a:r>
            <a:r>
              <a:rPr spc="-160" dirty="0"/>
              <a:t>and</a:t>
            </a:r>
            <a:r>
              <a:rPr spc="-55" dirty="0"/>
              <a:t> </a:t>
            </a:r>
            <a:r>
              <a:rPr spc="-40" dirty="0"/>
              <a:t>how</a:t>
            </a:r>
            <a:r>
              <a:rPr spc="-60" dirty="0"/>
              <a:t> </a:t>
            </a:r>
            <a:r>
              <a:rPr spc="-175" dirty="0"/>
              <a:t>well</a:t>
            </a:r>
            <a:r>
              <a:rPr spc="-65" dirty="0"/>
              <a:t> </a:t>
            </a:r>
            <a:r>
              <a:rPr spc="-90" dirty="0"/>
              <a:t>those</a:t>
            </a:r>
            <a:r>
              <a:rPr spc="-50" dirty="0"/>
              <a:t> </a:t>
            </a:r>
            <a:r>
              <a:rPr spc="-140" dirty="0"/>
              <a:t>goals</a:t>
            </a:r>
            <a:r>
              <a:rPr spc="-50" dirty="0"/>
              <a:t> </a:t>
            </a:r>
            <a:r>
              <a:rPr spc="-160" dirty="0"/>
              <a:t>are</a:t>
            </a:r>
            <a:r>
              <a:rPr spc="-45" dirty="0"/>
              <a:t> </a:t>
            </a:r>
            <a:r>
              <a:rPr spc="-165" dirty="0"/>
              <a:t>being</a:t>
            </a:r>
            <a:r>
              <a:rPr spc="-65" dirty="0"/>
              <a:t> </a:t>
            </a:r>
            <a:r>
              <a:rPr spc="-20" dirty="0"/>
              <a:t>met.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TYPES</a:t>
            </a:r>
            <a:r>
              <a:rPr spc="370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55" dirty="0"/>
              <a:t>CONTROL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860" y="1554480"/>
            <a:ext cx="9144000" cy="44089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FINANCE</a:t>
            </a:r>
            <a:r>
              <a:rPr spc="380" dirty="0"/>
              <a:t> </a:t>
            </a:r>
            <a:r>
              <a:rPr spc="155" dirty="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8816" y="1235709"/>
            <a:ext cx="3152775" cy="41713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Ratio</a:t>
            </a:r>
            <a:r>
              <a:rPr sz="2400" b="1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analysis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Liquidity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Leverage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Activity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Profitability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b="1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Budget</a:t>
            </a:r>
            <a:r>
              <a:rPr sz="2400" b="1" spc="-2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Analysis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Quantitative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standards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Deviations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8608" y="1976627"/>
            <a:ext cx="5177028" cy="29047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FINANCE</a:t>
            </a:r>
            <a:r>
              <a:rPr spc="380" dirty="0"/>
              <a:t> </a:t>
            </a:r>
            <a:r>
              <a:rPr spc="155" dirty="0"/>
              <a:t>CONTROL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192" y="1239011"/>
            <a:ext cx="8119872" cy="48844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INFORMATION</a:t>
            </a:r>
            <a:r>
              <a:rPr spc="385" dirty="0"/>
              <a:t> </a:t>
            </a:r>
            <a:r>
              <a:rPr spc="160" dirty="0"/>
              <a:t>CONTROLS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6022" y="2037334"/>
            <a:ext cx="87198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34290" indent="-88900">
              <a:lnSpc>
                <a:spcPct val="100000"/>
              </a:lnSpc>
              <a:spcBef>
                <a:spcPts val="100"/>
              </a:spcBef>
              <a:tabLst>
                <a:tab pos="1021715" algn="l"/>
                <a:tab pos="1391920" algn="l"/>
                <a:tab pos="1741170" algn="l"/>
                <a:tab pos="2809240" algn="l"/>
                <a:tab pos="3599179" algn="l"/>
                <a:tab pos="4086860" algn="l"/>
                <a:tab pos="5239385" algn="l"/>
                <a:tab pos="7016115" algn="l"/>
                <a:tab pos="7775575" algn="l"/>
              </a:tabLst>
            </a:pPr>
            <a:r>
              <a:rPr sz="2400" b="1" spc="125" dirty="0">
                <a:solidFill>
                  <a:srgbClr val="093B70"/>
                </a:solidFill>
                <a:latin typeface="Trebuchet MS"/>
                <a:cs typeface="Trebuchet MS"/>
              </a:rPr>
              <a:t>(MIS)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system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used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provide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management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needed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regular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basis.</a:t>
            </a:r>
            <a:endParaRPr sz="2400">
              <a:latin typeface="Trebuchet MS"/>
              <a:cs typeface="Trebuchet MS"/>
            </a:endParaRPr>
          </a:p>
          <a:p>
            <a:pPr marL="899794" indent="-227329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99794" algn="l"/>
              </a:tabLst>
            </a:pPr>
            <a:r>
              <a:rPr sz="2400" b="1" spc="90" dirty="0">
                <a:solidFill>
                  <a:srgbClr val="093B70"/>
                </a:solidFill>
                <a:latin typeface="Trebuchet MS"/>
                <a:cs typeface="Trebuchet MS"/>
              </a:rPr>
              <a:t>Data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unorganized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collection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093B70"/>
                </a:solidFill>
                <a:latin typeface="Trebuchet MS"/>
                <a:cs typeface="Trebuchet MS"/>
              </a:rPr>
              <a:t>raw,</a:t>
            </a:r>
            <a:r>
              <a:rPr sz="2400" spc="-2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unanalyzed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facts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70" dirty="0">
                <a:solidFill>
                  <a:srgbClr val="093B70"/>
                </a:solidFill>
                <a:latin typeface="Trebuchet MS"/>
                <a:cs typeface="Trebuchet MS"/>
              </a:rPr>
              <a:t>(e.g.,</a:t>
            </a:r>
            <a:endParaRPr sz="2400">
              <a:latin typeface="Trebuchet MS"/>
              <a:cs typeface="Trebuchet MS"/>
            </a:endParaRPr>
          </a:p>
          <a:p>
            <a:pPr marL="901065">
              <a:lnSpc>
                <a:spcPct val="100000"/>
              </a:lnSpc>
            </a:pP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unsorted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list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customer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names).</a:t>
            </a:r>
            <a:endParaRPr sz="2400">
              <a:latin typeface="Trebuchet MS"/>
              <a:cs typeface="Trebuchet MS"/>
            </a:endParaRPr>
          </a:p>
          <a:p>
            <a:pPr marL="899794" marR="35560" indent="-227329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901065" algn="l"/>
                <a:tab pos="2763520" algn="l"/>
                <a:tab pos="3071495" algn="l"/>
                <a:tab pos="3743960" algn="l"/>
                <a:tab pos="4385310" algn="l"/>
                <a:tab pos="4940300" algn="l"/>
                <a:tab pos="5693410" algn="l"/>
                <a:tab pos="6885305" algn="l"/>
                <a:tab pos="74796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data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has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been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analyzed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organized 	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such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it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has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value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relevance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managers.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80" dirty="0"/>
              <a:t> </a:t>
            </a:r>
            <a:r>
              <a:rPr spc="170" dirty="0"/>
              <a:t>BALANCED</a:t>
            </a:r>
            <a:r>
              <a:rPr spc="360" dirty="0"/>
              <a:t> </a:t>
            </a:r>
            <a:r>
              <a:rPr spc="160" dirty="0"/>
              <a:t>SCORECARD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8951" y="1536014"/>
            <a:ext cx="10060940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Balance</a:t>
            </a:r>
            <a:r>
              <a:rPr sz="2400" b="1" spc="-40" dirty="0">
                <a:solidFill>
                  <a:srgbClr val="093B70"/>
                </a:solidFill>
                <a:latin typeface="Trebuchet MS"/>
                <a:cs typeface="Trebuchet MS"/>
              </a:rPr>
              <a:t> scorecard:</a:t>
            </a:r>
            <a:r>
              <a:rPr sz="2400" b="1" spc="-2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measurement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tool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examines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than</a:t>
            </a:r>
            <a:endParaRPr sz="24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just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093B70"/>
                </a:solidFill>
                <a:latin typeface="Trebuchet MS"/>
                <a:cs typeface="Trebuchet MS"/>
              </a:rPr>
              <a:t>financial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perspective.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Measures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company’s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performance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four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areas:</a:t>
            </a:r>
            <a:endParaRPr sz="2400">
              <a:latin typeface="Trebuchet MS"/>
              <a:cs typeface="Trebuchet MS"/>
            </a:endParaRPr>
          </a:p>
          <a:p>
            <a:pPr marL="901700" indent="-227329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901700" algn="l"/>
              </a:tabLst>
            </a:pP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Financial</a:t>
            </a:r>
            <a:endParaRPr sz="2400">
              <a:latin typeface="Trebuchet MS"/>
              <a:cs typeface="Trebuchet MS"/>
            </a:endParaRPr>
          </a:p>
          <a:p>
            <a:pPr marL="901700" indent="-227329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901700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Customer</a:t>
            </a:r>
            <a:endParaRPr sz="2400">
              <a:latin typeface="Trebuchet MS"/>
              <a:cs typeface="Trebuchet MS"/>
            </a:endParaRPr>
          </a:p>
          <a:p>
            <a:pPr marL="901700" indent="-227329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901700" algn="l"/>
              </a:tabLst>
            </a:pP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Internal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processes</a:t>
            </a:r>
            <a:endParaRPr sz="2400">
              <a:latin typeface="Trebuchet MS"/>
              <a:cs typeface="Trebuchet MS"/>
            </a:endParaRPr>
          </a:p>
          <a:p>
            <a:pPr marL="901700" indent="-227329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901700" algn="l"/>
              </a:tabLst>
            </a:pP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People/innovation/growth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assets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80" dirty="0"/>
              <a:t> </a:t>
            </a:r>
            <a:r>
              <a:rPr spc="170" dirty="0"/>
              <a:t>BALANCED</a:t>
            </a:r>
            <a:r>
              <a:rPr spc="360" dirty="0"/>
              <a:t> </a:t>
            </a:r>
            <a:r>
              <a:rPr spc="160" dirty="0"/>
              <a:t>SCORECARD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860" y="1239011"/>
            <a:ext cx="10178796" cy="47670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3752" y="2545887"/>
            <a:ext cx="379095" cy="15557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10"/>
              </a:lnSpc>
            </a:pPr>
            <a:r>
              <a:rPr sz="2400" b="1" spc="235" dirty="0">
                <a:solidFill>
                  <a:srgbClr val="093B70"/>
                </a:solidFill>
                <a:latin typeface="Trebuchet MS"/>
                <a:cs typeface="Trebuchet MS"/>
              </a:rPr>
              <a:t>EXAMPLE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CONTEMPORARY</a:t>
            </a:r>
            <a:r>
              <a:rPr spc="305" dirty="0"/>
              <a:t> </a:t>
            </a:r>
            <a:r>
              <a:rPr spc="160" dirty="0"/>
              <a:t>ISSUES</a:t>
            </a:r>
            <a:r>
              <a:rPr spc="385" dirty="0"/>
              <a:t> </a:t>
            </a:r>
            <a:r>
              <a:rPr spc="95" dirty="0"/>
              <a:t>IN</a:t>
            </a:r>
            <a:r>
              <a:rPr spc="395" dirty="0"/>
              <a:t> </a:t>
            </a:r>
            <a:r>
              <a:rPr spc="155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914" y="1712579"/>
            <a:ext cx="8914130" cy="31362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30" dirty="0">
                <a:latin typeface="Trebuchet MS"/>
                <a:cs typeface="Trebuchet MS"/>
              </a:rPr>
              <a:t>Adjusting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Controls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for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Cross-</a:t>
            </a:r>
            <a:r>
              <a:rPr sz="2400" spc="-100" dirty="0">
                <a:latin typeface="Trebuchet MS"/>
                <a:cs typeface="Trebuchet MS"/>
              </a:rPr>
              <a:t>Cultural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Differences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and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Global</a:t>
            </a:r>
            <a:r>
              <a:rPr sz="2400" spc="-3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Turmoil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75" dirty="0">
                <a:latin typeface="Trebuchet MS"/>
                <a:cs typeface="Trebuchet MS"/>
              </a:rPr>
              <a:t>Workplace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Privacy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45" dirty="0">
                <a:latin typeface="Trebuchet MS"/>
                <a:cs typeface="Trebuchet MS"/>
              </a:rPr>
              <a:t>Employee</a:t>
            </a:r>
            <a:r>
              <a:rPr sz="2400" spc="-3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Theft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90" dirty="0">
                <a:latin typeface="Trebuchet MS"/>
                <a:cs typeface="Trebuchet MS"/>
              </a:rPr>
              <a:t>Workplace</a:t>
            </a:r>
            <a:r>
              <a:rPr sz="2400" spc="-3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Violence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80" dirty="0">
                <a:latin typeface="Trebuchet MS"/>
                <a:cs typeface="Trebuchet MS"/>
              </a:rPr>
              <a:t>Controlling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Customer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Interactions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35" dirty="0">
                <a:latin typeface="Trebuchet MS"/>
                <a:cs typeface="Trebuchet MS"/>
              </a:rPr>
              <a:t>Corporate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Governance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800" spc="-127" baseline="4629" dirty="0">
                <a:solidFill>
                  <a:srgbClr val="585858"/>
                </a:solidFill>
                <a:latin typeface="Trebuchet MS"/>
                <a:cs typeface="Trebuchet MS"/>
              </a:rPr>
              <a:t>31</a:t>
            </a: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-7620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885825" cy="6858000"/>
            </a:xfrm>
            <a:custGeom>
              <a:avLst/>
              <a:gdLst/>
              <a:ahLst/>
              <a:cxnLst/>
              <a:rect l="l" t="t" r="r" b="b"/>
              <a:pathLst>
                <a:path w="885825" h="6858000">
                  <a:moveTo>
                    <a:pt x="709307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09307" y="6857999"/>
                  </a:lnTo>
                  <a:lnTo>
                    <a:pt x="710895" y="6789736"/>
                  </a:lnTo>
                  <a:lnTo>
                    <a:pt x="718832" y="6729412"/>
                  </a:lnTo>
                  <a:lnTo>
                    <a:pt x="729932" y="6677025"/>
                  </a:lnTo>
                  <a:lnTo>
                    <a:pt x="744220" y="6630987"/>
                  </a:lnTo>
                  <a:lnTo>
                    <a:pt x="760082" y="6589712"/>
                  </a:lnTo>
                  <a:lnTo>
                    <a:pt x="779132" y="6553200"/>
                  </a:lnTo>
                  <a:lnTo>
                    <a:pt x="817206" y="6477000"/>
                  </a:lnTo>
                  <a:lnTo>
                    <a:pt x="833081" y="6440487"/>
                  </a:lnTo>
                  <a:lnTo>
                    <a:pt x="848944" y="6399212"/>
                  </a:lnTo>
                  <a:lnTo>
                    <a:pt x="864819" y="6353175"/>
                  </a:lnTo>
                  <a:lnTo>
                    <a:pt x="875919" y="6300787"/>
                  </a:lnTo>
                  <a:lnTo>
                    <a:pt x="882269" y="6240462"/>
                  </a:lnTo>
                  <a:lnTo>
                    <a:pt x="885444" y="6172200"/>
                  </a:lnTo>
                  <a:lnTo>
                    <a:pt x="882269" y="6103937"/>
                  </a:lnTo>
                  <a:lnTo>
                    <a:pt x="875919" y="6043612"/>
                  </a:lnTo>
                  <a:lnTo>
                    <a:pt x="864819" y="5991225"/>
                  </a:lnTo>
                  <a:lnTo>
                    <a:pt x="848944" y="5945187"/>
                  </a:lnTo>
                  <a:lnTo>
                    <a:pt x="833081" y="5903912"/>
                  </a:lnTo>
                  <a:lnTo>
                    <a:pt x="817206" y="5867400"/>
                  </a:lnTo>
                  <a:lnTo>
                    <a:pt x="779132" y="5791200"/>
                  </a:lnTo>
                  <a:lnTo>
                    <a:pt x="760082" y="5754687"/>
                  </a:lnTo>
                  <a:lnTo>
                    <a:pt x="744220" y="5713412"/>
                  </a:lnTo>
                  <a:lnTo>
                    <a:pt x="729932" y="5667375"/>
                  </a:lnTo>
                  <a:lnTo>
                    <a:pt x="718832" y="5614987"/>
                  </a:lnTo>
                  <a:lnTo>
                    <a:pt x="710895" y="5554599"/>
                  </a:lnTo>
                  <a:lnTo>
                    <a:pt x="709307" y="5486400"/>
                  </a:lnTo>
                  <a:lnTo>
                    <a:pt x="710895" y="5418074"/>
                  </a:lnTo>
                  <a:lnTo>
                    <a:pt x="718832" y="5357749"/>
                  </a:lnTo>
                  <a:lnTo>
                    <a:pt x="729932" y="5305425"/>
                  </a:lnTo>
                  <a:lnTo>
                    <a:pt x="744220" y="5259324"/>
                  </a:lnTo>
                  <a:lnTo>
                    <a:pt x="760082" y="5218049"/>
                  </a:lnTo>
                  <a:lnTo>
                    <a:pt x="779132" y="5181600"/>
                  </a:lnTo>
                  <a:lnTo>
                    <a:pt x="817206" y="5105400"/>
                  </a:lnTo>
                  <a:lnTo>
                    <a:pt x="833081" y="5068824"/>
                  </a:lnTo>
                  <a:lnTo>
                    <a:pt x="848944" y="5027549"/>
                  </a:lnTo>
                  <a:lnTo>
                    <a:pt x="864819" y="4981575"/>
                  </a:lnTo>
                  <a:lnTo>
                    <a:pt x="875919" y="4929124"/>
                  </a:lnTo>
                  <a:lnTo>
                    <a:pt x="882269" y="4868799"/>
                  </a:lnTo>
                  <a:lnTo>
                    <a:pt x="885444" y="4800600"/>
                  </a:lnTo>
                  <a:lnTo>
                    <a:pt x="882269" y="4732274"/>
                  </a:lnTo>
                  <a:lnTo>
                    <a:pt x="875919" y="4671949"/>
                  </a:lnTo>
                  <a:lnTo>
                    <a:pt x="864819" y="4619625"/>
                  </a:lnTo>
                  <a:lnTo>
                    <a:pt x="848944" y="4573524"/>
                  </a:lnTo>
                  <a:lnTo>
                    <a:pt x="833081" y="4532249"/>
                  </a:lnTo>
                  <a:lnTo>
                    <a:pt x="817206" y="4495800"/>
                  </a:lnTo>
                  <a:lnTo>
                    <a:pt x="779132" y="4419600"/>
                  </a:lnTo>
                  <a:lnTo>
                    <a:pt x="760082" y="4383024"/>
                  </a:lnTo>
                  <a:lnTo>
                    <a:pt x="744220" y="4341749"/>
                  </a:lnTo>
                  <a:lnTo>
                    <a:pt x="729932" y="4295775"/>
                  </a:lnTo>
                  <a:lnTo>
                    <a:pt x="718832" y="4243324"/>
                  </a:lnTo>
                  <a:lnTo>
                    <a:pt x="710895" y="4182999"/>
                  </a:lnTo>
                  <a:lnTo>
                    <a:pt x="709307" y="4114800"/>
                  </a:lnTo>
                  <a:lnTo>
                    <a:pt x="710895" y="4046474"/>
                  </a:lnTo>
                  <a:lnTo>
                    <a:pt x="718832" y="3986149"/>
                  </a:lnTo>
                  <a:lnTo>
                    <a:pt x="729932" y="3933825"/>
                  </a:lnTo>
                  <a:lnTo>
                    <a:pt x="744220" y="3887724"/>
                  </a:lnTo>
                  <a:lnTo>
                    <a:pt x="760082" y="3846449"/>
                  </a:lnTo>
                  <a:lnTo>
                    <a:pt x="779132" y="3810000"/>
                  </a:lnTo>
                  <a:lnTo>
                    <a:pt x="817206" y="3733800"/>
                  </a:lnTo>
                  <a:lnTo>
                    <a:pt x="833081" y="3697224"/>
                  </a:lnTo>
                  <a:lnTo>
                    <a:pt x="848944" y="3655949"/>
                  </a:lnTo>
                  <a:lnTo>
                    <a:pt x="864819" y="3609975"/>
                  </a:lnTo>
                  <a:lnTo>
                    <a:pt x="875919" y="3557524"/>
                  </a:lnTo>
                  <a:lnTo>
                    <a:pt x="882269" y="3497199"/>
                  </a:lnTo>
                  <a:lnTo>
                    <a:pt x="885444" y="3427349"/>
                  </a:lnTo>
                  <a:lnTo>
                    <a:pt x="882269" y="3360674"/>
                  </a:lnTo>
                  <a:lnTo>
                    <a:pt x="875919" y="3300349"/>
                  </a:lnTo>
                  <a:lnTo>
                    <a:pt x="864819" y="3248025"/>
                  </a:lnTo>
                  <a:lnTo>
                    <a:pt x="848944" y="3201924"/>
                  </a:lnTo>
                  <a:lnTo>
                    <a:pt x="833081" y="3160649"/>
                  </a:lnTo>
                  <a:lnTo>
                    <a:pt x="817206" y="3124200"/>
                  </a:lnTo>
                  <a:lnTo>
                    <a:pt x="779132" y="3048000"/>
                  </a:lnTo>
                  <a:lnTo>
                    <a:pt x="760082" y="3011424"/>
                  </a:lnTo>
                  <a:lnTo>
                    <a:pt x="744220" y="2970149"/>
                  </a:lnTo>
                  <a:lnTo>
                    <a:pt x="729932" y="2924175"/>
                  </a:lnTo>
                  <a:lnTo>
                    <a:pt x="718832" y="2871724"/>
                  </a:lnTo>
                  <a:lnTo>
                    <a:pt x="710895" y="2811399"/>
                  </a:lnTo>
                  <a:lnTo>
                    <a:pt x="709307" y="2743200"/>
                  </a:lnTo>
                  <a:lnTo>
                    <a:pt x="710895" y="2674874"/>
                  </a:lnTo>
                  <a:lnTo>
                    <a:pt x="718832" y="2614549"/>
                  </a:lnTo>
                  <a:lnTo>
                    <a:pt x="729932" y="2562225"/>
                  </a:lnTo>
                  <a:lnTo>
                    <a:pt x="744220" y="2516124"/>
                  </a:lnTo>
                  <a:lnTo>
                    <a:pt x="760082" y="2474849"/>
                  </a:lnTo>
                  <a:lnTo>
                    <a:pt x="779132" y="2438400"/>
                  </a:lnTo>
                  <a:lnTo>
                    <a:pt x="817206" y="2362200"/>
                  </a:lnTo>
                  <a:lnTo>
                    <a:pt x="833081" y="2325624"/>
                  </a:lnTo>
                  <a:lnTo>
                    <a:pt x="848944" y="2284349"/>
                  </a:lnTo>
                  <a:lnTo>
                    <a:pt x="864819" y="2238375"/>
                  </a:lnTo>
                  <a:lnTo>
                    <a:pt x="875919" y="2185924"/>
                  </a:lnTo>
                  <a:lnTo>
                    <a:pt x="882269" y="2125599"/>
                  </a:lnTo>
                  <a:lnTo>
                    <a:pt x="885444" y="2057400"/>
                  </a:lnTo>
                  <a:lnTo>
                    <a:pt x="882269" y="1989074"/>
                  </a:lnTo>
                  <a:lnTo>
                    <a:pt x="875919" y="1928749"/>
                  </a:lnTo>
                  <a:lnTo>
                    <a:pt x="864819" y="1876425"/>
                  </a:lnTo>
                  <a:lnTo>
                    <a:pt x="848944" y="1830324"/>
                  </a:lnTo>
                  <a:lnTo>
                    <a:pt x="833081" y="1789049"/>
                  </a:lnTo>
                  <a:lnTo>
                    <a:pt x="817206" y="1752600"/>
                  </a:lnTo>
                  <a:lnTo>
                    <a:pt x="779132" y="1676400"/>
                  </a:lnTo>
                  <a:lnTo>
                    <a:pt x="760082" y="1639824"/>
                  </a:lnTo>
                  <a:lnTo>
                    <a:pt x="744220" y="1598549"/>
                  </a:lnTo>
                  <a:lnTo>
                    <a:pt x="729932" y="1552575"/>
                  </a:lnTo>
                  <a:lnTo>
                    <a:pt x="718832" y="1500124"/>
                  </a:lnTo>
                  <a:lnTo>
                    <a:pt x="710895" y="1439799"/>
                  </a:lnTo>
                  <a:lnTo>
                    <a:pt x="709307" y="1371600"/>
                  </a:lnTo>
                  <a:lnTo>
                    <a:pt x="710895" y="1303274"/>
                  </a:lnTo>
                  <a:lnTo>
                    <a:pt x="718832" y="1242949"/>
                  </a:lnTo>
                  <a:lnTo>
                    <a:pt x="729932" y="1190625"/>
                  </a:lnTo>
                  <a:lnTo>
                    <a:pt x="744220" y="1144524"/>
                  </a:lnTo>
                  <a:lnTo>
                    <a:pt x="760082" y="1103249"/>
                  </a:lnTo>
                  <a:lnTo>
                    <a:pt x="779132" y="1066800"/>
                  </a:lnTo>
                  <a:lnTo>
                    <a:pt x="817206" y="990600"/>
                  </a:lnTo>
                  <a:lnTo>
                    <a:pt x="833081" y="954024"/>
                  </a:lnTo>
                  <a:lnTo>
                    <a:pt x="848944" y="912749"/>
                  </a:lnTo>
                  <a:lnTo>
                    <a:pt x="864819" y="866775"/>
                  </a:lnTo>
                  <a:lnTo>
                    <a:pt x="875919" y="814324"/>
                  </a:lnTo>
                  <a:lnTo>
                    <a:pt x="882269" y="753999"/>
                  </a:lnTo>
                  <a:lnTo>
                    <a:pt x="885444" y="685800"/>
                  </a:lnTo>
                  <a:lnTo>
                    <a:pt x="882269" y="617474"/>
                  </a:lnTo>
                  <a:lnTo>
                    <a:pt x="875919" y="557149"/>
                  </a:lnTo>
                  <a:lnTo>
                    <a:pt x="864819" y="504825"/>
                  </a:lnTo>
                  <a:lnTo>
                    <a:pt x="848944" y="458724"/>
                  </a:lnTo>
                  <a:lnTo>
                    <a:pt x="833081" y="417449"/>
                  </a:lnTo>
                  <a:lnTo>
                    <a:pt x="817206" y="381000"/>
                  </a:lnTo>
                  <a:lnTo>
                    <a:pt x="779132" y="304800"/>
                  </a:lnTo>
                  <a:lnTo>
                    <a:pt x="760082" y="268224"/>
                  </a:lnTo>
                  <a:lnTo>
                    <a:pt x="744220" y="226949"/>
                  </a:lnTo>
                  <a:lnTo>
                    <a:pt x="729932" y="180975"/>
                  </a:lnTo>
                  <a:lnTo>
                    <a:pt x="718832" y="128524"/>
                  </a:lnTo>
                  <a:lnTo>
                    <a:pt x="710895" y="68199"/>
                  </a:lnTo>
                  <a:lnTo>
                    <a:pt x="709307" y="0"/>
                  </a:lnTo>
                  <a:close/>
                </a:path>
              </a:pathLst>
            </a:custGeom>
            <a:solidFill>
              <a:srgbClr val="373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08535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" y="124968"/>
              <a:ext cx="12117324" cy="61447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00" y="126492"/>
              <a:ext cx="12115800" cy="6143625"/>
            </a:xfrm>
            <a:custGeom>
              <a:avLst/>
              <a:gdLst/>
              <a:ahLst/>
              <a:cxnLst/>
              <a:rect l="l" t="t" r="r" b="b"/>
              <a:pathLst>
                <a:path w="12115800" h="6143625">
                  <a:moveTo>
                    <a:pt x="0" y="69850"/>
                  </a:moveTo>
                  <a:lnTo>
                    <a:pt x="5489" y="42648"/>
                  </a:lnTo>
                  <a:lnTo>
                    <a:pt x="20459" y="20447"/>
                  </a:lnTo>
                  <a:lnTo>
                    <a:pt x="42663" y="5484"/>
                  </a:lnTo>
                  <a:lnTo>
                    <a:pt x="69853" y="0"/>
                  </a:lnTo>
                  <a:lnTo>
                    <a:pt x="12045950" y="0"/>
                  </a:lnTo>
                  <a:lnTo>
                    <a:pt x="12073151" y="5484"/>
                  </a:lnTo>
                  <a:lnTo>
                    <a:pt x="12095353" y="20447"/>
                  </a:lnTo>
                  <a:lnTo>
                    <a:pt x="12110315" y="42648"/>
                  </a:lnTo>
                  <a:lnTo>
                    <a:pt x="12115800" y="69850"/>
                  </a:lnTo>
                  <a:lnTo>
                    <a:pt x="12115800" y="6073394"/>
                  </a:lnTo>
                  <a:lnTo>
                    <a:pt x="12110315" y="6100579"/>
                  </a:lnTo>
                  <a:lnTo>
                    <a:pt x="12095353" y="6122782"/>
                  </a:lnTo>
                  <a:lnTo>
                    <a:pt x="12073151" y="6137753"/>
                  </a:lnTo>
                  <a:lnTo>
                    <a:pt x="12045950" y="6143244"/>
                  </a:lnTo>
                  <a:lnTo>
                    <a:pt x="69853" y="6143244"/>
                  </a:lnTo>
                  <a:lnTo>
                    <a:pt x="42663" y="6137753"/>
                  </a:lnTo>
                  <a:lnTo>
                    <a:pt x="20459" y="6122782"/>
                  </a:lnTo>
                  <a:lnTo>
                    <a:pt x="5489" y="6100579"/>
                  </a:lnTo>
                  <a:lnTo>
                    <a:pt x="0" y="6073394"/>
                  </a:lnTo>
                  <a:lnTo>
                    <a:pt x="0" y="69850"/>
                  </a:lnTo>
                  <a:close/>
                </a:path>
              </a:pathLst>
            </a:custGeom>
            <a:ln w="3175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6126" y="214121"/>
              <a:ext cx="11737975" cy="6006465"/>
            </a:xfrm>
            <a:custGeom>
              <a:avLst/>
              <a:gdLst/>
              <a:ahLst/>
              <a:cxnLst/>
              <a:rect l="l" t="t" r="r" b="b"/>
              <a:pathLst>
                <a:path w="11737975" h="6006465">
                  <a:moveTo>
                    <a:pt x="11737721" y="94361"/>
                  </a:moveTo>
                  <a:lnTo>
                    <a:pt x="11728069" y="57404"/>
                  </a:lnTo>
                  <a:lnTo>
                    <a:pt x="11715242" y="40386"/>
                  </a:lnTo>
                  <a:lnTo>
                    <a:pt x="11714861" y="39878"/>
                  </a:lnTo>
                  <a:lnTo>
                    <a:pt x="11714353" y="39497"/>
                  </a:lnTo>
                  <a:lnTo>
                    <a:pt x="11704320" y="31254"/>
                  </a:lnTo>
                  <a:lnTo>
                    <a:pt x="11703685" y="30607"/>
                  </a:lnTo>
                  <a:lnTo>
                    <a:pt x="11703304" y="30480"/>
                  </a:lnTo>
                  <a:lnTo>
                    <a:pt x="11696827" y="26555"/>
                  </a:lnTo>
                  <a:lnTo>
                    <a:pt x="11690096" y="23380"/>
                  </a:lnTo>
                  <a:lnTo>
                    <a:pt x="11682857" y="20701"/>
                  </a:lnTo>
                  <a:lnTo>
                    <a:pt x="11681803" y="20472"/>
                  </a:lnTo>
                  <a:lnTo>
                    <a:pt x="11681409" y="19862"/>
                  </a:lnTo>
                  <a:lnTo>
                    <a:pt x="11659845" y="5334"/>
                  </a:lnTo>
                  <a:lnTo>
                    <a:pt x="11633454" y="0"/>
                  </a:lnTo>
                  <a:lnTo>
                    <a:pt x="67868" y="0"/>
                  </a:lnTo>
                  <a:lnTo>
                    <a:pt x="41452" y="5334"/>
                  </a:lnTo>
                  <a:lnTo>
                    <a:pt x="19875" y="19862"/>
                  </a:lnTo>
                  <a:lnTo>
                    <a:pt x="5334" y="41427"/>
                  </a:lnTo>
                  <a:lnTo>
                    <a:pt x="0" y="67830"/>
                  </a:lnTo>
                  <a:lnTo>
                    <a:pt x="0" y="5901639"/>
                  </a:lnTo>
                  <a:lnTo>
                    <a:pt x="5334" y="5928055"/>
                  </a:lnTo>
                  <a:lnTo>
                    <a:pt x="19875" y="5949632"/>
                  </a:lnTo>
                  <a:lnTo>
                    <a:pt x="20523" y="5950077"/>
                  </a:lnTo>
                  <a:lnTo>
                    <a:pt x="21056" y="5952121"/>
                  </a:lnTo>
                  <a:lnTo>
                    <a:pt x="51968" y="5992965"/>
                  </a:lnTo>
                  <a:lnTo>
                    <a:pt x="94856" y="6005969"/>
                  </a:lnTo>
                  <a:lnTo>
                    <a:pt x="11660886" y="6005957"/>
                  </a:lnTo>
                  <a:lnTo>
                    <a:pt x="11703355" y="5992927"/>
                  </a:lnTo>
                  <a:lnTo>
                    <a:pt x="11704320" y="5992165"/>
                  </a:lnTo>
                  <a:lnTo>
                    <a:pt x="11710645" y="5986932"/>
                  </a:lnTo>
                  <a:lnTo>
                    <a:pt x="11714353" y="5983871"/>
                  </a:lnTo>
                  <a:lnTo>
                    <a:pt x="11714861" y="5983490"/>
                  </a:lnTo>
                  <a:lnTo>
                    <a:pt x="11715242" y="5983071"/>
                  </a:lnTo>
                  <a:lnTo>
                    <a:pt x="11723878" y="5972619"/>
                  </a:lnTo>
                  <a:lnTo>
                    <a:pt x="11724259" y="5972264"/>
                  </a:lnTo>
                  <a:lnTo>
                    <a:pt x="11724767" y="5971502"/>
                  </a:lnTo>
                  <a:lnTo>
                    <a:pt x="11737721" y="5928626"/>
                  </a:lnTo>
                  <a:lnTo>
                    <a:pt x="11737721" y="94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125" y="214122"/>
              <a:ext cx="11701780" cy="5969635"/>
            </a:xfrm>
            <a:custGeom>
              <a:avLst/>
              <a:gdLst/>
              <a:ahLst/>
              <a:cxnLst/>
              <a:rect l="l" t="t" r="r" b="b"/>
              <a:pathLst>
                <a:path w="11701780" h="5969635">
                  <a:moveTo>
                    <a:pt x="0" y="67818"/>
                  </a:moveTo>
                  <a:lnTo>
                    <a:pt x="5334" y="41415"/>
                  </a:lnTo>
                  <a:lnTo>
                    <a:pt x="19880" y="19859"/>
                  </a:lnTo>
                  <a:lnTo>
                    <a:pt x="41453" y="5328"/>
                  </a:lnTo>
                  <a:lnTo>
                    <a:pt x="67868" y="0"/>
                  </a:lnTo>
                  <a:lnTo>
                    <a:pt x="11633454" y="0"/>
                  </a:lnTo>
                  <a:lnTo>
                    <a:pt x="11659856" y="5328"/>
                  </a:lnTo>
                  <a:lnTo>
                    <a:pt x="11681412" y="19859"/>
                  </a:lnTo>
                  <a:lnTo>
                    <a:pt x="11695943" y="41415"/>
                  </a:lnTo>
                  <a:lnTo>
                    <a:pt x="11701272" y="67818"/>
                  </a:lnTo>
                  <a:lnTo>
                    <a:pt x="11701272" y="5901639"/>
                  </a:lnTo>
                  <a:lnTo>
                    <a:pt x="11695943" y="5928054"/>
                  </a:lnTo>
                  <a:lnTo>
                    <a:pt x="11681412" y="5949627"/>
                  </a:lnTo>
                  <a:lnTo>
                    <a:pt x="11659856" y="5964173"/>
                  </a:lnTo>
                  <a:lnTo>
                    <a:pt x="11633454" y="5969508"/>
                  </a:lnTo>
                  <a:lnTo>
                    <a:pt x="67868" y="5969508"/>
                  </a:lnTo>
                  <a:lnTo>
                    <a:pt x="41453" y="5964173"/>
                  </a:lnTo>
                  <a:lnTo>
                    <a:pt x="19880" y="5949627"/>
                  </a:lnTo>
                  <a:lnTo>
                    <a:pt x="5334" y="5928054"/>
                  </a:lnTo>
                  <a:lnTo>
                    <a:pt x="0" y="5901639"/>
                  </a:lnTo>
                  <a:lnTo>
                    <a:pt x="0" y="67818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27948" y="6272783"/>
              <a:ext cx="1240790" cy="431800"/>
            </a:xfrm>
            <a:custGeom>
              <a:avLst/>
              <a:gdLst/>
              <a:ahLst/>
              <a:cxnLst/>
              <a:rect l="l" t="t" r="r" b="b"/>
              <a:pathLst>
                <a:path w="1240790" h="431800">
                  <a:moveTo>
                    <a:pt x="605028" y="0"/>
                  </a:moveTo>
                  <a:lnTo>
                    <a:pt x="431800" y="0"/>
                  </a:lnTo>
                  <a:lnTo>
                    <a:pt x="0" y="431292"/>
                  </a:lnTo>
                  <a:lnTo>
                    <a:pt x="173228" y="431292"/>
                  </a:lnTo>
                  <a:lnTo>
                    <a:pt x="605028" y="0"/>
                  </a:lnTo>
                  <a:close/>
                </a:path>
                <a:path w="1240790" h="431800">
                  <a:moveTo>
                    <a:pt x="922020" y="0"/>
                  </a:moveTo>
                  <a:lnTo>
                    <a:pt x="749173" y="0"/>
                  </a:lnTo>
                  <a:lnTo>
                    <a:pt x="318516" y="431292"/>
                  </a:lnTo>
                  <a:lnTo>
                    <a:pt x="491363" y="431292"/>
                  </a:lnTo>
                  <a:lnTo>
                    <a:pt x="922020" y="0"/>
                  </a:lnTo>
                  <a:close/>
                </a:path>
                <a:path w="1240790" h="431800">
                  <a:moveTo>
                    <a:pt x="1240536" y="0"/>
                  </a:moveTo>
                  <a:lnTo>
                    <a:pt x="1067689" y="0"/>
                  </a:lnTo>
                  <a:lnTo>
                    <a:pt x="637032" y="431292"/>
                  </a:lnTo>
                  <a:lnTo>
                    <a:pt x="809879" y="4312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6588" y="6425178"/>
              <a:ext cx="605027" cy="4328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76588" y="6422936"/>
              <a:ext cx="607060" cy="435609"/>
            </a:xfrm>
            <a:custGeom>
              <a:avLst/>
              <a:gdLst/>
              <a:ahLst/>
              <a:cxnLst/>
              <a:rect l="l" t="t" r="r" b="b"/>
              <a:pathLst>
                <a:path w="607059" h="435609">
                  <a:moveTo>
                    <a:pt x="2285" y="0"/>
                  </a:moveTo>
                  <a:lnTo>
                    <a:pt x="940" y="3191"/>
                  </a:lnTo>
                  <a:lnTo>
                    <a:pt x="431297" y="435061"/>
                  </a:lnTo>
                  <a:lnTo>
                    <a:pt x="600514" y="435061"/>
                  </a:lnTo>
                  <a:lnTo>
                    <a:pt x="599799" y="434344"/>
                  </a:lnTo>
                  <a:lnTo>
                    <a:pt x="435101" y="434344"/>
                  </a:lnTo>
                  <a:lnTo>
                    <a:pt x="432815" y="433410"/>
                  </a:lnTo>
                  <a:lnTo>
                    <a:pt x="434171" y="433410"/>
                  </a:lnTo>
                  <a:lnTo>
                    <a:pt x="2285" y="0"/>
                  </a:lnTo>
                  <a:close/>
                </a:path>
                <a:path w="607059" h="435609">
                  <a:moveTo>
                    <a:pt x="171450" y="4483"/>
                  </a:moveTo>
                  <a:lnTo>
                    <a:pt x="600514" y="435061"/>
                  </a:lnTo>
                  <a:lnTo>
                    <a:pt x="605033" y="435061"/>
                  </a:lnTo>
                  <a:lnTo>
                    <a:pt x="176899" y="5422"/>
                  </a:lnTo>
                  <a:lnTo>
                    <a:pt x="173735" y="5422"/>
                  </a:lnTo>
                  <a:lnTo>
                    <a:pt x="171450" y="4483"/>
                  </a:lnTo>
                  <a:close/>
                </a:path>
                <a:path w="607059" h="435609">
                  <a:moveTo>
                    <a:pt x="606551" y="433410"/>
                  </a:moveTo>
                  <a:lnTo>
                    <a:pt x="603388" y="433410"/>
                  </a:lnTo>
                  <a:lnTo>
                    <a:pt x="605033" y="435061"/>
                  </a:lnTo>
                  <a:lnTo>
                    <a:pt x="605855" y="435061"/>
                  </a:lnTo>
                  <a:lnTo>
                    <a:pt x="606551" y="433410"/>
                  </a:lnTo>
                  <a:close/>
                </a:path>
                <a:path w="607059" h="435609">
                  <a:moveTo>
                    <a:pt x="434171" y="433410"/>
                  </a:moveTo>
                  <a:lnTo>
                    <a:pt x="432815" y="433410"/>
                  </a:lnTo>
                  <a:lnTo>
                    <a:pt x="435101" y="434344"/>
                  </a:lnTo>
                  <a:lnTo>
                    <a:pt x="434171" y="433410"/>
                  </a:lnTo>
                  <a:close/>
                </a:path>
                <a:path w="607059" h="435609">
                  <a:moveTo>
                    <a:pt x="598869" y="433410"/>
                  </a:moveTo>
                  <a:lnTo>
                    <a:pt x="434171" y="433410"/>
                  </a:lnTo>
                  <a:lnTo>
                    <a:pt x="435101" y="434344"/>
                  </a:lnTo>
                  <a:lnTo>
                    <a:pt x="599799" y="434344"/>
                  </a:lnTo>
                  <a:lnTo>
                    <a:pt x="598869" y="433410"/>
                  </a:lnTo>
                  <a:close/>
                </a:path>
                <a:path w="607059" h="435609">
                  <a:moveTo>
                    <a:pt x="940" y="3191"/>
                  </a:moveTo>
                  <a:lnTo>
                    <a:pt x="0" y="5422"/>
                  </a:lnTo>
                  <a:lnTo>
                    <a:pt x="3163" y="5422"/>
                  </a:lnTo>
                  <a:lnTo>
                    <a:pt x="940" y="3191"/>
                  </a:lnTo>
                  <a:close/>
                </a:path>
                <a:path w="607059" h="435609">
                  <a:moveTo>
                    <a:pt x="173735" y="2247"/>
                  </a:moveTo>
                  <a:lnTo>
                    <a:pt x="4525" y="2247"/>
                  </a:lnTo>
                  <a:lnTo>
                    <a:pt x="7689" y="5422"/>
                  </a:lnTo>
                  <a:lnTo>
                    <a:pt x="172386" y="5422"/>
                  </a:lnTo>
                  <a:lnTo>
                    <a:pt x="171450" y="4483"/>
                  </a:lnTo>
                  <a:lnTo>
                    <a:pt x="175963" y="4483"/>
                  </a:lnTo>
                  <a:lnTo>
                    <a:pt x="173735" y="2247"/>
                  </a:lnTo>
                  <a:close/>
                </a:path>
                <a:path w="607059" h="435609">
                  <a:moveTo>
                    <a:pt x="175963" y="4483"/>
                  </a:moveTo>
                  <a:lnTo>
                    <a:pt x="171450" y="4483"/>
                  </a:lnTo>
                  <a:lnTo>
                    <a:pt x="173735" y="5422"/>
                  </a:lnTo>
                  <a:lnTo>
                    <a:pt x="176899" y="5422"/>
                  </a:lnTo>
                  <a:lnTo>
                    <a:pt x="175963" y="4483"/>
                  </a:lnTo>
                  <a:close/>
                </a:path>
                <a:path w="607059" h="435609">
                  <a:moveTo>
                    <a:pt x="1338" y="2247"/>
                  </a:moveTo>
                  <a:lnTo>
                    <a:pt x="0" y="2247"/>
                  </a:lnTo>
                  <a:lnTo>
                    <a:pt x="940" y="3191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8071" y="6425178"/>
              <a:ext cx="606551" cy="43282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58071" y="6422936"/>
              <a:ext cx="608330" cy="435609"/>
            </a:xfrm>
            <a:custGeom>
              <a:avLst/>
              <a:gdLst/>
              <a:ahLst/>
              <a:cxnLst/>
              <a:rect l="l" t="t" r="r" b="b"/>
              <a:pathLst>
                <a:path w="608329" h="435609">
                  <a:moveTo>
                    <a:pt x="2285" y="0"/>
                  </a:moveTo>
                  <a:lnTo>
                    <a:pt x="941" y="3189"/>
                  </a:lnTo>
                  <a:lnTo>
                    <a:pt x="432436" y="435061"/>
                  </a:lnTo>
                  <a:lnTo>
                    <a:pt x="602026" y="435061"/>
                  </a:lnTo>
                  <a:lnTo>
                    <a:pt x="601307" y="434341"/>
                  </a:lnTo>
                  <a:lnTo>
                    <a:pt x="436118" y="434341"/>
                  </a:lnTo>
                  <a:lnTo>
                    <a:pt x="433958" y="433410"/>
                  </a:lnTo>
                  <a:lnTo>
                    <a:pt x="435188" y="433410"/>
                  </a:lnTo>
                  <a:lnTo>
                    <a:pt x="2285" y="0"/>
                  </a:lnTo>
                  <a:close/>
                </a:path>
                <a:path w="608329" h="435609">
                  <a:moveTo>
                    <a:pt x="171957" y="4495"/>
                  </a:moveTo>
                  <a:lnTo>
                    <a:pt x="602026" y="435061"/>
                  </a:lnTo>
                  <a:lnTo>
                    <a:pt x="606553" y="435061"/>
                  </a:lnTo>
                  <a:lnTo>
                    <a:pt x="177289" y="5422"/>
                  </a:lnTo>
                  <a:lnTo>
                    <a:pt x="174117" y="5422"/>
                  </a:lnTo>
                  <a:lnTo>
                    <a:pt x="171957" y="4495"/>
                  </a:lnTo>
                  <a:close/>
                </a:path>
                <a:path w="608329" h="435609">
                  <a:moveTo>
                    <a:pt x="608076" y="433410"/>
                  </a:moveTo>
                  <a:lnTo>
                    <a:pt x="604903" y="433410"/>
                  </a:lnTo>
                  <a:lnTo>
                    <a:pt x="606553" y="435061"/>
                  </a:lnTo>
                  <a:lnTo>
                    <a:pt x="607379" y="435061"/>
                  </a:lnTo>
                  <a:lnTo>
                    <a:pt x="608076" y="433410"/>
                  </a:lnTo>
                  <a:close/>
                </a:path>
                <a:path w="608329" h="435609">
                  <a:moveTo>
                    <a:pt x="435188" y="433410"/>
                  </a:moveTo>
                  <a:lnTo>
                    <a:pt x="433958" y="433410"/>
                  </a:lnTo>
                  <a:lnTo>
                    <a:pt x="436118" y="434341"/>
                  </a:lnTo>
                  <a:lnTo>
                    <a:pt x="435188" y="433410"/>
                  </a:lnTo>
                  <a:close/>
                </a:path>
                <a:path w="608329" h="435609">
                  <a:moveTo>
                    <a:pt x="600377" y="433410"/>
                  </a:moveTo>
                  <a:lnTo>
                    <a:pt x="435188" y="433410"/>
                  </a:lnTo>
                  <a:lnTo>
                    <a:pt x="436118" y="434341"/>
                  </a:lnTo>
                  <a:lnTo>
                    <a:pt x="601307" y="434341"/>
                  </a:lnTo>
                  <a:lnTo>
                    <a:pt x="600377" y="433410"/>
                  </a:lnTo>
                  <a:close/>
                </a:path>
                <a:path w="608329" h="435609">
                  <a:moveTo>
                    <a:pt x="941" y="3189"/>
                  </a:moveTo>
                  <a:lnTo>
                    <a:pt x="0" y="5422"/>
                  </a:lnTo>
                  <a:lnTo>
                    <a:pt x="3172" y="5422"/>
                  </a:lnTo>
                  <a:lnTo>
                    <a:pt x="941" y="3189"/>
                  </a:lnTo>
                  <a:close/>
                </a:path>
                <a:path w="608329" h="435609">
                  <a:moveTo>
                    <a:pt x="174117" y="2247"/>
                  </a:moveTo>
                  <a:lnTo>
                    <a:pt x="4531" y="2247"/>
                  </a:lnTo>
                  <a:lnTo>
                    <a:pt x="7702" y="5422"/>
                  </a:lnTo>
                  <a:lnTo>
                    <a:pt x="172884" y="5422"/>
                  </a:lnTo>
                  <a:lnTo>
                    <a:pt x="171957" y="4495"/>
                  </a:lnTo>
                  <a:lnTo>
                    <a:pt x="176362" y="4495"/>
                  </a:lnTo>
                  <a:lnTo>
                    <a:pt x="174117" y="2247"/>
                  </a:lnTo>
                  <a:close/>
                </a:path>
                <a:path w="608329" h="435609">
                  <a:moveTo>
                    <a:pt x="176362" y="4495"/>
                  </a:moveTo>
                  <a:lnTo>
                    <a:pt x="171957" y="4495"/>
                  </a:lnTo>
                  <a:lnTo>
                    <a:pt x="174117" y="5422"/>
                  </a:lnTo>
                  <a:lnTo>
                    <a:pt x="177289" y="5422"/>
                  </a:lnTo>
                  <a:lnTo>
                    <a:pt x="176362" y="4495"/>
                  </a:lnTo>
                  <a:close/>
                </a:path>
                <a:path w="608329" h="435609">
                  <a:moveTo>
                    <a:pt x="1338" y="2247"/>
                  </a:moveTo>
                  <a:lnTo>
                    <a:pt x="0" y="2247"/>
                  </a:lnTo>
                  <a:lnTo>
                    <a:pt x="941" y="3189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1080" y="6425178"/>
              <a:ext cx="605027" cy="4328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766815"/>
              <a:ext cx="1703832" cy="10911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8576" y="5961888"/>
              <a:ext cx="2596896" cy="89611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3856" y="6362700"/>
              <a:ext cx="349757" cy="3192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54744" y="6364389"/>
              <a:ext cx="350520" cy="318770"/>
            </a:xfrm>
            <a:custGeom>
              <a:avLst/>
              <a:gdLst/>
              <a:ahLst/>
              <a:cxnLst/>
              <a:rect l="l" t="t" r="r" b="b"/>
              <a:pathLst>
                <a:path w="350520" h="318770">
                  <a:moveTo>
                    <a:pt x="350393" y="206235"/>
                  </a:moveTo>
                  <a:lnTo>
                    <a:pt x="235203" y="128346"/>
                  </a:lnTo>
                  <a:lnTo>
                    <a:pt x="217804" y="0"/>
                  </a:lnTo>
                  <a:lnTo>
                    <a:pt x="138683" y="102476"/>
                  </a:lnTo>
                  <a:lnTo>
                    <a:pt x="0" y="112344"/>
                  </a:lnTo>
                  <a:lnTo>
                    <a:pt x="115188" y="190233"/>
                  </a:lnTo>
                  <a:lnTo>
                    <a:pt x="132460" y="318579"/>
                  </a:lnTo>
                  <a:lnTo>
                    <a:pt x="211708" y="216090"/>
                  </a:lnTo>
                  <a:lnTo>
                    <a:pt x="350393" y="206235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10956" y="6577583"/>
              <a:ext cx="128016" cy="1173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412480" y="6579107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2" y="57912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2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4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2" y="57912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03792" y="6092952"/>
              <a:ext cx="204850" cy="1864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005951" y="6095149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5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25"/>
                  </a:lnTo>
                  <a:lnTo>
                    <a:pt x="0" y="77482"/>
                  </a:lnTo>
                  <a:lnTo>
                    <a:pt x="69723" y="113474"/>
                  </a:lnTo>
                  <a:lnTo>
                    <a:pt x="88010" y="184264"/>
                  </a:lnTo>
                  <a:lnTo>
                    <a:pt x="125602" y="121539"/>
                  </a:lnTo>
                  <a:lnTo>
                    <a:pt x="202692" y="10678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82228" y="6153911"/>
              <a:ext cx="97536" cy="8991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683752" y="6155435"/>
              <a:ext cx="96520" cy="88900"/>
            </a:xfrm>
            <a:custGeom>
              <a:avLst/>
              <a:gdLst/>
              <a:ahLst/>
              <a:cxnLst/>
              <a:rect l="l" t="t" r="r" b="b"/>
              <a:pathLst>
                <a:path w="96520" h="88900">
                  <a:moveTo>
                    <a:pt x="96012" y="44195"/>
                  </a:moveTo>
                  <a:lnTo>
                    <a:pt x="92243" y="26992"/>
                  </a:lnTo>
                  <a:lnTo>
                    <a:pt x="81962" y="12944"/>
                  </a:lnTo>
                  <a:lnTo>
                    <a:pt x="66704" y="3473"/>
                  </a:lnTo>
                  <a:lnTo>
                    <a:pt x="48005" y="0"/>
                  </a:lnTo>
                  <a:lnTo>
                    <a:pt x="29307" y="3473"/>
                  </a:lnTo>
                  <a:lnTo>
                    <a:pt x="14049" y="12944"/>
                  </a:lnTo>
                  <a:lnTo>
                    <a:pt x="3768" y="26992"/>
                  </a:lnTo>
                  <a:lnTo>
                    <a:pt x="0" y="44195"/>
                  </a:lnTo>
                  <a:lnTo>
                    <a:pt x="3768" y="61399"/>
                  </a:lnTo>
                  <a:lnTo>
                    <a:pt x="14049" y="75447"/>
                  </a:lnTo>
                  <a:lnTo>
                    <a:pt x="29307" y="84918"/>
                  </a:lnTo>
                  <a:lnTo>
                    <a:pt x="48005" y="88391"/>
                  </a:lnTo>
                  <a:lnTo>
                    <a:pt x="66704" y="84918"/>
                  </a:lnTo>
                  <a:lnTo>
                    <a:pt x="81962" y="75447"/>
                  </a:lnTo>
                  <a:lnTo>
                    <a:pt x="92243" y="61399"/>
                  </a:lnTo>
                  <a:lnTo>
                    <a:pt x="96012" y="44195"/>
                  </a:lnTo>
                  <a:close/>
                </a:path>
              </a:pathLst>
            </a:custGeom>
            <a:ln w="12699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3643" y="6291071"/>
              <a:ext cx="128015" cy="11734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345168" y="6292596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1" y="57911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1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3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1" y="5791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1723" y="6330696"/>
              <a:ext cx="73151" cy="670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223247" y="6332220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3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3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29828" y="6380988"/>
              <a:ext cx="73151" cy="670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531352" y="6382511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4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4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71076" y="6518147"/>
              <a:ext cx="204597" cy="18600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372981" y="6519900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4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12"/>
                  </a:lnTo>
                  <a:lnTo>
                    <a:pt x="0" y="77469"/>
                  </a:lnTo>
                  <a:lnTo>
                    <a:pt x="69850" y="113461"/>
                  </a:lnTo>
                  <a:lnTo>
                    <a:pt x="88011" y="184251"/>
                  </a:lnTo>
                  <a:lnTo>
                    <a:pt x="125602" y="121538"/>
                  </a:lnTo>
                  <a:lnTo>
                    <a:pt x="202692" y="106781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13976" y="6617207"/>
              <a:ext cx="73151" cy="670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77012" y="307847"/>
            <a:ext cx="11372215" cy="1473835"/>
            <a:chOff x="477012" y="307847"/>
            <a:chExt cx="11372215" cy="1473835"/>
          </a:xfrm>
        </p:grpSpPr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18647" y="307847"/>
              <a:ext cx="1330452" cy="133045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7012" y="307847"/>
              <a:ext cx="3531108" cy="1473707"/>
            </a:xfrm>
            <a:prstGeom prst="rect">
              <a:avLst/>
            </a:prstGeom>
          </p:spPr>
        </p:pic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1114755" y="2593085"/>
            <a:ext cx="99656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0" spc="-70" dirty="0">
                <a:latin typeface="Trebuchet MS"/>
                <a:cs typeface="Trebuchet MS"/>
              </a:rPr>
              <a:t>“Every</a:t>
            </a:r>
            <a:r>
              <a:rPr sz="2400" b="0" spc="-50" dirty="0">
                <a:latin typeface="Trebuchet MS"/>
                <a:cs typeface="Trebuchet MS"/>
              </a:rPr>
              <a:t> </a:t>
            </a:r>
            <a:r>
              <a:rPr sz="2400" b="0" spc="-130" dirty="0">
                <a:latin typeface="Trebuchet MS"/>
                <a:cs typeface="Trebuchet MS"/>
              </a:rPr>
              <a:t>individual</a:t>
            </a:r>
            <a:r>
              <a:rPr sz="2400" b="0" spc="-50" dirty="0">
                <a:latin typeface="Trebuchet MS"/>
                <a:cs typeface="Trebuchet MS"/>
              </a:rPr>
              <a:t> </a:t>
            </a:r>
            <a:r>
              <a:rPr sz="2400" b="0" spc="-114" dirty="0">
                <a:latin typeface="Trebuchet MS"/>
                <a:cs typeface="Trebuchet MS"/>
              </a:rPr>
              <a:t>employee</a:t>
            </a:r>
            <a:r>
              <a:rPr sz="2400" b="0" spc="-5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in</a:t>
            </a:r>
            <a:r>
              <a:rPr sz="2400" b="0" spc="-5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an</a:t>
            </a:r>
            <a:r>
              <a:rPr sz="2400" b="0" spc="-55" dirty="0">
                <a:latin typeface="Trebuchet MS"/>
                <a:cs typeface="Trebuchet MS"/>
              </a:rPr>
              <a:t> </a:t>
            </a:r>
            <a:r>
              <a:rPr sz="2400" b="0" spc="-95" dirty="0">
                <a:latin typeface="Trebuchet MS"/>
                <a:cs typeface="Trebuchet MS"/>
              </a:rPr>
              <a:t>organization</a:t>
            </a:r>
            <a:r>
              <a:rPr sz="2400" b="0" spc="-50" dirty="0">
                <a:latin typeface="Trebuchet MS"/>
                <a:cs typeface="Trebuchet MS"/>
              </a:rPr>
              <a:t> </a:t>
            </a:r>
            <a:r>
              <a:rPr sz="2400" b="0" spc="-105" dirty="0">
                <a:latin typeface="Trebuchet MS"/>
                <a:cs typeface="Trebuchet MS"/>
              </a:rPr>
              <a:t>plays</a:t>
            </a:r>
            <a:r>
              <a:rPr sz="2400" b="0" spc="-4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a</a:t>
            </a:r>
            <a:r>
              <a:rPr sz="2400" b="0" spc="-5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role</a:t>
            </a:r>
            <a:r>
              <a:rPr sz="2400" b="0" spc="-5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in</a:t>
            </a:r>
            <a:r>
              <a:rPr sz="2400" b="0" spc="-65" dirty="0">
                <a:latin typeface="Trebuchet MS"/>
                <a:cs typeface="Trebuchet MS"/>
              </a:rPr>
              <a:t> </a:t>
            </a:r>
            <a:r>
              <a:rPr sz="2400" b="0" spc="-85" dirty="0">
                <a:latin typeface="Trebuchet MS"/>
                <a:cs typeface="Trebuchet MS"/>
              </a:rPr>
              <a:t>controlling</a:t>
            </a:r>
            <a:r>
              <a:rPr sz="2400" b="0" spc="-50" dirty="0">
                <a:latin typeface="Trebuchet MS"/>
                <a:cs typeface="Trebuchet MS"/>
              </a:rPr>
              <a:t> </a:t>
            </a:r>
            <a:r>
              <a:rPr sz="2400" b="0" spc="-20" dirty="0">
                <a:latin typeface="Trebuchet MS"/>
                <a:cs typeface="Trebuchet MS"/>
              </a:rPr>
              <a:t>work </a:t>
            </a:r>
            <a:r>
              <a:rPr sz="2400" b="0" spc="-145" dirty="0">
                <a:latin typeface="Trebuchet MS"/>
                <a:cs typeface="Trebuchet MS"/>
              </a:rPr>
              <a:t>activities.”</a:t>
            </a:r>
            <a:r>
              <a:rPr sz="2400" b="0" spc="285" dirty="0">
                <a:latin typeface="Trebuchet MS"/>
                <a:cs typeface="Trebuchet MS"/>
              </a:rPr>
              <a:t> </a:t>
            </a:r>
            <a:r>
              <a:rPr sz="2400" b="0" spc="175" dirty="0">
                <a:latin typeface="Trebuchet MS"/>
                <a:cs typeface="Trebuchet MS"/>
              </a:rPr>
              <a:t>Do</a:t>
            </a:r>
            <a:r>
              <a:rPr sz="2400" b="0" spc="30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you</a:t>
            </a:r>
            <a:r>
              <a:rPr sz="2400" b="0" spc="30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agree</a:t>
            </a:r>
            <a:r>
              <a:rPr sz="2400" b="0" spc="30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with</a:t>
            </a:r>
            <a:r>
              <a:rPr sz="2400" b="0" spc="30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this</a:t>
            </a:r>
            <a:r>
              <a:rPr sz="2400" b="0" spc="305" dirty="0">
                <a:latin typeface="Trebuchet MS"/>
                <a:cs typeface="Trebuchet MS"/>
              </a:rPr>
              <a:t> </a:t>
            </a:r>
            <a:r>
              <a:rPr sz="2400" b="0" spc="-125" dirty="0">
                <a:latin typeface="Trebuchet MS"/>
                <a:cs typeface="Trebuchet MS"/>
              </a:rPr>
              <a:t>statement,</a:t>
            </a:r>
            <a:r>
              <a:rPr sz="2400" b="0" spc="14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or</a:t>
            </a:r>
            <a:r>
              <a:rPr sz="2400" b="0" spc="29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do</a:t>
            </a:r>
            <a:r>
              <a:rPr sz="2400" b="0" spc="29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you</a:t>
            </a:r>
            <a:r>
              <a:rPr sz="2400" b="0" spc="30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think</a:t>
            </a:r>
            <a:r>
              <a:rPr sz="2400" b="0" spc="30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control</a:t>
            </a:r>
            <a:r>
              <a:rPr sz="2400" b="0" spc="305" dirty="0">
                <a:latin typeface="Trebuchet MS"/>
                <a:cs typeface="Trebuchet MS"/>
              </a:rPr>
              <a:t> </a:t>
            </a:r>
            <a:r>
              <a:rPr sz="2400" b="0" spc="-25" dirty="0">
                <a:latin typeface="Trebuchet MS"/>
                <a:cs typeface="Trebuchet MS"/>
              </a:rPr>
              <a:t>is </a:t>
            </a:r>
            <a:r>
              <a:rPr sz="2400" b="0" spc="-125" dirty="0">
                <a:latin typeface="Trebuchet MS"/>
                <a:cs typeface="Trebuchet MS"/>
              </a:rPr>
              <a:t>something</a:t>
            </a:r>
            <a:r>
              <a:rPr sz="2400" b="0" spc="-25" dirty="0">
                <a:latin typeface="Trebuchet MS"/>
                <a:cs typeface="Trebuchet MS"/>
              </a:rPr>
              <a:t> </a:t>
            </a:r>
            <a:r>
              <a:rPr sz="2400" b="0" spc="-175" dirty="0">
                <a:latin typeface="Trebuchet MS"/>
                <a:cs typeface="Trebuchet MS"/>
              </a:rPr>
              <a:t>that</a:t>
            </a:r>
            <a:r>
              <a:rPr sz="2400" b="0" spc="-30" dirty="0">
                <a:latin typeface="Trebuchet MS"/>
                <a:cs typeface="Trebuchet MS"/>
              </a:rPr>
              <a:t> </a:t>
            </a:r>
            <a:r>
              <a:rPr sz="2400" b="0" spc="-120" dirty="0">
                <a:latin typeface="Trebuchet MS"/>
                <a:cs typeface="Trebuchet MS"/>
              </a:rPr>
              <a:t>only</a:t>
            </a:r>
            <a:r>
              <a:rPr sz="2400" b="0" spc="-35" dirty="0">
                <a:latin typeface="Trebuchet MS"/>
                <a:cs typeface="Trebuchet MS"/>
              </a:rPr>
              <a:t> </a:t>
            </a:r>
            <a:r>
              <a:rPr sz="2400" b="0" spc="-155" dirty="0">
                <a:latin typeface="Trebuchet MS"/>
                <a:cs typeface="Trebuchet MS"/>
              </a:rPr>
              <a:t>managers</a:t>
            </a:r>
            <a:r>
              <a:rPr sz="2400" b="0" spc="-20" dirty="0">
                <a:latin typeface="Trebuchet MS"/>
                <a:cs typeface="Trebuchet MS"/>
              </a:rPr>
              <a:t> </a:t>
            </a:r>
            <a:r>
              <a:rPr sz="2400" b="0" spc="-160" dirty="0">
                <a:latin typeface="Trebuchet MS"/>
                <a:cs typeface="Trebuchet MS"/>
              </a:rPr>
              <a:t>are</a:t>
            </a:r>
            <a:r>
              <a:rPr sz="2400" b="0" spc="-15" dirty="0">
                <a:latin typeface="Trebuchet MS"/>
                <a:cs typeface="Trebuchet MS"/>
              </a:rPr>
              <a:t> </a:t>
            </a:r>
            <a:r>
              <a:rPr sz="2400" b="0" spc="-114" dirty="0">
                <a:latin typeface="Trebuchet MS"/>
                <a:cs typeface="Trebuchet MS"/>
              </a:rPr>
              <a:t>responsible</a:t>
            </a:r>
            <a:r>
              <a:rPr sz="2400" b="0" spc="-25" dirty="0">
                <a:latin typeface="Trebuchet MS"/>
                <a:cs typeface="Trebuchet MS"/>
              </a:rPr>
              <a:t> </a:t>
            </a:r>
            <a:r>
              <a:rPr sz="2400" b="0" spc="-85" dirty="0">
                <a:latin typeface="Trebuchet MS"/>
                <a:cs typeface="Trebuchet MS"/>
              </a:rPr>
              <a:t>for?</a:t>
            </a:r>
            <a:r>
              <a:rPr sz="2400" b="0" spc="-25" dirty="0">
                <a:latin typeface="Trebuchet MS"/>
                <a:cs typeface="Trebuchet MS"/>
              </a:rPr>
              <a:t> Explain.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39" y="6286500"/>
            <a:ext cx="1565160" cy="572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4790" y="0"/>
            <a:ext cx="11909425" cy="6683375"/>
            <a:chOff x="224790" y="0"/>
            <a:chExt cx="11909425" cy="66833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40" y="220979"/>
              <a:ext cx="11750675" cy="64622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4315" y="211454"/>
              <a:ext cx="11724005" cy="6435725"/>
            </a:xfrm>
            <a:custGeom>
              <a:avLst/>
              <a:gdLst/>
              <a:ahLst/>
              <a:cxnLst/>
              <a:rect l="l" t="t" r="r" b="b"/>
              <a:pathLst>
                <a:path w="11724005" h="6435725">
                  <a:moveTo>
                    <a:pt x="94018" y="0"/>
                  </a:moveTo>
                  <a:lnTo>
                    <a:pt x="11629643" y="0"/>
                  </a:lnTo>
                  <a:lnTo>
                    <a:pt x="11648186" y="1777"/>
                  </a:lnTo>
                  <a:lnTo>
                    <a:pt x="11695938" y="27813"/>
                  </a:lnTo>
                  <a:lnTo>
                    <a:pt x="11721973" y="75438"/>
                  </a:lnTo>
                  <a:lnTo>
                    <a:pt x="11723624" y="93979"/>
                  </a:lnTo>
                  <a:lnTo>
                    <a:pt x="11723624" y="6341706"/>
                  </a:lnTo>
                  <a:lnTo>
                    <a:pt x="11707367" y="6393916"/>
                  </a:lnTo>
                  <a:lnTo>
                    <a:pt x="11665966" y="6427851"/>
                  </a:lnTo>
                  <a:lnTo>
                    <a:pt x="11629643" y="6435331"/>
                  </a:lnTo>
                  <a:lnTo>
                    <a:pt x="94018" y="6435331"/>
                  </a:lnTo>
                  <a:lnTo>
                    <a:pt x="41452" y="6419037"/>
                  </a:lnTo>
                  <a:lnTo>
                    <a:pt x="7492" y="6378028"/>
                  </a:lnTo>
                  <a:lnTo>
                    <a:pt x="0" y="6341706"/>
                  </a:lnTo>
                  <a:lnTo>
                    <a:pt x="0" y="93979"/>
                  </a:lnTo>
                  <a:lnTo>
                    <a:pt x="16294" y="41401"/>
                  </a:lnTo>
                  <a:lnTo>
                    <a:pt x="57746" y="7493"/>
                  </a:lnTo>
                  <a:lnTo>
                    <a:pt x="94018" y="0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05100" y="2353055"/>
              <a:ext cx="6781800" cy="2152015"/>
            </a:xfrm>
            <a:custGeom>
              <a:avLst/>
              <a:gdLst/>
              <a:ahLst/>
              <a:cxnLst/>
              <a:rect l="l" t="t" r="r" b="b"/>
              <a:pathLst>
                <a:path w="6781800" h="2152015">
                  <a:moveTo>
                    <a:pt x="6423152" y="0"/>
                  </a:moveTo>
                  <a:lnTo>
                    <a:pt x="358648" y="0"/>
                  </a:lnTo>
                  <a:lnTo>
                    <a:pt x="309972" y="3273"/>
                  </a:lnTo>
                  <a:lnTo>
                    <a:pt x="263289" y="12808"/>
                  </a:lnTo>
                  <a:lnTo>
                    <a:pt x="219027" y="28178"/>
                  </a:lnTo>
                  <a:lnTo>
                    <a:pt x="177611" y="48956"/>
                  </a:lnTo>
                  <a:lnTo>
                    <a:pt x="139470" y="74715"/>
                  </a:lnTo>
                  <a:lnTo>
                    <a:pt x="105028" y="105029"/>
                  </a:lnTo>
                  <a:lnTo>
                    <a:pt x="74715" y="139470"/>
                  </a:lnTo>
                  <a:lnTo>
                    <a:pt x="48956" y="177611"/>
                  </a:lnTo>
                  <a:lnTo>
                    <a:pt x="28178" y="219027"/>
                  </a:lnTo>
                  <a:lnTo>
                    <a:pt x="12808" y="263289"/>
                  </a:lnTo>
                  <a:lnTo>
                    <a:pt x="3273" y="309972"/>
                  </a:lnTo>
                  <a:lnTo>
                    <a:pt x="0" y="358648"/>
                  </a:lnTo>
                  <a:lnTo>
                    <a:pt x="0" y="1793240"/>
                  </a:lnTo>
                  <a:lnTo>
                    <a:pt x="3273" y="1841915"/>
                  </a:lnTo>
                  <a:lnTo>
                    <a:pt x="12808" y="1888598"/>
                  </a:lnTo>
                  <a:lnTo>
                    <a:pt x="28178" y="1932860"/>
                  </a:lnTo>
                  <a:lnTo>
                    <a:pt x="48956" y="1974276"/>
                  </a:lnTo>
                  <a:lnTo>
                    <a:pt x="74715" y="2012417"/>
                  </a:lnTo>
                  <a:lnTo>
                    <a:pt x="105028" y="2046859"/>
                  </a:lnTo>
                  <a:lnTo>
                    <a:pt x="139470" y="2077172"/>
                  </a:lnTo>
                  <a:lnTo>
                    <a:pt x="177611" y="2102931"/>
                  </a:lnTo>
                  <a:lnTo>
                    <a:pt x="219027" y="2123709"/>
                  </a:lnTo>
                  <a:lnTo>
                    <a:pt x="263289" y="2139079"/>
                  </a:lnTo>
                  <a:lnTo>
                    <a:pt x="309972" y="2148614"/>
                  </a:lnTo>
                  <a:lnTo>
                    <a:pt x="358648" y="2151888"/>
                  </a:lnTo>
                  <a:lnTo>
                    <a:pt x="6423152" y="2151888"/>
                  </a:lnTo>
                  <a:lnTo>
                    <a:pt x="6471827" y="2148614"/>
                  </a:lnTo>
                  <a:lnTo>
                    <a:pt x="6518510" y="2139079"/>
                  </a:lnTo>
                  <a:lnTo>
                    <a:pt x="6562772" y="2123709"/>
                  </a:lnTo>
                  <a:lnTo>
                    <a:pt x="6604188" y="2102931"/>
                  </a:lnTo>
                  <a:lnTo>
                    <a:pt x="6642329" y="2077172"/>
                  </a:lnTo>
                  <a:lnTo>
                    <a:pt x="6676770" y="2046859"/>
                  </a:lnTo>
                  <a:lnTo>
                    <a:pt x="6707084" y="2012417"/>
                  </a:lnTo>
                  <a:lnTo>
                    <a:pt x="6732843" y="1974276"/>
                  </a:lnTo>
                  <a:lnTo>
                    <a:pt x="6753621" y="1932860"/>
                  </a:lnTo>
                  <a:lnTo>
                    <a:pt x="6768991" y="1888598"/>
                  </a:lnTo>
                  <a:lnTo>
                    <a:pt x="6778526" y="1841915"/>
                  </a:lnTo>
                  <a:lnTo>
                    <a:pt x="6781800" y="1793240"/>
                  </a:lnTo>
                  <a:lnTo>
                    <a:pt x="6781800" y="358648"/>
                  </a:lnTo>
                  <a:lnTo>
                    <a:pt x="6778526" y="309972"/>
                  </a:lnTo>
                  <a:lnTo>
                    <a:pt x="6768991" y="263289"/>
                  </a:lnTo>
                  <a:lnTo>
                    <a:pt x="6753621" y="219027"/>
                  </a:lnTo>
                  <a:lnTo>
                    <a:pt x="6732843" y="177611"/>
                  </a:lnTo>
                  <a:lnTo>
                    <a:pt x="6707084" y="139470"/>
                  </a:lnTo>
                  <a:lnTo>
                    <a:pt x="6676771" y="105028"/>
                  </a:lnTo>
                  <a:lnTo>
                    <a:pt x="6642329" y="74715"/>
                  </a:lnTo>
                  <a:lnTo>
                    <a:pt x="6604188" y="48956"/>
                  </a:lnTo>
                  <a:lnTo>
                    <a:pt x="6562772" y="28178"/>
                  </a:lnTo>
                  <a:lnTo>
                    <a:pt x="6518510" y="12808"/>
                  </a:lnTo>
                  <a:lnTo>
                    <a:pt x="6471827" y="3273"/>
                  </a:lnTo>
                  <a:lnTo>
                    <a:pt x="6423152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2360167"/>
              <a:ext cx="6784975" cy="2146300"/>
            </a:xfrm>
            <a:custGeom>
              <a:avLst/>
              <a:gdLst/>
              <a:ahLst/>
              <a:cxnLst/>
              <a:rect l="l" t="t" r="r" b="b"/>
              <a:pathLst>
                <a:path w="6784975" h="2146300">
                  <a:moveTo>
                    <a:pt x="6532753" y="2133599"/>
                  </a:moveTo>
                  <a:lnTo>
                    <a:pt x="252222" y="2133599"/>
                  </a:lnTo>
                  <a:lnTo>
                    <a:pt x="269113" y="2146299"/>
                  </a:lnTo>
                  <a:lnTo>
                    <a:pt x="6515608" y="2146299"/>
                  </a:lnTo>
                  <a:lnTo>
                    <a:pt x="6532753" y="2133599"/>
                  </a:lnTo>
                  <a:close/>
                </a:path>
                <a:path w="6784975" h="2146300">
                  <a:moveTo>
                    <a:pt x="255778" y="2120899"/>
                  </a:moveTo>
                  <a:lnTo>
                    <a:pt x="219201" y="2120899"/>
                  </a:lnTo>
                  <a:lnTo>
                    <a:pt x="235457" y="2133599"/>
                  </a:lnTo>
                  <a:lnTo>
                    <a:pt x="272034" y="2133599"/>
                  </a:lnTo>
                  <a:lnTo>
                    <a:pt x="255778" y="2120899"/>
                  </a:lnTo>
                  <a:close/>
                </a:path>
                <a:path w="6784975" h="2146300">
                  <a:moveTo>
                    <a:pt x="6565646" y="2120899"/>
                  </a:moveTo>
                  <a:lnTo>
                    <a:pt x="6528689" y="2120899"/>
                  </a:lnTo>
                  <a:lnTo>
                    <a:pt x="6512179" y="2133599"/>
                  </a:lnTo>
                  <a:lnTo>
                    <a:pt x="6549390" y="2133599"/>
                  </a:lnTo>
                  <a:lnTo>
                    <a:pt x="6565646" y="2120899"/>
                  </a:lnTo>
                  <a:close/>
                </a:path>
                <a:path w="6784975" h="2146300">
                  <a:moveTo>
                    <a:pt x="193675" y="2095499"/>
                  </a:moveTo>
                  <a:lnTo>
                    <a:pt x="172719" y="2095499"/>
                  </a:lnTo>
                  <a:lnTo>
                    <a:pt x="187832" y="2108199"/>
                  </a:lnTo>
                  <a:lnTo>
                    <a:pt x="203200" y="2120899"/>
                  </a:lnTo>
                  <a:lnTo>
                    <a:pt x="239522" y="2120899"/>
                  </a:lnTo>
                  <a:lnTo>
                    <a:pt x="223774" y="2108199"/>
                  </a:lnTo>
                  <a:lnTo>
                    <a:pt x="208534" y="2108199"/>
                  </a:lnTo>
                  <a:lnTo>
                    <a:pt x="193675" y="2095499"/>
                  </a:lnTo>
                  <a:close/>
                </a:path>
                <a:path w="6784975" h="2146300">
                  <a:moveTo>
                    <a:pt x="6612001" y="2095499"/>
                  </a:moveTo>
                  <a:lnTo>
                    <a:pt x="6590792" y="2095499"/>
                  </a:lnTo>
                  <a:lnTo>
                    <a:pt x="6575806" y="2108199"/>
                  </a:lnTo>
                  <a:lnTo>
                    <a:pt x="6560439" y="2108199"/>
                  </a:lnTo>
                  <a:lnTo>
                    <a:pt x="6544818" y="2120899"/>
                  </a:lnTo>
                  <a:lnTo>
                    <a:pt x="6581521" y="2120899"/>
                  </a:lnTo>
                  <a:lnTo>
                    <a:pt x="6597142" y="2108199"/>
                  </a:lnTo>
                  <a:lnTo>
                    <a:pt x="6612001" y="2095499"/>
                  </a:lnTo>
                  <a:close/>
                </a:path>
                <a:path w="6784975" h="2146300">
                  <a:moveTo>
                    <a:pt x="165607" y="63500"/>
                  </a:moveTo>
                  <a:lnTo>
                    <a:pt x="144144" y="63500"/>
                  </a:lnTo>
                  <a:lnTo>
                    <a:pt x="130556" y="76200"/>
                  </a:lnTo>
                  <a:lnTo>
                    <a:pt x="93218" y="114300"/>
                  </a:lnTo>
                  <a:lnTo>
                    <a:pt x="61341" y="152400"/>
                  </a:lnTo>
                  <a:lnTo>
                    <a:pt x="43306" y="190500"/>
                  </a:lnTo>
                  <a:lnTo>
                    <a:pt x="35432" y="203200"/>
                  </a:lnTo>
                  <a:lnTo>
                    <a:pt x="28193" y="215900"/>
                  </a:lnTo>
                  <a:lnTo>
                    <a:pt x="21843" y="228600"/>
                  </a:lnTo>
                  <a:lnTo>
                    <a:pt x="16129" y="254000"/>
                  </a:lnTo>
                  <a:lnTo>
                    <a:pt x="11303" y="266700"/>
                  </a:lnTo>
                  <a:lnTo>
                    <a:pt x="7366" y="279400"/>
                  </a:lnTo>
                  <a:lnTo>
                    <a:pt x="4063" y="304800"/>
                  </a:lnTo>
                  <a:lnTo>
                    <a:pt x="1778" y="317500"/>
                  </a:lnTo>
                  <a:lnTo>
                    <a:pt x="507" y="342900"/>
                  </a:lnTo>
                  <a:lnTo>
                    <a:pt x="0" y="355600"/>
                  </a:lnTo>
                  <a:lnTo>
                    <a:pt x="0" y="1790699"/>
                  </a:lnTo>
                  <a:lnTo>
                    <a:pt x="507" y="1816099"/>
                  </a:lnTo>
                  <a:lnTo>
                    <a:pt x="1778" y="1828799"/>
                  </a:lnTo>
                  <a:lnTo>
                    <a:pt x="4063" y="1854199"/>
                  </a:lnTo>
                  <a:lnTo>
                    <a:pt x="7238" y="1866899"/>
                  </a:lnTo>
                  <a:lnTo>
                    <a:pt x="11175" y="1879599"/>
                  </a:lnTo>
                  <a:lnTo>
                    <a:pt x="16129" y="1904999"/>
                  </a:lnTo>
                  <a:lnTo>
                    <a:pt x="21717" y="1917699"/>
                  </a:lnTo>
                  <a:lnTo>
                    <a:pt x="28193" y="1930399"/>
                  </a:lnTo>
                  <a:lnTo>
                    <a:pt x="35306" y="1943099"/>
                  </a:lnTo>
                  <a:lnTo>
                    <a:pt x="43306" y="1968499"/>
                  </a:lnTo>
                  <a:lnTo>
                    <a:pt x="71247" y="2006599"/>
                  </a:lnTo>
                  <a:lnTo>
                    <a:pt x="105156" y="2044699"/>
                  </a:lnTo>
                  <a:lnTo>
                    <a:pt x="144144" y="2082799"/>
                  </a:lnTo>
                  <a:lnTo>
                    <a:pt x="158242" y="2095499"/>
                  </a:lnTo>
                  <a:lnTo>
                    <a:pt x="179069" y="2095499"/>
                  </a:lnTo>
                  <a:lnTo>
                    <a:pt x="165100" y="2082799"/>
                  </a:lnTo>
                  <a:lnTo>
                    <a:pt x="151637" y="2070099"/>
                  </a:lnTo>
                  <a:lnTo>
                    <a:pt x="138430" y="2057399"/>
                  </a:lnTo>
                  <a:lnTo>
                    <a:pt x="125856" y="2044699"/>
                  </a:lnTo>
                  <a:lnTo>
                    <a:pt x="113918" y="2031999"/>
                  </a:lnTo>
                  <a:lnTo>
                    <a:pt x="102488" y="2031999"/>
                  </a:lnTo>
                  <a:lnTo>
                    <a:pt x="91440" y="2019299"/>
                  </a:lnTo>
                  <a:lnTo>
                    <a:pt x="81280" y="2006599"/>
                  </a:lnTo>
                  <a:lnTo>
                    <a:pt x="71628" y="1981199"/>
                  </a:lnTo>
                  <a:lnTo>
                    <a:pt x="62611" y="1968499"/>
                  </a:lnTo>
                  <a:lnTo>
                    <a:pt x="39750" y="1930399"/>
                  </a:lnTo>
                  <a:lnTo>
                    <a:pt x="28193" y="1892299"/>
                  </a:lnTo>
                  <a:lnTo>
                    <a:pt x="23494" y="1879599"/>
                  </a:lnTo>
                  <a:lnTo>
                    <a:pt x="19557" y="1866899"/>
                  </a:lnTo>
                  <a:lnTo>
                    <a:pt x="16637" y="1841499"/>
                  </a:lnTo>
                  <a:lnTo>
                    <a:pt x="14350" y="1828799"/>
                  </a:lnTo>
                  <a:lnTo>
                    <a:pt x="13081" y="1816099"/>
                  </a:lnTo>
                  <a:lnTo>
                    <a:pt x="12700" y="1790699"/>
                  </a:lnTo>
                  <a:lnTo>
                    <a:pt x="12700" y="355600"/>
                  </a:lnTo>
                  <a:lnTo>
                    <a:pt x="13207" y="342900"/>
                  </a:lnTo>
                  <a:lnTo>
                    <a:pt x="14478" y="317500"/>
                  </a:lnTo>
                  <a:lnTo>
                    <a:pt x="16637" y="304800"/>
                  </a:lnTo>
                  <a:lnTo>
                    <a:pt x="19812" y="292100"/>
                  </a:lnTo>
                  <a:lnTo>
                    <a:pt x="23749" y="266700"/>
                  </a:lnTo>
                  <a:lnTo>
                    <a:pt x="28321" y="254000"/>
                  </a:lnTo>
                  <a:lnTo>
                    <a:pt x="33781" y="241300"/>
                  </a:lnTo>
                  <a:lnTo>
                    <a:pt x="40005" y="215900"/>
                  </a:lnTo>
                  <a:lnTo>
                    <a:pt x="62992" y="177800"/>
                  </a:lnTo>
                  <a:lnTo>
                    <a:pt x="91948" y="139700"/>
                  </a:lnTo>
                  <a:lnTo>
                    <a:pt x="126365" y="101600"/>
                  </a:lnTo>
                  <a:lnTo>
                    <a:pt x="152019" y="76200"/>
                  </a:lnTo>
                  <a:lnTo>
                    <a:pt x="165607" y="63500"/>
                  </a:lnTo>
                  <a:close/>
                </a:path>
                <a:path w="6784975" h="2146300">
                  <a:moveTo>
                    <a:pt x="6640703" y="63500"/>
                  </a:moveTo>
                  <a:lnTo>
                    <a:pt x="6619748" y="63500"/>
                  </a:lnTo>
                  <a:lnTo>
                    <a:pt x="6633337" y="76200"/>
                  </a:lnTo>
                  <a:lnTo>
                    <a:pt x="6646418" y="88900"/>
                  </a:lnTo>
                  <a:lnTo>
                    <a:pt x="6682485" y="127000"/>
                  </a:lnTo>
                  <a:lnTo>
                    <a:pt x="6713220" y="165100"/>
                  </a:lnTo>
                  <a:lnTo>
                    <a:pt x="6738239" y="203200"/>
                  </a:lnTo>
                  <a:lnTo>
                    <a:pt x="6751193" y="241300"/>
                  </a:lnTo>
                  <a:lnTo>
                    <a:pt x="6756781" y="254000"/>
                  </a:lnTo>
                  <a:lnTo>
                    <a:pt x="6761226" y="266700"/>
                  </a:lnTo>
                  <a:lnTo>
                    <a:pt x="6765163" y="292100"/>
                  </a:lnTo>
                  <a:lnTo>
                    <a:pt x="6768210" y="304800"/>
                  </a:lnTo>
                  <a:lnTo>
                    <a:pt x="6770370" y="317500"/>
                  </a:lnTo>
                  <a:lnTo>
                    <a:pt x="6771767" y="342900"/>
                  </a:lnTo>
                  <a:lnTo>
                    <a:pt x="6772148" y="355600"/>
                  </a:lnTo>
                  <a:lnTo>
                    <a:pt x="6772148" y="1790699"/>
                  </a:lnTo>
                  <a:lnTo>
                    <a:pt x="6771640" y="1816099"/>
                  </a:lnTo>
                  <a:lnTo>
                    <a:pt x="6770370" y="1828799"/>
                  </a:lnTo>
                  <a:lnTo>
                    <a:pt x="6768210" y="1841499"/>
                  </a:lnTo>
                  <a:lnTo>
                    <a:pt x="6765035" y="1866899"/>
                  </a:lnTo>
                  <a:lnTo>
                    <a:pt x="6761099" y="1879599"/>
                  </a:lnTo>
                  <a:lnTo>
                    <a:pt x="6756527" y="1892299"/>
                  </a:lnTo>
                  <a:lnTo>
                    <a:pt x="6751066" y="1917699"/>
                  </a:lnTo>
                  <a:lnTo>
                    <a:pt x="6730238" y="1955799"/>
                  </a:lnTo>
                  <a:lnTo>
                    <a:pt x="6712966" y="1981199"/>
                  </a:lnTo>
                  <a:lnTo>
                    <a:pt x="6703187" y="2006599"/>
                  </a:lnTo>
                  <a:lnTo>
                    <a:pt x="6692900" y="2019299"/>
                  </a:lnTo>
                  <a:lnTo>
                    <a:pt x="6682105" y="2031999"/>
                  </a:lnTo>
                  <a:lnTo>
                    <a:pt x="6670548" y="2044699"/>
                  </a:lnTo>
                  <a:lnTo>
                    <a:pt x="6658483" y="2044699"/>
                  </a:lnTo>
                  <a:lnTo>
                    <a:pt x="6645909" y="2057399"/>
                  </a:lnTo>
                  <a:lnTo>
                    <a:pt x="6632829" y="2070099"/>
                  </a:lnTo>
                  <a:lnTo>
                    <a:pt x="6619240" y="2082799"/>
                  </a:lnTo>
                  <a:lnTo>
                    <a:pt x="6605270" y="2095499"/>
                  </a:lnTo>
                  <a:lnTo>
                    <a:pt x="6626606" y="2095499"/>
                  </a:lnTo>
                  <a:lnTo>
                    <a:pt x="6667246" y="2057399"/>
                  </a:lnTo>
                  <a:lnTo>
                    <a:pt x="6702933" y="2019299"/>
                  </a:lnTo>
                  <a:lnTo>
                    <a:pt x="6732905" y="1981199"/>
                  </a:lnTo>
                  <a:lnTo>
                    <a:pt x="6749542" y="1943099"/>
                  </a:lnTo>
                  <a:lnTo>
                    <a:pt x="6756654" y="1930399"/>
                  </a:lnTo>
                  <a:lnTo>
                    <a:pt x="6763004" y="1917699"/>
                  </a:lnTo>
                  <a:lnTo>
                    <a:pt x="6768719" y="1904999"/>
                  </a:lnTo>
                  <a:lnTo>
                    <a:pt x="6773545" y="1879599"/>
                  </a:lnTo>
                  <a:lnTo>
                    <a:pt x="6777482" y="1866899"/>
                  </a:lnTo>
                  <a:lnTo>
                    <a:pt x="6780783" y="1854199"/>
                  </a:lnTo>
                  <a:lnTo>
                    <a:pt x="6783070" y="1828799"/>
                  </a:lnTo>
                  <a:lnTo>
                    <a:pt x="6784340" y="1816099"/>
                  </a:lnTo>
                  <a:lnTo>
                    <a:pt x="6784848" y="1790699"/>
                  </a:lnTo>
                  <a:lnTo>
                    <a:pt x="6784848" y="355600"/>
                  </a:lnTo>
                  <a:lnTo>
                    <a:pt x="6784340" y="342900"/>
                  </a:lnTo>
                  <a:lnTo>
                    <a:pt x="6782943" y="317500"/>
                  </a:lnTo>
                  <a:lnTo>
                    <a:pt x="6780657" y="304800"/>
                  </a:lnTo>
                  <a:lnTo>
                    <a:pt x="6777482" y="279400"/>
                  </a:lnTo>
                  <a:lnTo>
                    <a:pt x="6773545" y="266700"/>
                  </a:lnTo>
                  <a:lnTo>
                    <a:pt x="6768719" y="254000"/>
                  </a:lnTo>
                  <a:lnTo>
                    <a:pt x="6763004" y="228600"/>
                  </a:lnTo>
                  <a:lnTo>
                    <a:pt x="6756654" y="215900"/>
                  </a:lnTo>
                  <a:lnTo>
                    <a:pt x="6749542" y="203200"/>
                  </a:lnTo>
                  <a:lnTo>
                    <a:pt x="6741541" y="190500"/>
                  </a:lnTo>
                  <a:lnTo>
                    <a:pt x="6732905" y="165100"/>
                  </a:lnTo>
                  <a:lnTo>
                    <a:pt x="6702933" y="127000"/>
                  </a:lnTo>
                  <a:lnTo>
                    <a:pt x="6667246" y="88900"/>
                  </a:lnTo>
                  <a:lnTo>
                    <a:pt x="6654292" y="76200"/>
                  </a:lnTo>
                  <a:lnTo>
                    <a:pt x="6640703" y="63500"/>
                  </a:lnTo>
                  <a:close/>
                </a:path>
                <a:path w="6784975" h="2146300">
                  <a:moveTo>
                    <a:pt x="209042" y="38100"/>
                  </a:moveTo>
                  <a:lnTo>
                    <a:pt x="187832" y="38100"/>
                  </a:lnTo>
                  <a:lnTo>
                    <a:pt x="172719" y="50800"/>
                  </a:lnTo>
                  <a:lnTo>
                    <a:pt x="158242" y="63500"/>
                  </a:lnTo>
                  <a:lnTo>
                    <a:pt x="179578" y="63500"/>
                  </a:lnTo>
                  <a:lnTo>
                    <a:pt x="194182" y="50800"/>
                  </a:lnTo>
                  <a:lnTo>
                    <a:pt x="209042" y="38100"/>
                  </a:lnTo>
                  <a:close/>
                </a:path>
                <a:path w="6784975" h="2146300">
                  <a:moveTo>
                    <a:pt x="6565773" y="25400"/>
                  </a:moveTo>
                  <a:lnTo>
                    <a:pt x="6545326" y="25400"/>
                  </a:lnTo>
                  <a:lnTo>
                    <a:pt x="6561201" y="38100"/>
                  </a:lnTo>
                  <a:lnTo>
                    <a:pt x="6576314" y="50800"/>
                  </a:lnTo>
                  <a:lnTo>
                    <a:pt x="6591300" y="50800"/>
                  </a:lnTo>
                  <a:lnTo>
                    <a:pt x="6605778" y="63500"/>
                  </a:lnTo>
                  <a:lnTo>
                    <a:pt x="6626606" y="63500"/>
                  </a:lnTo>
                  <a:lnTo>
                    <a:pt x="6612128" y="50800"/>
                  </a:lnTo>
                  <a:lnTo>
                    <a:pt x="6597142" y="38100"/>
                  </a:lnTo>
                  <a:lnTo>
                    <a:pt x="6581521" y="38100"/>
                  </a:lnTo>
                  <a:lnTo>
                    <a:pt x="6565773" y="25400"/>
                  </a:lnTo>
                  <a:close/>
                </a:path>
                <a:path w="6784975" h="2146300">
                  <a:moveTo>
                    <a:pt x="240030" y="25400"/>
                  </a:moveTo>
                  <a:lnTo>
                    <a:pt x="219201" y="25400"/>
                  </a:lnTo>
                  <a:lnTo>
                    <a:pt x="203200" y="38100"/>
                  </a:lnTo>
                  <a:lnTo>
                    <a:pt x="224409" y="38100"/>
                  </a:lnTo>
                  <a:lnTo>
                    <a:pt x="240030" y="25400"/>
                  </a:lnTo>
                  <a:close/>
                </a:path>
                <a:path w="6784975" h="2146300">
                  <a:moveTo>
                    <a:pt x="289306" y="12700"/>
                  </a:moveTo>
                  <a:lnTo>
                    <a:pt x="252094" y="12700"/>
                  </a:lnTo>
                  <a:lnTo>
                    <a:pt x="235457" y="25400"/>
                  </a:lnTo>
                  <a:lnTo>
                    <a:pt x="272669" y="25400"/>
                  </a:lnTo>
                  <a:lnTo>
                    <a:pt x="289306" y="12700"/>
                  </a:lnTo>
                  <a:close/>
                </a:path>
                <a:path w="6784975" h="2146300">
                  <a:moveTo>
                    <a:pt x="6532753" y="12700"/>
                  </a:moveTo>
                  <a:lnTo>
                    <a:pt x="6496050" y="12700"/>
                  </a:lnTo>
                  <a:lnTo>
                    <a:pt x="6512941" y="25400"/>
                  </a:lnTo>
                  <a:lnTo>
                    <a:pt x="6549390" y="25400"/>
                  </a:lnTo>
                  <a:lnTo>
                    <a:pt x="6532753" y="12700"/>
                  </a:lnTo>
                  <a:close/>
                </a:path>
                <a:path w="6784975" h="2146300">
                  <a:moveTo>
                    <a:pt x="6498335" y="0"/>
                  </a:moveTo>
                  <a:lnTo>
                    <a:pt x="286512" y="0"/>
                  </a:lnTo>
                  <a:lnTo>
                    <a:pt x="269113" y="12700"/>
                  </a:lnTo>
                  <a:lnTo>
                    <a:pt x="6515734" y="12700"/>
                  </a:lnTo>
                  <a:lnTo>
                    <a:pt x="6498335" y="0"/>
                  </a:lnTo>
                  <a:close/>
                </a:path>
              </a:pathLst>
            </a:custGeom>
            <a:solidFill>
              <a:srgbClr val="0E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156328" y="3028010"/>
            <a:ext cx="38817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64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480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800" spc="49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773</Words>
  <Application>Microsoft Office PowerPoint</Application>
  <PresentationFormat>Widescreen</PresentationFormat>
  <Paragraphs>161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Arial MT</vt:lpstr>
      <vt:lpstr>Trebuchet MS</vt:lpstr>
      <vt:lpstr>Office Theme</vt:lpstr>
      <vt:lpstr>PowerPoint Presentation</vt:lpstr>
      <vt:lpstr>PowerPoint Presentation</vt:lpstr>
      <vt:lpstr>WHAT IS CONTROLLING?</vt:lpstr>
      <vt:lpstr>PLANNING-CONTROLLING LINK</vt:lpstr>
      <vt:lpstr>THE VALUE OF CONTROL FUNCTION</vt:lpstr>
      <vt:lpstr>THE CONTROL PROCESS</vt:lpstr>
      <vt:lpstr>STEP 1: MEASURING ACTUAL PERFORMANCE</vt:lpstr>
      <vt:lpstr>STEP 1: MEASURING ACTUAL PERFORMANCE</vt:lpstr>
      <vt:lpstr>STEP 1: MEASURING ACTUAL PERFORMANCE</vt:lpstr>
      <vt:lpstr>STEP 1: MEASURING ACTUAL PERFORMANCE</vt:lpstr>
      <vt:lpstr>STEP 1: MEASURING ACTUAL PERFORMANCE</vt:lpstr>
      <vt:lpstr>STEP 1: MEASURING ACTUAL PERFORMANCE</vt:lpstr>
      <vt:lpstr>STEP 2: COMPARING ACTUAL PERFORMANCE AGAINST THE STANDARD</vt:lpstr>
      <vt:lpstr>STEP 2: COMPARING ACTUAL PERFORMANCE AGAINST THE STANDARD</vt:lpstr>
      <vt:lpstr>STEP 2: COMPARING ACTUAL PERFORMANCE AGAINST THE STANDARD</vt:lpstr>
      <vt:lpstr>STEP 3: TAKING MANAGERIAL ACTION</vt:lpstr>
      <vt:lpstr>STEP 3: TAKING MANAGERIAL ACTION</vt:lpstr>
      <vt:lpstr>STEP 3: TAKING MANAGERIAL ACTION</vt:lpstr>
      <vt:lpstr>STEP 3: TAKING MANAGERIAL ACTION</vt:lpstr>
      <vt:lpstr>STEP 3: TAKING MANAGERIAL ACTION</vt:lpstr>
      <vt:lpstr>STEP 3: TAKING MANAGERIAL ACTION</vt:lpstr>
      <vt:lpstr>STEP 3: TAKING MANAGERIAL ACTION</vt:lpstr>
      <vt:lpstr>MEASURES OF ORGANIZATIONAL PERFORMANCE</vt:lpstr>
      <vt:lpstr>TYPES OF CONTROL</vt:lpstr>
      <vt:lpstr>FINANCE CONTROL</vt:lpstr>
      <vt:lpstr>FINANCE CONTROL</vt:lpstr>
      <vt:lpstr>INFORMATION CONTROLS</vt:lpstr>
      <vt:lpstr>THE BALANCED SCORECARD</vt:lpstr>
      <vt:lpstr>THE BALANCED SCORECARD</vt:lpstr>
      <vt:lpstr>CONTEMPORARY ISSUES IN CONTROL</vt:lpstr>
      <vt:lpstr>“Every individual employee in an organization plays a role in controlling work activities.” Do you agree with this statement, or do you think control is something that only managers are responsible for? Explain.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2</cp:revision>
  <dcterms:created xsi:type="dcterms:W3CDTF">2024-06-23T15:01:18Z</dcterms:created>
  <dcterms:modified xsi:type="dcterms:W3CDTF">2024-06-23T15:21:03Z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2024-06-23T00:00:00Z</vt:filetime>
  </property>
  <property fmtid="{D5CDD505-2E9C-101B-9397-08002B2CF9AE}" pid="5" name="Producer">
    <vt:lpwstr>Microsoft® PowerPoint® 2016</vt:lpwstr>
  </property>
</Properties>
</file>