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58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24" y="396716"/>
            <a:ext cx="807215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74378"/>
            <a:ext cx="6828155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430" y="1562101"/>
            <a:ext cx="8105139" cy="3598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92822" y="6449208"/>
            <a:ext cx="24574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De planning en je studie: vaak niet de beste combinatie">
            <a:extLst>
              <a:ext uri="{FF2B5EF4-FFF2-40B4-BE49-F238E27FC236}">
                <a16:creationId xmlns:a16="http://schemas.microsoft.com/office/drawing/2014/main" id="{99E2D28E-B36E-1272-FC3F-5CB22D793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2634792"/>
            <a:ext cx="3971037" cy="158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prove performance with a planning tool. - Wimi">
            <a:extLst>
              <a:ext uri="{FF2B5EF4-FFF2-40B4-BE49-F238E27FC236}">
                <a16:creationId xmlns:a16="http://schemas.microsoft.com/office/drawing/2014/main" id="{624088F1-8175-F82B-E9F8-CAF29F161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0362" y="2386603"/>
            <a:ext cx="3971037" cy="208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374" y="486698"/>
            <a:ext cx="22612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4573" y="1391610"/>
            <a:ext cx="278765" cy="461645"/>
            <a:chOff x="354573" y="1391610"/>
            <a:chExt cx="278765" cy="461645"/>
          </a:xfrm>
        </p:grpSpPr>
        <p:sp>
          <p:nvSpPr>
            <p:cNvPr id="4" name="object 4"/>
            <p:cNvSpPr/>
            <p:nvPr/>
          </p:nvSpPr>
          <p:spPr>
            <a:xfrm>
              <a:off x="354571" y="1391614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42" y="0"/>
                  </a:moveTo>
                  <a:lnTo>
                    <a:pt x="128778" y="0"/>
                  </a:lnTo>
                  <a:lnTo>
                    <a:pt x="0" y="230543"/>
                  </a:lnTo>
                  <a:lnTo>
                    <a:pt x="128778" y="461086"/>
                  </a:lnTo>
                  <a:lnTo>
                    <a:pt x="278142" y="461086"/>
                  </a:lnTo>
                  <a:lnTo>
                    <a:pt x="149364" y="230543"/>
                  </a:lnTo>
                  <a:lnTo>
                    <a:pt x="278142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577" y="1407707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0100" y="1417985"/>
            <a:ext cx="5360035" cy="238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lvl="1" indent="-5086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Foundations</a:t>
            </a:r>
            <a:r>
              <a:rPr sz="24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24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7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434343"/>
              </a:buClr>
              <a:buFont typeface="Arial"/>
              <a:buAutoNum type="arabicPeriod"/>
            </a:pPr>
            <a:endParaRPr sz="230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Strategic</a:t>
            </a:r>
            <a:r>
              <a:rPr sz="2400" b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434343"/>
              </a:buClr>
              <a:buFont typeface="Arial"/>
              <a:buAutoNum type="arabicPeriod"/>
            </a:pPr>
            <a:endParaRPr sz="3600">
              <a:latin typeface="Arial"/>
              <a:cs typeface="Arial"/>
            </a:endParaRPr>
          </a:p>
          <a:p>
            <a:pPr marL="520700" lvl="1" indent="-508634">
              <a:lnSpc>
                <a:spcPct val="100000"/>
              </a:lnSpc>
              <a:buClr>
                <a:srgbClr val="434343"/>
              </a:buClr>
              <a:buAutoNum type="arabicPeriod"/>
              <a:tabLst>
                <a:tab pos="521334" algn="l"/>
              </a:tabLst>
            </a:pPr>
            <a:r>
              <a:rPr sz="2400" b="1" spc="-5" dirty="0">
                <a:solidFill>
                  <a:srgbClr val="555555"/>
                </a:solidFill>
                <a:latin typeface="Arial"/>
                <a:cs typeface="Arial"/>
              </a:rPr>
              <a:t>Operational</a:t>
            </a:r>
            <a:r>
              <a:rPr sz="2400" b="1" spc="-1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555555"/>
                </a:solidFill>
                <a:latin typeface="Arial"/>
                <a:cs typeface="Arial"/>
              </a:rPr>
              <a:t>planning/</a:t>
            </a:r>
            <a:r>
              <a:rPr sz="2400" b="1" spc="-1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555555"/>
                </a:solidFill>
                <a:latin typeface="Arial"/>
                <a:cs typeface="Arial"/>
              </a:rPr>
              <a:t>action</a:t>
            </a:r>
            <a:r>
              <a:rPr sz="2400" b="1" spc="-15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555555"/>
                </a:solidFill>
                <a:latin typeface="Arial"/>
                <a:cs typeface="Arial"/>
              </a:rPr>
              <a:t>plan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826" y="2438346"/>
            <a:ext cx="278765" cy="461645"/>
            <a:chOff x="402826" y="2438346"/>
            <a:chExt cx="278765" cy="461645"/>
          </a:xfrm>
        </p:grpSpPr>
        <p:sp>
          <p:nvSpPr>
            <p:cNvPr id="8" name="object 8"/>
            <p:cNvSpPr/>
            <p:nvPr/>
          </p:nvSpPr>
          <p:spPr>
            <a:xfrm>
              <a:off x="402818" y="2438349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4">
                  <a:moveTo>
                    <a:pt x="278155" y="0"/>
                  </a:moveTo>
                  <a:lnTo>
                    <a:pt x="128790" y="0"/>
                  </a:lnTo>
                  <a:lnTo>
                    <a:pt x="0" y="230543"/>
                  </a:lnTo>
                  <a:lnTo>
                    <a:pt x="128790" y="461098"/>
                  </a:lnTo>
                  <a:lnTo>
                    <a:pt x="278155" y="461098"/>
                  </a:lnTo>
                  <a:lnTo>
                    <a:pt x="149364" y="230543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2830" y="2454443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02822" y="3430828"/>
            <a:ext cx="278765" cy="461645"/>
            <a:chOff x="402822" y="3430828"/>
            <a:chExt cx="278765" cy="461645"/>
          </a:xfrm>
        </p:grpSpPr>
        <p:sp>
          <p:nvSpPr>
            <p:cNvPr id="11" name="object 11"/>
            <p:cNvSpPr/>
            <p:nvPr/>
          </p:nvSpPr>
          <p:spPr>
            <a:xfrm>
              <a:off x="402818" y="3430828"/>
              <a:ext cx="278765" cy="461645"/>
            </a:xfrm>
            <a:custGeom>
              <a:avLst/>
              <a:gdLst/>
              <a:ahLst/>
              <a:cxnLst/>
              <a:rect l="l" t="t" r="r" b="b"/>
              <a:pathLst>
                <a:path w="278765" h="461645">
                  <a:moveTo>
                    <a:pt x="278155" y="0"/>
                  </a:moveTo>
                  <a:lnTo>
                    <a:pt x="128778" y="0"/>
                  </a:lnTo>
                  <a:lnTo>
                    <a:pt x="0" y="230555"/>
                  </a:lnTo>
                  <a:lnTo>
                    <a:pt x="128778" y="461098"/>
                  </a:lnTo>
                  <a:lnTo>
                    <a:pt x="278155" y="461098"/>
                  </a:lnTo>
                  <a:lnTo>
                    <a:pt x="149364" y="230555"/>
                  </a:lnTo>
                  <a:lnTo>
                    <a:pt x="278155" y="0"/>
                  </a:lnTo>
                  <a:close/>
                </a:path>
              </a:pathLst>
            </a:custGeom>
            <a:solidFill>
              <a:srgbClr val="7098C6">
                <a:alpha val="9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826" y="3446926"/>
              <a:ext cx="156210" cy="428625"/>
            </a:xfrm>
            <a:custGeom>
              <a:avLst/>
              <a:gdLst/>
              <a:ahLst/>
              <a:cxnLst/>
              <a:rect l="l" t="t" r="r" b="b"/>
              <a:pathLst>
                <a:path w="156209" h="428625">
                  <a:moveTo>
                    <a:pt x="0" y="0"/>
                  </a:moveTo>
                  <a:lnTo>
                    <a:pt x="0" y="428199"/>
                  </a:lnTo>
                  <a:lnTo>
                    <a:pt x="155674" y="2146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565C">
                <a:alpha val="5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24" y="270478"/>
            <a:ext cx="69748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5.1 </a:t>
            </a:r>
            <a:r>
              <a:rPr sz="3400" spc="-30" dirty="0">
                <a:solidFill>
                  <a:srgbClr val="376092"/>
                </a:solidFill>
              </a:rPr>
              <a:t>FOUNDATIONS</a:t>
            </a:r>
            <a:r>
              <a:rPr sz="340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OF PLANNING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4101" y="202288"/>
            <a:ext cx="1598066" cy="15373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3284" y="1347284"/>
            <a:ext cx="7996555" cy="253555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Learning</a:t>
            </a:r>
            <a:r>
              <a:rPr sz="2400" b="1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outcomes:</a:t>
            </a:r>
            <a:endParaRPr sz="2400">
              <a:latin typeface="Arial"/>
              <a:cs typeface="Arial"/>
            </a:endParaRPr>
          </a:p>
          <a:p>
            <a:pPr marL="698500" indent="-343535">
              <a:lnSpc>
                <a:spcPct val="100000"/>
              </a:lnSpc>
              <a:spcBef>
                <a:spcPts val="112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solidFill>
                  <a:srgbClr val="555555"/>
                </a:solidFill>
                <a:latin typeface="Arial"/>
                <a:cs typeface="Arial"/>
              </a:rPr>
              <a:t>Define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key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concepts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explain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the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purposes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of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planning.</a:t>
            </a:r>
            <a:endParaRPr sz="2200">
              <a:latin typeface="Arial MT"/>
              <a:cs typeface="Arial MT"/>
            </a:endParaRPr>
          </a:p>
          <a:p>
            <a:pPr marL="697865" marR="222250" indent="-342900">
              <a:lnSpc>
                <a:spcPct val="147700"/>
              </a:lnSpc>
              <a:spcBef>
                <a:spcPts val="10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solidFill>
                  <a:srgbClr val="555555"/>
                </a:solidFill>
                <a:latin typeface="Arial"/>
                <a:cs typeface="Arial"/>
              </a:rPr>
              <a:t>Classify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types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 of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goals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organizations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might have and </a:t>
            </a:r>
            <a:r>
              <a:rPr sz="2200" spc="-59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plans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they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use.</a:t>
            </a:r>
            <a:endParaRPr sz="2200">
              <a:latin typeface="Arial MT"/>
              <a:cs typeface="Arial MT"/>
            </a:endParaRPr>
          </a:p>
          <a:p>
            <a:pPr marL="698500" indent="-343535">
              <a:lnSpc>
                <a:spcPct val="100000"/>
              </a:lnSpc>
              <a:spcBef>
                <a:spcPts val="136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solidFill>
                  <a:srgbClr val="555555"/>
                </a:solidFill>
                <a:latin typeface="Arial"/>
                <a:cs typeface="Arial"/>
              </a:rPr>
              <a:t>Explain</a:t>
            </a:r>
            <a:r>
              <a:rPr sz="2200" b="1" spc="-1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management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by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objectives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(MBO)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306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What</a:t>
            </a:r>
            <a:r>
              <a:rPr sz="3000" spc="-40" dirty="0"/>
              <a:t> </a:t>
            </a:r>
            <a:r>
              <a:rPr sz="3000" spc="-5" dirty="0"/>
              <a:t>is</a:t>
            </a:r>
            <a:r>
              <a:rPr sz="3000" spc="-35" dirty="0"/>
              <a:t> </a:t>
            </a:r>
            <a:r>
              <a:rPr sz="3000" spc="-5" dirty="0"/>
              <a:t>planning?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4490" y="2030095"/>
            <a:ext cx="8552180" cy="17348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b="1" spc="-5" dirty="0">
                <a:latin typeface="Arial"/>
                <a:cs typeface="Arial"/>
              </a:rPr>
              <a:t>Management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function that involves: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Clr>
                <a:srgbClr val="0000FF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Defining</a:t>
            </a:r>
            <a:r>
              <a:rPr sz="2400" spc="-10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organization’s</a:t>
            </a:r>
            <a:r>
              <a:rPr sz="2400" spc="-10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433FF"/>
                </a:solidFill>
                <a:latin typeface="Arial"/>
                <a:cs typeface="Arial"/>
              </a:rPr>
              <a:t>goals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0000FF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Establishing </a:t>
            </a:r>
            <a:r>
              <a:rPr sz="2400" b="1" spc="-5" dirty="0">
                <a:solidFill>
                  <a:srgbClr val="0433FF"/>
                </a:solidFill>
                <a:latin typeface="Arial"/>
                <a:cs typeface="Arial"/>
              </a:rPr>
              <a:t>strategies</a:t>
            </a:r>
            <a:r>
              <a:rPr sz="2400" b="1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for</a:t>
            </a:r>
            <a:r>
              <a:rPr sz="2400" dirty="0">
                <a:solidFill>
                  <a:srgbClr val="0433FF"/>
                </a:solidFill>
                <a:latin typeface="Arial MT"/>
                <a:cs typeface="Arial MT"/>
              </a:rPr>
              <a:t> achieving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those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433FF"/>
                </a:solidFill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0000FF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433FF"/>
                </a:solidFill>
                <a:latin typeface="Arial MT"/>
                <a:cs typeface="Arial MT"/>
              </a:rPr>
              <a:t>Developing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0433FF"/>
                </a:solidFill>
                <a:latin typeface="Arial"/>
                <a:cs typeface="Arial"/>
              </a:rPr>
              <a:t>plans</a:t>
            </a:r>
            <a:r>
              <a:rPr sz="2400" b="1" spc="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integrate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433FF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coordinate</a:t>
            </a:r>
            <a:r>
              <a:rPr sz="2400" spc="5" dirty="0">
                <a:solidFill>
                  <a:srgbClr val="0433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433FF"/>
                </a:solidFill>
                <a:latin typeface="Arial MT"/>
                <a:cs typeface="Arial MT"/>
              </a:rPr>
              <a:t>work </a:t>
            </a:r>
            <a:r>
              <a:rPr sz="2400" spc="-5" dirty="0">
                <a:solidFill>
                  <a:srgbClr val="0433FF"/>
                </a:solidFill>
                <a:latin typeface="Arial MT"/>
                <a:cs typeface="Arial MT"/>
              </a:rPr>
              <a:t>activities.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875" y="1"/>
            <a:ext cx="2905123" cy="18738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7581" y="6449208"/>
            <a:ext cx="161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4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872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Goal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39" y="1583423"/>
            <a:ext cx="7205980" cy="176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155" marR="2217420" indent="-339090">
              <a:lnSpc>
                <a:spcPct val="1181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Goal </a:t>
            </a:r>
            <a:r>
              <a:rPr sz="2400" dirty="0">
                <a:latin typeface="Arial MT"/>
                <a:cs typeface="Arial MT"/>
              </a:rPr>
              <a:t>is desired </a:t>
            </a:r>
            <a:r>
              <a:rPr sz="2400" spc="-5" dirty="0">
                <a:latin typeface="Arial MT"/>
                <a:cs typeface="Arial MT"/>
              </a:rPr>
              <a:t>outcome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spc="-5" dirty="0">
                <a:latin typeface="Arial MT"/>
                <a:cs typeface="Arial MT"/>
              </a:rPr>
              <a:t>target. </a:t>
            </a:r>
            <a:r>
              <a:rPr sz="2400" spc="-6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Goals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 be </a:t>
            </a:r>
            <a:r>
              <a:rPr sz="2400" spc="-5" dirty="0">
                <a:latin typeface="Arial MT"/>
                <a:cs typeface="Arial MT"/>
              </a:rPr>
              <a:t>classified: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har char="•"/>
              <a:tabLst>
                <a:tab pos="755015" algn="l"/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content</a:t>
            </a:r>
            <a:r>
              <a:rPr sz="2400" spc="-5" dirty="0">
                <a:latin typeface="Arial MT"/>
                <a:cs typeface="Arial MT"/>
              </a:rPr>
              <a:t>: Financial</a:t>
            </a:r>
            <a:r>
              <a:rPr sz="2400" dirty="0">
                <a:latin typeface="Arial MT"/>
                <a:cs typeface="Arial MT"/>
              </a:rPr>
              <a:t> goals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vs.</a:t>
            </a:r>
            <a:r>
              <a:rPr sz="2400" spc="-5" dirty="0">
                <a:latin typeface="Arial MT"/>
                <a:cs typeface="Arial MT"/>
              </a:rPr>
              <a:t> Strategic </a:t>
            </a:r>
            <a:r>
              <a:rPr sz="240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Char char="•"/>
              <a:tabLst>
                <a:tab pos="755015" algn="l"/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target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audience</a:t>
            </a:r>
            <a:r>
              <a:rPr sz="2400" spc="-5" dirty="0">
                <a:latin typeface="Arial MT"/>
                <a:cs typeface="Arial MT"/>
              </a:rPr>
              <a:t>: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Stated </a:t>
            </a:r>
            <a:r>
              <a:rPr sz="2400" dirty="0">
                <a:latin typeface="Arial MT"/>
                <a:cs typeface="Arial MT"/>
              </a:rPr>
              <a:t>goals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vs.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934" y="3898456"/>
            <a:ext cx="4231064" cy="20865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961184"/>
            <a:ext cx="4181882" cy="20114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7581" y="6449208"/>
            <a:ext cx="161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5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77581" y="6449208"/>
            <a:ext cx="161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8724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Goal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93881" y="1222420"/>
            <a:ext cx="6761480" cy="221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dirty="0">
                <a:latin typeface="Arial MT"/>
                <a:cs typeface="Arial MT"/>
              </a:rPr>
              <a:t>Example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organizational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goals?</a:t>
            </a:r>
            <a:endParaRPr sz="3600">
              <a:latin typeface="Arial MT"/>
              <a:cs typeface="Arial MT"/>
            </a:endParaRPr>
          </a:p>
          <a:p>
            <a:pPr marL="469900" indent="-457200">
              <a:lnSpc>
                <a:spcPts val="4300"/>
              </a:lnSpc>
              <a:buFont typeface="Wingdings"/>
              <a:buChar char=""/>
              <a:tabLst>
                <a:tab pos="469900" algn="l"/>
              </a:tabLst>
            </a:pPr>
            <a:r>
              <a:rPr sz="3600" spc="-5" dirty="0">
                <a:latin typeface="Arial MT"/>
                <a:cs typeface="Arial MT"/>
              </a:rPr>
              <a:t>…..</a:t>
            </a:r>
            <a:endParaRPr sz="3600">
              <a:latin typeface="Arial MT"/>
              <a:cs typeface="Arial MT"/>
            </a:endParaRPr>
          </a:p>
          <a:p>
            <a:pPr marL="469900" indent="-457200">
              <a:lnSpc>
                <a:spcPts val="4300"/>
              </a:lnSpc>
              <a:buFont typeface="Wingdings"/>
              <a:buChar char=""/>
              <a:tabLst>
                <a:tab pos="469900" algn="l"/>
              </a:tabLst>
            </a:pPr>
            <a:r>
              <a:rPr sz="3600" spc="-5" dirty="0">
                <a:latin typeface="Arial MT"/>
                <a:cs typeface="Arial MT"/>
              </a:rPr>
              <a:t>…..</a:t>
            </a:r>
            <a:endParaRPr sz="3600">
              <a:latin typeface="Arial MT"/>
              <a:cs typeface="Arial MT"/>
            </a:endParaRPr>
          </a:p>
          <a:p>
            <a:pPr marL="469900" indent="-457200">
              <a:lnSpc>
                <a:spcPts val="4310"/>
              </a:lnSpc>
              <a:buFont typeface="Wingdings"/>
              <a:buChar char=""/>
              <a:tabLst>
                <a:tab pos="469900" algn="l"/>
              </a:tabLst>
            </a:pPr>
            <a:r>
              <a:rPr sz="3600" spc="-5" dirty="0">
                <a:latin typeface="Arial MT"/>
                <a:cs typeface="Arial MT"/>
              </a:rPr>
              <a:t>…..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138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Goal</a:t>
            </a:r>
            <a:r>
              <a:rPr sz="3000" spc="-40" dirty="0"/>
              <a:t> </a:t>
            </a:r>
            <a:r>
              <a:rPr sz="3000" dirty="0"/>
              <a:t>vs.</a:t>
            </a:r>
            <a:r>
              <a:rPr sz="3000" spc="-35" dirty="0"/>
              <a:t> </a:t>
            </a:r>
            <a:r>
              <a:rPr sz="3000" spc="-5" dirty="0"/>
              <a:t>Purpose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650" y="1540430"/>
            <a:ext cx="6535863" cy="23342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7581" y="6449208"/>
            <a:ext cx="1612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b="1" dirty="0">
                <a:solidFill>
                  <a:srgbClr val="898989"/>
                </a:solidFill>
                <a:latin typeface="Arial"/>
                <a:cs typeface="Arial"/>
              </a:rPr>
              <a:t>7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39" y="498158"/>
            <a:ext cx="4030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985" algn="l"/>
              </a:tabLst>
            </a:pPr>
            <a:r>
              <a:rPr sz="4400" b="0" dirty="0">
                <a:latin typeface="Arial MT"/>
                <a:cs typeface="Arial MT"/>
              </a:rPr>
              <a:t>S</a:t>
            </a:r>
            <a:r>
              <a:rPr sz="4400" b="0" spc="-5" dirty="0">
                <a:latin typeface="Arial MT"/>
                <a:cs typeface="Arial MT"/>
              </a:rPr>
              <a:t>I</a:t>
            </a:r>
            <a:r>
              <a:rPr sz="4400" b="0" dirty="0">
                <a:latin typeface="Arial MT"/>
                <a:cs typeface="Arial MT"/>
              </a:rPr>
              <a:t>M’S	M</a:t>
            </a:r>
            <a:r>
              <a:rPr sz="4400" b="0" spc="-5" dirty="0">
                <a:latin typeface="Arial MT"/>
                <a:cs typeface="Arial MT"/>
              </a:rPr>
              <a:t>I</a:t>
            </a:r>
            <a:r>
              <a:rPr sz="4400" b="0" dirty="0">
                <a:latin typeface="Arial MT"/>
                <a:cs typeface="Arial MT"/>
              </a:rPr>
              <a:t>SS</a:t>
            </a:r>
            <a:r>
              <a:rPr sz="4400" b="0" spc="-5" dirty="0">
                <a:latin typeface="Arial MT"/>
                <a:cs typeface="Arial MT"/>
              </a:rPr>
              <a:t>IO</a:t>
            </a:r>
            <a:r>
              <a:rPr sz="4400" b="0" dirty="0">
                <a:latin typeface="Arial MT"/>
                <a:cs typeface="Arial MT"/>
              </a:rPr>
              <a:t>N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524" y="1450658"/>
            <a:ext cx="7406640" cy="199643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dirty="0">
                <a:latin typeface="Arial MT"/>
                <a:cs typeface="Arial MT"/>
              </a:rPr>
              <a:t>Khoa </a:t>
            </a:r>
            <a:r>
              <a:rPr sz="2600" spc="-5" dirty="0">
                <a:latin typeface="Arial MT"/>
                <a:cs typeface="Arial MT"/>
              </a:rPr>
              <a:t>QLCN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tạo ra </a:t>
            </a: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giá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trị về tri </a:t>
            </a: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thức cho cộng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đồ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ng/xã </a:t>
            </a: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hộ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i</a:t>
            </a: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hông qua s</a:t>
            </a:r>
            <a:r>
              <a:rPr sz="2600" spc="-860" dirty="0">
                <a:latin typeface="Arial MT"/>
                <a:cs typeface="Arial MT"/>
              </a:rPr>
              <a:t>ự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</a:t>
            </a:r>
            <a:r>
              <a:rPr sz="2600" spc="-1155" dirty="0">
                <a:latin typeface="Arial MT"/>
                <a:cs typeface="Arial MT"/>
              </a:rPr>
              <a:t>ế</a:t>
            </a:r>
            <a:r>
              <a:rPr sz="2600" dirty="0">
                <a:latin typeface="Arial MT"/>
                <a:cs typeface="Arial MT"/>
              </a:rPr>
              <a:t>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</a:t>
            </a:r>
            <a:r>
              <a:rPr sz="2600" spc="-894" dirty="0">
                <a:latin typeface="Arial MT"/>
                <a:cs typeface="Arial MT"/>
              </a:rPr>
              <a:t>ợ</a:t>
            </a:r>
            <a:r>
              <a:rPr sz="2600" dirty="0">
                <a:latin typeface="Arial MT"/>
                <a:cs typeface="Arial MT"/>
              </a:rPr>
              <a:t>p các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ho</a:t>
            </a:r>
            <a:r>
              <a:rPr sz="2600" spc="-1155" dirty="0">
                <a:latin typeface="Arial MT"/>
                <a:cs typeface="Arial MT"/>
              </a:rPr>
              <a:t>ạ</a:t>
            </a:r>
            <a:r>
              <a:rPr sz="2600" dirty="0">
                <a:latin typeface="Arial MT"/>
                <a:cs typeface="Arial MT"/>
              </a:rPr>
              <a:t>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1155" dirty="0">
                <a:latin typeface="Arial MT"/>
                <a:cs typeface="Arial MT"/>
              </a:rPr>
              <a:t>độ</a:t>
            </a:r>
            <a:r>
              <a:rPr sz="2600" dirty="0">
                <a:latin typeface="Arial MT"/>
                <a:cs typeface="Arial MT"/>
              </a:rPr>
              <a:t>ng  Sáng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spc="-1155" dirty="0">
                <a:latin typeface="Arial MT"/>
                <a:cs typeface="Arial MT"/>
              </a:rPr>
              <a:t>ạ</a:t>
            </a:r>
            <a:r>
              <a:rPr sz="2600" dirty="0">
                <a:latin typeface="Arial MT"/>
                <a:cs typeface="Arial MT"/>
              </a:rPr>
              <a:t>o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ri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h</a:t>
            </a:r>
            <a:r>
              <a:rPr sz="2600" spc="-865" dirty="0">
                <a:latin typeface="Arial MT"/>
                <a:cs typeface="Arial MT"/>
              </a:rPr>
              <a:t>ứ</a:t>
            </a:r>
            <a:r>
              <a:rPr sz="2600" dirty="0">
                <a:latin typeface="Arial MT"/>
                <a:cs typeface="Arial MT"/>
              </a:rPr>
              <a:t>c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(Nghiên c</a:t>
            </a:r>
            <a:r>
              <a:rPr sz="2600" spc="-865" dirty="0">
                <a:latin typeface="Arial MT"/>
                <a:cs typeface="Arial MT"/>
              </a:rPr>
              <a:t>ứ</a:t>
            </a:r>
            <a:r>
              <a:rPr sz="2600" dirty="0">
                <a:latin typeface="Arial MT"/>
                <a:cs typeface="Arial MT"/>
              </a:rPr>
              <a:t>u khoa h</a:t>
            </a:r>
            <a:r>
              <a:rPr sz="2600" spc="-1155" dirty="0">
                <a:latin typeface="Arial MT"/>
                <a:cs typeface="Arial MT"/>
              </a:rPr>
              <a:t>ọ</a:t>
            </a:r>
            <a:r>
              <a:rPr sz="2600" dirty="0">
                <a:latin typeface="Arial MT"/>
                <a:cs typeface="Arial MT"/>
              </a:rPr>
              <a:t>c),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Chuy</a:t>
            </a:r>
            <a:r>
              <a:rPr sz="2600" spc="-1155" dirty="0">
                <a:latin typeface="Arial MT"/>
                <a:cs typeface="Arial MT"/>
              </a:rPr>
              <a:t>ể</a:t>
            </a:r>
            <a:r>
              <a:rPr sz="2600" dirty="0">
                <a:latin typeface="Arial MT"/>
                <a:cs typeface="Arial MT"/>
              </a:rPr>
              <a:t>n  giao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ri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h</a:t>
            </a:r>
            <a:r>
              <a:rPr sz="2600" spc="-865" dirty="0">
                <a:latin typeface="Arial MT"/>
                <a:cs typeface="Arial MT"/>
              </a:rPr>
              <a:t>ứ</a:t>
            </a:r>
            <a:r>
              <a:rPr sz="2600" dirty="0">
                <a:latin typeface="Arial MT"/>
                <a:cs typeface="Arial MT"/>
              </a:rPr>
              <a:t>c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spc="-725" dirty="0">
                <a:latin typeface="Arial MT"/>
                <a:cs typeface="Arial MT"/>
              </a:rPr>
              <a:t>Đ</a:t>
            </a:r>
            <a:r>
              <a:rPr sz="2600" dirty="0">
                <a:latin typeface="Arial MT"/>
                <a:cs typeface="Arial MT"/>
              </a:rPr>
              <a:t>ào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spc="-1155" dirty="0">
                <a:latin typeface="Arial MT"/>
                <a:cs typeface="Arial MT"/>
              </a:rPr>
              <a:t>ạ</a:t>
            </a:r>
            <a:r>
              <a:rPr sz="2600" dirty="0">
                <a:latin typeface="Arial MT"/>
                <a:cs typeface="Arial MT"/>
              </a:rPr>
              <a:t>o)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và S</a:t>
            </a:r>
            <a:r>
              <a:rPr sz="2600" spc="-860" dirty="0">
                <a:latin typeface="Arial MT"/>
                <a:cs typeface="Arial MT"/>
              </a:rPr>
              <a:t>ử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</a:t>
            </a:r>
            <a:r>
              <a:rPr sz="2600" spc="-1155" dirty="0">
                <a:latin typeface="Arial MT"/>
                <a:cs typeface="Arial MT"/>
              </a:rPr>
              <a:t>ụ</a:t>
            </a:r>
            <a:r>
              <a:rPr sz="2600" dirty="0">
                <a:latin typeface="Arial MT"/>
                <a:cs typeface="Arial MT"/>
              </a:rPr>
              <a:t>ng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ri 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dirty="0">
                <a:latin typeface="Arial MT"/>
                <a:cs typeface="Arial MT"/>
              </a:rPr>
              <a:t>h</a:t>
            </a:r>
            <a:r>
              <a:rPr sz="2600" spc="-865" dirty="0">
                <a:latin typeface="Arial MT"/>
                <a:cs typeface="Arial MT"/>
              </a:rPr>
              <a:t>ứ</a:t>
            </a:r>
            <a:r>
              <a:rPr sz="2600" dirty="0">
                <a:latin typeface="Arial MT"/>
                <a:cs typeface="Arial MT"/>
              </a:rPr>
              <a:t>c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spc="-5" dirty="0">
                <a:latin typeface="Arial MT"/>
                <a:cs typeface="Arial MT"/>
              </a:rPr>
              <a:t>T</a:t>
            </a:r>
            <a:r>
              <a:rPr sz="2600" spc="-860" dirty="0">
                <a:latin typeface="Arial MT"/>
                <a:cs typeface="Arial MT"/>
              </a:rPr>
              <a:t>ư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</a:t>
            </a:r>
            <a:r>
              <a:rPr sz="2600" spc="-1155" dirty="0">
                <a:latin typeface="Arial MT"/>
                <a:cs typeface="Arial MT"/>
              </a:rPr>
              <a:t>ấ</a:t>
            </a:r>
            <a:r>
              <a:rPr sz="2600" dirty="0">
                <a:latin typeface="Arial MT"/>
                <a:cs typeface="Arial MT"/>
              </a:rPr>
              <a:t>n  &amp; </a:t>
            </a:r>
            <a:r>
              <a:rPr sz="2600" spc="-380" dirty="0">
                <a:latin typeface="Arial MT"/>
                <a:cs typeface="Arial MT"/>
              </a:rPr>
              <a:t>Ứ</a:t>
            </a:r>
            <a:r>
              <a:rPr sz="2600" dirty="0">
                <a:latin typeface="Arial MT"/>
                <a:cs typeface="Arial MT"/>
              </a:rPr>
              <a:t>ng d</a:t>
            </a:r>
            <a:r>
              <a:rPr sz="2600" spc="-1155" dirty="0">
                <a:latin typeface="Arial MT"/>
                <a:cs typeface="Arial MT"/>
              </a:rPr>
              <a:t>ụ</a:t>
            </a:r>
            <a:r>
              <a:rPr sz="2600" dirty="0">
                <a:latin typeface="Arial MT"/>
                <a:cs typeface="Arial MT"/>
              </a:rPr>
              <a:t>ng)</a:t>
            </a:r>
            <a:r>
              <a:rPr sz="2600" spc="-5" dirty="0">
                <a:latin typeface="Arial MT"/>
                <a:cs typeface="Arial MT"/>
              </a:rPr>
              <a:t> t</a:t>
            </a:r>
            <a:r>
              <a:rPr sz="2600" dirty="0">
                <a:latin typeface="Arial MT"/>
                <a:cs typeface="Arial MT"/>
              </a:rPr>
              <a:t>rong l</a:t>
            </a:r>
            <a:r>
              <a:rPr sz="2600" spc="-1885" dirty="0">
                <a:latin typeface="Arial MT"/>
                <a:cs typeface="Arial MT"/>
              </a:rPr>
              <a:t>ĩ</a:t>
            </a:r>
            <a:r>
              <a:rPr sz="2600" dirty="0">
                <a:latin typeface="Arial MT"/>
                <a:cs typeface="Arial MT"/>
              </a:rPr>
              <a:t>nh v</a:t>
            </a:r>
            <a:r>
              <a:rPr sz="2600" spc="-865" dirty="0">
                <a:latin typeface="Arial MT"/>
                <a:cs typeface="Arial MT"/>
              </a:rPr>
              <a:t>ự</a:t>
            </a:r>
            <a:r>
              <a:rPr sz="2600" dirty="0">
                <a:latin typeface="Arial MT"/>
                <a:cs typeface="Arial MT"/>
              </a:rPr>
              <a:t>c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qu</a:t>
            </a:r>
            <a:r>
              <a:rPr sz="2600" spc="-1155" dirty="0">
                <a:latin typeface="Arial MT"/>
                <a:cs typeface="Arial MT"/>
              </a:rPr>
              <a:t>ả</a:t>
            </a:r>
            <a:r>
              <a:rPr sz="2600" dirty="0">
                <a:latin typeface="Arial MT"/>
                <a:cs typeface="Arial MT"/>
              </a:rPr>
              <a:t>n lý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2545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SMART</a:t>
            </a:r>
            <a:r>
              <a:rPr sz="3000" spc="-85" dirty="0"/>
              <a:t> </a:t>
            </a:r>
            <a:r>
              <a:rPr sz="3000" spc="-5" dirty="0"/>
              <a:t>Goals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1990" y="1071221"/>
            <a:ext cx="6236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" dirty="0">
                <a:latin typeface="Arial MT"/>
                <a:cs typeface="Arial MT"/>
              </a:rPr>
              <a:t> the advantages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SMART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" y="1673562"/>
            <a:ext cx="8401048" cy="42005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335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/>
              <a:t>Well-Written</a:t>
            </a:r>
            <a:r>
              <a:rPr sz="3000" spc="-35" dirty="0"/>
              <a:t> </a:t>
            </a:r>
            <a:r>
              <a:rPr sz="3000" spc="-5" dirty="0"/>
              <a:t>goals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011" y="1795734"/>
            <a:ext cx="8429623" cy="26818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1550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Strategy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28763" y="1188577"/>
            <a:ext cx="8396605" cy="304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66700" indent="-342900">
              <a:lnSpc>
                <a:spcPct val="99700"/>
              </a:lnSpc>
              <a:spcBef>
                <a:spcPts val="105"/>
              </a:spcBef>
              <a:buSzPct val="109090"/>
              <a:buFont typeface="Wingdings"/>
              <a:buChar char=""/>
              <a:tabLst>
                <a:tab pos="440055" algn="l"/>
                <a:tab pos="440690" algn="l"/>
              </a:tabLst>
            </a:pPr>
            <a:r>
              <a:rPr dirty="0"/>
              <a:t>	</a:t>
            </a:r>
            <a:r>
              <a:rPr sz="2200" b="1" spc="-5" dirty="0">
                <a:solidFill>
                  <a:srgbClr val="376092"/>
                </a:solidFill>
                <a:latin typeface="Arial"/>
                <a:cs typeface="Arial"/>
              </a:rPr>
              <a:t>Strategy </a:t>
            </a:r>
            <a:r>
              <a:rPr sz="2200" dirty="0">
                <a:latin typeface="Arial MT"/>
                <a:cs typeface="Arial MT"/>
              </a:rPr>
              <a:t>is a </a:t>
            </a:r>
            <a:r>
              <a:rPr sz="2200" spc="-5" dirty="0">
                <a:latin typeface="Arial MT"/>
                <a:cs typeface="Arial MT"/>
              </a:rPr>
              <a:t>unified, </a:t>
            </a:r>
            <a:r>
              <a:rPr sz="2200" dirty="0">
                <a:latin typeface="Arial MT"/>
                <a:cs typeface="Arial MT"/>
              </a:rPr>
              <a:t>comprehensive, and </a:t>
            </a:r>
            <a:r>
              <a:rPr sz="2200" spc="-5" dirty="0">
                <a:latin typeface="Arial MT"/>
                <a:cs typeface="Arial MT"/>
              </a:rPr>
              <a:t>integrated </a:t>
            </a:r>
            <a:r>
              <a:rPr sz="2200" b="1" spc="-5" dirty="0">
                <a:latin typeface="Arial"/>
                <a:cs typeface="Arial"/>
              </a:rPr>
              <a:t>plan 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elating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strategic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advantages</a:t>
            </a:r>
            <a:r>
              <a:rPr sz="2200" dirty="0">
                <a:latin typeface="Arial MT"/>
                <a:cs typeface="Arial MT"/>
              </a:rPr>
              <a:t> of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firm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challenges of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environment. It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designed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ensure </a:t>
            </a:r>
            <a:r>
              <a:rPr sz="2200" spc="-5" dirty="0">
                <a:latin typeface="Arial MT"/>
                <a:cs typeface="Arial MT"/>
              </a:rPr>
              <a:t>that the</a:t>
            </a:r>
            <a:r>
              <a:rPr sz="2200" dirty="0">
                <a:latin typeface="Arial MT"/>
                <a:cs typeface="Arial MT"/>
              </a:rPr>
              <a:t> basic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objectives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of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the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enterprise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are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achieved </a:t>
            </a:r>
            <a:r>
              <a:rPr sz="2200" spc="-5" dirty="0">
                <a:latin typeface="Arial MT"/>
                <a:cs typeface="Arial MT"/>
              </a:rPr>
              <a:t>(Glueck,</a:t>
            </a:r>
            <a:r>
              <a:rPr sz="2200" dirty="0">
                <a:latin typeface="Arial MT"/>
                <a:cs typeface="Arial MT"/>
              </a:rPr>
              <a:t> 1980)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"/>
            </a:pPr>
            <a:endParaRPr sz="2300">
              <a:latin typeface="Arial MT"/>
              <a:cs typeface="Arial MT"/>
            </a:endParaRPr>
          </a:p>
          <a:p>
            <a:pPr marL="355600" marR="5080" indent="-342900">
              <a:lnSpc>
                <a:spcPct val="99700"/>
              </a:lnSpc>
              <a:buClr>
                <a:srgbClr val="376092"/>
              </a:buClr>
              <a:buFont typeface="Wingdings"/>
              <a:buChar char=""/>
              <a:tabLst>
                <a:tab pos="355600" algn="l"/>
              </a:tabLst>
            </a:pPr>
            <a:r>
              <a:rPr sz="2200" b="1" spc="-5" dirty="0">
                <a:solidFill>
                  <a:srgbClr val="4675A3"/>
                </a:solidFill>
                <a:latin typeface="Arial"/>
                <a:cs typeface="Arial"/>
              </a:rPr>
              <a:t>Strategy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are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42021"/>
                </a:solidFill>
                <a:latin typeface="Arial"/>
                <a:cs typeface="Arial"/>
              </a:rPr>
              <a:t>plan</a:t>
            </a:r>
            <a:r>
              <a:rPr sz="2200" b="1" spc="5" dirty="0">
                <a:solidFill>
                  <a:srgbClr val="242021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for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how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organization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will do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whatever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242021"/>
                </a:solidFill>
                <a:latin typeface="Arial MT"/>
                <a:cs typeface="Arial MT"/>
              </a:rPr>
              <a:t>it’s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in business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to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do, how it will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compete </a:t>
            </a:r>
            <a:r>
              <a:rPr sz="2200" spc="-15" dirty="0">
                <a:solidFill>
                  <a:srgbClr val="242021"/>
                </a:solidFill>
                <a:latin typeface="Arial MT"/>
                <a:cs typeface="Arial MT"/>
              </a:rPr>
              <a:t>successfully,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and how it </a:t>
            </a:r>
            <a:r>
              <a:rPr sz="2200" spc="-600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will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attract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and</a:t>
            </a:r>
            <a:r>
              <a:rPr sz="2200" spc="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satisfy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its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customers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order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achieve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its</a:t>
            </a:r>
            <a:r>
              <a:rPr sz="2200" b="1" spc="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goals </a:t>
            </a:r>
            <a:r>
              <a:rPr sz="2200" b="1" spc="-595" dirty="0"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(Robbin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and </a:t>
            </a:r>
            <a:r>
              <a:rPr sz="2200" spc="-20" dirty="0">
                <a:solidFill>
                  <a:srgbClr val="242021"/>
                </a:solidFill>
                <a:latin typeface="Arial MT"/>
                <a:cs typeface="Arial MT"/>
              </a:rPr>
              <a:t>Coulter,</a:t>
            </a:r>
            <a:r>
              <a:rPr sz="2200" spc="-5" dirty="0">
                <a:solidFill>
                  <a:srgbClr val="24202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42021"/>
                </a:solidFill>
                <a:latin typeface="Arial MT"/>
                <a:cs typeface="Arial MT"/>
              </a:rPr>
              <a:t>2017)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1550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Strategy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743989" y="1808018"/>
            <a:ext cx="2506345" cy="1056005"/>
            <a:chOff x="743989" y="1808018"/>
            <a:chExt cx="2506345" cy="1056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989" y="1808018"/>
              <a:ext cx="2506286" cy="10557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228" y="2094807"/>
              <a:ext cx="939338" cy="4862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8275" y="1828800"/>
              <a:ext cx="2417445" cy="967105"/>
            </a:xfrm>
            <a:custGeom>
              <a:avLst/>
              <a:gdLst/>
              <a:ahLst/>
              <a:cxnLst/>
              <a:rect l="l" t="t" r="r" b="b"/>
              <a:pathLst>
                <a:path w="2417445" h="967105">
                  <a:moveTo>
                    <a:pt x="2417378" y="0"/>
                  </a:moveTo>
                  <a:lnTo>
                    <a:pt x="0" y="0"/>
                  </a:lnTo>
                  <a:lnTo>
                    <a:pt x="0" y="966952"/>
                  </a:lnTo>
                  <a:lnTo>
                    <a:pt x="2417378" y="966952"/>
                  </a:lnTo>
                  <a:lnTo>
                    <a:pt x="2417378" y="0"/>
                  </a:lnTo>
                  <a:close/>
                </a:path>
              </a:pathLst>
            </a:custGeom>
            <a:solidFill>
              <a:srgbClr val="A5C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8275" y="1826173"/>
            <a:ext cx="2417445" cy="9671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L="80772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GOAL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58046" y="1799705"/>
            <a:ext cx="2506345" cy="1060450"/>
            <a:chOff x="5158046" y="1799705"/>
            <a:chExt cx="2506345" cy="106045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046" y="1799705"/>
              <a:ext cx="2506286" cy="10598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1585" y="1924396"/>
              <a:ext cx="1999211" cy="8146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02620" y="1823546"/>
              <a:ext cx="2417445" cy="967105"/>
            </a:xfrm>
            <a:custGeom>
              <a:avLst/>
              <a:gdLst/>
              <a:ahLst/>
              <a:cxnLst/>
              <a:rect l="l" t="t" r="r" b="b"/>
              <a:pathLst>
                <a:path w="2417445" h="967105">
                  <a:moveTo>
                    <a:pt x="2417377" y="0"/>
                  </a:moveTo>
                  <a:lnTo>
                    <a:pt x="0" y="0"/>
                  </a:lnTo>
                  <a:lnTo>
                    <a:pt x="0" y="966951"/>
                  </a:lnTo>
                  <a:lnTo>
                    <a:pt x="2417377" y="966951"/>
                  </a:lnTo>
                  <a:lnTo>
                    <a:pt x="2417377" y="0"/>
                  </a:lnTo>
                  <a:close/>
                </a:path>
              </a:pathLst>
            </a:custGeom>
            <a:solidFill>
              <a:srgbClr val="A5C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02621" y="1826173"/>
            <a:ext cx="2417445" cy="96710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923925" marR="272415" indent="-639445">
              <a:lnSpc>
                <a:spcPts val="2600"/>
              </a:lnSpc>
              <a:spcBef>
                <a:spcPts val="1265"/>
              </a:spcBef>
            </a:pPr>
            <a:r>
              <a:rPr sz="2200" b="1" spc="-45" dirty="0">
                <a:latin typeface="Arial"/>
                <a:cs typeface="Arial"/>
              </a:rPr>
              <a:t>WHAT </a:t>
            </a:r>
            <a:r>
              <a:rPr sz="2200" b="1" spc="-20" dirty="0">
                <a:latin typeface="Arial"/>
                <a:cs typeface="Arial"/>
              </a:rPr>
              <a:t>TO </a:t>
            </a:r>
            <a:r>
              <a:rPr sz="2200" b="1" spc="-5" dirty="0">
                <a:latin typeface="Arial"/>
                <a:cs typeface="Arial"/>
              </a:rPr>
              <a:t>DO/ </a:t>
            </a:r>
            <a:r>
              <a:rPr sz="2200" b="1" spc="-60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ACT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13611" y="4542904"/>
            <a:ext cx="2506345" cy="1060450"/>
            <a:chOff x="2913611" y="4542904"/>
            <a:chExt cx="2506345" cy="10604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3611" y="4542904"/>
              <a:ext cx="2506286" cy="10598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3774" y="4667595"/>
              <a:ext cx="1957646" cy="81464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58661" y="4566744"/>
              <a:ext cx="2417445" cy="967105"/>
            </a:xfrm>
            <a:custGeom>
              <a:avLst/>
              <a:gdLst/>
              <a:ahLst/>
              <a:cxnLst/>
              <a:rect l="l" t="t" r="r" b="b"/>
              <a:pathLst>
                <a:path w="2417445" h="967104">
                  <a:moveTo>
                    <a:pt x="2417377" y="0"/>
                  </a:moveTo>
                  <a:lnTo>
                    <a:pt x="0" y="0"/>
                  </a:lnTo>
                  <a:lnTo>
                    <a:pt x="0" y="966951"/>
                  </a:lnTo>
                  <a:lnTo>
                    <a:pt x="2417377" y="966951"/>
                  </a:lnTo>
                  <a:lnTo>
                    <a:pt x="2417377" y="0"/>
                  </a:lnTo>
                  <a:close/>
                </a:path>
              </a:pathLst>
            </a:custGeom>
            <a:solidFill>
              <a:srgbClr val="A5C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252061" y="4702239"/>
            <a:ext cx="1837055" cy="6908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113030">
              <a:lnSpc>
                <a:spcPts val="2600"/>
              </a:lnSpc>
              <a:spcBef>
                <a:spcPts val="219"/>
              </a:spcBef>
            </a:pPr>
            <a:r>
              <a:rPr sz="2200" b="1" spc="-5" dirty="0">
                <a:latin typeface="Arial"/>
                <a:cs typeface="Arial"/>
              </a:rPr>
              <a:t>RESOURCE </a:t>
            </a:r>
            <a:r>
              <a:rPr sz="2200" b="1" dirty="0">
                <a:latin typeface="Arial"/>
                <a:cs typeface="Arial"/>
              </a:rPr>
              <a:t> ALLOC</a:t>
            </a:r>
            <a:r>
              <a:rPr sz="2200" b="1" spc="-165" dirty="0">
                <a:latin typeface="Arial"/>
                <a:cs typeface="Arial"/>
              </a:rPr>
              <a:t>A</a:t>
            </a:r>
            <a:r>
              <a:rPr sz="2200" b="1" dirty="0">
                <a:latin typeface="Arial"/>
                <a:cs typeface="Arial"/>
              </a:rPr>
              <a:t>TION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37112" y="2165465"/>
            <a:ext cx="4630420" cy="3063240"/>
            <a:chOff x="1837112" y="2165465"/>
            <a:chExt cx="4630420" cy="306324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8835" y="2165465"/>
              <a:ext cx="2202872" cy="3200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05655" y="2306790"/>
              <a:ext cx="1971675" cy="5715"/>
            </a:xfrm>
            <a:custGeom>
              <a:avLst/>
              <a:gdLst/>
              <a:ahLst/>
              <a:cxnLst/>
              <a:rect l="l" t="t" r="r" b="b"/>
              <a:pathLst>
                <a:path w="1971675" h="5714">
                  <a:moveTo>
                    <a:pt x="0" y="5485"/>
                  </a:moveTo>
                  <a:lnTo>
                    <a:pt x="1971674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26423" y="2268832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0" y="0"/>
                  </a:moveTo>
                  <a:lnTo>
                    <a:pt x="212" y="76200"/>
                  </a:lnTo>
                  <a:lnTo>
                    <a:pt x="76306" y="37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16236" y="2759825"/>
              <a:ext cx="1251065" cy="24688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86619" y="2790497"/>
              <a:ext cx="1024890" cy="2237105"/>
            </a:xfrm>
            <a:custGeom>
              <a:avLst/>
              <a:gdLst/>
              <a:ahLst/>
              <a:cxnLst/>
              <a:rect l="l" t="t" r="r" b="b"/>
              <a:pathLst>
                <a:path w="1024889" h="2237104">
                  <a:moveTo>
                    <a:pt x="1024690" y="0"/>
                  </a:moveTo>
                  <a:lnTo>
                    <a:pt x="0" y="223663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73140" y="4965075"/>
              <a:ext cx="69850" cy="85725"/>
            </a:xfrm>
            <a:custGeom>
              <a:avLst/>
              <a:gdLst/>
              <a:ahLst/>
              <a:cxnLst/>
              <a:rect l="l" t="t" r="r" b="b"/>
              <a:pathLst>
                <a:path w="69850" h="85725">
                  <a:moveTo>
                    <a:pt x="0" y="0"/>
                  </a:moveTo>
                  <a:lnTo>
                    <a:pt x="2900" y="85144"/>
                  </a:lnTo>
                  <a:lnTo>
                    <a:pt x="69275" y="31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7112" y="2655916"/>
              <a:ext cx="1180407" cy="246472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06932" y="2819116"/>
              <a:ext cx="951865" cy="2231390"/>
            </a:xfrm>
            <a:custGeom>
              <a:avLst/>
              <a:gdLst/>
              <a:ahLst/>
              <a:cxnLst/>
              <a:rect l="l" t="t" r="r" b="b"/>
              <a:pathLst>
                <a:path w="951864" h="2231390">
                  <a:moveTo>
                    <a:pt x="951729" y="223110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91819" y="2795752"/>
              <a:ext cx="70485" cy="85090"/>
            </a:xfrm>
            <a:custGeom>
              <a:avLst/>
              <a:gdLst/>
              <a:ahLst/>
              <a:cxnLst/>
              <a:rect l="l" t="t" r="r" b="b"/>
              <a:pathLst>
                <a:path w="70485" h="85089">
                  <a:moveTo>
                    <a:pt x="5146" y="0"/>
                  </a:moveTo>
                  <a:lnTo>
                    <a:pt x="0" y="85037"/>
                  </a:lnTo>
                  <a:lnTo>
                    <a:pt x="70088" y="55139"/>
                  </a:lnTo>
                  <a:lnTo>
                    <a:pt x="5146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82994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P</a:t>
            </a:r>
            <a:r>
              <a:rPr sz="3000" spc="-5" dirty="0"/>
              <a:t>l</a:t>
            </a:r>
            <a:r>
              <a:rPr sz="3000" dirty="0"/>
              <a:t>an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1990" y="1163177"/>
            <a:ext cx="8213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Plan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document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outlining</a:t>
            </a:r>
            <a:r>
              <a:rPr sz="2400" dirty="0">
                <a:latin typeface="Arial MT"/>
                <a:cs typeface="Arial MT"/>
              </a:rPr>
              <a:t> how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going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be </a:t>
            </a:r>
            <a:r>
              <a:rPr sz="2400" spc="-5" dirty="0">
                <a:latin typeface="Arial MT"/>
                <a:cs typeface="Arial MT"/>
              </a:rPr>
              <a:t>met: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8405" y="1842869"/>
            <a:ext cx="1719363" cy="42928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57384" y="6411024"/>
            <a:ext cx="25914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i="1" spc="-5" dirty="0">
                <a:latin typeface="Arial"/>
                <a:cs typeface="Arial"/>
              </a:rPr>
              <a:t>Four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elements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of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5" dirty="0">
                <a:latin typeface="Arial"/>
                <a:cs typeface="Arial"/>
              </a:rPr>
              <a:t>plan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82994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P</a:t>
            </a:r>
            <a:r>
              <a:rPr sz="3000" spc="-5" dirty="0"/>
              <a:t>l</a:t>
            </a:r>
            <a:r>
              <a:rPr sz="3000" dirty="0"/>
              <a:t>an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89" y="2570953"/>
            <a:ext cx="8889409" cy="3086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0864" y="1"/>
            <a:ext cx="2613595" cy="15081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461097"/>
            <a:ext cx="3877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The</a:t>
            </a:r>
            <a:r>
              <a:rPr sz="3000" spc="-25" dirty="0"/>
              <a:t> </a:t>
            </a:r>
            <a:r>
              <a:rPr sz="3000" spc="-5" dirty="0"/>
              <a:t>roles</a:t>
            </a:r>
            <a:r>
              <a:rPr sz="3000" spc="-20" dirty="0"/>
              <a:t> </a:t>
            </a:r>
            <a:r>
              <a:rPr sz="3000" spc="-5" dirty="0"/>
              <a:t>of</a:t>
            </a:r>
            <a:r>
              <a:rPr sz="3000" spc="-25" dirty="0"/>
              <a:t> </a:t>
            </a:r>
            <a:r>
              <a:rPr sz="3000" spc="-5" dirty="0"/>
              <a:t>planning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485306" y="5708553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98989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7495" y="3615843"/>
            <a:ext cx="1971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PROVIDES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DIRECTION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5958" y="5346240"/>
            <a:ext cx="353885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SETS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STANDARDS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CONTROLLING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08833" y="1677785"/>
            <a:ext cx="3669029" cy="3597910"/>
            <a:chOff x="2808833" y="1677785"/>
            <a:chExt cx="3669029" cy="35979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8833" y="1677785"/>
              <a:ext cx="3668434" cy="35973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701" y="3027361"/>
              <a:ext cx="1099759" cy="10997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3155" y="3348506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39" h="370839">
                  <a:moveTo>
                    <a:pt x="240433" y="316467"/>
                  </a:moveTo>
                  <a:lnTo>
                    <a:pt x="178653" y="316467"/>
                  </a:lnTo>
                  <a:lnTo>
                    <a:pt x="228687" y="367004"/>
                  </a:lnTo>
                  <a:lnTo>
                    <a:pt x="231237" y="369051"/>
                  </a:lnTo>
                  <a:lnTo>
                    <a:pt x="233285" y="370076"/>
                  </a:lnTo>
                  <a:lnTo>
                    <a:pt x="235313" y="370578"/>
                  </a:lnTo>
                  <a:lnTo>
                    <a:pt x="236860" y="370578"/>
                  </a:lnTo>
                  <a:lnTo>
                    <a:pt x="238385" y="369553"/>
                  </a:lnTo>
                  <a:lnTo>
                    <a:pt x="239408" y="367526"/>
                  </a:lnTo>
                  <a:lnTo>
                    <a:pt x="239910" y="365478"/>
                  </a:lnTo>
                  <a:lnTo>
                    <a:pt x="240433" y="362405"/>
                  </a:lnTo>
                  <a:lnTo>
                    <a:pt x="240433" y="316467"/>
                  </a:lnTo>
                  <a:close/>
                </a:path>
                <a:path w="370839" h="370839">
                  <a:moveTo>
                    <a:pt x="320061" y="0"/>
                  </a:moveTo>
                  <a:lnTo>
                    <a:pt x="309841" y="0"/>
                  </a:lnTo>
                  <a:lnTo>
                    <a:pt x="287395" y="1023"/>
                  </a:lnTo>
                  <a:lnTo>
                    <a:pt x="244007" y="11222"/>
                  </a:lnTo>
                  <a:lnTo>
                    <a:pt x="234811" y="15821"/>
                  </a:lnTo>
                  <a:lnTo>
                    <a:pt x="230212" y="17868"/>
                  </a:lnTo>
                  <a:lnTo>
                    <a:pt x="226639" y="20920"/>
                  </a:lnTo>
                  <a:lnTo>
                    <a:pt x="222563" y="23470"/>
                  </a:lnTo>
                  <a:lnTo>
                    <a:pt x="115869" y="130164"/>
                  </a:lnTo>
                  <a:lnTo>
                    <a:pt x="8171" y="130164"/>
                  </a:lnTo>
                  <a:lnTo>
                    <a:pt x="5120" y="130666"/>
                  </a:lnTo>
                  <a:lnTo>
                    <a:pt x="3072" y="131189"/>
                  </a:lnTo>
                  <a:lnTo>
                    <a:pt x="1023" y="132213"/>
                  </a:lnTo>
                  <a:lnTo>
                    <a:pt x="0" y="133738"/>
                  </a:lnTo>
                  <a:lnTo>
                    <a:pt x="0" y="135265"/>
                  </a:lnTo>
                  <a:lnTo>
                    <a:pt x="521" y="137312"/>
                  </a:lnTo>
                  <a:lnTo>
                    <a:pt x="1545" y="139340"/>
                  </a:lnTo>
                  <a:lnTo>
                    <a:pt x="3573" y="141911"/>
                  </a:lnTo>
                  <a:lnTo>
                    <a:pt x="54109" y="191924"/>
                  </a:lnTo>
                  <a:lnTo>
                    <a:pt x="47484" y="198570"/>
                  </a:lnTo>
                  <a:lnTo>
                    <a:pt x="11744" y="209271"/>
                  </a:lnTo>
                  <a:lnTo>
                    <a:pt x="11744" y="211320"/>
                  </a:lnTo>
                  <a:lnTo>
                    <a:pt x="152109" y="355258"/>
                  </a:lnTo>
                  <a:lnTo>
                    <a:pt x="159257" y="358832"/>
                  </a:lnTo>
                  <a:lnTo>
                    <a:pt x="161306" y="358832"/>
                  </a:lnTo>
                  <a:lnTo>
                    <a:pt x="172027" y="323114"/>
                  </a:lnTo>
                  <a:lnTo>
                    <a:pt x="178653" y="316467"/>
                  </a:lnTo>
                  <a:lnTo>
                    <a:pt x="240433" y="316467"/>
                  </a:lnTo>
                  <a:lnTo>
                    <a:pt x="240433" y="258784"/>
                  </a:lnTo>
                  <a:lnTo>
                    <a:pt x="119965" y="258784"/>
                  </a:lnTo>
                  <a:lnTo>
                    <a:pt x="117916" y="258282"/>
                  </a:lnTo>
                  <a:lnTo>
                    <a:pt x="116391" y="257258"/>
                  </a:lnTo>
                  <a:lnTo>
                    <a:pt x="113319" y="254207"/>
                  </a:lnTo>
                  <a:lnTo>
                    <a:pt x="112295" y="252660"/>
                  </a:lnTo>
                  <a:lnTo>
                    <a:pt x="111793" y="250633"/>
                  </a:lnTo>
                  <a:lnTo>
                    <a:pt x="111793" y="246536"/>
                  </a:lnTo>
                  <a:lnTo>
                    <a:pt x="112295" y="244509"/>
                  </a:lnTo>
                  <a:lnTo>
                    <a:pt x="113319" y="242962"/>
                  </a:lnTo>
                  <a:lnTo>
                    <a:pt x="114866" y="241437"/>
                  </a:lnTo>
                  <a:lnTo>
                    <a:pt x="167952" y="188351"/>
                  </a:lnTo>
                  <a:lnTo>
                    <a:pt x="171002" y="186302"/>
                  </a:lnTo>
                  <a:lnTo>
                    <a:pt x="175078" y="185299"/>
                  </a:lnTo>
                  <a:lnTo>
                    <a:pt x="309828" y="185299"/>
                  </a:lnTo>
                  <a:lnTo>
                    <a:pt x="336888" y="158234"/>
                  </a:lnTo>
                  <a:lnTo>
                    <a:pt x="269003" y="158234"/>
                  </a:lnTo>
                  <a:lnTo>
                    <a:pt x="265951" y="157732"/>
                  </a:lnTo>
                  <a:lnTo>
                    <a:pt x="217464" y="112797"/>
                  </a:lnTo>
                  <a:lnTo>
                    <a:pt x="212343" y="101574"/>
                  </a:lnTo>
                  <a:lnTo>
                    <a:pt x="212865" y="97999"/>
                  </a:lnTo>
                  <a:lnTo>
                    <a:pt x="240934" y="66357"/>
                  </a:lnTo>
                  <a:lnTo>
                    <a:pt x="248584" y="61758"/>
                  </a:lnTo>
                  <a:lnTo>
                    <a:pt x="252158" y="59711"/>
                  </a:lnTo>
                  <a:lnTo>
                    <a:pt x="256254" y="58185"/>
                  </a:lnTo>
                  <a:lnTo>
                    <a:pt x="260852" y="57161"/>
                  </a:lnTo>
                  <a:lnTo>
                    <a:pt x="264928" y="56659"/>
                  </a:lnTo>
                  <a:lnTo>
                    <a:pt x="370577" y="56659"/>
                  </a:lnTo>
                  <a:lnTo>
                    <a:pt x="370577" y="50535"/>
                  </a:lnTo>
                  <a:lnTo>
                    <a:pt x="363952" y="12247"/>
                  </a:lnTo>
                  <a:lnTo>
                    <a:pt x="329760" y="501"/>
                  </a:lnTo>
                  <a:lnTo>
                    <a:pt x="320061" y="0"/>
                  </a:lnTo>
                  <a:close/>
                </a:path>
                <a:path w="370839" h="370839">
                  <a:moveTo>
                    <a:pt x="309828" y="185299"/>
                  </a:moveTo>
                  <a:lnTo>
                    <a:pt x="175078" y="185299"/>
                  </a:lnTo>
                  <a:lnTo>
                    <a:pt x="177126" y="185800"/>
                  </a:lnTo>
                  <a:lnTo>
                    <a:pt x="178653" y="186302"/>
                  </a:lnTo>
                  <a:lnTo>
                    <a:pt x="185299" y="195498"/>
                  </a:lnTo>
                  <a:lnTo>
                    <a:pt x="184274" y="199574"/>
                  </a:lnTo>
                  <a:lnTo>
                    <a:pt x="182227" y="202646"/>
                  </a:lnTo>
                  <a:lnTo>
                    <a:pt x="127614" y="257258"/>
                  </a:lnTo>
                  <a:lnTo>
                    <a:pt x="126089" y="258282"/>
                  </a:lnTo>
                  <a:lnTo>
                    <a:pt x="124040" y="258784"/>
                  </a:lnTo>
                  <a:lnTo>
                    <a:pt x="240433" y="258784"/>
                  </a:lnTo>
                  <a:lnTo>
                    <a:pt x="240433" y="254708"/>
                  </a:lnTo>
                  <a:lnTo>
                    <a:pt x="309828" y="185299"/>
                  </a:lnTo>
                  <a:close/>
                </a:path>
                <a:path w="370839" h="370839">
                  <a:moveTo>
                    <a:pt x="370577" y="56659"/>
                  </a:moveTo>
                  <a:lnTo>
                    <a:pt x="273601" y="56659"/>
                  </a:lnTo>
                  <a:lnTo>
                    <a:pt x="277676" y="57161"/>
                  </a:lnTo>
                  <a:lnTo>
                    <a:pt x="282275" y="58185"/>
                  </a:lnTo>
                  <a:lnTo>
                    <a:pt x="286371" y="59711"/>
                  </a:lnTo>
                  <a:lnTo>
                    <a:pt x="289944" y="61758"/>
                  </a:lnTo>
                  <a:lnTo>
                    <a:pt x="294020" y="63807"/>
                  </a:lnTo>
                  <a:lnTo>
                    <a:pt x="308818" y="80652"/>
                  </a:lnTo>
                  <a:lnTo>
                    <a:pt x="310866" y="84226"/>
                  </a:lnTo>
                  <a:lnTo>
                    <a:pt x="312392" y="88301"/>
                  </a:lnTo>
                  <a:lnTo>
                    <a:pt x="313415" y="92900"/>
                  </a:lnTo>
                  <a:lnTo>
                    <a:pt x="313938" y="96975"/>
                  </a:lnTo>
                  <a:lnTo>
                    <a:pt x="313938" y="105670"/>
                  </a:lnTo>
                  <a:lnTo>
                    <a:pt x="313415" y="109745"/>
                  </a:lnTo>
                  <a:lnTo>
                    <a:pt x="312392" y="114343"/>
                  </a:lnTo>
                  <a:lnTo>
                    <a:pt x="310866" y="118419"/>
                  </a:lnTo>
                  <a:lnTo>
                    <a:pt x="308818" y="121993"/>
                  </a:lnTo>
                  <a:lnTo>
                    <a:pt x="306791" y="126069"/>
                  </a:lnTo>
                  <a:lnTo>
                    <a:pt x="278199" y="155182"/>
                  </a:lnTo>
                  <a:lnTo>
                    <a:pt x="269003" y="158234"/>
                  </a:lnTo>
                  <a:lnTo>
                    <a:pt x="336888" y="158234"/>
                  </a:lnTo>
                  <a:lnTo>
                    <a:pt x="347107" y="148035"/>
                  </a:lnTo>
                  <a:lnTo>
                    <a:pt x="349656" y="143937"/>
                  </a:lnTo>
                  <a:lnTo>
                    <a:pt x="352729" y="139862"/>
                  </a:lnTo>
                  <a:lnTo>
                    <a:pt x="368028" y="94425"/>
                  </a:lnTo>
                  <a:lnTo>
                    <a:pt x="370531" y="61758"/>
                  </a:lnTo>
                  <a:lnTo>
                    <a:pt x="370577" y="566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1850" y="3609862"/>
              <a:ext cx="100548" cy="1005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43757" y="3063516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131691" y="0"/>
                  </a:moveTo>
                  <a:lnTo>
                    <a:pt x="92900" y="6123"/>
                  </a:lnTo>
                  <a:lnTo>
                    <a:pt x="58186" y="22467"/>
                  </a:lnTo>
                  <a:lnTo>
                    <a:pt x="22447" y="58186"/>
                  </a:lnTo>
                  <a:lnTo>
                    <a:pt x="15821" y="69430"/>
                  </a:lnTo>
                  <a:lnTo>
                    <a:pt x="12749" y="75031"/>
                  </a:lnTo>
                  <a:lnTo>
                    <a:pt x="1526" y="111794"/>
                  </a:lnTo>
                  <a:lnTo>
                    <a:pt x="0" y="125065"/>
                  </a:lnTo>
                  <a:lnTo>
                    <a:pt x="0" y="138838"/>
                  </a:lnTo>
                  <a:lnTo>
                    <a:pt x="8152" y="177628"/>
                  </a:lnTo>
                  <a:lnTo>
                    <a:pt x="30116" y="215917"/>
                  </a:lnTo>
                  <a:lnTo>
                    <a:pt x="63285" y="245010"/>
                  </a:lnTo>
                  <a:lnTo>
                    <a:pt x="99024" y="259807"/>
                  </a:lnTo>
                  <a:lnTo>
                    <a:pt x="125045" y="263904"/>
                  </a:lnTo>
                  <a:lnTo>
                    <a:pt x="138838" y="263904"/>
                  </a:lnTo>
                  <a:lnTo>
                    <a:pt x="183230" y="253683"/>
                  </a:lnTo>
                  <a:lnTo>
                    <a:pt x="202475" y="243485"/>
                  </a:lnTo>
                  <a:lnTo>
                    <a:pt x="131691" y="243485"/>
                  </a:lnTo>
                  <a:lnTo>
                    <a:pt x="120446" y="242962"/>
                  </a:lnTo>
                  <a:lnTo>
                    <a:pt x="78605" y="230212"/>
                  </a:lnTo>
                  <a:lnTo>
                    <a:pt x="45938" y="202646"/>
                  </a:lnTo>
                  <a:lnTo>
                    <a:pt x="25519" y="165381"/>
                  </a:lnTo>
                  <a:lnTo>
                    <a:pt x="20420" y="132213"/>
                  </a:lnTo>
                  <a:lnTo>
                    <a:pt x="20920" y="120468"/>
                  </a:lnTo>
                  <a:lnTo>
                    <a:pt x="33690" y="79127"/>
                  </a:lnTo>
                  <a:lnTo>
                    <a:pt x="61236" y="45938"/>
                  </a:lnTo>
                  <a:lnTo>
                    <a:pt x="98502" y="25519"/>
                  </a:lnTo>
                  <a:lnTo>
                    <a:pt x="131691" y="20420"/>
                  </a:lnTo>
                  <a:lnTo>
                    <a:pt x="201947" y="20420"/>
                  </a:lnTo>
                  <a:lnTo>
                    <a:pt x="188852" y="13271"/>
                  </a:lnTo>
                  <a:lnTo>
                    <a:pt x="158234" y="3072"/>
                  </a:lnTo>
                  <a:lnTo>
                    <a:pt x="152110" y="1526"/>
                  </a:lnTo>
                  <a:lnTo>
                    <a:pt x="131691" y="0"/>
                  </a:lnTo>
                  <a:close/>
                </a:path>
                <a:path w="264160" h="264160">
                  <a:moveTo>
                    <a:pt x="201947" y="20420"/>
                  </a:moveTo>
                  <a:lnTo>
                    <a:pt x="131691" y="20420"/>
                  </a:lnTo>
                  <a:lnTo>
                    <a:pt x="143416" y="21443"/>
                  </a:lnTo>
                  <a:lnTo>
                    <a:pt x="154138" y="22969"/>
                  </a:lnTo>
                  <a:lnTo>
                    <a:pt x="193951" y="39814"/>
                  </a:lnTo>
                  <a:lnTo>
                    <a:pt x="224068" y="69931"/>
                  </a:lnTo>
                  <a:lnTo>
                    <a:pt x="240913" y="109745"/>
                  </a:lnTo>
                  <a:lnTo>
                    <a:pt x="243464" y="132213"/>
                  </a:lnTo>
                  <a:lnTo>
                    <a:pt x="242962" y="143437"/>
                  </a:lnTo>
                  <a:lnTo>
                    <a:pt x="229690" y="185299"/>
                  </a:lnTo>
                  <a:lnTo>
                    <a:pt x="202646" y="217966"/>
                  </a:lnTo>
                  <a:lnTo>
                    <a:pt x="164859" y="238385"/>
                  </a:lnTo>
                  <a:lnTo>
                    <a:pt x="131691" y="243485"/>
                  </a:lnTo>
                  <a:lnTo>
                    <a:pt x="202475" y="243485"/>
                  </a:lnTo>
                  <a:lnTo>
                    <a:pt x="233766" y="215917"/>
                  </a:lnTo>
                  <a:lnTo>
                    <a:pt x="253161" y="183250"/>
                  </a:lnTo>
                  <a:lnTo>
                    <a:pt x="255732" y="177628"/>
                  </a:lnTo>
                  <a:lnTo>
                    <a:pt x="257760" y="171505"/>
                  </a:lnTo>
                  <a:lnTo>
                    <a:pt x="259807" y="164880"/>
                  </a:lnTo>
                  <a:lnTo>
                    <a:pt x="260832" y="158756"/>
                  </a:lnTo>
                  <a:lnTo>
                    <a:pt x="262357" y="152110"/>
                  </a:lnTo>
                  <a:lnTo>
                    <a:pt x="263883" y="132213"/>
                  </a:lnTo>
                  <a:lnTo>
                    <a:pt x="263381" y="125065"/>
                  </a:lnTo>
                  <a:lnTo>
                    <a:pt x="262357" y="111794"/>
                  </a:lnTo>
                  <a:lnTo>
                    <a:pt x="260832" y="105670"/>
                  </a:lnTo>
                  <a:lnTo>
                    <a:pt x="259807" y="99024"/>
                  </a:lnTo>
                  <a:lnTo>
                    <a:pt x="241437" y="58186"/>
                  </a:lnTo>
                  <a:lnTo>
                    <a:pt x="205698" y="22467"/>
                  </a:lnTo>
                  <a:lnTo>
                    <a:pt x="201947" y="20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4376" y="3094136"/>
              <a:ext cx="315442" cy="3226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9621" y="4183560"/>
              <a:ext cx="453117" cy="3548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945" y="2420056"/>
              <a:ext cx="418587" cy="47258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8898" y="2961216"/>
            <a:ext cx="2205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REDUCES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UNCERTAINTY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3162" y="1402568"/>
            <a:ext cx="33674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MINIMIZES</a:t>
            </a:r>
            <a:r>
              <a:rPr sz="1400" b="1" spc="-20" dirty="0">
                <a:latin typeface="Arial"/>
                <a:cs typeface="Arial"/>
              </a:rPr>
              <a:t> WASTE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REDUNDANCY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764539" y="1633221"/>
            <a:ext cx="7760970" cy="3512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378460" indent="-342900">
              <a:lnSpc>
                <a:spcPct val="99200"/>
              </a:lnSpc>
              <a:spcBef>
                <a:spcPts val="125"/>
              </a:spcBef>
              <a:buFont typeface="Wingdings"/>
              <a:buChar char=""/>
              <a:tabLst>
                <a:tab pos="355600" algn="l"/>
              </a:tabLst>
            </a:pPr>
            <a:r>
              <a:rPr sz="2800" b="1" spc="-20" dirty="0">
                <a:latin typeface="Arial"/>
                <a:cs typeface="Arial"/>
              </a:rPr>
              <a:t>Traditional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goal-setting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–top </a:t>
            </a:r>
            <a:r>
              <a:rPr sz="2800" dirty="0">
                <a:latin typeface="Arial MT"/>
                <a:cs typeface="Arial MT"/>
              </a:rPr>
              <a:t>managers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 then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flow</a:t>
            </a:r>
            <a:r>
              <a:rPr sz="2800" dirty="0">
                <a:latin typeface="Arial MT"/>
                <a:cs typeface="Arial MT"/>
              </a:rPr>
              <a:t> down </a:t>
            </a:r>
            <a:r>
              <a:rPr sz="2800" spc="-5" dirty="0">
                <a:latin typeface="Arial MT"/>
                <a:cs typeface="Arial MT"/>
              </a:rPr>
              <a:t>through the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become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sub-goals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organizational </a:t>
            </a:r>
            <a:r>
              <a:rPr sz="2800" dirty="0">
                <a:latin typeface="Arial MT"/>
                <a:cs typeface="Arial MT"/>
              </a:rPr>
              <a:t>area.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99500"/>
              </a:lnSpc>
              <a:spcBef>
                <a:spcPts val="730"/>
              </a:spcBef>
              <a:buFont typeface="Wingdings"/>
              <a:buChar char=""/>
              <a:tabLst>
                <a:tab pos="355600" algn="l"/>
                <a:tab pos="3931920" algn="l"/>
              </a:tabLst>
            </a:pPr>
            <a:r>
              <a:rPr sz="2800" b="1" spc="-5" dirty="0">
                <a:latin typeface="Arial"/>
                <a:cs typeface="Arial"/>
              </a:rPr>
              <a:t>Means-ends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chain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	an </a:t>
            </a:r>
            <a:r>
              <a:rPr sz="2800" spc="-5" dirty="0">
                <a:latin typeface="Arial MT"/>
                <a:cs typeface="Arial MT"/>
              </a:rPr>
              <a:t>integrated network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 in which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accomplishment of goals at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 level serves as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means </a:t>
            </a:r>
            <a:r>
              <a:rPr sz="2800" spc="-5" dirty="0">
                <a:latin typeface="Arial MT"/>
                <a:cs typeface="Arial MT"/>
              </a:rPr>
              <a:t>for </a:t>
            </a:r>
            <a:r>
              <a:rPr sz="2800" dirty="0">
                <a:latin typeface="Arial MT"/>
                <a:cs typeface="Arial MT"/>
              </a:rPr>
              <a:t>achieving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goals,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ends,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next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7739" y="5956537"/>
            <a:ext cx="6792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The Downside of </a:t>
            </a:r>
            <a:r>
              <a:rPr sz="1800" b="1" spc="-5" dirty="0">
                <a:latin typeface="Calibri"/>
                <a:cs typeface="Calibri"/>
              </a:rPr>
              <a:t>Traditional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Goal-Setting</a:t>
            </a:r>
            <a:r>
              <a:rPr sz="1800" b="1" dirty="0">
                <a:latin typeface="Calibri"/>
                <a:cs typeface="Calibri"/>
              </a:rPr>
              <a:t> –</a:t>
            </a:r>
            <a:r>
              <a:rPr sz="1800" b="1" spc="-5" dirty="0">
                <a:latin typeface="Calibri"/>
                <a:cs typeface="Calibri"/>
              </a:rPr>
              <a:t> Robbins</a:t>
            </a:r>
            <a:r>
              <a:rPr sz="1800" b="1" dirty="0">
                <a:latin typeface="Calibri"/>
                <a:cs typeface="Calibri"/>
              </a:rPr>
              <a:t> and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Counter </a:t>
            </a:r>
            <a:r>
              <a:rPr sz="1800" b="1" spc="-5" dirty="0">
                <a:latin typeface="Calibri"/>
                <a:cs typeface="Calibri"/>
              </a:rPr>
              <a:t>(2017)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295" y="1611090"/>
            <a:ext cx="8120488" cy="40747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125220"/>
            <a:ext cx="7823834" cy="366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69900" marR="5080" indent="-457200">
              <a:lnSpc>
                <a:spcPts val="3100"/>
              </a:lnSpc>
              <a:spcBef>
                <a:spcPts val="219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b="1" spc="-5" dirty="0">
                <a:latin typeface="Arial"/>
                <a:cs typeface="Arial"/>
              </a:rPr>
              <a:t>Management by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objectives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(MBO)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 </a:t>
            </a:r>
            <a:r>
              <a:rPr sz="2600" spc="-5" dirty="0">
                <a:latin typeface="Arial MT"/>
                <a:cs typeface="Arial MT"/>
              </a:rPr>
              <a:t>setting </a:t>
            </a:r>
            <a:r>
              <a:rPr sz="2600" b="1" spc="-5" dirty="0">
                <a:solidFill>
                  <a:srgbClr val="4F81BD"/>
                </a:solidFill>
                <a:latin typeface="Arial"/>
                <a:cs typeface="Arial"/>
              </a:rPr>
              <a:t>mutually agreed upon goals </a:t>
            </a:r>
            <a:r>
              <a:rPr sz="2600" dirty="0">
                <a:latin typeface="Arial MT"/>
                <a:cs typeface="Arial MT"/>
              </a:rPr>
              <a:t>and using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those</a:t>
            </a:r>
            <a:r>
              <a:rPr sz="2600" dirty="0">
                <a:latin typeface="Arial MT"/>
                <a:cs typeface="Arial MT"/>
              </a:rPr>
              <a:t> goals</a:t>
            </a:r>
            <a:r>
              <a:rPr sz="2600" spc="-5" dirty="0">
                <a:latin typeface="Arial MT"/>
                <a:cs typeface="Arial MT"/>
              </a:rPr>
              <a:t> to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evaluate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employee </a:t>
            </a:r>
            <a:r>
              <a:rPr sz="2600" spc="-5" dirty="0">
                <a:latin typeface="Arial MT"/>
                <a:cs typeface="Arial MT"/>
              </a:rPr>
              <a:t>performance.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3100">
              <a:latin typeface="Arial MT"/>
              <a:cs typeface="Arial MT"/>
            </a:endParaRPr>
          </a:p>
          <a:p>
            <a:pPr marL="520700">
              <a:lnSpc>
                <a:spcPct val="100000"/>
              </a:lnSpc>
              <a:spcBef>
                <a:spcPts val="5"/>
              </a:spcBef>
            </a:pPr>
            <a:r>
              <a:rPr sz="2600" b="1" i="1" spc="-5" dirty="0">
                <a:solidFill>
                  <a:srgbClr val="4F81BD"/>
                </a:solidFill>
                <a:latin typeface="Arial"/>
                <a:cs typeface="Arial"/>
              </a:rPr>
              <a:t>Common</a:t>
            </a:r>
            <a:r>
              <a:rPr sz="2600" b="1" i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600" b="1" i="1" spc="-5" dirty="0">
                <a:solidFill>
                  <a:srgbClr val="4F81BD"/>
                </a:solidFill>
                <a:latin typeface="Arial"/>
                <a:cs typeface="Arial"/>
              </a:rPr>
              <a:t>elements of</a:t>
            </a:r>
            <a:r>
              <a:rPr sz="2600" b="1" i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600" b="1" i="1" spc="-5" dirty="0">
                <a:solidFill>
                  <a:srgbClr val="4F81BD"/>
                </a:solidFill>
                <a:latin typeface="Arial"/>
                <a:cs typeface="Arial"/>
              </a:rPr>
              <a:t>MBO:</a:t>
            </a:r>
            <a:endParaRPr sz="2600">
              <a:latin typeface="Arial"/>
              <a:cs typeface="Arial"/>
            </a:endParaRPr>
          </a:p>
          <a:p>
            <a:pPr marL="758825" lvl="1" indent="-288925">
              <a:lnSpc>
                <a:spcPts val="3110"/>
              </a:lnSpc>
              <a:spcBef>
                <a:spcPts val="55"/>
              </a:spcBef>
              <a:buChar char="•"/>
              <a:tabLst>
                <a:tab pos="758190" algn="l"/>
                <a:tab pos="758825" algn="l"/>
              </a:tabLst>
            </a:pPr>
            <a:r>
              <a:rPr sz="2600" spc="-5" dirty="0">
                <a:latin typeface="Arial MT"/>
                <a:cs typeface="Arial MT"/>
              </a:rPr>
              <a:t>Goal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specificity</a:t>
            </a:r>
            <a:endParaRPr sz="2600">
              <a:latin typeface="Arial MT"/>
              <a:cs typeface="Arial MT"/>
            </a:endParaRPr>
          </a:p>
          <a:p>
            <a:pPr marL="758825" lvl="1" indent="-288925">
              <a:lnSpc>
                <a:spcPts val="3100"/>
              </a:lnSpc>
              <a:buChar char="•"/>
              <a:tabLst>
                <a:tab pos="758190" algn="l"/>
                <a:tab pos="758825" algn="l"/>
              </a:tabLst>
            </a:pPr>
            <a:r>
              <a:rPr sz="2600" spc="-5" dirty="0">
                <a:latin typeface="Arial MT"/>
                <a:cs typeface="Arial MT"/>
              </a:rPr>
              <a:t>Participative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decision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making</a:t>
            </a:r>
            <a:endParaRPr sz="2600">
              <a:latin typeface="Arial MT"/>
              <a:cs typeface="Arial MT"/>
            </a:endParaRPr>
          </a:p>
          <a:p>
            <a:pPr marL="758825" lvl="1" indent="-288925">
              <a:lnSpc>
                <a:spcPts val="3100"/>
              </a:lnSpc>
              <a:buChar char="•"/>
              <a:tabLst>
                <a:tab pos="758190" algn="l"/>
                <a:tab pos="758825" algn="l"/>
              </a:tabLst>
            </a:pPr>
            <a:r>
              <a:rPr sz="2600" dirty="0">
                <a:latin typeface="Arial MT"/>
                <a:cs typeface="Arial MT"/>
              </a:rPr>
              <a:t>Set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time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period</a:t>
            </a:r>
            <a:endParaRPr sz="2600">
              <a:latin typeface="Arial MT"/>
              <a:cs typeface="Arial MT"/>
            </a:endParaRPr>
          </a:p>
          <a:p>
            <a:pPr marL="758825" lvl="1" indent="-288925">
              <a:lnSpc>
                <a:spcPts val="3110"/>
              </a:lnSpc>
              <a:buChar char="•"/>
              <a:tabLst>
                <a:tab pos="758190" algn="l"/>
                <a:tab pos="758825" algn="l"/>
              </a:tabLst>
            </a:pPr>
            <a:r>
              <a:rPr sz="2600" spc="-5" dirty="0">
                <a:latin typeface="Arial MT"/>
                <a:cs typeface="Arial MT"/>
              </a:rPr>
              <a:t>Performance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feedback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Approaches</a:t>
            </a: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setting</a:t>
            </a:r>
            <a:r>
              <a:rPr sz="3200" b="1" spc="-1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goals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1125220"/>
            <a:ext cx="20180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Steps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MBO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41" y="1877684"/>
            <a:ext cx="8740715" cy="36733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3849" y="2147540"/>
            <a:ext cx="8820150" cy="3810000"/>
            <a:chOff x="323849" y="2147540"/>
            <a:chExt cx="8820150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49" y="2147540"/>
              <a:ext cx="5343523" cy="3809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31218" y="3375356"/>
              <a:ext cx="3912870" cy="431165"/>
            </a:xfrm>
            <a:custGeom>
              <a:avLst/>
              <a:gdLst/>
              <a:ahLst/>
              <a:cxnLst/>
              <a:rect l="l" t="t" r="r" b="b"/>
              <a:pathLst>
                <a:path w="3912870" h="431164">
                  <a:moveTo>
                    <a:pt x="3912779" y="0"/>
                  </a:moveTo>
                  <a:lnTo>
                    <a:pt x="0" y="0"/>
                  </a:lnTo>
                  <a:lnTo>
                    <a:pt x="0" y="430886"/>
                  </a:lnTo>
                  <a:lnTo>
                    <a:pt x="3912779" y="430886"/>
                  </a:lnTo>
                  <a:lnTo>
                    <a:pt x="3912779" y="0"/>
                  </a:lnTo>
                  <a:close/>
                </a:path>
              </a:pathLst>
            </a:custGeom>
            <a:solidFill>
              <a:srgbClr val="ECC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5939" y="1219362"/>
            <a:ext cx="360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Management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objectives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(MBO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309957" y="3408376"/>
            <a:ext cx="373570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5" dirty="0">
                <a:solidFill>
                  <a:srgbClr val="4F81BD"/>
                </a:solidFill>
                <a:latin typeface="Arial"/>
                <a:cs typeface="Arial"/>
              </a:rPr>
              <a:t>Mutually</a:t>
            </a:r>
            <a:r>
              <a:rPr sz="2200" b="1" spc="-20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4F81BD"/>
                </a:solidFill>
                <a:latin typeface="Arial"/>
                <a:cs typeface="Arial"/>
              </a:rPr>
              <a:t>agreed-upon</a:t>
            </a:r>
            <a:r>
              <a:rPr sz="2200" b="1" spc="-2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4F81BD"/>
                </a:solidFill>
                <a:latin typeface="Arial"/>
                <a:cs typeface="Arial"/>
              </a:rPr>
              <a:t>goals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2867" y="2818518"/>
            <a:ext cx="2754368" cy="20446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39" y="990600"/>
            <a:ext cx="5602605" cy="472948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advantages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MBO: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60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 MT"/>
                <a:cs typeface="Arial MT"/>
              </a:rPr>
              <a:t>Identify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job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tasks</a:t>
            </a:r>
            <a:endParaRPr sz="2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specific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challenging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340"/>
              </a:spcBef>
            </a:pPr>
            <a:r>
              <a:rPr sz="2800" dirty="0">
                <a:latin typeface="Arial MT"/>
                <a:cs typeface="Arial MT"/>
              </a:rPr>
              <a:t>goals</a:t>
            </a:r>
            <a:endParaRPr sz="2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rgbClr val="4F81BD"/>
                </a:solidFill>
                <a:latin typeface="Arial"/>
                <a:cs typeface="Arial"/>
              </a:rPr>
              <a:t>Encourage</a:t>
            </a: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active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participation</a:t>
            </a:r>
            <a:endParaRPr sz="2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Arial MT"/>
                <a:cs typeface="Arial MT"/>
              </a:rPr>
              <a:t>Prioritize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goals</a:t>
            </a:r>
            <a:endParaRPr sz="2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340"/>
              </a:spcBef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Arial MT"/>
                <a:cs typeface="Arial MT"/>
              </a:rPr>
              <a:t>Build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4F81BD"/>
                </a:solidFill>
                <a:latin typeface="Arial"/>
                <a:cs typeface="Arial"/>
              </a:rPr>
              <a:t>feedback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b="1" dirty="0">
                <a:solidFill>
                  <a:srgbClr val="4F81BD"/>
                </a:solidFill>
                <a:latin typeface="Arial"/>
                <a:cs typeface="Arial"/>
              </a:rPr>
              <a:t>Link</a:t>
            </a:r>
            <a:r>
              <a:rPr sz="2800" b="1" spc="-15" dirty="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4F81BD"/>
                </a:solidFill>
                <a:latin typeface="Arial"/>
                <a:cs typeface="Arial"/>
              </a:rPr>
              <a:t>rewards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goal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attainment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6792" y="1326270"/>
            <a:ext cx="5912485" cy="329565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46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problems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with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MBO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220"/>
              </a:spcBef>
              <a:buChar char="•"/>
              <a:tabLst>
                <a:tab pos="469265" algn="l"/>
                <a:tab pos="469900" algn="l"/>
              </a:tabLst>
            </a:pPr>
            <a:r>
              <a:rPr sz="2500" spc="-10" dirty="0">
                <a:latin typeface="Arial MT"/>
                <a:cs typeface="Arial MT"/>
              </a:rPr>
              <a:t>Efforts </a:t>
            </a:r>
            <a:r>
              <a:rPr sz="2500" spc="-5" dirty="0">
                <a:latin typeface="Arial MT"/>
                <a:cs typeface="Arial MT"/>
              </a:rPr>
              <a:t>directed</a:t>
            </a:r>
            <a:r>
              <a:rPr sz="2500" dirty="0">
                <a:latin typeface="Arial MT"/>
                <a:cs typeface="Arial MT"/>
              </a:rPr>
              <a:t> primarily</a:t>
            </a:r>
            <a:r>
              <a:rPr sz="2500" spc="-5" dirty="0">
                <a:latin typeface="Arial MT"/>
                <a:cs typeface="Arial MT"/>
              </a:rPr>
              <a:t> toward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output</a:t>
            </a:r>
            <a:endParaRPr sz="2500">
              <a:latin typeface="Arial MT"/>
              <a:cs typeface="Arial MT"/>
            </a:endParaRPr>
          </a:p>
          <a:p>
            <a:pPr marL="469900" marR="67945" indent="-457200">
              <a:lnSpc>
                <a:spcPct val="140000"/>
              </a:lnSpc>
              <a:buChar char="•"/>
              <a:tabLst>
                <a:tab pos="469265" algn="l"/>
                <a:tab pos="469900" algn="l"/>
              </a:tabLst>
            </a:pPr>
            <a:r>
              <a:rPr sz="2500" dirty="0">
                <a:latin typeface="Arial MT"/>
                <a:cs typeface="Arial MT"/>
              </a:rPr>
              <a:t>Encourage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individual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rather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than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team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efforts</a:t>
            </a:r>
            <a:endParaRPr sz="2500">
              <a:latin typeface="Arial MT"/>
              <a:cs typeface="Arial MT"/>
            </a:endParaRPr>
          </a:p>
          <a:p>
            <a:pPr marL="469900" marR="851535" indent="-457200">
              <a:lnSpc>
                <a:spcPct val="140000"/>
              </a:lnSpc>
              <a:buChar char="•"/>
              <a:tabLst>
                <a:tab pos="469265" algn="l"/>
                <a:tab pos="469900" algn="l"/>
              </a:tabLst>
            </a:pPr>
            <a:r>
              <a:rPr sz="2500" spc="-5" dirty="0">
                <a:latin typeface="Arial MT"/>
                <a:cs typeface="Arial MT"/>
              </a:rPr>
              <a:t>Goals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may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discourage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efforts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for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continuous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improvement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82510"/>
            <a:ext cx="2641600" cy="30733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6407" y="4301836"/>
            <a:ext cx="2473325" cy="2477770"/>
            <a:chOff x="3466407" y="4301836"/>
            <a:chExt cx="2473325" cy="2477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6407" y="4301836"/>
              <a:ext cx="2473036" cy="24771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2948" y="4663439"/>
              <a:ext cx="1691639" cy="17789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1285" y="4325575"/>
              <a:ext cx="2383155" cy="2383155"/>
            </a:xfrm>
            <a:custGeom>
              <a:avLst/>
              <a:gdLst/>
              <a:ahLst/>
              <a:cxnLst/>
              <a:rect l="l" t="t" r="r" b="b"/>
              <a:pathLst>
                <a:path w="2383154" h="2383154">
                  <a:moveTo>
                    <a:pt x="1191578" y="0"/>
                  </a:moveTo>
                  <a:lnTo>
                    <a:pt x="1143654" y="946"/>
                  </a:lnTo>
                  <a:lnTo>
                    <a:pt x="1096209" y="3760"/>
                  </a:lnTo>
                  <a:lnTo>
                    <a:pt x="1049281" y="8408"/>
                  </a:lnTo>
                  <a:lnTo>
                    <a:pt x="1002904" y="14853"/>
                  </a:lnTo>
                  <a:lnTo>
                    <a:pt x="957114" y="23060"/>
                  </a:lnTo>
                  <a:lnTo>
                    <a:pt x="911947" y="32993"/>
                  </a:lnTo>
                  <a:lnTo>
                    <a:pt x="867438" y="44617"/>
                  </a:lnTo>
                  <a:lnTo>
                    <a:pt x="823624" y="57896"/>
                  </a:lnTo>
                  <a:lnTo>
                    <a:pt x="780538" y="72794"/>
                  </a:lnTo>
                  <a:lnTo>
                    <a:pt x="738218" y="89276"/>
                  </a:lnTo>
                  <a:lnTo>
                    <a:pt x="696699" y="107306"/>
                  </a:lnTo>
                  <a:lnTo>
                    <a:pt x="656016" y="126849"/>
                  </a:lnTo>
                  <a:lnTo>
                    <a:pt x="616204" y="147869"/>
                  </a:lnTo>
                  <a:lnTo>
                    <a:pt x="577301" y="170330"/>
                  </a:lnTo>
                  <a:lnTo>
                    <a:pt x="539340" y="194197"/>
                  </a:lnTo>
                  <a:lnTo>
                    <a:pt x="502358" y="219434"/>
                  </a:lnTo>
                  <a:lnTo>
                    <a:pt x="466390" y="246006"/>
                  </a:lnTo>
                  <a:lnTo>
                    <a:pt x="431472" y="273877"/>
                  </a:lnTo>
                  <a:lnTo>
                    <a:pt x="397640" y="303012"/>
                  </a:lnTo>
                  <a:lnTo>
                    <a:pt x="364929" y="333374"/>
                  </a:lnTo>
                  <a:lnTo>
                    <a:pt x="333374" y="364929"/>
                  </a:lnTo>
                  <a:lnTo>
                    <a:pt x="303012" y="397640"/>
                  </a:lnTo>
                  <a:lnTo>
                    <a:pt x="273877" y="431472"/>
                  </a:lnTo>
                  <a:lnTo>
                    <a:pt x="246006" y="466390"/>
                  </a:lnTo>
                  <a:lnTo>
                    <a:pt x="219434" y="502358"/>
                  </a:lnTo>
                  <a:lnTo>
                    <a:pt x="194197" y="539340"/>
                  </a:lnTo>
                  <a:lnTo>
                    <a:pt x="170330" y="577300"/>
                  </a:lnTo>
                  <a:lnTo>
                    <a:pt x="147869" y="616204"/>
                  </a:lnTo>
                  <a:lnTo>
                    <a:pt x="126849" y="656015"/>
                  </a:lnTo>
                  <a:lnTo>
                    <a:pt x="107306" y="696698"/>
                  </a:lnTo>
                  <a:lnTo>
                    <a:pt x="89276" y="738218"/>
                  </a:lnTo>
                  <a:lnTo>
                    <a:pt x="72794" y="780538"/>
                  </a:lnTo>
                  <a:lnTo>
                    <a:pt x="57896" y="823623"/>
                  </a:lnTo>
                  <a:lnTo>
                    <a:pt x="44617" y="867438"/>
                  </a:lnTo>
                  <a:lnTo>
                    <a:pt x="32993" y="911946"/>
                  </a:lnTo>
                  <a:lnTo>
                    <a:pt x="23060" y="957113"/>
                  </a:lnTo>
                  <a:lnTo>
                    <a:pt x="14853" y="1002903"/>
                  </a:lnTo>
                  <a:lnTo>
                    <a:pt x="8408" y="1049280"/>
                  </a:lnTo>
                  <a:lnTo>
                    <a:pt x="3760" y="1096208"/>
                  </a:lnTo>
                  <a:lnTo>
                    <a:pt x="946" y="1143652"/>
                  </a:lnTo>
                  <a:lnTo>
                    <a:pt x="0" y="1191577"/>
                  </a:lnTo>
                  <a:lnTo>
                    <a:pt x="946" y="1239502"/>
                  </a:lnTo>
                  <a:lnTo>
                    <a:pt x="3760" y="1286946"/>
                  </a:lnTo>
                  <a:lnTo>
                    <a:pt x="8408" y="1333874"/>
                  </a:lnTo>
                  <a:lnTo>
                    <a:pt x="14853" y="1380251"/>
                  </a:lnTo>
                  <a:lnTo>
                    <a:pt x="23060" y="1426041"/>
                  </a:lnTo>
                  <a:lnTo>
                    <a:pt x="32993" y="1471208"/>
                  </a:lnTo>
                  <a:lnTo>
                    <a:pt x="44617" y="1515717"/>
                  </a:lnTo>
                  <a:lnTo>
                    <a:pt x="57896" y="1559531"/>
                  </a:lnTo>
                  <a:lnTo>
                    <a:pt x="72794" y="1602616"/>
                  </a:lnTo>
                  <a:lnTo>
                    <a:pt x="89276" y="1644937"/>
                  </a:lnTo>
                  <a:lnTo>
                    <a:pt x="107306" y="1686456"/>
                  </a:lnTo>
                  <a:lnTo>
                    <a:pt x="126849" y="1727139"/>
                  </a:lnTo>
                  <a:lnTo>
                    <a:pt x="147869" y="1766950"/>
                  </a:lnTo>
                  <a:lnTo>
                    <a:pt x="170330" y="1805854"/>
                  </a:lnTo>
                  <a:lnTo>
                    <a:pt x="194197" y="1843815"/>
                  </a:lnTo>
                  <a:lnTo>
                    <a:pt x="219434" y="1880797"/>
                  </a:lnTo>
                  <a:lnTo>
                    <a:pt x="246006" y="1916764"/>
                  </a:lnTo>
                  <a:lnTo>
                    <a:pt x="273877" y="1951682"/>
                  </a:lnTo>
                  <a:lnTo>
                    <a:pt x="303012" y="1985514"/>
                  </a:lnTo>
                  <a:lnTo>
                    <a:pt x="333374" y="2018226"/>
                  </a:lnTo>
                  <a:lnTo>
                    <a:pt x="364929" y="2049780"/>
                  </a:lnTo>
                  <a:lnTo>
                    <a:pt x="397640" y="2080143"/>
                  </a:lnTo>
                  <a:lnTo>
                    <a:pt x="431472" y="2109277"/>
                  </a:lnTo>
                  <a:lnTo>
                    <a:pt x="466390" y="2137148"/>
                  </a:lnTo>
                  <a:lnTo>
                    <a:pt x="502358" y="2163720"/>
                  </a:lnTo>
                  <a:lnTo>
                    <a:pt x="539340" y="2188957"/>
                  </a:lnTo>
                  <a:lnTo>
                    <a:pt x="577301" y="2212825"/>
                  </a:lnTo>
                  <a:lnTo>
                    <a:pt x="616204" y="2235286"/>
                  </a:lnTo>
                  <a:lnTo>
                    <a:pt x="656016" y="2256306"/>
                  </a:lnTo>
                  <a:lnTo>
                    <a:pt x="696699" y="2275848"/>
                  </a:lnTo>
                  <a:lnTo>
                    <a:pt x="738218" y="2293879"/>
                  </a:lnTo>
                  <a:lnTo>
                    <a:pt x="780538" y="2310361"/>
                  </a:lnTo>
                  <a:lnTo>
                    <a:pt x="823624" y="2325259"/>
                  </a:lnTo>
                  <a:lnTo>
                    <a:pt x="867438" y="2338537"/>
                  </a:lnTo>
                  <a:lnTo>
                    <a:pt x="911947" y="2350161"/>
                  </a:lnTo>
                  <a:lnTo>
                    <a:pt x="957114" y="2360094"/>
                  </a:lnTo>
                  <a:lnTo>
                    <a:pt x="1002904" y="2368301"/>
                  </a:lnTo>
                  <a:lnTo>
                    <a:pt x="1049281" y="2374746"/>
                  </a:lnTo>
                  <a:lnTo>
                    <a:pt x="1096209" y="2379394"/>
                  </a:lnTo>
                  <a:lnTo>
                    <a:pt x="1143654" y="2382209"/>
                  </a:lnTo>
                  <a:lnTo>
                    <a:pt x="1191578" y="2383155"/>
                  </a:lnTo>
                  <a:lnTo>
                    <a:pt x="1239503" y="2382209"/>
                  </a:lnTo>
                  <a:lnTo>
                    <a:pt x="1286947" y="2379394"/>
                  </a:lnTo>
                  <a:lnTo>
                    <a:pt x="1333875" y="2374746"/>
                  </a:lnTo>
                  <a:lnTo>
                    <a:pt x="1380252" y="2368301"/>
                  </a:lnTo>
                  <a:lnTo>
                    <a:pt x="1426042" y="2360094"/>
                  </a:lnTo>
                  <a:lnTo>
                    <a:pt x="1471209" y="2350161"/>
                  </a:lnTo>
                  <a:lnTo>
                    <a:pt x="1515718" y="2338537"/>
                  </a:lnTo>
                  <a:lnTo>
                    <a:pt x="1559532" y="2325259"/>
                  </a:lnTo>
                  <a:lnTo>
                    <a:pt x="1602618" y="2310361"/>
                  </a:lnTo>
                  <a:lnTo>
                    <a:pt x="1644938" y="2293879"/>
                  </a:lnTo>
                  <a:lnTo>
                    <a:pt x="1686457" y="2275848"/>
                  </a:lnTo>
                  <a:lnTo>
                    <a:pt x="1727140" y="2256306"/>
                  </a:lnTo>
                  <a:lnTo>
                    <a:pt x="1766951" y="2235286"/>
                  </a:lnTo>
                  <a:lnTo>
                    <a:pt x="1805855" y="2212825"/>
                  </a:lnTo>
                  <a:lnTo>
                    <a:pt x="1843816" y="2188957"/>
                  </a:lnTo>
                  <a:lnTo>
                    <a:pt x="1880798" y="2163720"/>
                  </a:lnTo>
                  <a:lnTo>
                    <a:pt x="1916765" y="2137148"/>
                  </a:lnTo>
                  <a:lnTo>
                    <a:pt x="1951683" y="2109277"/>
                  </a:lnTo>
                  <a:lnTo>
                    <a:pt x="1985515" y="2080143"/>
                  </a:lnTo>
                  <a:lnTo>
                    <a:pt x="2018227" y="2049780"/>
                  </a:lnTo>
                  <a:lnTo>
                    <a:pt x="2049781" y="2018226"/>
                  </a:lnTo>
                  <a:lnTo>
                    <a:pt x="2080144" y="1985514"/>
                  </a:lnTo>
                  <a:lnTo>
                    <a:pt x="2109278" y="1951682"/>
                  </a:lnTo>
                  <a:lnTo>
                    <a:pt x="2137149" y="1916764"/>
                  </a:lnTo>
                  <a:lnTo>
                    <a:pt x="2163721" y="1880797"/>
                  </a:lnTo>
                  <a:lnTo>
                    <a:pt x="2188958" y="1843815"/>
                  </a:lnTo>
                  <a:lnTo>
                    <a:pt x="2212825" y="1805854"/>
                  </a:lnTo>
                  <a:lnTo>
                    <a:pt x="2235287" y="1766950"/>
                  </a:lnTo>
                  <a:lnTo>
                    <a:pt x="2256306" y="1727139"/>
                  </a:lnTo>
                  <a:lnTo>
                    <a:pt x="2275849" y="1686456"/>
                  </a:lnTo>
                  <a:lnTo>
                    <a:pt x="2293879" y="1644937"/>
                  </a:lnTo>
                  <a:lnTo>
                    <a:pt x="2310361" y="1602616"/>
                  </a:lnTo>
                  <a:lnTo>
                    <a:pt x="2325260" y="1559531"/>
                  </a:lnTo>
                  <a:lnTo>
                    <a:pt x="2338538" y="1515717"/>
                  </a:lnTo>
                  <a:lnTo>
                    <a:pt x="2350162" y="1471208"/>
                  </a:lnTo>
                  <a:lnTo>
                    <a:pt x="2360095" y="1426041"/>
                  </a:lnTo>
                  <a:lnTo>
                    <a:pt x="2368302" y="1380251"/>
                  </a:lnTo>
                  <a:lnTo>
                    <a:pt x="2374747" y="1333874"/>
                  </a:lnTo>
                  <a:lnTo>
                    <a:pt x="2379395" y="1286946"/>
                  </a:lnTo>
                  <a:lnTo>
                    <a:pt x="2382210" y="1239502"/>
                  </a:lnTo>
                  <a:lnTo>
                    <a:pt x="2383156" y="1191577"/>
                  </a:lnTo>
                  <a:lnTo>
                    <a:pt x="2382210" y="1143652"/>
                  </a:lnTo>
                  <a:lnTo>
                    <a:pt x="2379395" y="1096208"/>
                  </a:lnTo>
                  <a:lnTo>
                    <a:pt x="2374747" y="1049280"/>
                  </a:lnTo>
                  <a:lnTo>
                    <a:pt x="2368302" y="1002903"/>
                  </a:lnTo>
                  <a:lnTo>
                    <a:pt x="2360095" y="957113"/>
                  </a:lnTo>
                  <a:lnTo>
                    <a:pt x="2350162" y="911946"/>
                  </a:lnTo>
                  <a:lnTo>
                    <a:pt x="2338538" y="867438"/>
                  </a:lnTo>
                  <a:lnTo>
                    <a:pt x="2325260" y="823623"/>
                  </a:lnTo>
                  <a:lnTo>
                    <a:pt x="2310361" y="780538"/>
                  </a:lnTo>
                  <a:lnTo>
                    <a:pt x="2293879" y="738218"/>
                  </a:lnTo>
                  <a:lnTo>
                    <a:pt x="2275849" y="696698"/>
                  </a:lnTo>
                  <a:lnTo>
                    <a:pt x="2256306" y="656015"/>
                  </a:lnTo>
                  <a:lnTo>
                    <a:pt x="2235287" y="616204"/>
                  </a:lnTo>
                  <a:lnTo>
                    <a:pt x="2212825" y="577300"/>
                  </a:lnTo>
                  <a:lnTo>
                    <a:pt x="2188958" y="539340"/>
                  </a:lnTo>
                  <a:lnTo>
                    <a:pt x="2163721" y="502358"/>
                  </a:lnTo>
                  <a:lnTo>
                    <a:pt x="2137149" y="466390"/>
                  </a:lnTo>
                  <a:lnTo>
                    <a:pt x="2109278" y="431472"/>
                  </a:lnTo>
                  <a:lnTo>
                    <a:pt x="2080144" y="397640"/>
                  </a:lnTo>
                  <a:lnTo>
                    <a:pt x="2049781" y="364929"/>
                  </a:lnTo>
                  <a:lnTo>
                    <a:pt x="2018227" y="333374"/>
                  </a:lnTo>
                  <a:lnTo>
                    <a:pt x="1985515" y="303012"/>
                  </a:lnTo>
                  <a:lnTo>
                    <a:pt x="1951683" y="273877"/>
                  </a:lnTo>
                  <a:lnTo>
                    <a:pt x="1916765" y="246006"/>
                  </a:lnTo>
                  <a:lnTo>
                    <a:pt x="1880798" y="219434"/>
                  </a:lnTo>
                  <a:lnTo>
                    <a:pt x="1843816" y="194197"/>
                  </a:lnTo>
                  <a:lnTo>
                    <a:pt x="1805855" y="170330"/>
                  </a:lnTo>
                  <a:lnTo>
                    <a:pt x="1766951" y="147869"/>
                  </a:lnTo>
                  <a:lnTo>
                    <a:pt x="1727140" y="126849"/>
                  </a:lnTo>
                  <a:lnTo>
                    <a:pt x="1686457" y="107306"/>
                  </a:lnTo>
                  <a:lnTo>
                    <a:pt x="1644938" y="89276"/>
                  </a:lnTo>
                  <a:lnTo>
                    <a:pt x="1602618" y="72794"/>
                  </a:lnTo>
                  <a:lnTo>
                    <a:pt x="1559532" y="57896"/>
                  </a:lnTo>
                  <a:lnTo>
                    <a:pt x="1515718" y="44617"/>
                  </a:lnTo>
                  <a:lnTo>
                    <a:pt x="1471209" y="32993"/>
                  </a:lnTo>
                  <a:lnTo>
                    <a:pt x="1426042" y="23060"/>
                  </a:lnTo>
                  <a:lnTo>
                    <a:pt x="1380252" y="14853"/>
                  </a:lnTo>
                  <a:lnTo>
                    <a:pt x="1333875" y="8408"/>
                  </a:lnTo>
                  <a:lnTo>
                    <a:pt x="1286947" y="3760"/>
                  </a:lnTo>
                  <a:lnTo>
                    <a:pt x="1239503" y="946"/>
                  </a:lnTo>
                  <a:lnTo>
                    <a:pt x="1191578" y="0"/>
                  </a:lnTo>
                  <a:close/>
                </a:path>
              </a:pathLst>
            </a:custGeom>
            <a:solidFill>
              <a:srgbClr val="C3E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22938" y="4647583"/>
            <a:ext cx="1566545" cy="16865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algn="ctr">
              <a:lnSpc>
                <a:spcPts val="4200"/>
              </a:lnSpc>
              <a:spcBef>
                <a:spcPts val="640"/>
              </a:spcBef>
            </a:pPr>
            <a:r>
              <a:rPr sz="3900" dirty="0">
                <a:solidFill>
                  <a:srgbClr val="0000FF"/>
                </a:solidFill>
                <a:latin typeface="Arial MT"/>
                <a:cs typeface="Arial MT"/>
              </a:rPr>
              <a:t>MBO </a:t>
            </a:r>
            <a:r>
              <a:rPr sz="3900" spc="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900" spc="-5" dirty="0">
                <a:solidFill>
                  <a:srgbClr val="0000FF"/>
                </a:solidFill>
                <a:latin typeface="Arial MT"/>
                <a:cs typeface="Arial MT"/>
              </a:rPr>
              <a:t>WO</a:t>
            </a:r>
            <a:r>
              <a:rPr sz="3900" dirty="0">
                <a:solidFill>
                  <a:srgbClr val="0000FF"/>
                </a:solidFill>
                <a:latin typeface="Arial MT"/>
                <a:cs typeface="Arial MT"/>
              </a:rPr>
              <a:t>RK  </a:t>
            </a:r>
            <a:r>
              <a:rPr sz="3900" spc="-5" dirty="0">
                <a:solidFill>
                  <a:srgbClr val="0000FF"/>
                </a:solidFill>
                <a:latin typeface="Arial MT"/>
                <a:cs typeface="Arial MT"/>
              </a:rPr>
              <a:t>WHEN</a:t>
            </a:r>
            <a:endParaRPr sz="39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6418" y="4048297"/>
            <a:ext cx="3063240" cy="1430020"/>
            <a:chOff x="436418" y="4048297"/>
            <a:chExt cx="3063240" cy="14300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076" y="4480559"/>
              <a:ext cx="1849582" cy="997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96896" y="4504316"/>
              <a:ext cx="1758950" cy="904875"/>
            </a:xfrm>
            <a:custGeom>
              <a:avLst/>
              <a:gdLst/>
              <a:ahLst/>
              <a:cxnLst/>
              <a:rect l="l" t="t" r="r" b="b"/>
              <a:pathLst>
                <a:path w="1758950" h="904875">
                  <a:moveTo>
                    <a:pt x="108643" y="0"/>
                  </a:moveTo>
                  <a:lnTo>
                    <a:pt x="0" y="392770"/>
                  </a:lnTo>
                  <a:lnTo>
                    <a:pt x="1376707" y="773579"/>
                  </a:lnTo>
                  <a:lnTo>
                    <a:pt x="1340493" y="904502"/>
                  </a:lnTo>
                  <a:lnTo>
                    <a:pt x="1758339" y="667730"/>
                  </a:lnTo>
                  <a:lnTo>
                    <a:pt x="1521566" y="249886"/>
                  </a:lnTo>
                  <a:lnTo>
                    <a:pt x="1485351" y="380809"/>
                  </a:lnTo>
                  <a:lnTo>
                    <a:pt x="108643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418" y="4094018"/>
              <a:ext cx="2626821" cy="125937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520" y="4048297"/>
              <a:ext cx="2032462" cy="13466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4205" y="4115023"/>
              <a:ext cx="2534285" cy="1171575"/>
            </a:xfrm>
            <a:custGeom>
              <a:avLst/>
              <a:gdLst/>
              <a:ahLst/>
              <a:cxnLst/>
              <a:rect l="l" t="t" r="r" b="b"/>
              <a:pathLst>
                <a:path w="2534285" h="1171575">
                  <a:moveTo>
                    <a:pt x="2416888" y="0"/>
                  </a:moveTo>
                  <a:lnTo>
                    <a:pt x="117135" y="0"/>
                  </a:lnTo>
                  <a:lnTo>
                    <a:pt x="71541" y="9205"/>
                  </a:lnTo>
                  <a:lnTo>
                    <a:pt x="34308" y="34308"/>
                  </a:lnTo>
                  <a:lnTo>
                    <a:pt x="9205" y="71541"/>
                  </a:lnTo>
                  <a:lnTo>
                    <a:pt x="0" y="117135"/>
                  </a:lnTo>
                  <a:lnTo>
                    <a:pt x="0" y="1054218"/>
                  </a:lnTo>
                  <a:lnTo>
                    <a:pt x="9205" y="1099812"/>
                  </a:lnTo>
                  <a:lnTo>
                    <a:pt x="34308" y="1137045"/>
                  </a:lnTo>
                  <a:lnTo>
                    <a:pt x="71541" y="1162148"/>
                  </a:lnTo>
                  <a:lnTo>
                    <a:pt x="117135" y="1171354"/>
                  </a:lnTo>
                  <a:lnTo>
                    <a:pt x="2416888" y="1171355"/>
                  </a:lnTo>
                  <a:lnTo>
                    <a:pt x="2462482" y="1162150"/>
                  </a:lnTo>
                  <a:lnTo>
                    <a:pt x="2499715" y="1137047"/>
                  </a:lnTo>
                  <a:lnTo>
                    <a:pt x="2524818" y="1099814"/>
                  </a:lnTo>
                  <a:lnTo>
                    <a:pt x="2534024" y="1054219"/>
                  </a:lnTo>
                  <a:lnTo>
                    <a:pt x="2534024" y="117135"/>
                  </a:lnTo>
                  <a:lnTo>
                    <a:pt x="2524818" y="71541"/>
                  </a:lnTo>
                  <a:lnTo>
                    <a:pt x="2499715" y="34308"/>
                  </a:lnTo>
                  <a:lnTo>
                    <a:pt x="2462482" y="9205"/>
                  </a:lnTo>
                  <a:lnTo>
                    <a:pt x="2416888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9509" y="4053762"/>
            <a:ext cx="1930400" cy="12623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635" algn="ctr">
              <a:lnSpc>
                <a:spcPct val="89600"/>
              </a:lnSpc>
              <a:spcBef>
                <a:spcPts val="375"/>
              </a:spcBef>
            </a:pP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More Difficult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 Goals</a:t>
            </a:r>
            <a:r>
              <a:rPr sz="2200" b="1" spc="-50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Lead</a:t>
            </a:r>
            <a:r>
              <a:rPr sz="2200" b="1" spc="-4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85" dirty="0">
                <a:solidFill>
                  <a:srgbClr val="1F497D"/>
                </a:solidFill>
                <a:latin typeface="Arial"/>
                <a:cs typeface="Arial"/>
              </a:rPr>
              <a:t>To </a:t>
            </a:r>
            <a:r>
              <a:rPr sz="2200" b="1" spc="-59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Higher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Performance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74272" y="1770611"/>
            <a:ext cx="2473325" cy="2656205"/>
            <a:chOff x="1974272" y="1770611"/>
            <a:chExt cx="2473325" cy="265620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4268" y="2497974"/>
              <a:ext cx="1313411" cy="19285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29846" y="2520568"/>
              <a:ext cx="1223645" cy="1835785"/>
            </a:xfrm>
            <a:custGeom>
              <a:avLst/>
              <a:gdLst/>
              <a:ahLst/>
              <a:cxnLst/>
              <a:rect l="l" t="t" r="r" b="b"/>
              <a:pathLst>
                <a:path w="1223645" h="1835785">
                  <a:moveTo>
                    <a:pt x="362474" y="0"/>
                  </a:moveTo>
                  <a:lnTo>
                    <a:pt x="0" y="186235"/>
                  </a:lnTo>
                  <a:lnTo>
                    <a:pt x="739932" y="1626373"/>
                  </a:lnTo>
                  <a:lnTo>
                    <a:pt x="619107" y="1688452"/>
                  </a:lnTo>
                  <a:lnTo>
                    <a:pt x="1076366" y="1835317"/>
                  </a:lnTo>
                  <a:lnTo>
                    <a:pt x="1223230" y="1378057"/>
                  </a:lnTo>
                  <a:lnTo>
                    <a:pt x="1102406" y="1440136"/>
                  </a:lnTo>
                  <a:lnTo>
                    <a:pt x="362474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4272" y="1770611"/>
              <a:ext cx="2473036" cy="173320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7934" y="2111432"/>
              <a:ext cx="2061556" cy="104324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20120" y="1793874"/>
              <a:ext cx="2382520" cy="1640205"/>
            </a:xfrm>
            <a:custGeom>
              <a:avLst/>
              <a:gdLst/>
              <a:ahLst/>
              <a:cxnLst/>
              <a:rect l="l" t="t" r="r" b="b"/>
              <a:pathLst>
                <a:path w="2382520" h="1640204">
                  <a:moveTo>
                    <a:pt x="2217966" y="0"/>
                  </a:moveTo>
                  <a:lnTo>
                    <a:pt x="163962" y="0"/>
                  </a:lnTo>
                  <a:lnTo>
                    <a:pt x="120374" y="5856"/>
                  </a:lnTo>
                  <a:lnTo>
                    <a:pt x="81207" y="22385"/>
                  </a:lnTo>
                  <a:lnTo>
                    <a:pt x="48023" y="48023"/>
                  </a:lnTo>
                  <a:lnTo>
                    <a:pt x="22385" y="81207"/>
                  </a:lnTo>
                  <a:lnTo>
                    <a:pt x="5856" y="120374"/>
                  </a:lnTo>
                  <a:lnTo>
                    <a:pt x="0" y="163962"/>
                  </a:lnTo>
                  <a:lnTo>
                    <a:pt x="0" y="1475661"/>
                  </a:lnTo>
                  <a:lnTo>
                    <a:pt x="5856" y="1519248"/>
                  </a:lnTo>
                  <a:lnTo>
                    <a:pt x="22385" y="1558415"/>
                  </a:lnTo>
                  <a:lnTo>
                    <a:pt x="48023" y="1591599"/>
                  </a:lnTo>
                  <a:lnTo>
                    <a:pt x="81207" y="1617237"/>
                  </a:lnTo>
                  <a:lnTo>
                    <a:pt x="120374" y="1633766"/>
                  </a:lnTo>
                  <a:lnTo>
                    <a:pt x="163962" y="1639623"/>
                  </a:lnTo>
                  <a:lnTo>
                    <a:pt x="2217966" y="1639623"/>
                  </a:lnTo>
                  <a:lnTo>
                    <a:pt x="2261553" y="1633766"/>
                  </a:lnTo>
                  <a:lnTo>
                    <a:pt x="2300720" y="1617237"/>
                  </a:lnTo>
                  <a:lnTo>
                    <a:pt x="2333904" y="1591599"/>
                  </a:lnTo>
                  <a:lnTo>
                    <a:pt x="2359542" y="1558415"/>
                  </a:lnTo>
                  <a:lnTo>
                    <a:pt x="2376071" y="1519248"/>
                  </a:lnTo>
                  <a:lnTo>
                    <a:pt x="2381928" y="1475661"/>
                  </a:lnTo>
                  <a:lnTo>
                    <a:pt x="2381928" y="163962"/>
                  </a:lnTo>
                  <a:lnTo>
                    <a:pt x="2376071" y="120374"/>
                  </a:lnTo>
                  <a:lnTo>
                    <a:pt x="2359542" y="81207"/>
                  </a:lnTo>
                  <a:lnTo>
                    <a:pt x="2333904" y="48023"/>
                  </a:lnTo>
                  <a:lnTo>
                    <a:pt x="2300720" y="22385"/>
                  </a:lnTo>
                  <a:lnTo>
                    <a:pt x="2261553" y="5856"/>
                  </a:lnTo>
                  <a:lnTo>
                    <a:pt x="2217966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38803" y="2117624"/>
            <a:ext cx="1951355" cy="95758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065" marR="5080" algn="ctr">
              <a:lnSpc>
                <a:spcPct val="89000"/>
              </a:lnSpc>
              <a:spcBef>
                <a:spcPts val="390"/>
              </a:spcBef>
            </a:pP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Specific</a:t>
            </a:r>
            <a:r>
              <a:rPr sz="2200" b="1" spc="-6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Goals </a:t>
            </a:r>
            <a:r>
              <a:rPr sz="2200" b="1" spc="-59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Lead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to Better </a:t>
            </a:r>
            <a:r>
              <a:rPr sz="2200" b="1" spc="-600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Results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71753" y="1911927"/>
            <a:ext cx="2917825" cy="2510790"/>
            <a:chOff x="4671753" y="1911927"/>
            <a:chExt cx="2917825" cy="251079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7389" y="2543694"/>
              <a:ext cx="1271846" cy="18786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132759" y="2567104"/>
              <a:ext cx="1181100" cy="1785620"/>
            </a:xfrm>
            <a:custGeom>
              <a:avLst/>
              <a:gdLst/>
              <a:ahLst/>
              <a:cxnLst/>
              <a:rect l="l" t="t" r="r" b="b"/>
              <a:pathLst>
                <a:path w="1181100" h="1785620">
                  <a:moveTo>
                    <a:pt x="816385" y="0"/>
                  </a:moveTo>
                  <a:lnTo>
                    <a:pt x="121514" y="1390648"/>
                  </a:lnTo>
                  <a:lnTo>
                    <a:pt x="0" y="1329930"/>
                  </a:lnTo>
                  <a:lnTo>
                    <a:pt x="151992" y="1785512"/>
                  </a:lnTo>
                  <a:lnTo>
                    <a:pt x="607573" y="1633519"/>
                  </a:lnTo>
                  <a:lnTo>
                    <a:pt x="486058" y="1572801"/>
                  </a:lnTo>
                  <a:lnTo>
                    <a:pt x="1180928" y="182153"/>
                  </a:lnTo>
                  <a:lnTo>
                    <a:pt x="816385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71753" y="1911927"/>
              <a:ext cx="2917766" cy="153785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3726" y="2152996"/>
              <a:ext cx="2477192" cy="104740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18207" y="1934987"/>
              <a:ext cx="2827020" cy="1446530"/>
            </a:xfrm>
            <a:custGeom>
              <a:avLst/>
              <a:gdLst/>
              <a:ahLst/>
              <a:cxnLst/>
              <a:rect l="l" t="t" r="r" b="b"/>
              <a:pathLst>
                <a:path w="2827020" h="1446529">
                  <a:moveTo>
                    <a:pt x="2681778" y="0"/>
                  </a:moveTo>
                  <a:lnTo>
                    <a:pt x="144639" y="0"/>
                  </a:lnTo>
                  <a:lnTo>
                    <a:pt x="98921" y="7373"/>
                  </a:lnTo>
                  <a:lnTo>
                    <a:pt x="59217" y="27907"/>
                  </a:lnTo>
                  <a:lnTo>
                    <a:pt x="27907" y="59217"/>
                  </a:lnTo>
                  <a:lnTo>
                    <a:pt x="7373" y="98921"/>
                  </a:lnTo>
                  <a:lnTo>
                    <a:pt x="0" y="144639"/>
                  </a:lnTo>
                  <a:lnTo>
                    <a:pt x="0" y="1301747"/>
                  </a:lnTo>
                  <a:lnTo>
                    <a:pt x="7373" y="1347464"/>
                  </a:lnTo>
                  <a:lnTo>
                    <a:pt x="27907" y="1387169"/>
                  </a:lnTo>
                  <a:lnTo>
                    <a:pt x="59217" y="1418479"/>
                  </a:lnTo>
                  <a:lnTo>
                    <a:pt x="98921" y="1439012"/>
                  </a:lnTo>
                  <a:lnTo>
                    <a:pt x="144639" y="1446386"/>
                  </a:lnTo>
                  <a:lnTo>
                    <a:pt x="2681778" y="1446386"/>
                  </a:lnTo>
                  <a:lnTo>
                    <a:pt x="2727496" y="1439012"/>
                  </a:lnTo>
                  <a:lnTo>
                    <a:pt x="2767201" y="1418479"/>
                  </a:lnTo>
                  <a:lnTo>
                    <a:pt x="2798511" y="1387169"/>
                  </a:lnTo>
                  <a:lnTo>
                    <a:pt x="2819044" y="1347464"/>
                  </a:lnTo>
                  <a:lnTo>
                    <a:pt x="2826418" y="1301747"/>
                  </a:lnTo>
                  <a:lnTo>
                    <a:pt x="2826418" y="144639"/>
                  </a:lnTo>
                  <a:lnTo>
                    <a:pt x="2819044" y="98921"/>
                  </a:lnTo>
                  <a:lnTo>
                    <a:pt x="2798511" y="59217"/>
                  </a:lnTo>
                  <a:lnTo>
                    <a:pt x="2767201" y="27907"/>
                  </a:lnTo>
                  <a:lnTo>
                    <a:pt x="2727496" y="7373"/>
                  </a:lnTo>
                  <a:lnTo>
                    <a:pt x="2681778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52790" y="2162118"/>
            <a:ext cx="2364105" cy="95758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065" marR="5080" algn="ctr">
              <a:lnSpc>
                <a:spcPct val="89000"/>
              </a:lnSpc>
              <a:spcBef>
                <a:spcPts val="390"/>
              </a:spcBef>
            </a:pP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Support</a:t>
            </a:r>
            <a:r>
              <a:rPr sz="2200" b="1" spc="-3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from</a:t>
            </a:r>
            <a:r>
              <a:rPr sz="2200" b="1" spc="-30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60" dirty="0">
                <a:solidFill>
                  <a:srgbClr val="1F497D"/>
                </a:solidFill>
                <a:latin typeface="Arial"/>
                <a:cs typeface="Arial"/>
              </a:rPr>
              <a:t>Top </a:t>
            </a:r>
            <a:r>
              <a:rPr sz="2200" b="1" spc="-595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Management Is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Critical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18660" y="3773978"/>
            <a:ext cx="3105150" cy="1899920"/>
            <a:chOff x="5918660" y="3773978"/>
            <a:chExt cx="3105150" cy="189992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18660" y="4480560"/>
              <a:ext cx="2024148" cy="10224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965553" y="4503489"/>
              <a:ext cx="1931035" cy="929005"/>
            </a:xfrm>
            <a:custGeom>
              <a:avLst/>
              <a:gdLst/>
              <a:ahLst/>
              <a:cxnLst/>
              <a:rect l="l" t="t" r="r" b="b"/>
              <a:pathLst>
                <a:path w="1931034" h="929004">
                  <a:moveTo>
                    <a:pt x="1828502" y="0"/>
                  </a:moveTo>
                  <a:lnTo>
                    <a:pt x="277449" y="402986"/>
                  </a:lnTo>
                  <a:lnTo>
                    <a:pt x="243290" y="271512"/>
                  </a:lnTo>
                  <a:lnTo>
                    <a:pt x="0" y="685596"/>
                  </a:lnTo>
                  <a:lnTo>
                    <a:pt x="414086" y="928885"/>
                  </a:lnTo>
                  <a:lnTo>
                    <a:pt x="379926" y="797410"/>
                  </a:lnTo>
                  <a:lnTo>
                    <a:pt x="1930979" y="394422"/>
                  </a:lnTo>
                  <a:lnTo>
                    <a:pt x="1828502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6806" y="3773978"/>
              <a:ext cx="2356657" cy="189945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28657" y="4347556"/>
              <a:ext cx="1828800" cy="73983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713295" y="3795102"/>
              <a:ext cx="2264410" cy="1811655"/>
            </a:xfrm>
            <a:custGeom>
              <a:avLst/>
              <a:gdLst/>
              <a:ahLst/>
              <a:cxnLst/>
              <a:rect l="l" t="t" r="r" b="b"/>
              <a:pathLst>
                <a:path w="2264409" h="1811654">
                  <a:moveTo>
                    <a:pt x="2082877" y="0"/>
                  </a:moveTo>
                  <a:lnTo>
                    <a:pt x="181119" y="0"/>
                  </a:lnTo>
                  <a:lnTo>
                    <a:pt x="132971" y="6469"/>
                  </a:lnTo>
                  <a:lnTo>
                    <a:pt x="89705" y="24728"/>
                  </a:lnTo>
                  <a:lnTo>
                    <a:pt x="53049" y="53048"/>
                  </a:lnTo>
                  <a:lnTo>
                    <a:pt x="24728" y="89704"/>
                  </a:lnTo>
                  <a:lnTo>
                    <a:pt x="6469" y="132970"/>
                  </a:lnTo>
                  <a:lnTo>
                    <a:pt x="0" y="181119"/>
                  </a:lnTo>
                  <a:lnTo>
                    <a:pt x="0" y="1630076"/>
                  </a:lnTo>
                  <a:lnTo>
                    <a:pt x="6469" y="1678225"/>
                  </a:lnTo>
                  <a:lnTo>
                    <a:pt x="24728" y="1721490"/>
                  </a:lnTo>
                  <a:lnTo>
                    <a:pt x="53049" y="1758147"/>
                  </a:lnTo>
                  <a:lnTo>
                    <a:pt x="89705" y="1786467"/>
                  </a:lnTo>
                  <a:lnTo>
                    <a:pt x="132971" y="1804726"/>
                  </a:lnTo>
                  <a:lnTo>
                    <a:pt x="181119" y="1811196"/>
                  </a:lnTo>
                  <a:lnTo>
                    <a:pt x="2082877" y="1811196"/>
                  </a:lnTo>
                  <a:lnTo>
                    <a:pt x="2131026" y="1804726"/>
                  </a:lnTo>
                  <a:lnTo>
                    <a:pt x="2174291" y="1786467"/>
                  </a:lnTo>
                  <a:lnTo>
                    <a:pt x="2210948" y="1758147"/>
                  </a:lnTo>
                  <a:lnTo>
                    <a:pt x="2239268" y="1721490"/>
                  </a:lnTo>
                  <a:lnTo>
                    <a:pt x="2257527" y="1678225"/>
                  </a:lnTo>
                  <a:lnTo>
                    <a:pt x="2263997" y="1630076"/>
                  </a:lnTo>
                  <a:lnTo>
                    <a:pt x="2263997" y="181119"/>
                  </a:lnTo>
                  <a:lnTo>
                    <a:pt x="2257527" y="132970"/>
                  </a:lnTo>
                  <a:lnTo>
                    <a:pt x="2239268" y="89704"/>
                  </a:lnTo>
                  <a:lnTo>
                    <a:pt x="2210948" y="53048"/>
                  </a:lnTo>
                  <a:lnTo>
                    <a:pt x="2174291" y="24728"/>
                  </a:lnTo>
                  <a:lnTo>
                    <a:pt x="2131026" y="6469"/>
                  </a:lnTo>
                  <a:lnTo>
                    <a:pt x="2082877" y="0"/>
                  </a:lnTo>
                  <a:close/>
                </a:path>
              </a:pathLst>
            </a:custGeom>
            <a:solidFill>
              <a:srgbClr val="EFF3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989657" y="4355514"/>
            <a:ext cx="1717675" cy="6527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426720">
              <a:lnSpc>
                <a:spcPts val="2300"/>
              </a:lnSpc>
              <a:spcBef>
                <a:spcPts val="459"/>
              </a:spcBef>
            </a:pP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Active 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 Part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i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c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ip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at</a:t>
            </a:r>
            <a:r>
              <a:rPr sz="2200" b="1" spc="-5" dirty="0">
                <a:solidFill>
                  <a:srgbClr val="1F497D"/>
                </a:solidFill>
                <a:latin typeface="Arial"/>
                <a:cs typeface="Arial"/>
              </a:rPr>
              <a:t>io</a:t>
            </a:r>
            <a:r>
              <a:rPr sz="2200" b="1" dirty="0">
                <a:solidFill>
                  <a:srgbClr val="1F497D"/>
                </a:solidFill>
                <a:latin typeface="Arial"/>
                <a:cs typeface="Arial"/>
              </a:rPr>
              <a:t>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490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Approaches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setting</a:t>
            </a:r>
            <a:r>
              <a:rPr spc="-15" dirty="0"/>
              <a:t> </a:t>
            </a:r>
            <a:r>
              <a:rPr spc="-5" dirty="0"/>
              <a:t>goals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396240" y="1077523"/>
            <a:ext cx="27489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200" b="1" dirty="0">
                <a:latin typeface="Arial"/>
                <a:cs typeface="Arial"/>
              </a:rPr>
              <a:t>MBO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work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when: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24" y="270478"/>
            <a:ext cx="55835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5.2</a:t>
            </a:r>
            <a:r>
              <a:rPr sz="3400" spc="-10" dirty="0">
                <a:solidFill>
                  <a:srgbClr val="376092"/>
                </a:solidFill>
              </a:rPr>
              <a:t> </a:t>
            </a:r>
            <a:r>
              <a:rPr sz="3400" spc="-35" dirty="0">
                <a:solidFill>
                  <a:srgbClr val="376092"/>
                </a:solidFill>
              </a:rPr>
              <a:t>STRATEGIC</a:t>
            </a:r>
            <a:r>
              <a:rPr sz="3400" spc="-1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PLANNING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427973" y="814989"/>
            <a:ext cx="8041640" cy="30835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Learning</a:t>
            </a:r>
            <a:r>
              <a:rPr sz="2400" b="1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434343"/>
                </a:solidFill>
                <a:latin typeface="Arial"/>
                <a:cs typeface="Arial"/>
              </a:rPr>
              <a:t>outcomes:</a:t>
            </a:r>
            <a:endParaRPr sz="2400">
              <a:latin typeface="Arial"/>
              <a:cs typeface="Arial"/>
            </a:endParaRPr>
          </a:p>
          <a:p>
            <a:pPr marL="698500" indent="-342900">
              <a:lnSpc>
                <a:spcPct val="100000"/>
              </a:lnSpc>
              <a:spcBef>
                <a:spcPts val="132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solidFill>
                  <a:srgbClr val="555555"/>
                </a:solidFill>
                <a:latin typeface="Arial"/>
                <a:cs typeface="Arial"/>
              </a:rPr>
              <a:t>Define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strategic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management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strategic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planning</a:t>
            </a:r>
            <a:endParaRPr sz="2200">
              <a:latin typeface="Arial MT"/>
              <a:cs typeface="Arial MT"/>
            </a:endParaRPr>
          </a:p>
          <a:p>
            <a:pPr marL="355600" marR="5080">
              <a:lnSpc>
                <a:spcPts val="4000"/>
              </a:lnSpc>
              <a:spcBef>
                <a:spcPts val="26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solidFill>
                  <a:srgbClr val="555555"/>
                </a:solidFill>
                <a:latin typeface="Arial"/>
                <a:cs typeface="Arial"/>
              </a:rPr>
              <a:t>Explain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what managers do during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six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steps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of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strategic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management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process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and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where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is</a:t>
            </a:r>
            <a:r>
              <a:rPr sz="2200" spc="-1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planning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function </a:t>
            </a:r>
            <a:r>
              <a:rPr sz="2200" spc="-60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among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these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 six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 steps</a:t>
            </a:r>
            <a:endParaRPr sz="2200">
              <a:latin typeface="Arial MT"/>
              <a:cs typeface="Arial MT"/>
            </a:endParaRPr>
          </a:p>
          <a:p>
            <a:pPr marL="698500" indent="-342900">
              <a:lnSpc>
                <a:spcPct val="100000"/>
              </a:lnSpc>
              <a:spcBef>
                <a:spcPts val="900"/>
              </a:spcBef>
              <a:buClr>
                <a:srgbClr val="434343"/>
              </a:buClr>
              <a:buFont typeface="Wingdings"/>
              <a:buChar char=""/>
              <a:tabLst>
                <a:tab pos="698500" algn="l"/>
              </a:tabLst>
            </a:pPr>
            <a:r>
              <a:rPr sz="2200" b="1" spc="-45" dirty="0">
                <a:solidFill>
                  <a:srgbClr val="555555"/>
                </a:solidFill>
                <a:latin typeface="Arial"/>
                <a:cs typeface="Arial"/>
              </a:rPr>
              <a:t>Tell</a:t>
            </a:r>
            <a:r>
              <a:rPr sz="2200" b="1" spc="-10" dirty="0">
                <a:solidFill>
                  <a:srgbClr val="555555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34343"/>
                </a:solidFill>
                <a:latin typeface="Arial MT"/>
                <a:cs typeface="Arial MT"/>
              </a:rPr>
              <a:t>how </a:t>
            </a:r>
            <a:r>
              <a:rPr sz="2200" spc="-5" dirty="0">
                <a:solidFill>
                  <a:srgbClr val="434343"/>
                </a:solidFill>
                <a:latin typeface="Arial MT"/>
                <a:cs typeface="Arial MT"/>
              </a:rPr>
              <a:t>to classify strategies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00" y="755675"/>
            <a:ext cx="65284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What</a:t>
            </a:r>
            <a:r>
              <a:rPr sz="3400" spc="-1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is strategic</a:t>
            </a:r>
            <a:r>
              <a:rPr sz="340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management?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348615" y="1667856"/>
            <a:ext cx="8228330" cy="14833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4965" marR="5080" indent="-342900">
              <a:lnSpc>
                <a:spcPct val="99500"/>
              </a:lnSpc>
              <a:spcBef>
                <a:spcPts val="115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b="1" spc="-5" dirty="0">
                <a:solidFill>
                  <a:srgbClr val="376092"/>
                </a:solidFill>
                <a:latin typeface="Arial"/>
                <a:cs typeface="Arial"/>
              </a:rPr>
              <a:t>Strategic management is </a:t>
            </a:r>
            <a:r>
              <a:rPr sz="2400" dirty="0">
                <a:latin typeface="Arial MT"/>
                <a:cs typeface="Arial MT"/>
              </a:rPr>
              <a:t>what managers do </a:t>
            </a:r>
            <a:r>
              <a:rPr sz="2400" spc="-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develop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organization’s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strategies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spc="-15" dirty="0">
                <a:latin typeface="Arial MT"/>
                <a:cs typeface="Arial MT"/>
              </a:rPr>
              <a:t>It’s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 </a:t>
            </a:r>
            <a:r>
              <a:rPr sz="2400" spc="-5" dirty="0">
                <a:latin typeface="Arial MT"/>
                <a:cs typeface="Arial MT"/>
              </a:rPr>
              <a:t>important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task </a:t>
            </a:r>
            <a:r>
              <a:rPr sz="2400" dirty="0">
                <a:latin typeface="Arial MT"/>
                <a:cs typeface="Arial MT"/>
              </a:rPr>
              <a:t> involving all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basic management </a:t>
            </a:r>
            <a:r>
              <a:rPr sz="2400" b="1" spc="-5" dirty="0">
                <a:latin typeface="Arial"/>
                <a:cs typeface="Arial"/>
              </a:rPr>
              <a:t>functions—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planning</a:t>
            </a:r>
            <a:r>
              <a:rPr sz="2400" b="1" spc="-5" dirty="0">
                <a:latin typeface="Arial"/>
                <a:cs typeface="Arial"/>
              </a:rPr>
              <a:t>, </a:t>
            </a:r>
            <a:r>
              <a:rPr sz="2400" b="1" spc="-65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organizing,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leading, and controlling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8600" y="755675"/>
            <a:ext cx="65284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376092"/>
                </a:solidFill>
                <a:latin typeface="Arial"/>
                <a:cs typeface="Arial"/>
              </a:rPr>
              <a:t>What</a:t>
            </a:r>
            <a:r>
              <a:rPr sz="3400" b="1" spc="-10" dirty="0">
                <a:solidFill>
                  <a:srgbClr val="376092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376092"/>
                </a:solidFill>
                <a:latin typeface="Arial"/>
                <a:cs typeface="Arial"/>
              </a:rPr>
              <a:t>is strategic</a:t>
            </a:r>
            <a:r>
              <a:rPr sz="3400" b="1" dirty="0">
                <a:solidFill>
                  <a:srgbClr val="376092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376092"/>
                </a:solidFill>
                <a:latin typeface="Arial"/>
                <a:cs typeface="Arial"/>
              </a:rPr>
              <a:t>management?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615" y="1667856"/>
            <a:ext cx="6427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376092"/>
                </a:solidFill>
                <a:latin typeface="Arial"/>
                <a:cs typeface="Arial"/>
              </a:rPr>
              <a:t>Q:</a:t>
            </a:r>
            <a:r>
              <a:rPr sz="2400" b="1" dirty="0">
                <a:solidFill>
                  <a:srgbClr val="376092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Why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strategic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management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is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important?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1710" y="2188880"/>
            <a:ext cx="6483926" cy="43120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104" y="2251785"/>
            <a:ext cx="8333105" cy="11760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260"/>
              </a:spcBef>
              <a:tabLst>
                <a:tab pos="548640" algn="l"/>
                <a:tab pos="1487805" algn="l"/>
                <a:tab pos="1890395" algn="l"/>
                <a:tab pos="2581275" algn="l"/>
                <a:tab pos="4592955" algn="l"/>
                <a:tab pos="5267960" algn="l"/>
                <a:tab pos="5450840" algn="l"/>
              </a:tabLst>
            </a:pP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“</a:t>
            </a:r>
            <a:r>
              <a:rPr sz="3800" b="1" spc="-35" dirty="0">
                <a:solidFill>
                  <a:srgbClr val="E46C0A"/>
                </a:solidFill>
                <a:latin typeface="Arial"/>
                <a:cs typeface="Arial"/>
              </a:rPr>
              <a:t>W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i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t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hou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t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a	strate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g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y	t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h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e	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o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r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g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a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ni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zat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io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n  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is	like	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a	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ship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 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without</a:t>
            </a:r>
            <a:r>
              <a:rPr sz="3800" b="1" dirty="0">
                <a:solidFill>
                  <a:srgbClr val="E46C0A"/>
                </a:solidFill>
                <a:latin typeface="Arial"/>
                <a:cs typeface="Arial"/>
              </a:rPr>
              <a:t> a	</a:t>
            </a:r>
            <a:r>
              <a:rPr sz="3800" b="1" spc="-5" dirty="0">
                <a:solidFill>
                  <a:srgbClr val="E46C0A"/>
                </a:solidFill>
                <a:latin typeface="Arial"/>
                <a:cs typeface="Arial"/>
              </a:rPr>
              <a:t>rudder”</a:t>
            </a:r>
            <a:endParaRPr sz="3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0567" y="3656404"/>
            <a:ext cx="4832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Joel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Ross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Michael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Kami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00" y="755675"/>
            <a:ext cx="57111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What</a:t>
            </a:r>
            <a:r>
              <a:rPr sz="3400" spc="-2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is</a:t>
            </a:r>
            <a:r>
              <a:rPr sz="3400" spc="-15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Strategic</a:t>
            </a:r>
            <a:r>
              <a:rPr sz="3400" spc="-10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planning?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99" y="1848742"/>
            <a:ext cx="8013698" cy="41542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68465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strategic</a:t>
            </a:r>
            <a:r>
              <a:rPr dirty="0"/>
              <a:t> </a:t>
            </a:r>
            <a:r>
              <a:rPr spc="-5" dirty="0"/>
              <a:t>management 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501" y="1126374"/>
            <a:ext cx="9021445" cy="4538980"/>
            <a:chOff x="66501" y="1126374"/>
            <a:chExt cx="9021445" cy="4538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794" y="1846560"/>
              <a:ext cx="8955721" cy="30302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01" y="1126374"/>
              <a:ext cx="6076603" cy="453874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4690" y="1163782"/>
            <a:ext cx="5957570" cy="4419600"/>
          </a:xfrm>
          <a:prstGeom prst="rect">
            <a:avLst/>
          </a:prstGeom>
          <a:ln w="28574">
            <a:solidFill>
              <a:srgbClr val="5B92C7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642745" marR="2712720">
              <a:lnSpc>
                <a:spcPts val="2600"/>
              </a:lnSpc>
              <a:spcBef>
                <a:spcPts val="375"/>
              </a:spcBef>
            </a:pPr>
            <a:r>
              <a:rPr sz="2200" b="1" dirty="0">
                <a:solidFill>
                  <a:srgbClr val="0070C0"/>
                </a:solidFill>
                <a:latin typeface="Arial"/>
                <a:cs typeface="Arial"/>
              </a:rPr>
              <a:t>S</a:t>
            </a:r>
            <a:r>
              <a:rPr sz="2200" b="1" spc="-5" dirty="0">
                <a:solidFill>
                  <a:srgbClr val="0070C0"/>
                </a:solidFill>
                <a:latin typeface="Arial"/>
                <a:cs typeface="Arial"/>
              </a:rPr>
              <a:t>T</a:t>
            </a:r>
            <a:r>
              <a:rPr sz="2200" b="1" dirty="0">
                <a:solidFill>
                  <a:srgbClr val="0070C0"/>
                </a:solidFill>
                <a:latin typeface="Arial"/>
                <a:cs typeface="Arial"/>
              </a:rPr>
              <a:t>R</a:t>
            </a:r>
            <a:r>
              <a:rPr sz="2200" b="1" spc="-165" dirty="0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sz="2200" b="1" spc="-5" dirty="0">
                <a:solidFill>
                  <a:srgbClr val="0070C0"/>
                </a:solidFill>
                <a:latin typeface="Arial"/>
                <a:cs typeface="Arial"/>
              </a:rPr>
              <a:t>T</a:t>
            </a:r>
            <a:r>
              <a:rPr sz="2200" b="1" dirty="0">
                <a:solidFill>
                  <a:srgbClr val="0070C0"/>
                </a:solidFill>
                <a:latin typeface="Arial"/>
                <a:cs typeface="Arial"/>
              </a:rPr>
              <a:t>E</a:t>
            </a:r>
            <a:r>
              <a:rPr sz="2200" b="1" spc="-5" dirty="0">
                <a:solidFill>
                  <a:srgbClr val="0070C0"/>
                </a:solidFill>
                <a:latin typeface="Arial"/>
                <a:cs typeface="Arial"/>
              </a:rPr>
              <a:t>GI</a:t>
            </a:r>
            <a:r>
              <a:rPr sz="2200" b="1" dirty="0">
                <a:solidFill>
                  <a:srgbClr val="0070C0"/>
                </a:solidFill>
                <a:latin typeface="Arial"/>
                <a:cs typeface="Arial"/>
              </a:rPr>
              <a:t>C  </a:t>
            </a:r>
            <a:r>
              <a:rPr sz="2200" b="1" spc="-5" dirty="0">
                <a:solidFill>
                  <a:srgbClr val="0070C0"/>
                </a:solidFill>
                <a:latin typeface="Arial"/>
                <a:cs typeface="Arial"/>
              </a:rPr>
              <a:t>PLANNING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7213600" cy="1784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4</a:t>
            </a:r>
            <a:r>
              <a:rPr spc="-5" dirty="0"/>
              <a:t> steps of</a:t>
            </a:r>
            <a:r>
              <a:rPr spc="-10" dirty="0"/>
              <a:t> </a:t>
            </a:r>
            <a:r>
              <a:rPr spc="-5" dirty="0"/>
              <a:t>strategic planning</a:t>
            </a:r>
          </a:p>
          <a:p>
            <a:pPr marL="355600" marR="5080" indent="-342900">
              <a:lnSpc>
                <a:spcPts val="3800"/>
              </a:lnSpc>
              <a:spcBef>
                <a:spcPts val="2515"/>
              </a:spcBef>
            </a:pPr>
            <a:r>
              <a:rPr spc="-5" dirty="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1: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Identifying the organization’s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 current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mission,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goals,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strategies: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279120"/>
            <a:ext cx="7144384" cy="14427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469900" marR="5080" indent="-457200">
              <a:lnSpc>
                <a:spcPct val="101000"/>
              </a:lnSpc>
              <a:spcBef>
                <a:spcPts val="6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Mission: </a:t>
            </a:r>
            <a:r>
              <a:rPr sz="2800" dirty="0">
                <a:latin typeface="Arial MT"/>
                <a:cs typeface="Arial MT"/>
              </a:rPr>
              <a:t>a </a:t>
            </a:r>
            <a:r>
              <a:rPr sz="2800" spc="-5" dirty="0">
                <a:latin typeface="Arial MT"/>
                <a:cs typeface="Arial MT"/>
              </a:rPr>
              <a:t>statement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purpose of an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organization.</a:t>
            </a:r>
            <a:endParaRPr sz="2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05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Arial"/>
                <a:cs typeface="Arial"/>
              </a:rPr>
              <a:t>Goals: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foundation for further </a:t>
            </a:r>
            <a:r>
              <a:rPr sz="2800" dirty="0">
                <a:latin typeface="Arial MT"/>
                <a:cs typeface="Arial MT"/>
              </a:rPr>
              <a:t>planning.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4199658"/>
            <a:ext cx="3933823" cy="1162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3574" y="4113933"/>
            <a:ext cx="1600199" cy="12191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266" y="304035"/>
            <a:ext cx="659320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1615">
              <a:lnSpc>
                <a:spcPct val="119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4 </a:t>
            </a:r>
            <a:r>
              <a:rPr spc="-5" dirty="0"/>
              <a:t>steps of strategic planning </a:t>
            </a:r>
            <a:r>
              <a:rPr spc="-875" dirty="0"/>
              <a:t> </a:t>
            </a:r>
            <a:r>
              <a:rPr spc="-5" dirty="0">
                <a:solidFill>
                  <a:srgbClr val="000000"/>
                </a:solidFill>
              </a:rPr>
              <a:t>STEP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2: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Doing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External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266" y="1587693"/>
            <a:ext cx="7954645" cy="88328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55600" marR="5080" indent="-342900">
              <a:lnSpc>
                <a:spcPct val="101000"/>
              </a:lnSpc>
              <a:spcBef>
                <a:spcPts val="65"/>
              </a:spcBef>
            </a:pP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spc="-5" dirty="0">
                <a:latin typeface="Arial MT"/>
                <a:cs typeface="Arial MT"/>
              </a:rPr>
              <a:t>Pinpoint </a:t>
            </a:r>
            <a:r>
              <a:rPr sz="2800" b="1" spc="-5" dirty="0">
                <a:latin typeface="Arial"/>
                <a:cs typeface="Arial"/>
              </a:rPr>
              <a:t>opportunities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exploit and </a:t>
            </a:r>
            <a:r>
              <a:rPr sz="2800" b="1" spc="-5" dirty="0">
                <a:latin typeface="Arial"/>
                <a:cs typeface="Arial"/>
              </a:rPr>
              <a:t>threats </a:t>
            </a:r>
            <a:r>
              <a:rPr sz="2800" dirty="0">
                <a:latin typeface="Arial MT"/>
                <a:cs typeface="Arial MT"/>
              </a:rPr>
              <a:t>to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counteract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bu</a:t>
            </a:r>
            <a:r>
              <a:rPr sz="2800" spc="-20" dirty="0">
                <a:latin typeface="Trebuchet MS"/>
                <a:cs typeface="Trebuchet MS"/>
              </a:rPr>
              <a:t>ff</a:t>
            </a:r>
            <a:r>
              <a:rPr sz="2800" spc="-20" dirty="0">
                <a:latin typeface="Arial MT"/>
                <a:cs typeface="Arial MT"/>
              </a:rPr>
              <a:t>er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307" y="2992582"/>
            <a:ext cx="3931920" cy="3865879"/>
          </a:xfrm>
          <a:prstGeom prst="rect">
            <a:avLst/>
          </a:prstGeom>
          <a:ln w="28574">
            <a:solidFill>
              <a:srgbClr val="5B92C7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146685" marR="22860">
              <a:lnSpc>
                <a:spcPct val="99700"/>
              </a:lnSpc>
              <a:spcBef>
                <a:spcPts val="565"/>
              </a:spcBef>
            </a:pPr>
            <a:r>
              <a:rPr sz="2800" b="1" spc="-5" dirty="0">
                <a:solidFill>
                  <a:srgbClr val="0070C0"/>
                </a:solidFill>
                <a:latin typeface="Arial"/>
                <a:cs typeface="Arial"/>
              </a:rPr>
              <a:t>Opportunities: </a:t>
            </a:r>
            <a:r>
              <a:rPr sz="2800" spc="-5" dirty="0">
                <a:latin typeface="Arial MT"/>
                <a:cs typeface="Arial MT"/>
              </a:rPr>
              <a:t>positive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trends </a:t>
            </a:r>
            <a:r>
              <a:rPr sz="2800" dirty="0">
                <a:latin typeface="Arial MT"/>
                <a:cs typeface="Arial MT"/>
              </a:rPr>
              <a:t>in </a:t>
            </a:r>
            <a:r>
              <a:rPr sz="2800" spc="-5" dirty="0">
                <a:latin typeface="Arial MT"/>
                <a:cs typeface="Arial MT"/>
              </a:rPr>
              <a:t>the external </a:t>
            </a:r>
            <a:r>
              <a:rPr sz="2800" dirty="0">
                <a:latin typeface="Arial MT"/>
                <a:cs typeface="Arial MT"/>
              </a:rPr>
              <a:t> environment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7526" y="2992582"/>
            <a:ext cx="3657600" cy="3865879"/>
          </a:xfrm>
          <a:prstGeom prst="rect">
            <a:avLst/>
          </a:prstGeom>
          <a:ln w="28574">
            <a:solidFill>
              <a:srgbClr val="5B92C7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77470" marR="250825" indent="98425">
              <a:lnSpc>
                <a:spcPct val="99700"/>
              </a:lnSpc>
              <a:spcBef>
                <a:spcPts val="370"/>
              </a:spcBef>
            </a:pP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Threats</a:t>
            </a:r>
            <a:r>
              <a:rPr sz="2800" spc="-5" dirty="0">
                <a:latin typeface="Arial MT"/>
                <a:cs typeface="Arial MT"/>
              </a:rPr>
              <a:t>: negative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trends </a:t>
            </a:r>
            <a:r>
              <a:rPr sz="2800" dirty="0">
                <a:latin typeface="Arial MT"/>
                <a:cs typeface="Arial MT"/>
              </a:rPr>
              <a:t>in </a:t>
            </a:r>
            <a:r>
              <a:rPr sz="2800" spc="-5" dirty="0">
                <a:latin typeface="Arial MT"/>
                <a:cs typeface="Arial MT"/>
              </a:rPr>
              <a:t>the external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environment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7734" y="2955174"/>
            <a:ext cx="4052570" cy="3903345"/>
            <a:chOff x="577734" y="2955174"/>
            <a:chExt cx="4052570" cy="39033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707" y="4427921"/>
              <a:ext cx="2989550" cy="22400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734" y="2955174"/>
              <a:ext cx="4052454" cy="390282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46566" y="2955174"/>
            <a:ext cx="3778250" cy="3903345"/>
            <a:chOff x="4746566" y="2955174"/>
            <a:chExt cx="3778250" cy="390334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6566" y="2955174"/>
              <a:ext cx="3778134" cy="39028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2231" y="4402748"/>
              <a:ext cx="3003402" cy="21945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266" y="304035"/>
            <a:ext cx="6593205" cy="118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1615">
              <a:lnSpc>
                <a:spcPct val="119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4 </a:t>
            </a:r>
            <a:r>
              <a:rPr spc="-5" dirty="0"/>
              <a:t>steps of strategic planning </a:t>
            </a:r>
            <a:r>
              <a:rPr spc="-875" dirty="0"/>
              <a:t> </a:t>
            </a:r>
            <a:r>
              <a:rPr spc="-5" dirty="0">
                <a:solidFill>
                  <a:srgbClr val="000000"/>
                </a:solidFill>
              </a:rPr>
              <a:t>STEP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3: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Doing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Internal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4266" y="1587693"/>
            <a:ext cx="7877175" cy="88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Wingdings"/>
                <a:cs typeface="Wingdings"/>
              </a:rPr>
              <a:t>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 MT"/>
                <a:cs typeface="Arial MT"/>
              </a:rPr>
              <a:t>identify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organizational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b="1" spc="-5" dirty="0">
                <a:latin typeface="Arial"/>
                <a:cs typeface="Arial"/>
              </a:rPr>
              <a:t>strengths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exploit and</a:t>
            </a:r>
            <a:endParaRPr sz="2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30"/>
              </a:spcBef>
            </a:pPr>
            <a:r>
              <a:rPr sz="2800" b="1" spc="-5" dirty="0">
                <a:latin typeface="Arial"/>
                <a:cs typeface="Arial"/>
              </a:rPr>
              <a:t>weaknesses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correct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307" y="2992582"/>
            <a:ext cx="3657600" cy="3865879"/>
          </a:xfrm>
          <a:prstGeom prst="rect">
            <a:avLst/>
          </a:prstGeom>
          <a:ln w="28574">
            <a:solidFill>
              <a:srgbClr val="5B92C7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146685" marR="33655">
              <a:lnSpc>
                <a:spcPct val="99100"/>
              </a:lnSpc>
              <a:spcBef>
                <a:spcPts val="385"/>
              </a:spcBef>
            </a:pPr>
            <a:r>
              <a:rPr sz="2600" b="1" spc="-5" dirty="0">
                <a:solidFill>
                  <a:srgbClr val="0070C0"/>
                </a:solidFill>
                <a:latin typeface="Arial"/>
                <a:cs typeface="Arial"/>
              </a:rPr>
              <a:t>Strengths</a:t>
            </a:r>
            <a:r>
              <a:rPr sz="2600" spc="-5" dirty="0">
                <a:latin typeface="Arial MT"/>
                <a:cs typeface="Arial MT"/>
              </a:rPr>
              <a:t>: </a:t>
            </a:r>
            <a:r>
              <a:rPr sz="2400" dirty="0">
                <a:latin typeface="Arial MT"/>
                <a:cs typeface="Arial MT"/>
              </a:rPr>
              <a:t>any </a:t>
            </a:r>
            <a:r>
              <a:rPr sz="2400" spc="-5" dirty="0">
                <a:latin typeface="Arial MT"/>
                <a:cs typeface="Arial MT"/>
              </a:rPr>
              <a:t>activities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organization </a:t>
            </a:r>
            <a:r>
              <a:rPr sz="2400" b="1" dirty="0">
                <a:latin typeface="Arial"/>
                <a:cs typeface="Arial"/>
              </a:rPr>
              <a:t>does 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well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spc="-5" dirty="0">
                <a:latin typeface="Arial MT"/>
                <a:cs typeface="Arial MT"/>
              </a:rPr>
              <a:t>its </a:t>
            </a:r>
            <a:r>
              <a:rPr sz="2400" dirty="0">
                <a:latin typeface="Arial MT"/>
                <a:cs typeface="Arial MT"/>
              </a:rPr>
              <a:t>unique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resources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7526" y="2992582"/>
            <a:ext cx="3657600" cy="3865879"/>
          </a:xfrm>
          <a:prstGeom prst="rect">
            <a:avLst/>
          </a:prstGeom>
          <a:ln w="28574">
            <a:solidFill>
              <a:srgbClr val="5B92C7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77470" marR="234315">
              <a:lnSpc>
                <a:spcPct val="99800"/>
              </a:lnSpc>
              <a:spcBef>
                <a:spcPts val="365"/>
              </a:spcBef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Weaknesses</a:t>
            </a:r>
            <a:r>
              <a:rPr sz="2400" spc="-10" dirty="0">
                <a:latin typeface="Arial MT"/>
                <a:cs typeface="Arial MT"/>
              </a:rPr>
              <a:t>: </a:t>
            </a:r>
            <a:r>
              <a:rPr sz="2400" spc="-5" dirty="0">
                <a:latin typeface="Arial MT"/>
                <a:cs typeface="Arial MT"/>
              </a:rPr>
              <a:t>activities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organization </a:t>
            </a:r>
            <a:r>
              <a:rPr sz="2400" b="1" spc="-5" dirty="0">
                <a:latin typeface="Arial"/>
                <a:cs typeface="Arial"/>
              </a:rPr>
              <a:t>doesn’t </a:t>
            </a:r>
            <a:r>
              <a:rPr sz="2400" b="1" spc="-6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 well </a:t>
            </a:r>
            <a:r>
              <a:rPr sz="2400" dirty="0">
                <a:latin typeface="Arial MT"/>
                <a:cs typeface="Arial MT"/>
              </a:rPr>
              <a:t>or </a:t>
            </a:r>
            <a:r>
              <a:rPr sz="2400" b="1" dirty="0">
                <a:latin typeface="Arial"/>
                <a:cs typeface="Arial"/>
              </a:rPr>
              <a:t>resources </a:t>
            </a:r>
            <a:r>
              <a:rPr sz="2400" spc="-5" dirty="0">
                <a:latin typeface="Arial MT"/>
                <a:cs typeface="Arial MT"/>
              </a:rPr>
              <a:t>it </a:t>
            </a:r>
            <a:r>
              <a:rPr sz="2400" dirty="0">
                <a:latin typeface="Arial MT"/>
                <a:cs typeface="Arial MT"/>
              </a:rPr>
              <a:t> needs but doesn’t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possess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7734" y="2955174"/>
            <a:ext cx="3778250" cy="3903345"/>
            <a:chOff x="577734" y="2955174"/>
            <a:chExt cx="3778250" cy="39033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734" y="2955174"/>
              <a:ext cx="3778134" cy="39028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4233" y="4593019"/>
              <a:ext cx="1983364" cy="159531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46566" y="2955174"/>
            <a:ext cx="3778250" cy="3903345"/>
            <a:chOff x="4746566" y="2955174"/>
            <a:chExt cx="3778250" cy="390334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6566" y="2955174"/>
              <a:ext cx="3778134" cy="39028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11290" y="4593020"/>
              <a:ext cx="1899653" cy="16305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96446"/>
            <a:ext cx="3860800" cy="208280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dirty="0">
                <a:latin typeface="Arial MT"/>
                <a:cs typeface="Arial MT"/>
              </a:rPr>
              <a:t>Resources: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8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Capabilities: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dirty="0">
                <a:latin typeface="Arial MT"/>
                <a:cs typeface="Arial MT"/>
              </a:rPr>
              <a:t>Core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competence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Competitive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advantage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6565">
              <a:lnSpc>
                <a:spcPct val="125099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4 </a:t>
            </a:r>
            <a:r>
              <a:rPr spc="-5" dirty="0"/>
              <a:t>steps of strategic planning </a:t>
            </a:r>
            <a:r>
              <a:rPr spc="-875" dirty="0"/>
              <a:t> </a:t>
            </a:r>
            <a:r>
              <a:rPr spc="-5" dirty="0">
                <a:solidFill>
                  <a:srgbClr val="000000"/>
                </a:solidFill>
              </a:rPr>
              <a:t>STEP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3: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Doing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 Internal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6734" y="1428568"/>
            <a:ext cx="5137264" cy="54294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03" y="396716"/>
            <a:ext cx="7988300" cy="1650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</a:t>
            </a:r>
            <a:r>
              <a:rPr dirty="0"/>
              <a:t>4</a:t>
            </a:r>
            <a:r>
              <a:rPr spc="-5" dirty="0"/>
              <a:t> steps of</a:t>
            </a:r>
            <a:r>
              <a:rPr spc="-10" dirty="0"/>
              <a:t> </a:t>
            </a:r>
            <a:r>
              <a:rPr spc="-5" dirty="0"/>
              <a:t>strategic planning</a:t>
            </a:r>
          </a:p>
          <a:p>
            <a:pPr marL="354965" marR="5080" indent="-342900">
              <a:lnSpc>
                <a:spcPct val="98600"/>
              </a:lnSpc>
              <a:spcBef>
                <a:spcPts val="2565"/>
              </a:spcBef>
            </a:pPr>
            <a:r>
              <a:rPr spc="-5" dirty="0">
                <a:solidFill>
                  <a:srgbClr val="000000"/>
                </a:solidFill>
              </a:rPr>
              <a:t>SWOT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ANALYSIS: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z="2200" b="0" spc="-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2200" b="0" dirty="0">
                <a:solidFill>
                  <a:srgbClr val="000000"/>
                </a:solidFill>
                <a:latin typeface="Arial MT"/>
                <a:cs typeface="Arial MT"/>
              </a:rPr>
              <a:t> combined </a:t>
            </a:r>
            <a:r>
              <a:rPr sz="2200" b="0" spc="-5" dirty="0">
                <a:solidFill>
                  <a:srgbClr val="000000"/>
                </a:solidFill>
                <a:latin typeface="Arial MT"/>
                <a:cs typeface="Arial MT"/>
              </a:rPr>
              <a:t>external</a:t>
            </a:r>
            <a:r>
              <a:rPr sz="2200" b="0" dirty="0">
                <a:solidFill>
                  <a:srgbClr val="000000"/>
                </a:solidFill>
                <a:latin typeface="Arial MT"/>
                <a:cs typeface="Arial MT"/>
              </a:rPr>
              <a:t> and </a:t>
            </a:r>
            <a:r>
              <a:rPr sz="2200" b="0" spc="-5" dirty="0">
                <a:solidFill>
                  <a:srgbClr val="000000"/>
                </a:solidFill>
                <a:latin typeface="Arial MT"/>
                <a:cs typeface="Arial MT"/>
              </a:rPr>
              <a:t>internal </a:t>
            </a:r>
            <a:r>
              <a:rPr sz="2200" b="0" spc="-5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rgbClr val="000000"/>
                </a:solidFill>
                <a:latin typeface="Arial MT"/>
                <a:cs typeface="Arial MT"/>
              </a:rPr>
              <a:t>analyses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291" y="2262131"/>
            <a:ext cx="6151416" cy="343454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202362"/>
            <a:ext cx="6370955" cy="1390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39900"/>
              </a:lnSpc>
              <a:spcBef>
                <a:spcPts val="95"/>
              </a:spcBef>
            </a:pPr>
            <a:r>
              <a:rPr spc="-5" dirty="0"/>
              <a:t>The </a:t>
            </a:r>
            <a:r>
              <a:rPr dirty="0"/>
              <a:t>4 </a:t>
            </a:r>
            <a:r>
              <a:rPr spc="-5" dirty="0"/>
              <a:t>steps of strategic planning </a:t>
            </a:r>
            <a:r>
              <a:rPr spc="-875" dirty="0"/>
              <a:t> </a:t>
            </a:r>
            <a:r>
              <a:rPr spc="-5" dirty="0">
                <a:solidFill>
                  <a:srgbClr val="000000"/>
                </a:solidFill>
              </a:rPr>
              <a:t>STEP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4: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Formulating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5" dirty="0">
                <a:solidFill>
                  <a:srgbClr val="000000"/>
                </a:solidFill>
                <a:latin typeface="Arial MT"/>
                <a:cs typeface="Arial MT"/>
              </a:rPr>
              <a:t>Strategies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6923" rIns="0" bIns="0" rtlCol="0">
            <a:spAutoFit/>
          </a:bodyPr>
          <a:lstStyle/>
          <a:p>
            <a:pPr marL="28575" marR="5080">
              <a:lnSpc>
                <a:spcPct val="99200"/>
              </a:lnSpc>
              <a:spcBef>
                <a:spcPts val="125"/>
              </a:spcBef>
            </a:pPr>
            <a:r>
              <a:rPr dirty="0"/>
              <a:t>Managers consider </a:t>
            </a:r>
            <a:r>
              <a:rPr spc="-5" dirty="0"/>
              <a:t>the realities </a:t>
            </a:r>
            <a:r>
              <a:rPr dirty="0"/>
              <a:t>of </a:t>
            </a:r>
            <a:r>
              <a:rPr spc="-5" dirty="0"/>
              <a:t>the external </a:t>
            </a:r>
            <a:r>
              <a:rPr dirty="0"/>
              <a:t> environment and </a:t>
            </a:r>
            <a:r>
              <a:rPr spc="-5" dirty="0"/>
              <a:t>their </a:t>
            </a:r>
            <a:r>
              <a:rPr dirty="0"/>
              <a:t>available resources and </a:t>
            </a:r>
            <a:r>
              <a:rPr spc="5" dirty="0"/>
              <a:t> </a:t>
            </a:r>
            <a:r>
              <a:rPr spc="-5" dirty="0"/>
              <a:t>capabilities </a:t>
            </a:r>
            <a:r>
              <a:rPr dirty="0"/>
              <a:t>in order </a:t>
            </a:r>
            <a:r>
              <a:rPr spc="-5" dirty="0"/>
              <a:t>to </a:t>
            </a:r>
            <a:r>
              <a:rPr b="1" spc="-5" dirty="0">
                <a:latin typeface="Arial"/>
                <a:cs typeface="Arial"/>
              </a:rPr>
              <a:t>design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strategies </a:t>
            </a:r>
            <a:r>
              <a:rPr dirty="0"/>
              <a:t>that </a:t>
            </a:r>
            <a:r>
              <a:rPr spc="-5" dirty="0"/>
              <a:t>will </a:t>
            </a:r>
            <a:r>
              <a:rPr spc="-760" dirty="0"/>
              <a:t> </a:t>
            </a:r>
            <a:r>
              <a:rPr dirty="0"/>
              <a:t>help</a:t>
            </a:r>
            <a:r>
              <a:rPr spc="-5" dirty="0"/>
              <a:t> </a:t>
            </a:r>
            <a:r>
              <a:rPr dirty="0"/>
              <a:t>an </a:t>
            </a:r>
            <a:r>
              <a:rPr spc="-5" dirty="0"/>
              <a:t>organization</a:t>
            </a:r>
            <a:r>
              <a:rPr dirty="0"/>
              <a:t> achieve</a:t>
            </a:r>
            <a:r>
              <a:rPr spc="-5" dirty="0"/>
              <a:t> its </a:t>
            </a:r>
            <a:r>
              <a:rPr dirty="0"/>
              <a:t>goals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4084" y="3765838"/>
            <a:ext cx="1904998" cy="19049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8978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Three main types</a:t>
            </a:r>
            <a:r>
              <a:rPr dirty="0"/>
              <a:t> </a:t>
            </a:r>
            <a:r>
              <a:rPr spc="-5" dirty="0"/>
              <a:t>of 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345449"/>
            <a:ext cx="3749675" cy="122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311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Corporate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strategies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ts val="3110"/>
              </a:lnSpc>
              <a:buChar char="•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Competitive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strategies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Char char="•"/>
              <a:tabLst>
                <a:tab pos="469265" algn="l"/>
                <a:tab pos="469900" algn="l"/>
              </a:tabLst>
            </a:pPr>
            <a:r>
              <a:rPr sz="2600" spc="-5" dirty="0">
                <a:latin typeface="Arial MT"/>
                <a:cs typeface="Arial MT"/>
              </a:rPr>
              <a:t>Functional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strategies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286" y="2949926"/>
            <a:ext cx="8438870" cy="312194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4001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Corporate</a:t>
            </a:r>
            <a:r>
              <a:rPr spc="-30" dirty="0"/>
              <a:t> </a:t>
            </a:r>
            <a:r>
              <a:rPr spc="-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9903" y="950211"/>
            <a:ext cx="8120380" cy="426593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b="1" spc="-5" dirty="0">
                <a:latin typeface="Arial"/>
                <a:cs typeface="Arial"/>
              </a:rPr>
              <a:t>Corporate strategies </a:t>
            </a:r>
            <a:r>
              <a:rPr sz="2600" dirty="0">
                <a:latin typeface="Arial MT"/>
                <a:cs typeface="Arial MT"/>
              </a:rPr>
              <a:t>- An </a:t>
            </a:r>
            <a:r>
              <a:rPr sz="2600" spc="-5" dirty="0">
                <a:latin typeface="Arial MT"/>
                <a:cs typeface="Arial MT"/>
              </a:rPr>
              <a:t>organizational strategy the 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determine </a:t>
            </a:r>
            <a:r>
              <a:rPr sz="2600" dirty="0">
                <a:latin typeface="Arial MT"/>
                <a:cs typeface="Arial MT"/>
              </a:rPr>
              <a:t>what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businesses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company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or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wants to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 and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what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wants to </a:t>
            </a:r>
            <a:r>
              <a:rPr sz="2600" dirty="0">
                <a:latin typeface="Arial MT"/>
                <a:cs typeface="Arial MT"/>
              </a:rPr>
              <a:t>do </a:t>
            </a:r>
            <a:r>
              <a:rPr sz="2600" spc="-5" dirty="0">
                <a:latin typeface="Arial MT"/>
                <a:cs typeface="Arial MT"/>
              </a:rPr>
              <a:t>with those</a:t>
            </a:r>
            <a:r>
              <a:rPr sz="2600" dirty="0">
                <a:latin typeface="Arial MT"/>
                <a:cs typeface="Arial MT"/>
              </a:rPr>
              <a:t> businesses</a:t>
            </a:r>
            <a:endParaRPr sz="2600">
              <a:latin typeface="Arial MT"/>
              <a:cs typeface="Arial MT"/>
            </a:endParaRPr>
          </a:p>
          <a:p>
            <a:pPr marL="796925" marR="963930" indent="-342900">
              <a:lnSpc>
                <a:spcPct val="67300"/>
              </a:lnSpc>
              <a:spcBef>
                <a:spcPts val="1964"/>
              </a:spcBef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2600" b="1" spc="-5" dirty="0">
                <a:latin typeface="Arial"/>
                <a:cs typeface="Arial"/>
              </a:rPr>
              <a:t>Growth </a:t>
            </a:r>
            <a:r>
              <a:rPr sz="2600" dirty="0">
                <a:latin typeface="Arial MT"/>
                <a:cs typeface="Arial MT"/>
              </a:rPr>
              <a:t>– expansion </a:t>
            </a:r>
            <a:r>
              <a:rPr sz="2600" spc="-5" dirty="0">
                <a:latin typeface="Arial MT"/>
                <a:cs typeface="Arial MT"/>
              </a:rPr>
              <a:t>into </a:t>
            </a:r>
            <a:r>
              <a:rPr sz="2600" dirty="0">
                <a:latin typeface="Arial MT"/>
                <a:cs typeface="Arial MT"/>
              </a:rPr>
              <a:t>new </a:t>
            </a:r>
            <a:r>
              <a:rPr sz="2600" spc="-5" dirty="0">
                <a:latin typeface="Arial MT"/>
                <a:cs typeface="Arial MT"/>
              </a:rPr>
              <a:t>products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markets.</a:t>
            </a:r>
            <a:endParaRPr sz="2600">
              <a:latin typeface="Arial MT"/>
              <a:cs typeface="Arial MT"/>
            </a:endParaRPr>
          </a:p>
          <a:p>
            <a:pPr marL="796925" indent="-34353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2600" b="1" spc="-5" dirty="0">
                <a:latin typeface="Arial"/>
                <a:cs typeface="Arial"/>
              </a:rPr>
              <a:t>Stability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5" dirty="0">
                <a:latin typeface="Arial MT"/>
                <a:cs typeface="Arial MT"/>
              </a:rPr>
              <a:t>maintenance</a:t>
            </a:r>
            <a:r>
              <a:rPr sz="2600" dirty="0">
                <a:latin typeface="Arial MT"/>
                <a:cs typeface="Arial MT"/>
              </a:rPr>
              <a:t> of</a:t>
            </a:r>
            <a:r>
              <a:rPr sz="2600" spc="-5" dirty="0">
                <a:latin typeface="Arial MT"/>
                <a:cs typeface="Arial MT"/>
              </a:rPr>
              <a:t> the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status </a:t>
            </a:r>
            <a:r>
              <a:rPr sz="2600" dirty="0">
                <a:latin typeface="Arial MT"/>
                <a:cs typeface="Arial MT"/>
              </a:rPr>
              <a:t>quo</a:t>
            </a:r>
            <a:endParaRPr sz="2600">
              <a:latin typeface="Arial MT"/>
              <a:cs typeface="Arial MT"/>
            </a:endParaRPr>
          </a:p>
          <a:p>
            <a:pPr marL="796925" indent="-343535">
              <a:lnSpc>
                <a:spcPts val="2630"/>
              </a:lnSpc>
              <a:spcBef>
                <a:spcPts val="680"/>
              </a:spcBef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2600" b="1" dirty="0">
                <a:latin typeface="Arial"/>
                <a:cs typeface="Arial"/>
              </a:rPr>
              <a:t>Renewal</a:t>
            </a:r>
            <a:r>
              <a:rPr sz="2600" b="1" spc="-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examination</a:t>
            </a:r>
            <a:r>
              <a:rPr sz="2600" dirty="0">
                <a:latin typeface="Arial MT"/>
                <a:cs typeface="Arial MT"/>
              </a:rPr>
              <a:t> of </a:t>
            </a:r>
            <a:r>
              <a:rPr sz="2600" spc="-5" dirty="0">
                <a:latin typeface="Arial MT"/>
                <a:cs typeface="Arial MT"/>
              </a:rPr>
              <a:t>organizational</a:t>
            </a:r>
            <a:endParaRPr sz="2600">
              <a:latin typeface="Arial MT"/>
              <a:cs typeface="Arial MT"/>
            </a:endParaRPr>
          </a:p>
          <a:p>
            <a:pPr marL="796925" marR="816610">
              <a:lnSpc>
                <a:spcPct val="70500"/>
              </a:lnSpc>
              <a:spcBef>
                <a:spcPts val="430"/>
              </a:spcBef>
            </a:pPr>
            <a:r>
              <a:rPr sz="2600" dirty="0">
                <a:latin typeface="Arial MT"/>
                <a:cs typeface="Arial MT"/>
              </a:rPr>
              <a:t>weaknesses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are leading </a:t>
            </a:r>
            <a:r>
              <a:rPr sz="2600" spc="-5" dirty="0">
                <a:latin typeface="Arial MT"/>
                <a:cs typeface="Arial MT"/>
              </a:rPr>
              <a:t>to performance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declines.</a:t>
            </a:r>
            <a:endParaRPr sz="2600">
              <a:latin typeface="Arial MT"/>
              <a:cs typeface="Arial MT"/>
            </a:endParaRPr>
          </a:p>
          <a:p>
            <a:pPr marL="796925" marR="194310" indent="-342900">
              <a:lnSpc>
                <a:spcPct val="68600"/>
              </a:lnSpc>
              <a:spcBef>
                <a:spcPts val="1620"/>
              </a:spcBef>
              <a:buFont typeface="Arial MT"/>
              <a:buChar char="•"/>
              <a:tabLst>
                <a:tab pos="796925" algn="l"/>
                <a:tab pos="797560" algn="l"/>
              </a:tabLst>
            </a:pPr>
            <a:r>
              <a:rPr sz="2600" b="1" spc="-5" dirty="0">
                <a:latin typeface="Arial"/>
                <a:cs typeface="Arial"/>
              </a:rPr>
              <a:t>Combination </a:t>
            </a:r>
            <a:r>
              <a:rPr sz="2600" dirty="0">
                <a:latin typeface="Arial MT"/>
                <a:cs typeface="Arial MT"/>
              </a:rPr>
              <a:t>– combine more </a:t>
            </a:r>
            <a:r>
              <a:rPr sz="2600" spc="-5" dirty="0">
                <a:latin typeface="Arial MT"/>
                <a:cs typeface="Arial MT"/>
              </a:rPr>
              <a:t>than </a:t>
            </a:r>
            <a:r>
              <a:rPr sz="2600" dirty="0">
                <a:latin typeface="Arial MT"/>
                <a:cs typeface="Arial MT"/>
              </a:rPr>
              <a:t>one </a:t>
            </a:r>
            <a:r>
              <a:rPr sz="2600" spc="-5" dirty="0">
                <a:latin typeface="Arial MT"/>
                <a:cs typeface="Arial MT"/>
              </a:rPr>
              <a:t>strategy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same </a:t>
            </a:r>
            <a:r>
              <a:rPr sz="2600" spc="-5" dirty="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4001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Corporate</a:t>
            </a:r>
            <a:r>
              <a:rPr spc="-30" dirty="0"/>
              <a:t> </a:t>
            </a:r>
            <a:r>
              <a:rPr spc="-5" dirty="0"/>
              <a:t>strategies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8069" y="1887903"/>
            <a:ext cx="6554470" cy="2851785"/>
            <a:chOff x="1118069" y="1887903"/>
            <a:chExt cx="6554470" cy="2851785"/>
          </a:xfrm>
        </p:grpSpPr>
        <p:sp>
          <p:nvSpPr>
            <p:cNvPr id="4" name="object 4"/>
            <p:cNvSpPr/>
            <p:nvPr/>
          </p:nvSpPr>
          <p:spPr>
            <a:xfrm>
              <a:off x="5794075" y="2869723"/>
              <a:ext cx="1865630" cy="443865"/>
            </a:xfrm>
            <a:custGeom>
              <a:avLst/>
              <a:gdLst/>
              <a:ahLst/>
              <a:cxnLst/>
              <a:rect l="l" t="t" r="r" b="b"/>
              <a:pathLst>
                <a:path w="1865629" h="443864">
                  <a:moveTo>
                    <a:pt x="0" y="0"/>
                  </a:moveTo>
                  <a:lnTo>
                    <a:pt x="0" y="302478"/>
                  </a:lnTo>
                  <a:lnTo>
                    <a:pt x="1865321" y="302478"/>
                  </a:lnTo>
                  <a:lnTo>
                    <a:pt x="1865321" y="443860"/>
                  </a:lnTo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94075" y="2869723"/>
              <a:ext cx="0" cy="443865"/>
            </a:xfrm>
            <a:custGeom>
              <a:avLst/>
              <a:gdLst/>
              <a:ahLst/>
              <a:cxnLst/>
              <a:rect l="l" t="t" r="r" b="b"/>
              <a:pathLst>
                <a:path h="443864">
                  <a:moveTo>
                    <a:pt x="0" y="0"/>
                  </a:moveTo>
                  <a:lnTo>
                    <a:pt x="0" y="443860"/>
                  </a:lnTo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28753" y="2869723"/>
              <a:ext cx="1865630" cy="443865"/>
            </a:xfrm>
            <a:custGeom>
              <a:avLst/>
              <a:gdLst/>
              <a:ahLst/>
              <a:cxnLst/>
              <a:rect l="l" t="t" r="r" b="b"/>
              <a:pathLst>
                <a:path w="1865629" h="443864">
                  <a:moveTo>
                    <a:pt x="1865321" y="0"/>
                  </a:moveTo>
                  <a:lnTo>
                    <a:pt x="1865321" y="302478"/>
                  </a:lnTo>
                  <a:lnTo>
                    <a:pt x="0" y="302478"/>
                  </a:lnTo>
                  <a:lnTo>
                    <a:pt x="0" y="443860"/>
                  </a:lnTo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30988" y="190060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4">
                  <a:moveTo>
                    <a:pt x="1429259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5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59" y="969119"/>
                  </a:lnTo>
                  <a:lnTo>
                    <a:pt x="1466981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937A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0988" y="190060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4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00563" y="2061700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4">
                  <a:moveTo>
                    <a:pt x="1429259" y="0"/>
                  </a:moveTo>
                  <a:lnTo>
                    <a:pt x="96911" y="0"/>
                  </a:lnTo>
                  <a:lnTo>
                    <a:pt x="59188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4" y="940733"/>
                  </a:lnTo>
                  <a:lnTo>
                    <a:pt x="59188" y="961502"/>
                  </a:lnTo>
                  <a:lnTo>
                    <a:pt x="96911" y="969117"/>
                  </a:lnTo>
                  <a:lnTo>
                    <a:pt x="1429259" y="969117"/>
                  </a:lnTo>
                  <a:lnTo>
                    <a:pt x="1466981" y="961502"/>
                  </a:lnTo>
                  <a:lnTo>
                    <a:pt x="1497786" y="940733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0563" y="2061700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4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937A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28753" y="4282705"/>
              <a:ext cx="2798445" cy="443865"/>
            </a:xfrm>
            <a:custGeom>
              <a:avLst/>
              <a:gdLst/>
              <a:ahLst/>
              <a:cxnLst/>
              <a:rect l="l" t="t" r="r" b="b"/>
              <a:pathLst>
                <a:path w="2798445" h="443864">
                  <a:moveTo>
                    <a:pt x="0" y="0"/>
                  </a:moveTo>
                  <a:lnTo>
                    <a:pt x="0" y="302477"/>
                  </a:lnTo>
                  <a:lnTo>
                    <a:pt x="2797982" y="302477"/>
                  </a:lnTo>
                  <a:lnTo>
                    <a:pt x="2797982" y="443860"/>
                  </a:lnTo>
                </a:path>
                <a:path w="2798445" h="443864">
                  <a:moveTo>
                    <a:pt x="0" y="0"/>
                  </a:moveTo>
                  <a:lnTo>
                    <a:pt x="0" y="302477"/>
                  </a:lnTo>
                  <a:lnTo>
                    <a:pt x="932660" y="302477"/>
                  </a:lnTo>
                  <a:lnTo>
                    <a:pt x="932660" y="44386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96091" y="4282705"/>
              <a:ext cx="932815" cy="443865"/>
            </a:xfrm>
            <a:custGeom>
              <a:avLst/>
              <a:gdLst/>
              <a:ahLst/>
              <a:cxnLst/>
              <a:rect l="l" t="t" r="r" b="b"/>
              <a:pathLst>
                <a:path w="932814" h="443864">
                  <a:moveTo>
                    <a:pt x="932660" y="0"/>
                  </a:moveTo>
                  <a:lnTo>
                    <a:pt x="932660" y="302477"/>
                  </a:lnTo>
                  <a:lnTo>
                    <a:pt x="0" y="302477"/>
                  </a:lnTo>
                  <a:lnTo>
                    <a:pt x="0" y="44386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30769" y="4282705"/>
              <a:ext cx="2798445" cy="443865"/>
            </a:xfrm>
            <a:custGeom>
              <a:avLst/>
              <a:gdLst/>
              <a:ahLst/>
              <a:cxnLst/>
              <a:rect l="l" t="t" r="r" b="b"/>
              <a:pathLst>
                <a:path w="2798445" h="443864">
                  <a:moveTo>
                    <a:pt x="2797982" y="0"/>
                  </a:moveTo>
                  <a:lnTo>
                    <a:pt x="2797982" y="302477"/>
                  </a:lnTo>
                  <a:lnTo>
                    <a:pt x="0" y="302477"/>
                  </a:lnTo>
                  <a:lnTo>
                    <a:pt x="0" y="44386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482971" y="2261524"/>
            <a:ext cx="967740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209" marR="5080" indent="-17145">
              <a:lnSpc>
                <a:spcPts val="1900"/>
              </a:lnSpc>
              <a:spcBef>
                <a:spcPts val="380"/>
              </a:spcBef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dirty="0">
                <a:latin typeface="Calibri"/>
                <a:cs typeface="Calibri"/>
              </a:rPr>
              <a:t>ate  </a:t>
            </a:r>
            <a:r>
              <a:rPr sz="1800" spc="-5" dirty="0">
                <a:latin typeface="Calibri"/>
                <a:cs typeface="Calibri"/>
              </a:rPr>
              <a:t>strategies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2966" y="3300884"/>
            <a:ext cx="1721485" cy="1155700"/>
            <a:chOff x="3152966" y="3300884"/>
            <a:chExt cx="1721485" cy="1155700"/>
          </a:xfrm>
        </p:grpSpPr>
        <p:sp>
          <p:nvSpPr>
            <p:cNvPr id="16" name="object 16"/>
            <p:cNvSpPr/>
            <p:nvPr/>
          </p:nvSpPr>
          <p:spPr>
            <a:xfrm>
              <a:off x="3165666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4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4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59" y="969119"/>
                  </a:lnTo>
                  <a:lnTo>
                    <a:pt x="1466981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5666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2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2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35242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1" y="0"/>
                  </a:lnTo>
                  <a:lnTo>
                    <a:pt x="59188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4" y="940733"/>
                  </a:lnTo>
                  <a:lnTo>
                    <a:pt x="59188" y="961502"/>
                  </a:lnTo>
                  <a:lnTo>
                    <a:pt x="96911" y="969117"/>
                  </a:lnTo>
                  <a:lnTo>
                    <a:pt x="1429259" y="969117"/>
                  </a:lnTo>
                  <a:lnTo>
                    <a:pt x="1466981" y="961502"/>
                  </a:lnTo>
                  <a:lnTo>
                    <a:pt x="1497786" y="940733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35242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36526" y="3797950"/>
            <a:ext cx="730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row</a:t>
            </a:r>
            <a:r>
              <a:rPr sz="1800" dirty="0">
                <a:latin typeface="Calibri"/>
                <a:cs typeface="Calibri"/>
              </a:rPr>
              <a:t>th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4982" y="4713866"/>
            <a:ext cx="1721485" cy="1155700"/>
            <a:chOff x="354982" y="4713866"/>
            <a:chExt cx="1721485" cy="1155700"/>
          </a:xfrm>
        </p:grpSpPr>
        <p:sp>
          <p:nvSpPr>
            <p:cNvPr id="22" name="object 22"/>
            <p:cNvSpPr/>
            <p:nvPr/>
          </p:nvSpPr>
          <p:spPr>
            <a:xfrm>
              <a:off x="367682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4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7"/>
                  </a:lnTo>
                  <a:lnTo>
                    <a:pt x="7615" y="909929"/>
                  </a:lnTo>
                  <a:lnTo>
                    <a:pt x="28384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59" y="969119"/>
                  </a:lnTo>
                  <a:lnTo>
                    <a:pt x="1466982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7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2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7682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7257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1" y="0"/>
                  </a:lnTo>
                  <a:lnTo>
                    <a:pt x="59189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8"/>
                  </a:lnTo>
                  <a:lnTo>
                    <a:pt x="28384" y="940733"/>
                  </a:lnTo>
                  <a:lnTo>
                    <a:pt x="59189" y="961502"/>
                  </a:lnTo>
                  <a:lnTo>
                    <a:pt x="96911" y="969118"/>
                  </a:lnTo>
                  <a:lnTo>
                    <a:pt x="1429259" y="969118"/>
                  </a:lnTo>
                  <a:lnTo>
                    <a:pt x="1466982" y="961502"/>
                  </a:lnTo>
                  <a:lnTo>
                    <a:pt x="1497786" y="940733"/>
                  </a:lnTo>
                  <a:lnTo>
                    <a:pt x="1518556" y="909928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6" y="59188"/>
                  </a:lnTo>
                  <a:lnTo>
                    <a:pt x="1497786" y="28384"/>
                  </a:lnTo>
                  <a:lnTo>
                    <a:pt x="1466982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7257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7398" y="5210931"/>
            <a:ext cx="135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Concentration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220305" y="4713866"/>
            <a:ext cx="1721485" cy="1155700"/>
            <a:chOff x="2220305" y="4713866"/>
            <a:chExt cx="1721485" cy="1155700"/>
          </a:xfrm>
        </p:grpSpPr>
        <p:sp>
          <p:nvSpPr>
            <p:cNvPr id="28" name="object 28"/>
            <p:cNvSpPr/>
            <p:nvPr/>
          </p:nvSpPr>
          <p:spPr>
            <a:xfrm>
              <a:off x="2233005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60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7"/>
                  </a:lnTo>
                  <a:lnTo>
                    <a:pt x="7615" y="909929"/>
                  </a:lnTo>
                  <a:lnTo>
                    <a:pt x="28385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60" y="969119"/>
                  </a:lnTo>
                  <a:lnTo>
                    <a:pt x="1466982" y="961503"/>
                  </a:lnTo>
                  <a:lnTo>
                    <a:pt x="1497787" y="940734"/>
                  </a:lnTo>
                  <a:lnTo>
                    <a:pt x="1518555" y="909929"/>
                  </a:lnTo>
                  <a:lnTo>
                    <a:pt x="1526171" y="872207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7" y="28385"/>
                  </a:lnTo>
                  <a:lnTo>
                    <a:pt x="1466982" y="7615"/>
                  </a:lnTo>
                  <a:lnTo>
                    <a:pt x="142926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33005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02581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1" y="0"/>
                  </a:lnTo>
                  <a:lnTo>
                    <a:pt x="59188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8"/>
                  </a:lnTo>
                  <a:lnTo>
                    <a:pt x="28384" y="940733"/>
                  </a:lnTo>
                  <a:lnTo>
                    <a:pt x="59188" y="961502"/>
                  </a:lnTo>
                  <a:lnTo>
                    <a:pt x="96911" y="969118"/>
                  </a:lnTo>
                  <a:lnTo>
                    <a:pt x="1429259" y="969118"/>
                  </a:lnTo>
                  <a:lnTo>
                    <a:pt x="1466981" y="961502"/>
                  </a:lnTo>
                  <a:lnTo>
                    <a:pt x="1497786" y="940733"/>
                  </a:lnTo>
                  <a:lnTo>
                    <a:pt x="1518555" y="909928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02580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639726" y="5087487"/>
            <a:ext cx="1058545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161290">
              <a:lnSpc>
                <a:spcPts val="1900"/>
              </a:lnSpc>
              <a:spcBef>
                <a:spcPts val="380"/>
              </a:spcBef>
            </a:pPr>
            <a:r>
              <a:rPr sz="1800" spc="-5" dirty="0">
                <a:latin typeface="Calibri"/>
                <a:cs typeface="Calibri"/>
              </a:rPr>
              <a:t>Vertical </a:t>
            </a:r>
            <a:r>
              <a:rPr sz="1800" dirty="0">
                <a:latin typeface="Calibri"/>
                <a:cs typeface="Calibri"/>
              </a:rPr>
              <a:t> Int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ratio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85626" y="4713866"/>
            <a:ext cx="1721485" cy="1155700"/>
            <a:chOff x="4085626" y="4713866"/>
            <a:chExt cx="1721485" cy="1155700"/>
          </a:xfrm>
        </p:grpSpPr>
        <p:sp>
          <p:nvSpPr>
            <p:cNvPr id="34" name="object 34"/>
            <p:cNvSpPr/>
            <p:nvPr/>
          </p:nvSpPr>
          <p:spPr>
            <a:xfrm>
              <a:off x="4098326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60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7"/>
                  </a:lnTo>
                  <a:lnTo>
                    <a:pt x="7615" y="909929"/>
                  </a:lnTo>
                  <a:lnTo>
                    <a:pt x="28385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60" y="969119"/>
                  </a:lnTo>
                  <a:lnTo>
                    <a:pt x="1466982" y="961503"/>
                  </a:lnTo>
                  <a:lnTo>
                    <a:pt x="1497787" y="940734"/>
                  </a:lnTo>
                  <a:lnTo>
                    <a:pt x="1518555" y="909929"/>
                  </a:lnTo>
                  <a:lnTo>
                    <a:pt x="1526171" y="872207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7" y="28385"/>
                  </a:lnTo>
                  <a:lnTo>
                    <a:pt x="1466982" y="7615"/>
                  </a:lnTo>
                  <a:lnTo>
                    <a:pt x="142926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98326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67902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1429259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8"/>
                  </a:lnTo>
                  <a:lnTo>
                    <a:pt x="28384" y="940733"/>
                  </a:lnTo>
                  <a:lnTo>
                    <a:pt x="59189" y="961502"/>
                  </a:lnTo>
                  <a:lnTo>
                    <a:pt x="96912" y="969118"/>
                  </a:lnTo>
                  <a:lnTo>
                    <a:pt x="1429259" y="969118"/>
                  </a:lnTo>
                  <a:lnTo>
                    <a:pt x="1466981" y="961502"/>
                  </a:lnTo>
                  <a:lnTo>
                    <a:pt x="1497786" y="940733"/>
                  </a:lnTo>
                  <a:lnTo>
                    <a:pt x="1518555" y="909928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67902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39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07615" y="5087487"/>
            <a:ext cx="1053465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31115">
              <a:lnSpc>
                <a:spcPts val="1900"/>
              </a:lnSpc>
              <a:spcBef>
                <a:spcPts val="380"/>
              </a:spcBef>
            </a:pPr>
            <a:r>
              <a:rPr sz="1800" spc="-5" dirty="0">
                <a:latin typeface="Calibri"/>
                <a:cs typeface="Calibri"/>
              </a:rPr>
              <a:t>Horizontal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ratio</a:t>
            </a: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50950" y="4713866"/>
            <a:ext cx="1721485" cy="1155700"/>
            <a:chOff x="5950950" y="4713866"/>
            <a:chExt cx="1721485" cy="1155700"/>
          </a:xfrm>
        </p:grpSpPr>
        <p:sp>
          <p:nvSpPr>
            <p:cNvPr id="40" name="object 40"/>
            <p:cNvSpPr/>
            <p:nvPr/>
          </p:nvSpPr>
          <p:spPr>
            <a:xfrm>
              <a:off x="5963650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59" y="0"/>
                  </a:moveTo>
                  <a:lnTo>
                    <a:pt x="96911" y="0"/>
                  </a:lnTo>
                  <a:lnTo>
                    <a:pt x="59188" y="7615"/>
                  </a:lnTo>
                  <a:lnTo>
                    <a:pt x="28384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7"/>
                  </a:lnTo>
                  <a:lnTo>
                    <a:pt x="7615" y="909929"/>
                  </a:lnTo>
                  <a:lnTo>
                    <a:pt x="28384" y="940734"/>
                  </a:lnTo>
                  <a:lnTo>
                    <a:pt x="59188" y="961503"/>
                  </a:lnTo>
                  <a:lnTo>
                    <a:pt x="96911" y="969119"/>
                  </a:lnTo>
                  <a:lnTo>
                    <a:pt x="1429259" y="969119"/>
                  </a:lnTo>
                  <a:lnTo>
                    <a:pt x="1466981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7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63650" y="4726566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6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6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33223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60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8"/>
                  </a:lnTo>
                  <a:lnTo>
                    <a:pt x="28385" y="940733"/>
                  </a:lnTo>
                  <a:lnTo>
                    <a:pt x="59189" y="961502"/>
                  </a:lnTo>
                  <a:lnTo>
                    <a:pt x="96912" y="969118"/>
                  </a:lnTo>
                  <a:lnTo>
                    <a:pt x="1429260" y="969118"/>
                  </a:lnTo>
                  <a:lnTo>
                    <a:pt x="1466982" y="961502"/>
                  </a:lnTo>
                  <a:lnTo>
                    <a:pt x="1497787" y="940733"/>
                  </a:lnTo>
                  <a:lnTo>
                    <a:pt x="1518556" y="909928"/>
                  </a:lnTo>
                  <a:lnTo>
                    <a:pt x="1526172" y="872206"/>
                  </a:lnTo>
                  <a:lnTo>
                    <a:pt x="1526172" y="96911"/>
                  </a:lnTo>
                  <a:lnTo>
                    <a:pt x="1518556" y="59188"/>
                  </a:lnTo>
                  <a:lnTo>
                    <a:pt x="1497787" y="28384"/>
                  </a:lnTo>
                  <a:lnTo>
                    <a:pt x="1466982" y="7615"/>
                  </a:lnTo>
                  <a:lnTo>
                    <a:pt x="142926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33223" y="4887663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223365" y="5210931"/>
            <a:ext cx="135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Diversification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18288" y="3300884"/>
            <a:ext cx="1721485" cy="1155700"/>
            <a:chOff x="5018288" y="3300884"/>
            <a:chExt cx="1721485" cy="1155700"/>
          </a:xfrm>
        </p:grpSpPr>
        <p:sp>
          <p:nvSpPr>
            <p:cNvPr id="46" name="object 46"/>
            <p:cNvSpPr/>
            <p:nvPr/>
          </p:nvSpPr>
          <p:spPr>
            <a:xfrm>
              <a:off x="5030988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59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5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59" y="969119"/>
                  </a:lnTo>
                  <a:lnTo>
                    <a:pt x="1466981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30988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200563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59" y="0"/>
                  </a:moveTo>
                  <a:lnTo>
                    <a:pt x="96911" y="0"/>
                  </a:lnTo>
                  <a:lnTo>
                    <a:pt x="59188" y="7615"/>
                  </a:lnTo>
                  <a:lnTo>
                    <a:pt x="28384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4" y="940733"/>
                  </a:lnTo>
                  <a:lnTo>
                    <a:pt x="59188" y="961502"/>
                  </a:lnTo>
                  <a:lnTo>
                    <a:pt x="96911" y="969117"/>
                  </a:lnTo>
                  <a:lnTo>
                    <a:pt x="1429259" y="969117"/>
                  </a:lnTo>
                  <a:lnTo>
                    <a:pt x="1466981" y="961502"/>
                  </a:lnTo>
                  <a:lnTo>
                    <a:pt x="1497786" y="940733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1" y="7615"/>
                  </a:lnTo>
                  <a:lnTo>
                    <a:pt x="1429259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00563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79802" y="3797950"/>
            <a:ext cx="77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Stability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883610" y="3300884"/>
            <a:ext cx="1721485" cy="1155700"/>
            <a:chOff x="6883610" y="3300884"/>
            <a:chExt cx="1721485" cy="1155700"/>
          </a:xfrm>
        </p:grpSpPr>
        <p:sp>
          <p:nvSpPr>
            <p:cNvPr id="52" name="object 52"/>
            <p:cNvSpPr/>
            <p:nvPr/>
          </p:nvSpPr>
          <p:spPr>
            <a:xfrm>
              <a:off x="6896310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60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4" y="28385"/>
                  </a:lnTo>
                  <a:lnTo>
                    <a:pt x="7615" y="59189"/>
                  </a:lnTo>
                  <a:lnTo>
                    <a:pt x="0" y="96912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4" y="940734"/>
                  </a:lnTo>
                  <a:lnTo>
                    <a:pt x="59189" y="961503"/>
                  </a:lnTo>
                  <a:lnTo>
                    <a:pt x="96912" y="969119"/>
                  </a:lnTo>
                  <a:lnTo>
                    <a:pt x="1429260" y="969119"/>
                  </a:lnTo>
                  <a:lnTo>
                    <a:pt x="1466982" y="961503"/>
                  </a:lnTo>
                  <a:lnTo>
                    <a:pt x="1497786" y="940734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2"/>
                  </a:lnTo>
                  <a:lnTo>
                    <a:pt x="1518555" y="59189"/>
                  </a:lnTo>
                  <a:lnTo>
                    <a:pt x="1497786" y="28385"/>
                  </a:lnTo>
                  <a:lnTo>
                    <a:pt x="1466982" y="7615"/>
                  </a:lnTo>
                  <a:lnTo>
                    <a:pt x="1429260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96310" y="3313584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1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1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065886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1429260" y="0"/>
                  </a:moveTo>
                  <a:lnTo>
                    <a:pt x="96912" y="0"/>
                  </a:lnTo>
                  <a:lnTo>
                    <a:pt x="59189" y="7615"/>
                  </a:lnTo>
                  <a:lnTo>
                    <a:pt x="28385" y="28384"/>
                  </a:lnTo>
                  <a:lnTo>
                    <a:pt x="7615" y="59188"/>
                  </a:lnTo>
                  <a:lnTo>
                    <a:pt x="0" y="96911"/>
                  </a:lnTo>
                  <a:lnTo>
                    <a:pt x="0" y="872206"/>
                  </a:lnTo>
                  <a:lnTo>
                    <a:pt x="7615" y="909929"/>
                  </a:lnTo>
                  <a:lnTo>
                    <a:pt x="28385" y="940733"/>
                  </a:lnTo>
                  <a:lnTo>
                    <a:pt x="59189" y="961502"/>
                  </a:lnTo>
                  <a:lnTo>
                    <a:pt x="96912" y="969117"/>
                  </a:lnTo>
                  <a:lnTo>
                    <a:pt x="1429260" y="969117"/>
                  </a:lnTo>
                  <a:lnTo>
                    <a:pt x="1466982" y="961502"/>
                  </a:lnTo>
                  <a:lnTo>
                    <a:pt x="1497786" y="940733"/>
                  </a:lnTo>
                  <a:lnTo>
                    <a:pt x="1518555" y="909929"/>
                  </a:lnTo>
                  <a:lnTo>
                    <a:pt x="1526171" y="872206"/>
                  </a:lnTo>
                  <a:lnTo>
                    <a:pt x="1526171" y="96911"/>
                  </a:lnTo>
                  <a:lnTo>
                    <a:pt x="1518555" y="59188"/>
                  </a:lnTo>
                  <a:lnTo>
                    <a:pt x="1497786" y="28384"/>
                  </a:lnTo>
                  <a:lnTo>
                    <a:pt x="1466982" y="7615"/>
                  </a:lnTo>
                  <a:lnTo>
                    <a:pt x="1429260" y="0"/>
                  </a:lnTo>
                  <a:close/>
                </a:path>
              </a:pathLst>
            </a:custGeom>
            <a:solidFill>
              <a:srgbClr val="FFFFFF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65886" y="3474681"/>
              <a:ext cx="1526540" cy="969644"/>
            </a:xfrm>
            <a:custGeom>
              <a:avLst/>
              <a:gdLst/>
              <a:ahLst/>
              <a:cxnLst/>
              <a:rect l="l" t="t" r="r" b="b"/>
              <a:pathLst>
                <a:path w="1526540" h="969645">
                  <a:moveTo>
                    <a:pt x="0" y="96911"/>
                  </a:moveTo>
                  <a:lnTo>
                    <a:pt x="7615" y="59189"/>
                  </a:lnTo>
                  <a:lnTo>
                    <a:pt x="28384" y="28384"/>
                  </a:lnTo>
                  <a:lnTo>
                    <a:pt x="59189" y="7615"/>
                  </a:lnTo>
                  <a:lnTo>
                    <a:pt x="96911" y="0"/>
                  </a:lnTo>
                  <a:lnTo>
                    <a:pt x="1429259" y="0"/>
                  </a:lnTo>
                  <a:lnTo>
                    <a:pt x="1466982" y="7615"/>
                  </a:lnTo>
                  <a:lnTo>
                    <a:pt x="1497786" y="28384"/>
                  </a:lnTo>
                  <a:lnTo>
                    <a:pt x="1518555" y="59189"/>
                  </a:lnTo>
                  <a:lnTo>
                    <a:pt x="1526171" y="96911"/>
                  </a:lnTo>
                  <a:lnTo>
                    <a:pt x="1526171" y="872206"/>
                  </a:lnTo>
                  <a:lnTo>
                    <a:pt x="1518555" y="909929"/>
                  </a:lnTo>
                  <a:lnTo>
                    <a:pt x="1497786" y="940733"/>
                  </a:lnTo>
                  <a:lnTo>
                    <a:pt x="1466982" y="961502"/>
                  </a:lnTo>
                  <a:lnTo>
                    <a:pt x="1429259" y="969118"/>
                  </a:lnTo>
                  <a:lnTo>
                    <a:pt x="96911" y="969118"/>
                  </a:lnTo>
                  <a:lnTo>
                    <a:pt x="59189" y="961502"/>
                  </a:lnTo>
                  <a:lnTo>
                    <a:pt x="28384" y="940733"/>
                  </a:lnTo>
                  <a:lnTo>
                    <a:pt x="7615" y="909929"/>
                  </a:lnTo>
                  <a:lnTo>
                    <a:pt x="0" y="872206"/>
                  </a:lnTo>
                  <a:lnTo>
                    <a:pt x="0" y="96911"/>
                  </a:lnTo>
                  <a:close/>
                </a:path>
              </a:pathLst>
            </a:cu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420903" y="3797950"/>
            <a:ext cx="822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Renewal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2577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SWOT</a:t>
            </a:r>
            <a:r>
              <a:rPr spc="-65" dirty="0"/>
              <a:t> </a:t>
            </a:r>
            <a:r>
              <a:rPr spc="-5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245" y="2033280"/>
            <a:ext cx="7590312" cy="388197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7121" y="1350529"/>
            <a:ext cx="7731125" cy="4829175"/>
            <a:chOff x="727121" y="1350529"/>
            <a:chExt cx="7731125" cy="4829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7121" y="1398154"/>
              <a:ext cx="7469212" cy="47815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80654" y="1350529"/>
              <a:ext cx="7378065" cy="450850"/>
            </a:xfrm>
            <a:custGeom>
              <a:avLst/>
              <a:gdLst/>
              <a:ahLst/>
              <a:cxnLst/>
              <a:rect l="l" t="t" r="r" b="b"/>
              <a:pathLst>
                <a:path w="7378065" h="450850">
                  <a:moveTo>
                    <a:pt x="7377543" y="0"/>
                  </a:moveTo>
                  <a:lnTo>
                    <a:pt x="0" y="0"/>
                  </a:lnTo>
                  <a:lnTo>
                    <a:pt x="0" y="450273"/>
                  </a:lnTo>
                  <a:lnTo>
                    <a:pt x="7377543" y="450273"/>
                  </a:lnTo>
                  <a:lnTo>
                    <a:pt x="7377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22618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BCG</a:t>
            </a:r>
            <a:r>
              <a:rPr spc="-75" dirty="0"/>
              <a:t> </a:t>
            </a:r>
            <a:r>
              <a:rPr spc="-5" dirty="0"/>
              <a:t>matrix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2645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Ansoff</a:t>
            </a:r>
            <a:r>
              <a:rPr spc="-50" dirty="0"/>
              <a:t> </a:t>
            </a:r>
            <a:r>
              <a:rPr spc="-5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158" y="1046818"/>
            <a:ext cx="5462918" cy="541347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43846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Competitive</a:t>
            </a:r>
            <a:r>
              <a:rPr spc="-25" dirty="0"/>
              <a:t> </a:t>
            </a:r>
            <a:r>
              <a:rPr spc="-5" dirty="0"/>
              <a:t>strategies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600075" marR="5080" indent="-342900">
              <a:lnSpc>
                <a:spcPct val="78900"/>
              </a:lnSpc>
              <a:spcBef>
                <a:spcPts val="805"/>
              </a:spcBef>
              <a:buFont typeface="Wingdings"/>
              <a:buChar char=""/>
              <a:tabLst>
                <a:tab pos="600710" algn="l"/>
              </a:tabLst>
            </a:pPr>
            <a:r>
              <a:rPr b="1" spc="-5" dirty="0">
                <a:latin typeface="Arial"/>
                <a:cs typeface="Arial"/>
              </a:rPr>
              <a:t>Competitive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strategy</a:t>
            </a:r>
            <a:r>
              <a:rPr b="1" dirty="0">
                <a:latin typeface="Arial"/>
                <a:cs typeface="Arial"/>
              </a:rPr>
              <a:t> </a:t>
            </a:r>
            <a:r>
              <a:rPr dirty="0"/>
              <a:t>– an</a:t>
            </a:r>
            <a:r>
              <a:rPr spc="5" dirty="0"/>
              <a:t> </a:t>
            </a:r>
            <a:r>
              <a:rPr spc="-5" dirty="0"/>
              <a:t>organizational </a:t>
            </a:r>
            <a:r>
              <a:rPr dirty="0"/>
              <a:t> </a:t>
            </a:r>
            <a:r>
              <a:rPr spc="-5" dirty="0"/>
              <a:t>strategy for</a:t>
            </a:r>
            <a:r>
              <a:rPr dirty="0"/>
              <a:t> how</a:t>
            </a:r>
            <a:r>
              <a:rPr spc="5" dirty="0"/>
              <a:t> </a:t>
            </a:r>
            <a:r>
              <a:rPr dirty="0"/>
              <a:t>an </a:t>
            </a:r>
            <a:r>
              <a:rPr spc="-5" dirty="0"/>
              <a:t>organization</a:t>
            </a:r>
            <a:r>
              <a:rPr spc="5" dirty="0"/>
              <a:t> </a:t>
            </a:r>
            <a:r>
              <a:rPr dirty="0"/>
              <a:t>will</a:t>
            </a:r>
            <a:r>
              <a:rPr spc="5" dirty="0"/>
              <a:t> </a:t>
            </a:r>
            <a:r>
              <a:rPr spc="-5" dirty="0"/>
              <a:t>compete</a:t>
            </a:r>
            <a:r>
              <a:rPr dirty="0"/>
              <a:t> in </a:t>
            </a:r>
            <a:r>
              <a:rPr spc="-760" dirty="0"/>
              <a:t> </a:t>
            </a:r>
            <a:r>
              <a:rPr spc="-5" dirty="0"/>
              <a:t>its</a:t>
            </a:r>
            <a:r>
              <a:rPr spc="-10" dirty="0"/>
              <a:t> </a:t>
            </a:r>
            <a:r>
              <a:rPr spc="-5" dirty="0"/>
              <a:t>business(es).</a:t>
            </a:r>
          </a:p>
          <a:p>
            <a:pPr marL="600075" marR="1211580" indent="-342900">
              <a:lnSpc>
                <a:spcPts val="2730"/>
              </a:lnSpc>
              <a:spcBef>
                <a:spcPts val="630"/>
              </a:spcBef>
              <a:buFont typeface="Wingdings"/>
              <a:buChar char=""/>
              <a:tabLst>
                <a:tab pos="600710" algn="l"/>
              </a:tabLst>
            </a:pPr>
            <a:r>
              <a:rPr b="1" spc="-5" dirty="0">
                <a:latin typeface="Arial"/>
                <a:cs typeface="Arial"/>
              </a:rPr>
              <a:t>Competitive advantage </a:t>
            </a:r>
            <a:r>
              <a:rPr dirty="0"/>
              <a:t>– what </a:t>
            </a:r>
            <a:r>
              <a:rPr spc="-5" dirty="0"/>
              <a:t>sets </a:t>
            </a:r>
            <a:r>
              <a:rPr dirty="0"/>
              <a:t>an </a:t>
            </a:r>
            <a:r>
              <a:rPr spc="-765" dirty="0"/>
              <a:t> </a:t>
            </a:r>
            <a:r>
              <a:rPr spc="-5" dirty="0"/>
              <a:t>organization</a:t>
            </a:r>
            <a:r>
              <a:rPr spc="5" dirty="0"/>
              <a:t> </a:t>
            </a:r>
            <a:r>
              <a:rPr spc="-5" dirty="0"/>
              <a:t>apart;</a:t>
            </a:r>
            <a:r>
              <a:rPr dirty="0"/>
              <a:t> </a:t>
            </a:r>
            <a:r>
              <a:rPr spc="-5" dirty="0"/>
              <a:t>its</a:t>
            </a:r>
            <a:r>
              <a:rPr dirty="0"/>
              <a:t> </a:t>
            </a:r>
            <a:r>
              <a:rPr spc="-5" dirty="0"/>
              <a:t>distinctive</a:t>
            </a:r>
            <a:r>
              <a:rPr spc="5" dirty="0"/>
              <a:t> </a:t>
            </a:r>
            <a:r>
              <a:rPr dirty="0"/>
              <a:t>edge.</a:t>
            </a:r>
          </a:p>
          <a:p>
            <a:pPr marL="1000125" lvl="1" indent="-285750">
              <a:lnSpc>
                <a:spcPts val="3329"/>
              </a:lnSpc>
              <a:spcBef>
                <a:spcPts val="25"/>
              </a:spcBef>
              <a:buChar char="•"/>
              <a:tabLst>
                <a:tab pos="1000125" algn="l"/>
                <a:tab pos="1000760" algn="l"/>
              </a:tabLst>
            </a:pPr>
            <a:r>
              <a:rPr sz="2800" spc="-5" dirty="0">
                <a:latin typeface="Arial MT"/>
                <a:cs typeface="Arial MT"/>
              </a:rPr>
              <a:t>Quality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Competitive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Advantage</a:t>
            </a:r>
            <a:endParaRPr sz="2800">
              <a:latin typeface="Arial MT"/>
              <a:cs typeface="Arial MT"/>
            </a:endParaRPr>
          </a:p>
          <a:p>
            <a:pPr marL="1000125" lvl="1" indent="-285750">
              <a:lnSpc>
                <a:spcPts val="3329"/>
              </a:lnSpc>
              <a:buChar char="•"/>
              <a:tabLst>
                <a:tab pos="1000125" algn="l"/>
                <a:tab pos="1000760" algn="l"/>
              </a:tabLst>
            </a:pPr>
            <a:r>
              <a:rPr sz="2800" dirty="0">
                <a:latin typeface="Arial MT"/>
                <a:cs typeface="Arial MT"/>
              </a:rPr>
              <a:t>Design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Thinking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 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Competitive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Advantage</a:t>
            </a:r>
            <a:endParaRPr sz="2800">
              <a:latin typeface="Arial MT"/>
              <a:cs typeface="Arial MT"/>
            </a:endParaRPr>
          </a:p>
          <a:p>
            <a:pPr marL="1000125" lvl="1" indent="-285750">
              <a:lnSpc>
                <a:spcPts val="3329"/>
              </a:lnSpc>
              <a:spcBef>
                <a:spcPts val="40"/>
              </a:spcBef>
              <a:buChar char="•"/>
              <a:tabLst>
                <a:tab pos="1000125" algn="l"/>
                <a:tab pos="1000760" algn="l"/>
              </a:tabLst>
            </a:pPr>
            <a:r>
              <a:rPr sz="2800" dirty="0">
                <a:latin typeface="Arial MT"/>
                <a:cs typeface="Arial MT"/>
              </a:rPr>
              <a:t>Social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media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5" dirty="0">
                <a:latin typeface="Arial MT"/>
                <a:cs typeface="Arial MT"/>
              </a:rPr>
              <a:t> competitive advantage</a:t>
            </a:r>
            <a:endParaRPr sz="2800">
              <a:latin typeface="Arial MT"/>
              <a:cs typeface="Arial MT"/>
            </a:endParaRPr>
          </a:p>
          <a:p>
            <a:pPr marL="1000125" lvl="1" indent="-285750">
              <a:lnSpc>
                <a:spcPts val="3329"/>
              </a:lnSpc>
              <a:buChar char="•"/>
              <a:tabLst>
                <a:tab pos="1000125" algn="l"/>
                <a:tab pos="1000760" algn="l"/>
              </a:tabLst>
            </a:pPr>
            <a:r>
              <a:rPr sz="2800" spc="-5" dirty="0">
                <a:latin typeface="Arial MT"/>
                <a:cs typeface="Arial MT"/>
              </a:rPr>
              <a:t>Sustaining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Competitive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Advantage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43846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Competitive</a:t>
            </a:r>
            <a:r>
              <a:rPr spc="-25" dirty="0"/>
              <a:t> </a:t>
            </a:r>
            <a:r>
              <a:rPr spc="-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975" y="1217585"/>
            <a:ext cx="4203065" cy="24047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485775">
              <a:lnSpc>
                <a:spcPts val="3300"/>
              </a:lnSpc>
              <a:spcBef>
                <a:spcPts val="260"/>
              </a:spcBef>
            </a:pPr>
            <a:r>
              <a:rPr sz="2800" dirty="0">
                <a:latin typeface="Arial MT"/>
                <a:cs typeface="Arial MT"/>
              </a:rPr>
              <a:t>Choosing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competitive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strategy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among: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leadership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strategy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Differentiation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strategy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Focus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strategy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4775" y="1208100"/>
            <a:ext cx="3282567" cy="18433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9134" y="4061114"/>
            <a:ext cx="1457324" cy="2019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0327" y="3846802"/>
            <a:ext cx="2143123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34810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Five</a:t>
            </a:r>
            <a:r>
              <a:rPr spc="-25" dirty="0"/>
              <a:t> </a:t>
            </a:r>
            <a:r>
              <a:rPr spc="-5" dirty="0"/>
              <a:t>forces</a:t>
            </a:r>
            <a:r>
              <a:rPr spc="-25" dirty="0"/>
              <a:t> </a:t>
            </a:r>
            <a:r>
              <a:rPr spc="-5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137" y="1357745"/>
            <a:ext cx="6890229" cy="498578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24" y="396716"/>
            <a:ext cx="41128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Functional</a:t>
            </a:r>
            <a:r>
              <a:rPr sz="3200" b="1" spc="-4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70C0"/>
                </a:solidFill>
                <a:latin typeface="Arial"/>
                <a:cs typeface="Arial"/>
              </a:rPr>
              <a:t>strategies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1209215"/>
            <a:ext cx="7793990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sz="2800" spc="-5" dirty="0">
                <a:latin typeface="Arial MT"/>
                <a:cs typeface="Arial MT"/>
              </a:rPr>
              <a:t>The strategies </a:t>
            </a:r>
            <a:r>
              <a:rPr sz="2800" dirty="0">
                <a:latin typeface="Arial MT"/>
                <a:cs typeface="Arial MT"/>
              </a:rPr>
              <a:t>used by an </a:t>
            </a:r>
            <a:r>
              <a:rPr sz="2800" spc="-5" dirty="0">
                <a:latin typeface="Arial MT"/>
                <a:cs typeface="Arial MT"/>
              </a:rPr>
              <a:t>organization’s </a:t>
            </a:r>
            <a:r>
              <a:rPr sz="2800" dirty="0">
                <a:latin typeface="Arial MT"/>
                <a:cs typeface="Arial MT"/>
              </a:rPr>
              <a:t>various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functional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departments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support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competitive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strategy.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210" y="2741756"/>
            <a:ext cx="3195472" cy="321026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00" y="270478"/>
            <a:ext cx="622363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5" dirty="0">
                <a:solidFill>
                  <a:srgbClr val="376092"/>
                </a:solidFill>
              </a:rPr>
              <a:t>5.3</a:t>
            </a:r>
            <a:r>
              <a:rPr sz="3400" spc="-30" dirty="0">
                <a:solidFill>
                  <a:srgbClr val="376092"/>
                </a:solidFill>
              </a:rPr>
              <a:t> </a:t>
            </a:r>
            <a:r>
              <a:rPr sz="3400" spc="-25" dirty="0">
                <a:solidFill>
                  <a:srgbClr val="376092"/>
                </a:solidFill>
              </a:rPr>
              <a:t>OPERATIONAL</a:t>
            </a:r>
            <a:r>
              <a:rPr sz="3400" spc="-95" dirty="0">
                <a:solidFill>
                  <a:srgbClr val="376092"/>
                </a:solidFill>
              </a:rPr>
              <a:t> </a:t>
            </a:r>
            <a:r>
              <a:rPr sz="3400" spc="-5" dirty="0">
                <a:solidFill>
                  <a:srgbClr val="376092"/>
                </a:solidFill>
              </a:rPr>
              <a:t>PLANNING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427973" y="1174517"/>
            <a:ext cx="6132195" cy="15722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5" dirty="0">
                <a:latin typeface="Arial"/>
                <a:cs typeface="Arial"/>
              </a:rPr>
              <a:t>Learning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outcomes:</a:t>
            </a:r>
            <a:endParaRPr sz="2400">
              <a:latin typeface="Arial"/>
              <a:cs typeface="Arial"/>
            </a:endParaRPr>
          </a:p>
          <a:p>
            <a:pPr marL="698500" indent="-34290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latin typeface="Arial"/>
                <a:cs typeface="Arial"/>
              </a:rPr>
              <a:t>Define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operational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planning</a:t>
            </a:r>
            <a:endParaRPr sz="2200">
              <a:latin typeface="Arial MT"/>
              <a:cs typeface="Arial MT"/>
            </a:endParaRPr>
          </a:p>
          <a:p>
            <a:pPr marL="698500" indent="-342900">
              <a:lnSpc>
                <a:spcPct val="100000"/>
              </a:lnSpc>
              <a:spcBef>
                <a:spcPts val="1260"/>
              </a:spcBef>
              <a:buFont typeface="Wingdings"/>
              <a:buChar char=""/>
              <a:tabLst>
                <a:tab pos="698500" algn="l"/>
              </a:tabLst>
            </a:pPr>
            <a:r>
              <a:rPr sz="2200" b="1" spc="-5" dirty="0">
                <a:latin typeface="Arial"/>
                <a:cs typeface="Arial"/>
              </a:rPr>
              <a:t>Explain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operational</a:t>
            </a:r>
            <a:r>
              <a:rPr sz="2200" dirty="0">
                <a:latin typeface="Arial MT"/>
                <a:cs typeface="Arial MT"/>
              </a:rPr>
              <a:t> planning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58280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</a:t>
            </a:r>
            <a:r>
              <a:rPr spc="-20" dirty="0"/>
              <a:t>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5" dirty="0"/>
              <a:t>operational</a:t>
            </a:r>
            <a:r>
              <a:rPr spc="-20" dirty="0"/>
              <a:t> </a:t>
            </a:r>
            <a:r>
              <a:rPr spc="-5" dirty="0"/>
              <a:t>planning?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24" y="988674"/>
            <a:ext cx="6266180" cy="17246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200" dirty="0">
                <a:latin typeface="Arial MT"/>
                <a:cs typeface="Arial MT"/>
              </a:rPr>
              <a:t>Planning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for:</a:t>
            </a:r>
            <a:endParaRPr sz="3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SzPct val="93750"/>
              <a:buFont typeface="Wingdings"/>
              <a:buChar char="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For </a:t>
            </a:r>
            <a:r>
              <a:rPr sz="3200" dirty="0">
                <a:latin typeface="Arial MT"/>
                <a:cs typeface="Arial MT"/>
              </a:rPr>
              <a:t>a </a:t>
            </a:r>
            <a:r>
              <a:rPr sz="3200" spc="-5" dirty="0">
                <a:latin typeface="Arial MT"/>
                <a:cs typeface="Arial MT"/>
              </a:rPr>
              <a:t>particular operational</a:t>
            </a:r>
            <a:r>
              <a:rPr sz="3200" dirty="0">
                <a:latin typeface="Arial MT"/>
                <a:cs typeface="Arial MT"/>
              </a:rPr>
              <a:t> area</a:t>
            </a:r>
            <a:endParaRPr sz="3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SzPct val="93750"/>
              <a:buFont typeface="Wingdings"/>
              <a:buChar char=""/>
              <a:tabLst>
                <a:tab pos="469900" algn="l"/>
              </a:tabLst>
            </a:pPr>
            <a:r>
              <a:rPr sz="3200" spc="-5" dirty="0">
                <a:latin typeface="Arial MT"/>
                <a:cs typeface="Arial MT"/>
              </a:rPr>
              <a:t>Short-term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4770" y="3295996"/>
            <a:ext cx="8180070" cy="3531870"/>
            <a:chOff x="764770" y="3295996"/>
            <a:chExt cx="8180070" cy="35318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4646" y="3932266"/>
              <a:ext cx="8067689" cy="28955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770" y="3295996"/>
              <a:ext cx="8179723" cy="7107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646" y="3325091"/>
              <a:ext cx="8079969" cy="6071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14646" y="3325091"/>
            <a:ext cx="8080375" cy="607695"/>
          </a:xfrm>
          <a:prstGeom prst="rect">
            <a:avLst/>
          </a:prstGeom>
          <a:ln w="9524">
            <a:solidFill>
              <a:srgbClr val="5B92C7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070"/>
              </a:spcBef>
            </a:pP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How does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 strategic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planning </a:t>
            </a:r>
            <a:r>
              <a:rPr sz="2200" spc="-10" dirty="0">
                <a:solidFill>
                  <a:srgbClr val="FFFFFF"/>
                </a:solidFill>
                <a:latin typeface="Arial MT"/>
                <a:cs typeface="Arial MT"/>
              </a:rPr>
              <a:t>differ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 from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Arial MT"/>
                <a:cs typeface="Arial MT"/>
              </a:rPr>
              <a:t>operational</a:t>
            </a:r>
            <a:r>
              <a:rPr sz="2200" dirty="0">
                <a:solidFill>
                  <a:srgbClr val="FFFFFF"/>
                </a:solidFill>
                <a:latin typeface="Arial MT"/>
                <a:cs typeface="Arial MT"/>
              </a:rPr>
              <a:t> planning?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70256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process of</a:t>
            </a:r>
            <a:r>
              <a:rPr spc="-10" dirty="0"/>
              <a:t> </a:t>
            </a:r>
            <a:r>
              <a:rPr spc="-5" dirty="0"/>
              <a:t>operational</a:t>
            </a:r>
            <a:r>
              <a:rPr spc="-10" dirty="0"/>
              <a:t> </a:t>
            </a:r>
            <a:r>
              <a:rPr spc="-5" dirty="0"/>
              <a:t>planning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52775" y="1016000"/>
            <a:ext cx="2825750" cy="1555750"/>
            <a:chOff x="3152775" y="1016000"/>
            <a:chExt cx="2825750" cy="1555750"/>
          </a:xfrm>
        </p:grpSpPr>
        <p:sp>
          <p:nvSpPr>
            <p:cNvPr id="4" name="object 4"/>
            <p:cNvSpPr/>
            <p:nvPr/>
          </p:nvSpPr>
          <p:spPr>
            <a:xfrm>
              <a:off x="3152775" y="1016000"/>
              <a:ext cx="2825750" cy="603250"/>
            </a:xfrm>
            <a:custGeom>
              <a:avLst/>
              <a:gdLst/>
              <a:ahLst/>
              <a:cxnLst/>
              <a:rect l="l" t="t" r="r" b="b"/>
              <a:pathLst>
                <a:path w="2825750" h="603250">
                  <a:moveTo>
                    <a:pt x="2825748" y="0"/>
                  </a:moveTo>
                  <a:lnTo>
                    <a:pt x="0" y="0"/>
                  </a:lnTo>
                  <a:lnTo>
                    <a:pt x="0" y="603250"/>
                  </a:lnTo>
                  <a:lnTo>
                    <a:pt x="2825748" y="603250"/>
                  </a:lnTo>
                  <a:lnTo>
                    <a:pt x="2825748" y="0"/>
                  </a:lnTo>
                  <a:close/>
                </a:path>
              </a:pathLst>
            </a:custGeom>
            <a:solidFill>
              <a:srgbClr val="FAA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52775" y="2000250"/>
              <a:ext cx="2825750" cy="571500"/>
            </a:xfrm>
            <a:custGeom>
              <a:avLst/>
              <a:gdLst/>
              <a:ahLst/>
              <a:cxnLst/>
              <a:rect l="l" t="t" r="r" b="b"/>
              <a:pathLst>
                <a:path w="2825750" h="571500">
                  <a:moveTo>
                    <a:pt x="2825748" y="0"/>
                  </a:moveTo>
                  <a:lnTo>
                    <a:pt x="0" y="0"/>
                  </a:lnTo>
                  <a:lnTo>
                    <a:pt x="0" y="571498"/>
                  </a:lnTo>
                  <a:lnTo>
                    <a:pt x="2825748" y="571498"/>
                  </a:lnTo>
                  <a:lnTo>
                    <a:pt x="2825748" y="0"/>
                  </a:lnTo>
                  <a:close/>
                </a:path>
              </a:pathLst>
            </a:custGeom>
            <a:solidFill>
              <a:srgbClr val="A1D5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50118" y="1030604"/>
            <a:ext cx="2035175" cy="140525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87630" marR="79375" algn="ctr">
              <a:lnSpc>
                <a:spcPts val="2100"/>
              </a:lnSpc>
              <a:spcBef>
                <a:spcPts val="219"/>
              </a:spcBef>
            </a:pPr>
            <a:r>
              <a:rPr sz="1800" b="1" spc="-5" dirty="0">
                <a:latin typeface="Calibri"/>
                <a:cs typeface="Calibri"/>
              </a:rPr>
              <a:t>Organization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goals/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strategies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1800" b="1" spc="-10" dirty="0">
                <a:latin typeface="Calibri"/>
                <a:cs typeface="Calibri"/>
              </a:rPr>
              <a:t>Operational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planning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61048" y="6000750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7862" y="6141401"/>
            <a:ext cx="107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Procedures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26123" y="5141911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8918" y="5282562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Rules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26123" y="4248147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80915" y="4388798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Policies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89024" y="6000750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160504" y="6141401"/>
            <a:ext cx="688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B</a:t>
            </a:r>
            <a:r>
              <a:rPr sz="1800" dirty="0">
                <a:latin typeface="Calibri"/>
                <a:cs typeface="Calibri"/>
              </a:rPr>
              <a:t>udget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89024" y="5141911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161732" y="5282562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89024" y="4270377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0" y="0"/>
                </a:moveTo>
                <a:lnTo>
                  <a:pt x="2825749" y="0"/>
                </a:lnTo>
                <a:lnTo>
                  <a:pt x="2825749" y="581022"/>
                </a:lnTo>
                <a:lnTo>
                  <a:pt x="0" y="581022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92861" y="4411028"/>
            <a:ext cx="8235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ro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65748" y="3194046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2825750" y="0"/>
                </a:moveTo>
                <a:lnTo>
                  <a:pt x="0" y="0"/>
                </a:lnTo>
                <a:lnTo>
                  <a:pt x="0" y="581022"/>
                </a:lnTo>
                <a:lnTo>
                  <a:pt x="2825750" y="581022"/>
                </a:lnTo>
                <a:lnTo>
                  <a:pt x="2825750" y="0"/>
                </a:lnTo>
                <a:close/>
              </a:path>
            </a:pathLst>
          </a:custGeom>
          <a:solidFill>
            <a:srgbClr val="FCCB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22456" y="3334697"/>
            <a:ext cx="1317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Repeated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3249" y="3184523"/>
            <a:ext cx="2825750" cy="581025"/>
          </a:xfrm>
          <a:custGeom>
            <a:avLst/>
            <a:gdLst/>
            <a:ahLst/>
            <a:cxnLst/>
            <a:rect l="l" t="t" r="r" b="b"/>
            <a:pathLst>
              <a:path w="2825750" h="581025">
                <a:moveTo>
                  <a:pt x="2825750" y="0"/>
                </a:moveTo>
                <a:lnTo>
                  <a:pt x="0" y="0"/>
                </a:lnTo>
                <a:lnTo>
                  <a:pt x="0" y="581022"/>
                </a:lnTo>
                <a:lnTo>
                  <a:pt x="2825750" y="581022"/>
                </a:lnTo>
                <a:lnTo>
                  <a:pt x="2825750" y="0"/>
                </a:lnTo>
                <a:close/>
              </a:path>
            </a:pathLst>
          </a:custGeom>
          <a:solidFill>
            <a:srgbClr val="AEAD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32412" y="3325174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Single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3424" y="1619251"/>
            <a:ext cx="6415405" cy="4735830"/>
            <a:chOff x="733424" y="1619251"/>
            <a:chExt cx="6415405" cy="4735830"/>
          </a:xfrm>
        </p:grpSpPr>
        <p:sp>
          <p:nvSpPr>
            <p:cNvPr id="24" name="object 24"/>
            <p:cNvSpPr/>
            <p:nvPr/>
          </p:nvSpPr>
          <p:spPr>
            <a:xfrm>
              <a:off x="4565648" y="1619251"/>
              <a:ext cx="0" cy="356235"/>
            </a:xfrm>
            <a:custGeom>
              <a:avLst/>
              <a:gdLst/>
              <a:ahLst/>
              <a:cxnLst/>
              <a:rect l="l" t="t" r="r" b="b"/>
              <a:pathLst>
                <a:path h="356235">
                  <a:moveTo>
                    <a:pt x="0" y="0"/>
                  </a:moveTo>
                  <a:lnTo>
                    <a:pt x="0" y="355794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6695" y="1884342"/>
              <a:ext cx="117908" cy="11590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65648" y="2571749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h="238125">
                  <a:moveTo>
                    <a:pt x="0" y="0"/>
                  </a:moveTo>
                  <a:lnTo>
                    <a:pt x="1" y="238126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00249" y="2809875"/>
              <a:ext cx="5111750" cy="0"/>
            </a:xfrm>
            <a:custGeom>
              <a:avLst/>
              <a:gdLst/>
              <a:ahLst/>
              <a:cxnLst/>
              <a:rect l="l" t="t" r="r" b="b"/>
              <a:pathLst>
                <a:path w="5111750">
                  <a:moveTo>
                    <a:pt x="0" y="0"/>
                  </a:moveTo>
                  <a:lnTo>
                    <a:pt x="5111748" y="1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6124" y="3765546"/>
              <a:ext cx="15875" cy="2520950"/>
            </a:xfrm>
            <a:custGeom>
              <a:avLst/>
              <a:gdLst/>
              <a:ahLst/>
              <a:cxnLst/>
              <a:rect l="l" t="t" r="r" b="b"/>
              <a:pathLst>
                <a:path w="15875" h="2520950">
                  <a:moveTo>
                    <a:pt x="15876" y="0"/>
                  </a:moveTo>
                  <a:lnTo>
                    <a:pt x="0" y="2520953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000" y="4560888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820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116" y="4501935"/>
              <a:ext cx="115909" cy="11790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2000" y="5411788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820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116" y="5352835"/>
              <a:ext cx="115909" cy="11790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62000" y="6286500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820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116" y="6227545"/>
              <a:ext cx="115909" cy="11790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016124" y="2809875"/>
              <a:ext cx="0" cy="349885"/>
            </a:xfrm>
            <a:custGeom>
              <a:avLst/>
              <a:gdLst/>
              <a:ahLst/>
              <a:cxnLst/>
              <a:rect l="l" t="t" r="r" b="b"/>
              <a:pathLst>
                <a:path h="349885">
                  <a:moveTo>
                    <a:pt x="0" y="0"/>
                  </a:moveTo>
                  <a:lnTo>
                    <a:pt x="0" y="349444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7170" y="3068615"/>
              <a:ext cx="117908" cy="11590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518148" y="3775070"/>
              <a:ext cx="15875" cy="2520950"/>
            </a:xfrm>
            <a:custGeom>
              <a:avLst/>
              <a:gdLst/>
              <a:ahLst/>
              <a:cxnLst/>
              <a:rect l="l" t="t" r="r" b="b"/>
              <a:pathLst>
                <a:path w="15875" h="2520950">
                  <a:moveTo>
                    <a:pt x="15876" y="0"/>
                  </a:moveTo>
                  <a:lnTo>
                    <a:pt x="0" y="2520953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34024" y="457041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1819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141" y="4511457"/>
              <a:ext cx="115909" cy="11790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34024" y="542131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1819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141" y="5362357"/>
              <a:ext cx="115909" cy="1179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34024" y="629602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60">
                  <a:moveTo>
                    <a:pt x="0" y="0"/>
                  </a:moveTo>
                  <a:lnTo>
                    <a:pt x="301819" y="0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5141" y="6237068"/>
              <a:ext cx="115909" cy="11790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89773" y="2819398"/>
              <a:ext cx="0" cy="349885"/>
            </a:xfrm>
            <a:custGeom>
              <a:avLst/>
              <a:gdLst/>
              <a:ahLst/>
              <a:cxnLst/>
              <a:rect l="l" t="t" r="r" b="b"/>
              <a:pathLst>
                <a:path h="349885">
                  <a:moveTo>
                    <a:pt x="0" y="0"/>
                  </a:moveTo>
                  <a:lnTo>
                    <a:pt x="0" y="349444"/>
                  </a:lnTo>
                </a:path>
              </a:pathLst>
            </a:custGeom>
            <a:ln w="25399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0820" y="3078139"/>
              <a:ext cx="117908" cy="1159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24" y="396716"/>
            <a:ext cx="65741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Planning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5" dirty="0"/>
              <a:t> </a:t>
            </a:r>
            <a:r>
              <a:rPr spc="-5" dirty="0"/>
              <a:t>Dynamic environment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3989" y="1226127"/>
            <a:ext cx="6766559" cy="1005840"/>
            <a:chOff x="743989" y="1226127"/>
            <a:chExt cx="6766559" cy="1005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989" y="1226127"/>
              <a:ext cx="6766559" cy="10058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910" y="1261446"/>
              <a:ext cx="6617334" cy="889000"/>
            </a:xfrm>
            <a:custGeom>
              <a:avLst/>
              <a:gdLst/>
              <a:ahLst/>
              <a:cxnLst/>
              <a:rect l="l" t="t" r="r" b="b"/>
              <a:pathLst>
                <a:path w="6617334" h="889000">
                  <a:moveTo>
                    <a:pt x="6172378" y="0"/>
                  </a:moveTo>
                  <a:lnTo>
                    <a:pt x="0" y="0"/>
                  </a:lnTo>
                  <a:lnTo>
                    <a:pt x="444499" y="444500"/>
                  </a:lnTo>
                  <a:lnTo>
                    <a:pt x="0" y="889000"/>
                  </a:lnTo>
                  <a:lnTo>
                    <a:pt x="6172378" y="889000"/>
                  </a:lnTo>
                  <a:lnTo>
                    <a:pt x="6616878" y="444500"/>
                  </a:lnTo>
                  <a:lnTo>
                    <a:pt x="6172378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910" y="1261446"/>
              <a:ext cx="6617334" cy="889000"/>
            </a:xfrm>
            <a:custGeom>
              <a:avLst/>
              <a:gdLst/>
              <a:ahLst/>
              <a:cxnLst/>
              <a:rect l="l" t="t" r="r" b="b"/>
              <a:pathLst>
                <a:path w="6617334" h="889000">
                  <a:moveTo>
                    <a:pt x="0" y="0"/>
                  </a:moveTo>
                  <a:lnTo>
                    <a:pt x="6172378" y="0"/>
                  </a:lnTo>
                  <a:lnTo>
                    <a:pt x="6616878" y="444499"/>
                  </a:lnTo>
                  <a:lnTo>
                    <a:pt x="6172378" y="888999"/>
                  </a:lnTo>
                  <a:lnTo>
                    <a:pt x="0" y="888999"/>
                  </a:lnTo>
                  <a:lnTo>
                    <a:pt x="444499" y="444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9151" y="1525606"/>
            <a:ext cx="45612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rial"/>
                <a:cs typeface="Arial"/>
              </a:rPr>
              <a:t>Stay</a:t>
            </a:r>
            <a:r>
              <a:rPr sz="2200" b="1" spc="-5" dirty="0">
                <a:latin typeface="Arial"/>
                <a:cs typeface="Arial"/>
              </a:rPr>
              <a:t> alert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to environmental</a:t>
            </a:r>
            <a:r>
              <a:rPr sz="2200" dirty="0">
                <a:latin typeface="Arial MT"/>
                <a:cs typeface="Arial MT"/>
              </a:rPr>
              <a:t> changes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6458" y="2456410"/>
            <a:ext cx="6754495" cy="1118235"/>
            <a:chOff x="756458" y="2456410"/>
            <a:chExt cx="6754495" cy="11182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458" y="2456410"/>
              <a:ext cx="6754091" cy="11180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5433" y="2493345"/>
              <a:ext cx="6609080" cy="999490"/>
            </a:xfrm>
            <a:custGeom>
              <a:avLst/>
              <a:gdLst/>
              <a:ahLst/>
              <a:cxnLst/>
              <a:rect l="l" t="t" r="r" b="b"/>
              <a:pathLst>
                <a:path w="6609080" h="999489">
                  <a:moveTo>
                    <a:pt x="6109224" y="0"/>
                  </a:moveTo>
                  <a:lnTo>
                    <a:pt x="0" y="0"/>
                  </a:lnTo>
                  <a:lnTo>
                    <a:pt x="499431" y="499432"/>
                  </a:lnTo>
                  <a:lnTo>
                    <a:pt x="0" y="998862"/>
                  </a:lnTo>
                  <a:lnTo>
                    <a:pt x="6109224" y="998862"/>
                  </a:lnTo>
                  <a:lnTo>
                    <a:pt x="6608655" y="499432"/>
                  </a:lnTo>
                  <a:lnTo>
                    <a:pt x="6109224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5433" y="2493345"/>
              <a:ext cx="6609080" cy="999490"/>
            </a:xfrm>
            <a:custGeom>
              <a:avLst/>
              <a:gdLst/>
              <a:ahLst/>
              <a:cxnLst/>
              <a:rect l="l" t="t" r="r" b="b"/>
              <a:pathLst>
                <a:path w="6609080" h="999489">
                  <a:moveTo>
                    <a:pt x="0" y="0"/>
                  </a:moveTo>
                  <a:lnTo>
                    <a:pt x="6109224" y="0"/>
                  </a:lnTo>
                  <a:lnTo>
                    <a:pt x="6608655" y="499431"/>
                  </a:lnTo>
                  <a:lnTo>
                    <a:pt x="6109224" y="998862"/>
                  </a:lnTo>
                  <a:lnTo>
                    <a:pt x="0" y="998862"/>
                  </a:lnTo>
                  <a:lnTo>
                    <a:pt x="499431" y="499431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13605" y="2812436"/>
            <a:ext cx="39541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Plans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specific,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but</a:t>
            </a:r>
            <a:r>
              <a:rPr sz="2200" b="1" spc="-1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flexible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2211" y="5182"/>
            <a:ext cx="8710930" cy="2152015"/>
            <a:chOff x="432211" y="5182"/>
            <a:chExt cx="8710930" cy="2152015"/>
          </a:xfrm>
        </p:grpSpPr>
        <p:sp>
          <p:nvSpPr>
            <p:cNvPr id="14" name="object 14"/>
            <p:cNvSpPr/>
            <p:nvPr/>
          </p:nvSpPr>
          <p:spPr>
            <a:xfrm>
              <a:off x="444912" y="127732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457313" y="0"/>
                  </a:moveTo>
                  <a:lnTo>
                    <a:pt x="407484" y="2543"/>
                  </a:lnTo>
                  <a:lnTo>
                    <a:pt x="359209" y="9998"/>
                  </a:lnTo>
                  <a:lnTo>
                    <a:pt x="312767" y="22100"/>
                  </a:lnTo>
                  <a:lnTo>
                    <a:pt x="268437" y="38584"/>
                  </a:lnTo>
                  <a:lnTo>
                    <a:pt x="226498" y="59185"/>
                  </a:lnTo>
                  <a:lnTo>
                    <a:pt x="187230" y="83640"/>
                  </a:lnTo>
                  <a:lnTo>
                    <a:pt x="150910" y="111684"/>
                  </a:lnTo>
                  <a:lnTo>
                    <a:pt x="117819" y="143052"/>
                  </a:lnTo>
                  <a:lnTo>
                    <a:pt x="88235" y="177481"/>
                  </a:lnTo>
                  <a:lnTo>
                    <a:pt x="62436" y="214705"/>
                  </a:lnTo>
                  <a:lnTo>
                    <a:pt x="40703" y="254460"/>
                  </a:lnTo>
                  <a:lnTo>
                    <a:pt x="23314" y="296481"/>
                  </a:lnTo>
                  <a:lnTo>
                    <a:pt x="10547" y="340505"/>
                  </a:lnTo>
                  <a:lnTo>
                    <a:pt x="2683" y="386266"/>
                  </a:lnTo>
                  <a:lnTo>
                    <a:pt x="0" y="433501"/>
                  </a:lnTo>
                  <a:lnTo>
                    <a:pt x="2683" y="480736"/>
                  </a:lnTo>
                  <a:lnTo>
                    <a:pt x="10547" y="526498"/>
                  </a:lnTo>
                  <a:lnTo>
                    <a:pt x="23314" y="570521"/>
                  </a:lnTo>
                  <a:lnTo>
                    <a:pt x="40703" y="612543"/>
                  </a:lnTo>
                  <a:lnTo>
                    <a:pt x="62436" y="652298"/>
                  </a:lnTo>
                  <a:lnTo>
                    <a:pt x="88235" y="689522"/>
                  </a:lnTo>
                  <a:lnTo>
                    <a:pt x="117819" y="723950"/>
                  </a:lnTo>
                  <a:lnTo>
                    <a:pt x="150910" y="755319"/>
                  </a:lnTo>
                  <a:lnTo>
                    <a:pt x="187230" y="783362"/>
                  </a:lnTo>
                  <a:lnTo>
                    <a:pt x="226498" y="807817"/>
                  </a:lnTo>
                  <a:lnTo>
                    <a:pt x="268437" y="828419"/>
                  </a:lnTo>
                  <a:lnTo>
                    <a:pt x="312767" y="844903"/>
                  </a:lnTo>
                  <a:lnTo>
                    <a:pt x="359209" y="857004"/>
                  </a:lnTo>
                  <a:lnTo>
                    <a:pt x="407484" y="864459"/>
                  </a:lnTo>
                  <a:lnTo>
                    <a:pt x="457313" y="867003"/>
                  </a:lnTo>
                  <a:lnTo>
                    <a:pt x="507143" y="864459"/>
                  </a:lnTo>
                  <a:lnTo>
                    <a:pt x="555418" y="857004"/>
                  </a:lnTo>
                  <a:lnTo>
                    <a:pt x="601860" y="844903"/>
                  </a:lnTo>
                  <a:lnTo>
                    <a:pt x="646190" y="828419"/>
                  </a:lnTo>
                  <a:lnTo>
                    <a:pt x="688129" y="807817"/>
                  </a:lnTo>
                  <a:lnTo>
                    <a:pt x="727397" y="783362"/>
                  </a:lnTo>
                  <a:lnTo>
                    <a:pt x="763717" y="755319"/>
                  </a:lnTo>
                  <a:lnTo>
                    <a:pt x="796808" y="723950"/>
                  </a:lnTo>
                  <a:lnTo>
                    <a:pt x="826392" y="689522"/>
                  </a:lnTo>
                  <a:lnTo>
                    <a:pt x="852191" y="652298"/>
                  </a:lnTo>
                  <a:lnTo>
                    <a:pt x="873924" y="612543"/>
                  </a:lnTo>
                  <a:lnTo>
                    <a:pt x="891313" y="570521"/>
                  </a:lnTo>
                  <a:lnTo>
                    <a:pt x="904080" y="526498"/>
                  </a:lnTo>
                  <a:lnTo>
                    <a:pt x="911944" y="480736"/>
                  </a:lnTo>
                  <a:lnTo>
                    <a:pt x="914628" y="433501"/>
                  </a:lnTo>
                  <a:lnTo>
                    <a:pt x="911944" y="386266"/>
                  </a:lnTo>
                  <a:lnTo>
                    <a:pt x="904080" y="340505"/>
                  </a:lnTo>
                  <a:lnTo>
                    <a:pt x="891313" y="296481"/>
                  </a:lnTo>
                  <a:lnTo>
                    <a:pt x="873924" y="254460"/>
                  </a:lnTo>
                  <a:lnTo>
                    <a:pt x="852191" y="214705"/>
                  </a:lnTo>
                  <a:lnTo>
                    <a:pt x="826392" y="177481"/>
                  </a:lnTo>
                  <a:lnTo>
                    <a:pt x="796808" y="143052"/>
                  </a:lnTo>
                  <a:lnTo>
                    <a:pt x="763717" y="111684"/>
                  </a:lnTo>
                  <a:lnTo>
                    <a:pt x="727397" y="83640"/>
                  </a:lnTo>
                  <a:lnTo>
                    <a:pt x="688129" y="59185"/>
                  </a:lnTo>
                  <a:lnTo>
                    <a:pt x="646190" y="38584"/>
                  </a:lnTo>
                  <a:lnTo>
                    <a:pt x="601860" y="22100"/>
                  </a:lnTo>
                  <a:lnTo>
                    <a:pt x="555418" y="9998"/>
                  </a:lnTo>
                  <a:lnTo>
                    <a:pt x="507143" y="2543"/>
                  </a:lnTo>
                  <a:lnTo>
                    <a:pt x="457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4911" y="1277321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0" y="433501"/>
                  </a:moveTo>
                  <a:lnTo>
                    <a:pt x="2683" y="386267"/>
                  </a:lnTo>
                  <a:lnTo>
                    <a:pt x="10547" y="340505"/>
                  </a:lnTo>
                  <a:lnTo>
                    <a:pt x="23314" y="296481"/>
                  </a:lnTo>
                  <a:lnTo>
                    <a:pt x="40703" y="254460"/>
                  </a:lnTo>
                  <a:lnTo>
                    <a:pt x="62436" y="214705"/>
                  </a:lnTo>
                  <a:lnTo>
                    <a:pt x="88235" y="177481"/>
                  </a:lnTo>
                  <a:lnTo>
                    <a:pt x="117819" y="143052"/>
                  </a:lnTo>
                  <a:lnTo>
                    <a:pt x="150910" y="111684"/>
                  </a:lnTo>
                  <a:lnTo>
                    <a:pt x="187230" y="83640"/>
                  </a:lnTo>
                  <a:lnTo>
                    <a:pt x="226498" y="59185"/>
                  </a:lnTo>
                  <a:lnTo>
                    <a:pt x="268437" y="38584"/>
                  </a:lnTo>
                  <a:lnTo>
                    <a:pt x="312767" y="22100"/>
                  </a:lnTo>
                  <a:lnTo>
                    <a:pt x="359209" y="9998"/>
                  </a:lnTo>
                  <a:lnTo>
                    <a:pt x="407484" y="2543"/>
                  </a:lnTo>
                  <a:lnTo>
                    <a:pt x="457313" y="0"/>
                  </a:lnTo>
                  <a:lnTo>
                    <a:pt x="507143" y="2543"/>
                  </a:lnTo>
                  <a:lnTo>
                    <a:pt x="555418" y="9998"/>
                  </a:lnTo>
                  <a:lnTo>
                    <a:pt x="601860" y="22100"/>
                  </a:lnTo>
                  <a:lnTo>
                    <a:pt x="646190" y="38584"/>
                  </a:lnTo>
                  <a:lnTo>
                    <a:pt x="688128" y="59185"/>
                  </a:lnTo>
                  <a:lnTo>
                    <a:pt x="727397" y="83640"/>
                  </a:lnTo>
                  <a:lnTo>
                    <a:pt x="763716" y="111684"/>
                  </a:lnTo>
                  <a:lnTo>
                    <a:pt x="796808" y="143052"/>
                  </a:lnTo>
                  <a:lnTo>
                    <a:pt x="826392" y="177481"/>
                  </a:lnTo>
                  <a:lnTo>
                    <a:pt x="852190" y="214705"/>
                  </a:lnTo>
                  <a:lnTo>
                    <a:pt x="873924" y="254460"/>
                  </a:lnTo>
                  <a:lnTo>
                    <a:pt x="891313" y="296481"/>
                  </a:lnTo>
                  <a:lnTo>
                    <a:pt x="904079" y="340505"/>
                  </a:lnTo>
                  <a:lnTo>
                    <a:pt x="911944" y="386267"/>
                  </a:lnTo>
                  <a:lnTo>
                    <a:pt x="914627" y="433501"/>
                  </a:lnTo>
                  <a:lnTo>
                    <a:pt x="911944" y="480736"/>
                  </a:lnTo>
                  <a:lnTo>
                    <a:pt x="904079" y="526498"/>
                  </a:lnTo>
                  <a:lnTo>
                    <a:pt x="891313" y="570522"/>
                  </a:lnTo>
                  <a:lnTo>
                    <a:pt x="873924" y="612543"/>
                  </a:lnTo>
                  <a:lnTo>
                    <a:pt x="852190" y="652298"/>
                  </a:lnTo>
                  <a:lnTo>
                    <a:pt x="826392" y="689522"/>
                  </a:lnTo>
                  <a:lnTo>
                    <a:pt x="796808" y="723950"/>
                  </a:lnTo>
                  <a:lnTo>
                    <a:pt x="763716" y="755319"/>
                  </a:lnTo>
                  <a:lnTo>
                    <a:pt x="727397" y="783362"/>
                  </a:lnTo>
                  <a:lnTo>
                    <a:pt x="688128" y="807817"/>
                  </a:lnTo>
                  <a:lnTo>
                    <a:pt x="646190" y="828419"/>
                  </a:lnTo>
                  <a:lnTo>
                    <a:pt x="601860" y="844903"/>
                  </a:lnTo>
                  <a:lnTo>
                    <a:pt x="555418" y="857004"/>
                  </a:lnTo>
                  <a:lnTo>
                    <a:pt x="507143" y="864459"/>
                  </a:lnTo>
                  <a:lnTo>
                    <a:pt x="457313" y="867003"/>
                  </a:lnTo>
                  <a:lnTo>
                    <a:pt x="407484" y="864459"/>
                  </a:lnTo>
                  <a:lnTo>
                    <a:pt x="359209" y="857004"/>
                  </a:lnTo>
                  <a:lnTo>
                    <a:pt x="312767" y="844903"/>
                  </a:lnTo>
                  <a:lnTo>
                    <a:pt x="268437" y="828419"/>
                  </a:lnTo>
                  <a:lnTo>
                    <a:pt x="226498" y="807817"/>
                  </a:lnTo>
                  <a:lnTo>
                    <a:pt x="187230" y="783362"/>
                  </a:lnTo>
                  <a:lnTo>
                    <a:pt x="150910" y="755319"/>
                  </a:lnTo>
                  <a:lnTo>
                    <a:pt x="117819" y="723950"/>
                  </a:lnTo>
                  <a:lnTo>
                    <a:pt x="88235" y="689522"/>
                  </a:lnTo>
                  <a:lnTo>
                    <a:pt x="62436" y="652298"/>
                  </a:lnTo>
                  <a:lnTo>
                    <a:pt x="40703" y="612543"/>
                  </a:lnTo>
                  <a:lnTo>
                    <a:pt x="23314" y="570522"/>
                  </a:lnTo>
                  <a:lnTo>
                    <a:pt x="10547" y="526498"/>
                  </a:lnTo>
                  <a:lnTo>
                    <a:pt x="2683" y="480736"/>
                  </a:lnTo>
                  <a:lnTo>
                    <a:pt x="0" y="433501"/>
                  </a:lnTo>
                  <a:close/>
                </a:path>
              </a:pathLst>
            </a:custGeom>
            <a:ln w="25399">
              <a:solidFill>
                <a:srgbClr val="ECC6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0244" y="5182"/>
              <a:ext cx="1862472" cy="139831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21085" y="2512396"/>
            <a:ext cx="1019810" cy="964565"/>
            <a:chOff x="321085" y="2512396"/>
            <a:chExt cx="1019810" cy="964565"/>
          </a:xfrm>
        </p:grpSpPr>
        <p:sp>
          <p:nvSpPr>
            <p:cNvPr id="18" name="object 18"/>
            <p:cNvSpPr/>
            <p:nvPr/>
          </p:nvSpPr>
          <p:spPr>
            <a:xfrm>
              <a:off x="333785" y="2525096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497001" y="0"/>
                  </a:moveTo>
                  <a:lnTo>
                    <a:pt x="449137" y="2148"/>
                  </a:lnTo>
                  <a:lnTo>
                    <a:pt x="402559" y="8464"/>
                  </a:lnTo>
                  <a:lnTo>
                    <a:pt x="357478" y="18749"/>
                  </a:lnTo>
                  <a:lnTo>
                    <a:pt x="314100" y="32807"/>
                  </a:lnTo>
                  <a:lnTo>
                    <a:pt x="272634" y="50442"/>
                  </a:lnTo>
                  <a:lnTo>
                    <a:pt x="233288" y="71456"/>
                  </a:lnTo>
                  <a:lnTo>
                    <a:pt x="196271" y="95654"/>
                  </a:lnTo>
                  <a:lnTo>
                    <a:pt x="161792" y="122837"/>
                  </a:lnTo>
                  <a:lnTo>
                    <a:pt x="130057" y="152811"/>
                  </a:lnTo>
                  <a:lnTo>
                    <a:pt x="101276" y="185377"/>
                  </a:lnTo>
                  <a:lnTo>
                    <a:pt x="75656" y="220339"/>
                  </a:lnTo>
                  <a:lnTo>
                    <a:pt x="53407" y="257500"/>
                  </a:lnTo>
                  <a:lnTo>
                    <a:pt x="34735" y="296665"/>
                  </a:lnTo>
                  <a:lnTo>
                    <a:pt x="19851" y="337635"/>
                  </a:lnTo>
                  <a:lnTo>
                    <a:pt x="8961" y="380214"/>
                  </a:lnTo>
                  <a:lnTo>
                    <a:pt x="2275" y="424206"/>
                  </a:lnTo>
                  <a:lnTo>
                    <a:pt x="0" y="469414"/>
                  </a:lnTo>
                  <a:lnTo>
                    <a:pt x="2275" y="514622"/>
                  </a:lnTo>
                  <a:lnTo>
                    <a:pt x="8961" y="558614"/>
                  </a:lnTo>
                  <a:lnTo>
                    <a:pt x="19851" y="601193"/>
                  </a:lnTo>
                  <a:lnTo>
                    <a:pt x="34735" y="642164"/>
                  </a:lnTo>
                  <a:lnTo>
                    <a:pt x="53407" y="681328"/>
                  </a:lnTo>
                  <a:lnTo>
                    <a:pt x="75656" y="718489"/>
                  </a:lnTo>
                  <a:lnTo>
                    <a:pt x="101276" y="753452"/>
                  </a:lnTo>
                  <a:lnTo>
                    <a:pt x="130057" y="786018"/>
                  </a:lnTo>
                  <a:lnTo>
                    <a:pt x="161792" y="815991"/>
                  </a:lnTo>
                  <a:lnTo>
                    <a:pt x="196271" y="843175"/>
                  </a:lnTo>
                  <a:lnTo>
                    <a:pt x="233288" y="867372"/>
                  </a:lnTo>
                  <a:lnTo>
                    <a:pt x="272634" y="888387"/>
                  </a:lnTo>
                  <a:lnTo>
                    <a:pt x="314100" y="906021"/>
                  </a:lnTo>
                  <a:lnTo>
                    <a:pt x="357478" y="920080"/>
                  </a:lnTo>
                  <a:lnTo>
                    <a:pt x="402559" y="930365"/>
                  </a:lnTo>
                  <a:lnTo>
                    <a:pt x="449137" y="936680"/>
                  </a:lnTo>
                  <a:lnTo>
                    <a:pt x="497001" y="938829"/>
                  </a:lnTo>
                  <a:lnTo>
                    <a:pt x="544866" y="936680"/>
                  </a:lnTo>
                  <a:lnTo>
                    <a:pt x="591443" y="930365"/>
                  </a:lnTo>
                  <a:lnTo>
                    <a:pt x="636525" y="920080"/>
                  </a:lnTo>
                  <a:lnTo>
                    <a:pt x="679903" y="906021"/>
                  </a:lnTo>
                  <a:lnTo>
                    <a:pt x="721369" y="888387"/>
                  </a:lnTo>
                  <a:lnTo>
                    <a:pt x="760715" y="867372"/>
                  </a:lnTo>
                  <a:lnTo>
                    <a:pt x="797732" y="843175"/>
                  </a:lnTo>
                  <a:lnTo>
                    <a:pt x="832211" y="815991"/>
                  </a:lnTo>
                  <a:lnTo>
                    <a:pt x="863946" y="786018"/>
                  </a:lnTo>
                  <a:lnTo>
                    <a:pt x="892727" y="753452"/>
                  </a:lnTo>
                  <a:lnTo>
                    <a:pt x="918347" y="718489"/>
                  </a:lnTo>
                  <a:lnTo>
                    <a:pt x="940596" y="681328"/>
                  </a:lnTo>
                  <a:lnTo>
                    <a:pt x="959268" y="642164"/>
                  </a:lnTo>
                  <a:lnTo>
                    <a:pt x="974152" y="601193"/>
                  </a:lnTo>
                  <a:lnTo>
                    <a:pt x="985042" y="558614"/>
                  </a:lnTo>
                  <a:lnTo>
                    <a:pt x="991728" y="514622"/>
                  </a:lnTo>
                  <a:lnTo>
                    <a:pt x="994004" y="469414"/>
                  </a:lnTo>
                  <a:lnTo>
                    <a:pt x="991728" y="424206"/>
                  </a:lnTo>
                  <a:lnTo>
                    <a:pt x="985042" y="380214"/>
                  </a:lnTo>
                  <a:lnTo>
                    <a:pt x="974152" y="337635"/>
                  </a:lnTo>
                  <a:lnTo>
                    <a:pt x="959268" y="296665"/>
                  </a:lnTo>
                  <a:lnTo>
                    <a:pt x="940596" y="257500"/>
                  </a:lnTo>
                  <a:lnTo>
                    <a:pt x="918347" y="220339"/>
                  </a:lnTo>
                  <a:lnTo>
                    <a:pt x="892727" y="185377"/>
                  </a:lnTo>
                  <a:lnTo>
                    <a:pt x="863946" y="152811"/>
                  </a:lnTo>
                  <a:lnTo>
                    <a:pt x="832211" y="122837"/>
                  </a:lnTo>
                  <a:lnTo>
                    <a:pt x="797732" y="95654"/>
                  </a:lnTo>
                  <a:lnTo>
                    <a:pt x="760715" y="71456"/>
                  </a:lnTo>
                  <a:lnTo>
                    <a:pt x="721369" y="50442"/>
                  </a:lnTo>
                  <a:lnTo>
                    <a:pt x="679903" y="32807"/>
                  </a:lnTo>
                  <a:lnTo>
                    <a:pt x="636525" y="18749"/>
                  </a:lnTo>
                  <a:lnTo>
                    <a:pt x="591443" y="8464"/>
                  </a:lnTo>
                  <a:lnTo>
                    <a:pt x="544866" y="2148"/>
                  </a:lnTo>
                  <a:lnTo>
                    <a:pt x="497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3785" y="2525096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0" y="469414"/>
                  </a:moveTo>
                  <a:lnTo>
                    <a:pt x="2275" y="424206"/>
                  </a:lnTo>
                  <a:lnTo>
                    <a:pt x="8961" y="380215"/>
                  </a:lnTo>
                  <a:lnTo>
                    <a:pt x="19851" y="337635"/>
                  </a:lnTo>
                  <a:lnTo>
                    <a:pt x="34735" y="296665"/>
                  </a:lnTo>
                  <a:lnTo>
                    <a:pt x="53407" y="257501"/>
                  </a:lnTo>
                  <a:lnTo>
                    <a:pt x="75656" y="220339"/>
                  </a:lnTo>
                  <a:lnTo>
                    <a:pt x="101276" y="185377"/>
                  </a:lnTo>
                  <a:lnTo>
                    <a:pt x="130057" y="152811"/>
                  </a:lnTo>
                  <a:lnTo>
                    <a:pt x="161792" y="122838"/>
                  </a:lnTo>
                  <a:lnTo>
                    <a:pt x="196271" y="95654"/>
                  </a:lnTo>
                  <a:lnTo>
                    <a:pt x="233288" y="71457"/>
                  </a:lnTo>
                  <a:lnTo>
                    <a:pt x="272634" y="50442"/>
                  </a:lnTo>
                  <a:lnTo>
                    <a:pt x="314100" y="32807"/>
                  </a:lnTo>
                  <a:lnTo>
                    <a:pt x="357478" y="18749"/>
                  </a:lnTo>
                  <a:lnTo>
                    <a:pt x="402559" y="8464"/>
                  </a:lnTo>
                  <a:lnTo>
                    <a:pt x="449137" y="2148"/>
                  </a:lnTo>
                  <a:lnTo>
                    <a:pt x="497001" y="0"/>
                  </a:lnTo>
                  <a:lnTo>
                    <a:pt x="544866" y="2148"/>
                  </a:lnTo>
                  <a:lnTo>
                    <a:pt x="591443" y="8464"/>
                  </a:lnTo>
                  <a:lnTo>
                    <a:pt x="636525" y="18749"/>
                  </a:lnTo>
                  <a:lnTo>
                    <a:pt x="679903" y="32807"/>
                  </a:lnTo>
                  <a:lnTo>
                    <a:pt x="721369" y="50442"/>
                  </a:lnTo>
                  <a:lnTo>
                    <a:pt x="760714" y="71457"/>
                  </a:lnTo>
                  <a:lnTo>
                    <a:pt x="797731" y="95654"/>
                  </a:lnTo>
                  <a:lnTo>
                    <a:pt x="832211" y="122838"/>
                  </a:lnTo>
                  <a:lnTo>
                    <a:pt x="863946" y="152811"/>
                  </a:lnTo>
                  <a:lnTo>
                    <a:pt x="892727" y="185377"/>
                  </a:lnTo>
                  <a:lnTo>
                    <a:pt x="918347" y="220339"/>
                  </a:lnTo>
                  <a:lnTo>
                    <a:pt x="940596" y="257501"/>
                  </a:lnTo>
                  <a:lnTo>
                    <a:pt x="959267" y="296665"/>
                  </a:lnTo>
                  <a:lnTo>
                    <a:pt x="974152" y="337635"/>
                  </a:lnTo>
                  <a:lnTo>
                    <a:pt x="985041" y="380215"/>
                  </a:lnTo>
                  <a:lnTo>
                    <a:pt x="991728" y="424206"/>
                  </a:lnTo>
                  <a:lnTo>
                    <a:pt x="994003" y="469414"/>
                  </a:lnTo>
                  <a:lnTo>
                    <a:pt x="991728" y="514622"/>
                  </a:lnTo>
                  <a:lnTo>
                    <a:pt x="985041" y="558614"/>
                  </a:lnTo>
                  <a:lnTo>
                    <a:pt x="974152" y="601193"/>
                  </a:lnTo>
                  <a:lnTo>
                    <a:pt x="959267" y="642164"/>
                  </a:lnTo>
                  <a:lnTo>
                    <a:pt x="940596" y="681328"/>
                  </a:lnTo>
                  <a:lnTo>
                    <a:pt x="918347" y="718490"/>
                  </a:lnTo>
                  <a:lnTo>
                    <a:pt x="892727" y="753452"/>
                  </a:lnTo>
                  <a:lnTo>
                    <a:pt x="863946" y="786018"/>
                  </a:lnTo>
                  <a:lnTo>
                    <a:pt x="832211" y="815991"/>
                  </a:lnTo>
                  <a:lnTo>
                    <a:pt x="797731" y="843175"/>
                  </a:lnTo>
                  <a:lnTo>
                    <a:pt x="760714" y="867372"/>
                  </a:lnTo>
                  <a:lnTo>
                    <a:pt x="721369" y="888387"/>
                  </a:lnTo>
                  <a:lnTo>
                    <a:pt x="679903" y="906021"/>
                  </a:lnTo>
                  <a:lnTo>
                    <a:pt x="636525" y="920080"/>
                  </a:lnTo>
                  <a:lnTo>
                    <a:pt x="591443" y="930365"/>
                  </a:lnTo>
                  <a:lnTo>
                    <a:pt x="544866" y="936680"/>
                  </a:lnTo>
                  <a:lnTo>
                    <a:pt x="497001" y="938829"/>
                  </a:lnTo>
                  <a:lnTo>
                    <a:pt x="449137" y="936680"/>
                  </a:lnTo>
                  <a:lnTo>
                    <a:pt x="402559" y="930365"/>
                  </a:lnTo>
                  <a:lnTo>
                    <a:pt x="357478" y="920080"/>
                  </a:lnTo>
                  <a:lnTo>
                    <a:pt x="314100" y="906021"/>
                  </a:lnTo>
                  <a:lnTo>
                    <a:pt x="272634" y="888387"/>
                  </a:lnTo>
                  <a:lnTo>
                    <a:pt x="233288" y="867372"/>
                  </a:lnTo>
                  <a:lnTo>
                    <a:pt x="196271" y="843175"/>
                  </a:lnTo>
                  <a:lnTo>
                    <a:pt x="161792" y="815991"/>
                  </a:lnTo>
                  <a:lnTo>
                    <a:pt x="130057" y="786018"/>
                  </a:lnTo>
                  <a:lnTo>
                    <a:pt x="101276" y="753452"/>
                  </a:lnTo>
                  <a:lnTo>
                    <a:pt x="75656" y="718490"/>
                  </a:lnTo>
                  <a:lnTo>
                    <a:pt x="53407" y="681328"/>
                  </a:lnTo>
                  <a:lnTo>
                    <a:pt x="34735" y="642164"/>
                  </a:lnTo>
                  <a:lnTo>
                    <a:pt x="19851" y="601193"/>
                  </a:lnTo>
                  <a:lnTo>
                    <a:pt x="8961" y="558614"/>
                  </a:lnTo>
                  <a:lnTo>
                    <a:pt x="2275" y="514622"/>
                  </a:lnTo>
                  <a:lnTo>
                    <a:pt x="0" y="469414"/>
                  </a:lnTo>
                  <a:close/>
                </a:path>
              </a:pathLst>
            </a:custGeom>
            <a:ln w="25399">
              <a:solidFill>
                <a:srgbClr val="C5D7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43989" y="3994264"/>
            <a:ext cx="6766559" cy="1010285"/>
            <a:chOff x="743989" y="3994264"/>
            <a:chExt cx="6766559" cy="10102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989" y="3994264"/>
              <a:ext cx="6766559" cy="10099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25910" y="4031580"/>
              <a:ext cx="6617334" cy="889000"/>
            </a:xfrm>
            <a:custGeom>
              <a:avLst/>
              <a:gdLst/>
              <a:ahLst/>
              <a:cxnLst/>
              <a:rect l="l" t="t" r="r" b="b"/>
              <a:pathLst>
                <a:path w="6617334" h="889000">
                  <a:moveTo>
                    <a:pt x="6172378" y="0"/>
                  </a:moveTo>
                  <a:lnTo>
                    <a:pt x="0" y="0"/>
                  </a:lnTo>
                  <a:lnTo>
                    <a:pt x="444499" y="444499"/>
                  </a:lnTo>
                  <a:lnTo>
                    <a:pt x="0" y="888999"/>
                  </a:lnTo>
                  <a:lnTo>
                    <a:pt x="6172378" y="888999"/>
                  </a:lnTo>
                  <a:lnTo>
                    <a:pt x="6616878" y="444499"/>
                  </a:lnTo>
                  <a:lnTo>
                    <a:pt x="6172378" y="0"/>
                  </a:lnTo>
                  <a:close/>
                </a:path>
              </a:pathLst>
            </a:custGeom>
            <a:solidFill>
              <a:srgbClr val="C5D7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5910" y="4031580"/>
              <a:ext cx="6617334" cy="889000"/>
            </a:xfrm>
            <a:custGeom>
              <a:avLst/>
              <a:gdLst/>
              <a:ahLst/>
              <a:cxnLst/>
              <a:rect l="l" t="t" r="r" b="b"/>
              <a:pathLst>
                <a:path w="6617334" h="889000">
                  <a:moveTo>
                    <a:pt x="0" y="0"/>
                  </a:moveTo>
                  <a:lnTo>
                    <a:pt x="6172378" y="0"/>
                  </a:lnTo>
                  <a:lnTo>
                    <a:pt x="6616878" y="444499"/>
                  </a:lnTo>
                  <a:lnTo>
                    <a:pt x="6172378" y="888999"/>
                  </a:lnTo>
                  <a:lnTo>
                    <a:pt x="0" y="888999"/>
                  </a:lnTo>
                  <a:lnTo>
                    <a:pt x="444499" y="444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6458" y="5224548"/>
            <a:ext cx="6754495" cy="1122680"/>
            <a:chOff x="756458" y="5224548"/>
            <a:chExt cx="6754495" cy="11226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458" y="5224548"/>
              <a:ext cx="6754091" cy="112221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5433" y="5263480"/>
              <a:ext cx="6609080" cy="999490"/>
            </a:xfrm>
            <a:custGeom>
              <a:avLst/>
              <a:gdLst/>
              <a:ahLst/>
              <a:cxnLst/>
              <a:rect l="l" t="t" r="r" b="b"/>
              <a:pathLst>
                <a:path w="6609080" h="999489">
                  <a:moveTo>
                    <a:pt x="6109224" y="0"/>
                  </a:moveTo>
                  <a:lnTo>
                    <a:pt x="0" y="0"/>
                  </a:lnTo>
                  <a:lnTo>
                    <a:pt x="499431" y="499431"/>
                  </a:lnTo>
                  <a:lnTo>
                    <a:pt x="0" y="998862"/>
                  </a:lnTo>
                  <a:lnTo>
                    <a:pt x="6109224" y="998862"/>
                  </a:lnTo>
                  <a:lnTo>
                    <a:pt x="6608655" y="499431"/>
                  </a:lnTo>
                  <a:lnTo>
                    <a:pt x="6109224" y="0"/>
                  </a:lnTo>
                  <a:close/>
                </a:path>
              </a:pathLst>
            </a:custGeom>
            <a:solidFill>
              <a:srgbClr val="D6CD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5433" y="5263480"/>
              <a:ext cx="6609080" cy="999490"/>
            </a:xfrm>
            <a:custGeom>
              <a:avLst/>
              <a:gdLst/>
              <a:ahLst/>
              <a:cxnLst/>
              <a:rect l="l" t="t" r="r" b="b"/>
              <a:pathLst>
                <a:path w="6609080" h="999489">
                  <a:moveTo>
                    <a:pt x="0" y="0"/>
                  </a:moveTo>
                  <a:lnTo>
                    <a:pt x="6109224" y="0"/>
                  </a:lnTo>
                  <a:lnTo>
                    <a:pt x="6608655" y="499431"/>
                  </a:lnTo>
                  <a:lnTo>
                    <a:pt x="6109224" y="998862"/>
                  </a:lnTo>
                  <a:lnTo>
                    <a:pt x="0" y="998862"/>
                  </a:lnTo>
                  <a:lnTo>
                    <a:pt x="499431" y="499431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49151" y="4128100"/>
            <a:ext cx="5400675" cy="181546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132080">
              <a:lnSpc>
                <a:spcPts val="2600"/>
              </a:lnSpc>
              <a:spcBef>
                <a:spcPts val="219"/>
              </a:spcBef>
            </a:pPr>
            <a:r>
              <a:rPr sz="2200" b="1" spc="-5" dirty="0">
                <a:latin typeface="Arial"/>
                <a:cs typeface="Arial"/>
              </a:rPr>
              <a:t>Continue formal planning </a:t>
            </a:r>
            <a:r>
              <a:rPr sz="2200" dirty="0">
                <a:latin typeface="Arial MT"/>
                <a:cs typeface="Arial MT"/>
              </a:rPr>
              <a:t>in order </a:t>
            </a:r>
            <a:r>
              <a:rPr sz="2200" spc="-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see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-10" dirty="0">
                <a:latin typeface="Arial MT"/>
                <a:cs typeface="Arial MT"/>
              </a:rPr>
              <a:t> affect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>
              <a:latin typeface="Arial MT"/>
              <a:cs typeface="Arial MT"/>
            </a:endParaRPr>
          </a:p>
          <a:p>
            <a:pPr marL="7683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Make </a:t>
            </a:r>
            <a:r>
              <a:rPr sz="2200" spc="-5" dirty="0">
                <a:latin typeface="Arial MT"/>
                <a:cs typeface="Arial MT"/>
              </a:rPr>
              <a:t>the </a:t>
            </a:r>
            <a:r>
              <a:rPr sz="2200" b="1" spc="-5" dirty="0">
                <a:latin typeface="Arial"/>
                <a:cs typeface="Arial"/>
              </a:rPr>
              <a:t>organizational hierarchy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flatter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32211" y="4034755"/>
            <a:ext cx="940435" cy="892810"/>
            <a:chOff x="432211" y="4034755"/>
            <a:chExt cx="940435" cy="892810"/>
          </a:xfrm>
        </p:grpSpPr>
        <p:sp>
          <p:nvSpPr>
            <p:cNvPr id="30" name="object 30"/>
            <p:cNvSpPr/>
            <p:nvPr/>
          </p:nvSpPr>
          <p:spPr>
            <a:xfrm>
              <a:off x="444912" y="4047455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457313" y="0"/>
                  </a:moveTo>
                  <a:lnTo>
                    <a:pt x="407484" y="2543"/>
                  </a:lnTo>
                  <a:lnTo>
                    <a:pt x="359209" y="9998"/>
                  </a:lnTo>
                  <a:lnTo>
                    <a:pt x="312767" y="22100"/>
                  </a:lnTo>
                  <a:lnTo>
                    <a:pt x="268437" y="38584"/>
                  </a:lnTo>
                  <a:lnTo>
                    <a:pt x="226498" y="59185"/>
                  </a:lnTo>
                  <a:lnTo>
                    <a:pt x="187230" y="83641"/>
                  </a:lnTo>
                  <a:lnTo>
                    <a:pt x="150910" y="111684"/>
                  </a:lnTo>
                  <a:lnTo>
                    <a:pt x="117819" y="143053"/>
                  </a:lnTo>
                  <a:lnTo>
                    <a:pt x="88235" y="177481"/>
                  </a:lnTo>
                  <a:lnTo>
                    <a:pt x="62436" y="214705"/>
                  </a:lnTo>
                  <a:lnTo>
                    <a:pt x="40703" y="254460"/>
                  </a:lnTo>
                  <a:lnTo>
                    <a:pt x="23314" y="296482"/>
                  </a:lnTo>
                  <a:lnTo>
                    <a:pt x="10547" y="340505"/>
                  </a:lnTo>
                  <a:lnTo>
                    <a:pt x="2683" y="386267"/>
                  </a:lnTo>
                  <a:lnTo>
                    <a:pt x="0" y="433501"/>
                  </a:lnTo>
                  <a:lnTo>
                    <a:pt x="2683" y="480736"/>
                  </a:lnTo>
                  <a:lnTo>
                    <a:pt x="10547" y="526498"/>
                  </a:lnTo>
                  <a:lnTo>
                    <a:pt x="23314" y="570522"/>
                  </a:lnTo>
                  <a:lnTo>
                    <a:pt x="40703" y="612543"/>
                  </a:lnTo>
                  <a:lnTo>
                    <a:pt x="62436" y="652298"/>
                  </a:lnTo>
                  <a:lnTo>
                    <a:pt x="88235" y="689522"/>
                  </a:lnTo>
                  <a:lnTo>
                    <a:pt x="117819" y="723951"/>
                  </a:lnTo>
                  <a:lnTo>
                    <a:pt x="150910" y="755319"/>
                  </a:lnTo>
                  <a:lnTo>
                    <a:pt x="187230" y="783363"/>
                  </a:lnTo>
                  <a:lnTo>
                    <a:pt x="226498" y="807818"/>
                  </a:lnTo>
                  <a:lnTo>
                    <a:pt x="268437" y="828420"/>
                  </a:lnTo>
                  <a:lnTo>
                    <a:pt x="312767" y="844904"/>
                  </a:lnTo>
                  <a:lnTo>
                    <a:pt x="359209" y="857006"/>
                  </a:lnTo>
                  <a:lnTo>
                    <a:pt x="407484" y="864461"/>
                  </a:lnTo>
                  <a:lnTo>
                    <a:pt x="457313" y="867004"/>
                  </a:lnTo>
                  <a:lnTo>
                    <a:pt x="507143" y="864461"/>
                  </a:lnTo>
                  <a:lnTo>
                    <a:pt x="555418" y="857006"/>
                  </a:lnTo>
                  <a:lnTo>
                    <a:pt x="601860" y="844904"/>
                  </a:lnTo>
                  <a:lnTo>
                    <a:pt x="646190" y="828420"/>
                  </a:lnTo>
                  <a:lnTo>
                    <a:pt x="688129" y="807818"/>
                  </a:lnTo>
                  <a:lnTo>
                    <a:pt x="727397" y="783363"/>
                  </a:lnTo>
                  <a:lnTo>
                    <a:pt x="763717" y="755319"/>
                  </a:lnTo>
                  <a:lnTo>
                    <a:pt x="796808" y="723951"/>
                  </a:lnTo>
                  <a:lnTo>
                    <a:pt x="826392" y="689522"/>
                  </a:lnTo>
                  <a:lnTo>
                    <a:pt x="852191" y="652298"/>
                  </a:lnTo>
                  <a:lnTo>
                    <a:pt x="873924" y="612543"/>
                  </a:lnTo>
                  <a:lnTo>
                    <a:pt x="891313" y="570522"/>
                  </a:lnTo>
                  <a:lnTo>
                    <a:pt x="904080" y="526498"/>
                  </a:lnTo>
                  <a:lnTo>
                    <a:pt x="911944" y="480736"/>
                  </a:lnTo>
                  <a:lnTo>
                    <a:pt x="914628" y="433501"/>
                  </a:lnTo>
                  <a:lnTo>
                    <a:pt x="911944" y="386267"/>
                  </a:lnTo>
                  <a:lnTo>
                    <a:pt x="904080" y="340505"/>
                  </a:lnTo>
                  <a:lnTo>
                    <a:pt x="891313" y="296482"/>
                  </a:lnTo>
                  <a:lnTo>
                    <a:pt x="873924" y="254460"/>
                  </a:lnTo>
                  <a:lnTo>
                    <a:pt x="852191" y="214705"/>
                  </a:lnTo>
                  <a:lnTo>
                    <a:pt x="826392" y="177481"/>
                  </a:lnTo>
                  <a:lnTo>
                    <a:pt x="796808" y="143053"/>
                  </a:lnTo>
                  <a:lnTo>
                    <a:pt x="763717" y="111684"/>
                  </a:lnTo>
                  <a:lnTo>
                    <a:pt x="727397" y="83641"/>
                  </a:lnTo>
                  <a:lnTo>
                    <a:pt x="688129" y="59185"/>
                  </a:lnTo>
                  <a:lnTo>
                    <a:pt x="646190" y="38584"/>
                  </a:lnTo>
                  <a:lnTo>
                    <a:pt x="601860" y="22100"/>
                  </a:lnTo>
                  <a:lnTo>
                    <a:pt x="555418" y="9998"/>
                  </a:lnTo>
                  <a:lnTo>
                    <a:pt x="507143" y="2543"/>
                  </a:lnTo>
                  <a:lnTo>
                    <a:pt x="457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4911" y="4047455"/>
              <a:ext cx="915035" cy="867410"/>
            </a:xfrm>
            <a:custGeom>
              <a:avLst/>
              <a:gdLst/>
              <a:ahLst/>
              <a:cxnLst/>
              <a:rect l="l" t="t" r="r" b="b"/>
              <a:pathLst>
                <a:path w="915035" h="867410">
                  <a:moveTo>
                    <a:pt x="0" y="433501"/>
                  </a:moveTo>
                  <a:lnTo>
                    <a:pt x="2683" y="386267"/>
                  </a:lnTo>
                  <a:lnTo>
                    <a:pt x="10547" y="340505"/>
                  </a:lnTo>
                  <a:lnTo>
                    <a:pt x="23314" y="296481"/>
                  </a:lnTo>
                  <a:lnTo>
                    <a:pt x="40703" y="254460"/>
                  </a:lnTo>
                  <a:lnTo>
                    <a:pt x="62436" y="214705"/>
                  </a:lnTo>
                  <a:lnTo>
                    <a:pt x="88235" y="177481"/>
                  </a:lnTo>
                  <a:lnTo>
                    <a:pt x="117819" y="143052"/>
                  </a:lnTo>
                  <a:lnTo>
                    <a:pt x="150910" y="111684"/>
                  </a:lnTo>
                  <a:lnTo>
                    <a:pt x="187230" y="83640"/>
                  </a:lnTo>
                  <a:lnTo>
                    <a:pt x="226498" y="59185"/>
                  </a:lnTo>
                  <a:lnTo>
                    <a:pt x="268437" y="38584"/>
                  </a:lnTo>
                  <a:lnTo>
                    <a:pt x="312767" y="22100"/>
                  </a:lnTo>
                  <a:lnTo>
                    <a:pt x="359209" y="9998"/>
                  </a:lnTo>
                  <a:lnTo>
                    <a:pt x="407484" y="2543"/>
                  </a:lnTo>
                  <a:lnTo>
                    <a:pt x="457313" y="0"/>
                  </a:lnTo>
                  <a:lnTo>
                    <a:pt x="507143" y="2543"/>
                  </a:lnTo>
                  <a:lnTo>
                    <a:pt x="555418" y="9998"/>
                  </a:lnTo>
                  <a:lnTo>
                    <a:pt x="601860" y="22100"/>
                  </a:lnTo>
                  <a:lnTo>
                    <a:pt x="646190" y="38584"/>
                  </a:lnTo>
                  <a:lnTo>
                    <a:pt x="688128" y="59185"/>
                  </a:lnTo>
                  <a:lnTo>
                    <a:pt x="727397" y="83640"/>
                  </a:lnTo>
                  <a:lnTo>
                    <a:pt x="763716" y="111684"/>
                  </a:lnTo>
                  <a:lnTo>
                    <a:pt x="796808" y="143052"/>
                  </a:lnTo>
                  <a:lnTo>
                    <a:pt x="826392" y="177481"/>
                  </a:lnTo>
                  <a:lnTo>
                    <a:pt x="852190" y="214705"/>
                  </a:lnTo>
                  <a:lnTo>
                    <a:pt x="873924" y="254460"/>
                  </a:lnTo>
                  <a:lnTo>
                    <a:pt x="891313" y="296481"/>
                  </a:lnTo>
                  <a:lnTo>
                    <a:pt x="904079" y="340505"/>
                  </a:lnTo>
                  <a:lnTo>
                    <a:pt x="911944" y="386267"/>
                  </a:lnTo>
                  <a:lnTo>
                    <a:pt x="914627" y="433501"/>
                  </a:lnTo>
                  <a:lnTo>
                    <a:pt x="911944" y="480736"/>
                  </a:lnTo>
                  <a:lnTo>
                    <a:pt x="904079" y="526498"/>
                  </a:lnTo>
                  <a:lnTo>
                    <a:pt x="891313" y="570521"/>
                  </a:lnTo>
                  <a:lnTo>
                    <a:pt x="873924" y="612543"/>
                  </a:lnTo>
                  <a:lnTo>
                    <a:pt x="852190" y="652298"/>
                  </a:lnTo>
                  <a:lnTo>
                    <a:pt x="826392" y="689522"/>
                  </a:lnTo>
                  <a:lnTo>
                    <a:pt x="796808" y="723950"/>
                  </a:lnTo>
                  <a:lnTo>
                    <a:pt x="763716" y="755319"/>
                  </a:lnTo>
                  <a:lnTo>
                    <a:pt x="727397" y="783363"/>
                  </a:lnTo>
                  <a:lnTo>
                    <a:pt x="688128" y="807818"/>
                  </a:lnTo>
                  <a:lnTo>
                    <a:pt x="646190" y="828419"/>
                  </a:lnTo>
                  <a:lnTo>
                    <a:pt x="601860" y="844903"/>
                  </a:lnTo>
                  <a:lnTo>
                    <a:pt x="555418" y="857005"/>
                  </a:lnTo>
                  <a:lnTo>
                    <a:pt x="507143" y="864460"/>
                  </a:lnTo>
                  <a:lnTo>
                    <a:pt x="457313" y="867003"/>
                  </a:lnTo>
                  <a:lnTo>
                    <a:pt x="407484" y="864460"/>
                  </a:lnTo>
                  <a:lnTo>
                    <a:pt x="359209" y="857005"/>
                  </a:lnTo>
                  <a:lnTo>
                    <a:pt x="312767" y="844903"/>
                  </a:lnTo>
                  <a:lnTo>
                    <a:pt x="268437" y="828419"/>
                  </a:lnTo>
                  <a:lnTo>
                    <a:pt x="226498" y="807818"/>
                  </a:lnTo>
                  <a:lnTo>
                    <a:pt x="187230" y="783363"/>
                  </a:lnTo>
                  <a:lnTo>
                    <a:pt x="150910" y="755319"/>
                  </a:lnTo>
                  <a:lnTo>
                    <a:pt x="117819" y="723950"/>
                  </a:lnTo>
                  <a:lnTo>
                    <a:pt x="88235" y="689522"/>
                  </a:lnTo>
                  <a:lnTo>
                    <a:pt x="62436" y="652298"/>
                  </a:lnTo>
                  <a:lnTo>
                    <a:pt x="40703" y="612543"/>
                  </a:lnTo>
                  <a:lnTo>
                    <a:pt x="23314" y="570521"/>
                  </a:lnTo>
                  <a:lnTo>
                    <a:pt x="10547" y="526498"/>
                  </a:lnTo>
                  <a:lnTo>
                    <a:pt x="2683" y="480736"/>
                  </a:lnTo>
                  <a:lnTo>
                    <a:pt x="0" y="433501"/>
                  </a:lnTo>
                  <a:close/>
                </a:path>
              </a:pathLst>
            </a:custGeom>
            <a:ln w="25399">
              <a:solidFill>
                <a:srgbClr val="ECC6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21085" y="5282530"/>
            <a:ext cx="1019810" cy="964565"/>
            <a:chOff x="321085" y="5282530"/>
            <a:chExt cx="1019810" cy="964565"/>
          </a:xfrm>
        </p:grpSpPr>
        <p:sp>
          <p:nvSpPr>
            <p:cNvPr id="33" name="object 33"/>
            <p:cNvSpPr/>
            <p:nvPr/>
          </p:nvSpPr>
          <p:spPr>
            <a:xfrm>
              <a:off x="333785" y="5295230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497001" y="0"/>
                  </a:moveTo>
                  <a:lnTo>
                    <a:pt x="449137" y="2148"/>
                  </a:lnTo>
                  <a:lnTo>
                    <a:pt x="402559" y="8464"/>
                  </a:lnTo>
                  <a:lnTo>
                    <a:pt x="357478" y="18749"/>
                  </a:lnTo>
                  <a:lnTo>
                    <a:pt x="314100" y="32807"/>
                  </a:lnTo>
                  <a:lnTo>
                    <a:pt x="272634" y="50442"/>
                  </a:lnTo>
                  <a:lnTo>
                    <a:pt x="233288" y="71457"/>
                  </a:lnTo>
                  <a:lnTo>
                    <a:pt x="196271" y="95654"/>
                  </a:lnTo>
                  <a:lnTo>
                    <a:pt x="161792" y="122838"/>
                  </a:lnTo>
                  <a:lnTo>
                    <a:pt x="130057" y="152811"/>
                  </a:lnTo>
                  <a:lnTo>
                    <a:pt x="101276" y="185377"/>
                  </a:lnTo>
                  <a:lnTo>
                    <a:pt x="75656" y="220340"/>
                  </a:lnTo>
                  <a:lnTo>
                    <a:pt x="53407" y="257501"/>
                  </a:lnTo>
                  <a:lnTo>
                    <a:pt x="34735" y="296665"/>
                  </a:lnTo>
                  <a:lnTo>
                    <a:pt x="19851" y="337636"/>
                  </a:lnTo>
                  <a:lnTo>
                    <a:pt x="8961" y="380215"/>
                  </a:lnTo>
                  <a:lnTo>
                    <a:pt x="2275" y="424207"/>
                  </a:lnTo>
                  <a:lnTo>
                    <a:pt x="0" y="469415"/>
                  </a:lnTo>
                  <a:lnTo>
                    <a:pt x="2275" y="514623"/>
                  </a:lnTo>
                  <a:lnTo>
                    <a:pt x="8961" y="558615"/>
                  </a:lnTo>
                  <a:lnTo>
                    <a:pt x="19851" y="601194"/>
                  </a:lnTo>
                  <a:lnTo>
                    <a:pt x="34735" y="642164"/>
                  </a:lnTo>
                  <a:lnTo>
                    <a:pt x="53407" y="681329"/>
                  </a:lnTo>
                  <a:lnTo>
                    <a:pt x="75656" y="718490"/>
                  </a:lnTo>
                  <a:lnTo>
                    <a:pt x="101276" y="753452"/>
                  </a:lnTo>
                  <a:lnTo>
                    <a:pt x="130057" y="786018"/>
                  </a:lnTo>
                  <a:lnTo>
                    <a:pt x="161792" y="815992"/>
                  </a:lnTo>
                  <a:lnTo>
                    <a:pt x="196271" y="843175"/>
                  </a:lnTo>
                  <a:lnTo>
                    <a:pt x="233288" y="867373"/>
                  </a:lnTo>
                  <a:lnTo>
                    <a:pt x="272634" y="888387"/>
                  </a:lnTo>
                  <a:lnTo>
                    <a:pt x="314100" y="906022"/>
                  </a:lnTo>
                  <a:lnTo>
                    <a:pt x="357478" y="920080"/>
                  </a:lnTo>
                  <a:lnTo>
                    <a:pt x="402559" y="930365"/>
                  </a:lnTo>
                  <a:lnTo>
                    <a:pt x="449137" y="936681"/>
                  </a:lnTo>
                  <a:lnTo>
                    <a:pt x="497001" y="938830"/>
                  </a:lnTo>
                  <a:lnTo>
                    <a:pt x="544866" y="936681"/>
                  </a:lnTo>
                  <a:lnTo>
                    <a:pt x="591443" y="930365"/>
                  </a:lnTo>
                  <a:lnTo>
                    <a:pt x="636525" y="920080"/>
                  </a:lnTo>
                  <a:lnTo>
                    <a:pt x="679903" y="906022"/>
                  </a:lnTo>
                  <a:lnTo>
                    <a:pt x="721369" y="888387"/>
                  </a:lnTo>
                  <a:lnTo>
                    <a:pt x="760715" y="867373"/>
                  </a:lnTo>
                  <a:lnTo>
                    <a:pt x="797732" y="843175"/>
                  </a:lnTo>
                  <a:lnTo>
                    <a:pt x="832211" y="815992"/>
                  </a:lnTo>
                  <a:lnTo>
                    <a:pt x="863946" y="786018"/>
                  </a:lnTo>
                  <a:lnTo>
                    <a:pt x="892727" y="753452"/>
                  </a:lnTo>
                  <a:lnTo>
                    <a:pt x="918347" y="718490"/>
                  </a:lnTo>
                  <a:lnTo>
                    <a:pt x="940596" y="681329"/>
                  </a:lnTo>
                  <a:lnTo>
                    <a:pt x="959268" y="642164"/>
                  </a:lnTo>
                  <a:lnTo>
                    <a:pt x="974152" y="601194"/>
                  </a:lnTo>
                  <a:lnTo>
                    <a:pt x="985042" y="558615"/>
                  </a:lnTo>
                  <a:lnTo>
                    <a:pt x="991728" y="514623"/>
                  </a:lnTo>
                  <a:lnTo>
                    <a:pt x="994004" y="469415"/>
                  </a:lnTo>
                  <a:lnTo>
                    <a:pt x="991728" y="424207"/>
                  </a:lnTo>
                  <a:lnTo>
                    <a:pt x="985042" y="380215"/>
                  </a:lnTo>
                  <a:lnTo>
                    <a:pt x="974152" y="337636"/>
                  </a:lnTo>
                  <a:lnTo>
                    <a:pt x="959268" y="296665"/>
                  </a:lnTo>
                  <a:lnTo>
                    <a:pt x="940596" y="257501"/>
                  </a:lnTo>
                  <a:lnTo>
                    <a:pt x="918347" y="220340"/>
                  </a:lnTo>
                  <a:lnTo>
                    <a:pt x="892727" y="185377"/>
                  </a:lnTo>
                  <a:lnTo>
                    <a:pt x="863946" y="152811"/>
                  </a:lnTo>
                  <a:lnTo>
                    <a:pt x="832211" y="122838"/>
                  </a:lnTo>
                  <a:lnTo>
                    <a:pt x="797732" y="95654"/>
                  </a:lnTo>
                  <a:lnTo>
                    <a:pt x="760715" y="71457"/>
                  </a:lnTo>
                  <a:lnTo>
                    <a:pt x="721369" y="50442"/>
                  </a:lnTo>
                  <a:lnTo>
                    <a:pt x="679903" y="32807"/>
                  </a:lnTo>
                  <a:lnTo>
                    <a:pt x="636525" y="18749"/>
                  </a:lnTo>
                  <a:lnTo>
                    <a:pt x="591443" y="8464"/>
                  </a:lnTo>
                  <a:lnTo>
                    <a:pt x="544866" y="2148"/>
                  </a:lnTo>
                  <a:lnTo>
                    <a:pt x="497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3785" y="5295230"/>
              <a:ext cx="994410" cy="939165"/>
            </a:xfrm>
            <a:custGeom>
              <a:avLst/>
              <a:gdLst/>
              <a:ahLst/>
              <a:cxnLst/>
              <a:rect l="l" t="t" r="r" b="b"/>
              <a:pathLst>
                <a:path w="994410" h="939164">
                  <a:moveTo>
                    <a:pt x="0" y="469414"/>
                  </a:moveTo>
                  <a:lnTo>
                    <a:pt x="2275" y="424207"/>
                  </a:lnTo>
                  <a:lnTo>
                    <a:pt x="8961" y="380215"/>
                  </a:lnTo>
                  <a:lnTo>
                    <a:pt x="19851" y="337635"/>
                  </a:lnTo>
                  <a:lnTo>
                    <a:pt x="34735" y="296665"/>
                  </a:lnTo>
                  <a:lnTo>
                    <a:pt x="53407" y="257501"/>
                  </a:lnTo>
                  <a:lnTo>
                    <a:pt x="75656" y="220339"/>
                  </a:lnTo>
                  <a:lnTo>
                    <a:pt x="101276" y="185377"/>
                  </a:lnTo>
                  <a:lnTo>
                    <a:pt x="130057" y="152811"/>
                  </a:lnTo>
                  <a:lnTo>
                    <a:pt x="161792" y="122838"/>
                  </a:lnTo>
                  <a:lnTo>
                    <a:pt x="196271" y="95654"/>
                  </a:lnTo>
                  <a:lnTo>
                    <a:pt x="233288" y="71457"/>
                  </a:lnTo>
                  <a:lnTo>
                    <a:pt x="272634" y="50442"/>
                  </a:lnTo>
                  <a:lnTo>
                    <a:pt x="314100" y="32807"/>
                  </a:lnTo>
                  <a:lnTo>
                    <a:pt x="357478" y="18749"/>
                  </a:lnTo>
                  <a:lnTo>
                    <a:pt x="402559" y="8464"/>
                  </a:lnTo>
                  <a:lnTo>
                    <a:pt x="449137" y="2148"/>
                  </a:lnTo>
                  <a:lnTo>
                    <a:pt x="497001" y="0"/>
                  </a:lnTo>
                  <a:lnTo>
                    <a:pt x="544866" y="2148"/>
                  </a:lnTo>
                  <a:lnTo>
                    <a:pt x="591443" y="8464"/>
                  </a:lnTo>
                  <a:lnTo>
                    <a:pt x="636525" y="18749"/>
                  </a:lnTo>
                  <a:lnTo>
                    <a:pt x="679903" y="32807"/>
                  </a:lnTo>
                  <a:lnTo>
                    <a:pt x="721369" y="50442"/>
                  </a:lnTo>
                  <a:lnTo>
                    <a:pt x="760714" y="71457"/>
                  </a:lnTo>
                  <a:lnTo>
                    <a:pt x="797731" y="95654"/>
                  </a:lnTo>
                  <a:lnTo>
                    <a:pt x="832211" y="122838"/>
                  </a:lnTo>
                  <a:lnTo>
                    <a:pt x="863946" y="152811"/>
                  </a:lnTo>
                  <a:lnTo>
                    <a:pt x="892727" y="185377"/>
                  </a:lnTo>
                  <a:lnTo>
                    <a:pt x="918347" y="220339"/>
                  </a:lnTo>
                  <a:lnTo>
                    <a:pt x="940596" y="257501"/>
                  </a:lnTo>
                  <a:lnTo>
                    <a:pt x="959267" y="296665"/>
                  </a:lnTo>
                  <a:lnTo>
                    <a:pt x="974152" y="337635"/>
                  </a:lnTo>
                  <a:lnTo>
                    <a:pt x="985041" y="380215"/>
                  </a:lnTo>
                  <a:lnTo>
                    <a:pt x="991728" y="424207"/>
                  </a:lnTo>
                  <a:lnTo>
                    <a:pt x="994003" y="469414"/>
                  </a:lnTo>
                  <a:lnTo>
                    <a:pt x="991728" y="514622"/>
                  </a:lnTo>
                  <a:lnTo>
                    <a:pt x="985041" y="558614"/>
                  </a:lnTo>
                  <a:lnTo>
                    <a:pt x="974152" y="601194"/>
                  </a:lnTo>
                  <a:lnTo>
                    <a:pt x="959267" y="642164"/>
                  </a:lnTo>
                  <a:lnTo>
                    <a:pt x="940596" y="681328"/>
                  </a:lnTo>
                  <a:lnTo>
                    <a:pt x="918347" y="718490"/>
                  </a:lnTo>
                  <a:lnTo>
                    <a:pt x="892727" y="753452"/>
                  </a:lnTo>
                  <a:lnTo>
                    <a:pt x="863946" y="786018"/>
                  </a:lnTo>
                  <a:lnTo>
                    <a:pt x="832211" y="815991"/>
                  </a:lnTo>
                  <a:lnTo>
                    <a:pt x="797731" y="843175"/>
                  </a:lnTo>
                  <a:lnTo>
                    <a:pt x="760714" y="867372"/>
                  </a:lnTo>
                  <a:lnTo>
                    <a:pt x="721369" y="888387"/>
                  </a:lnTo>
                  <a:lnTo>
                    <a:pt x="679903" y="906021"/>
                  </a:lnTo>
                  <a:lnTo>
                    <a:pt x="636525" y="920080"/>
                  </a:lnTo>
                  <a:lnTo>
                    <a:pt x="591443" y="930365"/>
                  </a:lnTo>
                  <a:lnTo>
                    <a:pt x="544866" y="936680"/>
                  </a:lnTo>
                  <a:lnTo>
                    <a:pt x="497001" y="938829"/>
                  </a:lnTo>
                  <a:lnTo>
                    <a:pt x="449137" y="936680"/>
                  </a:lnTo>
                  <a:lnTo>
                    <a:pt x="402559" y="930365"/>
                  </a:lnTo>
                  <a:lnTo>
                    <a:pt x="357478" y="920080"/>
                  </a:lnTo>
                  <a:lnTo>
                    <a:pt x="314100" y="906021"/>
                  </a:lnTo>
                  <a:lnTo>
                    <a:pt x="272634" y="888387"/>
                  </a:lnTo>
                  <a:lnTo>
                    <a:pt x="233288" y="867372"/>
                  </a:lnTo>
                  <a:lnTo>
                    <a:pt x="196271" y="843175"/>
                  </a:lnTo>
                  <a:lnTo>
                    <a:pt x="161792" y="815991"/>
                  </a:lnTo>
                  <a:lnTo>
                    <a:pt x="130057" y="786018"/>
                  </a:lnTo>
                  <a:lnTo>
                    <a:pt x="101276" y="753452"/>
                  </a:lnTo>
                  <a:lnTo>
                    <a:pt x="75656" y="718490"/>
                  </a:lnTo>
                  <a:lnTo>
                    <a:pt x="53407" y="681328"/>
                  </a:lnTo>
                  <a:lnTo>
                    <a:pt x="34735" y="642164"/>
                  </a:lnTo>
                  <a:lnTo>
                    <a:pt x="19851" y="601194"/>
                  </a:lnTo>
                  <a:lnTo>
                    <a:pt x="8961" y="558614"/>
                  </a:lnTo>
                  <a:lnTo>
                    <a:pt x="2275" y="514622"/>
                  </a:lnTo>
                  <a:lnTo>
                    <a:pt x="0" y="469414"/>
                  </a:lnTo>
                  <a:close/>
                </a:path>
              </a:pathLst>
            </a:custGeom>
            <a:ln w="25399">
              <a:solidFill>
                <a:srgbClr val="C5D7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8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33255" y="6434772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1183</Words>
  <Application>Microsoft Office PowerPoint</Application>
  <PresentationFormat>On-screen Show (4:3)</PresentationFormat>
  <Paragraphs>211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Arial MT</vt:lpstr>
      <vt:lpstr>Calibri</vt:lpstr>
      <vt:lpstr>Times New Roman</vt:lpstr>
      <vt:lpstr>Trebuchet MS</vt:lpstr>
      <vt:lpstr>Wingdings</vt:lpstr>
      <vt:lpstr>Office Theme</vt:lpstr>
      <vt:lpstr>PowerPoint Presentation</vt:lpstr>
      <vt:lpstr>CONTENTS</vt:lpstr>
      <vt:lpstr>5.1 FOUNDATIONS OF PLANNING</vt:lpstr>
      <vt:lpstr>What is planning?</vt:lpstr>
      <vt:lpstr>Goal</vt:lpstr>
      <vt:lpstr>Goal</vt:lpstr>
      <vt:lpstr>Goal vs. Purpose</vt:lpstr>
      <vt:lpstr>SIM’S MISSION</vt:lpstr>
      <vt:lpstr>SMART Goals</vt:lpstr>
      <vt:lpstr>Well-Written goals</vt:lpstr>
      <vt:lpstr>Strategy</vt:lpstr>
      <vt:lpstr>Strategy</vt:lpstr>
      <vt:lpstr>Plan</vt:lpstr>
      <vt:lpstr>Plan</vt:lpstr>
      <vt:lpstr>The roles of planning</vt:lpstr>
      <vt:lpstr>Approaches to setting goals</vt:lpstr>
      <vt:lpstr>Approaches to setting goals</vt:lpstr>
      <vt:lpstr>Approaches to setting goals</vt:lpstr>
      <vt:lpstr>PowerPoint Presentation</vt:lpstr>
      <vt:lpstr>Approaches to setting goals</vt:lpstr>
      <vt:lpstr>Approaches to setting goals</vt:lpstr>
      <vt:lpstr>Approaches to setting goals</vt:lpstr>
      <vt:lpstr>Approaches to setting goals</vt:lpstr>
      <vt:lpstr>5.2 STRATEGIC PLANNING</vt:lpstr>
      <vt:lpstr>What is strategic management?</vt:lpstr>
      <vt:lpstr>PowerPoint Presentation</vt:lpstr>
      <vt:lpstr>PowerPoint Presentation</vt:lpstr>
      <vt:lpstr>What is Strategic planning?</vt:lpstr>
      <vt:lpstr>The strategic management process</vt:lpstr>
      <vt:lpstr>The 4 steps of strategic planning STEP 1: Identifying the organization’s  current mission, goals, and strategies:</vt:lpstr>
      <vt:lpstr>The 4 steps of strategic planning  STEP 2: Doing an External analysis</vt:lpstr>
      <vt:lpstr>The 4 steps of strategic planning  STEP 3: Doing an Internal analysis</vt:lpstr>
      <vt:lpstr>The 4 steps of strategic planning  STEP 3: Doing an Internal analysis</vt:lpstr>
      <vt:lpstr>The 4 steps of strategic planning SWOT ANALYSIS: The combined external and internal  analyses</vt:lpstr>
      <vt:lpstr>The 4 steps of strategic planning  STEP 4: Formulating Strategies</vt:lpstr>
      <vt:lpstr>Three main types of strategies</vt:lpstr>
      <vt:lpstr>Corporate strategies</vt:lpstr>
      <vt:lpstr>Corporate strategies</vt:lpstr>
      <vt:lpstr>SWOT matrix</vt:lpstr>
      <vt:lpstr>BCG matrix</vt:lpstr>
      <vt:lpstr>Ansoff matrix</vt:lpstr>
      <vt:lpstr>Competitive strategies</vt:lpstr>
      <vt:lpstr>Competitive strategies</vt:lpstr>
      <vt:lpstr>Five forces model</vt:lpstr>
      <vt:lpstr>PowerPoint Presentation</vt:lpstr>
      <vt:lpstr>5.3 OPERATIONAL PLANNING</vt:lpstr>
      <vt:lpstr>What is operational planning?</vt:lpstr>
      <vt:lpstr>The process of operational planning</vt:lpstr>
      <vt:lpstr>Planning in Dynamic environment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2</cp:revision>
  <dcterms:created xsi:type="dcterms:W3CDTF">2024-06-23T14:59:09Z</dcterms:created>
  <dcterms:modified xsi:type="dcterms:W3CDTF">2024-06-23T15:35:01Z</dcterms:modified>
</cp:coreProperties>
</file>