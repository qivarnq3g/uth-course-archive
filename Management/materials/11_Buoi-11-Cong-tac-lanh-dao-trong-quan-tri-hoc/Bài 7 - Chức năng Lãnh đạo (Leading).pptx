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58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825" y="445857"/>
            <a:ext cx="837434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041" y="232497"/>
            <a:ext cx="8697917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645" y="1304196"/>
            <a:ext cx="8682709" cy="4372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ortune.com/2015/04/02/quit-reasons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5 Types of Leaders | ATD">
            <a:extLst>
              <a:ext uri="{FF2B5EF4-FFF2-40B4-BE49-F238E27FC236}">
                <a16:creationId xmlns:a16="http://schemas.microsoft.com/office/drawing/2014/main" id="{E00A2948-773E-6584-B87C-1A80160AB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sz="6000" kern="1200" spc="-5">
                <a:solidFill>
                  <a:srgbClr val="FFFFFF"/>
                </a:solidFill>
                <a:latin typeface="+mj-lt"/>
                <a:cs typeface="+mj-cs"/>
              </a:rPr>
              <a:t>LEADING</a:t>
            </a:r>
            <a:endParaRPr lang="en-US" sz="6000" kern="1200">
              <a:solidFill>
                <a:srgbClr val="FFFFFF"/>
              </a:solidFill>
              <a:latin typeface="+mj-lt"/>
              <a:cs typeface="+mj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5591" y="64347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6088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LEARNING</a:t>
            </a:r>
            <a:r>
              <a:rPr sz="3200" spc="-45" dirty="0"/>
              <a:t> </a:t>
            </a:r>
            <a:r>
              <a:rPr sz="3200" spc="-5" dirty="0"/>
              <a:t>OUTCOMES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64539" y="1570229"/>
            <a:ext cx="6116320" cy="22040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27355" indent="-415290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427355" algn="l"/>
                <a:tab pos="427990" algn="l"/>
              </a:tabLst>
            </a:pPr>
            <a:r>
              <a:rPr sz="2400" b="1" spc="-5" dirty="0">
                <a:latin typeface="Arial"/>
                <a:cs typeface="Arial"/>
              </a:rPr>
              <a:t>Define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concept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leading</a:t>
            </a:r>
            <a:endParaRPr sz="2400">
              <a:latin typeface="Arial MT"/>
              <a:cs typeface="Arial MT"/>
            </a:endParaRPr>
          </a:p>
          <a:p>
            <a:pPr marL="427355" indent="-41529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27355" algn="l"/>
                <a:tab pos="427990" algn="l"/>
              </a:tabLst>
            </a:pPr>
            <a:r>
              <a:rPr sz="2400" b="1" spc="-5" dirty="0">
                <a:latin typeface="Arial"/>
                <a:cs typeface="Arial"/>
              </a:rPr>
              <a:t>Explain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Leader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leadership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styles</a:t>
            </a:r>
            <a:endParaRPr sz="2400">
              <a:latin typeface="Arial MT"/>
              <a:cs typeface="Arial MT"/>
            </a:endParaRPr>
          </a:p>
          <a:p>
            <a:pPr marL="427355" indent="-41529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427355" algn="l"/>
                <a:tab pos="427990" algn="l"/>
              </a:tabLst>
            </a:pPr>
            <a:r>
              <a:rPr sz="2400" b="1" spc="-5" dirty="0">
                <a:latin typeface="Arial"/>
                <a:cs typeface="Arial"/>
              </a:rPr>
              <a:t>Explain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motivation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theories </a:t>
            </a:r>
            <a:r>
              <a:rPr sz="2400" dirty="0">
                <a:latin typeface="Arial MT"/>
                <a:cs typeface="Arial MT"/>
              </a:rPr>
              <a:t>and model</a:t>
            </a:r>
            <a:endParaRPr sz="2400">
              <a:latin typeface="Arial MT"/>
              <a:cs typeface="Arial MT"/>
            </a:endParaRPr>
          </a:p>
          <a:p>
            <a:pPr marL="427355" indent="-415290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27355" algn="l"/>
                <a:tab pos="427990" algn="l"/>
              </a:tabLst>
            </a:pPr>
            <a:r>
              <a:rPr sz="2400" b="1" spc="-5" dirty="0">
                <a:latin typeface="Arial"/>
                <a:cs typeface="Arial"/>
              </a:rPr>
              <a:t>Describe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Communication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  <a:p>
            <a:pPr marL="427355" indent="-41529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427355" algn="l"/>
                <a:tab pos="427990" algn="l"/>
              </a:tabLst>
            </a:pPr>
            <a:r>
              <a:rPr sz="2400" b="1" spc="-5" dirty="0">
                <a:latin typeface="Arial"/>
                <a:cs typeface="Arial"/>
              </a:rPr>
              <a:t>Explain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conflict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374" y="486698"/>
            <a:ext cx="22612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CONTENTS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672697" y="1622851"/>
            <a:ext cx="278765" cy="461645"/>
            <a:chOff x="672697" y="1622851"/>
            <a:chExt cx="278765" cy="461645"/>
          </a:xfrm>
        </p:grpSpPr>
        <p:sp>
          <p:nvSpPr>
            <p:cNvPr id="4" name="object 4"/>
            <p:cNvSpPr/>
            <p:nvPr/>
          </p:nvSpPr>
          <p:spPr>
            <a:xfrm>
              <a:off x="672693" y="1622856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701" y="1638948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1973" y="1630537"/>
            <a:ext cx="5157470" cy="430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lvl="1" indent="-5086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1334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Leading</a:t>
            </a:r>
            <a:r>
              <a:rPr sz="2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and</a:t>
            </a:r>
            <a:r>
              <a:rPr sz="24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leading</a:t>
            </a:r>
            <a:r>
              <a:rPr sz="24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functions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70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spcBef>
                <a:spcPts val="1895"/>
              </a:spcBef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Leader and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leadership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styles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7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434343"/>
              </a:buClr>
              <a:buFont typeface="Arial"/>
              <a:buAutoNum type="arabicPeriod"/>
            </a:pPr>
            <a:endParaRPr sz="215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Motivation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434343"/>
              </a:buClr>
              <a:buFont typeface="Arial"/>
              <a:buAutoNum type="arabicPeriod"/>
            </a:pPr>
            <a:endParaRPr sz="400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Communication</a:t>
            </a:r>
            <a:r>
              <a:rPr sz="2400" b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in</a:t>
            </a:r>
            <a:r>
              <a:rPr sz="2400" b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434343"/>
              </a:buClr>
              <a:buFont typeface="Arial"/>
              <a:buAutoNum type="arabicPeriod"/>
            </a:pPr>
            <a:endParaRPr sz="345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Conflict</a:t>
            </a:r>
            <a:r>
              <a:rPr sz="2400" b="1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2705" y="2623964"/>
            <a:ext cx="278765" cy="461645"/>
            <a:chOff x="672705" y="2623964"/>
            <a:chExt cx="278765" cy="461645"/>
          </a:xfrm>
        </p:grpSpPr>
        <p:sp>
          <p:nvSpPr>
            <p:cNvPr id="8" name="object 8"/>
            <p:cNvSpPr/>
            <p:nvPr/>
          </p:nvSpPr>
          <p:spPr>
            <a:xfrm>
              <a:off x="672693" y="2623972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90" y="0"/>
                  </a:lnTo>
                  <a:lnTo>
                    <a:pt x="0" y="230543"/>
                  </a:lnTo>
                  <a:lnTo>
                    <a:pt x="128790" y="461086"/>
                  </a:lnTo>
                  <a:lnTo>
                    <a:pt x="278155" y="461086"/>
                  </a:lnTo>
                  <a:lnTo>
                    <a:pt x="149377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2709" y="2640062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5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72697" y="3702367"/>
            <a:ext cx="278765" cy="461645"/>
            <a:chOff x="672697" y="3702367"/>
            <a:chExt cx="278765" cy="461645"/>
          </a:xfrm>
        </p:grpSpPr>
        <p:sp>
          <p:nvSpPr>
            <p:cNvPr id="11" name="object 11"/>
            <p:cNvSpPr/>
            <p:nvPr/>
          </p:nvSpPr>
          <p:spPr>
            <a:xfrm>
              <a:off x="672693" y="3702367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701" y="3718464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72709" y="4629439"/>
            <a:ext cx="278765" cy="461645"/>
            <a:chOff x="672709" y="4629439"/>
            <a:chExt cx="278765" cy="461645"/>
          </a:xfrm>
        </p:grpSpPr>
        <p:sp>
          <p:nvSpPr>
            <p:cNvPr id="14" name="object 14"/>
            <p:cNvSpPr/>
            <p:nvPr/>
          </p:nvSpPr>
          <p:spPr>
            <a:xfrm>
              <a:off x="672706" y="4629441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2713" y="4645536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72713" y="5505215"/>
            <a:ext cx="278765" cy="461645"/>
            <a:chOff x="672713" y="5505215"/>
            <a:chExt cx="278765" cy="461645"/>
          </a:xfrm>
        </p:grpSpPr>
        <p:sp>
          <p:nvSpPr>
            <p:cNvPr id="17" name="object 17"/>
            <p:cNvSpPr/>
            <p:nvPr/>
          </p:nvSpPr>
          <p:spPr>
            <a:xfrm>
              <a:off x="672706" y="5505221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2717" y="5521313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088435"/>
            <a:ext cx="84302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7.1 LEADING</a:t>
            </a:r>
            <a:r>
              <a:rPr sz="3400" spc="-135" dirty="0">
                <a:solidFill>
                  <a:srgbClr val="376092"/>
                </a:solidFill>
              </a:rPr>
              <a:t> </a:t>
            </a:r>
            <a:r>
              <a:rPr sz="3400" dirty="0">
                <a:solidFill>
                  <a:srgbClr val="376092"/>
                </a:solidFill>
              </a:rPr>
              <a:t>AND</a:t>
            </a:r>
            <a:r>
              <a:rPr sz="3400" spc="-5" dirty="0">
                <a:solidFill>
                  <a:srgbClr val="376092"/>
                </a:solidFill>
              </a:rPr>
              <a:t> LEADING FUNCTIONS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9653" y="9283"/>
            <a:ext cx="5994345" cy="23055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15836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Leading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8" y="1351710"/>
            <a:ext cx="7419340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sz="2800" b="1" spc="-5" dirty="0">
                <a:latin typeface="Arial"/>
                <a:cs typeface="Arial"/>
              </a:rPr>
              <a:t>Leading </a:t>
            </a:r>
            <a:r>
              <a:rPr sz="2800" b="1" dirty="0">
                <a:latin typeface="Arial"/>
                <a:cs typeface="Arial"/>
              </a:rPr>
              <a:t>- </a:t>
            </a:r>
            <a:r>
              <a:rPr sz="2800" dirty="0">
                <a:latin typeface="Arial MT"/>
                <a:cs typeface="Arial MT"/>
              </a:rPr>
              <a:t>Management </a:t>
            </a:r>
            <a:r>
              <a:rPr sz="2800" spc="-5" dirty="0">
                <a:latin typeface="Arial MT"/>
                <a:cs typeface="Arial MT"/>
              </a:rPr>
              <a:t>function that </a:t>
            </a:r>
            <a:r>
              <a:rPr sz="2800" dirty="0">
                <a:latin typeface="Arial MT"/>
                <a:cs typeface="Arial MT"/>
              </a:rPr>
              <a:t>involves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through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people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accomplish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organizational </a:t>
            </a:r>
            <a:r>
              <a:rPr sz="2800" dirty="0">
                <a:latin typeface="Arial MT"/>
                <a:cs typeface="Arial MT"/>
              </a:rPr>
              <a:t>goals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68479" y="3167361"/>
            <a:ext cx="3797300" cy="3189605"/>
            <a:chOff x="2168479" y="3167361"/>
            <a:chExt cx="3797300" cy="31896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0106" y="3167361"/>
              <a:ext cx="3745671" cy="10585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8479" y="4210050"/>
              <a:ext cx="3797298" cy="2146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15836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Leading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608" y="1073828"/>
            <a:ext cx="2951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Leading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relates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5732" y="3414655"/>
            <a:ext cx="1480820" cy="1480820"/>
          </a:xfrm>
          <a:custGeom>
            <a:avLst/>
            <a:gdLst/>
            <a:ahLst/>
            <a:cxnLst/>
            <a:rect l="l" t="t" r="r" b="b"/>
            <a:pathLst>
              <a:path w="1480820" h="1480820">
                <a:moveTo>
                  <a:pt x="1233770" y="0"/>
                </a:moveTo>
                <a:lnTo>
                  <a:pt x="246759" y="0"/>
                </a:lnTo>
                <a:lnTo>
                  <a:pt x="197029" y="5013"/>
                </a:lnTo>
                <a:lnTo>
                  <a:pt x="150709" y="19391"/>
                </a:lnTo>
                <a:lnTo>
                  <a:pt x="108794" y="42142"/>
                </a:lnTo>
                <a:lnTo>
                  <a:pt x="72274" y="72273"/>
                </a:lnTo>
                <a:lnTo>
                  <a:pt x="42142" y="108793"/>
                </a:lnTo>
                <a:lnTo>
                  <a:pt x="19391" y="150709"/>
                </a:lnTo>
                <a:lnTo>
                  <a:pt x="5013" y="197028"/>
                </a:lnTo>
                <a:lnTo>
                  <a:pt x="0" y="246759"/>
                </a:lnTo>
                <a:lnTo>
                  <a:pt x="0" y="1233770"/>
                </a:lnTo>
                <a:lnTo>
                  <a:pt x="5013" y="1283501"/>
                </a:lnTo>
                <a:lnTo>
                  <a:pt x="19391" y="1329820"/>
                </a:lnTo>
                <a:lnTo>
                  <a:pt x="42142" y="1371736"/>
                </a:lnTo>
                <a:lnTo>
                  <a:pt x="72274" y="1408256"/>
                </a:lnTo>
                <a:lnTo>
                  <a:pt x="108794" y="1438387"/>
                </a:lnTo>
                <a:lnTo>
                  <a:pt x="150709" y="1461138"/>
                </a:lnTo>
                <a:lnTo>
                  <a:pt x="197029" y="1475517"/>
                </a:lnTo>
                <a:lnTo>
                  <a:pt x="246759" y="1480530"/>
                </a:lnTo>
                <a:lnTo>
                  <a:pt x="1233770" y="1480530"/>
                </a:lnTo>
                <a:lnTo>
                  <a:pt x="1283501" y="1475517"/>
                </a:lnTo>
                <a:lnTo>
                  <a:pt x="1329820" y="1461138"/>
                </a:lnTo>
                <a:lnTo>
                  <a:pt x="1371736" y="1438387"/>
                </a:lnTo>
                <a:lnTo>
                  <a:pt x="1408256" y="1408256"/>
                </a:lnTo>
                <a:lnTo>
                  <a:pt x="1438387" y="1371736"/>
                </a:lnTo>
                <a:lnTo>
                  <a:pt x="1461138" y="1329820"/>
                </a:lnTo>
                <a:lnTo>
                  <a:pt x="1475517" y="1283501"/>
                </a:lnTo>
                <a:lnTo>
                  <a:pt x="1480530" y="1233770"/>
                </a:lnTo>
                <a:lnTo>
                  <a:pt x="1480530" y="246759"/>
                </a:lnTo>
                <a:lnTo>
                  <a:pt x="1475517" y="197028"/>
                </a:lnTo>
                <a:lnTo>
                  <a:pt x="1461138" y="150709"/>
                </a:lnTo>
                <a:lnTo>
                  <a:pt x="1438387" y="108793"/>
                </a:lnTo>
                <a:lnTo>
                  <a:pt x="1408256" y="72273"/>
                </a:lnTo>
                <a:lnTo>
                  <a:pt x="1371736" y="42142"/>
                </a:lnTo>
                <a:lnTo>
                  <a:pt x="1329820" y="19391"/>
                </a:lnTo>
                <a:lnTo>
                  <a:pt x="1283501" y="5013"/>
                </a:lnTo>
                <a:lnTo>
                  <a:pt x="1233770" y="0"/>
                </a:lnTo>
                <a:close/>
              </a:path>
            </a:pathLst>
          </a:custGeom>
          <a:solidFill>
            <a:srgbClr val="6095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58869" y="3927590"/>
            <a:ext cx="1200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Leading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37351" y="1675093"/>
            <a:ext cx="2237740" cy="1752600"/>
            <a:chOff x="3437351" y="1675093"/>
            <a:chExt cx="2237740" cy="1752600"/>
          </a:xfrm>
        </p:grpSpPr>
        <p:sp>
          <p:nvSpPr>
            <p:cNvPr id="8" name="object 8"/>
            <p:cNvSpPr/>
            <p:nvPr/>
          </p:nvSpPr>
          <p:spPr>
            <a:xfrm>
              <a:off x="4555999" y="2679749"/>
              <a:ext cx="0" cy="735330"/>
            </a:xfrm>
            <a:custGeom>
              <a:avLst/>
              <a:gdLst/>
              <a:ahLst/>
              <a:cxnLst/>
              <a:rect l="l" t="t" r="r" b="b"/>
              <a:pathLst>
                <a:path h="735329">
                  <a:moveTo>
                    <a:pt x="0" y="734905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50051" y="1687793"/>
              <a:ext cx="2212340" cy="992505"/>
            </a:xfrm>
            <a:custGeom>
              <a:avLst/>
              <a:gdLst/>
              <a:ahLst/>
              <a:cxnLst/>
              <a:rect l="l" t="t" r="r" b="b"/>
              <a:pathLst>
                <a:path w="2212340" h="992505">
                  <a:moveTo>
                    <a:pt x="2046564" y="0"/>
                  </a:moveTo>
                  <a:lnTo>
                    <a:pt x="165328" y="0"/>
                  </a:lnTo>
                  <a:lnTo>
                    <a:pt x="121377" y="5905"/>
                  </a:lnTo>
                  <a:lnTo>
                    <a:pt x="81884" y="22572"/>
                  </a:lnTo>
                  <a:lnTo>
                    <a:pt x="48423" y="48423"/>
                  </a:lnTo>
                  <a:lnTo>
                    <a:pt x="22572" y="81884"/>
                  </a:lnTo>
                  <a:lnTo>
                    <a:pt x="5905" y="121378"/>
                  </a:lnTo>
                  <a:lnTo>
                    <a:pt x="0" y="165329"/>
                  </a:lnTo>
                  <a:lnTo>
                    <a:pt x="0" y="826626"/>
                  </a:lnTo>
                  <a:lnTo>
                    <a:pt x="5905" y="870577"/>
                  </a:lnTo>
                  <a:lnTo>
                    <a:pt x="22572" y="910070"/>
                  </a:lnTo>
                  <a:lnTo>
                    <a:pt x="48423" y="943531"/>
                  </a:lnTo>
                  <a:lnTo>
                    <a:pt x="81884" y="969382"/>
                  </a:lnTo>
                  <a:lnTo>
                    <a:pt x="121377" y="986049"/>
                  </a:lnTo>
                  <a:lnTo>
                    <a:pt x="165328" y="991955"/>
                  </a:lnTo>
                  <a:lnTo>
                    <a:pt x="2046564" y="991955"/>
                  </a:lnTo>
                  <a:lnTo>
                    <a:pt x="2090515" y="986049"/>
                  </a:lnTo>
                  <a:lnTo>
                    <a:pt x="2130008" y="969382"/>
                  </a:lnTo>
                  <a:lnTo>
                    <a:pt x="2163469" y="943531"/>
                  </a:lnTo>
                  <a:lnTo>
                    <a:pt x="2189320" y="910070"/>
                  </a:lnTo>
                  <a:lnTo>
                    <a:pt x="2205987" y="870577"/>
                  </a:lnTo>
                  <a:lnTo>
                    <a:pt x="2211892" y="826626"/>
                  </a:lnTo>
                  <a:lnTo>
                    <a:pt x="2211892" y="165329"/>
                  </a:lnTo>
                  <a:lnTo>
                    <a:pt x="2205987" y="121378"/>
                  </a:lnTo>
                  <a:lnTo>
                    <a:pt x="2189320" y="81884"/>
                  </a:lnTo>
                  <a:lnTo>
                    <a:pt x="2163469" y="48423"/>
                  </a:lnTo>
                  <a:lnTo>
                    <a:pt x="2130008" y="22572"/>
                  </a:lnTo>
                  <a:lnTo>
                    <a:pt x="2090515" y="5905"/>
                  </a:lnTo>
                  <a:lnTo>
                    <a:pt x="2046564" y="0"/>
                  </a:lnTo>
                  <a:close/>
                </a:path>
              </a:pathLst>
            </a:custGeom>
            <a:solidFill>
              <a:srgbClr val="A2D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50051" y="1687793"/>
              <a:ext cx="2212340" cy="992505"/>
            </a:xfrm>
            <a:custGeom>
              <a:avLst/>
              <a:gdLst/>
              <a:ahLst/>
              <a:cxnLst/>
              <a:rect l="l" t="t" r="r" b="b"/>
              <a:pathLst>
                <a:path w="2212340" h="992505">
                  <a:moveTo>
                    <a:pt x="0" y="165329"/>
                  </a:moveTo>
                  <a:lnTo>
                    <a:pt x="5905" y="121378"/>
                  </a:lnTo>
                  <a:lnTo>
                    <a:pt x="22572" y="81884"/>
                  </a:lnTo>
                  <a:lnTo>
                    <a:pt x="48423" y="48423"/>
                  </a:lnTo>
                  <a:lnTo>
                    <a:pt x="81884" y="22572"/>
                  </a:lnTo>
                  <a:lnTo>
                    <a:pt x="121377" y="5905"/>
                  </a:lnTo>
                  <a:lnTo>
                    <a:pt x="165328" y="0"/>
                  </a:lnTo>
                  <a:lnTo>
                    <a:pt x="2046563" y="0"/>
                  </a:lnTo>
                  <a:lnTo>
                    <a:pt x="2090514" y="5905"/>
                  </a:lnTo>
                  <a:lnTo>
                    <a:pt x="2130007" y="22572"/>
                  </a:lnTo>
                  <a:lnTo>
                    <a:pt x="2163468" y="48423"/>
                  </a:lnTo>
                  <a:lnTo>
                    <a:pt x="2189320" y="81884"/>
                  </a:lnTo>
                  <a:lnTo>
                    <a:pt x="2205986" y="121378"/>
                  </a:lnTo>
                  <a:lnTo>
                    <a:pt x="2211892" y="165329"/>
                  </a:lnTo>
                  <a:lnTo>
                    <a:pt x="2211892" y="826625"/>
                  </a:lnTo>
                  <a:lnTo>
                    <a:pt x="2205986" y="870576"/>
                  </a:lnTo>
                  <a:lnTo>
                    <a:pt x="2189320" y="910070"/>
                  </a:lnTo>
                  <a:lnTo>
                    <a:pt x="2163468" y="943531"/>
                  </a:lnTo>
                  <a:lnTo>
                    <a:pt x="2130007" y="969382"/>
                  </a:lnTo>
                  <a:lnTo>
                    <a:pt x="2090514" y="986049"/>
                  </a:lnTo>
                  <a:lnTo>
                    <a:pt x="2046563" y="991954"/>
                  </a:lnTo>
                  <a:lnTo>
                    <a:pt x="165328" y="991954"/>
                  </a:lnTo>
                  <a:lnTo>
                    <a:pt x="121377" y="986049"/>
                  </a:lnTo>
                  <a:lnTo>
                    <a:pt x="81884" y="969382"/>
                  </a:lnTo>
                  <a:lnTo>
                    <a:pt x="48423" y="943531"/>
                  </a:lnTo>
                  <a:lnTo>
                    <a:pt x="22572" y="910070"/>
                  </a:lnTo>
                  <a:lnTo>
                    <a:pt x="5905" y="870576"/>
                  </a:lnTo>
                  <a:lnTo>
                    <a:pt x="0" y="826625"/>
                  </a:lnTo>
                  <a:lnTo>
                    <a:pt x="0" y="16532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60939" y="1964696"/>
            <a:ext cx="15970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Leadership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83563" y="3646243"/>
            <a:ext cx="2935605" cy="1017905"/>
            <a:chOff x="5283563" y="3646243"/>
            <a:chExt cx="2935605" cy="1017905"/>
          </a:xfrm>
        </p:grpSpPr>
        <p:sp>
          <p:nvSpPr>
            <p:cNvPr id="13" name="object 13"/>
            <p:cNvSpPr/>
            <p:nvPr/>
          </p:nvSpPr>
          <p:spPr>
            <a:xfrm>
              <a:off x="5296263" y="4154920"/>
              <a:ext cx="345440" cy="0"/>
            </a:xfrm>
            <a:custGeom>
              <a:avLst/>
              <a:gdLst/>
              <a:ahLst/>
              <a:cxnLst/>
              <a:rect l="l" t="t" r="r" b="b"/>
              <a:pathLst>
                <a:path w="345439">
                  <a:moveTo>
                    <a:pt x="0" y="0"/>
                  </a:moveTo>
                  <a:lnTo>
                    <a:pt x="345261" y="0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41526" y="3658943"/>
              <a:ext cx="2564765" cy="992505"/>
            </a:xfrm>
            <a:custGeom>
              <a:avLst/>
              <a:gdLst/>
              <a:ahLst/>
              <a:cxnLst/>
              <a:rect l="l" t="t" r="r" b="b"/>
              <a:pathLst>
                <a:path w="2564765" h="992504">
                  <a:moveTo>
                    <a:pt x="2399064" y="0"/>
                  </a:moveTo>
                  <a:lnTo>
                    <a:pt x="165328" y="0"/>
                  </a:lnTo>
                  <a:lnTo>
                    <a:pt x="121377" y="5905"/>
                  </a:lnTo>
                  <a:lnTo>
                    <a:pt x="81883" y="22572"/>
                  </a:lnTo>
                  <a:lnTo>
                    <a:pt x="48423" y="48423"/>
                  </a:lnTo>
                  <a:lnTo>
                    <a:pt x="22572" y="81883"/>
                  </a:lnTo>
                  <a:lnTo>
                    <a:pt x="5905" y="121377"/>
                  </a:lnTo>
                  <a:lnTo>
                    <a:pt x="0" y="165328"/>
                  </a:lnTo>
                  <a:lnTo>
                    <a:pt x="0" y="826625"/>
                  </a:lnTo>
                  <a:lnTo>
                    <a:pt x="5905" y="870576"/>
                  </a:lnTo>
                  <a:lnTo>
                    <a:pt x="22572" y="910070"/>
                  </a:lnTo>
                  <a:lnTo>
                    <a:pt x="48423" y="943530"/>
                  </a:lnTo>
                  <a:lnTo>
                    <a:pt x="81883" y="969381"/>
                  </a:lnTo>
                  <a:lnTo>
                    <a:pt x="121377" y="986048"/>
                  </a:lnTo>
                  <a:lnTo>
                    <a:pt x="165328" y="991953"/>
                  </a:lnTo>
                  <a:lnTo>
                    <a:pt x="2399064" y="991953"/>
                  </a:lnTo>
                  <a:lnTo>
                    <a:pt x="2443015" y="986048"/>
                  </a:lnTo>
                  <a:lnTo>
                    <a:pt x="2482509" y="969381"/>
                  </a:lnTo>
                  <a:lnTo>
                    <a:pt x="2515969" y="943530"/>
                  </a:lnTo>
                  <a:lnTo>
                    <a:pt x="2541820" y="910070"/>
                  </a:lnTo>
                  <a:lnTo>
                    <a:pt x="2558487" y="870576"/>
                  </a:lnTo>
                  <a:lnTo>
                    <a:pt x="2564392" y="826625"/>
                  </a:lnTo>
                  <a:lnTo>
                    <a:pt x="2564392" y="165328"/>
                  </a:lnTo>
                  <a:lnTo>
                    <a:pt x="2558487" y="121377"/>
                  </a:lnTo>
                  <a:lnTo>
                    <a:pt x="2541820" y="81883"/>
                  </a:lnTo>
                  <a:lnTo>
                    <a:pt x="2515969" y="48423"/>
                  </a:lnTo>
                  <a:lnTo>
                    <a:pt x="2482509" y="22572"/>
                  </a:lnTo>
                  <a:lnTo>
                    <a:pt x="2443015" y="5905"/>
                  </a:lnTo>
                  <a:lnTo>
                    <a:pt x="2399064" y="0"/>
                  </a:lnTo>
                  <a:close/>
                </a:path>
              </a:pathLst>
            </a:custGeom>
            <a:solidFill>
              <a:srgbClr val="A2D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41526" y="3658943"/>
              <a:ext cx="2564765" cy="992505"/>
            </a:xfrm>
            <a:custGeom>
              <a:avLst/>
              <a:gdLst/>
              <a:ahLst/>
              <a:cxnLst/>
              <a:rect l="l" t="t" r="r" b="b"/>
              <a:pathLst>
                <a:path w="2564765" h="992504">
                  <a:moveTo>
                    <a:pt x="0" y="165329"/>
                  </a:moveTo>
                  <a:lnTo>
                    <a:pt x="5905" y="121378"/>
                  </a:lnTo>
                  <a:lnTo>
                    <a:pt x="22572" y="81884"/>
                  </a:lnTo>
                  <a:lnTo>
                    <a:pt x="48423" y="48423"/>
                  </a:lnTo>
                  <a:lnTo>
                    <a:pt x="81884" y="22572"/>
                  </a:lnTo>
                  <a:lnTo>
                    <a:pt x="121377" y="5905"/>
                  </a:lnTo>
                  <a:lnTo>
                    <a:pt x="165328" y="0"/>
                  </a:lnTo>
                  <a:lnTo>
                    <a:pt x="2399064" y="0"/>
                  </a:lnTo>
                  <a:lnTo>
                    <a:pt x="2443015" y="5905"/>
                  </a:lnTo>
                  <a:lnTo>
                    <a:pt x="2482509" y="22572"/>
                  </a:lnTo>
                  <a:lnTo>
                    <a:pt x="2515969" y="48423"/>
                  </a:lnTo>
                  <a:lnTo>
                    <a:pt x="2541821" y="81884"/>
                  </a:lnTo>
                  <a:lnTo>
                    <a:pt x="2558487" y="121378"/>
                  </a:lnTo>
                  <a:lnTo>
                    <a:pt x="2564393" y="165329"/>
                  </a:lnTo>
                  <a:lnTo>
                    <a:pt x="2564393" y="826625"/>
                  </a:lnTo>
                  <a:lnTo>
                    <a:pt x="2558487" y="870576"/>
                  </a:lnTo>
                  <a:lnTo>
                    <a:pt x="2541821" y="910070"/>
                  </a:lnTo>
                  <a:lnTo>
                    <a:pt x="2515969" y="943530"/>
                  </a:lnTo>
                  <a:lnTo>
                    <a:pt x="2482509" y="969382"/>
                  </a:lnTo>
                  <a:lnTo>
                    <a:pt x="2443015" y="986048"/>
                  </a:lnTo>
                  <a:lnTo>
                    <a:pt x="2399064" y="991954"/>
                  </a:lnTo>
                  <a:lnTo>
                    <a:pt x="165328" y="991954"/>
                  </a:lnTo>
                  <a:lnTo>
                    <a:pt x="121377" y="986048"/>
                  </a:lnTo>
                  <a:lnTo>
                    <a:pt x="81884" y="969382"/>
                  </a:lnTo>
                  <a:lnTo>
                    <a:pt x="48423" y="943530"/>
                  </a:lnTo>
                  <a:lnTo>
                    <a:pt x="22572" y="910070"/>
                  </a:lnTo>
                  <a:lnTo>
                    <a:pt x="5905" y="870576"/>
                  </a:lnTo>
                  <a:lnTo>
                    <a:pt x="0" y="826625"/>
                  </a:lnTo>
                  <a:lnTo>
                    <a:pt x="0" y="16532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11320" y="3935845"/>
            <a:ext cx="22313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 MT"/>
                <a:cs typeface="Arial MT"/>
              </a:rPr>
              <a:t>Communication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37351" y="4882485"/>
            <a:ext cx="2237740" cy="1752600"/>
            <a:chOff x="3437351" y="4882485"/>
            <a:chExt cx="2237740" cy="1752600"/>
          </a:xfrm>
        </p:grpSpPr>
        <p:sp>
          <p:nvSpPr>
            <p:cNvPr id="18" name="object 18"/>
            <p:cNvSpPr/>
            <p:nvPr/>
          </p:nvSpPr>
          <p:spPr>
            <a:xfrm>
              <a:off x="4555999" y="4895185"/>
              <a:ext cx="0" cy="735330"/>
            </a:xfrm>
            <a:custGeom>
              <a:avLst/>
              <a:gdLst/>
              <a:ahLst/>
              <a:cxnLst/>
              <a:rect l="l" t="t" r="r" b="b"/>
              <a:pathLst>
                <a:path h="735329">
                  <a:moveTo>
                    <a:pt x="0" y="0"/>
                  </a:moveTo>
                  <a:lnTo>
                    <a:pt x="0" y="734905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50051" y="5630091"/>
              <a:ext cx="2212340" cy="992505"/>
            </a:xfrm>
            <a:custGeom>
              <a:avLst/>
              <a:gdLst/>
              <a:ahLst/>
              <a:cxnLst/>
              <a:rect l="l" t="t" r="r" b="b"/>
              <a:pathLst>
                <a:path w="2212340" h="992504">
                  <a:moveTo>
                    <a:pt x="2046564" y="0"/>
                  </a:moveTo>
                  <a:lnTo>
                    <a:pt x="165328" y="0"/>
                  </a:lnTo>
                  <a:lnTo>
                    <a:pt x="121377" y="5905"/>
                  </a:lnTo>
                  <a:lnTo>
                    <a:pt x="81884" y="22572"/>
                  </a:lnTo>
                  <a:lnTo>
                    <a:pt x="48423" y="48423"/>
                  </a:lnTo>
                  <a:lnTo>
                    <a:pt x="22572" y="81884"/>
                  </a:lnTo>
                  <a:lnTo>
                    <a:pt x="5905" y="121377"/>
                  </a:lnTo>
                  <a:lnTo>
                    <a:pt x="0" y="165328"/>
                  </a:lnTo>
                  <a:lnTo>
                    <a:pt x="0" y="826625"/>
                  </a:lnTo>
                  <a:lnTo>
                    <a:pt x="5905" y="870576"/>
                  </a:lnTo>
                  <a:lnTo>
                    <a:pt x="22572" y="910070"/>
                  </a:lnTo>
                  <a:lnTo>
                    <a:pt x="48423" y="943531"/>
                  </a:lnTo>
                  <a:lnTo>
                    <a:pt x="81884" y="969382"/>
                  </a:lnTo>
                  <a:lnTo>
                    <a:pt x="121377" y="986049"/>
                  </a:lnTo>
                  <a:lnTo>
                    <a:pt x="165328" y="991954"/>
                  </a:lnTo>
                  <a:lnTo>
                    <a:pt x="2046564" y="991954"/>
                  </a:lnTo>
                  <a:lnTo>
                    <a:pt x="2090515" y="986049"/>
                  </a:lnTo>
                  <a:lnTo>
                    <a:pt x="2130008" y="969382"/>
                  </a:lnTo>
                  <a:lnTo>
                    <a:pt x="2163469" y="943531"/>
                  </a:lnTo>
                  <a:lnTo>
                    <a:pt x="2189320" y="910070"/>
                  </a:lnTo>
                  <a:lnTo>
                    <a:pt x="2205987" y="870576"/>
                  </a:lnTo>
                  <a:lnTo>
                    <a:pt x="2211892" y="826625"/>
                  </a:lnTo>
                  <a:lnTo>
                    <a:pt x="2211892" y="165328"/>
                  </a:lnTo>
                  <a:lnTo>
                    <a:pt x="2205987" y="121377"/>
                  </a:lnTo>
                  <a:lnTo>
                    <a:pt x="2189320" y="81884"/>
                  </a:lnTo>
                  <a:lnTo>
                    <a:pt x="2163469" y="48423"/>
                  </a:lnTo>
                  <a:lnTo>
                    <a:pt x="2130008" y="22572"/>
                  </a:lnTo>
                  <a:lnTo>
                    <a:pt x="2090515" y="5905"/>
                  </a:lnTo>
                  <a:lnTo>
                    <a:pt x="2046564" y="0"/>
                  </a:lnTo>
                  <a:close/>
                </a:path>
              </a:pathLst>
            </a:custGeom>
            <a:solidFill>
              <a:srgbClr val="A2D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50051" y="5630091"/>
              <a:ext cx="2212340" cy="992505"/>
            </a:xfrm>
            <a:custGeom>
              <a:avLst/>
              <a:gdLst/>
              <a:ahLst/>
              <a:cxnLst/>
              <a:rect l="l" t="t" r="r" b="b"/>
              <a:pathLst>
                <a:path w="2212340" h="992504">
                  <a:moveTo>
                    <a:pt x="0" y="165328"/>
                  </a:moveTo>
                  <a:lnTo>
                    <a:pt x="5905" y="121377"/>
                  </a:lnTo>
                  <a:lnTo>
                    <a:pt x="22572" y="81884"/>
                  </a:lnTo>
                  <a:lnTo>
                    <a:pt x="48423" y="48423"/>
                  </a:lnTo>
                  <a:lnTo>
                    <a:pt x="81884" y="22572"/>
                  </a:lnTo>
                  <a:lnTo>
                    <a:pt x="121377" y="5905"/>
                  </a:lnTo>
                  <a:lnTo>
                    <a:pt x="165328" y="0"/>
                  </a:lnTo>
                  <a:lnTo>
                    <a:pt x="2046563" y="0"/>
                  </a:lnTo>
                  <a:lnTo>
                    <a:pt x="2090514" y="5905"/>
                  </a:lnTo>
                  <a:lnTo>
                    <a:pt x="2130007" y="22572"/>
                  </a:lnTo>
                  <a:lnTo>
                    <a:pt x="2163468" y="48423"/>
                  </a:lnTo>
                  <a:lnTo>
                    <a:pt x="2189320" y="81884"/>
                  </a:lnTo>
                  <a:lnTo>
                    <a:pt x="2205986" y="121377"/>
                  </a:lnTo>
                  <a:lnTo>
                    <a:pt x="2211892" y="165328"/>
                  </a:lnTo>
                  <a:lnTo>
                    <a:pt x="2211892" y="826625"/>
                  </a:lnTo>
                  <a:lnTo>
                    <a:pt x="2205986" y="870576"/>
                  </a:lnTo>
                  <a:lnTo>
                    <a:pt x="2189320" y="910070"/>
                  </a:lnTo>
                  <a:lnTo>
                    <a:pt x="2163468" y="943530"/>
                  </a:lnTo>
                  <a:lnTo>
                    <a:pt x="2130007" y="969382"/>
                  </a:lnTo>
                  <a:lnTo>
                    <a:pt x="2090514" y="986048"/>
                  </a:lnTo>
                  <a:lnTo>
                    <a:pt x="2046563" y="991954"/>
                  </a:lnTo>
                  <a:lnTo>
                    <a:pt x="165328" y="991954"/>
                  </a:lnTo>
                  <a:lnTo>
                    <a:pt x="121377" y="986048"/>
                  </a:lnTo>
                  <a:lnTo>
                    <a:pt x="81884" y="969382"/>
                  </a:lnTo>
                  <a:lnTo>
                    <a:pt x="48423" y="943530"/>
                  </a:lnTo>
                  <a:lnTo>
                    <a:pt x="22572" y="910070"/>
                  </a:lnTo>
                  <a:lnTo>
                    <a:pt x="5905" y="870576"/>
                  </a:lnTo>
                  <a:lnTo>
                    <a:pt x="0" y="826625"/>
                  </a:lnTo>
                  <a:lnTo>
                    <a:pt x="0" y="165328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19862" y="5735544"/>
            <a:ext cx="1878964" cy="7493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indent="396875">
              <a:lnSpc>
                <a:spcPts val="2700"/>
              </a:lnSpc>
              <a:spcBef>
                <a:spcPts val="440"/>
              </a:spcBef>
            </a:pPr>
            <a:r>
              <a:rPr sz="2500" spc="-5" dirty="0">
                <a:latin typeface="Arial MT"/>
                <a:cs typeface="Arial MT"/>
              </a:rPr>
              <a:t>Conflict </a:t>
            </a:r>
            <a:r>
              <a:rPr sz="2500" dirty="0">
                <a:latin typeface="Arial MT"/>
                <a:cs typeface="Arial MT"/>
              </a:rPr>
              <a:t> management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51935" y="3660928"/>
            <a:ext cx="2964180" cy="1017905"/>
            <a:chOff x="851935" y="3660928"/>
            <a:chExt cx="2964180" cy="1017905"/>
          </a:xfrm>
        </p:grpSpPr>
        <p:sp>
          <p:nvSpPr>
            <p:cNvPr id="23" name="object 23"/>
            <p:cNvSpPr/>
            <p:nvPr/>
          </p:nvSpPr>
          <p:spPr>
            <a:xfrm>
              <a:off x="3365030" y="4159374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702" y="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4635" y="3673628"/>
              <a:ext cx="2500630" cy="992505"/>
            </a:xfrm>
            <a:custGeom>
              <a:avLst/>
              <a:gdLst/>
              <a:ahLst/>
              <a:cxnLst/>
              <a:rect l="l" t="t" r="r" b="b"/>
              <a:pathLst>
                <a:path w="2500629" h="992504">
                  <a:moveTo>
                    <a:pt x="2335063" y="0"/>
                  </a:moveTo>
                  <a:lnTo>
                    <a:pt x="165328" y="0"/>
                  </a:lnTo>
                  <a:lnTo>
                    <a:pt x="121377" y="5905"/>
                  </a:lnTo>
                  <a:lnTo>
                    <a:pt x="81884" y="22572"/>
                  </a:lnTo>
                  <a:lnTo>
                    <a:pt x="48423" y="48423"/>
                  </a:lnTo>
                  <a:lnTo>
                    <a:pt x="22572" y="81884"/>
                  </a:lnTo>
                  <a:lnTo>
                    <a:pt x="5905" y="121378"/>
                  </a:lnTo>
                  <a:lnTo>
                    <a:pt x="0" y="165329"/>
                  </a:lnTo>
                  <a:lnTo>
                    <a:pt x="0" y="826626"/>
                  </a:lnTo>
                  <a:lnTo>
                    <a:pt x="5905" y="870577"/>
                  </a:lnTo>
                  <a:lnTo>
                    <a:pt x="22572" y="910071"/>
                  </a:lnTo>
                  <a:lnTo>
                    <a:pt x="48423" y="943531"/>
                  </a:lnTo>
                  <a:lnTo>
                    <a:pt x="81884" y="969383"/>
                  </a:lnTo>
                  <a:lnTo>
                    <a:pt x="121377" y="986049"/>
                  </a:lnTo>
                  <a:lnTo>
                    <a:pt x="165328" y="991955"/>
                  </a:lnTo>
                  <a:lnTo>
                    <a:pt x="2335063" y="991955"/>
                  </a:lnTo>
                  <a:lnTo>
                    <a:pt x="2379014" y="986049"/>
                  </a:lnTo>
                  <a:lnTo>
                    <a:pt x="2418508" y="969383"/>
                  </a:lnTo>
                  <a:lnTo>
                    <a:pt x="2451968" y="943531"/>
                  </a:lnTo>
                  <a:lnTo>
                    <a:pt x="2477820" y="910071"/>
                  </a:lnTo>
                  <a:lnTo>
                    <a:pt x="2494487" y="870577"/>
                  </a:lnTo>
                  <a:lnTo>
                    <a:pt x="2500392" y="826626"/>
                  </a:lnTo>
                  <a:lnTo>
                    <a:pt x="2500392" y="165329"/>
                  </a:lnTo>
                  <a:lnTo>
                    <a:pt x="2494487" y="121378"/>
                  </a:lnTo>
                  <a:lnTo>
                    <a:pt x="2477820" y="81884"/>
                  </a:lnTo>
                  <a:lnTo>
                    <a:pt x="2451968" y="48423"/>
                  </a:lnTo>
                  <a:lnTo>
                    <a:pt x="2418508" y="22572"/>
                  </a:lnTo>
                  <a:lnTo>
                    <a:pt x="2379014" y="5905"/>
                  </a:lnTo>
                  <a:lnTo>
                    <a:pt x="2335063" y="0"/>
                  </a:lnTo>
                  <a:close/>
                </a:path>
              </a:pathLst>
            </a:custGeom>
            <a:solidFill>
              <a:srgbClr val="A2D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4635" y="3673628"/>
              <a:ext cx="2500630" cy="992505"/>
            </a:xfrm>
            <a:custGeom>
              <a:avLst/>
              <a:gdLst/>
              <a:ahLst/>
              <a:cxnLst/>
              <a:rect l="l" t="t" r="r" b="b"/>
              <a:pathLst>
                <a:path w="2500629" h="992504">
                  <a:moveTo>
                    <a:pt x="0" y="165329"/>
                  </a:moveTo>
                  <a:lnTo>
                    <a:pt x="5905" y="121378"/>
                  </a:lnTo>
                  <a:lnTo>
                    <a:pt x="22572" y="81884"/>
                  </a:lnTo>
                  <a:lnTo>
                    <a:pt x="48423" y="48423"/>
                  </a:lnTo>
                  <a:lnTo>
                    <a:pt x="81884" y="22572"/>
                  </a:lnTo>
                  <a:lnTo>
                    <a:pt x="121377" y="5905"/>
                  </a:lnTo>
                  <a:lnTo>
                    <a:pt x="165328" y="0"/>
                  </a:lnTo>
                  <a:lnTo>
                    <a:pt x="2335063" y="0"/>
                  </a:lnTo>
                  <a:lnTo>
                    <a:pt x="2379014" y="5905"/>
                  </a:lnTo>
                  <a:lnTo>
                    <a:pt x="2418507" y="22572"/>
                  </a:lnTo>
                  <a:lnTo>
                    <a:pt x="2451968" y="48423"/>
                  </a:lnTo>
                  <a:lnTo>
                    <a:pt x="2477819" y="81884"/>
                  </a:lnTo>
                  <a:lnTo>
                    <a:pt x="2494486" y="121378"/>
                  </a:lnTo>
                  <a:lnTo>
                    <a:pt x="2500392" y="165329"/>
                  </a:lnTo>
                  <a:lnTo>
                    <a:pt x="2500392" y="826625"/>
                  </a:lnTo>
                  <a:lnTo>
                    <a:pt x="2494486" y="870576"/>
                  </a:lnTo>
                  <a:lnTo>
                    <a:pt x="2477819" y="910070"/>
                  </a:lnTo>
                  <a:lnTo>
                    <a:pt x="2451968" y="943530"/>
                  </a:lnTo>
                  <a:lnTo>
                    <a:pt x="2418507" y="969382"/>
                  </a:lnTo>
                  <a:lnTo>
                    <a:pt x="2379014" y="986048"/>
                  </a:lnTo>
                  <a:lnTo>
                    <a:pt x="2335063" y="991954"/>
                  </a:lnTo>
                  <a:lnTo>
                    <a:pt x="165328" y="991954"/>
                  </a:lnTo>
                  <a:lnTo>
                    <a:pt x="121377" y="986048"/>
                  </a:lnTo>
                  <a:lnTo>
                    <a:pt x="81884" y="969382"/>
                  </a:lnTo>
                  <a:lnTo>
                    <a:pt x="48423" y="943530"/>
                  </a:lnTo>
                  <a:lnTo>
                    <a:pt x="22572" y="910070"/>
                  </a:lnTo>
                  <a:lnTo>
                    <a:pt x="5905" y="870576"/>
                  </a:lnTo>
                  <a:lnTo>
                    <a:pt x="0" y="826625"/>
                  </a:lnTo>
                  <a:lnTo>
                    <a:pt x="0" y="165329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81785" y="3950531"/>
            <a:ext cx="14732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 MT"/>
                <a:cs typeface="Arial MT"/>
              </a:rPr>
              <a:t>Motivation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6174" y="1735157"/>
            <a:ext cx="221170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spc="-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process of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influencing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group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goals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8949" y="4767362"/>
            <a:ext cx="266954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5" dirty="0">
                <a:latin typeface="Arial MT"/>
                <a:cs typeface="Arial MT"/>
              </a:rPr>
              <a:t>The transfer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understanding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meaning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9350" y="2246460"/>
            <a:ext cx="2508250" cy="139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1910" marR="5080" indent="-29845">
              <a:lnSpc>
                <a:spcPct val="99500"/>
              </a:lnSpc>
              <a:spcBef>
                <a:spcPts val="110"/>
              </a:spcBef>
            </a:pPr>
            <a:r>
              <a:rPr sz="1800" spc="-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process by which a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person’s </a:t>
            </a:r>
            <a:r>
              <a:rPr sz="1800" spc="-10" dirty="0">
                <a:latin typeface="Arial MT"/>
                <a:cs typeface="Arial MT"/>
              </a:rPr>
              <a:t>efforts </a:t>
            </a:r>
            <a:r>
              <a:rPr sz="1800" dirty="0">
                <a:latin typeface="Arial MT"/>
                <a:cs typeface="Arial MT"/>
              </a:rPr>
              <a:t>are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energized,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directed,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sustained toward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attaining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goal.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0415" y="5690691"/>
            <a:ext cx="212217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Resolve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conflicts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arise </a:t>
            </a:r>
            <a:r>
              <a:rPr sz="1800" spc="-5" dirty="0">
                <a:latin typeface="Arial MT"/>
                <a:cs typeface="Arial MT"/>
              </a:rPr>
              <a:t>within the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organization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241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Why</a:t>
            </a:r>
            <a:r>
              <a:rPr sz="3200" spc="-15" dirty="0"/>
              <a:t> </a:t>
            </a:r>
            <a:r>
              <a:rPr sz="3200" spc="-5" dirty="0"/>
              <a:t>Leading</a:t>
            </a:r>
            <a:r>
              <a:rPr sz="3200" spc="-20" dirty="0"/>
              <a:t> </a:t>
            </a:r>
            <a:r>
              <a:rPr sz="3200" spc="-5" dirty="0"/>
              <a:t>is</a:t>
            </a:r>
            <a:r>
              <a:rPr sz="3200" spc="-15" dirty="0"/>
              <a:t> </a:t>
            </a:r>
            <a:r>
              <a:rPr sz="3200" spc="-5" dirty="0"/>
              <a:t>important?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658" y="1490375"/>
            <a:ext cx="3429340" cy="2800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29" y="1576466"/>
            <a:ext cx="5433979" cy="2852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493" y="1196339"/>
            <a:ext cx="7295515" cy="6273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640"/>
              </a:spcBef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Gallup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study finds</a:t>
            </a:r>
            <a:r>
              <a:rPr sz="2200" dirty="0">
                <a:latin typeface="Arial MT"/>
                <a:cs typeface="Arial MT"/>
              </a:rPr>
              <a:t> out </a:t>
            </a:r>
            <a:r>
              <a:rPr sz="2200" spc="-5" dirty="0">
                <a:latin typeface="Arial MT"/>
                <a:cs typeface="Arial MT"/>
              </a:rPr>
              <a:t>that </a:t>
            </a:r>
            <a:r>
              <a:rPr sz="2200" dirty="0">
                <a:latin typeface="Arial MT"/>
                <a:cs typeface="Arial MT"/>
              </a:rPr>
              <a:t>about 50% of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7,200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adults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surveyed </a:t>
            </a:r>
            <a:r>
              <a:rPr sz="2200" spc="-5" dirty="0">
                <a:latin typeface="Arial MT"/>
                <a:cs typeface="Arial MT"/>
              </a:rPr>
              <a:t>left </a:t>
            </a:r>
            <a:r>
              <a:rPr sz="2200" dirty="0">
                <a:latin typeface="Arial MT"/>
                <a:cs typeface="Arial MT"/>
              </a:rPr>
              <a:t>a job </a:t>
            </a:r>
            <a:r>
              <a:rPr sz="2200" spc="-5" dirty="0">
                <a:latin typeface="Arial MT"/>
                <a:cs typeface="Arial MT"/>
              </a:rPr>
              <a:t>"</a:t>
            </a:r>
            <a:r>
              <a:rPr sz="2200" b="1" spc="-5" dirty="0">
                <a:latin typeface="Arial"/>
                <a:cs typeface="Arial"/>
              </a:rPr>
              <a:t>to get away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from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their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manager</a:t>
            </a:r>
            <a:r>
              <a:rPr sz="2200" spc="-5" dirty="0">
                <a:latin typeface="Arial MT"/>
                <a:cs typeface="Arial MT"/>
              </a:rPr>
              <a:t>"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840182"/>
            <a:ext cx="3848329" cy="22461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05333" y="6281420"/>
            <a:ext cx="3919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Source: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imes New Roman"/>
                <a:cs typeface="Times New Roman"/>
                <a:hlinkClick r:id="rId3"/>
              </a:rPr>
              <a:t>http://fortune.com/2015/04/02/quit-reasons/</a:t>
            </a:r>
            <a:r>
              <a:rPr sz="1200" spc="30" dirty="0">
                <a:solidFill>
                  <a:srgbClr val="0000FF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Times New Roman"/>
                <a:cs typeface="Times New Roman"/>
              </a:rPr>
              <a:t>Benjamin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24" y="445857"/>
            <a:ext cx="12223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F</a:t>
            </a:r>
            <a:r>
              <a:rPr sz="3200" b="1" dirty="0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I....</a:t>
            </a:r>
            <a:r>
              <a:rPr sz="3200" b="1" dirty="0">
                <a:solidFill>
                  <a:srgbClr val="0070C0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1537" y="2840182"/>
            <a:ext cx="3765261" cy="22461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724" y="2915965"/>
            <a:ext cx="77717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76092"/>
                </a:solidFill>
              </a:rPr>
              <a:t>7.2 LEADER</a:t>
            </a:r>
            <a:r>
              <a:rPr sz="3200" spc="-120" dirty="0">
                <a:solidFill>
                  <a:srgbClr val="376092"/>
                </a:solidFill>
              </a:rPr>
              <a:t> </a:t>
            </a:r>
            <a:r>
              <a:rPr sz="3200" dirty="0">
                <a:solidFill>
                  <a:srgbClr val="376092"/>
                </a:solidFill>
              </a:rPr>
              <a:t>AND </a:t>
            </a:r>
            <a:r>
              <a:rPr sz="3200" spc="-5" dirty="0">
                <a:solidFill>
                  <a:srgbClr val="376092"/>
                </a:solidFill>
              </a:rPr>
              <a:t>LEADERSHIP</a:t>
            </a:r>
            <a:r>
              <a:rPr sz="3200" spc="-60" dirty="0">
                <a:solidFill>
                  <a:srgbClr val="376092"/>
                </a:solidFill>
              </a:rPr>
              <a:t> </a:t>
            </a:r>
            <a:r>
              <a:rPr sz="3200" spc="-5" dirty="0">
                <a:solidFill>
                  <a:srgbClr val="376092"/>
                </a:solidFill>
              </a:rPr>
              <a:t>STYLES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575912" y="1"/>
            <a:ext cx="4568190" cy="2864485"/>
            <a:chOff x="4575912" y="1"/>
            <a:chExt cx="4568190" cy="2864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912" y="1"/>
              <a:ext cx="4568085" cy="28639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43612" y="2043113"/>
              <a:ext cx="1343025" cy="614680"/>
            </a:xfrm>
            <a:custGeom>
              <a:avLst/>
              <a:gdLst/>
              <a:ahLst/>
              <a:cxnLst/>
              <a:rect l="l" t="t" r="r" b="b"/>
              <a:pathLst>
                <a:path w="1343025" h="614680">
                  <a:moveTo>
                    <a:pt x="1343023" y="0"/>
                  </a:moveTo>
                  <a:lnTo>
                    <a:pt x="0" y="0"/>
                  </a:lnTo>
                  <a:lnTo>
                    <a:pt x="0" y="614361"/>
                  </a:lnTo>
                  <a:lnTo>
                    <a:pt x="1343023" y="614361"/>
                  </a:lnTo>
                  <a:lnTo>
                    <a:pt x="13430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3389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Leader</a:t>
            </a:r>
            <a:r>
              <a:rPr sz="3200" spc="-45" dirty="0"/>
              <a:t> </a:t>
            </a:r>
            <a:r>
              <a:rPr sz="3200" spc="-5" dirty="0"/>
              <a:t>and</a:t>
            </a:r>
            <a:r>
              <a:rPr sz="3200" spc="-50" dirty="0"/>
              <a:t> </a:t>
            </a:r>
            <a:r>
              <a:rPr sz="3200" spc="-5" dirty="0"/>
              <a:t>leadership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1597659"/>
            <a:ext cx="7912100" cy="2371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5080" indent="-342900">
              <a:lnSpc>
                <a:spcPts val="3000"/>
              </a:lnSpc>
              <a:spcBef>
                <a:spcPts val="500"/>
              </a:spcBef>
            </a:pPr>
            <a:r>
              <a:rPr sz="2800" b="1" dirty="0">
                <a:latin typeface="Arial"/>
                <a:cs typeface="Arial"/>
              </a:rPr>
              <a:t>Leader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someone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influence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others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managerial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authority.</a:t>
            </a:r>
            <a:endParaRPr sz="2800">
              <a:latin typeface="Arial MT"/>
              <a:cs typeface="Arial MT"/>
            </a:endParaRPr>
          </a:p>
          <a:p>
            <a:pPr marL="355600" marR="656590" indent="-342900">
              <a:lnSpc>
                <a:spcPts val="2990"/>
              </a:lnSpc>
              <a:spcBef>
                <a:spcPts val="1520"/>
              </a:spcBef>
            </a:pPr>
            <a:r>
              <a:rPr sz="2800" b="1" spc="-5" dirty="0">
                <a:latin typeface="Arial"/>
                <a:cs typeface="Arial"/>
              </a:rPr>
              <a:t>Leadership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leaders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do;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influencing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group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achieve goals.</a:t>
            </a:r>
            <a:endParaRPr sz="28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1210"/>
              </a:spcBef>
            </a:pPr>
            <a:r>
              <a:rPr sz="2800" spc="-30" dirty="0">
                <a:latin typeface="Arial MT"/>
                <a:cs typeface="Arial MT"/>
              </a:rPr>
              <a:t>Ideally,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all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4F81BD"/>
                </a:solidFill>
                <a:latin typeface="Arial"/>
                <a:cs typeface="Arial"/>
              </a:rPr>
              <a:t>managers</a:t>
            </a:r>
            <a:r>
              <a:rPr sz="2800" b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6095C9"/>
                </a:solidFill>
                <a:latin typeface="Arial"/>
                <a:cs typeface="Arial"/>
              </a:rPr>
              <a:t>should</a:t>
            </a:r>
            <a:r>
              <a:rPr sz="2800" b="1" i="1" spc="-10" dirty="0">
                <a:solidFill>
                  <a:srgbClr val="6095C9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6095C9"/>
                </a:solidFill>
                <a:latin typeface="Arial"/>
                <a:cs typeface="Arial"/>
              </a:rPr>
              <a:t>be</a:t>
            </a:r>
            <a:r>
              <a:rPr sz="2800" b="1" i="1" spc="-20" dirty="0">
                <a:solidFill>
                  <a:srgbClr val="6095C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leaders.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468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Management</a:t>
            </a:r>
            <a:r>
              <a:rPr sz="3200" spc="-25" dirty="0"/>
              <a:t> </a:t>
            </a:r>
            <a:r>
              <a:rPr sz="3200" dirty="0"/>
              <a:t>vs.</a:t>
            </a:r>
            <a:r>
              <a:rPr sz="3200" spc="-20" dirty="0"/>
              <a:t> </a:t>
            </a:r>
            <a:r>
              <a:rPr sz="3200" spc="-5" dirty="0"/>
              <a:t>Leadership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647721" y="5910781"/>
            <a:ext cx="5489575" cy="389255"/>
          </a:xfrm>
          <a:prstGeom prst="rect">
            <a:avLst/>
          </a:prstGeom>
          <a:ln w="9524">
            <a:solidFill>
              <a:srgbClr val="5B92C7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450"/>
              </a:spcBef>
            </a:pPr>
            <a:r>
              <a:rPr sz="1800" i="1" dirty="0">
                <a:latin typeface="Arial"/>
                <a:cs typeface="Arial"/>
              </a:rPr>
              <a:t>Source: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Kotter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(2001):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What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leaders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really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2983" y="1390650"/>
          <a:ext cx="8847455" cy="4007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9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2200" b="1" spc="-5" dirty="0">
                          <a:latin typeface="Calibri"/>
                          <a:cs typeface="Calibri"/>
                        </a:rPr>
                        <a:t>Characteristic</a:t>
                      </a:r>
                      <a:r>
                        <a:rPr sz="2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activities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66A1DD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2200" b="1" spc="-5" dirty="0">
                          <a:latin typeface="Calibri"/>
                          <a:cs typeface="Calibri"/>
                        </a:rPr>
                        <a:t>Management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1209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66A1DD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Leadership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120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66A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125">
                <a:tc>
                  <a:txBody>
                    <a:bodyPr/>
                    <a:lstStyle/>
                    <a:p>
                      <a:pPr marL="90805" marR="515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1. How company manage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complexity?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Budgeting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5" dirty="0">
                          <a:latin typeface="Calibri"/>
                          <a:cs typeface="Calibri"/>
                        </a:rPr>
                        <a:t>Setting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direction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316">
                <a:tc>
                  <a:txBody>
                    <a:bodyPr/>
                    <a:lstStyle/>
                    <a:p>
                      <a:pPr marL="90805" marR="1695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2.How company develop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achieve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plan?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Organizing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staffing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Aligning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people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316">
                <a:tc>
                  <a:txBody>
                    <a:bodyPr/>
                    <a:lstStyle/>
                    <a:p>
                      <a:pPr marL="90805" marR="129539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3. How company ensure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plan </a:t>
                      </a:r>
                      <a:r>
                        <a:rPr sz="2000" spc="-4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accomplishment?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37160" marR="136525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Controlling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problem </a:t>
                      </a:r>
                      <a:r>
                        <a:rPr sz="2000" spc="-4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solving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4465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Motivating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inspiring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446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15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4.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Coping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with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Complexity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Change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0" y="180178"/>
            <a:ext cx="5468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Management</a:t>
            </a:r>
            <a:r>
              <a:rPr sz="3200" spc="-25" dirty="0"/>
              <a:t> </a:t>
            </a:r>
            <a:r>
              <a:rPr sz="3200" dirty="0"/>
              <a:t>vs.</a:t>
            </a:r>
            <a:r>
              <a:rPr sz="3200" spc="-20" dirty="0"/>
              <a:t> </a:t>
            </a:r>
            <a:r>
              <a:rPr sz="3200" spc="-5" dirty="0"/>
              <a:t>Leadership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0330" y="1031204"/>
            <a:ext cx="5732482" cy="56212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18230" y="6497937"/>
            <a:ext cx="4099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On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Become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a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leader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–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Warren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Bennis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(2009)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0" y="180178"/>
            <a:ext cx="5468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Management</a:t>
            </a:r>
            <a:r>
              <a:rPr sz="3200" spc="-25" dirty="0"/>
              <a:t> </a:t>
            </a:r>
            <a:r>
              <a:rPr sz="3200" dirty="0"/>
              <a:t>vs.</a:t>
            </a:r>
            <a:r>
              <a:rPr sz="3200" spc="-20" dirty="0"/>
              <a:t> </a:t>
            </a:r>
            <a:r>
              <a:rPr sz="3200" spc="-5" dirty="0"/>
              <a:t>Leadership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15" y="704851"/>
            <a:ext cx="8887057" cy="53040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0474" y="6245381"/>
            <a:ext cx="61360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" dirty="0">
                <a:solidFill>
                  <a:srgbClr val="4F81BD"/>
                </a:solidFill>
                <a:latin typeface="Arial"/>
                <a:cs typeface="Arial"/>
              </a:rPr>
              <a:t>Leadership complements</a:t>
            </a:r>
            <a:r>
              <a:rPr sz="2600" b="1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4F81BD"/>
                </a:solidFill>
                <a:latin typeface="Arial"/>
                <a:cs typeface="Arial"/>
              </a:rPr>
              <a:t>management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646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Leadership</a:t>
            </a:r>
            <a:r>
              <a:rPr spc="-45" dirty="0"/>
              <a:t> </a:t>
            </a:r>
            <a:r>
              <a:rPr spc="-5" dirty="0"/>
              <a:t>theories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25389" y="976396"/>
            <a:ext cx="1731645" cy="5570220"/>
            <a:chOff x="1025389" y="976396"/>
            <a:chExt cx="1731645" cy="5570220"/>
          </a:xfrm>
        </p:grpSpPr>
        <p:sp>
          <p:nvSpPr>
            <p:cNvPr id="5" name="object 5"/>
            <p:cNvSpPr/>
            <p:nvPr/>
          </p:nvSpPr>
          <p:spPr>
            <a:xfrm>
              <a:off x="2091523" y="3761291"/>
              <a:ext cx="623570" cy="1638935"/>
            </a:xfrm>
            <a:custGeom>
              <a:avLst/>
              <a:gdLst/>
              <a:ahLst/>
              <a:cxnLst/>
              <a:rect l="l" t="t" r="r" b="b"/>
              <a:pathLst>
                <a:path w="623569" h="1638935">
                  <a:moveTo>
                    <a:pt x="0" y="0"/>
                  </a:moveTo>
                  <a:lnTo>
                    <a:pt x="311646" y="0"/>
                  </a:lnTo>
                  <a:lnTo>
                    <a:pt x="311646" y="1638534"/>
                  </a:lnTo>
                  <a:lnTo>
                    <a:pt x="623294" y="1638534"/>
                  </a:lnTo>
                </a:path>
              </a:pathLst>
            </a:custGeom>
            <a:ln w="25399">
              <a:solidFill>
                <a:srgbClr val="AAC4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1523" y="2505129"/>
              <a:ext cx="652780" cy="1256665"/>
            </a:xfrm>
            <a:custGeom>
              <a:avLst/>
              <a:gdLst/>
              <a:ahLst/>
              <a:cxnLst/>
              <a:rect l="l" t="t" r="r" b="b"/>
              <a:pathLst>
                <a:path w="652780" h="1256664">
                  <a:moveTo>
                    <a:pt x="0" y="1256162"/>
                  </a:moveTo>
                  <a:lnTo>
                    <a:pt x="326279" y="1256162"/>
                  </a:lnTo>
                  <a:lnTo>
                    <a:pt x="326279" y="0"/>
                  </a:lnTo>
                  <a:lnTo>
                    <a:pt x="652560" y="0"/>
                  </a:lnTo>
                </a:path>
              </a:pathLst>
            </a:custGeom>
            <a:ln w="25399">
              <a:solidFill>
                <a:srgbClr val="AAC4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8089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4" h="5544820">
                  <a:moveTo>
                    <a:pt x="1053433" y="0"/>
                  </a:moveTo>
                  <a:lnTo>
                    <a:pt x="0" y="0"/>
                  </a:lnTo>
                  <a:lnTo>
                    <a:pt x="0" y="5544392"/>
                  </a:lnTo>
                  <a:lnTo>
                    <a:pt x="1053433" y="5544392"/>
                  </a:lnTo>
                  <a:lnTo>
                    <a:pt x="1053433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8089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4" h="5544820">
                  <a:moveTo>
                    <a:pt x="0" y="5544392"/>
                  </a:moveTo>
                  <a:lnTo>
                    <a:pt x="0" y="0"/>
                  </a:lnTo>
                  <a:lnTo>
                    <a:pt x="1053433" y="0"/>
                  </a:lnTo>
                  <a:lnTo>
                    <a:pt x="1053433" y="5544392"/>
                  </a:lnTo>
                  <a:lnTo>
                    <a:pt x="0" y="554439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4447" y="1047223"/>
            <a:ext cx="831850" cy="54216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090"/>
              </a:lnSpc>
            </a:pPr>
            <a:r>
              <a:rPr sz="5200" spc="-5" dirty="0">
                <a:solidFill>
                  <a:srgbClr val="FFFFFF"/>
                </a:solidFill>
                <a:latin typeface="Calibri"/>
                <a:cs typeface="Calibri"/>
              </a:rPr>
              <a:t>Leadership</a:t>
            </a:r>
            <a:r>
              <a:rPr sz="5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200" spc="-5" dirty="0">
                <a:solidFill>
                  <a:srgbClr val="FFFFFF"/>
                </a:solidFill>
                <a:latin typeface="Calibri"/>
                <a:cs typeface="Calibri"/>
              </a:rPr>
              <a:t>Theories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02119" y="1005327"/>
            <a:ext cx="5044440" cy="5546725"/>
            <a:chOff x="2702119" y="1005327"/>
            <a:chExt cx="5044440" cy="5546725"/>
          </a:xfrm>
        </p:grpSpPr>
        <p:sp>
          <p:nvSpPr>
            <p:cNvPr id="11" name="object 11"/>
            <p:cNvSpPr/>
            <p:nvPr/>
          </p:nvSpPr>
          <p:spPr>
            <a:xfrm>
              <a:off x="2744085" y="1018026"/>
              <a:ext cx="4974590" cy="2974340"/>
            </a:xfrm>
            <a:custGeom>
              <a:avLst/>
              <a:gdLst/>
              <a:ahLst/>
              <a:cxnLst/>
              <a:rect l="l" t="t" r="r" b="b"/>
              <a:pathLst>
                <a:path w="4974590" h="2974340">
                  <a:moveTo>
                    <a:pt x="4974338" y="0"/>
                  </a:moveTo>
                  <a:lnTo>
                    <a:pt x="0" y="0"/>
                  </a:lnTo>
                  <a:lnTo>
                    <a:pt x="0" y="2974202"/>
                  </a:lnTo>
                  <a:lnTo>
                    <a:pt x="4974338" y="2974202"/>
                  </a:lnTo>
                  <a:lnTo>
                    <a:pt x="4974338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4085" y="1018027"/>
              <a:ext cx="4974590" cy="2974340"/>
            </a:xfrm>
            <a:custGeom>
              <a:avLst/>
              <a:gdLst/>
              <a:ahLst/>
              <a:cxnLst/>
              <a:rect l="l" t="t" r="r" b="b"/>
              <a:pathLst>
                <a:path w="4974590" h="2974340">
                  <a:moveTo>
                    <a:pt x="0" y="0"/>
                  </a:moveTo>
                  <a:lnTo>
                    <a:pt x="4974337" y="0"/>
                  </a:lnTo>
                  <a:lnTo>
                    <a:pt x="4974337" y="2974202"/>
                  </a:lnTo>
                  <a:lnTo>
                    <a:pt x="0" y="297420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14819" y="4260743"/>
              <a:ext cx="5019040" cy="2278380"/>
            </a:xfrm>
            <a:custGeom>
              <a:avLst/>
              <a:gdLst/>
              <a:ahLst/>
              <a:cxnLst/>
              <a:rect l="l" t="t" r="r" b="b"/>
              <a:pathLst>
                <a:path w="5019040" h="2278379">
                  <a:moveTo>
                    <a:pt x="5018530" y="0"/>
                  </a:moveTo>
                  <a:lnTo>
                    <a:pt x="0" y="0"/>
                  </a:lnTo>
                  <a:lnTo>
                    <a:pt x="0" y="2278167"/>
                  </a:lnTo>
                  <a:lnTo>
                    <a:pt x="5018530" y="2278167"/>
                  </a:lnTo>
                  <a:lnTo>
                    <a:pt x="5018530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4819" y="4260743"/>
              <a:ext cx="5019040" cy="2278380"/>
            </a:xfrm>
            <a:custGeom>
              <a:avLst/>
              <a:gdLst/>
              <a:ahLst/>
              <a:cxnLst/>
              <a:rect l="l" t="t" r="r" b="b"/>
              <a:pathLst>
                <a:path w="5019040" h="2278379">
                  <a:moveTo>
                    <a:pt x="0" y="0"/>
                  </a:moveTo>
                  <a:lnTo>
                    <a:pt x="5018530" y="0"/>
                  </a:lnTo>
                  <a:lnTo>
                    <a:pt x="5018530" y="2278167"/>
                  </a:lnTo>
                  <a:lnTo>
                    <a:pt x="0" y="227816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16088" y="1040818"/>
            <a:ext cx="4130040" cy="52927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760"/>
              </a:spcBef>
            </a:pPr>
            <a:r>
              <a:rPr sz="2200" b="1" spc="-5" dirty="0">
                <a:latin typeface="Arial"/>
                <a:cs typeface="Arial"/>
              </a:rPr>
              <a:t>Early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leadership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theories</a:t>
            </a:r>
            <a:endParaRPr sz="22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60"/>
              </a:spcBef>
            </a:pPr>
            <a:r>
              <a:rPr sz="2200" spc="-15" dirty="0">
                <a:latin typeface="Arial MT"/>
                <a:cs typeface="Arial MT"/>
              </a:rPr>
              <a:t>-Trait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theories</a:t>
            </a:r>
            <a:endParaRPr sz="2200">
              <a:latin typeface="Arial MT"/>
              <a:cs typeface="Arial MT"/>
            </a:endParaRPr>
          </a:p>
          <a:p>
            <a:pPr marL="41910">
              <a:lnSpc>
                <a:spcPct val="100000"/>
              </a:lnSpc>
              <a:spcBef>
                <a:spcPts val="660"/>
              </a:spcBef>
            </a:pPr>
            <a:r>
              <a:rPr sz="2200" dirty="0">
                <a:latin typeface="Arial MT"/>
                <a:cs typeface="Arial MT"/>
              </a:rPr>
              <a:t>-Behavioral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theories</a:t>
            </a:r>
            <a:endParaRPr sz="2200">
              <a:latin typeface="Arial MT"/>
              <a:cs typeface="Arial MT"/>
            </a:endParaRPr>
          </a:p>
          <a:p>
            <a:pPr marL="323850">
              <a:lnSpc>
                <a:spcPct val="100000"/>
              </a:lnSpc>
              <a:spcBef>
                <a:spcPts val="680"/>
              </a:spcBef>
            </a:pPr>
            <a:r>
              <a:rPr sz="1600" dirty="0">
                <a:latin typeface="Arial MT"/>
                <a:cs typeface="Arial MT"/>
              </a:rPr>
              <a:t>+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University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Iowa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studies</a:t>
            </a:r>
            <a:endParaRPr sz="2000">
              <a:latin typeface="Arial MT"/>
              <a:cs typeface="Arial MT"/>
            </a:endParaRPr>
          </a:p>
          <a:p>
            <a:pPr marL="32385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 MT"/>
                <a:cs typeface="Arial MT"/>
              </a:rPr>
              <a:t>+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 Ohio state studies</a:t>
            </a:r>
            <a:endParaRPr sz="2000">
              <a:latin typeface="Arial MT"/>
              <a:cs typeface="Arial MT"/>
            </a:endParaRPr>
          </a:p>
          <a:p>
            <a:pPr marL="32385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 MT"/>
                <a:cs typeface="Arial MT"/>
              </a:rPr>
              <a:t>+</a:t>
            </a:r>
            <a:r>
              <a:rPr sz="2000" spc="-5" dirty="0">
                <a:latin typeface="Arial MT"/>
                <a:cs typeface="Arial MT"/>
              </a:rPr>
              <a:t> University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Michigan</a:t>
            </a:r>
            <a:r>
              <a:rPr sz="2000" spc="-5" dirty="0">
                <a:latin typeface="Arial MT"/>
                <a:cs typeface="Arial MT"/>
              </a:rPr>
              <a:t> studies</a:t>
            </a:r>
            <a:endParaRPr sz="2000">
              <a:latin typeface="Arial MT"/>
              <a:cs typeface="Arial MT"/>
            </a:endParaRPr>
          </a:p>
          <a:p>
            <a:pPr marL="32385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 MT"/>
                <a:cs typeface="Arial MT"/>
              </a:rPr>
              <a:t>+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managerial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Grid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Contingency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theories</a:t>
            </a:r>
            <a:endParaRPr sz="2200">
              <a:latin typeface="Arial"/>
              <a:cs typeface="Arial"/>
            </a:endParaRPr>
          </a:p>
          <a:p>
            <a:pPr marL="163195" indent="-151130">
              <a:lnSpc>
                <a:spcPct val="100000"/>
              </a:lnSpc>
              <a:spcBef>
                <a:spcPts val="680"/>
              </a:spcBef>
              <a:buChar char="-"/>
              <a:tabLst>
                <a:tab pos="163830" algn="l"/>
              </a:tabLst>
            </a:pP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Fiedler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endParaRPr sz="2000">
              <a:latin typeface="Arial MT"/>
              <a:cs typeface="Arial MT"/>
            </a:endParaRPr>
          </a:p>
          <a:p>
            <a:pPr marL="167640" indent="-155575">
              <a:lnSpc>
                <a:spcPct val="100000"/>
              </a:lnSpc>
              <a:spcBef>
                <a:spcPts val="600"/>
              </a:spcBef>
              <a:buChar char="-"/>
              <a:tabLst>
                <a:tab pos="168275" algn="l"/>
              </a:tabLst>
            </a:pPr>
            <a:r>
              <a:rPr sz="2000" dirty="0">
                <a:latin typeface="Arial MT"/>
                <a:cs typeface="Arial MT"/>
              </a:rPr>
              <a:t>Hersey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Blanchard’s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Situational</a:t>
            </a:r>
            <a:endParaRPr sz="2000">
              <a:latin typeface="Arial MT"/>
              <a:cs typeface="Arial MT"/>
            </a:endParaRPr>
          </a:p>
          <a:p>
            <a:pPr marL="167640" indent="-155575">
              <a:lnSpc>
                <a:spcPct val="100000"/>
              </a:lnSpc>
              <a:spcBef>
                <a:spcPts val="600"/>
              </a:spcBef>
              <a:buChar char="-"/>
              <a:tabLst>
                <a:tab pos="168275" algn="l"/>
              </a:tabLst>
            </a:pPr>
            <a:r>
              <a:rPr sz="2000" dirty="0">
                <a:latin typeface="Arial MT"/>
                <a:cs typeface="Arial MT"/>
              </a:rPr>
              <a:t>Leadership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theory</a:t>
            </a:r>
            <a:endParaRPr sz="2000">
              <a:latin typeface="Arial MT"/>
              <a:cs typeface="Arial MT"/>
            </a:endParaRPr>
          </a:p>
          <a:p>
            <a:pPr marL="167640" indent="-155575">
              <a:lnSpc>
                <a:spcPct val="100000"/>
              </a:lnSpc>
              <a:spcBef>
                <a:spcPts val="600"/>
              </a:spcBef>
              <a:buChar char="-"/>
              <a:tabLst>
                <a:tab pos="168275" algn="l"/>
              </a:tabLst>
            </a:pPr>
            <a:r>
              <a:rPr sz="2000" spc="-5" dirty="0">
                <a:latin typeface="Arial MT"/>
                <a:cs typeface="Arial MT"/>
              </a:rPr>
              <a:t>Path-goal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theory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646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Leadership</a:t>
            </a:r>
            <a:r>
              <a:rPr spc="-45" dirty="0"/>
              <a:t> </a:t>
            </a:r>
            <a:r>
              <a:rPr spc="-5" dirty="0"/>
              <a:t>theories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4531" y="976396"/>
            <a:ext cx="1731645" cy="5570220"/>
            <a:chOff x="524531" y="976396"/>
            <a:chExt cx="1731645" cy="5570220"/>
          </a:xfrm>
        </p:grpSpPr>
        <p:sp>
          <p:nvSpPr>
            <p:cNvPr id="5" name="object 5"/>
            <p:cNvSpPr/>
            <p:nvPr/>
          </p:nvSpPr>
          <p:spPr>
            <a:xfrm>
              <a:off x="1590666" y="3761291"/>
              <a:ext cx="652780" cy="14604"/>
            </a:xfrm>
            <a:custGeom>
              <a:avLst/>
              <a:gdLst/>
              <a:ahLst/>
              <a:cxnLst/>
              <a:rect l="l" t="t" r="r" b="b"/>
              <a:pathLst>
                <a:path w="652780" h="14604">
                  <a:moveTo>
                    <a:pt x="0" y="0"/>
                  </a:moveTo>
                  <a:lnTo>
                    <a:pt x="326279" y="0"/>
                  </a:lnTo>
                  <a:lnTo>
                    <a:pt x="326279" y="14599"/>
                  </a:lnTo>
                  <a:lnTo>
                    <a:pt x="652560" y="14599"/>
                  </a:lnTo>
                </a:path>
              </a:pathLst>
            </a:custGeom>
            <a:ln w="25399">
              <a:solidFill>
                <a:srgbClr val="AAC4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7231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5" h="5544820">
                  <a:moveTo>
                    <a:pt x="1053434" y="0"/>
                  </a:moveTo>
                  <a:lnTo>
                    <a:pt x="0" y="0"/>
                  </a:lnTo>
                  <a:lnTo>
                    <a:pt x="0" y="5544392"/>
                  </a:lnTo>
                  <a:lnTo>
                    <a:pt x="1053434" y="5544392"/>
                  </a:lnTo>
                  <a:lnTo>
                    <a:pt x="1053434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7231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5" h="5544820">
                  <a:moveTo>
                    <a:pt x="0" y="5544392"/>
                  </a:moveTo>
                  <a:lnTo>
                    <a:pt x="0" y="0"/>
                  </a:lnTo>
                  <a:lnTo>
                    <a:pt x="1053433" y="0"/>
                  </a:lnTo>
                  <a:lnTo>
                    <a:pt x="1053433" y="5544392"/>
                  </a:lnTo>
                  <a:lnTo>
                    <a:pt x="0" y="554439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3589" y="1047223"/>
            <a:ext cx="831850" cy="54216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090"/>
              </a:lnSpc>
            </a:pPr>
            <a:r>
              <a:rPr sz="5200" spc="-5" dirty="0">
                <a:solidFill>
                  <a:srgbClr val="FFFFFF"/>
                </a:solidFill>
                <a:latin typeface="Calibri"/>
                <a:cs typeface="Calibri"/>
              </a:rPr>
              <a:t>Leadership</a:t>
            </a:r>
            <a:r>
              <a:rPr sz="5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200" spc="-5" dirty="0">
                <a:solidFill>
                  <a:srgbClr val="FFFFFF"/>
                </a:solidFill>
                <a:latin typeface="Calibri"/>
                <a:cs typeface="Calibri"/>
              </a:rPr>
              <a:t>Theories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30526" y="2276089"/>
            <a:ext cx="6045835" cy="2999740"/>
            <a:chOff x="2230526" y="2276089"/>
            <a:chExt cx="6045835" cy="2999740"/>
          </a:xfrm>
        </p:grpSpPr>
        <p:sp>
          <p:nvSpPr>
            <p:cNvPr id="10" name="object 10"/>
            <p:cNvSpPr/>
            <p:nvPr/>
          </p:nvSpPr>
          <p:spPr>
            <a:xfrm>
              <a:off x="2243226" y="2288790"/>
              <a:ext cx="6020435" cy="2974340"/>
            </a:xfrm>
            <a:custGeom>
              <a:avLst/>
              <a:gdLst/>
              <a:ahLst/>
              <a:cxnLst/>
              <a:rect l="l" t="t" r="r" b="b"/>
              <a:pathLst>
                <a:path w="6020434" h="2974340">
                  <a:moveTo>
                    <a:pt x="6020247" y="0"/>
                  </a:moveTo>
                  <a:lnTo>
                    <a:pt x="0" y="0"/>
                  </a:lnTo>
                  <a:lnTo>
                    <a:pt x="0" y="2974204"/>
                  </a:lnTo>
                  <a:lnTo>
                    <a:pt x="6020247" y="2974204"/>
                  </a:lnTo>
                  <a:lnTo>
                    <a:pt x="6020247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3226" y="2288789"/>
              <a:ext cx="6020435" cy="2974340"/>
            </a:xfrm>
            <a:custGeom>
              <a:avLst/>
              <a:gdLst/>
              <a:ahLst/>
              <a:cxnLst/>
              <a:rect l="l" t="t" r="r" b="b"/>
              <a:pathLst>
                <a:path w="6020434" h="2974340">
                  <a:moveTo>
                    <a:pt x="0" y="0"/>
                  </a:moveTo>
                  <a:lnTo>
                    <a:pt x="6020246" y="0"/>
                  </a:lnTo>
                  <a:lnTo>
                    <a:pt x="6020246" y="2974203"/>
                  </a:lnTo>
                  <a:lnTo>
                    <a:pt x="0" y="2974203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44496" y="2496748"/>
            <a:ext cx="5177155" cy="206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Arial"/>
                <a:cs typeface="Arial"/>
              </a:rPr>
              <a:t>Contemporary leadership theories</a:t>
            </a:r>
            <a:endParaRPr sz="2200">
              <a:latin typeface="Arial"/>
              <a:cs typeface="Arial"/>
            </a:endParaRPr>
          </a:p>
          <a:p>
            <a:pPr marL="161290" indent="-149225">
              <a:lnSpc>
                <a:spcPct val="100000"/>
              </a:lnSpc>
              <a:spcBef>
                <a:spcPts val="1980"/>
              </a:spcBef>
              <a:buChar char="-"/>
              <a:tabLst>
                <a:tab pos="161925" algn="l"/>
              </a:tabLst>
            </a:pPr>
            <a:r>
              <a:rPr sz="2200" i="1" spc="-5" dirty="0">
                <a:latin typeface="Calibri"/>
                <a:cs typeface="Calibri"/>
              </a:rPr>
              <a:t>Leader-Member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Exchange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(LMX)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Theory</a:t>
            </a:r>
            <a:endParaRPr sz="2200">
              <a:latin typeface="Calibri"/>
              <a:cs typeface="Calibri"/>
            </a:endParaRPr>
          </a:p>
          <a:p>
            <a:pPr marL="161290" indent="-149225">
              <a:lnSpc>
                <a:spcPct val="100000"/>
              </a:lnSpc>
              <a:spcBef>
                <a:spcPts val="1260"/>
              </a:spcBef>
              <a:buChar char="-"/>
              <a:tabLst>
                <a:tab pos="161925" algn="l"/>
              </a:tabLst>
            </a:pPr>
            <a:r>
              <a:rPr sz="2200" i="1" spc="-5" dirty="0">
                <a:latin typeface="Calibri"/>
                <a:cs typeface="Calibri"/>
              </a:rPr>
              <a:t>Transformational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and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Transactional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Leaders</a:t>
            </a:r>
            <a:endParaRPr sz="2200">
              <a:latin typeface="Calibri"/>
              <a:cs typeface="Calibri"/>
            </a:endParaRPr>
          </a:p>
          <a:p>
            <a:pPr marL="161290" indent="-149225">
              <a:lnSpc>
                <a:spcPct val="100000"/>
              </a:lnSpc>
              <a:spcBef>
                <a:spcPts val="2260"/>
              </a:spcBef>
              <a:buChar char="-"/>
              <a:tabLst>
                <a:tab pos="161925" algn="l"/>
              </a:tabLst>
            </a:pPr>
            <a:r>
              <a:rPr sz="2200" i="1" dirty="0">
                <a:latin typeface="Calibri"/>
                <a:cs typeface="Calibri"/>
              </a:rPr>
              <a:t>Visionary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and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Charismatic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Leaders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8871" y="5491308"/>
            <a:ext cx="5687060" cy="69977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85"/>
              </a:spcBef>
            </a:pPr>
            <a:r>
              <a:rPr sz="2250" spc="-55" dirty="0">
                <a:latin typeface="Wingdings"/>
                <a:cs typeface="Wingdings"/>
              </a:rPr>
              <a:t>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Arial"/>
                <a:cs typeface="Arial"/>
              </a:rPr>
              <a:t>Attempt to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determine</a:t>
            </a:r>
            <a:r>
              <a:rPr sz="2200" i="1" dirty="0">
                <a:latin typeface="Arial"/>
                <a:cs typeface="Arial"/>
              </a:rPr>
              <a:t> how </a:t>
            </a:r>
            <a:r>
              <a:rPr sz="2200" i="1" spc="-5" dirty="0">
                <a:latin typeface="Arial"/>
                <a:cs typeface="Arial"/>
              </a:rPr>
              <a:t>effective</a:t>
            </a:r>
            <a:r>
              <a:rPr sz="2200" i="1" dirty="0">
                <a:latin typeface="Arial"/>
                <a:cs typeface="Arial"/>
              </a:rPr>
              <a:t> leaders </a:t>
            </a:r>
            <a:r>
              <a:rPr sz="2200" i="1" spc="-59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interact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with, </a:t>
            </a:r>
            <a:r>
              <a:rPr sz="2200" i="1" dirty="0">
                <a:latin typeface="Arial"/>
                <a:cs typeface="Arial"/>
              </a:rPr>
              <a:t>inspire,</a:t>
            </a:r>
            <a:r>
              <a:rPr sz="2200" i="1" spc="-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and support</a:t>
            </a:r>
            <a:r>
              <a:rPr sz="2200" i="1" spc="-5" dirty="0">
                <a:latin typeface="Arial"/>
                <a:cs typeface="Arial"/>
              </a:rPr>
              <a:t> followers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2577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0" dirty="0"/>
              <a:t>Trait</a:t>
            </a:r>
            <a:r>
              <a:rPr sz="3200" spc="-60" dirty="0"/>
              <a:t> </a:t>
            </a:r>
            <a:r>
              <a:rPr sz="3200" spc="-5" dirty="0"/>
              <a:t>theories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9" y="1427480"/>
            <a:ext cx="7950834" cy="351536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800" b="1" spc="-35" dirty="0">
                <a:latin typeface="Arial"/>
                <a:cs typeface="Arial"/>
              </a:rPr>
              <a:t>Trait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theories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(1920s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-1930s)</a:t>
            </a:r>
            <a:endParaRPr sz="2800">
              <a:latin typeface="Arial MT"/>
              <a:cs typeface="Arial MT"/>
            </a:endParaRPr>
          </a:p>
          <a:p>
            <a:pPr marL="749300" marR="5080" indent="-279400">
              <a:lnSpc>
                <a:spcPct val="100000"/>
              </a:lnSpc>
              <a:spcBef>
                <a:spcPts val="162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Research</a:t>
            </a:r>
            <a:r>
              <a:rPr sz="2800" spc="-5" dirty="0">
                <a:latin typeface="Arial MT"/>
                <a:cs typeface="Arial MT"/>
              </a:rPr>
              <a:t> focused</a:t>
            </a:r>
            <a:r>
              <a:rPr sz="2800" dirty="0">
                <a:latin typeface="Arial MT"/>
                <a:cs typeface="Arial MT"/>
              </a:rPr>
              <a:t> on</a:t>
            </a:r>
            <a:r>
              <a:rPr sz="2800" spc="-5" dirty="0">
                <a:latin typeface="Arial MT"/>
                <a:cs typeface="Arial MT"/>
              </a:rPr>
              <a:t> identifying</a:t>
            </a:r>
            <a:r>
              <a:rPr sz="2800" dirty="0">
                <a:latin typeface="Arial MT"/>
                <a:cs typeface="Arial MT"/>
              </a:rPr>
              <a:t> personal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characteristics that differentiated </a:t>
            </a:r>
            <a:r>
              <a:rPr sz="2800" dirty="0">
                <a:latin typeface="Arial MT"/>
                <a:cs typeface="Arial MT"/>
              </a:rPr>
              <a:t>leaders </a:t>
            </a:r>
            <a:r>
              <a:rPr sz="2800" spc="-5" dirty="0">
                <a:latin typeface="Arial MT"/>
                <a:cs typeface="Arial MT"/>
              </a:rPr>
              <a:t>from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non-leaders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was</a:t>
            </a:r>
            <a:r>
              <a:rPr sz="2800" spc="-5" dirty="0">
                <a:latin typeface="Arial MT"/>
                <a:cs typeface="Arial MT"/>
              </a:rPr>
              <a:t> unsuccessful.</a:t>
            </a:r>
            <a:endParaRPr sz="2800">
              <a:latin typeface="Arial MT"/>
              <a:cs typeface="Arial MT"/>
            </a:endParaRPr>
          </a:p>
          <a:p>
            <a:pPr marL="749300" marR="91440" indent="-279400">
              <a:lnSpc>
                <a:spcPct val="100099"/>
              </a:lnSpc>
              <a:spcBef>
                <a:spcPts val="70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It </a:t>
            </a:r>
            <a:r>
              <a:rPr sz="2800" dirty="0">
                <a:latin typeface="Arial MT"/>
                <a:cs typeface="Arial MT"/>
              </a:rPr>
              <a:t>proved impossible </a:t>
            </a:r>
            <a:r>
              <a:rPr sz="2800" spc="-5" dirty="0">
                <a:latin typeface="Arial MT"/>
                <a:cs typeface="Arial MT"/>
              </a:rPr>
              <a:t>to identify </a:t>
            </a:r>
            <a:r>
              <a:rPr sz="2800" dirty="0">
                <a:latin typeface="Arial MT"/>
                <a:cs typeface="Arial MT"/>
              </a:rPr>
              <a:t>a </a:t>
            </a:r>
            <a:r>
              <a:rPr sz="2800" b="1" dirty="0">
                <a:latin typeface="Arial"/>
                <a:cs typeface="Arial"/>
              </a:rPr>
              <a:t>set </a:t>
            </a:r>
            <a:r>
              <a:rPr sz="2800" b="1" spc="-5" dirty="0">
                <a:latin typeface="Arial"/>
                <a:cs typeface="Arial"/>
              </a:rPr>
              <a:t>of traits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that </a:t>
            </a:r>
            <a:r>
              <a:rPr sz="2800" spc="-5" dirty="0">
                <a:latin typeface="Arial MT"/>
                <a:cs typeface="Arial MT"/>
              </a:rPr>
              <a:t>would </a:t>
            </a:r>
            <a:r>
              <a:rPr sz="2800" i="1" dirty="0">
                <a:latin typeface="Arial"/>
                <a:cs typeface="Arial"/>
              </a:rPr>
              <a:t>always </a:t>
            </a:r>
            <a:r>
              <a:rPr sz="2800" spc="-10" dirty="0">
                <a:latin typeface="Arial MT"/>
                <a:cs typeface="Arial MT"/>
              </a:rPr>
              <a:t>differentiate </a:t>
            </a:r>
            <a:r>
              <a:rPr sz="2800" dirty="0">
                <a:latin typeface="Arial MT"/>
                <a:cs typeface="Arial MT"/>
              </a:rPr>
              <a:t>a leader </a:t>
            </a:r>
            <a:r>
              <a:rPr sz="2800" spc="-5" dirty="0">
                <a:latin typeface="Arial MT"/>
                <a:cs typeface="Arial MT"/>
              </a:rPr>
              <a:t>(the </a:t>
            </a:r>
            <a:r>
              <a:rPr sz="2800" dirty="0">
                <a:latin typeface="Arial MT"/>
                <a:cs typeface="Arial MT"/>
              </a:rPr>
              <a:t> person)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from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nonleader.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24" y="468719"/>
            <a:ext cx="886841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35" dirty="0"/>
              <a:t>Trait</a:t>
            </a:r>
            <a:r>
              <a:rPr sz="2900" dirty="0"/>
              <a:t> </a:t>
            </a:r>
            <a:r>
              <a:rPr sz="2900" spc="-5" dirty="0"/>
              <a:t>theories</a:t>
            </a:r>
            <a:r>
              <a:rPr sz="2900" spc="5" dirty="0"/>
              <a:t> </a:t>
            </a:r>
            <a:r>
              <a:rPr sz="2900" dirty="0"/>
              <a:t>–</a:t>
            </a:r>
            <a:r>
              <a:rPr sz="2900" spc="5" dirty="0"/>
              <a:t> </a:t>
            </a:r>
            <a:r>
              <a:rPr sz="2900" dirty="0"/>
              <a:t>8</a:t>
            </a:r>
            <a:r>
              <a:rPr sz="2900" spc="5" dirty="0"/>
              <a:t> </a:t>
            </a:r>
            <a:r>
              <a:rPr sz="2900" spc="-5" dirty="0"/>
              <a:t>traits</a:t>
            </a:r>
            <a:r>
              <a:rPr sz="2900" spc="5" dirty="0"/>
              <a:t> </a:t>
            </a:r>
            <a:r>
              <a:rPr sz="2900" spc="-5" dirty="0"/>
              <a:t>associated</a:t>
            </a:r>
            <a:r>
              <a:rPr sz="2900" dirty="0"/>
              <a:t> </a:t>
            </a:r>
            <a:r>
              <a:rPr sz="2900" spc="-5" dirty="0"/>
              <a:t>with</a:t>
            </a:r>
            <a:r>
              <a:rPr sz="2900" dirty="0"/>
              <a:t> </a:t>
            </a:r>
            <a:r>
              <a:rPr sz="2900" spc="-5" dirty="0"/>
              <a:t>Leadership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91933"/>
            <a:ext cx="9016998" cy="46998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705" y="0"/>
            <a:ext cx="4126293" cy="32204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797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Behavioral</a:t>
            </a:r>
            <a:r>
              <a:rPr sz="3200" spc="-40" dirty="0"/>
              <a:t> </a:t>
            </a:r>
            <a:r>
              <a:rPr sz="3200" spc="-5" dirty="0"/>
              <a:t>theories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77261" rIns="0" bIns="0" rtlCol="0">
            <a:spAutoFit/>
          </a:bodyPr>
          <a:lstStyle/>
          <a:p>
            <a:pPr marL="330200" marR="436880" indent="-251460">
              <a:lnSpc>
                <a:spcPts val="3100"/>
              </a:lnSpc>
              <a:spcBef>
                <a:spcPts val="219"/>
              </a:spcBef>
            </a:pPr>
            <a:r>
              <a:rPr sz="2600" spc="-5" dirty="0"/>
              <a:t>Behavioral</a:t>
            </a:r>
            <a:r>
              <a:rPr sz="2600" dirty="0"/>
              <a:t> </a:t>
            </a:r>
            <a:r>
              <a:rPr sz="2600" spc="-5" dirty="0"/>
              <a:t>theories</a:t>
            </a:r>
            <a:r>
              <a:rPr sz="2600" b="0" spc="-5" dirty="0">
                <a:latin typeface="Arial MT"/>
                <a:cs typeface="Arial MT"/>
              </a:rPr>
              <a:t>–</a:t>
            </a:r>
            <a:r>
              <a:rPr sz="2600" b="0" spc="10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leadership</a:t>
            </a:r>
            <a:r>
              <a:rPr sz="2600" b="0" spc="10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theories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that</a:t>
            </a:r>
            <a:r>
              <a:rPr sz="2600" b="0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identify </a:t>
            </a:r>
            <a:r>
              <a:rPr sz="2600" b="0" spc="-705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4F81BD"/>
                </a:solidFill>
              </a:rPr>
              <a:t>behaviors </a:t>
            </a:r>
            <a:r>
              <a:rPr sz="2600" b="0" spc="-5" dirty="0">
                <a:latin typeface="Arial MT"/>
                <a:cs typeface="Arial MT"/>
              </a:rPr>
              <a:t>that differentiated </a:t>
            </a:r>
            <a:r>
              <a:rPr sz="2600" b="0" spc="-10" dirty="0">
                <a:latin typeface="Arial MT"/>
                <a:cs typeface="Arial MT"/>
              </a:rPr>
              <a:t>effective </a:t>
            </a:r>
            <a:r>
              <a:rPr sz="2600" b="0" dirty="0">
                <a:latin typeface="Arial MT"/>
                <a:cs typeface="Arial MT"/>
              </a:rPr>
              <a:t>leaders </a:t>
            </a:r>
            <a:r>
              <a:rPr sz="2600" b="0" spc="-5" dirty="0">
                <a:latin typeface="Arial MT"/>
                <a:cs typeface="Arial MT"/>
              </a:rPr>
              <a:t>from </a:t>
            </a:r>
            <a:r>
              <a:rPr sz="2600" b="0" dirty="0">
                <a:latin typeface="Arial MT"/>
                <a:cs typeface="Arial MT"/>
              </a:rPr>
              <a:t> </a:t>
            </a:r>
            <a:r>
              <a:rPr sz="2600" b="0" spc="-10" dirty="0">
                <a:latin typeface="Arial MT"/>
                <a:cs typeface="Arial MT"/>
              </a:rPr>
              <a:t>ineffective</a:t>
            </a:r>
            <a:r>
              <a:rPr sz="2600" b="0" spc="-5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leaders.</a:t>
            </a:r>
            <a:endParaRPr sz="2600">
              <a:latin typeface="Arial MT"/>
              <a:cs typeface="Arial MT"/>
            </a:endParaRPr>
          </a:p>
          <a:p>
            <a:pPr marL="723900" marR="5080" indent="-279400">
              <a:lnSpc>
                <a:spcPct val="101800"/>
              </a:lnSpc>
              <a:spcBef>
                <a:spcPts val="445"/>
              </a:spcBef>
            </a:pPr>
            <a:r>
              <a:rPr sz="2600" b="0" dirty="0">
                <a:latin typeface="Arial MT"/>
                <a:cs typeface="Arial MT"/>
              </a:rPr>
              <a:t>–</a:t>
            </a:r>
            <a:r>
              <a:rPr sz="2600" b="0" spc="80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These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theories</a:t>
            </a:r>
            <a:r>
              <a:rPr sz="2600" b="0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focused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on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how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the</a:t>
            </a:r>
            <a:r>
              <a:rPr sz="2600" b="0" spc="5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leader</a:t>
            </a:r>
            <a:r>
              <a:rPr sz="2600" b="0" spc="-5" dirty="0">
                <a:latin typeface="Arial MT"/>
                <a:cs typeface="Arial MT"/>
              </a:rPr>
              <a:t> interacted </a:t>
            </a:r>
            <a:r>
              <a:rPr sz="2600" b="0" spc="-705" dirty="0">
                <a:latin typeface="Arial MT"/>
                <a:cs typeface="Arial MT"/>
              </a:rPr>
              <a:t> </a:t>
            </a:r>
            <a:r>
              <a:rPr sz="2600" b="0" spc="-5" dirty="0">
                <a:latin typeface="Arial MT"/>
                <a:cs typeface="Arial MT"/>
              </a:rPr>
              <a:t>with his/her </a:t>
            </a:r>
            <a:r>
              <a:rPr sz="2600" b="0" dirty="0">
                <a:latin typeface="Arial MT"/>
                <a:cs typeface="Arial MT"/>
              </a:rPr>
              <a:t>group members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9" y="1455420"/>
            <a:ext cx="28162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1940s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mid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1960s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797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Behavioral</a:t>
            </a:r>
            <a:r>
              <a:rPr sz="3200" spc="-40" dirty="0"/>
              <a:t> </a:t>
            </a:r>
            <a:r>
              <a:rPr sz="3200" spc="-5" dirty="0"/>
              <a:t>theories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79" y="1050550"/>
            <a:ext cx="8127998" cy="56514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797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Behavioral</a:t>
            </a:r>
            <a:r>
              <a:rPr sz="3200" spc="-40" dirty="0"/>
              <a:t> </a:t>
            </a:r>
            <a:r>
              <a:rPr sz="3200" spc="-5" dirty="0"/>
              <a:t>theories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167" y="1313882"/>
            <a:ext cx="8178798" cy="355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670" y="1834582"/>
            <a:ext cx="7975598" cy="3911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73" y="857968"/>
            <a:ext cx="6917039" cy="60000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297117"/>
            <a:ext cx="71170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Behavioral theories-</a:t>
            </a:r>
            <a:r>
              <a:rPr sz="3200" dirty="0"/>
              <a:t> </a:t>
            </a:r>
            <a:r>
              <a:rPr sz="3200" spc="-5" dirty="0"/>
              <a:t>Managerial Grid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72745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Contingency theories </a:t>
            </a:r>
            <a:r>
              <a:rPr sz="3200" dirty="0"/>
              <a:t>–</a:t>
            </a:r>
            <a:r>
              <a:rPr sz="3200" spc="-5" dirty="0"/>
              <a:t> Fiedler model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7" y="1779835"/>
            <a:ext cx="9064043" cy="38787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72745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Contingency theories </a:t>
            </a:r>
            <a:r>
              <a:rPr sz="3200" dirty="0"/>
              <a:t>–</a:t>
            </a:r>
            <a:r>
              <a:rPr sz="3200" spc="-5" dirty="0"/>
              <a:t> Fiedler 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39" y="1305674"/>
            <a:ext cx="8058150" cy="40716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5080" indent="-3429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Leader-member relations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degree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confidence, trust, </a:t>
            </a:r>
            <a:r>
              <a:rPr sz="2800" dirty="0">
                <a:latin typeface="Arial MT"/>
                <a:cs typeface="Arial MT"/>
              </a:rPr>
              <a:t>and respect employees had </a:t>
            </a:r>
            <a:r>
              <a:rPr sz="2800" spc="-5" dirty="0">
                <a:latin typeface="Arial MT"/>
                <a:cs typeface="Arial MT"/>
              </a:rPr>
              <a:t>for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their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leader;</a:t>
            </a:r>
            <a:r>
              <a:rPr sz="2800" spc="-5" dirty="0">
                <a:latin typeface="Arial MT"/>
                <a:cs typeface="Arial MT"/>
              </a:rPr>
              <a:t> rated</a:t>
            </a:r>
            <a:r>
              <a:rPr sz="2800" dirty="0">
                <a:latin typeface="Arial MT"/>
                <a:cs typeface="Arial MT"/>
              </a:rPr>
              <a:t> as</a:t>
            </a:r>
            <a:r>
              <a:rPr sz="2800" spc="-5" dirty="0">
                <a:latin typeface="Arial MT"/>
                <a:cs typeface="Arial MT"/>
              </a:rPr>
              <a:t> either </a:t>
            </a:r>
            <a:r>
              <a:rPr sz="2800" dirty="0">
                <a:latin typeface="Arial MT"/>
                <a:cs typeface="Arial MT"/>
              </a:rPr>
              <a:t>good 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poor.</a:t>
            </a:r>
            <a:endParaRPr sz="2800">
              <a:latin typeface="Arial MT"/>
              <a:cs typeface="Arial MT"/>
            </a:endParaRPr>
          </a:p>
          <a:p>
            <a:pPr marL="355600" marR="618490" indent="-342900">
              <a:lnSpc>
                <a:spcPct val="897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5" dirty="0">
                <a:latin typeface="Arial"/>
                <a:cs typeface="Arial"/>
              </a:rPr>
              <a:t>Task</a:t>
            </a:r>
            <a:r>
              <a:rPr sz="2800" b="1" spc="-5" dirty="0">
                <a:latin typeface="Arial"/>
                <a:cs typeface="Arial"/>
              </a:rPr>
              <a:t> structure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degree</a:t>
            </a:r>
            <a:r>
              <a:rPr sz="2800" spc="-5" dirty="0">
                <a:latin typeface="Arial MT"/>
                <a:cs typeface="Arial MT"/>
              </a:rPr>
              <a:t> to</a:t>
            </a:r>
            <a:r>
              <a:rPr sz="2800" dirty="0">
                <a:latin typeface="Arial MT"/>
                <a:cs typeface="Arial MT"/>
              </a:rPr>
              <a:t> which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job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assignments</a:t>
            </a:r>
            <a:r>
              <a:rPr sz="2800" dirty="0">
                <a:latin typeface="Arial MT"/>
                <a:cs typeface="Arial MT"/>
              </a:rPr>
              <a:t> were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formalized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structured;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rated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" dirty="0">
                <a:latin typeface="Arial MT"/>
                <a:cs typeface="Arial MT"/>
              </a:rPr>
              <a:t> either </a:t>
            </a:r>
            <a:r>
              <a:rPr sz="2800" dirty="0">
                <a:latin typeface="Arial MT"/>
                <a:cs typeface="Arial MT"/>
              </a:rPr>
              <a:t>high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low.</a:t>
            </a:r>
            <a:endParaRPr sz="2800">
              <a:latin typeface="Arial MT"/>
              <a:cs typeface="Arial MT"/>
            </a:endParaRPr>
          </a:p>
          <a:p>
            <a:pPr marL="355600" marR="400685" indent="-342900">
              <a:lnSpc>
                <a:spcPct val="896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Position power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degree of </a:t>
            </a:r>
            <a:r>
              <a:rPr sz="2800" spc="-5" dirty="0">
                <a:latin typeface="Arial MT"/>
                <a:cs typeface="Arial MT"/>
              </a:rPr>
              <a:t>influence </a:t>
            </a:r>
            <a:r>
              <a:rPr sz="2800" dirty="0">
                <a:latin typeface="Arial MT"/>
                <a:cs typeface="Arial MT"/>
              </a:rPr>
              <a:t>a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leader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activities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hiring,</a:t>
            </a:r>
            <a:r>
              <a:rPr sz="2800" spc="-5" dirty="0">
                <a:latin typeface="Arial MT"/>
                <a:cs typeface="Arial MT"/>
              </a:rPr>
              <a:t> firing,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discipline, </a:t>
            </a:r>
            <a:r>
              <a:rPr sz="2800" spc="-5" dirty="0">
                <a:latin typeface="Arial MT"/>
                <a:cs typeface="Arial MT"/>
              </a:rPr>
              <a:t>promotions, </a:t>
            </a:r>
            <a:r>
              <a:rPr sz="2800" dirty="0">
                <a:latin typeface="Arial MT"/>
                <a:cs typeface="Arial MT"/>
              </a:rPr>
              <a:t>and salary increases;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rated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" dirty="0">
                <a:latin typeface="Arial MT"/>
                <a:cs typeface="Arial MT"/>
              </a:rPr>
              <a:t> either strong</a:t>
            </a:r>
            <a:r>
              <a:rPr sz="2800" dirty="0">
                <a:latin typeface="Arial MT"/>
                <a:cs typeface="Arial MT"/>
              </a:rPr>
              <a:t> 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weak.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Contingency theories</a:t>
            </a:r>
            <a:r>
              <a:rPr dirty="0"/>
              <a:t> – Hersey</a:t>
            </a:r>
            <a:r>
              <a:rPr spc="-5" dirty="0"/>
              <a:t> and </a:t>
            </a:r>
            <a:r>
              <a:rPr dirty="0"/>
              <a:t> </a:t>
            </a:r>
            <a:r>
              <a:rPr spc="-15" dirty="0"/>
              <a:t>Blanchard’s</a:t>
            </a:r>
            <a:r>
              <a:rPr spc="5" dirty="0"/>
              <a:t> </a:t>
            </a:r>
            <a:r>
              <a:rPr spc="-5" dirty="0"/>
              <a:t>situational</a:t>
            </a:r>
            <a:r>
              <a:rPr dirty="0"/>
              <a:t> </a:t>
            </a:r>
            <a:r>
              <a:rPr spc="-5" dirty="0"/>
              <a:t>leadership</a:t>
            </a:r>
            <a:r>
              <a:rPr spc="5" dirty="0"/>
              <a:t> </a:t>
            </a:r>
            <a:r>
              <a:rPr spc="-5" dirty="0"/>
              <a:t>theory</a:t>
            </a:r>
            <a:r>
              <a:rPr spc="5" dirty="0"/>
              <a:t> </a:t>
            </a:r>
            <a:r>
              <a:rPr spc="-50" dirty="0"/>
              <a:t>(SLT)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303" y="1656701"/>
            <a:ext cx="8349615" cy="2725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856615" indent="-457200" algn="just">
              <a:lnSpc>
                <a:spcPct val="99700"/>
              </a:lnSpc>
              <a:spcBef>
                <a:spcPts val="110"/>
              </a:spcBef>
              <a:buChar char="•"/>
              <a:tabLst>
                <a:tab pos="469900" algn="l"/>
              </a:tabLst>
            </a:pPr>
            <a:r>
              <a:rPr sz="2800" dirty="0">
                <a:latin typeface="Arial MT"/>
                <a:cs typeface="Arial MT"/>
              </a:rPr>
              <a:t>Also called: </a:t>
            </a:r>
            <a:r>
              <a:rPr sz="2800" b="1" spc="-5" dirty="0">
                <a:latin typeface="Arial"/>
                <a:cs typeface="Arial"/>
              </a:rPr>
              <a:t>Situational Leadership Theory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b="1" spc="-45" dirty="0">
                <a:latin typeface="Arial"/>
                <a:cs typeface="Arial"/>
              </a:rPr>
              <a:t>(SLT) </a:t>
            </a:r>
            <a:r>
              <a:rPr sz="2800" dirty="0">
                <a:latin typeface="Arial MT"/>
                <a:cs typeface="Arial MT"/>
              </a:rPr>
              <a:t>– a leadership </a:t>
            </a:r>
            <a:r>
              <a:rPr sz="2800" spc="-5" dirty="0">
                <a:latin typeface="Arial MT"/>
                <a:cs typeface="Arial MT"/>
              </a:rPr>
              <a:t>contingency theory that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focuses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 </a:t>
            </a:r>
            <a:r>
              <a:rPr sz="2800" spc="-5" dirty="0">
                <a:latin typeface="Arial MT"/>
                <a:cs typeface="Arial MT"/>
              </a:rPr>
              <a:t>followers’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readiness.</a:t>
            </a:r>
            <a:endParaRPr sz="2800">
              <a:latin typeface="Arial MT"/>
              <a:cs typeface="Arial MT"/>
            </a:endParaRPr>
          </a:p>
          <a:p>
            <a:pPr marL="469900" marR="5080" indent="-457200">
              <a:lnSpc>
                <a:spcPct val="100099"/>
              </a:lnSpc>
              <a:spcBef>
                <a:spcPts val="1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Readiness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extent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which </a:t>
            </a:r>
            <a:r>
              <a:rPr sz="2800" spc="-5" dirty="0">
                <a:latin typeface="Arial MT"/>
                <a:cs typeface="Arial MT"/>
              </a:rPr>
              <a:t>followers </a:t>
            </a:r>
            <a:r>
              <a:rPr sz="2800" dirty="0">
                <a:latin typeface="Arial MT"/>
                <a:cs typeface="Arial MT"/>
              </a:rPr>
              <a:t>have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4F81BD"/>
                </a:solidFill>
                <a:latin typeface="Arial MT"/>
                <a:cs typeface="Arial MT"/>
              </a:rPr>
              <a:t>ability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and</a:t>
            </a:r>
            <a:r>
              <a:rPr sz="2800" spc="-5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4F81BD"/>
                </a:solidFill>
                <a:latin typeface="Arial MT"/>
                <a:cs typeface="Arial MT"/>
              </a:rPr>
              <a:t>willingness</a:t>
            </a:r>
            <a:r>
              <a:rPr sz="2800" spc="-10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accomplish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 </a:t>
            </a:r>
            <a:r>
              <a:rPr sz="2800" spc="-5" dirty="0">
                <a:latin typeface="Arial MT"/>
                <a:cs typeface="Arial MT"/>
              </a:rPr>
              <a:t>specific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task.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Contingency theories</a:t>
            </a:r>
            <a:r>
              <a:rPr dirty="0"/>
              <a:t> – Hersey</a:t>
            </a:r>
            <a:r>
              <a:rPr spc="-5" dirty="0"/>
              <a:t> and </a:t>
            </a:r>
            <a:r>
              <a:rPr dirty="0"/>
              <a:t> </a:t>
            </a:r>
            <a:r>
              <a:rPr spc="-15" dirty="0"/>
              <a:t>Blanchard’s</a:t>
            </a:r>
            <a:r>
              <a:rPr spc="5" dirty="0"/>
              <a:t> </a:t>
            </a:r>
            <a:r>
              <a:rPr spc="-5" dirty="0"/>
              <a:t>situational</a:t>
            </a:r>
            <a:r>
              <a:rPr dirty="0"/>
              <a:t> </a:t>
            </a:r>
            <a:r>
              <a:rPr spc="-5" dirty="0"/>
              <a:t>leadership</a:t>
            </a:r>
            <a:r>
              <a:rPr spc="5" dirty="0"/>
              <a:t> </a:t>
            </a:r>
            <a:r>
              <a:rPr spc="-5" dirty="0"/>
              <a:t>theory</a:t>
            </a:r>
            <a:r>
              <a:rPr spc="5" dirty="0"/>
              <a:t> </a:t>
            </a:r>
            <a:r>
              <a:rPr spc="-50" dirty="0"/>
              <a:t>(SLT)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85"/>
              </a:spcBef>
            </a:pPr>
            <a:r>
              <a:rPr dirty="0"/>
              <a:t>4</a:t>
            </a:r>
            <a:r>
              <a:rPr spc="-10" dirty="0"/>
              <a:t> </a:t>
            </a:r>
            <a:r>
              <a:rPr spc="-55" dirty="0"/>
              <a:t>SLT</a:t>
            </a:r>
            <a:r>
              <a:rPr spc="-15" dirty="0"/>
              <a:t> </a:t>
            </a:r>
            <a:r>
              <a:rPr spc="-5" dirty="0"/>
              <a:t>Leadership</a:t>
            </a:r>
            <a:r>
              <a:rPr spc="-15" dirty="0"/>
              <a:t> </a:t>
            </a:r>
            <a:r>
              <a:rPr spc="-5" dirty="0"/>
              <a:t>Styles:</a:t>
            </a:r>
          </a:p>
          <a:p>
            <a:pPr marL="624205" marR="5080" indent="-457200">
              <a:lnSpc>
                <a:spcPct val="120200"/>
              </a:lnSpc>
              <a:spcBef>
                <a:spcPts val="455"/>
              </a:spcBef>
              <a:buFont typeface="Arial MT"/>
              <a:buChar char="•"/>
              <a:tabLst>
                <a:tab pos="624205" algn="l"/>
                <a:tab pos="624840" algn="l"/>
              </a:tabLst>
            </a:pPr>
            <a:r>
              <a:rPr i="1" spc="-15" dirty="0">
                <a:latin typeface="Arial"/>
                <a:cs typeface="Arial"/>
              </a:rPr>
              <a:t>Telling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b="0" dirty="0">
                <a:latin typeface="Arial MT"/>
                <a:cs typeface="Arial MT"/>
              </a:rPr>
              <a:t>(high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task–low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relationship):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The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leader </a:t>
            </a:r>
            <a:r>
              <a:rPr b="0" spc="-5" dirty="0">
                <a:latin typeface="Arial MT"/>
                <a:cs typeface="Arial MT"/>
              </a:rPr>
              <a:t>defines</a:t>
            </a:r>
            <a:r>
              <a:rPr b="0" dirty="0">
                <a:latin typeface="Arial MT"/>
                <a:cs typeface="Arial MT"/>
              </a:rPr>
              <a:t> roles and </a:t>
            </a:r>
            <a:r>
              <a:rPr b="0" spc="-59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tells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people </a:t>
            </a:r>
            <a:r>
              <a:rPr b="0" spc="-5" dirty="0">
                <a:latin typeface="Arial MT"/>
                <a:cs typeface="Arial MT"/>
              </a:rPr>
              <a:t>what, </a:t>
            </a:r>
            <a:r>
              <a:rPr b="0" spc="-35" dirty="0">
                <a:latin typeface="Arial MT"/>
                <a:cs typeface="Arial MT"/>
              </a:rPr>
              <a:t>how,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when,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where </a:t>
            </a:r>
            <a:r>
              <a:rPr b="0" spc="-5" dirty="0">
                <a:latin typeface="Arial MT"/>
                <a:cs typeface="Arial MT"/>
              </a:rPr>
              <a:t>to</a:t>
            </a:r>
            <a:r>
              <a:rPr b="0" dirty="0">
                <a:latin typeface="Arial MT"/>
                <a:cs typeface="Arial MT"/>
              </a:rPr>
              <a:t> do various</a:t>
            </a:r>
            <a:r>
              <a:rPr b="0" spc="-5" dirty="0">
                <a:latin typeface="Arial MT"/>
                <a:cs typeface="Arial MT"/>
              </a:rPr>
              <a:t> tasks.</a:t>
            </a:r>
          </a:p>
          <a:p>
            <a:pPr marL="624205" marR="320040" indent="-457200">
              <a:lnSpc>
                <a:spcPct val="120200"/>
              </a:lnSpc>
              <a:spcBef>
                <a:spcPts val="555"/>
              </a:spcBef>
              <a:buFont typeface="Arial MT"/>
              <a:buChar char="•"/>
              <a:tabLst>
                <a:tab pos="624205" algn="l"/>
                <a:tab pos="624840" algn="l"/>
              </a:tabLst>
            </a:pPr>
            <a:r>
              <a:rPr i="1" spc="-5" dirty="0">
                <a:latin typeface="Arial"/>
                <a:cs typeface="Arial"/>
              </a:rPr>
              <a:t>Selling</a:t>
            </a:r>
            <a:r>
              <a:rPr i="1" dirty="0">
                <a:latin typeface="Arial"/>
                <a:cs typeface="Arial"/>
              </a:rPr>
              <a:t> </a:t>
            </a:r>
            <a:r>
              <a:rPr b="0" dirty="0">
                <a:latin typeface="Arial MT"/>
                <a:cs typeface="Arial MT"/>
              </a:rPr>
              <a:t>(high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task–high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relationship):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The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leader provides </a:t>
            </a:r>
            <a:r>
              <a:rPr b="0" spc="-5" dirty="0">
                <a:latin typeface="Arial MT"/>
                <a:cs typeface="Arial MT"/>
              </a:rPr>
              <a:t>both </a:t>
            </a:r>
            <a:r>
              <a:rPr b="0" spc="-59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directive </a:t>
            </a:r>
            <a:r>
              <a:rPr b="0" dirty="0">
                <a:latin typeface="Arial MT"/>
                <a:cs typeface="Arial MT"/>
              </a:rPr>
              <a:t>and </a:t>
            </a:r>
            <a:r>
              <a:rPr b="0" spc="-5" dirty="0">
                <a:latin typeface="Arial MT"/>
                <a:cs typeface="Arial MT"/>
              </a:rPr>
              <a:t>supportive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b="0" spc="-15" dirty="0">
                <a:latin typeface="Arial MT"/>
                <a:cs typeface="Arial MT"/>
              </a:rPr>
              <a:t>behavior.</a:t>
            </a:r>
          </a:p>
          <a:p>
            <a:pPr marL="624205" marR="97790" indent="-457200">
              <a:lnSpc>
                <a:spcPct val="120700"/>
              </a:lnSpc>
              <a:spcBef>
                <a:spcPts val="440"/>
              </a:spcBef>
              <a:buFont typeface="Arial MT"/>
              <a:buChar char="•"/>
              <a:tabLst>
                <a:tab pos="624205" algn="l"/>
                <a:tab pos="624840" algn="l"/>
              </a:tabLst>
            </a:pPr>
            <a:r>
              <a:rPr i="1" spc="-5" dirty="0">
                <a:latin typeface="Arial"/>
                <a:cs typeface="Arial"/>
              </a:rPr>
              <a:t>Participating </a:t>
            </a:r>
            <a:r>
              <a:rPr b="0" dirty="0">
                <a:latin typeface="Arial MT"/>
                <a:cs typeface="Arial MT"/>
              </a:rPr>
              <a:t>(low </a:t>
            </a:r>
            <a:r>
              <a:rPr b="0" spc="-5" dirty="0">
                <a:latin typeface="Arial MT"/>
                <a:cs typeface="Arial MT"/>
              </a:rPr>
              <a:t>task–high relationship): The </a:t>
            </a:r>
            <a:r>
              <a:rPr b="0" dirty="0">
                <a:latin typeface="Arial MT"/>
                <a:cs typeface="Arial MT"/>
              </a:rPr>
              <a:t>leader and 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followers </a:t>
            </a:r>
            <a:r>
              <a:rPr b="0" dirty="0">
                <a:latin typeface="Arial MT"/>
                <a:cs typeface="Arial MT"/>
              </a:rPr>
              <a:t>share in decision-making; </a:t>
            </a:r>
            <a:r>
              <a:rPr b="0" spc="-5" dirty="0">
                <a:latin typeface="Arial MT"/>
                <a:cs typeface="Arial MT"/>
              </a:rPr>
              <a:t>the </a:t>
            </a:r>
            <a:r>
              <a:rPr b="0" dirty="0">
                <a:latin typeface="Arial MT"/>
                <a:cs typeface="Arial MT"/>
              </a:rPr>
              <a:t>main role of </a:t>
            </a:r>
            <a:r>
              <a:rPr b="0" spc="-5" dirty="0">
                <a:latin typeface="Arial MT"/>
                <a:cs typeface="Arial MT"/>
              </a:rPr>
              <a:t>the </a:t>
            </a:r>
            <a:r>
              <a:rPr b="0" dirty="0">
                <a:latin typeface="Arial MT"/>
                <a:cs typeface="Arial MT"/>
              </a:rPr>
              <a:t>leader is </a:t>
            </a:r>
            <a:r>
              <a:rPr b="0" spc="-60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facilitating</a:t>
            </a:r>
            <a:r>
              <a:rPr b="0" dirty="0">
                <a:latin typeface="Arial MT"/>
                <a:cs typeface="Arial MT"/>
              </a:rPr>
              <a:t> and </a:t>
            </a:r>
            <a:r>
              <a:rPr b="0" spc="-5" dirty="0">
                <a:latin typeface="Arial MT"/>
                <a:cs typeface="Arial MT"/>
              </a:rPr>
              <a:t>communicating.</a:t>
            </a:r>
          </a:p>
          <a:p>
            <a:pPr marL="624205" marR="73025" indent="-457200">
              <a:lnSpc>
                <a:spcPct val="120200"/>
              </a:lnSpc>
              <a:spcBef>
                <a:spcPts val="555"/>
              </a:spcBef>
              <a:buFont typeface="Arial MT"/>
              <a:buChar char="•"/>
              <a:tabLst>
                <a:tab pos="624205" algn="l"/>
                <a:tab pos="624840" algn="l"/>
              </a:tabLst>
            </a:pPr>
            <a:r>
              <a:rPr i="1" spc="-5" dirty="0">
                <a:latin typeface="Arial"/>
                <a:cs typeface="Arial"/>
              </a:rPr>
              <a:t>Delegating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b="0" dirty="0">
                <a:latin typeface="Arial MT"/>
                <a:cs typeface="Arial MT"/>
              </a:rPr>
              <a:t>(low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task–low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relationship):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The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leader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provides </a:t>
            </a:r>
            <a:r>
              <a:rPr b="0" spc="-5" dirty="0">
                <a:latin typeface="Arial MT"/>
                <a:cs typeface="Arial MT"/>
              </a:rPr>
              <a:t>little </a:t>
            </a:r>
            <a:r>
              <a:rPr b="0" spc="-595" dirty="0">
                <a:latin typeface="Arial MT"/>
                <a:cs typeface="Arial MT"/>
              </a:rPr>
              <a:t> </a:t>
            </a:r>
            <a:r>
              <a:rPr b="0" spc="-5" dirty="0">
                <a:latin typeface="Arial MT"/>
                <a:cs typeface="Arial MT"/>
              </a:rPr>
              <a:t>direction </a:t>
            </a:r>
            <a:r>
              <a:rPr b="0" dirty="0">
                <a:latin typeface="Arial MT"/>
                <a:cs typeface="Arial MT"/>
              </a:rPr>
              <a:t>or</a:t>
            </a:r>
            <a:r>
              <a:rPr b="0" spc="-5" dirty="0">
                <a:latin typeface="Arial MT"/>
                <a:cs typeface="Arial MT"/>
              </a:rPr>
              <a:t> support.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7793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Contingency theories</a:t>
            </a:r>
            <a:r>
              <a:rPr sz="3200" dirty="0"/>
              <a:t> – </a:t>
            </a:r>
            <a:r>
              <a:rPr sz="3200" spc="-5" dirty="0"/>
              <a:t>Path-goal 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31564" y="1142857"/>
            <a:ext cx="8044815" cy="54965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5080" indent="-342900">
              <a:lnSpc>
                <a:spcPct val="139800"/>
              </a:lnSpc>
              <a:spcBef>
                <a:spcPts val="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Path-goal theory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 a leadership </a:t>
            </a:r>
            <a:r>
              <a:rPr sz="2400" spc="-5" dirty="0">
                <a:latin typeface="Arial MT"/>
                <a:cs typeface="Arial MT"/>
              </a:rPr>
              <a:t>theory that </a:t>
            </a:r>
            <a:r>
              <a:rPr sz="2400" dirty="0">
                <a:latin typeface="Arial MT"/>
                <a:cs typeface="Arial MT"/>
              </a:rPr>
              <a:t>says</a:t>
            </a:r>
            <a:r>
              <a:rPr sz="2400" spc="-5" dirty="0">
                <a:latin typeface="Arial MT"/>
                <a:cs typeface="Arial MT"/>
              </a:rPr>
              <a:t>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leader’s </a:t>
            </a:r>
            <a:r>
              <a:rPr sz="2400" dirty="0">
                <a:latin typeface="Arial MT"/>
                <a:cs typeface="Arial MT"/>
              </a:rPr>
              <a:t>job is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assist </a:t>
            </a:r>
            <a:r>
              <a:rPr sz="2400" spc="-5" dirty="0">
                <a:latin typeface="Arial MT"/>
                <a:cs typeface="Arial MT"/>
              </a:rPr>
              <a:t>followers </a:t>
            </a:r>
            <a:r>
              <a:rPr sz="2400" dirty="0">
                <a:latin typeface="Arial MT"/>
                <a:cs typeface="Arial MT"/>
              </a:rPr>
              <a:t>in </a:t>
            </a:r>
            <a:r>
              <a:rPr sz="2400" spc="-5" dirty="0">
                <a:latin typeface="Arial MT"/>
                <a:cs typeface="Arial MT"/>
              </a:rPr>
              <a:t>attaining their </a:t>
            </a:r>
            <a:r>
              <a:rPr sz="2400" dirty="0">
                <a:latin typeface="Arial MT"/>
                <a:cs typeface="Arial MT"/>
              </a:rPr>
              <a:t>goals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provide </a:t>
            </a:r>
            <a:r>
              <a:rPr sz="2400" spc="-5" dirty="0">
                <a:latin typeface="Arial MT"/>
                <a:cs typeface="Arial MT"/>
              </a:rPr>
              <a:t>direction </a:t>
            </a:r>
            <a:r>
              <a:rPr sz="2400" dirty="0">
                <a:latin typeface="Arial MT"/>
                <a:cs typeface="Arial MT"/>
              </a:rPr>
              <a:t>or support needed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ensure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6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their </a:t>
            </a:r>
            <a:r>
              <a:rPr sz="2400" dirty="0">
                <a:latin typeface="Arial MT"/>
                <a:cs typeface="Arial MT"/>
              </a:rPr>
              <a:t>goals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 </a:t>
            </a:r>
            <a:r>
              <a:rPr sz="2400" spc="-5" dirty="0">
                <a:latin typeface="Arial MT"/>
                <a:cs typeface="Arial MT"/>
              </a:rPr>
              <a:t>compatible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goals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the</a:t>
            </a:r>
            <a:r>
              <a:rPr sz="2400" dirty="0">
                <a:latin typeface="Arial MT"/>
                <a:cs typeface="Arial MT"/>
              </a:rPr>
              <a:t> group 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organization.</a:t>
            </a:r>
            <a:endParaRPr sz="24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1700"/>
              </a:spcBef>
            </a:pPr>
            <a:r>
              <a:rPr sz="2400" spc="-5" dirty="0">
                <a:latin typeface="Arial MT"/>
                <a:cs typeface="Arial MT"/>
              </a:rPr>
              <a:t>The theory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identified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leadership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behaviors:</a:t>
            </a:r>
            <a:endParaRPr sz="2400">
              <a:latin typeface="Arial MT"/>
              <a:cs typeface="Arial MT"/>
            </a:endParaRPr>
          </a:p>
          <a:p>
            <a:pPr marL="1035050" lvl="1" indent="-337185">
              <a:lnSpc>
                <a:spcPct val="100000"/>
              </a:lnSpc>
              <a:spcBef>
                <a:spcPts val="1720"/>
              </a:spcBef>
              <a:buFont typeface="Wingdings"/>
              <a:buChar char=""/>
              <a:tabLst>
                <a:tab pos="1035050" algn="l"/>
              </a:tabLst>
            </a:pPr>
            <a:r>
              <a:rPr sz="2400" i="1" spc="-5" dirty="0">
                <a:latin typeface="Arial"/>
                <a:cs typeface="Arial"/>
              </a:rPr>
              <a:t>Directive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leader</a:t>
            </a:r>
            <a:endParaRPr sz="2400">
              <a:latin typeface="Arial"/>
              <a:cs typeface="Arial"/>
            </a:endParaRPr>
          </a:p>
          <a:p>
            <a:pPr marL="990600" lvl="1" indent="-292735">
              <a:lnSpc>
                <a:spcPct val="100000"/>
              </a:lnSpc>
              <a:spcBef>
                <a:spcPts val="1720"/>
              </a:spcBef>
              <a:buFont typeface="Wingdings"/>
              <a:buChar char=""/>
              <a:tabLst>
                <a:tab pos="990600" algn="l"/>
              </a:tabLst>
            </a:pPr>
            <a:r>
              <a:rPr sz="2400" i="1" spc="-5" dirty="0">
                <a:latin typeface="Arial"/>
                <a:cs typeface="Arial"/>
              </a:rPr>
              <a:t>Supportive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leader</a:t>
            </a:r>
            <a:endParaRPr sz="2400">
              <a:latin typeface="Arial"/>
              <a:cs typeface="Arial"/>
            </a:endParaRPr>
          </a:p>
          <a:p>
            <a:pPr marL="990600" lvl="1" indent="-292735">
              <a:lnSpc>
                <a:spcPct val="100000"/>
              </a:lnSpc>
              <a:spcBef>
                <a:spcPts val="1720"/>
              </a:spcBef>
              <a:buFont typeface="Wingdings"/>
              <a:buChar char=""/>
              <a:tabLst>
                <a:tab pos="990600" algn="l"/>
              </a:tabLst>
            </a:pPr>
            <a:r>
              <a:rPr sz="2400" i="1" spc="-5" dirty="0">
                <a:latin typeface="Arial"/>
                <a:cs typeface="Arial"/>
              </a:rPr>
              <a:t>Participative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leader</a:t>
            </a:r>
            <a:endParaRPr sz="2400">
              <a:latin typeface="Arial"/>
              <a:cs typeface="Arial"/>
            </a:endParaRPr>
          </a:p>
          <a:p>
            <a:pPr marL="990600" lvl="1" indent="-292735">
              <a:lnSpc>
                <a:spcPct val="100000"/>
              </a:lnSpc>
              <a:spcBef>
                <a:spcPts val="1720"/>
              </a:spcBef>
              <a:buFont typeface="Wingdings"/>
              <a:buChar char=""/>
              <a:tabLst>
                <a:tab pos="990600" algn="l"/>
              </a:tabLst>
            </a:pPr>
            <a:r>
              <a:rPr sz="2400" i="1" spc="-5" dirty="0">
                <a:latin typeface="Arial"/>
                <a:cs typeface="Arial"/>
              </a:rPr>
              <a:t>Achievement-oriented </a:t>
            </a:r>
            <a:r>
              <a:rPr sz="2400" i="1" dirty="0">
                <a:latin typeface="Arial"/>
                <a:cs typeface="Arial"/>
              </a:rPr>
              <a:t>leader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7793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Contingency theories</a:t>
            </a:r>
            <a:r>
              <a:rPr sz="3200" dirty="0"/>
              <a:t> – </a:t>
            </a:r>
            <a:r>
              <a:rPr sz="3200" spc="-5" dirty="0"/>
              <a:t>Path-goal 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31564" y="1285097"/>
            <a:ext cx="277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Path-goal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theory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40" y="1691505"/>
            <a:ext cx="7592715" cy="46627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7793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Contingency theories</a:t>
            </a:r>
            <a:r>
              <a:rPr sz="3200" dirty="0"/>
              <a:t> – </a:t>
            </a:r>
            <a:r>
              <a:rPr sz="3200" spc="-5" dirty="0"/>
              <a:t>Path-goal model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117" y="1500953"/>
            <a:ext cx="8456676" cy="45027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0233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Contemporary</a:t>
            </a:r>
            <a:r>
              <a:rPr sz="3200" spc="-40" dirty="0"/>
              <a:t> </a:t>
            </a:r>
            <a:r>
              <a:rPr sz="3200" spc="-5" dirty="0"/>
              <a:t>views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39" y="1653524"/>
            <a:ext cx="7900034" cy="199643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Leader-member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exchange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theory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(LMX) </a:t>
            </a:r>
            <a:r>
              <a:rPr sz="2600" b="1" dirty="0">
                <a:latin typeface="Arial"/>
                <a:cs typeface="Arial"/>
              </a:rPr>
              <a:t>– </a:t>
            </a:r>
            <a:r>
              <a:rPr sz="2600" dirty="0">
                <a:latin typeface="Arial MT"/>
                <a:cs typeface="Arial MT"/>
              </a:rPr>
              <a:t>the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leadership </a:t>
            </a:r>
            <a:r>
              <a:rPr sz="2600" spc="-5" dirty="0">
                <a:latin typeface="Arial MT"/>
                <a:cs typeface="Arial MT"/>
              </a:rPr>
              <a:t>theory that </a:t>
            </a:r>
            <a:r>
              <a:rPr sz="2600" dirty="0">
                <a:latin typeface="Arial MT"/>
                <a:cs typeface="Arial MT"/>
              </a:rPr>
              <a:t>says leaders </a:t>
            </a:r>
            <a:r>
              <a:rPr sz="2600" spc="-5" dirty="0">
                <a:latin typeface="Arial MT"/>
                <a:cs typeface="Arial MT"/>
              </a:rPr>
              <a:t>create </a:t>
            </a:r>
            <a:r>
              <a:rPr sz="2600" dirty="0">
                <a:latin typeface="Arial MT"/>
                <a:cs typeface="Arial MT"/>
              </a:rPr>
              <a:t>in-groups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5" dirty="0">
                <a:latin typeface="Arial MT"/>
                <a:cs typeface="Arial MT"/>
              </a:rPr>
              <a:t>out-groups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5" dirty="0">
                <a:latin typeface="Arial MT"/>
                <a:cs typeface="Arial MT"/>
              </a:rPr>
              <a:t>those </a:t>
            </a:r>
            <a:r>
              <a:rPr sz="2600" dirty="0">
                <a:latin typeface="Arial MT"/>
                <a:cs typeface="Arial MT"/>
              </a:rPr>
              <a:t>in </a:t>
            </a:r>
            <a:r>
              <a:rPr sz="2600" spc="-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in-group will have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higher </a:t>
            </a:r>
            <a:r>
              <a:rPr sz="2600" spc="-5" dirty="0">
                <a:latin typeface="Arial MT"/>
                <a:cs typeface="Arial MT"/>
              </a:rPr>
              <a:t>performance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ratings,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less </a:t>
            </a:r>
            <a:r>
              <a:rPr sz="2600" spc="-20" dirty="0">
                <a:latin typeface="Arial MT"/>
                <a:cs typeface="Arial MT"/>
              </a:rPr>
              <a:t>turnover,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greater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job</a:t>
            </a:r>
            <a:r>
              <a:rPr sz="2600" spc="-5" dirty="0">
                <a:latin typeface="Arial MT"/>
                <a:cs typeface="Arial MT"/>
              </a:rPr>
              <a:t> satisfaction.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0233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Contemporary</a:t>
            </a:r>
            <a:r>
              <a:rPr sz="3200" spc="-40" dirty="0"/>
              <a:t> </a:t>
            </a:r>
            <a:r>
              <a:rPr sz="3200" spc="-5" dirty="0"/>
              <a:t>views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39" y="1653524"/>
            <a:ext cx="7479030" cy="266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280035" indent="-457200">
              <a:lnSpc>
                <a:spcPct val="997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15" dirty="0">
                <a:latin typeface="Arial"/>
                <a:cs typeface="Arial"/>
              </a:rPr>
              <a:t>Transactional </a:t>
            </a:r>
            <a:r>
              <a:rPr sz="2800" b="1" spc="-5" dirty="0">
                <a:latin typeface="Arial"/>
                <a:cs typeface="Arial"/>
              </a:rPr>
              <a:t>leaders </a:t>
            </a:r>
            <a:r>
              <a:rPr sz="2800" dirty="0">
                <a:latin typeface="Arial MT"/>
                <a:cs typeface="Arial MT"/>
              </a:rPr>
              <a:t>– leaders who lead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primarily by using social exchanges (or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transactions).</a:t>
            </a:r>
            <a:endParaRPr sz="2800">
              <a:latin typeface="Arial MT"/>
              <a:cs typeface="Arial MT"/>
            </a:endParaRPr>
          </a:p>
          <a:p>
            <a:pPr marL="469900" marR="5080" indent="-457200">
              <a:lnSpc>
                <a:spcPct val="100099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15" dirty="0">
                <a:latin typeface="Arial"/>
                <a:cs typeface="Arial"/>
              </a:rPr>
              <a:t>Transformational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leaders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leaders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stimulate</a:t>
            </a:r>
            <a:r>
              <a:rPr sz="2800" dirty="0">
                <a:latin typeface="Arial MT"/>
                <a:cs typeface="Arial MT"/>
              </a:rPr>
              <a:t>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inspire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(transform)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followers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achieve </a:t>
            </a:r>
            <a:r>
              <a:rPr sz="2800" spc="-5" dirty="0">
                <a:latin typeface="Arial MT"/>
                <a:cs typeface="Arial MT"/>
              </a:rPr>
              <a:t>extraordinary outcomes.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0233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Contemporary</a:t>
            </a:r>
            <a:r>
              <a:rPr sz="3200" spc="-40" dirty="0"/>
              <a:t> </a:t>
            </a:r>
            <a:r>
              <a:rPr sz="3200" spc="-5" dirty="0"/>
              <a:t>views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39" y="1653524"/>
            <a:ext cx="7994015" cy="309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122555" indent="-457200">
              <a:lnSpc>
                <a:spcPct val="997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Charismatic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leader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an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enthusiastic,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self-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confident </a:t>
            </a:r>
            <a:r>
              <a:rPr sz="2800" dirty="0">
                <a:latin typeface="Arial MT"/>
                <a:cs typeface="Arial MT"/>
              </a:rPr>
              <a:t>leader whose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personality</a:t>
            </a:r>
            <a:r>
              <a:rPr sz="2800" dirty="0">
                <a:latin typeface="Arial MT"/>
                <a:cs typeface="Arial MT"/>
              </a:rPr>
              <a:t> and </a:t>
            </a:r>
            <a:r>
              <a:rPr sz="2800" spc="-5" dirty="0">
                <a:latin typeface="Arial MT"/>
                <a:cs typeface="Arial MT"/>
              </a:rPr>
              <a:t>actions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influence </a:t>
            </a:r>
            <a:r>
              <a:rPr sz="2800" dirty="0">
                <a:latin typeface="Arial MT"/>
                <a:cs typeface="Arial MT"/>
              </a:rPr>
              <a:t>people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behave in</a:t>
            </a:r>
            <a:r>
              <a:rPr sz="2800" spc="-5" dirty="0">
                <a:latin typeface="Arial MT"/>
                <a:cs typeface="Arial MT"/>
              </a:rPr>
              <a:t> certain</a:t>
            </a:r>
            <a:r>
              <a:rPr sz="2800" dirty="0">
                <a:latin typeface="Arial MT"/>
                <a:cs typeface="Arial MT"/>
              </a:rPr>
              <a:t> ways.</a:t>
            </a:r>
            <a:endParaRPr sz="2800">
              <a:latin typeface="Arial MT"/>
              <a:cs typeface="Arial MT"/>
            </a:endParaRPr>
          </a:p>
          <a:p>
            <a:pPr marL="469900" marR="5080" indent="-457200">
              <a:lnSpc>
                <a:spcPct val="100499"/>
              </a:lnSpc>
              <a:spcBef>
                <a:spcPts val="59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10" dirty="0">
                <a:latin typeface="Arial"/>
                <a:cs typeface="Arial"/>
              </a:rPr>
              <a:t>Visionary</a:t>
            </a:r>
            <a:r>
              <a:rPr sz="2800" b="1" spc="1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leadership</a:t>
            </a:r>
            <a:r>
              <a:rPr sz="2800" b="1" spc="1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1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ability</a:t>
            </a:r>
            <a:r>
              <a:rPr sz="2800" spc="114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114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 </a:t>
            </a:r>
            <a:r>
              <a:rPr sz="2800" dirty="0">
                <a:latin typeface="Arial MT"/>
                <a:cs typeface="Arial MT"/>
              </a:rPr>
              <a:t> and </a:t>
            </a:r>
            <a:r>
              <a:rPr sz="2800" spc="-5" dirty="0">
                <a:latin typeface="Arial MT"/>
                <a:cs typeface="Arial MT"/>
              </a:rPr>
              <a:t>articulate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 </a:t>
            </a:r>
            <a:r>
              <a:rPr sz="2800" spc="-5" dirty="0">
                <a:latin typeface="Arial MT"/>
                <a:cs typeface="Arial MT"/>
              </a:rPr>
              <a:t>realistic,</a:t>
            </a:r>
            <a:r>
              <a:rPr sz="2800" dirty="0">
                <a:latin typeface="Arial MT"/>
                <a:cs typeface="Arial MT"/>
              </a:rPr>
              <a:t> credible, and </a:t>
            </a:r>
            <a:r>
              <a:rPr sz="2800" spc="-5" dirty="0">
                <a:latin typeface="Arial MT"/>
                <a:cs typeface="Arial MT"/>
              </a:rPr>
              <a:t>attractive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vision of </a:t>
            </a:r>
            <a:r>
              <a:rPr sz="2800" spc="-5" dirty="0">
                <a:latin typeface="Arial MT"/>
                <a:cs typeface="Arial MT"/>
              </a:rPr>
              <a:t>the future that </a:t>
            </a:r>
            <a:r>
              <a:rPr sz="2800" dirty="0">
                <a:latin typeface="Arial MT"/>
                <a:cs typeface="Arial MT"/>
              </a:rPr>
              <a:t>improves upon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 present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situation.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088435"/>
            <a:ext cx="33921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7.3</a:t>
            </a:r>
            <a:r>
              <a:rPr sz="3400" spc="-70" dirty="0">
                <a:solidFill>
                  <a:srgbClr val="376092"/>
                </a:solidFill>
              </a:rPr>
              <a:t> </a:t>
            </a:r>
            <a:r>
              <a:rPr sz="3400" spc="-55" dirty="0">
                <a:solidFill>
                  <a:srgbClr val="376092"/>
                </a:solidFill>
              </a:rPr>
              <a:t>MOTIVATION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454044"/>
            <a:ext cx="4271765" cy="27767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637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What</a:t>
            </a:r>
            <a:r>
              <a:rPr sz="3200" spc="-35" dirty="0"/>
              <a:t> </a:t>
            </a:r>
            <a:r>
              <a:rPr sz="3200" spc="-5" dirty="0"/>
              <a:t>is</a:t>
            </a:r>
            <a:r>
              <a:rPr sz="3200" spc="-25" dirty="0"/>
              <a:t> </a:t>
            </a:r>
            <a:r>
              <a:rPr sz="3200" spc="-5" dirty="0"/>
              <a:t>motivation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74484" y="1436989"/>
            <a:ext cx="8134984" cy="33604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4965" marR="624205" indent="-342900">
              <a:lnSpc>
                <a:spcPts val="3800"/>
              </a:lnSpc>
              <a:spcBef>
                <a:spcPts val="260"/>
              </a:spcBef>
            </a:pPr>
            <a:r>
              <a:rPr sz="3200" b="1" spc="-5" dirty="0">
                <a:latin typeface="Arial"/>
                <a:cs typeface="Arial"/>
              </a:rPr>
              <a:t>Motivation </a:t>
            </a:r>
            <a:r>
              <a:rPr sz="3200" dirty="0">
                <a:latin typeface="Arial MT"/>
                <a:cs typeface="Arial MT"/>
              </a:rPr>
              <a:t>– </a:t>
            </a: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process by which a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person’s efforts </a:t>
            </a:r>
            <a:r>
              <a:rPr sz="3200" dirty="0">
                <a:latin typeface="Arial MT"/>
                <a:cs typeface="Arial MT"/>
              </a:rPr>
              <a:t>are energized, </a:t>
            </a:r>
            <a:r>
              <a:rPr sz="3200" spc="-5" dirty="0">
                <a:latin typeface="Arial MT"/>
                <a:cs typeface="Arial MT"/>
              </a:rPr>
              <a:t>directed,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 </a:t>
            </a:r>
            <a:r>
              <a:rPr sz="3200" spc="-5" dirty="0">
                <a:latin typeface="Arial MT"/>
                <a:cs typeface="Arial MT"/>
              </a:rPr>
              <a:t>sustained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toward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attaining</a:t>
            </a:r>
            <a:r>
              <a:rPr sz="3200" dirty="0">
                <a:latin typeface="Arial MT"/>
                <a:cs typeface="Arial MT"/>
              </a:rPr>
              <a:t> a goal.</a:t>
            </a:r>
            <a:endParaRPr sz="3200">
              <a:latin typeface="Arial MT"/>
              <a:cs typeface="Arial MT"/>
            </a:endParaRPr>
          </a:p>
          <a:p>
            <a:pPr marL="926465" marR="327660" indent="-457200">
              <a:lnSpc>
                <a:spcPts val="3329"/>
              </a:lnSpc>
              <a:spcBef>
                <a:spcPts val="745"/>
              </a:spcBef>
              <a:buFont typeface="Wingdings"/>
              <a:buChar char=""/>
              <a:tabLst>
                <a:tab pos="926465" algn="l"/>
                <a:tab pos="927100" algn="l"/>
              </a:tabLst>
            </a:pPr>
            <a:r>
              <a:rPr sz="2800" b="1" i="1" spc="-5" dirty="0">
                <a:latin typeface="Arial"/>
                <a:cs typeface="Arial"/>
              </a:rPr>
              <a:t>Energy </a:t>
            </a:r>
            <a:r>
              <a:rPr sz="2800" dirty="0">
                <a:latin typeface="Arial MT"/>
                <a:cs typeface="Arial MT"/>
              </a:rPr>
              <a:t>is a measure of </a:t>
            </a:r>
            <a:r>
              <a:rPr sz="2800" spc="-25" dirty="0">
                <a:latin typeface="Arial MT"/>
                <a:cs typeface="Arial MT"/>
              </a:rPr>
              <a:t>intensity, </a:t>
            </a:r>
            <a:r>
              <a:rPr sz="2800" dirty="0">
                <a:latin typeface="Arial MT"/>
                <a:cs typeface="Arial MT"/>
              </a:rPr>
              <a:t>drive, and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vigor</a:t>
            </a:r>
            <a:endParaRPr sz="2800">
              <a:latin typeface="Arial MT"/>
              <a:cs typeface="Arial MT"/>
            </a:endParaRPr>
          </a:p>
          <a:p>
            <a:pPr marL="926465" marR="5080" indent="-457200">
              <a:lnSpc>
                <a:spcPts val="3329"/>
              </a:lnSpc>
              <a:spcBef>
                <a:spcPts val="735"/>
              </a:spcBef>
              <a:buFont typeface="Wingdings"/>
              <a:buChar char=""/>
              <a:tabLst>
                <a:tab pos="926465" algn="l"/>
                <a:tab pos="927100" algn="l"/>
              </a:tabLst>
            </a:pPr>
            <a:r>
              <a:rPr sz="2800" b="1" spc="-5" dirty="0">
                <a:latin typeface="Arial"/>
                <a:cs typeface="Arial"/>
              </a:rPr>
              <a:t>Effort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channeled 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Arial"/>
                <a:cs typeface="Arial"/>
              </a:rPr>
              <a:t>direction </a:t>
            </a:r>
            <a:r>
              <a:rPr sz="2800" spc="-5" dirty="0">
                <a:latin typeface="Arial MT"/>
                <a:cs typeface="Arial MT"/>
              </a:rPr>
              <a:t>that benefits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organization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42703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32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role</a:t>
            </a: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sz="32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motivation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1196210"/>
            <a:ext cx="57346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FF0000"/>
                </a:solidFill>
                <a:latin typeface="Arial MT"/>
                <a:cs typeface="Arial MT"/>
              </a:rPr>
              <a:t>Why</a:t>
            </a:r>
            <a:r>
              <a:rPr sz="26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employees</a:t>
            </a:r>
            <a:r>
              <a:rPr sz="26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26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Arial MT"/>
                <a:cs typeface="Arial MT"/>
              </a:rPr>
              <a:t>to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26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Arial MT"/>
                <a:cs typeface="Arial MT"/>
              </a:rPr>
              <a:t>motivated?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029" y="1901855"/>
            <a:ext cx="3771898" cy="2158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6741" y="4241327"/>
            <a:ext cx="3945472" cy="21589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6741" y="1901856"/>
            <a:ext cx="3906184" cy="2158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0029" y="4223461"/>
            <a:ext cx="3771898" cy="217686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517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Motivation</a:t>
            </a:r>
            <a:r>
              <a:rPr spc="-45" dirty="0"/>
              <a:t> </a:t>
            </a:r>
            <a:r>
              <a:rPr spc="-5" dirty="0"/>
              <a:t>theories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25389" y="976396"/>
            <a:ext cx="1731645" cy="5570220"/>
            <a:chOff x="1025389" y="976396"/>
            <a:chExt cx="1731645" cy="5570220"/>
          </a:xfrm>
        </p:grpSpPr>
        <p:sp>
          <p:nvSpPr>
            <p:cNvPr id="5" name="object 5"/>
            <p:cNvSpPr/>
            <p:nvPr/>
          </p:nvSpPr>
          <p:spPr>
            <a:xfrm>
              <a:off x="2091523" y="3761291"/>
              <a:ext cx="623570" cy="1638935"/>
            </a:xfrm>
            <a:custGeom>
              <a:avLst/>
              <a:gdLst/>
              <a:ahLst/>
              <a:cxnLst/>
              <a:rect l="l" t="t" r="r" b="b"/>
              <a:pathLst>
                <a:path w="623569" h="1638935">
                  <a:moveTo>
                    <a:pt x="0" y="0"/>
                  </a:moveTo>
                  <a:lnTo>
                    <a:pt x="311646" y="0"/>
                  </a:lnTo>
                  <a:lnTo>
                    <a:pt x="311646" y="1638534"/>
                  </a:lnTo>
                  <a:lnTo>
                    <a:pt x="623294" y="1638534"/>
                  </a:lnTo>
                </a:path>
              </a:pathLst>
            </a:custGeom>
            <a:ln w="25399">
              <a:solidFill>
                <a:srgbClr val="AAC4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1523" y="2505129"/>
              <a:ext cx="652780" cy="1256665"/>
            </a:xfrm>
            <a:custGeom>
              <a:avLst/>
              <a:gdLst/>
              <a:ahLst/>
              <a:cxnLst/>
              <a:rect l="l" t="t" r="r" b="b"/>
              <a:pathLst>
                <a:path w="652780" h="1256664">
                  <a:moveTo>
                    <a:pt x="0" y="1256162"/>
                  </a:moveTo>
                  <a:lnTo>
                    <a:pt x="326279" y="1256162"/>
                  </a:lnTo>
                  <a:lnTo>
                    <a:pt x="326279" y="0"/>
                  </a:lnTo>
                  <a:lnTo>
                    <a:pt x="652560" y="0"/>
                  </a:lnTo>
                </a:path>
              </a:pathLst>
            </a:custGeom>
            <a:ln w="25399">
              <a:solidFill>
                <a:srgbClr val="AAC4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8089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4" h="5544820">
                  <a:moveTo>
                    <a:pt x="1053433" y="0"/>
                  </a:moveTo>
                  <a:lnTo>
                    <a:pt x="0" y="0"/>
                  </a:lnTo>
                  <a:lnTo>
                    <a:pt x="0" y="5544392"/>
                  </a:lnTo>
                  <a:lnTo>
                    <a:pt x="1053433" y="5544392"/>
                  </a:lnTo>
                  <a:lnTo>
                    <a:pt x="1053433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8089" y="989096"/>
              <a:ext cx="1053465" cy="5544820"/>
            </a:xfrm>
            <a:custGeom>
              <a:avLst/>
              <a:gdLst/>
              <a:ahLst/>
              <a:cxnLst/>
              <a:rect l="l" t="t" r="r" b="b"/>
              <a:pathLst>
                <a:path w="1053464" h="5544820">
                  <a:moveTo>
                    <a:pt x="0" y="5544392"/>
                  </a:moveTo>
                  <a:lnTo>
                    <a:pt x="0" y="0"/>
                  </a:lnTo>
                  <a:lnTo>
                    <a:pt x="1053433" y="0"/>
                  </a:lnTo>
                  <a:lnTo>
                    <a:pt x="1053433" y="5544392"/>
                  </a:lnTo>
                  <a:lnTo>
                    <a:pt x="0" y="5544392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4447" y="1034027"/>
            <a:ext cx="831850" cy="5448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090"/>
              </a:lnSpc>
            </a:pPr>
            <a:r>
              <a:rPr sz="5200" spc="-10" dirty="0">
                <a:solidFill>
                  <a:srgbClr val="FFFFFF"/>
                </a:solidFill>
                <a:latin typeface="Calibri"/>
                <a:cs typeface="Calibri"/>
              </a:rPr>
              <a:t>Motivation</a:t>
            </a:r>
            <a:r>
              <a:rPr sz="5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200" spc="-5" dirty="0">
                <a:solidFill>
                  <a:srgbClr val="FFFFFF"/>
                </a:solidFill>
                <a:latin typeface="Calibri"/>
                <a:cs typeface="Calibri"/>
              </a:rPr>
              <a:t>Theories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31385" y="1005327"/>
            <a:ext cx="4999990" cy="2999740"/>
            <a:chOff x="2731385" y="1005327"/>
            <a:chExt cx="4999990" cy="2999740"/>
          </a:xfrm>
        </p:grpSpPr>
        <p:sp>
          <p:nvSpPr>
            <p:cNvPr id="11" name="object 11"/>
            <p:cNvSpPr/>
            <p:nvPr/>
          </p:nvSpPr>
          <p:spPr>
            <a:xfrm>
              <a:off x="2744085" y="1018026"/>
              <a:ext cx="4974590" cy="2974340"/>
            </a:xfrm>
            <a:custGeom>
              <a:avLst/>
              <a:gdLst/>
              <a:ahLst/>
              <a:cxnLst/>
              <a:rect l="l" t="t" r="r" b="b"/>
              <a:pathLst>
                <a:path w="4974590" h="2974340">
                  <a:moveTo>
                    <a:pt x="4974338" y="0"/>
                  </a:moveTo>
                  <a:lnTo>
                    <a:pt x="0" y="0"/>
                  </a:lnTo>
                  <a:lnTo>
                    <a:pt x="0" y="2974202"/>
                  </a:lnTo>
                  <a:lnTo>
                    <a:pt x="4974338" y="2974202"/>
                  </a:lnTo>
                  <a:lnTo>
                    <a:pt x="4974338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4085" y="1018027"/>
              <a:ext cx="4974590" cy="2974340"/>
            </a:xfrm>
            <a:custGeom>
              <a:avLst/>
              <a:gdLst/>
              <a:ahLst/>
              <a:cxnLst/>
              <a:rect l="l" t="t" r="r" b="b"/>
              <a:pathLst>
                <a:path w="4974590" h="2974340">
                  <a:moveTo>
                    <a:pt x="0" y="0"/>
                  </a:moveTo>
                  <a:lnTo>
                    <a:pt x="4974337" y="0"/>
                  </a:lnTo>
                  <a:lnTo>
                    <a:pt x="4974337" y="2974202"/>
                  </a:lnTo>
                  <a:lnTo>
                    <a:pt x="0" y="297420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45355" y="1388798"/>
            <a:ext cx="4663440" cy="21209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b="1" spc="-5" dirty="0">
                <a:latin typeface="Arial"/>
                <a:cs typeface="Arial"/>
              </a:rPr>
              <a:t>Early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motivation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theories</a:t>
            </a:r>
            <a:endParaRPr sz="2200">
              <a:latin typeface="Arial"/>
              <a:cs typeface="Arial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Maslow’s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Hierarchy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Needs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dirty="0">
                <a:latin typeface="Arial MT"/>
                <a:cs typeface="Arial MT"/>
              </a:rPr>
              <a:t>McGregor’s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 </a:t>
            </a:r>
            <a:r>
              <a:rPr sz="2200" dirty="0">
                <a:latin typeface="Arial MT"/>
                <a:cs typeface="Arial MT"/>
              </a:rPr>
              <a:t>X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</a:t>
            </a:r>
            <a:r>
              <a:rPr sz="2200" spc="-5" dirty="0">
                <a:latin typeface="Arial MT"/>
                <a:cs typeface="Arial MT"/>
              </a:rPr>
              <a:t>theory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</a:t>
            </a:r>
            <a:endParaRPr sz="2200">
              <a:latin typeface="Arial MT"/>
              <a:cs typeface="Arial MT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Herzberg’s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Two-factor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  <a:p>
            <a:pPr marL="177800" indent="-165735">
              <a:lnSpc>
                <a:spcPct val="100000"/>
              </a:lnSpc>
              <a:spcBef>
                <a:spcPts val="660"/>
              </a:spcBef>
              <a:buChar char="-"/>
              <a:tabLst>
                <a:tab pos="178435" algn="l"/>
              </a:tabLst>
            </a:pPr>
            <a:r>
              <a:rPr sz="2200" spc="-5" dirty="0">
                <a:latin typeface="Arial MT"/>
                <a:cs typeface="Arial MT"/>
              </a:rPr>
              <a:t>Three-needs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02119" y="4248043"/>
            <a:ext cx="5044440" cy="2303780"/>
            <a:chOff x="2702119" y="4248043"/>
            <a:chExt cx="5044440" cy="2303780"/>
          </a:xfrm>
        </p:grpSpPr>
        <p:sp>
          <p:nvSpPr>
            <p:cNvPr id="15" name="object 15"/>
            <p:cNvSpPr/>
            <p:nvPr/>
          </p:nvSpPr>
          <p:spPr>
            <a:xfrm>
              <a:off x="2714819" y="4260743"/>
              <a:ext cx="5019040" cy="2278380"/>
            </a:xfrm>
            <a:custGeom>
              <a:avLst/>
              <a:gdLst/>
              <a:ahLst/>
              <a:cxnLst/>
              <a:rect l="l" t="t" r="r" b="b"/>
              <a:pathLst>
                <a:path w="5019040" h="2278379">
                  <a:moveTo>
                    <a:pt x="5018530" y="0"/>
                  </a:moveTo>
                  <a:lnTo>
                    <a:pt x="0" y="0"/>
                  </a:lnTo>
                  <a:lnTo>
                    <a:pt x="0" y="2278167"/>
                  </a:lnTo>
                  <a:lnTo>
                    <a:pt x="5018530" y="2278167"/>
                  </a:lnTo>
                  <a:lnTo>
                    <a:pt x="5018530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4819" y="4260743"/>
              <a:ext cx="5019040" cy="2278380"/>
            </a:xfrm>
            <a:custGeom>
              <a:avLst/>
              <a:gdLst/>
              <a:ahLst/>
              <a:cxnLst/>
              <a:rect l="l" t="t" r="r" b="b"/>
              <a:pathLst>
                <a:path w="5019040" h="2278379">
                  <a:moveTo>
                    <a:pt x="0" y="0"/>
                  </a:moveTo>
                  <a:lnTo>
                    <a:pt x="5018530" y="0"/>
                  </a:lnTo>
                  <a:lnTo>
                    <a:pt x="5018530" y="2278167"/>
                  </a:lnTo>
                  <a:lnTo>
                    <a:pt x="0" y="227816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16088" y="4283497"/>
            <a:ext cx="3100070" cy="21209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b="1" spc="-5" dirty="0">
                <a:latin typeface="Arial"/>
                <a:cs typeface="Arial"/>
              </a:rPr>
              <a:t>Contemporary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theories</a:t>
            </a:r>
            <a:endParaRPr sz="2200">
              <a:latin typeface="Arial"/>
              <a:cs typeface="Arial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Goal-setting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Reinforcement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Equity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  <a:p>
            <a:pPr marL="182880" indent="-170815">
              <a:lnSpc>
                <a:spcPct val="100000"/>
              </a:lnSpc>
              <a:spcBef>
                <a:spcPts val="660"/>
              </a:spcBef>
              <a:buChar char="-"/>
              <a:tabLst>
                <a:tab pos="183515" algn="l"/>
              </a:tabLst>
            </a:pPr>
            <a:r>
              <a:rPr sz="2200" spc="-5" dirty="0">
                <a:latin typeface="Arial MT"/>
                <a:cs typeface="Arial MT"/>
              </a:rPr>
              <a:t>Expectation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theory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69894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Maslow’s</a:t>
            </a:r>
            <a:r>
              <a:rPr sz="3200" dirty="0"/>
              <a:t> </a:t>
            </a:r>
            <a:r>
              <a:rPr sz="3200" spc="-5" dirty="0"/>
              <a:t>Hierarchy</a:t>
            </a:r>
            <a:r>
              <a:rPr sz="3200" dirty="0"/>
              <a:t> </a:t>
            </a:r>
            <a:r>
              <a:rPr sz="3200" spc="-5" dirty="0"/>
              <a:t>of Needs</a:t>
            </a:r>
            <a:r>
              <a:rPr sz="3200" dirty="0"/>
              <a:t> </a:t>
            </a:r>
            <a:r>
              <a:rPr sz="3200" spc="-5" dirty="0"/>
              <a:t>theory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199" y="1651001"/>
            <a:ext cx="6121399" cy="41655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67757" y="5602546"/>
            <a:ext cx="456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Source:</a:t>
            </a:r>
            <a:r>
              <a:rPr sz="1800" i="1" spc="-15" dirty="0">
                <a:latin typeface="Arial"/>
                <a:cs typeface="Arial"/>
              </a:rPr>
              <a:t> Maslow, </a:t>
            </a:r>
            <a:r>
              <a:rPr sz="1800" i="1" spc="-5" dirty="0">
                <a:latin typeface="Arial"/>
                <a:cs typeface="Arial"/>
              </a:rPr>
              <a:t>Frager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Fadiman </a:t>
            </a:r>
            <a:r>
              <a:rPr sz="1800" i="1" dirty="0">
                <a:latin typeface="Arial"/>
                <a:cs typeface="Arial"/>
              </a:rPr>
              <a:t>(1987)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65900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McGregor’s theory </a:t>
            </a:r>
            <a:r>
              <a:rPr sz="3200" dirty="0"/>
              <a:t>X</a:t>
            </a:r>
            <a:r>
              <a:rPr sz="3200" spc="-5" dirty="0"/>
              <a:t> and</a:t>
            </a:r>
            <a:r>
              <a:rPr sz="3200" spc="-10" dirty="0"/>
              <a:t> </a:t>
            </a:r>
            <a:r>
              <a:rPr sz="3200" spc="-5" dirty="0"/>
              <a:t>theory</a:t>
            </a:r>
            <a:r>
              <a:rPr sz="3200" spc="-60" dirty="0"/>
              <a:t> </a:t>
            </a:r>
            <a:r>
              <a:rPr sz="3200" dirty="0"/>
              <a:t>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39" y="1633221"/>
            <a:ext cx="7414259" cy="266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96520" indent="-457200">
              <a:lnSpc>
                <a:spcPct val="997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Theory </a:t>
            </a:r>
            <a:r>
              <a:rPr sz="2800" b="1" dirty="0">
                <a:latin typeface="Arial"/>
                <a:cs typeface="Arial"/>
              </a:rPr>
              <a:t>X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assumption that </a:t>
            </a:r>
            <a:r>
              <a:rPr sz="2800" dirty="0">
                <a:latin typeface="Arial MT"/>
                <a:cs typeface="Arial MT"/>
              </a:rPr>
              <a:t>employees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dislike work, are </a:t>
            </a:r>
            <a:r>
              <a:rPr sz="2800" spc="-45" dirty="0">
                <a:latin typeface="Arial MT"/>
                <a:cs typeface="Arial MT"/>
              </a:rPr>
              <a:t>lazy, </a:t>
            </a:r>
            <a:r>
              <a:rPr sz="2800" dirty="0">
                <a:latin typeface="Arial MT"/>
                <a:cs typeface="Arial MT"/>
              </a:rPr>
              <a:t>avoid </a:t>
            </a:r>
            <a:r>
              <a:rPr sz="2800" spc="-15" dirty="0">
                <a:latin typeface="Arial MT"/>
                <a:cs typeface="Arial MT"/>
              </a:rPr>
              <a:t>responsibility,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 coerced</a:t>
            </a:r>
            <a:r>
              <a:rPr sz="2800" spc="-5" dirty="0">
                <a:latin typeface="Arial MT"/>
                <a:cs typeface="Arial MT"/>
              </a:rPr>
              <a:t> to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perform.</a:t>
            </a:r>
            <a:endParaRPr sz="2800">
              <a:latin typeface="Arial MT"/>
              <a:cs typeface="Arial MT"/>
            </a:endParaRPr>
          </a:p>
          <a:p>
            <a:pPr marL="469900" marR="5080" indent="-457200" algn="just">
              <a:lnSpc>
                <a:spcPct val="100099"/>
              </a:lnSpc>
              <a:spcBef>
                <a:spcPts val="60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Theory Y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 assumption that </a:t>
            </a:r>
            <a:r>
              <a:rPr sz="2800" dirty="0">
                <a:latin typeface="Arial MT"/>
                <a:cs typeface="Arial MT"/>
              </a:rPr>
              <a:t>employees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creative,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enjoy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seek</a:t>
            </a:r>
            <a:r>
              <a:rPr sz="2800" spc="-15" dirty="0">
                <a:latin typeface="Arial MT"/>
                <a:cs typeface="Arial MT"/>
              </a:rPr>
              <a:t> responsibility,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 exercise </a:t>
            </a:r>
            <a:r>
              <a:rPr sz="2800" spc="-5" dirty="0">
                <a:latin typeface="Arial MT"/>
                <a:cs typeface="Arial MT"/>
              </a:rPr>
              <a:t>self-direction.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625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/>
              <a:t>Herzberg’s</a:t>
            </a:r>
            <a:r>
              <a:rPr sz="3200" spc="-10" dirty="0"/>
              <a:t> </a:t>
            </a:r>
            <a:r>
              <a:rPr sz="3200" spc="-30" dirty="0"/>
              <a:t>Two-factor</a:t>
            </a:r>
            <a:r>
              <a:rPr sz="3200" spc="-5" dirty="0"/>
              <a:t> theory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947" y="2686146"/>
            <a:ext cx="8375586" cy="4171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2439" y="1155562"/>
            <a:ext cx="8496300" cy="1559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5080" indent="-457200">
              <a:lnSpc>
                <a:spcPts val="2800"/>
              </a:lnSpc>
              <a:spcBef>
                <a:spcPts val="26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Arial"/>
                <a:cs typeface="Arial"/>
              </a:rPr>
              <a:t>Hygiene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factors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factors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eliminate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job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dissatisfaction,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don’t</a:t>
            </a:r>
            <a:r>
              <a:rPr sz="2400" spc="-5" dirty="0">
                <a:latin typeface="Arial MT"/>
                <a:cs typeface="Arial MT"/>
              </a:rPr>
              <a:t> motivate.</a:t>
            </a:r>
            <a:endParaRPr sz="2400">
              <a:latin typeface="Arial MT"/>
              <a:cs typeface="Arial MT"/>
            </a:endParaRPr>
          </a:p>
          <a:p>
            <a:pPr marL="469900" marR="699135" indent="-457200">
              <a:lnSpc>
                <a:spcPct val="101499"/>
              </a:lnSpc>
              <a:spcBef>
                <a:spcPts val="47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Arial"/>
                <a:cs typeface="Arial"/>
              </a:rPr>
              <a:t>Motivators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factors that</a:t>
            </a:r>
            <a:r>
              <a:rPr sz="2400" dirty="0">
                <a:latin typeface="Arial MT"/>
                <a:cs typeface="Arial MT"/>
              </a:rPr>
              <a:t> increase job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satisfaction</a:t>
            </a:r>
            <a:r>
              <a:rPr sz="2400" dirty="0">
                <a:latin typeface="Arial MT"/>
                <a:cs typeface="Arial MT"/>
              </a:rPr>
              <a:t> and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motivation.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5625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Herzberg’s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30" dirty="0">
                <a:solidFill>
                  <a:srgbClr val="0070C0"/>
                </a:solidFill>
                <a:latin typeface="Arial"/>
                <a:cs typeface="Arial"/>
              </a:rPr>
              <a:t>Two-factor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 theory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439" y="1155562"/>
            <a:ext cx="703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Contrasting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views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satisfaction-dissatisfaction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24" y="2167121"/>
            <a:ext cx="8716872" cy="32426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7973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Three-needs</a:t>
            </a:r>
            <a:r>
              <a:rPr sz="3200" spc="-40" dirty="0"/>
              <a:t> </a:t>
            </a:r>
            <a:r>
              <a:rPr sz="3200" spc="-5" dirty="0"/>
              <a:t>theory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39" y="1127619"/>
            <a:ext cx="8006715" cy="47675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297180">
              <a:lnSpc>
                <a:spcPts val="3000"/>
              </a:lnSpc>
              <a:spcBef>
                <a:spcPts val="500"/>
              </a:spcBef>
            </a:pPr>
            <a:r>
              <a:rPr sz="2800" b="1" spc="-5" dirty="0">
                <a:latin typeface="Arial"/>
                <a:cs typeface="Arial"/>
              </a:rPr>
              <a:t>Three-needs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theory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motivation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theory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sites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three</a:t>
            </a:r>
            <a:r>
              <a:rPr sz="2800" dirty="0">
                <a:latin typeface="Arial MT"/>
                <a:cs typeface="Arial MT"/>
              </a:rPr>
              <a:t> acquired </a:t>
            </a:r>
            <a:r>
              <a:rPr sz="2800" spc="-5" dirty="0">
                <a:latin typeface="Arial MT"/>
                <a:cs typeface="Arial MT"/>
              </a:rPr>
              <a:t>(non-innate) </a:t>
            </a:r>
            <a:r>
              <a:rPr sz="2800" dirty="0">
                <a:latin typeface="Arial MT"/>
                <a:cs typeface="Arial MT"/>
              </a:rPr>
              <a:t>needs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(achievement, </a:t>
            </a:r>
            <a:r>
              <a:rPr sz="2800" spc="-30" dirty="0">
                <a:latin typeface="Arial MT"/>
                <a:cs typeface="Arial MT"/>
              </a:rPr>
              <a:t>power,</a:t>
            </a:r>
            <a:r>
              <a:rPr sz="2800" dirty="0">
                <a:latin typeface="Arial MT"/>
                <a:cs typeface="Arial MT"/>
              </a:rPr>
              <a:t>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affiliation)</a:t>
            </a:r>
            <a:r>
              <a:rPr sz="2800" dirty="0">
                <a:latin typeface="Arial MT"/>
                <a:cs typeface="Arial MT"/>
              </a:rPr>
              <a:t> as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major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motives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 work.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Arial MT"/>
              <a:cs typeface="Arial MT"/>
            </a:endParaRPr>
          </a:p>
          <a:p>
            <a:pPr marL="469900" marR="93980" indent="-457200">
              <a:lnSpc>
                <a:spcPts val="278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b="1" dirty="0">
                <a:latin typeface="Arial"/>
                <a:cs typeface="Arial"/>
              </a:rPr>
              <a:t>Need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for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achievement (nAch)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-5" dirty="0">
                <a:latin typeface="Arial MT"/>
                <a:cs typeface="Arial MT"/>
              </a:rPr>
              <a:t> the</a:t>
            </a:r>
            <a:r>
              <a:rPr sz="2600" dirty="0">
                <a:latin typeface="Arial MT"/>
                <a:cs typeface="Arial MT"/>
              </a:rPr>
              <a:t> drive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 succeed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excel in</a:t>
            </a:r>
            <a:r>
              <a:rPr sz="2600" spc="-5" dirty="0">
                <a:latin typeface="Arial MT"/>
                <a:cs typeface="Arial MT"/>
              </a:rPr>
              <a:t> relation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dirty="0">
                <a:latin typeface="Arial MT"/>
                <a:cs typeface="Arial MT"/>
              </a:rPr>
              <a:t> a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" dirty="0">
                <a:latin typeface="Arial MT"/>
                <a:cs typeface="Arial MT"/>
              </a:rPr>
              <a:t> standards.</a:t>
            </a:r>
            <a:endParaRPr sz="2600">
              <a:latin typeface="Arial MT"/>
              <a:cs typeface="Arial MT"/>
            </a:endParaRPr>
          </a:p>
          <a:p>
            <a:pPr marL="469900" marR="5080" indent="-457200">
              <a:lnSpc>
                <a:spcPct val="91000"/>
              </a:lnSpc>
              <a:spcBef>
                <a:spcPts val="54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b="1" dirty="0">
                <a:latin typeface="Arial"/>
                <a:cs typeface="Arial"/>
              </a:rPr>
              <a:t>Need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for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power (nPow)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-5" dirty="0">
                <a:latin typeface="Arial MT"/>
                <a:cs typeface="Arial MT"/>
              </a:rPr>
              <a:t> the</a:t>
            </a:r>
            <a:r>
              <a:rPr sz="2600" dirty="0">
                <a:latin typeface="Arial MT"/>
                <a:cs typeface="Arial MT"/>
              </a:rPr>
              <a:t> need</a:t>
            </a:r>
            <a:r>
              <a:rPr sz="2600" spc="-5" dirty="0">
                <a:latin typeface="Arial MT"/>
                <a:cs typeface="Arial MT"/>
              </a:rPr>
              <a:t> to</a:t>
            </a:r>
            <a:r>
              <a:rPr sz="2600" dirty="0">
                <a:latin typeface="Arial MT"/>
                <a:cs typeface="Arial MT"/>
              </a:rPr>
              <a:t> make </a:t>
            </a:r>
            <a:r>
              <a:rPr sz="2600" spc="-5" dirty="0">
                <a:latin typeface="Arial MT"/>
                <a:cs typeface="Arial MT"/>
              </a:rPr>
              <a:t>others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behave in a way </a:t>
            </a:r>
            <a:r>
              <a:rPr sz="2600" spc="-5" dirty="0">
                <a:latin typeface="Arial MT"/>
                <a:cs typeface="Arial MT"/>
              </a:rPr>
              <a:t>that they </a:t>
            </a:r>
            <a:r>
              <a:rPr sz="2600" dirty="0">
                <a:latin typeface="Arial MT"/>
                <a:cs typeface="Arial MT"/>
              </a:rPr>
              <a:t>would not have behaved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otherwise.</a:t>
            </a:r>
            <a:endParaRPr sz="2600">
              <a:latin typeface="Arial MT"/>
              <a:cs typeface="Arial MT"/>
            </a:endParaRPr>
          </a:p>
          <a:p>
            <a:pPr marL="469900" marR="207645" indent="-457200">
              <a:lnSpc>
                <a:spcPts val="2780"/>
              </a:lnSpc>
              <a:spcBef>
                <a:spcPts val="68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b="1" dirty="0">
                <a:latin typeface="Arial"/>
                <a:cs typeface="Arial"/>
              </a:rPr>
              <a:t>Need</a:t>
            </a:r>
            <a:r>
              <a:rPr sz="2600" b="1" spc="-5" dirty="0">
                <a:latin typeface="Arial"/>
                <a:cs typeface="Arial"/>
              </a:rPr>
              <a:t> for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affiliation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(nAff)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desire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for friendly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close </a:t>
            </a:r>
            <a:r>
              <a:rPr sz="2600" spc="-5" dirty="0">
                <a:latin typeface="Arial MT"/>
                <a:cs typeface="Arial MT"/>
              </a:rPr>
              <a:t>interpersonal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relationships.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37509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Goal-setting</a:t>
            </a:r>
            <a:r>
              <a:rPr sz="32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theory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258" y="2363521"/>
            <a:ext cx="8174937" cy="4232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7929" y="1165640"/>
            <a:ext cx="7955915" cy="111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sz="2400" b="1" spc="-5" dirty="0">
                <a:latin typeface="Arial"/>
                <a:cs typeface="Arial"/>
              </a:rPr>
              <a:t>Goal-setting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theory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proposition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specific</a:t>
            </a:r>
            <a:r>
              <a:rPr sz="2400" dirty="0">
                <a:latin typeface="Arial MT"/>
                <a:cs typeface="Arial MT"/>
              </a:rPr>
              <a:t> goals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 </a:t>
            </a:r>
            <a:r>
              <a:rPr sz="2400" spc="-5" dirty="0">
                <a:latin typeface="Arial MT"/>
                <a:cs typeface="Arial MT"/>
              </a:rPr>
              <a:t>performance</a:t>
            </a:r>
            <a:r>
              <a:rPr sz="2400" dirty="0">
                <a:latin typeface="Arial MT"/>
                <a:cs typeface="Arial MT"/>
              </a:rPr>
              <a:t> and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10" dirty="0">
                <a:latin typeface="Arial MT"/>
                <a:cs typeface="Arial MT"/>
              </a:rPr>
              <a:t>difficult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accepted,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 higher</a:t>
            </a:r>
            <a:r>
              <a:rPr sz="2400" spc="-5" dirty="0">
                <a:latin typeface="Arial MT"/>
                <a:cs typeface="Arial MT"/>
              </a:rPr>
              <a:t> performance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than</a:t>
            </a:r>
            <a:r>
              <a:rPr sz="2400" dirty="0">
                <a:latin typeface="Arial MT"/>
                <a:cs typeface="Arial MT"/>
              </a:rPr>
              <a:t> do easy goals.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2259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Reinforcement</a:t>
            </a:r>
            <a:r>
              <a:rPr sz="3200" spc="-40" dirty="0"/>
              <a:t> </a:t>
            </a:r>
            <a:r>
              <a:rPr sz="3200" spc="-5" dirty="0"/>
              <a:t>theory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47930" y="1165640"/>
            <a:ext cx="7783195" cy="35280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494665">
              <a:lnSpc>
                <a:spcPts val="2800"/>
              </a:lnSpc>
              <a:spcBef>
                <a:spcPts val="260"/>
              </a:spcBef>
              <a:tabLst>
                <a:tab pos="3331845" algn="l"/>
              </a:tabLst>
            </a:pPr>
            <a:r>
              <a:rPr sz="2400" b="1" spc="-5" dirty="0">
                <a:latin typeface="Arial"/>
                <a:cs typeface="Arial"/>
              </a:rPr>
              <a:t>Reinforcement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theory	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its </a:t>
            </a:r>
            <a:r>
              <a:rPr sz="2400" dirty="0">
                <a:latin typeface="Arial MT"/>
                <a:cs typeface="Arial MT"/>
              </a:rPr>
              <a:t>consequences</a:t>
            </a:r>
            <a:endParaRPr sz="2400">
              <a:latin typeface="Arial MT"/>
              <a:cs typeface="Arial MT"/>
            </a:endParaRPr>
          </a:p>
          <a:p>
            <a:pPr marL="469265" marR="70485" indent="-457200">
              <a:lnSpc>
                <a:spcPct val="99400"/>
              </a:lnSpc>
              <a:spcBef>
                <a:spcPts val="53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Arial"/>
                <a:cs typeface="Arial"/>
              </a:rPr>
              <a:t>Reinforcers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consequences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 which increase </a:t>
            </a:r>
            <a:r>
              <a:rPr sz="2400" spc="-5" dirty="0">
                <a:latin typeface="Arial MT"/>
                <a:cs typeface="Arial MT"/>
              </a:rPr>
              <a:t>the probability that the </a:t>
            </a:r>
            <a:r>
              <a:rPr sz="2400" dirty="0">
                <a:latin typeface="Arial MT"/>
                <a:cs typeface="Arial MT"/>
              </a:rPr>
              <a:t> behavior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 be </a:t>
            </a:r>
            <a:r>
              <a:rPr sz="2400" spc="-5" dirty="0">
                <a:latin typeface="Arial MT"/>
                <a:cs typeface="Arial MT"/>
              </a:rPr>
              <a:t>repeated.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Arial MT"/>
              <a:cs typeface="Arial MT"/>
            </a:endParaRPr>
          </a:p>
          <a:p>
            <a:pPr marL="12700" marR="5080">
              <a:lnSpc>
                <a:spcPct val="99400"/>
              </a:lnSpc>
              <a:spcBef>
                <a:spcPts val="5"/>
              </a:spcBef>
            </a:pP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This theory</a:t>
            </a:r>
            <a:r>
              <a:rPr sz="2400" dirty="0">
                <a:latin typeface="Arial MT"/>
                <a:cs typeface="Arial MT"/>
              </a:rPr>
              <a:t> ignores</a:t>
            </a:r>
            <a:r>
              <a:rPr sz="2400" spc="-5" dirty="0">
                <a:latin typeface="Arial MT"/>
                <a:cs typeface="Arial MT"/>
              </a:rPr>
              <a:t> factors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goals,</a:t>
            </a:r>
            <a:r>
              <a:rPr sz="2400" spc="-5" dirty="0">
                <a:latin typeface="Arial MT"/>
                <a:cs typeface="Arial MT"/>
              </a:rPr>
              <a:t> expectation,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 needs and </a:t>
            </a:r>
            <a:r>
              <a:rPr sz="2400" spc="-5" dirty="0">
                <a:latin typeface="Arial MT"/>
                <a:cs typeface="Arial MT"/>
              </a:rPr>
              <a:t>focuses </a:t>
            </a:r>
            <a:r>
              <a:rPr sz="2400" dirty="0">
                <a:latin typeface="Arial MT"/>
                <a:cs typeface="Arial MT"/>
              </a:rPr>
              <a:t>solely on what happens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person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 </a:t>
            </a:r>
            <a:r>
              <a:rPr sz="2400" spc="-5" dirty="0">
                <a:latin typeface="Arial MT"/>
                <a:cs typeface="Arial MT"/>
              </a:rPr>
              <a:t>he/she</a:t>
            </a:r>
            <a:r>
              <a:rPr sz="2400" dirty="0">
                <a:latin typeface="Arial MT"/>
                <a:cs typeface="Arial MT"/>
              </a:rPr>
              <a:t> do </a:t>
            </a:r>
            <a:r>
              <a:rPr sz="2400" spc="-5" dirty="0">
                <a:latin typeface="Arial MT"/>
                <a:cs typeface="Arial MT"/>
              </a:rPr>
              <a:t>something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2622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Equity</a:t>
            </a:r>
            <a:r>
              <a:rPr sz="32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theory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97813"/>
            <a:ext cx="8383905" cy="12090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4965" marR="5080" indent="-34290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Equity theory</a:t>
            </a:r>
            <a:r>
              <a:rPr sz="2600" b="1" dirty="0">
                <a:latin typeface="Arial"/>
                <a:cs typeface="Arial"/>
              </a:rPr>
              <a:t> – </a:t>
            </a:r>
            <a:r>
              <a:rPr sz="2600" spc="-5" dirty="0">
                <a:latin typeface="Arial MT"/>
                <a:cs typeface="Arial MT"/>
              </a:rPr>
              <a:t>the theory that </a:t>
            </a:r>
            <a:r>
              <a:rPr sz="2600" dirty="0">
                <a:latin typeface="Arial MT"/>
                <a:cs typeface="Arial MT"/>
              </a:rPr>
              <a:t>an employee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compares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his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or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her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job’s</a:t>
            </a:r>
            <a:r>
              <a:rPr sz="2600" spc="-5" dirty="0">
                <a:latin typeface="Arial MT"/>
                <a:cs typeface="Arial MT"/>
              </a:rPr>
              <a:t> input-outcome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ratio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with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relevant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others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5" dirty="0">
                <a:latin typeface="Arial MT"/>
                <a:cs typeface="Arial MT"/>
              </a:rPr>
              <a:t>then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corrects </a:t>
            </a:r>
            <a:r>
              <a:rPr sz="2600" dirty="0">
                <a:latin typeface="Arial MT"/>
                <a:cs typeface="Arial MT"/>
              </a:rPr>
              <a:t>any</a:t>
            </a:r>
            <a:r>
              <a:rPr sz="2600" spc="-5" dirty="0">
                <a:latin typeface="Arial MT"/>
                <a:cs typeface="Arial MT"/>
              </a:rPr>
              <a:t> inequity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64" y="2481986"/>
            <a:ext cx="8157030" cy="402130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36398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Expectancy</a:t>
            </a:r>
            <a:r>
              <a:rPr sz="3200" spc="-40" dirty="0"/>
              <a:t> </a:t>
            </a:r>
            <a:r>
              <a:rPr sz="3200" spc="-5" dirty="0"/>
              <a:t>theory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9494" y="1197813"/>
            <a:ext cx="8028940" cy="16027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  <a:tabLst>
                <a:tab pos="6069330" algn="l"/>
              </a:tabLst>
            </a:pPr>
            <a:r>
              <a:rPr sz="2600" b="1" spc="-5" dirty="0">
                <a:latin typeface="Arial"/>
                <a:cs typeface="Arial"/>
              </a:rPr>
              <a:t>Expectancy</a:t>
            </a:r>
            <a:r>
              <a:rPr sz="2600" b="1" spc="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theory</a:t>
            </a:r>
            <a:r>
              <a:rPr sz="2600" b="1" spc="1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theory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that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	individual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tends to</a:t>
            </a:r>
            <a:r>
              <a:rPr sz="2600" dirty="0">
                <a:latin typeface="Arial MT"/>
                <a:cs typeface="Arial MT"/>
              </a:rPr>
              <a:t> act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 a </a:t>
            </a:r>
            <a:r>
              <a:rPr sz="2600" spc="-5" dirty="0">
                <a:latin typeface="Arial MT"/>
                <a:cs typeface="Arial MT"/>
              </a:rPr>
              <a:t>certain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way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based on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expectation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that the </a:t>
            </a:r>
            <a:r>
              <a:rPr sz="2600" dirty="0">
                <a:latin typeface="Arial MT"/>
                <a:cs typeface="Arial MT"/>
              </a:rPr>
              <a:t>act will be </a:t>
            </a:r>
            <a:r>
              <a:rPr sz="2600" spc="-5" dirty="0">
                <a:latin typeface="Arial MT"/>
                <a:cs typeface="Arial MT"/>
              </a:rPr>
              <a:t>followed </a:t>
            </a:r>
            <a:r>
              <a:rPr sz="2600" dirty="0">
                <a:latin typeface="Arial MT"/>
                <a:cs typeface="Arial MT"/>
              </a:rPr>
              <a:t>by a given </a:t>
            </a:r>
            <a:r>
              <a:rPr sz="2600" spc="-5" dirty="0">
                <a:latin typeface="Arial MT"/>
                <a:cs typeface="Arial MT"/>
              </a:rPr>
              <a:t>outcome </a:t>
            </a:r>
            <a:r>
              <a:rPr sz="2600" dirty="0">
                <a:latin typeface="Arial MT"/>
                <a:cs typeface="Arial MT"/>
              </a:rPr>
              <a:t>and on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attractiveness </a:t>
            </a:r>
            <a:r>
              <a:rPr sz="2600" dirty="0">
                <a:latin typeface="Arial MT"/>
                <a:cs typeface="Arial MT"/>
              </a:rPr>
              <a:t>of </a:t>
            </a:r>
            <a:r>
              <a:rPr sz="2600" spc="-5" dirty="0">
                <a:latin typeface="Arial MT"/>
                <a:cs typeface="Arial MT"/>
              </a:rPr>
              <a:t>that outcome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individual.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311" y="3299915"/>
            <a:ext cx="8858686" cy="268125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38" y="302060"/>
            <a:ext cx="8692515" cy="64516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200" b="1" spc="-5" dirty="0">
                <a:latin typeface="Arial"/>
                <a:cs typeface="Arial"/>
              </a:rPr>
              <a:t>Following </a:t>
            </a:r>
            <a:r>
              <a:rPr sz="2200" b="1" dirty="0">
                <a:latin typeface="Arial"/>
                <a:cs typeface="Arial"/>
              </a:rPr>
              <a:t>are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12 </a:t>
            </a:r>
            <a:r>
              <a:rPr sz="2200" b="1" spc="-5" dirty="0">
                <a:latin typeface="Arial"/>
                <a:cs typeface="Arial"/>
              </a:rPr>
              <a:t>job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factors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that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contribute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to</a:t>
            </a:r>
            <a:r>
              <a:rPr sz="2200" b="1" spc="-5" dirty="0">
                <a:latin typeface="Arial"/>
                <a:cs typeface="Arial"/>
              </a:rPr>
              <a:t> job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satisfaction</a:t>
            </a:r>
            <a:endParaRPr sz="2200">
              <a:latin typeface="Arial"/>
              <a:cs typeface="Arial"/>
            </a:endParaRPr>
          </a:p>
          <a:p>
            <a:pPr marL="307340" indent="-29527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307975" algn="l"/>
              </a:tabLst>
            </a:pPr>
            <a:r>
              <a:rPr sz="2200" dirty="0">
                <a:latin typeface="Arial MT"/>
                <a:cs typeface="Arial MT"/>
              </a:rPr>
              <a:t>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job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enjoy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doing</a:t>
            </a:r>
            <a:endParaRPr sz="2200">
              <a:latin typeface="Arial MT"/>
              <a:cs typeface="Arial MT"/>
            </a:endParaRPr>
          </a:p>
          <a:p>
            <a:pPr marL="12700" marR="1558290">
              <a:lnSpc>
                <a:spcPct val="121200"/>
              </a:lnSpc>
              <a:buAutoNum type="arabicPeriod"/>
              <a:tabLst>
                <a:tab pos="30797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who</a:t>
            </a:r>
            <a:r>
              <a:rPr sz="2200" spc="-5" dirty="0">
                <a:latin typeface="Arial MT"/>
                <a:cs typeface="Arial MT"/>
              </a:rPr>
              <a:t> treats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everyone</a:t>
            </a:r>
            <a:r>
              <a:rPr sz="2200" spc="-5" dirty="0">
                <a:latin typeface="Arial MT"/>
                <a:cs typeface="Arial MT"/>
              </a:rPr>
              <a:t> the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regardless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circumstances</a:t>
            </a:r>
            <a:endParaRPr sz="2200">
              <a:latin typeface="Arial MT"/>
              <a:cs typeface="Arial MT"/>
            </a:endParaRPr>
          </a:p>
          <a:p>
            <a:pPr marL="12700" marR="237490">
              <a:lnSpc>
                <a:spcPts val="3200"/>
              </a:lnSpc>
              <a:spcBef>
                <a:spcPts val="100"/>
              </a:spcBef>
              <a:buAutoNum type="arabicPeriod"/>
              <a:tabLst>
                <a:tab pos="323850" algn="l"/>
              </a:tabLst>
            </a:pPr>
            <a:r>
              <a:rPr sz="2200" spc="-5" dirty="0">
                <a:latin typeface="Arial MT"/>
                <a:cs typeface="Arial MT"/>
              </a:rPr>
              <a:t>Getting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praise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other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recognition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appreciation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work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 </a:t>
            </a:r>
            <a:r>
              <a:rPr sz="2200" spc="-5" dirty="0">
                <a:latin typeface="Arial MT"/>
                <a:cs typeface="Arial MT"/>
              </a:rPr>
              <a:t>do</a:t>
            </a:r>
            <a:endParaRPr sz="2200">
              <a:latin typeface="Arial MT"/>
              <a:cs typeface="Arial MT"/>
            </a:endParaRPr>
          </a:p>
          <a:p>
            <a:pPr marL="307340" indent="-295275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30797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job </a:t>
            </a:r>
            <a:r>
              <a:rPr sz="2200" spc="-5" dirty="0">
                <a:latin typeface="Arial MT"/>
                <a:cs typeface="Arial MT"/>
              </a:rPr>
              <a:t>that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" dirty="0">
                <a:latin typeface="Arial MT"/>
                <a:cs typeface="Arial MT"/>
              </a:rPr>
              <a:t> routine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without </a:t>
            </a:r>
            <a:r>
              <a:rPr sz="2200" dirty="0">
                <a:latin typeface="Arial MT"/>
                <a:cs typeface="Arial MT"/>
              </a:rPr>
              <a:t>much change </a:t>
            </a:r>
            <a:r>
              <a:rPr sz="2200" spc="-5" dirty="0">
                <a:latin typeface="Arial MT"/>
                <a:cs typeface="Arial MT"/>
              </a:rPr>
              <a:t>from </a:t>
            </a:r>
            <a:r>
              <a:rPr sz="2200" dirty="0">
                <a:latin typeface="Arial MT"/>
                <a:cs typeface="Arial MT"/>
              </a:rPr>
              <a:t>day</a:t>
            </a:r>
            <a:r>
              <a:rPr sz="2200" spc="-5" dirty="0">
                <a:latin typeface="Arial MT"/>
                <a:cs typeface="Arial MT"/>
              </a:rPr>
              <a:t> to</a:t>
            </a:r>
            <a:r>
              <a:rPr sz="2200" dirty="0">
                <a:latin typeface="Arial MT"/>
                <a:cs typeface="Arial MT"/>
              </a:rPr>
              <a:t> day</a:t>
            </a:r>
            <a:endParaRPr sz="2200">
              <a:latin typeface="Arial MT"/>
              <a:cs typeface="Arial MT"/>
            </a:endParaRPr>
          </a:p>
          <a:p>
            <a:pPr marL="318135" indent="-30607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318770" algn="l"/>
              </a:tabLst>
            </a:pP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opportunity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advancement</a:t>
            </a:r>
            <a:endParaRPr sz="2200">
              <a:latin typeface="Arial MT"/>
              <a:cs typeface="Arial MT"/>
            </a:endParaRPr>
          </a:p>
          <a:p>
            <a:pPr marL="307340" indent="-29527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30797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nice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job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title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regardless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</a:t>
            </a:r>
            <a:endParaRPr sz="2200">
              <a:latin typeface="Arial MT"/>
              <a:cs typeface="Arial MT"/>
            </a:endParaRPr>
          </a:p>
          <a:p>
            <a:pPr marL="323215" indent="-31115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323850" algn="l"/>
              </a:tabLst>
            </a:pPr>
            <a:r>
              <a:rPr sz="2200" dirty="0">
                <a:latin typeface="Arial MT"/>
                <a:cs typeface="Arial MT"/>
              </a:rPr>
              <a:t>Job </a:t>
            </a:r>
            <a:r>
              <a:rPr sz="2200" spc="-5" dirty="0">
                <a:latin typeface="Arial MT"/>
                <a:cs typeface="Arial MT"/>
              </a:rPr>
              <a:t>responsibility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that</a:t>
            </a:r>
            <a:r>
              <a:rPr sz="2200" dirty="0">
                <a:latin typeface="Arial MT"/>
                <a:cs typeface="Arial MT"/>
              </a:rPr>
              <a:t> gives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freedom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 </a:t>
            </a:r>
            <a:r>
              <a:rPr sz="2200" spc="-5" dirty="0">
                <a:latin typeface="Arial MT"/>
                <a:cs typeface="Arial MT"/>
              </a:rPr>
              <a:t>things</a:t>
            </a:r>
            <a:r>
              <a:rPr sz="2200" dirty="0">
                <a:latin typeface="Arial MT"/>
                <a:cs typeface="Arial MT"/>
              </a:rPr>
              <a:t> my way</a:t>
            </a:r>
            <a:endParaRPr sz="2200">
              <a:latin typeface="Arial MT"/>
              <a:cs typeface="Arial MT"/>
            </a:endParaRPr>
          </a:p>
          <a:p>
            <a:pPr marL="323215" indent="-31115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323850" algn="l"/>
              </a:tabLst>
            </a:pPr>
            <a:r>
              <a:rPr sz="2200" spc="-10" dirty="0">
                <a:latin typeface="Arial MT"/>
                <a:cs typeface="Arial MT"/>
              </a:rPr>
              <a:t>Working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conditions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(safe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environment,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cafeteria,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etc.)</a:t>
            </a:r>
            <a:endParaRPr sz="2200">
              <a:latin typeface="Arial MT"/>
              <a:cs typeface="Arial MT"/>
            </a:endParaRPr>
          </a:p>
          <a:p>
            <a:pPr marL="318135" indent="-30607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318770" algn="l"/>
              </a:tabLst>
            </a:pPr>
            <a:r>
              <a:rPr sz="2200" spc="-5" dirty="0">
                <a:latin typeface="Arial MT"/>
                <a:cs typeface="Arial MT"/>
              </a:rPr>
              <a:t>The opportunity to </a:t>
            </a:r>
            <a:r>
              <a:rPr sz="2200" dirty="0">
                <a:latin typeface="Arial MT"/>
                <a:cs typeface="Arial MT"/>
              </a:rPr>
              <a:t>learn new</a:t>
            </a:r>
            <a:r>
              <a:rPr sz="2200" spc="-5" dirty="0">
                <a:latin typeface="Arial MT"/>
                <a:cs typeface="Arial MT"/>
              </a:rPr>
              <a:t> things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17400"/>
              </a:lnSpc>
              <a:spcBef>
                <a:spcPts val="100"/>
              </a:spcBef>
              <a:buAutoNum type="arabicPeriod"/>
              <a:tabLst>
                <a:tab pos="463550" algn="l"/>
              </a:tabLst>
            </a:pPr>
            <a:r>
              <a:rPr sz="2200" dirty="0">
                <a:latin typeface="Arial MT"/>
                <a:cs typeface="Arial MT"/>
              </a:rPr>
              <a:t>An emphasis on </a:t>
            </a:r>
            <a:r>
              <a:rPr sz="2200" spc="-5" dirty="0">
                <a:latin typeface="Arial MT"/>
                <a:cs typeface="Arial MT"/>
              </a:rPr>
              <a:t>following </a:t>
            </a:r>
            <a:r>
              <a:rPr sz="2200" dirty="0">
                <a:latin typeface="Arial MT"/>
                <a:cs typeface="Arial MT"/>
              </a:rPr>
              <a:t>company rules, </a:t>
            </a:r>
            <a:r>
              <a:rPr sz="2200" spc="-5" dirty="0">
                <a:latin typeface="Arial MT"/>
                <a:cs typeface="Arial MT"/>
              </a:rPr>
              <a:t>regulations, </a:t>
            </a:r>
            <a:r>
              <a:rPr sz="2200" dirty="0">
                <a:latin typeface="Arial MT"/>
                <a:cs typeface="Arial MT"/>
              </a:rPr>
              <a:t>procedures,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policies</a:t>
            </a:r>
            <a:endParaRPr sz="2200">
              <a:latin typeface="Arial MT"/>
              <a:cs typeface="Arial MT"/>
            </a:endParaRPr>
          </a:p>
          <a:p>
            <a:pPr marL="441959" indent="-42989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4259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job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succeed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endParaRPr sz="2200">
              <a:latin typeface="Arial MT"/>
              <a:cs typeface="Arial MT"/>
            </a:endParaRPr>
          </a:p>
          <a:p>
            <a:pPr marL="478155" indent="-46609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78790" algn="l"/>
              </a:tabLst>
            </a:pPr>
            <a:r>
              <a:rPr sz="2200" dirty="0">
                <a:latin typeface="Arial MT"/>
                <a:cs typeface="Arial MT"/>
              </a:rPr>
              <a:t>Job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security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life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38" y="296980"/>
            <a:ext cx="8779510" cy="9652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600" spc="-5" dirty="0">
                <a:solidFill>
                  <a:srgbClr val="000000"/>
                </a:solidFill>
              </a:rPr>
              <a:t>Group:</a:t>
            </a:r>
            <a:endParaRPr sz="2600"/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600" b="0" spc="-5" dirty="0">
                <a:solidFill>
                  <a:srgbClr val="000000"/>
                </a:solidFill>
                <a:latin typeface="Arial MT"/>
                <a:cs typeface="Arial MT"/>
              </a:rPr>
              <a:t>Classify</a:t>
            </a:r>
            <a:r>
              <a:rPr sz="26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600" b="0" spc="-5" dirty="0">
                <a:solidFill>
                  <a:srgbClr val="000000"/>
                </a:solidFill>
                <a:latin typeface="Arial MT"/>
                <a:cs typeface="Arial MT"/>
              </a:rPr>
              <a:t>these</a:t>
            </a:r>
            <a:r>
              <a:rPr sz="26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600" b="0" spc="-5" dirty="0">
                <a:solidFill>
                  <a:srgbClr val="000000"/>
                </a:solidFill>
                <a:latin typeface="Arial MT"/>
                <a:cs typeface="Arial MT"/>
              </a:rPr>
              <a:t>factors</a:t>
            </a:r>
            <a:r>
              <a:rPr sz="2600" b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600" b="0" spc="-5" dirty="0">
                <a:solidFill>
                  <a:srgbClr val="000000"/>
                </a:solidFill>
                <a:latin typeface="Arial MT"/>
                <a:cs typeface="Arial MT"/>
              </a:rPr>
              <a:t>into</a:t>
            </a:r>
            <a:r>
              <a:rPr sz="26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000000"/>
                </a:solidFill>
              </a:rPr>
              <a:t>motivators</a:t>
            </a:r>
            <a:r>
              <a:rPr sz="2600" spc="10" dirty="0">
                <a:solidFill>
                  <a:srgbClr val="000000"/>
                </a:solidFill>
              </a:rPr>
              <a:t> </a:t>
            </a:r>
            <a:r>
              <a:rPr sz="2600" b="0" spc="-5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2600" b="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000000"/>
                </a:solidFill>
              </a:rPr>
              <a:t>Hygiene</a:t>
            </a:r>
            <a:r>
              <a:rPr sz="2600" spc="10" dirty="0">
                <a:solidFill>
                  <a:srgbClr val="000000"/>
                </a:solidFill>
              </a:rPr>
              <a:t> </a:t>
            </a:r>
            <a:r>
              <a:rPr sz="2600" spc="-5" dirty="0">
                <a:solidFill>
                  <a:srgbClr val="000000"/>
                </a:solidFill>
              </a:rPr>
              <a:t>factors</a:t>
            </a:r>
            <a:endParaRPr sz="26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14448" y="2076450"/>
          <a:ext cx="6096000" cy="234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600" b="1" spc="-5" dirty="0">
                          <a:latin typeface="Arial"/>
                          <a:cs typeface="Arial"/>
                        </a:rPr>
                        <a:t>Motivators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600" b="1" spc="-5" dirty="0">
                          <a:latin typeface="Arial"/>
                          <a:cs typeface="Arial"/>
                        </a:rPr>
                        <a:t>Hygiene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5" dirty="0">
                          <a:latin typeface="Arial"/>
                          <a:cs typeface="Arial"/>
                        </a:rPr>
                        <a:t>factors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828820"/>
            <a:ext cx="8398931" cy="8946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38" y="595020"/>
            <a:ext cx="16764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000000"/>
                </a:solidFill>
              </a:rPr>
              <a:t>Individual: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1138" y="988720"/>
            <a:ext cx="8744585" cy="352742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5" dirty="0">
                <a:latin typeface="Arial MT"/>
                <a:cs typeface="Arial MT"/>
              </a:rPr>
              <a:t>Rate </a:t>
            </a:r>
            <a:r>
              <a:rPr sz="2600" dirty="0">
                <a:latin typeface="Arial MT"/>
                <a:cs typeface="Arial MT"/>
              </a:rPr>
              <a:t>each according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how </a:t>
            </a:r>
            <a:r>
              <a:rPr sz="2600" spc="-5" dirty="0">
                <a:latin typeface="Arial MT"/>
                <a:cs typeface="Arial MT"/>
              </a:rPr>
              <a:t>important </a:t>
            </a:r>
            <a:r>
              <a:rPr sz="2600" dirty="0">
                <a:latin typeface="Arial MT"/>
                <a:cs typeface="Arial MT"/>
              </a:rPr>
              <a:t>it is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you by placing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5" dirty="0">
                <a:latin typeface="Arial MT"/>
                <a:cs typeface="Arial MT"/>
              </a:rPr>
              <a:t> from:</a:t>
            </a:r>
            <a:endParaRPr sz="26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1820"/>
              </a:spcBef>
            </a:pPr>
            <a:r>
              <a:rPr sz="2800" dirty="0">
                <a:latin typeface="Arial MT"/>
                <a:cs typeface="Arial MT"/>
              </a:rPr>
              <a:t>5.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Very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Important</a:t>
            </a:r>
            <a:endParaRPr sz="2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610"/>
              </a:spcBef>
            </a:pPr>
            <a:r>
              <a:rPr sz="2800" dirty="0">
                <a:latin typeface="Arial MT"/>
                <a:cs typeface="Arial MT"/>
              </a:rPr>
              <a:t>4.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Important</a:t>
            </a:r>
            <a:endParaRPr sz="2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640"/>
              </a:spcBef>
            </a:pPr>
            <a:r>
              <a:rPr sz="2800" dirty="0">
                <a:latin typeface="Arial MT"/>
                <a:cs typeface="Arial MT"/>
              </a:rPr>
              <a:t>3.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Somewhat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Important</a:t>
            </a:r>
            <a:endParaRPr sz="2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740"/>
              </a:spcBef>
            </a:pPr>
            <a:r>
              <a:rPr sz="2800" dirty="0">
                <a:latin typeface="Arial MT"/>
                <a:cs typeface="Arial MT"/>
              </a:rPr>
              <a:t>2.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Slightly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Important</a:t>
            </a:r>
            <a:endParaRPr sz="280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640"/>
              </a:spcBef>
            </a:pPr>
            <a:r>
              <a:rPr sz="2800" dirty="0">
                <a:latin typeface="Arial MT"/>
                <a:cs typeface="Arial MT"/>
              </a:rPr>
              <a:t>1.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Important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733" y="711201"/>
            <a:ext cx="8047172" cy="53862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088435"/>
            <a:ext cx="82937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7.4</a:t>
            </a:r>
            <a:r>
              <a:rPr sz="3400" dirty="0">
                <a:solidFill>
                  <a:srgbClr val="376092"/>
                </a:solidFill>
              </a:rPr>
              <a:t> </a:t>
            </a:r>
            <a:r>
              <a:rPr sz="3400" spc="-25" dirty="0">
                <a:solidFill>
                  <a:srgbClr val="376092"/>
                </a:solidFill>
              </a:rPr>
              <a:t>COMMUNICATION</a:t>
            </a:r>
            <a:r>
              <a:rPr sz="340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IN</a:t>
            </a:r>
            <a:r>
              <a:rPr sz="340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MANAGEMENT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3490" y="447533"/>
            <a:ext cx="3380508" cy="229479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8348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What</a:t>
            </a:r>
            <a:r>
              <a:rPr sz="3200" spc="-30" dirty="0"/>
              <a:t> </a:t>
            </a:r>
            <a:r>
              <a:rPr sz="3200" spc="-5" dirty="0"/>
              <a:t>is</a:t>
            </a:r>
            <a:r>
              <a:rPr sz="3200" spc="-25" dirty="0"/>
              <a:t> </a:t>
            </a:r>
            <a:r>
              <a:rPr sz="3200" spc="-5" dirty="0"/>
              <a:t>communication?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39" y="1633221"/>
            <a:ext cx="8281034" cy="29197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1891030" indent="-342900">
              <a:lnSpc>
                <a:spcPts val="3800"/>
              </a:lnSpc>
              <a:spcBef>
                <a:spcPts val="260"/>
              </a:spcBef>
            </a:pPr>
            <a:r>
              <a:rPr sz="3200" b="1" spc="-5" dirty="0">
                <a:latin typeface="Arial"/>
                <a:cs typeface="Arial"/>
              </a:rPr>
              <a:t>Communication </a:t>
            </a:r>
            <a:r>
              <a:rPr sz="3200" dirty="0">
                <a:latin typeface="Arial MT"/>
                <a:cs typeface="Arial MT"/>
              </a:rPr>
              <a:t>– </a:t>
            </a:r>
            <a:r>
              <a:rPr sz="3200" spc="-5" dirty="0">
                <a:latin typeface="Arial MT"/>
                <a:cs typeface="Arial MT"/>
              </a:rPr>
              <a:t>the transfer </a:t>
            </a:r>
            <a:r>
              <a:rPr sz="3200" dirty="0">
                <a:latin typeface="Arial MT"/>
                <a:cs typeface="Arial MT"/>
              </a:rPr>
              <a:t>and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understanding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meaning.</a:t>
            </a:r>
            <a:endParaRPr sz="3200">
              <a:latin typeface="Arial MT"/>
              <a:cs typeface="Arial MT"/>
            </a:endParaRPr>
          </a:p>
          <a:p>
            <a:pPr marL="749300" marR="5080" indent="-279400">
              <a:lnSpc>
                <a:spcPct val="102000"/>
              </a:lnSpc>
              <a:spcBef>
                <a:spcPts val="44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Information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ideas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been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conveyed,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communication </a:t>
            </a:r>
            <a:r>
              <a:rPr sz="2800" dirty="0">
                <a:latin typeface="Arial MT"/>
                <a:cs typeface="Arial MT"/>
              </a:rPr>
              <a:t>hasn’t</a:t>
            </a:r>
            <a:r>
              <a:rPr sz="2800" spc="-5" dirty="0">
                <a:latin typeface="Arial MT"/>
                <a:cs typeface="Arial MT"/>
              </a:rPr>
              <a:t> taken</a:t>
            </a:r>
            <a:r>
              <a:rPr sz="2800" dirty="0">
                <a:latin typeface="Arial MT"/>
                <a:cs typeface="Arial MT"/>
              </a:rPr>
              <a:t> place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Arial MT"/>
              <a:cs typeface="Arial MT"/>
            </a:endParaRPr>
          </a:p>
          <a:p>
            <a:pPr marL="23431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What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difference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between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information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data????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61893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What</a:t>
            </a:r>
            <a:r>
              <a:rPr sz="3200" spc="-15" dirty="0"/>
              <a:t> </a:t>
            </a:r>
            <a:r>
              <a:rPr sz="3200" spc="-5" dirty="0"/>
              <a:t>is</a:t>
            </a:r>
            <a:r>
              <a:rPr sz="3200" spc="-10" dirty="0"/>
              <a:t> </a:t>
            </a:r>
            <a:r>
              <a:rPr sz="3200" spc="-5" dirty="0"/>
              <a:t>communication?</a:t>
            </a:r>
            <a:r>
              <a:rPr sz="3200" spc="-15" dirty="0"/>
              <a:t> </a:t>
            </a:r>
            <a:r>
              <a:rPr sz="3200" spc="-5" dirty="0"/>
              <a:t>(cont.)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59921" y="1365293"/>
            <a:ext cx="7559675" cy="2242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5080" indent="-457200">
              <a:lnSpc>
                <a:spcPts val="3300"/>
              </a:lnSpc>
              <a:spcBef>
                <a:spcPts val="26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Interpersonal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Communication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communication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between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two</a:t>
            </a:r>
            <a:r>
              <a:rPr sz="2800" dirty="0">
                <a:latin typeface="Arial MT"/>
                <a:cs typeface="Arial MT"/>
              </a:rPr>
              <a:t> 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 people.</a:t>
            </a:r>
            <a:endParaRPr sz="2800">
              <a:latin typeface="Arial MT"/>
              <a:cs typeface="Arial MT"/>
            </a:endParaRPr>
          </a:p>
          <a:p>
            <a:pPr marL="469900" marR="481330" indent="-457200">
              <a:lnSpc>
                <a:spcPct val="100099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Organizational Communication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all </a:t>
            </a:r>
            <a:r>
              <a:rPr sz="2800" dirty="0">
                <a:latin typeface="Arial MT"/>
                <a:cs typeface="Arial MT"/>
              </a:rPr>
              <a:t>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patterns, networks,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5" dirty="0">
                <a:latin typeface="Arial MT"/>
                <a:cs typeface="Arial MT"/>
              </a:rPr>
              <a:t>systems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communications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732573"/>
            <a:ext cx="3790948" cy="266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2130" y="3732573"/>
            <a:ext cx="4631325" cy="255275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693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The</a:t>
            </a:r>
            <a:r>
              <a:rPr sz="3200" spc="-15" dirty="0"/>
              <a:t> </a:t>
            </a:r>
            <a:r>
              <a:rPr sz="3200" spc="-5" dirty="0"/>
              <a:t>roles</a:t>
            </a:r>
            <a:r>
              <a:rPr sz="3200" spc="-15" dirty="0"/>
              <a:t> </a:t>
            </a:r>
            <a:r>
              <a:rPr sz="3200" spc="-5" dirty="0"/>
              <a:t>of</a:t>
            </a:r>
            <a:r>
              <a:rPr sz="3200" spc="-15" dirty="0"/>
              <a:t> </a:t>
            </a:r>
            <a:r>
              <a:rPr sz="3200" spc="-5" dirty="0"/>
              <a:t>communication?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743989" y="1226127"/>
            <a:ext cx="7809865" cy="1005840"/>
            <a:chOff x="743989" y="1226127"/>
            <a:chExt cx="7809865" cy="1005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989" y="1226127"/>
              <a:ext cx="7809806" cy="10058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910" y="1261446"/>
              <a:ext cx="7662545" cy="889000"/>
            </a:xfrm>
            <a:custGeom>
              <a:avLst/>
              <a:gdLst/>
              <a:ahLst/>
              <a:cxnLst/>
              <a:rect l="l" t="t" r="r" b="b"/>
              <a:pathLst>
                <a:path w="7662545" h="889000">
                  <a:moveTo>
                    <a:pt x="7217602" y="0"/>
                  </a:moveTo>
                  <a:lnTo>
                    <a:pt x="0" y="0"/>
                  </a:lnTo>
                  <a:lnTo>
                    <a:pt x="444499" y="444500"/>
                  </a:lnTo>
                  <a:lnTo>
                    <a:pt x="0" y="889000"/>
                  </a:lnTo>
                  <a:lnTo>
                    <a:pt x="7217602" y="889000"/>
                  </a:lnTo>
                  <a:lnTo>
                    <a:pt x="7662102" y="444500"/>
                  </a:lnTo>
                  <a:lnTo>
                    <a:pt x="7217602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910" y="1261446"/>
              <a:ext cx="7662545" cy="889000"/>
            </a:xfrm>
            <a:custGeom>
              <a:avLst/>
              <a:gdLst/>
              <a:ahLst/>
              <a:cxnLst/>
              <a:rect l="l" t="t" r="r" b="b"/>
              <a:pathLst>
                <a:path w="7662545" h="889000">
                  <a:moveTo>
                    <a:pt x="0" y="0"/>
                  </a:moveTo>
                  <a:lnTo>
                    <a:pt x="7217601" y="0"/>
                  </a:lnTo>
                  <a:lnTo>
                    <a:pt x="7662101" y="444499"/>
                  </a:lnTo>
                  <a:lnTo>
                    <a:pt x="7217601" y="888999"/>
                  </a:lnTo>
                  <a:lnTo>
                    <a:pt x="0" y="888999"/>
                  </a:lnTo>
                  <a:lnTo>
                    <a:pt x="444499" y="444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56458" y="2439784"/>
            <a:ext cx="7797800" cy="1147445"/>
            <a:chOff x="756458" y="2439784"/>
            <a:chExt cx="7797800" cy="11474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458" y="2456410"/>
              <a:ext cx="7797337" cy="11180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2505" y="2439784"/>
              <a:ext cx="6467301" cy="11471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5434" y="2493345"/>
              <a:ext cx="7653020" cy="999490"/>
            </a:xfrm>
            <a:custGeom>
              <a:avLst/>
              <a:gdLst/>
              <a:ahLst/>
              <a:cxnLst/>
              <a:rect l="l" t="t" r="r" b="b"/>
              <a:pathLst>
                <a:path w="7653020" h="999489">
                  <a:moveTo>
                    <a:pt x="7153148" y="0"/>
                  </a:moveTo>
                  <a:lnTo>
                    <a:pt x="0" y="0"/>
                  </a:lnTo>
                  <a:lnTo>
                    <a:pt x="499431" y="499432"/>
                  </a:lnTo>
                  <a:lnTo>
                    <a:pt x="0" y="998862"/>
                  </a:lnTo>
                  <a:lnTo>
                    <a:pt x="7153148" y="998862"/>
                  </a:lnTo>
                  <a:lnTo>
                    <a:pt x="7652578" y="499432"/>
                  </a:lnTo>
                  <a:lnTo>
                    <a:pt x="7153148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5434" y="2493345"/>
              <a:ext cx="7653020" cy="999490"/>
            </a:xfrm>
            <a:custGeom>
              <a:avLst/>
              <a:gdLst/>
              <a:ahLst/>
              <a:cxnLst/>
              <a:rect l="l" t="t" r="r" b="b"/>
              <a:pathLst>
                <a:path w="7653020" h="999489">
                  <a:moveTo>
                    <a:pt x="0" y="0"/>
                  </a:moveTo>
                  <a:lnTo>
                    <a:pt x="7153147" y="0"/>
                  </a:lnTo>
                  <a:lnTo>
                    <a:pt x="7652578" y="499431"/>
                  </a:lnTo>
                  <a:lnTo>
                    <a:pt x="7153147" y="998862"/>
                  </a:lnTo>
                  <a:lnTo>
                    <a:pt x="0" y="998862"/>
                  </a:lnTo>
                  <a:lnTo>
                    <a:pt x="499431" y="499431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23207" y="3740727"/>
            <a:ext cx="7830820" cy="1163955"/>
            <a:chOff x="723207" y="3740727"/>
            <a:chExt cx="7830820" cy="116395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207" y="3740727"/>
              <a:ext cx="7830588" cy="116378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6662" y="3749040"/>
              <a:ext cx="6504708" cy="11471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03686" y="3778935"/>
              <a:ext cx="7684770" cy="1042669"/>
            </a:xfrm>
            <a:custGeom>
              <a:avLst/>
              <a:gdLst/>
              <a:ahLst/>
              <a:cxnLst/>
              <a:rect l="l" t="t" r="r" b="b"/>
              <a:pathLst>
                <a:path w="7684770" h="1042670">
                  <a:moveTo>
                    <a:pt x="7163103" y="0"/>
                  </a:moveTo>
                  <a:lnTo>
                    <a:pt x="0" y="0"/>
                  </a:lnTo>
                  <a:lnTo>
                    <a:pt x="521225" y="521224"/>
                  </a:lnTo>
                  <a:lnTo>
                    <a:pt x="0" y="1042447"/>
                  </a:lnTo>
                  <a:lnTo>
                    <a:pt x="7163103" y="1042447"/>
                  </a:lnTo>
                  <a:lnTo>
                    <a:pt x="7684326" y="521224"/>
                  </a:lnTo>
                  <a:lnTo>
                    <a:pt x="7163103" y="0"/>
                  </a:lnTo>
                  <a:close/>
                </a:path>
              </a:pathLst>
            </a:custGeom>
            <a:solidFill>
              <a:srgbClr val="A2D6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3686" y="3778935"/>
              <a:ext cx="7684770" cy="1042669"/>
            </a:xfrm>
            <a:custGeom>
              <a:avLst/>
              <a:gdLst/>
              <a:ahLst/>
              <a:cxnLst/>
              <a:rect l="l" t="t" r="r" b="b"/>
              <a:pathLst>
                <a:path w="7684770" h="1042670">
                  <a:moveTo>
                    <a:pt x="0" y="0"/>
                  </a:moveTo>
                  <a:lnTo>
                    <a:pt x="7163102" y="0"/>
                  </a:lnTo>
                  <a:lnTo>
                    <a:pt x="7684326" y="521224"/>
                  </a:lnTo>
                  <a:lnTo>
                    <a:pt x="7163102" y="1042448"/>
                  </a:lnTo>
                  <a:lnTo>
                    <a:pt x="0" y="1042448"/>
                  </a:lnTo>
                  <a:lnTo>
                    <a:pt x="521224" y="52122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27363" y="5070763"/>
            <a:ext cx="7827009" cy="1010285"/>
            <a:chOff x="727363" y="5070763"/>
            <a:chExt cx="7827009" cy="101028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7363" y="5070763"/>
              <a:ext cx="7826432" cy="1009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06171" y="5107450"/>
              <a:ext cx="7682230" cy="889000"/>
            </a:xfrm>
            <a:custGeom>
              <a:avLst/>
              <a:gdLst/>
              <a:ahLst/>
              <a:cxnLst/>
              <a:rect l="l" t="t" r="r" b="b"/>
              <a:pathLst>
                <a:path w="7682230" h="889000">
                  <a:moveTo>
                    <a:pt x="7237341" y="0"/>
                  </a:moveTo>
                  <a:lnTo>
                    <a:pt x="0" y="0"/>
                  </a:lnTo>
                  <a:lnTo>
                    <a:pt x="444500" y="444500"/>
                  </a:lnTo>
                  <a:lnTo>
                    <a:pt x="0" y="888999"/>
                  </a:lnTo>
                  <a:lnTo>
                    <a:pt x="7237341" y="888999"/>
                  </a:lnTo>
                  <a:lnTo>
                    <a:pt x="7681841" y="444500"/>
                  </a:lnTo>
                  <a:lnTo>
                    <a:pt x="7237341" y="0"/>
                  </a:lnTo>
                  <a:close/>
                </a:path>
              </a:pathLst>
            </a:custGeom>
            <a:solidFill>
              <a:srgbClr val="FDD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6171" y="5107451"/>
              <a:ext cx="7682230" cy="889000"/>
            </a:xfrm>
            <a:custGeom>
              <a:avLst/>
              <a:gdLst/>
              <a:ahLst/>
              <a:cxnLst/>
              <a:rect l="l" t="t" r="r" b="b"/>
              <a:pathLst>
                <a:path w="7682230" h="889000">
                  <a:moveTo>
                    <a:pt x="0" y="0"/>
                  </a:moveTo>
                  <a:lnTo>
                    <a:pt x="7237341" y="0"/>
                  </a:lnTo>
                  <a:lnTo>
                    <a:pt x="7681840" y="444499"/>
                  </a:lnTo>
                  <a:lnTo>
                    <a:pt x="7237341" y="888999"/>
                  </a:lnTo>
                  <a:lnTo>
                    <a:pt x="0" y="888999"/>
                  </a:lnTo>
                  <a:lnTo>
                    <a:pt x="444499" y="444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29411" y="1357966"/>
            <a:ext cx="6551295" cy="45370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2384" marR="5080" algn="just">
              <a:lnSpc>
                <a:spcPts val="2600"/>
              </a:lnSpc>
              <a:spcBef>
                <a:spcPts val="219"/>
              </a:spcBef>
            </a:pPr>
            <a:r>
              <a:rPr sz="2200" b="1" spc="-5" dirty="0">
                <a:latin typeface="Arial"/>
                <a:cs typeface="Arial"/>
              </a:rPr>
              <a:t>Control: </a:t>
            </a:r>
            <a:r>
              <a:rPr sz="2200" spc="-5" dirty="0">
                <a:latin typeface="Arial MT"/>
                <a:cs typeface="Arial MT"/>
              </a:rPr>
              <a:t>Formal </a:t>
            </a:r>
            <a:r>
              <a:rPr sz="2200" dirty="0">
                <a:latin typeface="Arial MT"/>
                <a:cs typeface="Arial MT"/>
              </a:rPr>
              <a:t>and </a:t>
            </a:r>
            <a:r>
              <a:rPr sz="2200" spc="-5" dirty="0">
                <a:latin typeface="Arial MT"/>
                <a:cs typeface="Arial MT"/>
              </a:rPr>
              <a:t>informal communications </a:t>
            </a:r>
            <a:r>
              <a:rPr sz="2200" dirty="0">
                <a:latin typeface="Arial MT"/>
                <a:cs typeface="Arial MT"/>
              </a:rPr>
              <a:t>act </a:t>
            </a:r>
            <a:r>
              <a:rPr sz="2200" spc="-5" dirty="0">
                <a:latin typeface="Arial MT"/>
                <a:cs typeface="Arial MT"/>
              </a:rPr>
              <a:t>to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control </a:t>
            </a:r>
            <a:r>
              <a:rPr sz="2200" dirty="0">
                <a:latin typeface="Arial MT"/>
                <a:cs typeface="Arial MT"/>
              </a:rPr>
              <a:t>individuals’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behaviors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 </a:t>
            </a:r>
            <a:r>
              <a:rPr sz="2200" spc="-5" dirty="0">
                <a:latin typeface="Arial MT"/>
                <a:cs typeface="Arial MT"/>
              </a:rPr>
              <a:t>organizations.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Arial MT"/>
              <a:cs typeface="Arial MT"/>
            </a:endParaRPr>
          </a:p>
          <a:p>
            <a:pPr marL="96520" marR="124460" algn="just">
              <a:lnSpc>
                <a:spcPts val="2600"/>
              </a:lnSpc>
            </a:pPr>
            <a:r>
              <a:rPr sz="2200" b="1" spc="-5" dirty="0">
                <a:latin typeface="Arial"/>
                <a:cs typeface="Arial"/>
              </a:rPr>
              <a:t>Motivation: </a:t>
            </a:r>
            <a:r>
              <a:rPr sz="2200" spc="-5" dirty="0">
                <a:latin typeface="Arial MT"/>
                <a:cs typeface="Arial MT"/>
              </a:rPr>
              <a:t>Communications clarify for </a:t>
            </a:r>
            <a:r>
              <a:rPr sz="2200" dirty="0">
                <a:latin typeface="Arial MT"/>
                <a:cs typeface="Arial MT"/>
              </a:rPr>
              <a:t>employees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what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done,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</a:t>
            </a:r>
            <a:r>
              <a:rPr sz="2200" spc="-5" dirty="0">
                <a:latin typeface="Arial MT"/>
                <a:cs typeface="Arial MT"/>
              </a:rPr>
              <a:t> they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done</a:t>
            </a:r>
            <a:r>
              <a:rPr sz="2200" spc="-5" dirty="0">
                <a:latin typeface="Arial MT"/>
                <a:cs typeface="Arial MT"/>
              </a:rPr>
              <a:t> it,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what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 be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done </a:t>
            </a:r>
            <a:r>
              <a:rPr sz="2200" spc="-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improve </a:t>
            </a:r>
            <a:r>
              <a:rPr sz="2200" spc="-5" dirty="0">
                <a:latin typeface="Arial MT"/>
                <a:cs typeface="Arial MT"/>
              </a:rPr>
              <a:t>performance.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Arial MT"/>
              <a:cs typeface="Arial MT"/>
            </a:endParaRPr>
          </a:p>
          <a:p>
            <a:pPr marL="86360" marR="88900">
              <a:lnSpc>
                <a:spcPts val="2600"/>
              </a:lnSpc>
              <a:spcBef>
                <a:spcPts val="5"/>
              </a:spcBef>
            </a:pPr>
            <a:r>
              <a:rPr sz="2200" b="1" spc="-5" dirty="0">
                <a:latin typeface="Arial"/>
                <a:cs typeface="Arial"/>
              </a:rPr>
              <a:t>Emotional Expression: </a:t>
            </a:r>
            <a:r>
              <a:rPr sz="2200" dirty="0">
                <a:latin typeface="Arial MT"/>
                <a:cs typeface="Arial MT"/>
              </a:rPr>
              <a:t>Social </a:t>
            </a:r>
            <a:r>
              <a:rPr sz="2200" spc="-5" dirty="0">
                <a:latin typeface="Arial MT"/>
                <a:cs typeface="Arial MT"/>
              </a:rPr>
              <a:t>interaction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 </a:t>
            </a:r>
            <a:r>
              <a:rPr sz="2200" spc="-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form </a:t>
            </a:r>
            <a:r>
              <a:rPr sz="2200" dirty="0">
                <a:latin typeface="Arial MT"/>
                <a:cs typeface="Arial MT"/>
              </a:rPr>
              <a:t>of work group </a:t>
            </a:r>
            <a:r>
              <a:rPr sz="2200" spc="-5" dirty="0">
                <a:latin typeface="Arial MT"/>
                <a:cs typeface="Arial MT"/>
              </a:rPr>
              <a:t>communications </a:t>
            </a:r>
            <a:r>
              <a:rPr sz="2200" dirty="0">
                <a:latin typeface="Arial MT"/>
                <a:cs typeface="Arial MT"/>
              </a:rPr>
              <a:t>provides a way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employees</a:t>
            </a:r>
            <a:r>
              <a:rPr sz="2200" spc="-5" dirty="0">
                <a:latin typeface="Arial MT"/>
                <a:cs typeface="Arial MT"/>
              </a:rPr>
              <a:t> to</a:t>
            </a:r>
            <a:r>
              <a:rPr sz="2200" dirty="0">
                <a:latin typeface="Arial MT"/>
                <a:cs typeface="Arial MT"/>
              </a:rPr>
              <a:t> express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themselves.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00">
              <a:latin typeface="Arial MT"/>
              <a:cs typeface="Arial MT"/>
            </a:endParaRPr>
          </a:p>
          <a:p>
            <a:pPr marL="12700" marR="442595">
              <a:lnSpc>
                <a:spcPts val="2600"/>
              </a:lnSpc>
            </a:pPr>
            <a:r>
              <a:rPr sz="2200" b="1" spc="-5" dirty="0">
                <a:latin typeface="Arial"/>
                <a:cs typeface="Arial"/>
              </a:rPr>
              <a:t>Information: </a:t>
            </a:r>
            <a:r>
              <a:rPr sz="2200" spc="-5" dirty="0">
                <a:latin typeface="Arial MT"/>
                <a:cs typeface="Arial MT"/>
              </a:rPr>
              <a:t>Individuals </a:t>
            </a:r>
            <a:r>
              <a:rPr sz="2200" dirty="0">
                <a:latin typeface="Arial MT"/>
                <a:cs typeface="Arial MT"/>
              </a:rPr>
              <a:t>and work groups need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information to </a:t>
            </a:r>
            <a:r>
              <a:rPr sz="2200" dirty="0">
                <a:latin typeface="Arial MT"/>
                <a:cs typeface="Arial MT"/>
              </a:rPr>
              <a:t>make decisions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do</a:t>
            </a:r>
            <a:r>
              <a:rPr sz="2200" spc="-5" dirty="0">
                <a:latin typeface="Arial MT"/>
                <a:cs typeface="Arial MT"/>
              </a:rPr>
              <a:t> their </a:t>
            </a:r>
            <a:r>
              <a:rPr sz="2200" dirty="0">
                <a:latin typeface="Arial MT"/>
                <a:cs typeface="Arial MT"/>
              </a:rPr>
              <a:t>work.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2211" y="1264621"/>
            <a:ext cx="940435" cy="892810"/>
            <a:chOff x="432211" y="1264621"/>
            <a:chExt cx="940435" cy="892810"/>
          </a:xfrm>
        </p:grpSpPr>
        <p:sp>
          <p:nvSpPr>
            <p:cNvPr id="23" name="object 23"/>
            <p:cNvSpPr/>
            <p:nvPr/>
          </p:nvSpPr>
          <p:spPr>
            <a:xfrm>
              <a:off x="444912" y="127732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457313" y="0"/>
                  </a:moveTo>
                  <a:lnTo>
                    <a:pt x="407484" y="2543"/>
                  </a:lnTo>
                  <a:lnTo>
                    <a:pt x="359209" y="9998"/>
                  </a:lnTo>
                  <a:lnTo>
                    <a:pt x="312767" y="22100"/>
                  </a:lnTo>
                  <a:lnTo>
                    <a:pt x="268437" y="38584"/>
                  </a:lnTo>
                  <a:lnTo>
                    <a:pt x="226498" y="59185"/>
                  </a:lnTo>
                  <a:lnTo>
                    <a:pt x="187230" y="83640"/>
                  </a:lnTo>
                  <a:lnTo>
                    <a:pt x="150910" y="111684"/>
                  </a:lnTo>
                  <a:lnTo>
                    <a:pt x="117819" y="143052"/>
                  </a:lnTo>
                  <a:lnTo>
                    <a:pt x="88235" y="177481"/>
                  </a:lnTo>
                  <a:lnTo>
                    <a:pt x="62436" y="214705"/>
                  </a:lnTo>
                  <a:lnTo>
                    <a:pt x="40703" y="254460"/>
                  </a:lnTo>
                  <a:lnTo>
                    <a:pt x="23314" y="296481"/>
                  </a:lnTo>
                  <a:lnTo>
                    <a:pt x="10547" y="340505"/>
                  </a:lnTo>
                  <a:lnTo>
                    <a:pt x="2683" y="386266"/>
                  </a:lnTo>
                  <a:lnTo>
                    <a:pt x="0" y="433501"/>
                  </a:lnTo>
                  <a:lnTo>
                    <a:pt x="2683" y="480736"/>
                  </a:lnTo>
                  <a:lnTo>
                    <a:pt x="10547" y="526498"/>
                  </a:lnTo>
                  <a:lnTo>
                    <a:pt x="23314" y="570521"/>
                  </a:lnTo>
                  <a:lnTo>
                    <a:pt x="40703" y="612543"/>
                  </a:lnTo>
                  <a:lnTo>
                    <a:pt x="62436" y="652298"/>
                  </a:lnTo>
                  <a:lnTo>
                    <a:pt x="88235" y="689522"/>
                  </a:lnTo>
                  <a:lnTo>
                    <a:pt x="117819" y="723950"/>
                  </a:lnTo>
                  <a:lnTo>
                    <a:pt x="150910" y="755319"/>
                  </a:lnTo>
                  <a:lnTo>
                    <a:pt x="187230" y="783362"/>
                  </a:lnTo>
                  <a:lnTo>
                    <a:pt x="226498" y="807817"/>
                  </a:lnTo>
                  <a:lnTo>
                    <a:pt x="268437" y="828419"/>
                  </a:lnTo>
                  <a:lnTo>
                    <a:pt x="312767" y="844903"/>
                  </a:lnTo>
                  <a:lnTo>
                    <a:pt x="359209" y="857004"/>
                  </a:lnTo>
                  <a:lnTo>
                    <a:pt x="407484" y="864459"/>
                  </a:lnTo>
                  <a:lnTo>
                    <a:pt x="457313" y="867003"/>
                  </a:lnTo>
                  <a:lnTo>
                    <a:pt x="507143" y="864459"/>
                  </a:lnTo>
                  <a:lnTo>
                    <a:pt x="555418" y="857004"/>
                  </a:lnTo>
                  <a:lnTo>
                    <a:pt x="601860" y="844903"/>
                  </a:lnTo>
                  <a:lnTo>
                    <a:pt x="646190" y="828419"/>
                  </a:lnTo>
                  <a:lnTo>
                    <a:pt x="688129" y="807817"/>
                  </a:lnTo>
                  <a:lnTo>
                    <a:pt x="727397" y="783362"/>
                  </a:lnTo>
                  <a:lnTo>
                    <a:pt x="763717" y="755319"/>
                  </a:lnTo>
                  <a:lnTo>
                    <a:pt x="796808" y="723950"/>
                  </a:lnTo>
                  <a:lnTo>
                    <a:pt x="826392" y="689522"/>
                  </a:lnTo>
                  <a:lnTo>
                    <a:pt x="852191" y="652298"/>
                  </a:lnTo>
                  <a:lnTo>
                    <a:pt x="873924" y="612543"/>
                  </a:lnTo>
                  <a:lnTo>
                    <a:pt x="891313" y="570521"/>
                  </a:lnTo>
                  <a:lnTo>
                    <a:pt x="904080" y="526498"/>
                  </a:lnTo>
                  <a:lnTo>
                    <a:pt x="911944" y="480736"/>
                  </a:lnTo>
                  <a:lnTo>
                    <a:pt x="914628" y="433501"/>
                  </a:lnTo>
                  <a:lnTo>
                    <a:pt x="911944" y="386266"/>
                  </a:lnTo>
                  <a:lnTo>
                    <a:pt x="904080" y="340505"/>
                  </a:lnTo>
                  <a:lnTo>
                    <a:pt x="891313" y="296481"/>
                  </a:lnTo>
                  <a:lnTo>
                    <a:pt x="873924" y="254460"/>
                  </a:lnTo>
                  <a:lnTo>
                    <a:pt x="852191" y="214705"/>
                  </a:lnTo>
                  <a:lnTo>
                    <a:pt x="826392" y="177481"/>
                  </a:lnTo>
                  <a:lnTo>
                    <a:pt x="796808" y="143052"/>
                  </a:lnTo>
                  <a:lnTo>
                    <a:pt x="763717" y="111684"/>
                  </a:lnTo>
                  <a:lnTo>
                    <a:pt x="727397" y="83640"/>
                  </a:lnTo>
                  <a:lnTo>
                    <a:pt x="688129" y="59185"/>
                  </a:lnTo>
                  <a:lnTo>
                    <a:pt x="646190" y="38584"/>
                  </a:lnTo>
                  <a:lnTo>
                    <a:pt x="601860" y="22100"/>
                  </a:lnTo>
                  <a:lnTo>
                    <a:pt x="555418" y="9998"/>
                  </a:lnTo>
                  <a:lnTo>
                    <a:pt x="507143" y="2543"/>
                  </a:lnTo>
                  <a:lnTo>
                    <a:pt x="457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911" y="127732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0" y="433501"/>
                  </a:moveTo>
                  <a:lnTo>
                    <a:pt x="2683" y="386267"/>
                  </a:lnTo>
                  <a:lnTo>
                    <a:pt x="10547" y="340505"/>
                  </a:lnTo>
                  <a:lnTo>
                    <a:pt x="23314" y="296481"/>
                  </a:lnTo>
                  <a:lnTo>
                    <a:pt x="40703" y="254460"/>
                  </a:lnTo>
                  <a:lnTo>
                    <a:pt x="62436" y="214705"/>
                  </a:lnTo>
                  <a:lnTo>
                    <a:pt x="88235" y="177481"/>
                  </a:lnTo>
                  <a:lnTo>
                    <a:pt x="117819" y="143052"/>
                  </a:lnTo>
                  <a:lnTo>
                    <a:pt x="150910" y="111684"/>
                  </a:lnTo>
                  <a:lnTo>
                    <a:pt x="187230" y="83640"/>
                  </a:lnTo>
                  <a:lnTo>
                    <a:pt x="226498" y="59185"/>
                  </a:lnTo>
                  <a:lnTo>
                    <a:pt x="268437" y="38584"/>
                  </a:lnTo>
                  <a:lnTo>
                    <a:pt x="312767" y="22100"/>
                  </a:lnTo>
                  <a:lnTo>
                    <a:pt x="359209" y="9998"/>
                  </a:lnTo>
                  <a:lnTo>
                    <a:pt x="407484" y="2543"/>
                  </a:lnTo>
                  <a:lnTo>
                    <a:pt x="457313" y="0"/>
                  </a:lnTo>
                  <a:lnTo>
                    <a:pt x="507143" y="2543"/>
                  </a:lnTo>
                  <a:lnTo>
                    <a:pt x="555418" y="9998"/>
                  </a:lnTo>
                  <a:lnTo>
                    <a:pt x="601860" y="22100"/>
                  </a:lnTo>
                  <a:lnTo>
                    <a:pt x="646190" y="38584"/>
                  </a:lnTo>
                  <a:lnTo>
                    <a:pt x="688128" y="59185"/>
                  </a:lnTo>
                  <a:lnTo>
                    <a:pt x="727397" y="83640"/>
                  </a:lnTo>
                  <a:lnTo>
                    <a:pt x="763716" y="111684"/>
                  </a:lnTo>
                  <a:lnTo>
                    <a:pt x="796808" y="143052"/>
                  </a:lnTo>
                  <a:lnTo>
                    <a:pt x="826392" y="177481"/>
                  </a:lnTo>
                  <a:lnTo>
                    <a:pt x="852190" y="214705"/>
                  </a:lnTo>
                  <a:lnTo>
                    <a:pt x="873924" y="254460"/>
                  </a:lnTo>
                  <a:lnTo>
                    <a:pt x="891313" y="296481"/>
                  </a:lnTo>
                  <a:lnTo>
                    <a:pt x="904079" y="340505"/>
                  </a:lnTo>
                  <a:lnTo>
                    <a:pt x="911944" y="386267"/>
                  </a:lnTo>
                  <a:lnTo>
                    <a:pt x="914627" y="433501"/>
                  </a:lnTo>
                  <a:lnTo>
                    <a:pt x="911944" y="480736"/>
                  </a:lnTo>
                  <a:lnTo>
                    <a:pt x="904079" y="526498"/>
                  </a:lnTo>
                  <a:lnTo>
                    <a:pt x="891313" y="570522"/>
                  </a:lnTo>
                  <a:lnTo>
                    <a:pt x="873924" y="612543"/>
                  </a:lnTo>
                  <a:lnTo>
                    <a:pt x="852190" y="652298"/>
                  </a:lnTo>
                  <a:lnTo>
                    <a:pt x="826392" y="689522"/>
                  </a:lnTo>
                  <a:lnTo>
                    <a:pt x="796808" y="723950"/>
                  </a:lnTo>
                  <a:lnTo>
                    <a:pt x="763716" y="755319"/>
                  </a:lnTo>
                  <a:lnTo>
                    <a:pt x="727397" y="783362"/>
                  </a:lnTo>
                  <a:lnTo>
                    <a:pt x="688128" y="807817"/>
                  </a:lnTo>
                  <a:lnTo>
                    <a:pt x="646190" y="828419"/>
                  </a:lnTo>
                  <a:lnTo>
                    <a:pt x="601860" y="844903"/>
                  </a:lnTo>
                  <a:lnTo>
                    <a:pt x="555418" y="857004"/>
                  </a:lnTo>
                  <a:lnTo>
                    <a:pt x="507143" y="864459"/>
                  </a:lnTo>
                  <a:lnTo>
                    <a:pt x="457313" y="867003"/>
                  </a:lnTo>
                  <a:lnTo>
                    <a:pt x="407484" y="864459"/>
                  </a:lnTo>
                  <a:lnTo>
                    <a:pt x="359209" y="857004"/>
                  </a:lnTo>
                  <a:lnTo>
                    <a:pt x="312767" y="844903"/>
                  </a:lnTo>
                  <a:lnTo>
                    <a:pt x="268437" y="828419"/>
                  </a:lnTo>
                  <a:lnTo>
                    <a:pt x="226498" y="807817"/>
                  </a:lnTo>
                  <a:lnTo>
                    <a:pt x="187230" y="783362"/>
                  </a:lnTo>
                  <a:lnTo>
                    <a:pt x="150910" y="755319"/>
                  </a:lnTo>
                  <a:lnTo>
                    <a:pt x="117819" y="723950"/>
                  </a:lnTo>
                  <a:lnTo>
                    <a:pt x="88235" y="689522"/>
                  </a:lnTo>
                  <a:lnTo>
                    <a:pt x="62436" y="652298"/>
                  </a:lnTo>
                  <a:lnTo>
                    <a:pt x="40703" y="612543"/>
                  </a:lnTo>
                  <a:lnTo>
                    <a:pt x="23314" y="570522"/>
                  </a:lnTo>
                  <a:lnTo>
                    <a:pt x="10547" y="526498"/>
                  </a:lnTo>
                  <a:lnTo>
                    <a:pt x="2683" y="480736"/>
                  </a:lnTo>
                  <a:lnTo>
                    <a:pt x="0" y="433501"/>
                  </a:lnTo>
                  <a:close/>
                </a:path>
              </a:pathLst>
            </a:custGeom>
            <a:ln w="25399">
              <a:solidFill>
                <a:srgbClr val="ECC6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21085" y="2512396"/>
            <a:ext cx="1019810" cy="964565"/>
            <a:chOff x="321085" y="2512396"/>
            <a:chExt cx="1019810" cy="964565"/>
          </a:xfrm>
        </p:grpSpPr>
        <p:sp>
          <p:nvSpPr>
            <p:cNvPr id="26" name="object 26"/>
            <p:cNvSpPr/>
            <p:nvPr/>
          </p:nvSpPr>
          <p:spPr>
            <a:xfrm>
              <a:off x="333785" y="2525096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497001" y="0"/>
                  </a:moveTo>
                  <a:lnTo>
                    <a:pt x="449137" y="2148"/>
                  </a:lnTo>
                  <a:lnTo>
                    <a:pt x="402559" y="8464"/>
                  </a:lnTo>
                  <a:lnTo>
                    <a:pt x="357478" y="18749"/>
                  </a:lnTo>
                  <a:lnTo>
                    <a:pt x="314100" y="32807"/>
                  </a:lnTo>
                  <a:lnTo>
                    <a:pt x="272634" y="50442"/>
                  </a:lnTo>
                  <a:lnTo>
                    <a:pt x="233288" y="71456"/>
                  </a:lnTo>
                  <a:lnTo>
                    <a:pt x="196271" y="95654"/>
                  </a:lnTo>
                  <a:lnTo>
                    <a:pt x="161792" y="122837"/>
                  </a:lnTo>
                  <a:lnTo>
                    <a:pt x="130057" y="152811"/>
                  </a:lnTo>
                  <a:lnTo>
                    <a:pt x="101276" y="185377"/>
                  </a:lnTo>
                  <a:lnTo>
                    <a:pt x="75656" y="220339"/>
                  </a:lnTo>
                  <a:lnTo>
                    <a:pt x="53407" y="257500"/>
                  </a:lnTo>
                  <a:lnTo>
                    <a:pt x="34735" y="296665"/>
                  </a:lnTo>
                  <a:lnTo>
                    <a:pt x="19851" y="337635"/>
                  </a:lnTo>
                  <a:lnTo>
                    <a:pt x="8961" y="380214"/>
                  </a:lnTo>
                  <a:lnTo>
                    <a:pt x="2275" y="424206"/>
                  </a:lnTo>
                  <a:lnTo>
                    <a:pt x="0" y="469414"/>
                  </a:lnTo>
                  <a:lnTo>
                    <a:pt x="2275" y="514622"/>
                  </a:lnTo>
                  <a:lnTo>
                    <a:pt x="8961" y="558614"/>
                  </a:lnTo>
                  <a:lnTo>
                    <a:pt x="19851" y="601193"/>
                  </a:lnTo>
                  <a:lnTo>
                    <a:pt x="34735" y="642164"/>
                  </a:lnTo>
                  <a:lnTo>
                    <a:pt x="53407" y="681328"/>
                  </a:lnTo>
                  <a:lnTo>
                    <a:pt x="75656" y="718489"/>
                  </a:lnTo>
                  <a:lnTo>
                    <a:pt x="101276" y="753452"/>
                  </a:lnTo>
                  <a:lnTo>
                    <a:pt x="130057" y="786018"/>
                  </a:lnTo>
                  <a:lnTo>
                    <a:pt x="161792" y="815991"/>
                  </a:lnTo>
                  <a:lnTo>
                    <a:pt x="196271" y="843175"/>
                  </a:lnTo>
                  <a:lnTo>
                    <a:pt x="233288" y="867372"/>
                  </a:lnTo>
                  <a:lnTo>
                    <a:pt x="272634" y="888387"/>
                  </a:lnTo>
                  <a:lnTo>
                    <a:pt x="314100" y="906021"/>
                  </a:lnTo>
                  <a:lnTo>
                    <a:pt x="357478" y="920080"/>
                  </a:lnTo>
                  <a:lnTo>
                    <a:pt x="402559" y="930365"/>
                  </a:lnTo>
                  <a:lnTo>
                    <a:pt x="449137" y="936680"/>
                  </a:lnTo>
                  <a:lnTo>
                    <a:pt x="497001" y="938829"/>
                  </a:lnTo>
                  <a:lnTo>
                    <a:pt x="544866" y="936680"/>
                  </a:lnTo>
                  <a:lnTo>
                    <a:pt x="591443" y="930365"/>
                  </a:lnTo>
                  <a:lnTo>
                    <a:pt x="636525" y="920080"/>
                  </a:lnTo>
                  <a:lnTo>
                    <a:pt x="679903" y="906021"/>
                  </a:lnTo>
                  <a:lnTo>
                    <a:pt x="721369" y="888387"/>
                  </a:lnTo>
                  <a:lnTo>
                    <a:pt x="760715" y="867372"/>
                  </a:lnTo>
                  <a:lnTo>
                    <a:pt x="797732" y="843175"/>
                  </a:lnTo>
                  <a:lnTo>
                    <a:pt x="832211" y="815991"/>
                  </a:lnTo>
                  <a:lnTo>
                    <a:pt x="863946" y="786018"/>
                  </a:lnTo>
                  <a:lnTo>
                    <a:pt x="892727" y="753452"/>
                  </a:lnTo>
                  <a:lnTo>
                    <a:pt x="918347" y="718489"/>
                  </a:lnTo>
                  <a:lnTo>
                    <a:pt x="940596" y="681328"/>
                  </a:lnTo>
                  <a:lnTo>
                    <a:pt x="959268" y="642164"/>
                  </a:lnTo>
                  <a:lnTo>
                    <a:pt x="974152" y="601193"/>
                  </a:lnTo>
                  <a:lnTo>
                    <a:pt x="985042" y="558614"/>
                  </a:lnTo>
                  <a:lnTo>
                    <a:pt x="991728" y="514622"/>
                  </a:lnTo>
                  <a:lnTo>
                    <a:pt x="994004" y="469414"/>
                  </a:lnTo>
                  <a:lnTo>
                    <a:pt x="991728" y="424206"/>
                  </a:lnTo>
                  <a:lnTo>
                    <a:pt x="985042" y="380214"/>
                  </a:lnTo>
                  <a:lnTo>
                    <a:pt x="974152" y="337635"/>
                  </a:lnTo>
                  <a:lnTo>
                    <a:pt x="959268" y="296665"/>
                  </a:lnTo>
                  <a:lnTo>
                    <a:pt x="940596" y="257500"/>
                  </a:lnTo>
                  <a:lnTo>
                    <a:pt x="918347" y="220339"/>
                  </a:lnTo>
                  <a:lnTo>
                    <a:pt x="892727" y="185377"/>
                  </a:lnTo>
                  <a:lnTo>
                    <a:pt x="863946" y="152811"/>
                  </a:lnTo>
                  <a:lnTo>
                    <a:pt x="832211" y="122837"/>
                  </a:lnTo>
                  <a:lnTo>
                    <a:pt x="797732" y="95654"/>
                  </a:lnTo>
                  <a:lnTo>
                    <a:pt x="760715" y="71456"/>
                  </a:lnTo>
                  <a:lnTo>
                    <a:pt x="721369" y="50442"/>
                  </a:lnTo>
                  <a:lnTo>
                    <a:pt x="679903" y="32807"/>
                  </a:lnTo>
                  <a:lnTo>
                    <a:pt x="636525" y="18749"/>
                  </a:lnTo>
                  <a:lnTo>
                    <a:pt x="591443" y="8464"/>
                  </a:lnTo>
                  <a:lnTo>
                    <a:pt x="544866" y="2148"/>
                  </a:lnTo>
                  <a:lnTo>
                    <a:pt x="497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3785" y="2525096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0" y="469414"/>
                  </a:moveTo>
                  <a:lnTo>
                    <a:pt x="2275" y="424206"/>
                  </a:lnTo>
                  <a:lnTo>
                    <a:pt x="8961" y="380215"/>
                  </a:lnTo>
                  <a:lnTo>
                    <a:pt x="19851" y="337635"/>
                  </a:lnTo>
                  <a:lnTo>
                    <a:pt x="34735" y="296665"/>
                  </a:lnTo>
                  <a:lnTo>
                    <a:pt x="53407" y="257501"/>
                  </a:lnTo>
                  <a:lnTo>
                    <a:pt x="75656" y="220339"/>
                  </a:lnTo>
                  <a:lnTo>
                    <a:pt x="101276" y="185377"/>
                  </a:lnTo>
                  <a:lnTo>
                    <a:pt x="130057" y="152811"/>
                  </a:lnTo>
                  <a:lnTo>
                    <a:pt x="161792" y="122838"/>
                  </a:lnTo>
                  <a:lnTo>
                    <a:pt x="196271" y="95654"/>
                  </a:lnTo>
                  <a:lnTo>
                    <a:pt x="233288" y="71457"/>
                  </a:lnTo>
                  <a:lnTo>
                    <a:pt x="272634" y="50442"/>
                  </a:lnTo>
                  <a:lnTo>
                    <a:pt x="314100" y="32807"/>
                  </a:lnTo>
                  <a:lnTo>
                    <a:pt x="357478" y="18749"/>
                  </a:lnTo>
                  <a:lnTo>
                    <a:pt x="402559" y="8464"/>
                  </a:lnTo>
                  <a:lnTo>
                    <a:pt x="449137" y="2148"/>
                  </a:lnTo>
                  <a:lnTo>
                    <a:pt x="497001" y="0"/>
                  </a:lnTo>
                  <a:lnTo>
                    <a:pt x="544866" y="2148"/>
                  </a:lnTo>
                  <a:lnTo>
                    <a:pt x="591443" y="8464"/>
                  </a:lnTo>
                  <a:lnTo>
                    <a:pt x="636525" y="18749"/>
                  </a:lnTo>
                  <a:lnTo>
                    <a:pt x="679903" y="32807"/>
                  </a:lnTo>
                  <a:lnTo>
                    <a:pt x="721369" y="50442"/>
                  </a:lnTo>
                  <a:lnTo>
                    <a:pt x="760714" y="71457"/>
                  </a:lnTo>
                  <a:lnTo>
                    <a:pt x="797731" y="95654"/>
                  </a:lnTo>
                  <a:lnTo>
                    <a:pt x="832211" y="122838"/>
                  </a:lnTo>
                  <a:lnTo>
                    <a:pt x="863946" y="152811"/>
                  </a:lnTo>
                  <a:lnTo>
                    <a:pt x="892727" y="185377"/>
                  </a:lnTo>
                  <a:lnTo>
                    <a:pt x="918347" y="220339"/>
                  </a:lnTo>
                  <a:lnTo>
                    <a:pt x="940596" y="257501"/>
                  </a:lnTo>
                  <a:lnTo>
                    <a:pt x="959267" y="296665"/>
                  </a:lnTo>
                  <a:lnTo>
                    <a:pt x="974152" y="337635"/>
                  </a:lnTo>
                  <a:lnTo>
                    <a:pt x="985041" y="380215"/>
                  </a:lnTo>
                  <a:lnTo>
                    <a:pt x="991728" y="424206"/>
                  </a:lnTo>
                  <a:lnTo>
                    <a:pt x="994003" y="469414"/>
                  </a:lnTo>
                  <a:lnTo>
                    <a:pt x="991728" y="514622"/>
                  </a:lnTo>
                  <a:lnTo>
                    <a:pt x="985041" y="558614"/>
                  </a:lnTo>
                  <a:lnTo>
                    <a:pt x="974152" y="601193"/>
                  </a:lnTo>
                  <a:lnTo>
                    <a:pt x="959267" y="642164"/>
                  </a:lnTo>
                  <a:lnTo>
                    <a:pt x="940596" y="681328"/>
                  </a:lnTo>
                  <a:lnTo>
                    <a:pt x="918347" y="718490"/>
                  </a:lnTo>
                  <a:lnTo>
                    <a:pt x="892727" y="753452"/>
                  </a:lnTo>
                  <a:lnTo>
                    <a:pt x="863946" y="786018"/>
                  </a:lnTo>
                  <a:lnTo>
                    <a:pt x="832211" y="815991"/>
                  </a:lnTo>
                  <a:lnTo>
                    <a:pt x="797731" y="843175"/>
                  </a:lnTo>
                  <a:lnTo>
                    <a:pt x="760714" y="867372"/>
                  </a:lnTo>
                  <a:lnTo>
                    <a:pt x="721369" y="888387"/>
                  </a:lnTo>
                  <a:lnTo>
                    <a:pt x="679903" y="906021"/>
                  </a:lnTo>
                  <a:lnTo>
                    <a:pt x="636525" y="920080"/>
                  </a:lnTo>
                  <a:lnTo>
                    <a:pt x="591443" y="930365"/>
                  </a:lnTo>
                  <a:lnTo>
                    <a:pt x="544866" y="936680"/>
                  </a:lnTo>
                  <a:lnTo>
                    <a:pt x="497001" y="938829"/>
                  </a:lnTo>
                  <a:lnTo>
                    <a:pt x="449137" y="936680"/>
                  </a:lnTo>
                  <a:lnTo>
                    <a:pt x="402559" y="930365"/>
                  </a:lnTo>
                  <a:lnTo>
                    <a:pt x="357478" y="920080"/>
                  </a:lnTo>
                  <a:lnTo>
                    <a:pt x="314100" y="906021"/>
                  </a:lnTo>
                  <a:lnTo>
                    <a:pt x="272634" y="888387"/>
                  </a:lnTo>
                  <a:lnTo>
                    <a:pt x="233288" y="867372"/>
                  </a:lnTo>
                  <a:lnTo>
                    <a:pt x="196271" y="843175"/>
                  </a:lnTo>
                  <a:lnTo>
                    <a:pt x="161792" y="815991"/>
                  </a:lnTo>
                  <a:lnTo>
                    <a:pt x="130057" y="786018"/>
                  </a:lnTo>
                  <a:lnTo>
                    <a:pt x="101276" y="753452"/>
                  </a:lnTo>
                  <a:lnTo>
                    <a:pt x="75656" y="718490"/>
                  </a:lnTo>
                  <a:lnTo>
                    <a:pt x="53407" y="681328"/>
                  </a:lnTo>
                  <a:lnTo>
                    <a:pt x="34735" y="642164"/>
                  </a:lnTo>
                  <a:lnTo>
                    <a:pt x="19851" y="601193"/>
                  </a:lnTo>
                  <a:lnTo>
                    <a:pt x="8961" y="558614"/>
                  </a:lnTo>
                  <a:lnTo>
                    <a:pt x="2275" y="514622"/>
                  </a:lnTo>
                  <a:lnTo>
                    <a:pt x="0" y="469414"/>
                  </a:lnTo>
                  <a:close/>
                </a:path>
              </a:pathLst>
            </a:custGeom>
            <a:ln w="25399">
              <a:solidFill>
                <a:srgbClr val="C5D7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21085" y="3797986"/>
            <a:ext cx="1019810" cy="1008380"/>
            <a:chOff x="321085" y="3797986"/>
            <a:chExt cx="1019810" cy="1008380"/>
          </a:xfrm>
        </p:grpSpPr>
        <p:sp>
          <p:nvSpPr>
            <p:cNvPr id="29" name="object 29"/>
            <p:cNvSpPr/>
            <p:nvPr/>
          </p:nvSpPr>
          <p:spPr>
            <a:xfrm>
              <a:off x="333785" y="3810685"/>
              <a:ext cx="994410" cy="982980"/>
            </a:xfrm>
            <a:custGeom>
              <a:avLst/>
              <a:gdLst/>
              <a:ahLst/>
              <a:cxnLst/>
              <a:rect l="l" t="t" r="r" b="b"/>
              <a:pathLst>
                <a:path w="994410" h="982979">
                  <a:moveTo>
                    <a:pt x="497001" y="0"/>
                  </a:moveTo>
                  <a:lnTo>
                    <a:pt x="449137" y="2248"/>
                  </a:lnTo>
                  <a:lnTo>
                    <a:pt x="402559" y="8857"/>
                  </a:lnTo>
                  <a:lnTo>
                    <a:pt x="357478" y="19620"/>
                  </a:lnTo>
                  <a:lnTo>
                    <a:pt x="314100" y="34331"/>
                  </a:lnTo>
                  <a:lnTo>
                    <a:pt x="272634" y="52784"/>
                  </a:lnTo>
                  <a:lnTo>
                    <a:pt x="233288" y="74774"/>
                  </a:lnTo>
                  <a:lnTo>
                    <a:pt x="196271" y="100095"/>
                  </a:lnTo>
                  <a:lnTo>
                    <a:pt x="161792" y="128541"/>
                  </a:lnTo>
                  <a:lnTo>
                    <a:pt x="130057" y="159906"/>
                  </a:lnTo>
                  <a:lnTo>
                    <a:pt x="101276" y="193984"/>
                  </a:lnTo>
                  <a:lnTo>
                    <a:pt x="75656" y="230569"/>
                  </a:lnTo>
                  <a:lnTo>
                    <a:pt x="53407" y="269456"/>
                  </a:lnTo>
                  <a:lnTo>
                    <a:pt x="34735" y="310438"/>
                  </a:lnTo>
                  <a:lnTo>
                    <a:pt x="19851" y="353311"/>
                  </a:lnTo>
                  <a:lnTo>
                    <a:pt x="8961" y="397867"/>
                  </a:lnTo>
                  <a:lnTo>
                    <a:pt x="2275" y="443901"/>
                  </a:lnTo>
                  <a:lnTo>
                    <a:pt x="0" y="491208"/>
                  </a:lnTo>
                  <a:lnTo>
                    <a:pt x="2275" y="538514"/>
                  </a:lnTo>
                  <a:lnTo>
                    <a:pt x="8961" y="584549"/>
                  </a:lnTo>
                  <a:lnTo>
                    <a:pt x="19851" y="629105"/>
                  </a:lnTo>
                  <a:lnTo>
                    <a:pt x="34735" y="671977"/>
                  </a:lnTo>
                  <a:lnTo>
                    <a:pt x="53407" y="712960"/>
                  </a:lnTo>
                  <a:lnTo>
                    <a:pt x="75656" y="751847"/>
                  </a:lnTo>
                  <a:lnTo>
                    <a:pt x="101276" y="788432"/>
                  </a:lnTo>
                  <a:lnTo>
                    <a:pt x="130057" y="822510"/>
                  </a:lnTo>
                  <a:lnTo>
                    <a:pt x="161792" y="853875"/>
                  </a:lnTo>
                  <a:lnTo>
                    <a:pt x="196271" y="882320"/>
                  </a:lnTo>
                  <a:lnTo>
                    <a:pt x="233288" y="907641"/>
                  </a:lnTo>
                  <a:lnTo>
                    <a:pt x="272634" y="929631"/>
                  </a:lnTo>
                  <a:lnTo>
                    <a:pt x="314100" y="948085"/>
                  </a:lnTo>
                  <a:lnTo>
                    <a:pt x="357478" y="962796"/>
                  </a:lnTo>
                  <a:lnTo>
                    <a:pt x="402559" y="973558"/>
                  </a:lnTo>
                  <a:lnTo>
                    <a:pt x="449137" y="980167"/>
                  </a:lnTo>
                  <a:lnTo>
                    <a:pt x="497001" y="982416"/>
                  </a:lnTo>
                  <a:lnTo>
                    <a:pt x="544866" y="980167"/>
                  </a:lnTo>
                  <a:lnTo>
                    <a:pt x="591443" y="973558"/>
                  </a:lnTo>
                  <a:lnTo>
                    <a:pt x="636525" y="962796"/>
                  </a:lnTo>
                  <a:lnTo>
                    <a:pt x="679903" y="948085"/>
                  </a:lnTo>
                  <a:lnTo>
                    <a:pt x="721369" y="929631"/>
                  </a:lnTo>
                  <a:lnTo>
                    <a:pt x="760715" y="907641"/>
                  </a:lnTo>
                  <a:lnTo>
                    <a:pt x="797732" y="882320"/>
                  </a:lnTo>
                  <a:lnTo>
                    <a:pt x="832211" y="853875"/>
                  </a:lnTo>
                  <a:lnTo>
                    <a:pt x="863946" y="822510"/>
                  </a:lnTo>
                  <a:lnTo>
                    <a:pt x="892727" y="788432"/>
                  </a:lnTo>
                  <a:lnTo>
                    <a:pt x="918347" y="751847"/>
                  </a:lnTo>
                  <a:lnTo>
                    <a:pt x="940596" y="712960"/>
                  </a:lnTo>
                  <a:lnTo>
                    <a:pt x="959268" y="671977"/>
                  </a:lnTo>
                  <a:lnTo>
                    <a:pt x="974152" y="629105"/>
                  </a:lnTo>
                  <a:lnTo>
                    <a:pt x="985042" y="584549"/>
                  </a:lnTo>
                  <a:lnTo>
                    <a:pt x="991728" y="538514"/>
                  </a:lnTo>
                  <a:lnTo>
                    <a:pt x="994004" y="491208"/>
                  </a:lnTo>
                  <a:lnTo>
                    <a:pt x="991728" y="443901"/>
                  </a:lnTo>
                  <a:lnTo>
                    <a:pt x="985042" y="397867"/>
                  </a:lnTo>
                  <a:lnTo>
                    <a:pt x="974152" y="353311"/>
                  </a:lnTo>
                  <a:lnTo>
                    <a:pt x="959268" y="310438"/>
                  </a:lnTo>
                  <a:lnTo>
                    <a:pt x="940596" y="269456"/>
                  </a:lnTo>
                  <a:lnTo>
                    <a:pt x="918347" y="230569"/>
                  </a:lnTo>
                  <a:lnTo>
                    <a:pt x="892727" y="193984"/>
                  </a:lnTo>
                  <a:lnTo>
                    <a:pt x="863946" y="159906"/>
                  </a:lnTo>
                  <a:lnTo>
                    <a:pt x="832211" y="128541"/>
                  </a:lnTo>
                  <a:lnTo>
                    <a:pt x="797732" y="100095"/>
                  </a:lnTo>
                  <a:lnTo>
                    <a:pt x="760715" y="74774"/>
                  </a:lnTo>
                  <a:lnTo>
                    <a:pt x="721369" y="52784"/>
                  </a:lnTo>
                  <a:lnTo>
                    <a:pt x="679903" y="34331"/>
                  </a:lnTo>
                  <a:lnTo>
                    <a:pt x="636525" y="19620"/>
                  </a:lnTo>
                  <a:lnTo>
                    <a:pt x="591443" y="8857"/>
                  </a:lnTo>
                  <a:lnTo>
                    <a:pt x="544866" y="2248"/>
                  </a:lnTo>
                  <a:lnTo>
                    <a:pt x="497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3785" y="3810686"/>
              <a:ext cx="994410" cy="982980"/>
            </a:xfrm>
            <a:custGeom>
              <a:avLst/>
              <a:gdLst/>
              <a:ahLst/>
              <a:cxnLst/>
              <a:rect l="l" t="t" r="r" b="b"/>
              <a:pathLst>
                <a:path w="994410" h="982979">
                  <a:moveTo>
                    <a:pt x="0" y="491207"/>
                  </a:moveTo>
                  <a:lnTo>
                    <a:pt x="2275" y="443901"/>
                  </a:lnTo>
                  <a:lnTo>
                    <a:pt x="8961" y="397866"/>
                  </a:lnTo>
                  <a:lnTo>
                    <a:pt x="19851" y="353310"/>
                  </a:lnTo>
                  <a:lnTo>
                    <a:pt x="34735" y="310438"/>
                  </a:lnTo>
                  <a:lnTo>
                    <a:pt x="53407" y="269455"/>
                  </a:lnTo>
                  <a:lnTo>
                    <a:pt x="75656" y="230569"/>
                  </a:lnTo>
                  <a:lnTo>
                    <a:pt x="101276" y="193983"/>
                  </a:lnTo>
                  <a:lnTo>
                    <a:pt x="130057" y="159905"/>
                  </a:lnTo>
                  <a:lnTo>
                    <a:pt x="161792" y="128541"/>
                  </a:lnTo>
                  <a:lnTo>
                    <a:pt x="196271" y="100095"/>
                  </a:lnTo>
                  <a:lnTo>
                    <a:pt x="233288" y="74774"/>
                  </a:lnTo>
                  <a:lnTo>
                    <a:pt x="272634" y="52784"/>
                  </a:lnTo>
                  <a:lnTo>
                    <a:pt x="314100" y="34330"/>
                  </a:lnTo>
                  <a:lnTo>
                    <a:pt x="357478" y="19619"/>
                  </a:lnTo>
                  <a:lnTo>
                    <a:pt x="402559" y="8857"/>
                  </a:lnTo>
                  <a:lnTo>
                    <a:pt x="449137" y="2248"/>
                  </a:lnTo>
                  <a:lnTo>
                    <a:pt x="497001" y="0"/>
                  </a:lnTo>
                  <a:lnTo>
                    <a:pt x="544866" y="2248"/>
                  </a:lnTo>
                  <a:lnTo>
                    <a:pt x="591443" y="8857"/>
                  </a:lnTo>
                  <a:lnTo>
                    <a:pt x="636525" y="19619"/>
                  </a:lnTo>
                  <a:lnTo>
                    <a:pt x="679903" y="34330"/>
                  </a:lnTo>
                  <a:lnTo>
                    <a:pt x="721369" y="52784"/>
                  </a:lnTo>
                  <a:lnTo>
                    <a:pt x="760714" y="74774"/>
                  </a:lnTo>
                  <a:lnTo>
                    <a:pt x="797731" y="100095"/>
                  </a:lnTo>
                  <a:lnTo>
                    <a:pt x="832211" y="128541"/>
                  </a:lnTo>
                  <a:lnTo>
                    <a:pt x="863946" y="159905"/>
                  </a:lnTo>
                  <a:lnTo>
                    <a:pt x="892727" y="193983"/>
                  </a:lnTo>
                  <a:lnTo>
                    <a:pt x="918347" y="230569"/>
                  </a:lnTo>
                  <a:lnTo>
                    <a:pt x="940596" y="269455"/>
                  </a:lnTo>
                  <a:lnTo>
                    <a:pt x="959267" y="310438"/>
                  </a:lnTo>
                  <a:lnTo>
                    <a:pt x="974152" y="353310"/>
                  </a:lnTo>
                  <a:lnTo>
                    <a:pt x="985041" y="397866"/>
                  </a:lnTo>
                  <a:lnTo>
                    <a:pt x="991728" y="443901"/>
                  </a:lnTo>
                  <a:lnTo>
                    <a:pt x="994003" y="491207"/>
                  </a:lnTo>
                  <a:lnTo>
                    <a:pt x="991728" y="538514"/>
                  </a:lnTo>
                  <a:lnTo>
                    <a:pt x="985041" y="584548"/>
                  </a:lnTo>
                  <a:lnTo>
                    <a:pt x="974152" y="629105"/>
                  </a:lnTo>
                  <a:lnTo>
                    <a:pt x="959267" y="671977"/>
                  </a:lnTo>
                  <a:lnTo>
                    <a:pt x="940596" y="712959"/>
                  </a:lnTo>
                  <a:lnTo>
                    <a:pt x="918347" y="751846"/>
                  </a:lnTo>
                  <a:lnTo>
                    <a:pt x="892727" y="788431"/>
                  </a:lnTo>
                  <a:lnTo>
                    <a:pt x="863946" y="822509"/>
                  </a:lnTo>
                  <a:lnTo>
                    <a:pt x="832211" y="853874"/>
                  </a:lnTo>
                  <a:lnTo>
                    <a:pt x="797731" y="882320"/>
                  </a:lnTo>
                  <a:lnTo>
                    <a:pt x="760714" y="907641"/>
                  </a:lnTo>
                  <a:lnTo>
                    <a:pt x="721369" y="929631"/>
                  </a:lnTo>
                  <a:lnTo>
                    <a:pt x="679903" y="948084"/>
                  </a:lnTo>
                  <a:lnTo>
                    <a:pt x="636525" y="962795"/>
                  </a:lnTo>
                  <a:lnTo>
                    <a:pt x="591443" y="973558"/>
                  </a:lnTo>
                  <a:lnTo>
                    <a:pt x="544866" y="980167"/>
                  </a:lnTo>
                  <a:lnTo>
                    <a:pt x="497001" y="982415"/>
                  </a:lnTo>
                  <a:lnTo>
                    <a:pt x="449137" y="980167"/>
                  </a:lnTo>
                  <a:lnTo>
                    <a:pt x="402559" y="973558"/>
                  </a:lnTo>
                  <a:lnTo>
                    <a:pt x="357478" y="962795"/>
                  </a:lnTo>
                  <a:lnTo>
                    <a:pt x="314100" y="948084"/>
                  </a:lnTo>
                  <a:lnTo>
                    <a:pt x="272634" y="929631"/>
                  </a:lnTo>
                  <a:lnTo>
                    <a:pt x="233288" y="907641"/>
                  </a:lnTo>
                  <a:lnTo>
                    <a:pt x="196271" y="882320"/>
                  </a:lnTo>
                  <a:lnTo>
                    <a:pt x="161792" y="853874"/>
                  </a:lnTo>
                  <a:lnTo>
                    <a:pt x="130057" y="822509"/>
                  </a:lnTo>
                  <a:lnTo>
                    <a:pt x="101276" y="788431"/>
                  </a:lnTo>
                  <a:lnTo>
                    <a:pt x="75656" y="751846"/>
                  </a:lnTo>
                  <a:lnTo>
                    <a:pt x="53407" y="712959"/>
                  </a:lnTo>
                  <a:lnTo>
                    <a:pt x="34735" y="671977"/>
                  </a:lnTo>
                  <a:lnTo>
                    <a:pt x="19851" y="629105"/>
                  </a:lnTo>
                  <a:lnTo>
                    <a:pt x="8961" y="584548"/>
                  </a:lnTo>
                  <a:lnTo>
                    <a:pt x="2275" y="538514"/>
                  </a:lnTo>
                  <a:lnTo>
                    <a:pt x="0" y="491207"/>
                  </a:lnTo>
                  <a:close/>
                </a:path>
              </a:pathLst>
            </a:custGeom>
            <a:ln w="25399">
              <a:solidFill>
                <a:srgbClr val="A2D6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21085" y="5095411"/>
            <a:ext cx="940435" cy="892810"/>
            <a:chOff x="321085" y="5095411"/>
            <a:chExt cx="940435" cy="892810"/>
          </a:xfrm>
        </p:grpSpPr>
        <p:sp>
          <p:nvSpPr>
            <p:cNvPr id="32" name="object 32"/>
            <p:cNvSpPr/>
            <p:nvPr/>
          </p:nvSpPr>
          <p:spPr>
            <a:xfrm>
              <a:off x="333785" y="510811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457313" y="0"/>
                  </a:moveTo>
                  <a:lnTo>
                    <a:pt x="407484" y="2543"/>
                  </a:lnTo>
                  <a:lnTo>
                    <a:pt x="359209" y="9998"/>
                  </a:lnTo>
                  <a:lnTo>
                    <a:pt x="312767" y="22100"/>
                  </a:lnTo>
                  <a:lnTo>
                    <a:pt x="268437" y="38584"/>
                  </a:lnTo>
                  <a:lnTo>
                    <a:pt x="226498" y="59185"/>
                  </a:lnTo>
                  <a:lnTo>
                    <a:pt x="187230" y="83640"/>
                  </a:lnTo>
                  <a:lnTo>
                    <a:pt x="150910" y="111684"/>
                  </a:lnTo>
                  <a:lnTo>
                    <a:pt x="117819" y="143052"/>
                  </a:lnTo>
                  <a:lnTo>
                    <a:pt x="88235" y="177481"/>
                  </a:lnTo>
                  <a:lnTo>
                    <a:pt x="62436" y="214705"/>
                  </a:lnTo>
                  <a:lnTo>
                    <a:pt x="40703" y="254460"/>
                  </a:lnTo>
                  <a:lnTo>
                    <a:pt x="23314" y="296481"/>
                  </a:lnTo>
                  <a:lnTo>
                    <a:pt x="10547" y="340505"/>
                  </a:lnTo>
                  <a:lnTo>
                    <a:pt x="2683" y="386266"/>
                  </a:lnTo>
                  <a:lnTo>
                    <a:pt x="0" y="433501"/>
                  </a:lnTo>
                  <a:lnTo>
                    <a:pt x="2683" y="480736"/>
                  </a:lnTo>
                  <a:lnTo>
                    <a:pt x="10547" y="526498"/>
                  </a:lnTo>
                  <a:lnTo>
                    <a:pt x="23314" y="570521"/>
                  </a:lnTo>
                  <a:lnTo>
                    <a:pt x="40703" y="612543"/>
                  </a:lnTo>
                  <a:lnTo>
                    <a:pt x="62436" y="652298"/>
                  </a:lnTo>
                  <a:lnTo>
                    <a:pt x="88235" y="689522"/>
                  </a:lnTo>
                  <a:lnTo>
                    <a:pt x="117819" y="723950"/>
                  </a:lnTo>
                  <a:lnTo>
                    <a:pt x="150910" y="755318"/>
                  </a:lnTo>
                  <a:lnTo>
                    <a:pt x="187230" y="783362"/>
                  </a:lnTo>
                  <a:lnTo>
                    <a:pt x="226498" y="807817"/>
                  </a:lnTo>
                  <a:lnTo>
                    <a:pt x="268437" y="828419"/>
                  </a:lnTo>
                  <a:lnTo>
                    <a:pt x="312767" y="844903"/>
                  </a:lnTo>
                  <a:lnTo>
                    <a:pt x="359209" y="857004"/>
                  </a:lnTo>
                  <a:lnTo>
                    <a:pt x="407484" y="864459"/>
                  </a:lnTo>
                  <a:lnTo>
                    <a:pt x="457313" y="867003"/>
                  </a:lnTo>
                  <a:lnTo>
                    <a:pt x="507143" y="864459"/>
                  </a:lnTo>
                  <a:lnTo>
                    <a:pt x="555418" y="857004"/>
                  </a:lnTo>
                  <a:lnTo>
                    <a:pt x="601860" y="844903"/>
                  </a:lnTo>
                  <a:lnTo>
                    <a:pt x="646190" y="828419"/>
                  </a:lnTo>
                  <a:lnTo>
                    <a:pt x="688129" y="807817"/>
                  </a:lnTo>
                  <a:lnTo>
                    <a:pt x="727397" y="783362"/>
                  </a:lnTo>
                  <a:lnTo>
                    <a:pt x="763717" y="755318"/>
                  </a:lnTo>
                  <a:lnTo>
                    <a:pt x="796808" y="723950"/>
                  </a:lnTo>
                  <a:lnTo>
                    <a:pt x="826392" y="689522"/>
                  </a:lnTo>
                  <a:lnTo>
                    <a:pt x="852191" y="652298"/>
                  </a:lnTo>
                  <a:lnTo>
                    <a:pt x="873924" y="612543"/>
                  </a:lnTo>
                  <a:lnTo>
                    <a:pt x="891313" y="570521"/>
                  </a:lnTo>
                  <a:lnTo>
                    <a:pt x="904080" y="526498"/>
                  </a:lnTo>
                  <a:lnTo>
                    <a:pt x="911944" y="480736"/>
                  </a:lnTo>
                  <a:lnTo>
                    <a:pt x="914627" y="433501"/>
                  </a:lnTo>
                  <a:lnTo>
                    <a:pt x="911944" y="386266"/>
                  </a:lnTo>
                  <a:lnTo>
                    <a:pt x="904080" y="340505"/>
                  </a:lnTo>
                  <a:lnTo>
                    <a:pt x="891313" y="296481"/>
                  </a:lnTo>
                  <a:lnTo>
                    <a:pt x="873924" y="254460"/>
                  </a:lnTo>
                  <a:lnTo>
                    <a:pt x="852191" y="214705"/>
                  </a:lnTo>
                  <a:lnTo>
                    <a:pt x="826392" y="177481"/>
                  </a:lnTo>
                  <a:lnTo>
                    <a:pt x="796808" y="143052"/>
                  </a:lnTo>
                  <a:lnTo>
                    <a:pt x="763717" y="111684"/>
                  </a:lnTo>
                  <a:lnTo>
                    <a:pt x="727397" y="83640"/>
                  </a:lnTo>
                  <a:lnTo>
                    <a:pt x="688129" y="59185"/>
                  </a:lnTo>
                  <a:lnTo>
                    <a:pt x="646190" y="38584"/>
                  </a:lnTo>
                  <a:lnTo>
                    <a:pt x="601860" y="22100"/>
                  </a:lnTo>
                  <a:lnTo>
                    <a:pt x="555418" y="9998"/>
                  </a:lnTo>
                  <a:lnTo>
                    <a:pt x="507143" y="2543"/>
                  </a:lnTo>
                  <a:lnTo>
                    <a:pt x="457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3785" y="510811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0" y="433501"/>
                  </a:moveTo>
                  <a:lnTo>
                    <a:pt x="2683" y="386267"/>
                  </a:lnTo>
                  <a:lnTo>
                    <a:pt x="10547" y="340505"/>
                  </a:lnTo>
                  <a:lnTo>
                    <a:pt x="23314" y="296481"/>
                  </a:lnTo>
                  <a:lnTo>
                    <a:pt x="40703" y="254460"/>
                  </a:lnTo>
                  <a:lnTo>
                    <a:pt x="62436" y="214705"/>
                  </a:lnTo>
                  <a:lnTo>
                    <a:pt x="88235" y="177481"/>
                  </a:lnTo>
                  <a:lnTo>
                    <a:pt x="117819" y="143052"/>
                  </a:lnTo>
                  <a:lnTo>
                    <a:pt x="150910" y="111684"/>
                  </a:lnTo>
                  <a:lnTo>
                    <a:pt x="187230" y="83640"/>
                  </a:lnTo>
                  <a:lnTo>
                    <a:pt x="226498" y="59185"/>
                  </a:lnTo>
                  <a:lnTo>
                    <a:pt x="268437" y="38584"/>
                  </a:lnTo>
                  <a:lnTo>
                    <a:pt x="312767" y="22100"/>
                  </a:lnTo>
                  <a:lnTo>
                    <a:pt x="359209" y="9998"/>
                  </a:lnTo>
                  <a:lnTo>
                    <a:pt x="407484" y="2543"/>
                  </a:lnTo>
                  <a:lnTo>
                    <a:pt x="457313" y="0"/>
                  </a:lnTo>
                  <a:lnTo>
                    <a:pt x="507143" y="2543"/>
                  </a:lnTo>
                  <a:lnTo>
                    <a:pt x="555418" y="9998"/>
                  </a:lnTo>
                  <a:lnTo>
                    <a:pt x="601860" y="22100"/>
                  </a:lnTo>
                  <a:lnTo>
                    <a:pt x="646190" y="38584"/>
                  </a:lnTo>
                  <a:lnTo>
                    <a:pt x="688128" y="59185"/>
                  </a:lnTo>
                  <a:lnTo>
                    <a:pt x="727397" y="83640"/>
                  </a:lnTo>
                  <a:lnTo>
                    <a:pt x="763716" y="111684"/>
                  </a:lnTo>
                  <a:lnTo>
                    <a:pt x="796808" y="143052"/>
                  </a:lnTo>
                  <a:lnTo>
                    <a:pt x="826392" y="177481"/>
                  </a:lnTo>
                  <a:lnTo>
                    <a:pt x="852191" y="214705"/>
                  </a:lnTo>
                  <a:lnTo>
                    <a:pt x="873924" y="254460"/>
                  </a:lnTo>
                  <a:lnTo>
                    <a:pt x="891313" y="296481"/>
                  </a:lnTo>
                  <a:lnTo>
                    <a:pt x="904079" y="340505"/>
                  </a:lnTo>
                  <a:lnTo>
                    <a:pt x="911944" y="386267"/>
                  </a:lnTo>
                  <a:lnTo>
                    <a:pt x="914627" y="433501"/>
                  </a:lnTo>
                  <a:lnTo>
                    <a:pt x="911944" y="480736"/>
                  </a:lnTo>
                  <a:lnTo>
                    <a:pt x="904079" y="526498"/>
                  </a:lnTo>
                  <a:lnTo>
                    <a:pt x="891313" y="570522"/>
                  </a:lnTo>
                  <a:lnTo>
                    <a:pt x="873924" y="612543"/>
                  </a:lnTo>
                  <a:lnTo>
                    <a:pt x="852191" y="652298"/>
                  </a:lnTo>
                  <a:lnTo>
                    <a:pt x="826392" y="689522"/>
                  </a:lnTo>
                  <a:lnTo>
                    <a:pt x="796808" y="723950"/>
                  </a:lnTo>
                  <a:lnTo>
                    <a:pt x="763716" y="755319"/>
                  </a:lnTo>
                  <a:lnTo>
                    <a:pt x="727397" y="783363"/>
                  </a:lnTo>
                  <a:lnTo>
                    <a:pt x="688128" y="807818"/>
                  </a:lnTo>
                  <a:lnTo>
                    <a:pt x="646190" y="828419"/>
                  </a:lnTo>
                  <a:lnTo>
                    <a:pt x="601860" y="844903"/>
                  </a:lnTo>
                  <a:lnTo>
                    <a:pt x="555418" y="857005"/>
                  </a:lnTo>
                  <a:lnTo>
                    <a:pt x="507143" y="864460"/>
                  </a:lnTo>
                  <a:lnTo>
                    <a:pt x="457313" y="867003"/>
                  </a:lnTo>
                  <a:lnTo>
                    <a:pt x="407484" y="864460"/>
                  </a:lnTo>
                  <a:lnTo>
                    <a:pt x="359209" y="857005"/>
                  </a:lnTo>
                  <a:lnTo>
                    <a:pt x="312767" y="844903"/>
                  </a:lnTo>
                  <a:lnTo>
                    <a:pt x="268437" y="828419"/>
                  </a:lnTo>
                  <a:lnTo>
                    <a:pt x="226498" y="807818"/>
                  </a:lnTo>
                  <a:lnTo>
                    <a:pt x="187230" y="783363"/>
                  </a:lnTo>
                  <a:lnTo>
                    <a:pt x="150910" y="755319"/>
                  </a:lnTo>
                  <a:lnTo>
                    <a:pt x="117819" y="723950"/>
                  </a:lnTo>
                  <a:lnTo>
                    <a:pt x="88235" y="689522"/>
                  </a:lnTo>
                  <a:lnTo>
                    <a:pt x="62436" y="652298"/>
                  </a:lnTo>
                  <a:lnTo>
                    <a:pt x="40703" y="612543"/>
                  </a:lnTo>
                  <a:lnTo>
                    <a:pt x="23314" y="570522"/>
                  </a:lnTo>
                  <a:lnTo>
                    <a:pt x="10547" y="526498"/>
                  </a:lnTo>
                  <a:lnTo>
                    <a:pt x="2683" y="480736"/>
                  </a:lnTo>
                  <a:lnTo>
                    <a:pt x="0" y="433501"/>
                  </a:lnTo>
                  <a:close/>
                </a:path>
              </a:pathLst>
            </a:custGeom>
            <a:ln w="25399">
              <a:solidFill>
                <a:srgbClr val="FDDD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interpersonal communication 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44" y="3130039"/>
            <a:ext cx="8442044" cy="25714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39" y="1307193"/>
            <a:ext cx="7202805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9144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Communication process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process of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transferring </a:t>
            </a:r>
            <a:r>
              <a:rPr sz="2600" dirty="0">
                <a:latin typeface="Arial MT"/>
                <a:cs typeface="Arial MT"/>
              </a:rPr>
              <a:t>meaning</a:t>
            </a:r>
            <a:r>
              <a:rPr sz="2600" spc="-5" dirty="0">
                <a:latin typeface="Arial MT"/>
                <a:cs typeface="Arial MT"/>
              </a:rPr>
              <a:t> from </a:t>
            </a:r>
            <a:r>
              <a:rPr sz="2600" dirty="0">
                <a:latin typeface="Arial MT"/>
                <a:cs typeface="Arial MT"/>
              </a:rPr>
              <a:t>one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person</a:t>
            </a:r>
            <a:r>
              <a:rPr sz="2600" spc="-5" dirty="0">
                <a:latin typeface="Arial MT"/>
                <a:cs typeface="Arial MT"/>
              </a:rPr>
              <a:t> to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another.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8980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interpersonal</a:t>
            </a:r>
            <a:r>
              <a:rPr dirty="0"/>
              <a:t> </a:t>
            </a:r>
            <a:r>
              <a:rPr spc="-5" dirty="0"/>
              <a:t>communication</a:t>
            </a:r>
            <a:r>
              <a:rPr dirty="0"/>
              <a:t> </a:t>
            </a:r>
            <a:r>
              <a:rPr spc="-5" dirty="0"/>
              <a:t>process</a:t>
            </a:r>
            <a:r>
              <a:rPr spc="5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39" y="1555496"/>
            <a:ext cx="8213090" cy="342582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82600" indent="-4572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481965" algn="l"/>
                <a:tab pos="482600" algn="l"/>
              </a:tabLst>
            </a:pPr>
            <a:r>
              <a:rPr sz="2800" b="1" spc="-5" dirty="0">
                <a:latin typeface="Arial"/>
                <a:cs typeface="Arial"/>
              </a:rPr>
              <a:t>Message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purpose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conveyed.</a:t>
            </a:r>
            <a:endParaRPr sz="2800">
              <a:latin typeface="Arial MT"/>
              <a:cs typeface="Arial MT"/>
            </a:endParaRPr>
          </a:p>
          <a:p>
            <a:pPr marL="531495" indent="-51943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531495" algn="l"/>
                <a:tab pos="532130" algn="l"/>
              </a:tabLst>
            </a:pPr>
            <a:r>
              <a:rPr sz="2800" b="1" spc="-5" dirty="0">
                <a:latin typeface="Arial"/>
                <a:cs typeface="Arial"/>
              </a:rPr>
              <a:t>Encoding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converting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</a:t>
            </a:r>
            <a:r>
              <a:rPr sz="2800" spc="-5" dirty="0">
                <a:latin typeface="Arial MT"/>
                <a:cs typeface="Arial MT"/>
              </a:rPr>
              <a:t> into</a:t>
            </a:r>
            <a:r>
              <a:rPr sz="2800" dirty="0">
                <a:latin typeface="Arial MT"/>
                <a:cs typeface="Arial MT"/>
              </a:rPr>
              <a:t> symbols.</a:t>
            </a:r>
            <a:endParaRPr sz="2800">
              <a:latin typeface="Arial MT"/>
              <a:cs typeface="Arial MT"/>
            </a:endParaRPr>
          </a:p>
          <a:p>
            <a:pPr marL="533400" marR="499745" indent="-520700">
              <a:lnSpc>
                <a:spcPct val="102000"/>
              </a:lnSpc>
              <a:spcBef>
                <a:spcPts val="570"/>
              </a:spcBef>
              <a:buFont typeface="Arial MT"/>
              <a:buChar char="•"/>
              <a:tabLst>
                <a:tab pos="531495" algn="l"/>
                <a:tab pos="532130" algn="l"/>
              </a:tabLst>
            </a:pPr>
            <a:r>
              <a:rPr sz="2800" b="1" spc="-5" dirty="0">
                <a:latin typeface="Arial"/>
                <a:cs typeface="Arial"/>
              </a:rPr>
              <a:t>Medium (Channel)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medium a message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travels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along.</a:t>
            </a:r>
            <a:endParaRPr sz="2800">
              <a:latin typeface="Arial MT"/>
              <a:cs typeface="Arial MT"/>
            </a:endParaRPr>
          </a:p>
          <a:p>
            <a:pPr marL="531495" indent="-51943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531495" algn="l"/>
                <a:tab pos="532130" algn="l"/>
              </a:tabLst>
            </a:pPr>
            <a:r>
              <a:rPr sz="2800" b="1" spc="-5" dirty="0">
                <a:latin typeface="Arial"/>
                <a:cs typeface="Arial"/>
              </a:rPr>
              <a:t>Decoding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retranslating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sender’s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message.</a:t>
            </a:r>
            <a:endParaRPr sz="2800">
              <a:latin typeface="Arial MT"/>
              <a:cs typeface="Arial MT"/>
            </a:endParaRPr>
          </a:p>
          <a:p>
            <a:pPr marL="533400" marR="22225" indent="-520700">
              <a:lnSpc>
                <a:spcPts val="3329"/>
              </a:lnSpc>
              <a:spcBef>
                <a:spcPts val="869"/>
              </a:spcBef>
              <a:buFont typeface="Arial MT"/>
              <a:buChar char="•"/>
              <a:tabLst>
                <a:tab pos="531495" algn="l"/>
                <a:tab pos="532130" algn="l"/>
              </a:tabLst>
            </a:pPr>
            <a:r>
              <a:rPr sz="2800" b="1" spc="-5" dirty="0">
                <a:latin typeface="Arial"/>
                <a:cs typeface="Arial"/>
              </a:rPr>
              <a:t>Noise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 </a:t>
            </a:r>
            <a:r>
              <a:rPr sz="2800" spc="-5" dirty="0">
                <a:latin typeface="Arial MT"/>
                <a:cs typeface="Arial MT"/>
              </a:rPr>
              <a:t>disturbances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 interfere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transmission,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receipt,</a:t>
            </a:r>
            <a:r>
              <a:rPr sz="2800" dirty="0">
                <a:latin typeface="Arial MT"/>
                <a:cs typeface="Arial MT"/>
              </a:rPr>
              <a:t> or </a:t>
            </a:r>
            <a:r>
              <a:rPr sz="2800" spc="-5" dirty="0">
                <a:latin typeface="Arial MT"/>
                <a:cs typeface="Arial MT"/>
              </a:rPr>
              <a:t>feedback</a:t>
            </a:r>
            <a:r>
              <a:rPr sz="2800" dirty="0">
                <a:latin typeface="Arial MT"/>
                <a:cs typeface="Arial MT"/>
              </a:rPr>
              <a:t> of 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362637"/>
            <a:ext cx="8430895" cy="10261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pc="-5" dirty="0"/>
              <a:t>Communication</a:t>
            </a:r>
            <a:r>
              <a:rPr spc="-30" dirty="0"/>
              <a:t> </a:t>
            </a:r>
            <a:r>
              <a:rPr spc="-5" dirty="0"/>
              <a:t>methods</a:t>
            </a: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0" spc="-5" dirty="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sz="2400" b="0" dirty="0">
                <a:solidFill>
                  <a:srgbClr val="FF0000"/>
                </a:solidFill>
                <a:latin typeface="Arial MT"/>
                <a:cs typeface="Arial MT"/>
              </a:rPr>
              <a:t> are</a:t>
            </a:r>
            <a:r>
              <a:rPr sz="2400" b="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b="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0" spc="-5" dirty="0">
                <a:solidFill>
                  <a:srgbClr val="FF0000"/>
                </a:solidFill>
                <a:latin typeface="Arial MT"/>
                <a:cs typeface="Arial MT"/>
              </a:rPr>
              <a:t>advantages</a:t>
            </a:r>
            <a:r>
              <a:rPr sz="2400" b="0" dirty="0">
                <a:solidFill>
                  <a:srgbClr val="FF0000"/>
                </a:solidFill>
                <a:latin typeface="Arial MT"/>
                <a:cs typeface="Arial MT"/>
              </a:rPr>
              <a:t> and</a:t>
            </a:r>
            <a:r>
              <a:rPr sz="2400" b="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0" spc="-5" dirty="0">
                <a:solidFill>
                  <a:srgbClr val="FF0000"/>
                </a:solidFill>
                <a:latin typeface="Arial MT"/>
                <a:cs typeface="Arial MT"/>
              </a:rPr>
              <a:t>disadvantages</a:t>
            </a:r>
            <a:r>
              <a:rPr sz="2400" b="0" dirty="0">
                <a:solidFill>
                  <a:srgbClr val="FF0000"/>
                </a:solidFill>
                <a:latin typeface="Arial MT"/>
                <a:cs typeface="Arial MT"/>
              </a:rPr>
              <a:t> of</a:t>
            </a:r>
            <a:r>
              <a:rPr sz="2400" b="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FF0000"/>
                </a:solidFill>
                <a:latin typeface="Arial MT"/>
                <a:cs typeface="Arial MT"/>
              </a:rPr>
              <a:t>each</a:t>
            </a:r>
            <a:r>
              <a:rPr sz="2400" b="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0" spc="-5" dirty="0">
                <a:solidFill>
                  <a:srgbClr val="FF0000"/>
                </a:solidFill>
                <a:latin typeface="Arial MT"/>
                <a:cs typeface="Arial MT"/>
              </a:rPr>
              <a:t>method?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23534" y="3380120"/>
            <a:ext cx="2618740" cy="1357630"/>
          </a:xfrm>
          <a:custGeom>
            <a:avLst/>
            <a:gdLst/>
            <a:ahLst/>
            <a:cxnLst/>
            <a:rect l="l" t="t" r="r" b="b"/>
            <a:pathLst>
              <a:path w="2618740" h="1357629">
                <a:moveTo>
                  <a:pt x="2391921" y="0"/>
                </a:moveTo>
                <a:lnTo>
                  <a:pt x="226204" y="0"/>
                </a:lnTo>
                <a:lnTo>
                  <a:pt x="180616" y="4595"/>
                </a:lnTo>
                <a:lnTo>
                  <a:pt x="138155" y="17776"/>
                </a:lnTo>
                <a:lnTo>
                  <a:pt x="99731" y="38632"/>
                </a:lnTo>
                <a:lnTo>
                  <a:pt x="66253" y="66254"/>
                </a:lnTo>
                <a:lnTo>
                  <a:pt x="38632" y="99731"/>
                </a:lnTo>
                <a:lnTo>
                  <a:pt x="17776" y="138156"/>
                </a:lnTo>
                <a:lnTo>
                  <a:pt x="4595" y="180616"/>
                </a:lnTo>
                <a:lnTo>
                  <a:pt x="0" y="226204"/>
                </a:lnTo>
                <a:lnTo>
                  <a:pt x="0" y="1130995"/>
                </a:lnTo>
                <a:lnTo>
                  <a:pt x="4595" y="1176584"/>
                </a:lnTo>
                <a:lnTo>
                  <a:pt x="17776" y="1219045"/>
                </a:lnTo>
                <a:lnTo>
                  <a:pt x="38632" y="1257469"/>
                </a:lnTo>
                <a:lnTo>
                  <a:pt x="66253" y="1290947"/>
                </a:lnTo>
                <a:lnTo>
                  <a:pt x="99731" y="1318568"/>
                </a:lnTo>
                <a:lnTo>
                  <a:pt x="138155" y="1339424"/>
                </a:lnTo>
                <a:lnTo>
                  <a:pt x="180616" y="1352605"/>
                </a:lnTo>
                <a:lnTo>
                  <a:pt x="226204" y="1357200"/>
                </a:lnTo>
                <a:lnTo>
                  <a:pt x="2391921" y="1357200"/>
                </a:lnTo>
                <a:lnTo>
                  <a:pt x="2437510" y="1352605"/>
                </a:lnTo>
                <a:lnTo>
                  <a:pt x="2479971" y="1339424"/>
                </a:lnTo>
                <a:lnTo>
                  <a:pt x="2518395" y="1318568"/>
                </a:lnTo>
                <a:lnTo>
                  <a:pt x="2551872" y="1290947"/>
                </a:lnTo>
                <a:lnTo>
                  <a:pt x="2579494" y="1257469"/>
                </a:lnTo>
                <a:lnTo>
                  <a:pt x="2600350" y="1219045"/>
                </a:lnTo>
                <a:lnTo>
                  <a:pt x="2613530" y="1176584"/>
                </a:lnTo>
                <a:lnTo>
                  <a:pt x="2618126" y="1130995"/>
                </a:lnTo>
                <a:lnTo>
                  <a:pt x="2618126" y="226204"/>
                </a:lnTo>
                <a:lnTo>
                  <a:pt x="2613530" y="180616"/>
                </a:lnTo>
                <a:lnTo>
                  <a:pt x="2600350" y="138156"/>
                </a:lnTo>
                <a:lnTo>
                  <a:pt x="2579494" y="99731"/>
                </a:lnTo>
                <a:lnTo>
                  <a:pt x="2551872" y="66254"/>
                </a:lnTo>
                <a:lnTo>
                  <a:pt x="2518395" y="38632"/>
                </a:lnTo>
                <a:lnTo>
                  <a:pt x="2479971" y="17776"/>
                </a:lnTo>
                <a:lnTo>
                  <a:pt x="2437510" y="4595"/>
                </a:lnTo>
                <a:lnTo>
                  <a:pt x="2391921" y="0"/>
                </a:lnTo>
                <a:close/>
              </a:path>
            </a:pathLst>
          </a:custGeom>
          <a:solidFill>
            <a:srgbClr val="A74A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58144" y="3831390"/>
            <a:ext cx="21558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0234" y="1635606"/>
            <a:ext cx="1870075" cy="1757680"/>
            <a:chOff x="3740234" y="1635606"/>
            <a:chExt cx="1870075" cy="1757680"/>
          </a:xfrm>
        </p:grpSpPr>
        <p:sp>
          <p:nvSpPr>
            <p:cNvPr id="6" name="object 6"/>
            <p:cNvSpPr/>
            <p:nvPr/>
          </p:nvSpPr>
          <p:spPr>
            <a:xfrm>
              <a:off x="4688993" y="2587236"/>
              <a:ext cx="23495" cy="793115"/>
            </a:xfrm>
            <a:custGeom>
              <a:avLst/>
              <a:gdLst/>
              <a:ahLst/>
              <a:cxnLst/>
              <a:rect l="l" t="t" r="r" b="b"/>
              <a:pathLst>
                <a:path w="23495" h="793114">
                  <a:moveTo>
                    <a:pt x="23495" y="79288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52934" y="1648306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1687800" y="0"/>
                  </a:moveTo>
                  <a:lnTo>
                    <a:pt x="156491" y="0"/>
                  </a:lnTo>
                  <a:lnTo>
                    <a:pt x="107028" y="7978"/>
                  </a:lnTo>
                  <a:lnTo>
                    <a:pt x="64070" y="30193"/>
                  </a:lnTo>
                  <a:lnTo>
                    <a:pt x="30194" y="64069"/>
                  </a:lnTo>
                  <a:lnTo>
                    <a:pt x="7978" y="107027"/>
                  </a:lnTo>
                  <a:lnTo>
                    <a:pt x="0" y="156490"/>
                  </a:lnTo>
                  <a:lnTo>
                    <a:pt x="0" y="782438"/>
                  </a:lnTo>
                  <a:lnTo>
                    <a:pt x="7978" y="831901"/>
                  </a:lnTo>
                  <a:lnTo>
                    <a:pt x="30194" y="874859"/>
                  </a:lnTo>
                  <a:lnTo>
                    <a:pt x="64070" y="908735"/>
                  </a:lnTo>
                  <a:lnTo>
                    <a:pt x="107028" y="930950"/>
                  </a:lnTo>
                  <a:lnTo>
                    <a:pt x="156491" y="938928"/>
                  </a:lnTo>
                  <a:lnTo>
                    <a:pt x="1687800" y="938928"/>
                  </a:lnTo>
                  <a:lnTo>
                    <a:pt x="1737264" y="930950"/>
                  </a:lnTo>
                  <a:lnTo>
                    <a:pt x="1780222" y="908735"/>
                  </a:lnTo>
                  <a:lnTo>
                    <a:pt x="1814098" y="874859"/>
                  </a:lnTo>
                  <a:lnTo>
                    <a:pt x="1836314" y="831901"/>
                  </a:lnTo>
                  <a:lnTo>
                    <a:pt x="1844292" y="782438"/>
                  </a:lnTo>
                  <a:lnTo>
                    <a:pt x="1844292" y="156490"/>
                  </a:lnTo>
                  <a:lnTo>
                    <a:pt x="1836314" y="107027"/>
                  </a:lnTo>
                  <a:lnTo>
                    <a:pt x="1814098" y="64069"/>
                  </a:lnTo>
                  <a:lnTo>
                    <a:pt x="1780222" y="30193"/>
                  </a:lnTo>
                  <a:lnTo>
                    <a:pt x="1737264" y="7978"/>
                  </a:lnTo>
                  <a:lnTo>
                    <a:pt x="1687800" y="0"/>
                  </a:lnTo>
                  <a:close/>
                </a:path>
              </a:pathLst>
            </a:custGeom>
            <a:solidFill>
              <a:srgbClr val="00B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2934" y="1648306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0" y="156490"/>
                  </a:moveTo>
                  <a:lnTo>
                    <a:pt x="7978" y="107027"/>
                  </a:lnTo>
                  <a:lnTo>
                    <a:pt x="30193" y="64069"/>
                  </a:lnTo>
                  <a:lnTo>
                    <a:pt x="64069" y="30193"/>
                  </a:lnTo>
                  <a:lnTo>
                    <a:pt x="107027" y="7978"/>
                  </a:lnTo>
                  <a:lnTo>
                    <a:pt x="156490" y="0"/>
                  </a:lnTo>
                  <a:lnTo>
                    <a:pt x="1687800" y="0"/>
                  </a:lnTo>
                  <a:lnTo>
                    <a:pt x="1737263" y="7978"/>
                  </a:lnTo>
                  <a:lnTo>
                    <a:pt x="1780221" y="30193"/>
                  </a:lnTo>
                  <a:lnTo>
                    <a:pt x="1814097" y="64069"/>
                  </a:lnTo>
                  <a:lnTo>
                    <a:pt x="1836313" y="107027"/>
                  </a:lnTo>
                  <a:lnTo>
                    <a:pt x="1844291" y="156490"/>
                  </a:lnTo>
                  <a:lnTo>
                    <a:pt x="1844291" y="782437"/>
                  </a:lnTo>
                  <a:lnTo>
                    <a:pt x="1836313" y="831901"/>
                  </a:lnTo>
                  <a:lnTo>
                    <a:pt x="1814097" y="874859"/>
                  </a:lnTo>
                  <a:lnTo>
                    <a:pt x="1780221" y="908734"/>
                  </a:lnTo>
                  <a:lnTo>
                    <a:pt x="1737263" y="930950"/>
                  </a:lnTo>
                  <a:lnTo>
                    <a:pt x="1687800" y="938928"/>
                  </a:lnTo>
                  <a:lnTo>
                    <a:pt x="156490" y="938928"/>
                  </a:lnTo>
                  <a:lnTo>
                    <a:pt x="107027" y="930950"/>
                  </a:lnTo>
                  <a:lnTo>
                    <a:pt x="64069" y="908734"/>
                  </a:lnTo>
                  <a:lnTo>
                    <a:pt x="30193" y="874859"/>
                  </a:lnTo>
                  <a:lnTo>
                    <a:pt x="7978" y="831901"/>
                  </a:lnTo>
                  <a:lnTo>
                    <a:pt x="0" y="782437"/>
                  </a:lnTo>
                  <a:lnTo>
                    <a:pt x="0" y="15649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03544" y="1906950"/>
            <a:ext cx="549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28961" y="3644298"/>
            <a:ext cx="2352040" cy="964565"/>
            <a:chOff x="6028961" y="3644298"/>
            <a:chExt cx="2352040" cy="964565"/>
          </a:xfrm>
        </p:grpSpPr>
        <p:sp>
          <p:nvSpPr>
            <p:cNvPr id="11" name="object 11"/>
            <p:cNvSpPr/>
            <p:nvPr/>
          </p:nvSpPr>
          <p:spPr>
            <a:xfrm>
              <a:off x="6041661" y="4091402"/>
              <a:ext cx="482600" cy="12065"/>
            </a:xfrm>
            <a:custGeom>
              <a:avLst/>
              <a:gdLst/>
              <a:ahLst/>
              <a:cxnLst/>
              <a:rect l="l" t="t" r="r" b="b"/>
              <a:pathLst>
                <a:path w="482600" h="12064">
                  <a:moveTo>
                    <a:pt x="0" y="0"/>
                  </a:moveTo>
                  <a:lnTo>
                    <a:pt x="482184" y="12038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23846" y="3656998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1687800" y="0"/>
                  </a:moveTo>
                  <a:lnTo>
                    <a:pt x="156490" y="0"/>
                  </a:lnTo>
                  <a:lnTo>
                    <a:pt x="107027" y="7978"/>
                  </a:lnTo>
                  <a:lnTo>
                    <a:pt x="64068" y="30193"/>
                  </a:lnTo>
                  <a:lnTo>
                    <a:pt x="30193" y="64069"/>
                  </a:lnTo>
                  <a:lnTo>
                    <a:pt x="7977" y="107027"/>
                  </a:lnTo>
                  <a:lnTo>
                    <a:pt x="0" y="156490"/>
                  </a:lnTo>
                  <a:lnTo>
                    <a:pt x="0" y="782438"/>
                  </a:lnTo>
                  <a:lnTo>
                    <a:pt x="7977" y="831901"/>
                  </a:lnTo>
                  <a:lnTo>
                    <a:pt x="30193" y="874859"/>
                  </a:lnTo>
                  <a:lnTo>
                    <a:pt x="64068" y="908735"/>
                  </a:lnTo>
                  <a:lnTo>
                    <a:pt x="107027" y="930950"/>
                  </a:lnTo>
                  <a:lnTo>
                    <a:pt x="156490" y="938928"/>
                  </a:lnTo>
                  <a:lnTo>
                    <a:pt x="1687800" y="938928"/>
                  </a:lnTo>
                  <a:lnTo>
                    <a:pt x="1737263" y="930950"/>
                  </a:lnTo>
                  <a:lnTo>
                    <a:pt x="1780221" y="908735"/>
                  </a:lnTo>
                  <a:lnTo>
                    <a:pt x="1814096" y="874859"/>
                  </a:lnTo>
                  <a:lnTo>
                    <a:pt x="1836312" y="831901"/>
                  </a:lnTo>
                  <a:lnTo>
                    <a:pt x="1844290" y="782438"/>
                  </a:lnTo>
                  <a:lnTo>
                    <a:pt x="1844290" y="156490"/>
                  </a:lnTo>
                  <a:lnTo>
                    <a:pt x="1836312" y="107027"/>
                  </a:lnTo>
                  <a:lnTo>
                    <a:pt x="1814096" y="64069"/>
                  </a:lnTo>
                  <a:lnTo>
                    <a:pt x="1780221" y="30193"/>
                  </a:lnTo>
                  <a:lnTo>
                    <a:pt x="1737263" y="7978"/>
                  </a:lnTo>
                  <a:lnTo>
                    <a:pt x="1687800" y="0"/>
                  </a:lnTo>
                  <a:close/>
                </a:path>
              </a:pathLst>
            </a:custGeom>
            <a:solidFill>
              <a:srgbClr val="002F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23846" y="3656998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0" y="156491"/>
                  </a:moveTo>
                  <a:lnTo>
                    <a:pt x="7977" y="107027"/>
                  </a:lnTo>
                  <a:lnTo>
                    <a:pt x="30193" y="64069"/>
                  </a:lnTo>
                  <a:lnTo>
                    <a:pt x="64069" y="30193"/>
                  </a:lnTo>
                  <a:lnTo>
                    <a:pt x="107027" y="7978"/>
                  </a:lnTo>
                  <a:lnTo>
                    <a:pt x="156491" y="0"/>
                  </a:lnTo>
                  <a:lnTo>
                    <a:pt x="1687800" y="0"/>
                  </a:lnTo>
                  <a:lnTo>
                    <a:pt x="1737263" y="7978"/>
                  </a:lnTo>
                  <a:lnTo>
                    <a:pt x="1780221" y="30193"/>
                  </a:lnTo>
                  <a:lnTo>
                    <a:pt x="1814097" y="64069"/>
                  </a:lnTo>
                  <a:lnTo>
                    <a:pt x="1836313" y="107027"/>
                  </a:lnTo>
                  <a:lnTo>
                    <a:pt x="1844291" y="156491"/>
                  </a:lnTo>
                  <a:lnTo>
                    <a:pt x="1844291" y="782437"/>
                  </a:lnTo>
                  <a:lnTo>
                    <a:pt x="1836313" y="831901"/>
                  </a:lnTo>
                  <a:lnTo>
                    <a:pt x="1814097" y="874859"/>
                  </a:lnTo>
                  <a:lnTo>
                    <a:pt x="1780221" y="908735"/>
                  </a:lnTo>
                  <a:lnTo>
                    <a:pt x="1737263" y="930950"/>
                  </a:lnTo>
                  <a:lnTo>
                    <a:pt x="1687800" y="938928"/>
                  </a:lnTo>
                  <a:lnTo>
                    <a:pt x="156491" y="938928"/>
                  </a:lnTo>
                  <a:lnTo>
                    <a:pt x="107027" y="930950"/>
                  </a:lnTo>
                  <a:lnTo>
                    <a:pt x="64069" y="908735"/>
                  </a:lnTo>
                  <a:lnTo>
                    <a:pt x="30193" y="874859"/>
                  </a:lnTo>
                  <a:lnTo>
                    <a:pt x="7977" y="831901"/>
                  </a:lnTo>
                  <a:lnTo>
                    <a:pt x="0" y="782437"/>
                  </a:lnTo>
                  <a:lnTo>
                    <a:pt x="0" y="15649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76054" y="3751050"/>
            <a:ext cx="1146810" cy="7086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indent="247650">
              <a:lnSpc>
                <a:spcPts val="2500"/>
              </a:lnSpc>
              <a:spcBef>
                <a:spcPts val="500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Body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langua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76205" y="3675790"/>
            <a:ext cx="2360295" cy="964565"/>
            <a:chOff x="1076205" y="3675790"/>
            <a:chExt cx="2360295" cy="964565"/>
          </a:xfrm>
        </p:grpSpPr>
        <p:sp>
          <p:nvSpPr>
            <p:cNvPr id="16" name="object 16"/>
            <p:cNvSpPr/>
            <p:nvPr/>
          </p:nvSpPr>
          <p:spPr>
            <a:xfrm>
              <a:off x="2933197" y="4106453"/>
              <a:ext cx="490855" cy="18415"/>
            </a:xfrm>
            <a:custGeom>
              <a:avLst/>
              <a:gdLst/>
              <a:ahLst/>
              <a:cxnLst/>
              <a:rect l="l" t="t" r="r" b="b"/>
              <a:pathLst>
                <a:path w="490854" h="18414">
                  <a:moveTo>
                    <a:pt x="490334" y="0"/>
                  </a:moveTo>
                  <a:lnTo>
                    <a:pt x="0" y="17878"/>
                  </a:lnTo>
                </a:path>
              </a:pathLst>
            </a:custGeom>
            <a:ln w="25399">
              <a:solidFill>
                <a:srgbClr val="4D7A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88905" y="3688490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1687800" y="0"/>
                  </a:moveTo>
                  <a:lnTo>
                    <a:pt x="156490" y="0"/>
                  </a:lnTo>
                  <a:lnTo>
                    <a:pt x="107027" y="7978"/>
                  </a:lnTo>
                  <a:lnTo>
                    <a:pt x="64069" y="30193"/>
                  </a:lnTo>
                  <a:lnTo>
                    <a:pt x="30193" y="64069"/>
                  </a:lnTo>
                  <a:lnTo>
                    <a:pt x="7978" y="107027"/>
                  </a:lnTo>
                  <a:lnTo>
                    <a:pt x="0" y="156490"/>
                  </a:lnTo>
                  <a:lnTo>
                    <a:pt x="0" y="782438"/>
                  </a:lnTo>
                  <a:lnTo>
                    <a:pt x="7978" y="831901"/>
                  </a:lnTo>
                  <a:lnTo>
                    <a:pt x="30193" y="874859"/>
                  </a:lnTo>
                  <a:lnTo>
                    <a:pt x="64069" y="908735"/>
                  </a:lnTo>
                  <a:lnTo>
                    <a:pt x="107027" y="930950"/>
                  </a:lnTo>
                  <a:lnTo>
                    <a:pt x="156490" y="938928"/>
                  </a:lnTo>
                  <a:lnTo>
                    <a:pt x="1687800" y="938928"/>
                  </a:lnTo>
                  <a:lnTo>
                    <a:pt x="1737263" y="930950"/>
                  </a:lnTo>
                  <a:lnTo>
                    <a:pt x="1780221" y="908735"/>
                  </a:lnTo>
                  <a:lnTo>
                    <a:pt x="1814097" y="874859"/>
                  </a:lnTo>
                  <a:lnTo>
                    <a:pt x="1836313" y="831901"/>
                  </a:lnTo>
                  <a:lnTo>
                    <a:pt x="1844291" y="782438"/>
                  </a:lnTo>
                  <a:lnTo>
                    <a:pt x="1844291" y="156490"/>
                  </a:lnTo>
                  <a:lnTo>
                    <a:pt x="1836313" y="107027"/>
                  </a:lnTo>
                  <a:lnTo>
                    <a:pt x="1814097" y="64069"/>
                  </a:lnTo>
                  <a:lnTo>
                    <a:pt x="1780221" y="30193"/>
                  </a:lnTo>
                  <a:lnTo>
                    <a:pt x="1737263" y="7978"/>
                  </a:lnTo>
                  <a:lnTo>
                    <a:pt x="1687800" y="0"/>
                  </a:lnTo>
                  <a:close/>
                </a:path>
              </a:pathLst>
            </a:custGeom>
            <a:solidFill>
              <a:srgbClr val="008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88905" y="3688490"/>
              <a:ext cx="1844675" cy="939165"/>
            </a:xfrm>
            <a:custGeom>
              <a:avLst/>
              <a:gdLst/>
              <a:ahLst/>
              <a:cxnLst/>
              <a:rect l="l" t="t" r="r" b="b"/>
              <a:pathLst>
                <a:path w="1844675" h="939164">
                  <a:moveTo>
                    <a:pt x="0" y="156491"/>
                  </a:moveTo>
                  <a:lnTo>
                    <a:pt x="7978" y="107027"/>
                  </a:lnTo>
                  <a:lnTo>
                    <a:pt x="30193" y="64069"/>
                  </a:lnTo>
                  <a:lnTo>
                    <a:pt x="64069" y="30193"/>
                  </a:lnTo>
                  <a:lnTo>
                    <a:pt x="107027" y="7978"/>
                  </a:lnTo>
                  <a:lnTo>
                    <a:pt x="156490" y="0"/>
                  </a:lnTo>
                  <a:lnTo>
                    <a:pt x="1687800" y="0"/>
                  </a:lnTo>
                  <a:lnTo>
                    <a:pt x="1737263" y="7978"/>
                  </a:lnTo>
                  <a:lnTo>
                    <a:pt x="1780222" y="30193"/>
                  </a:lnTo>
                  <a:lnTo>
                    <a:pt x="1814097" y="64069"/>
                  </a:lnTo>
                  <a:lnTo>
                    <a:pt x="1836313" y="107027"/>
                  </a:lnTo>
                  <a:lnTo>
                    <a:pt x="1844291" y="156491"/>
                  </a:lnTo>
                  <a:lnTo>
                    <a:pt x="1844291" y="782437"/>
                  </a:lnTo>
                  <a:lnTo>
                    <a:pt x="1836313" y="831900"/>
                  </a:lnTo>
                  <a:lnTo>
                    <a:pt x="1814097" y="874859"/>
                  </a:lnTo>
                  <a:lnTo>
                    <a:pt x="1780222" y="908735"/>
                  </a:lnTo>
                  <a:lnTo>
                    <a:pt x="1737263" y="930950"/>
                  </a:lnTo>
                  <a:lnTo>
                    <a:pt x="1687800" y="938928"/>
                  </a:lnTo>
                  <a:lnTo>
                    <a:pt x="156490" y="938928"/>
                  </a:lnTo>
                  <a:lnTo>
                    <a:pt x="107027" y="930950"/>
                  </a:lnTo>
                  <a:lnTo>
                    <a:pt x="64069" y="908735"/>
                  </a:lnTo>
                  <a:lnTo>
                    <a:pt x="30193" y="874859"/>
                  </a:lnTo>
                  <a:lnTo>
                    <a:pt x="7978" y="831900"/>
                  </a:lnTo>
                  <a:lnTo>
                    <a:pt x="0" y="782437"/>
                  </a:lnTo>
                  <a:lnTo>
                    <a:pt x="0" y="15649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25276" y="3947134"/>
            <a:ext cx="978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Wr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108" y="5019728"/>
            <a:ext cx="2114911" cy="148151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226709" y="1563112"/>
            <a:ext cx="2141855" cy="4897755"/>
            <a:chOff x="6226709" y="1563112"/>
            <a:chExt cx="2141855" cy="489775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6709" y="1563112"/>
              <a:ext cx="2067553" cy="17030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1137" y="4762220"/>
              <a:ext cx="1817006" cy="1698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73920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Communication 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99" y="1370830"/>
            <a:ext cx="8304571" cy="38878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8661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 of Communication</a:t>
            </a:r>
            <a:r>
              <a:rPr dirty="0"/>
              <a:t> </a:t>
            </a:r>
            <a:r>
              <a:rPr spc="-5" dirty="0"/>
              <a:t>methods</a:t>
            </a:r>
            <a:r>
              <a:rPr dirty="0"/>
              <a:t> </a:t>
            </a:r>
            <a:r>
              <a:rPr spc="-5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650" y="1523012"/>
            <a:ext cx="8324226" cy="439431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8661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 of Communication</a:t>
            </a:r>
            <a:r>
              <a:rPr dirty="0"/>
              <a:t> </a:t>
            </a:r>
            <a:r>
              <a:rPr spc="-5" dirty="0"/>
              <a:t>methods</a:t>
            </a:r>
            <a:r>
              <a:rPr dirty="0"/>
              <a:t> </a:t>
            </a:r>
            <a:r>
              <a:rPr spc="-5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882" y="1501624"/>
            <a:ext cx="8062392" cy="41331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4873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Barriers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4" y="1205245"/>
            <a:ext cx="5102225" cy="2863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1613535" indent="-457200" algn="just">
              <a:lnSpc>
                <a:spcPct val="119000"/>
              </a:lnSpc>
              <a:spcBef>
                <a:spcPts val="110"/>
              </a:spcBef>
              <a:buFont typeface="Arial MT"/>
              <a:buChar char="•"/>
              <a:tabLst>
                <a:tab pos="469900" algn="l"/>
              </a:tabLst>
            </a:pPr>
            <a:r>
              <a:rPr sz="2600" b="1" spc="-5" dirty="0">
                <a:latin typeface="Arial"/>
                <a:cs typeface="Arial"/>
              </a:rPr>
              <a:t>Cognitive barriers: </a:t>
            </a:r>
            <a:r>
              <a:rPr sz="2600" b="1" spc="-710" dirty="0">
                <a:latin typeface="Arial"/>
                <a:cs typeface="Arial"/>
              </a:rPr>
              <a:t> </a:t>
            </a:r>
            <a:r>
              <a:rPr sz="2600" spc="-5" dirty="0">
                <a:latin typeface="Arial MT"/>
                <a:cs typeface="Arial MT"/>
              </a:rPr>
              <a:t>Information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overload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Filtering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Arial"/>
                <a:cs typeface="Arial"/>
              </a:rPr>
              <a:t>Emotional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barriers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Arial"/>
                <a:cs typeface="Arial"/>
              </a:rPr>
              <a:t>Sociocultural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barriers (jargon)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Arial"/>
                <a:cs typeface="Arial"/>
              </a:rPr>
              <a:t>National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culture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9350" y="1148701"/>
            <a:ext cx="3884648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187" y="4132736"/>
            <a:ext cx="2327563" cy="2725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0279" y="3987421"/>
            <a:ext cx="2406956" cy="277446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6694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Overcoming</a:t>
            </a:r>
            <a:r>
              <a:rPr spc="-10" dirty="0"/>
              <a:t> </a:t>
            </a:r>
            <a:r>
              <a:rPr spc="-5" dirty="0"/>
              <a:t>communication barriers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5" y="1088494"/>
            <a:ext cx="3308350" cy="14414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600" b="1" dirty="0">
                <a:latin typeface="Arial"/>
                <a:cs typeface="Arial"/>
              </a:rPr>
              <a:t>Use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feedback</a:t>
            </a:r>
            <a:endParaRPr sz="26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600" b="1" spc="-5" dirty="0">
                <a:latin typeface="Arial"/>
                <a:cs typeface="Arial"/>
              </a:rPr>
              <a:t>Simplify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language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Arial"/>
                <a:cs typeface="Arial"/>
              </a:rPr>
              <a:t>Listen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actively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7515" y="1088494"/>
            <a:ext cx="3860800" cy="9715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Arial"/>
                <a:cs typeface="Arial"/>
              </a:rPr>
              <a:t>Constrain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emotions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spc="-20" dirty="0">
                <a:latin typeface="Arial"/>
                <a:cs typeface="Arial"/>
              </a:rPr>
              <a:t>Watch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nonverbal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cues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" y="2063959"/>
            <a:ext cx="8762998" cy="456760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5593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Organizational</a:t>
            </a:r>
            <a:r>
              <a:rPr spc="-30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5" y="1633221"/>
            <a:ext cx="7973059" cy="2661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marR="5080" indent="-457200">
              <a:lnSpc>
                <a:spcPct val="997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  <a:tab pos="4875530" algn="l"/>
              </a:tabLst>
            </a:pPr>
            <a:r>
              <a:rPr sz="2800" b="1" spc="-5" dirty="0">
                <a:latin typeface="Arial"/>
                <a:cs typeface="Arial"/>
              </a:rPr>
              <a:t>Formal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communication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	</a:t>
            </a:r>
            <a:r>
              <a:rPr sz="2800" spc="-5" dirty="0">
                <a:latin typeface="Arial MT"/>
                <a:cs typeface="Arial MT"/>
              </a:rPr>
              <a:t>communication that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takes </a:t>
            </a:r>
            <a:r>
              <a:rPr sz="2800" dirty="0">
                <a:latin typeface="Arial MT"/>
                <a:cs typeface="Arial MT"/>
              </a:rPr>
              <a:t>place </a:t>
            </a:r>
            <a:r>
              <a:rPr sz="2800" spc="-5" dirty="0">
                <a:latin typeface="Arial MT"/>
                <a:cs typeface="Arial MT"/>
              </a:rPr>
              <a:t>within</a:t>
            </a:r>
            <a:r>
              <a:rPr sz="2800" dirty="0">
                <a:latin typeface="Arial MT"/>
                <a:cs typeface="Arial MT"/>
              </a:rPr>
              <a:t> prescribed </a:t>
            </a:r>
            <a:r>
              <a:rPr sz="2800" spc="-5" dirty="0">
                <a:latin typeface="Arial MT"/>
                <a:cs typeface="Arial MT"/>
              </a:rPr>
              <a:t>organizational </a:t>
            </a:r>
            <a:r>
              <a:rPr sz="2800" dirty="0">
                <a:latin typeface="Arial MT"/>
                <a:cs typeface="Arial MT"/>
              </a:rPr>
              <a:t> work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arrangements.</a:t>
            </a:r>
            <a:endParaRPr sz="2800">
              <a:latin typeface="Arial MT"/>
              <a:cs typeface="Arial MT"/>
            </a:endParaRPr>
          </a:p>
          <a:p>
            <a:pPr marL="469265" marR="479425" indent="-457200">
              <a:lnSpc>
                <a:spcPct val="100099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  <a:tab pos="469900" algn="l"/>
                <a:tab pos="5093335" algn="l"/>
              </a:tabLst>
            </a:pPr>
            <a:r>
              <a:rPr sz="2800" b="1" spc="-5" dirty="0">
                <a:latin typeface="Arial"/>
                <a:cs typeface="Arial"/>
              </a:rPr>
              <a:t>In</a:t>
            </a:r>
            <a:r>
              <a:rPr sz="2800" b="1" dirty="0">
                <a:latin typeface="Arial"/>
                <a:cs typeface="Arial"/>
              </a:rPr>
              <a:t>f</a:t>
            </a:r>
            <a:r>
              <a:rPr sz="2800" b="1" spc="-5" dirty="0">
                <a:latin typeface="Arial"/>
                <a:cs typeface="Arial"/>
              </a:rPr>
              <a:t>o</a:t>
            </a:r>
            <a:r>
              <a:rPr sz="2800" b="1" dirty="0">
                <a:latin typeface="Arial"/>
                <a:cs typeface="Arial"/>
              </a:rPr>
              <a:t>rmal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</a:t>
            </a:r>
            <a:r>
              <a:rPr sz="2800" b="1" spc="-5" dirty="0">
                <a:latin typeface="Arial"/>
                <a:cs typeface="Arial"/>
              </a:rPr>
              <a:t>o</a:t>
            </a:r>
            <a:r>
              <a:rPr sz="2800" b="1" dirty="0">
                <a:latin typeface="Arial"/>
                <a:cs typeface="Arial"/>
              </a:rPr>
              <a:t>mm</a:t>
            </a:r>
            <a:r>
              <a:rPr sz="2800" b="1" spc="-5" dirty="0">
                <a:latin typeface="Arial"/>
                <a:cs typeface="Arial"/>
              </a:rPr>
              <a:t>uni</a:t>
            </a:r>
            <a:r>
              <a:rPr sz="2800" b="1" dirty="0">
                <a:latin typeface="Arial"/>
                <a:cs typeface="Arial"/>
              </a:rPr>
              <a:t>cat</a:t>
            </a:r>
            <a:r>
              <a:rPr sz="2800" b="1" spc="-5" dirty="0">
                <a:latin typeface="Arial"/>
                <a:cs typeface="Arial"/>
              </a:rPr>
              <a:t>io</a:t>
            </a:r>
            <a:r>
              <a:rPr sz="2800" b="1" dirty="0">
                <a:latin typeface="Arial"/>
                <a:cs typeface="Arial"/>
              </a:rPr>
              <a:t>n </a:t>
            </a:r>
            <a:r>
              <a:rPr sz="2800" dirty="0">
                <a:latin typeface="Arial MT"/>
                <a:cs typeface="Arial MT"/>
              </a:rPr>
              <a:t>–	communica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dirty="0">
                <a:latin typeface="Arial MT"/>
                <a:cs typeface="Arial MT"/>
              </a:rPr>
              <a:t>ion  </a:t>
            </a:r>
            <a:r>
              <a:rPr sz="2800" spc="-5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is not </a:t>
            </a:r>
            <a:r>
              <a:rPr sz="2800" spc="-5" dirty="0">
                <a:latin typeface="Arial MT"/>
                <a:cs typeface="Arial MT"/>
              </a:rPr>
              <a:t>defined </a:t>
            </a:r>
            <a:r>
              <a:rPr sz="2800" dirty="0">
                <a:latin typeface="Arial MT"/>
                <a:cs typeface="Arial MT"/>
              </a:rPr>
              <a:t>by </a:t>
            </a:r>
            <a:r>
              <a:rPr sz="2800" spc="-5" dirty="0">
                <a:latin typeface="Arial MT"/>
                <a:cs typeface="Arial MT"/>
              </a:rPr>
              <a:t>the organization’s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structural </a:t>
            </a:r>
            <a:r>
              <a:rPr sz="2800" spc="-25" dirty="0">
                <a:latin typeface="Arial MT"/>
                <a:cs typeface="Arial MT"/>
              </a:rPr>
              <a:t>hierarchy.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7371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Organizational</a:t>
            </a:r>
            <a:r>
              <a:rPr spc="-10" dirty="0"/>
              <a:t> </a:t>
            </a:r>
            <a:r>
              <a:rPr spc="-5" dirty="0"/>
              <a:t>communication 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277477"/>
            <a:ext cx="7300595" cy="2242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5080" indent="-457200">
              <a:lnSpc>
                <a:spcPct val="997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Communication Networks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variety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patterns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5" dirty="0">
                <a:latin typeface="Arial MT"/>
                <a:cs typeface="Arial MT"/>
              </a:rPr>
              <a:t>vertical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5" dirty="0">
                <a:latin typeface="Arial MT"/>
                <a:cs typeface="Arial MT"/>
              </a:rPr>
              <a:t>horizontal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flows</a:t>
            </a:r>
            <a:r>
              <a:rPr sz="2800" dirty="0">
                <a:latin typeface="Arial MT"/>
                <a:cs typeface="Arial MT"/>
              </a:rPr>
              <a:t> of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organizational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communication.</a:t>
            </a:r>
            <a:endParaRPr sz="2800">
              <a:latin typeface="Arial MT"/>
              <a:cs typeface="Arial MT"/>
            </a:endParaRPr>
          </a:p>
          <a:p>
            <a:pPr marL="469900" marR="516890" indent="-457200">
              <a:lnSpc>
                <a:spcPct val="102000"/>
              </a:lnSpc>
              <a:spcBef>
                <a:spcPts val="54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Grapevine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informal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organizational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communication network.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3559" y="3806106"/>
            <a:ext cx="4167042" cy="282545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8641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Organizational communication</a:t>
            </a:r>
            <a:r>
              <a:rPr dirty="0"/>
              <a:t> </a:t>
            </a:r>
            <a:r>
              <a:rPr spc="-5" dirty="0"/>
              <a:t>networks</a:t>
            </a:r>
            <a:r>
              <a:rPr spc="5" dirty="0"/>
              <a:t> </a:t>
            </a:r>
            <a:r>
              <a:rPr spc="-5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592" y="1723813"/>
            <a:ext cx="8737406" cy="427100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9" y="461097"/>
            <a:ext cx="8508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Technology</a:t>
            </a:r>
            <a:r>
              <a:rPr dirty="0"/>
              <a:t> affects</a:t>
            </a:r>
            <a:r>
              <a:rPr spc="5" dirty="0"/>
              <a:t> </a:t>
            </a:r>
            <a:r>
              <a:rPr spc="-5" dirty="0"/>
              <a:t>managerial</a:t>
            </a:r>
            <a:r>
              <a:rPr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39" y="1540764"/>
            <a:ext cx="4255135" cy="118618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25"/>
              </a:spcBef>
              <a:buChar char="•"/>
              <a:tabLst>
                <a:tab pos="469265" algn="l"/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Networked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Systems</a:t>
            </a:r>
            <a:endParaRPr sz="3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730"/>
              </a:spcBef>
              <a:buChar char="•"/>
              <a:tabLst>
                <a:tab pos="469265" algn="l"/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Wireless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Capabilities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715" y="4563400"/>
            <a:ext cx="8378190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Provide some issues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with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current managing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communication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 </a:t>
            </a:r>
            <a:r>
              <a:rPr sz="2400" spc="-6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Internet World????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955" y="1979558"/>
            <a:ext cx="2712243" cy="241088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3088435"/>
            <a:ext cx="61912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7.5</a:t>
            </a:r>
            <a:r>
              <a:rPr sz="3400" spc="-15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CONFLICT</a:t>
            </a:r>
            <a:r>
              <a:rPr sz="3400" spc="-15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MANAGEMENT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9846" y="114598"/>
            <a:ext cx="3796035" cy="224897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1579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Conflict</a:t>
            </a:r>
            <a:r>
              <a:rPr sz="3200" spc="-45" dirty="0"/>
              <a:t> </a:t>
            </a:r>
            <a:r>
              <a:rPr sz="3200" spc="-5" dirty="0"/>
              <a:t>management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7887" y="1348145"/>
            <a:ext cx="5027295" cy="45364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124460" indent="-34290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Conflict</a:t>
            </a:r>
            <a:r>
              <a:rPr sz="2600" spc="-5" dirty="0">
                <a:latin typeface="Arial MT"/>
                <a:cs typeface="Arial MT"/>
              </a:rPr>
              <a:t>– </a:t>
            </a:r>
            <a:r>
              <a:rPr sz="2600" dirty="0">
                <a:latin typeface="Arial MT"/>
                <a:cs typeface="Arial MT"/>
              </a:rPr>
              <a:t>perceived </a:t>
            </a:r>
            <a:r>
              <a:rPr sz="2600" spc="-5" dirty="0">
                <a:latin typeface="Arial MT"/>
                <a:cs typeface="Arial MT"/>
              </a:rPr>
              <a:t>incompatible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differences that </a:t>
            </a:r>
            <a:r>
              <a:rPr sz="2600" dirty="0">
                <a:latin typeface="Arial MT"/>
                <a:cs typeface="Arial MT"/>
              </a:rPr>
              <a:t>result in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interference</a:t>
            </a:r>
            <a:r>
              <a:rPr sz="2600" dirty="0">
                <a:latin typeface="Arial MT"/>
                <a:cs typeface="Arial MT"/>
              </a:rPr>
              <a:t> or</a:t>
            </a:r>
            <a:r>
              <a:rPr sz="2600" spc="-5" dirty="0">
                <a:latin typeface="Arial MT"/>
                <a:cs typeface="Arial MT"/>
              </a:rPr>
              <a:t> opposition.</a:t>
            </a:r>
            <a:endParaRPr sz="2600">
              <a:latin typeface="Arial MT"/>
              <a:cs typeface="Arial MT"/>
            </a:endParaRPr>
          </a:p>
          <a:p>
            <a:pPr marL="868044" indent="-41148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868044" algn="l"/>
                <a:tab pos="868680" algn="l"/>
              </a:tabLst>
            </a:pPr>
            <a:r>
              <a:rPr sz="2600" b="1" spc="-20" dirty="0">
                <a:latin typeface="Arial"/>
                <a:cs typeface="Arial"/>
              </a:rPr>
              <a:t>Traditional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view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of conflict</a:t>
            </a:r>
            <a:endParaRPr sz="2600">
              <a:latin typeface="Arial"/>
              <a:cs typeface="Arial"/>
            </a:endParaRPr>
          </a:p>
          <a:p>
            <a:pPr marL="862965" marR="155575">
              <a:lnSpc>
                <a:spcPts val="3100"/>
              </a:lnSpc>
              <a:spcBef>
                <a:spcPts val="180"/>
              </a:spcBef>
            </a:pPr>
            <a:r>
              <a:rPr sz="2600" dirty="0">
                <a:latin typeface="Arial MT"/>
                <a:cs typeface="Arial MT"/>
              </a:rPr>
              <a:t>–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view</a:t>
            </a:r>
            <a:r>
              <a:rPr sz="2600" spc="-5" dirty="0">
                <a:latin typeface="Arial MT"/>
                <a:cs typeface="Arial MT"/>
              </a:rPr>
              <a:t> that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5" dirty="0">
                <a:latin typeface="Arial MT"/>
                <a:cs typeface="Arial MT"/>
              </a:rPr>
              <a:t> conflict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must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avoided.</a:t>
            </a:r>
            <a:endParaRPr sz="2600">
              <a:latin typeface="Arial MT"/>
              <a:cs typeface="Arial MT"/>
            </a:endParaRPr>
          </a:p>
          <a:p>
            <a:pPr marL="862965" marR="353060" indent="-406400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868044" algn="l"/>
                <a:tab pos="868680" algn="l"/>
              </a:tabLst>
            </a:pPr>
            <a:r>
              <a:rPr sz="2600" b="1" spc="-5" dirty="0">
                <a:latin typeface="Arial"/>
                <a:cs typeface="Arial"/>
              </a:rPr>
              <a:t>Human relations view of </a:t>
            </a:r>
            <a:r>
              <a:rPr sz="2600" b="1" spc="-7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conflict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view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conflict </a:t>
            </a:r>
            <a:r>
              <a:rPr sz="2600" dirty="0">
                <a:latin typeface="Arial MT"/>
                <a:cs typeface="Arial MT"/>
              </a:rPr>
              <a:t>is a </a:t>
            </a:r>
            <a:r>
              <a:rPr sz="2600" spc="-5" dirty="0">
                <a:latin typeface="Arial MT"/>
                <a:cs typeface="Arial MT"/>
              </a:rPr>
              <a:t>natural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inevitable outcome </a:t>
            </a:r>
            <a:r>
              <a:rPr sz="2600" dirty="0">
                <a:latin typeface="Arial MT"/>
                <a:cs typeface="Arial MT"/>
              </a:rPr>
              <a:t>in any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group.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7020" y="1366956"/>
            <a:ext cx="3238498" cy="25145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2741" y="4064303"/>
            <a:ext cx="2723046" cy="182861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512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Conflict</a:t>
            </a:r>
            <a:r>
              <a:rPr sz="3200" spc="-20" dirty="0"/>
              <a:t> </a:t>
            </a:r>
            <a:r>
              <a:rPr sz="3200" spc="-5" dirty="0"/>
              <a:t>management</a:t>
            </a:r>
            <a:r>
              <a:rPr sz="3200" spc="-15" dirty="0"/>
              <a:t> </a:t>
            </a:r>
            <a:r>
              <a:rPr sz="3200" spc="-5" dirty="0"/>
              <a:t>(cont.)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4930" y="1464767"/>
            <a:ext cx="4902200" cy="493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55880" indent="-34290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Interactionist view of conflict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view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some </a:t>
            </a:r>
            <a:r>
              <a:rPr sz="2600" spc="-5" dirty="0">
                <a:latin typeface="Arial MT"/>
                <a:cs typeface="Arial MT"/>
              </a:rPr>
              <a:t>conflict </a:t>
            </a:r>
            <a:r>
              <a:rPr sz="2600" dirty="0">
                <a:latin typeface="Arial MT"/>
                <a:cs typeface="Arial MT"/>
              </a:rPr>
              <a:t>is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necessary </a:t>
            </a:r>
            <a:r>
              <a:rPr sz="2600" spc="-5" dirty="0">
                <a:latin typeface="Arial MT"/>
                <a:cs typeface="Arial MT"/>
              </a:rPr>
              <a:t>for </a:t>
            </a:r>
            <a:r>
              <a:rPr sz="2600" dirty="0">
                <a:latin typeface="Arial MT"/>
                <a:cs typeface="Arial MT"/>
              </a:rPr>
              <a:t>a group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perform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effectively.</a:t>
            </a:r>
            <a:endParaRPr sz="2600">
              <a:latin typeface="Arial MT"/>
              <a:cs typeface="Arial MT"/>
            </a:endParaRPr>
          </a:p>
          <a:p>
            <a:pPr marL="977265" marR="48895" indent="-520700">
              <a:lnSpc>
                <a:spcPct val="100200"/>
              </a:lnSpc>
              <a:spcBef>
                <a:spcPts val="495"/>
              </a:spcBef>
              <a:buFont typeface="Arial MT"/>
              <a:buChar char="•"/>
              <a:tabLst>
                <a:tab pos="980440" algn="l"/>
                <a:tab pos="981075" algn="l"/>
              </a:tabLst>
            </a:pPr>
            <a:r>
              <a:rPr sz="2600" b="1" spc="-5" dirty="0">
                <a:latin typeface="Arial"/>
                <a:cs typeface="Arial"/>
              </a:rPr>
              <a:t>Functional conflicts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conflicts that </a:t>
            </a:r>
            <a:r>
              <a:rPr sz="2600" dirty="0">
                <a:latin typeface="Arial MT"/>
                <a:cs typeface="Arial MT"/>
              </a:rPr>
              <a:t>support a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group’s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goals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improve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its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performance.</a:t>
            </a:r>
            <a:endParaRPr sz="2600">
              <a:latin typeface="Arial MT"/>
              <a:cs typeface="Arial MT"/>
            </a:endParaRPr>
          </a:p>
          <a:p>
            <a:pPr marL="977265" marR="5080" indent="-520700">
              <a:lnSpc>
                <a:spcPct val="100200"/>
              </a:lnSpc>
              <a:spcBef>
                <a:spcPts val="600"/>
              </a:spcBef>
              <a:buFont typeface="Arial MT"/>
              <a:buChar char="•"/>
              <a:tabLst>
                <a:tab pos="980440" algn="l"/>
                <a:tab pos="981075" algn="l"/>
              </a:tabLst>
            </a:pPr>
            <a:r>
              <a:rPr sz="2600" b="1" spc="-5" dirty="0">
                <a:latin typeface="Arial"/>
                <a:cs typeface="Arial"/>
              </a:rPr>
              <a:t>Dysfunctional conflicts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conflicts that </a:t>
            </a:r>
            <a:r>
              <a:rPr sz="2600" dirty="0">
                <a:latin typeface="Arial MT"/>
                <a:cs typeface="Arial MT"/>
              </a:rPr>
              <a:t>prevent a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group </a:t>
            </a:r>
            <a:r>
              <a:rPr sz="2600" spc="-5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achieving </a:t>
            </a:r>
            <a:r>
              <a:rPr sz="2600" spc="-5" dirty="0">
                <a:latin typeface="Arial MT"/>
                <a:cs typeface="Arial MT"/>
              </a:rPr>
              <a:t>its </a:t>
            </a:r>
            <a:r>
              <a:rPr sz="2600" dirty="0">
                <a:latin typeface="Arial MT"/>
                <a:cs typeface="Arial MT"/>
              </a:rPr>
              <a:t> goals.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425" y="1678343"/>
            <a:ext cx="348192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5512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Conflict</a:t>
            </a:r>
            <a:r>
              <a:rPr sz="3200" spc="-20" dirty="0"/>
              <a:t> </a:t>
            </a:r>
            <a:r>
              <a:rPr sz="3200" spc="-5" dirty="0"/>
              <a:t>management</a:t>
            </a:r>
            <a:r>
              <a:rPr sz="3200" spc="-15" dirty="0"/>
              <a:t> </a:t>
            </a:r>
            <a:r>
              <a:rPr sz="3200" spc="-5" dirty="0"/>
              <a:t>(cont.)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39" y="1633221"/>
            <a:ext cx="7123430" cy="2750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9900" marR="69850" indent="-457200">
              <a:lnSpc>
                <a:spcPts val="3300"/>
              </a:lnSpc>
              <a:spcBef>
                <a:spcPts val="26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5" dirty="0">
                <a:latin typeface="Arial"/>
                <a:cs typeface="Arial"/>
              </a:rPr>
              <a:t>Task</a:t>
            </a:r>
            <a:r>
              <a:rPr sz="2800" b="1" spc="-5" dirty="0">
                <a:latin typeface="Arial"/>
                <a:cs typeface="Arial"/>
              </a:rPr>
              <a:t> conflict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conflicts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5" dirty="0">
                <a:latin typeface="Arial MT"/>
                <a:cs typeface="Arial MT"/>
              </a:rPr>
              <a:t> content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" dirty="0">
                <a:latin typeface="Arial MT"/>
                <a:cs typeface="Arial MT"/>
              </a:rPr>
              <a:t> the </a:t>
            </a:r>
            <a:r>
              <a:rPr sz="2800" dirty="0">
                <a:latin typeface="Arial MT"/>
                <a:cs typeface="Arial MT"/>
              </a:rPr>
              <a:t>work.</a:t>
            </a:r>
            <a:endParaRPr sz="2800">
              <a:latin typeface="Arial MT"/>
              <a:cs typeface="Arial MT"/>
            </a:endParaRPr>
          </a:p>
          <a:p>
            <a:pPr marL="469900" marR="83820" indent="-457200">
              <a:lnSpc>
                <a:spcPts val="3329"/>
              </a:lnSpc>
              <a:spcBef>
                <a:spcPts val="74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Relationship conflict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conflict </a:t>
            </a:r>
            <a:r>
              <a:rPr sz="2800" dirty="0">
                <a:latin typeface="Arial MT"/>
                <a:cs typeface="Arial MT"/>
              </a:rPr>
              <a:t>based on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interpersonal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relationships.</a:t>
            </a:r>
            <a:endParaRPr sz="2800">
              <a:latin typeface="Arial MT"/>
              <a:cs typeface="Arial MT"/>
            </a:endParaRPr>
          </a:p>
          <a:p>
            <a:pPr marL="469900" marR="5080" indent="-457200">
              <a:lnSpc>
                <a:spcPts val="3329"/>
              </a:lnSpc>
              <a:spcBef>
                <a:spcPts val="73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Process conflict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conflict </a:t>
            </a:r>
            <a:r>
              <a:rPr sz="2800" dirty="0">
                <a:latin typeface="Arial MT"/>
                <a:cs typeface="Arial MT"/>
              </a:rPr>
              <a:t>over how work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gets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445857"/>
            <a:ext cx="5512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Conflict</a:t>
            </a:r>
            <a:r>
              <a:rPr sz="32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management</a:t>
            </a: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(cont.)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337" y="1747380"/>
            <a:ext cx="8017864" cy="4648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39" y="1069657"/>
            <a:ext cx="4295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Conflict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</a:t>
            </a:r>
            <a:r>
              <a:rPr sz="2400" spc="-5" dirty="0">
                <a:latin typeface="Arial MT"/>
                <a:cs typeface="Arial MT"/>
              </a:rPr>
              <a:t> performance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8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2071</Words>
  <Application>Microsoft Office PowerPoint</Application>
  <PresentationFormat>On-screen Show (4:3)</PresentationFormat>
  <Paragraphs>281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Arial MT</vt:lpstr>
      <vt:lpstr>Calibri</vt:lpstr>
      <vt:lpstr>Times New Roman</vt:lpstr>
      <vt:lpstr>Wingdings</vt:lpstr>
      <vt:lpstr>Office Theme</vt:lpstr>
      <vt:lpstr>LEADING</vt:lpstr>
      <vt:lpstr>LEARNING OUTCOMES</vt:lpstr>
      <vt:lpstr>CONTENTS</vt:lpstr>
      <vt:lpstr>7.1 LEADING AND LEADING FUNCTIONS</vt:lpstr>
      <vt:lpstr>PowerPoint Presentation</vt:lpstr>
      <vt:lpstr>Leading</vt:lpstr>
      <vt:lpstr>Why Leading is important?</vt:lpstr>
      <vt:lpstr>PowerPoint Presentation</vt:lpstr>
      <vt:lpstr>7.2 LEADER AND LEADERSHIP STYLES</vt:lpstr>
      <vt:lpstr>Leader and leadership</vt:lpstr>
      <vt:lpstr>Management vs. Leadership</vt:lpstr>
      <vt:lpstr>Management vs. Leadership</vt:lpstr>
      <vt:lpstr>Management vs. Leadership</vt:lpstr>
      <vt:lpstr>Leadership theories</vt:lpstr>
      <vt:lpstr>Leadership theories</vt:lpstr>
      <vt:lpstr>Trait theories</vt:lpstr>
      <vt:lpstr>Trait theories – 8 traits associated with Leadership</vt:lpstr>
      <vt:lpstr>Behavioral theories</vt:lpstr>
      <vt:lpstr>Behavioral theories</vt:lpstr>
      <vt:lpstr>Behavioral theories</vt:lpstr>
      <vt:lpstr>Behavioral theories- Managerial Grid</vt:lpstr>
      <vt:lpstr>Contingency theories – Fiedler model</vt:lpstr>
      <vt:lpstr>Contingency theories – Fiedler model</vt:lpstr>
      <vt:lpstr>Contingency theories – Hersey and  Blanchard’s situational leadership theory (SLT)</vt:lpstr>
      <vt:lpstr>Contingency theories – Hersey and  Blanchard’s situational leadership theory (SLT)</vt:lpstr>
      <vt:lpstr>Contingency theories – Path-goal model</vt:lpstr>
      <vt:lpstr>Contingency theories – Path-goal model</vt:lpstr>
      <vt:lpstr>Contingency theories – Path-goal model</vt:lpstr>
      <vt:lpstr>Contemporary views</vt:lpstr>
      <vt:lpstr>Contemporary views</vt:lpstr>
      <vt:lpstr>Contemporary views</vt:lpstr>
      <vt:lpstr>7.3 MOTIVATION</vt:lpstr>
      <vt:lpstr>What is motivation</vt:lpstr>
      <vt:lpstr>PowerPoint Presentation</vt:lpstr>
      <vt:lpstr>Motivation theories</vt:lpstr>
      <vt:lpstr>Maslow’s Hierarchy of Needs theory</vt:lpstr>
      <vt:lpstr>McGregor’s theory X and theory Y</vt:lpstr>
      <vt:lpstr>Herzberg’s Two-factor theory</vt:lpstr>
      <vt:lpstr>PowerPoint Presentation</vt:lpstr>
      <vt:lpstr>Three-needs theory</vt:lpstr>
      <vt:lpstr>PowerPoint Presentation</vt:lpstr>
      <vt:lpstr>Reinforcement theory</vt:lpstr>
      <vt:lpstr>PowerPoint Presentation</vt:lpstr>
      <vt:lpstr>Expectancy theory</vt:lpstr>
      <vt:lpstr>PowerPoint Presentation</vt:lpstr>
      <vt:lpstr>Group: Classify these factors into motivators and Hygiene factors</vt:lpstr>
      <vt:lpstr>Individual:</vt:lpstr>
      <vt:lpstr>PowerPoint Presentation</vt:lpstr>
      <vt:lpstr>7.4 COMMUNICATION IN MANAGEMENT</vt:lpstr>
      <vt:lpstr>What is communication?</vt:lpstr>
      <vt:lpstr>What is communication? (cont.)</vt:lpstr>
      <vt:lpstr>The roles of communication?</vt:lpstr>
      <vt:lpstr>The interpersonal communication process</vt:lpstr>
      <vt:lpstr>The interpersonal communication process (cont.)</vt:lpstr>
      <vt:lpstr>Communication methods What are the advantages and disadvantages of each method?</vt:lpstr>
      <vt:lpstr>Comparison of Communication methods</vt:lpstr>
      <vt:lpstr>Comparison of Communication methods (cont.)</vt:lpstr>
      <vt:lpstr>Comparison of Communication methods (cont.)</vt:lpstr>
      <vt:lpstr>Barriers to communication</vt:lpstr>
      <vt:lpstr>Overcoming communication barriers</vt:lpstr>
      <vt:lpstr>Organizational communication</vt:lpstr>
      <vt:lpstr>Organizational communication networks</vt:lpstr>
      <vt:lpstr>Organizational communication networks (cont.)</vt:lpstr>
      <vt:lpstr>Technology affects managerial communication</vt:lpstr>
      <vt:lpstr>7.5 CONFLICT MANAGEMENT</vt:lpstr>
      <vt:lpstr>Conflict management</vt:lpstr>
      <vt:lpstr>Conflict management (cont.)</vt:lpstr>
      <vt:lpstr>Conflict management (cont.)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2</cp:revision>
  <dcterms:created xsi:type="dcterms:W3CDTF">2024-06-23T15:00:46Z</dcterms:created>
  <dcterms:modified xsi:type="dcterms:W3CDTF">2024-06-23T15:18:39Z</dcterms:modified>
</cp:coreProperties>
</file>