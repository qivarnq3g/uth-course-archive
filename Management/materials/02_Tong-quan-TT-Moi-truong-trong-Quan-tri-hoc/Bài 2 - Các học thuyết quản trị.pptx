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31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314" y="227036"/>
            <a:ext cx="8888095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015" y="173973"/>
            <a:ext cx="8953500" cy="10237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5043" y="1364863"/>
            <a:ext cx="8613913" cy="3583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92822" y="6449208"/>
            <a:ext cx="258749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-4762" y="-4761"/>
            <a:ext cx="9153525" cy="586740"/>
            <a:chOff x="-4762" y="-4761"/>
            <a:chExt cx="9153525" cy="5867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08001"/>
              <a:ext cx="9143998" cy="7388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1"/>
              <a:ext cx="9144000" cy="508000"/>
            </a:xfrm>
            <a:custGeom>
              <a:avLst/>
              <a:gdLst/>
              <a:ahLst/>
              <a:cxnLst/>
              <a:rect l="l" t="t" r="r" b="b"/>
              <a:pathLst>
                <a:path w="9144000" h="508000">
                  <a:moveTo>
                    <a:pt x="9143998" y="0"/>
                  </a:moveTo>
                  <a:lnTo>
                    <a:pt x="0" y="0"/>
                  </a:lnTo>
                  <a:lnTo>
                    <a:pt x="0" y="508000"/>
                  </a:lnTo>
                  <a:lnTo>
                    <a:pt x="9143998" y="508000"/>
                  </a:lnTo>
                  <a:lnTo>
                    <a:pt x="9143998" y="0"/>
                  </a:lnTo>
                  <a:close/>
                </a:path>
              </a:pathLst>
            </a:custGeom>
            <a:solidFill>
              <a:srgbClr val="FEE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"/>
              <a:ext cx="9144000" cy="508000"/>
            </a:xfrm>
            <a:custGeom>
              <a:avLst/>
              <a:gdLst/>
              <a:ahLst/>
              <a:cxnLst/>
              <a:rect l="l" t="t" r="r" b="b"/>
              <a:pathLst>
                <a:path w="9144000" h="508000">
                  <a:moveTo>
                    <a:pt x="0" y="0"/>
                  </a:moveTo>
                  <a:lnTo>
                    <a:pt x="9143998" y="0"/>
                  </a:lnTo>
                  <a:lnTo>
                    <a:pt x="9143998" y="507999"/>
                  </a:lnTo>
                  <a:lnTo>
                    <a:pt x="0" y="50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5880" y="43181"/>
            <a:ext cx="87572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F0000"/>
                </a:solidFill>
              </a:rPr>
              <a:t>CHAPTER</a:t>
            </a:r>
            <a:r>
              <a:rPr sz="2600" spc="-70" dirty="0">
                <a:solidFill>
                  <a:srgbClr val="FF0000"/>
                </a:solidFill>
              </a:rPr>
              <a:t> </a:t>
            </a:r>
            <a:r>
              <a:rPr sz="2600" dirty="0">
                <a:solidFill>
                  <a:srgbClr val="FF0000"/>
                </a:solidFill>
              </a:rPr>
              <a:t>2:</a:t>
            </a:r>
            <a:r>
              <a:rPr sz="2600" spc="-75" dirty="0">
                <a:solidFill>
                  <a:srgbClr val="FF0000"/>
                </a:solidFill>
              </a:rPr>
              <a:t> </a:t>
            </a:r>
            <a:r>
              <a:rPr sz="2600" dirty="0">
                <a:solidFill>
                  <a:srgbClr val="FF0000"/>
                </a:solidFill>
              </a:rPr>
              <a:t>EVOLUTION</a:t>
            </a:r>
            <a:r>
              <a:rPr sz="2600" spc="-70" dirty="0">
                <a:solidFill>
                  <a:srgbClr val="FF0000"/>
                </a:solidFill>
              </a:rPr>
              <a:t> </a:t>
            </a:r>
            <a:r>
              <a:rPr sz="2600" dirty="0">
                <a:solidFill>
                  <a:srgbClr val="FF0000"/>
                </a:solidFill>
              </a:rPr>
              <a:t>OF</a:t>
            </a:r>
            <a:r>
              <a:rPr sz="2600" spc="-75" dirty="0">
                <a:solidFill>
                  <a:srgbClr val="FF0000"/>
                </a:solidFill>
              </a:rPr>
              <a:t> </a:t>
            </a:r>
            <a:r>
              <a:rPr sz="2600" dirty="0">
                <a:solidFill>
                  <a:srgbClr val="FF0000"/>
                </a:solidFill>
              </a:rPr>
              <a:t>MANAGEMENT</a:t>
            </a:r>
            <a:r>
              <a:rPr sz="2600" spc="-75" dirty="0">
                <a:solidFill>
                  <a:srgbClr val="FF0000"/>
                </a:solidFill>
              </a:rPr>
              <a:t> </a:t>
            </a:r>
            <a:r>
              <a:rPr sz="2600" spc="-10" dirty="0">
                <a:solidFill>
                  <a:srgbClr val="FF0000"/>
                </a:solidFill>
              </a:rPr>
              <a:t>THINKING</a:t>
            </a:r>
            <a:endParaRPr sz="2600" dirty="0"/>
          </a:p>
        </p:txBody>
      </p:sp>
      <p:pic>
        <p:nvPicPr>
          <p:cNvPr id="1028" name="Picture 4" descr="Evolution of Management Styles Over the Past Two Decades">
            <a:extLst>
              <a:ext uri="{FF2B5EF4-FFF2-40B4-BE49-F238E27FC236}">
                <a16:creationId xmlns:a16="http://schemas.microsoft.com/office/drawing/2014/main" id="{054B7B34-9E22-3743-A6E4-ACCAD1650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24025"/>
            <a:ext cx="9144000" cy="340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5591" y="64347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24" y="445857"/>
            <a:ext cx="46088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LEARNING</a:t>
            </a:r>
            <a:r>
              <a:rPr sz="3200" spc="-135" dirty="0"/>
              <a:t> </a:t>
            </a:r>
            <a:r>
              <a:rPr sz="3200" spc="-10" dirty="0"/>
              <a:t>OUTCOMES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354510" y="1133352"/>
            <a:ext cx="8211820" cy="24644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485775" indent="-473075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485775" algn="l"/>
              </a:tabLst>
            </a:pPr>
            <a:r>
              <a:rPr sz="2300" b="1" dirty="0">
                <a:latin typeface="Arial"/>
                <a:cs typeface="Arial"/>
              </a:rPr>
              <a:t>Describe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some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early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management</a:t>
            </a:r>
            <a:r>
              <a:rPr sz="2300" spc="-10" dirty="0">
                <a:latin typeface="Arial"/>
                <a:cs typeface="Arial"/>
              </a:rPr>
              <a:t> examples.</a:t>
            </a:r>
            <a:endParaRPr sz="2300">
              <a:latin typeface="Arial"/>
              <a:cs typeface="Arial"/>
            </a:endParaRPr>
          </a:p>
          <a:p>
            <a:pPr marL="485775" indent="-473075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485775" algn="l"/>
              </a:tabLst>
            </a:pPr>
            <a:r>
              <a:rPr sz="2300" b="1" dirty="0">
                <a:latin typeface="Arial"/>
                <a:cs typeface="Arial"/>
              </a:rPr>
              <a:t>Explain</a:t>
            </a:r>
            <a:r>
              <a:rPr sz="2300" b="1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various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theories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in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classical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approach.</a:t>
            </a:r>
            <a:endParaRPr sz="2300">
              <a:latin typeface="Arial"/>
              <a:cs typeface="Arial"/>
            </a:endParaRPr>
          </a:p>
          <a:p>
            <a:pPr marL="485775" marR="847725" indent="-473075">
              <a:lnSpc>
                <a:spcPts val="2750"/>
              </a:lnSpc>
              <a:spcBef>
                <a:spcPts val="640"/>
              </a:spcBef>
              <a:buAutoNum type="arabicPeriod"/>
              <a:tabLst>
                <a:tab pos="520700" algn="l"/>
              </a:tabLst>
            </a:pPr>
            <a:r>
              <a:rPr sz="2300" b="1" dirty="0">
                <a:latin typeface="Arial"/>
                <a:cs typeface="Arial"/>
              </a:rPr>
              <a:t>Discuss</a:t>
            </a:r>
            <a:r>
              <a:rPr sz="2300" b="1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development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and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uses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of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behavioral 	approach.</a:t>
            </a:r>
            <a:endParaRPr sz="2300">
              <a:latin typeface="Arial"/>
              <a:cs typeface="Arial"/>
            </a:endParaRPr>
          </a:p>
          <a:p>
            <a:pPr marL="485775" indent="-473075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485775" algn="l"/>
              </a:tabLst>
            </a:pPr>
            <a:r>
              <a:rPr sz="2300" b="1" dirty="0">
                <a:latin typeface="Arial"/>
                <a:cs typeface="Arial"/>
              </a:rPr>
              <a:t>Describe</a:t>
            </a:r>
            <a:r>
              <a:rPr sz="2300" b="1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quantitative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approach.</a:t>
            </a:r>
            <a:endParaRPr sz="2300">
              <a:latin typeface="Arial"/>
              <a:cs typeface="Arial"/>
            </a:endParaRPr>
          </a:p>
          <a:p>
            <a:pPr marL="485775" indent="-47307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85775" algn="l"/>
              </a:tabLst>
            </a:pPr>
            <a:r>
              <a:rPr sz="2300" b="1" dirty="0">
                <a:latin typeface="Arial"/>
                <a:cs typeface="Arial"/>
              </a:rPr>
              <a:t>Explain</a:t>
            </a:r>
            <a:r>
              <a:rPr sz="2300" b="1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various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theories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in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contemporary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approach.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5424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CONTENTS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672697" y="1622851"/>
            <a:ext cx="278765" cy="461645"/>
            <a:chOff x="672697" y="1622851"/>
            <a:chExt cx="278765" cy="461645"/>
          </a:xfrm>
        </p:grpSpPr>
        <p:sp>
          <p:nvSpPr>
            <p:cNvPr id="4" name="object 4"/>
            <p:cNvSpPr/>
            <p:nvPr/>
          </p:nvSpPr>
          <p:spPr>
            <a:xfrm>
              <a:off x="672693" y="1622856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701" y="1638948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81973" y="1630537"/>
            <a:ext cx="5649595" cy="445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9430" lvl="1" indent="-5067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19430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Historical</a:t>
            </a:r>
            <a:r>
              <a:rPr sz="2400" b="1" spc="-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perspectives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519430" lvl="1" indent="-506730">
              <a:lnSpc>
                <a:spcPct val="100000"/>
              </a:lnSpc>
              <a:buAutoNum type="arabicPeriod"/>
              <a:tabLst>
                <a:tab pos="519430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Classical</a:t>
            </a:r>
            <a:r>
              <a:rPr sz="2400" b="1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approach</a:t>
            </a:r>
            <a:r>
              <a:rPr sz="2400" b="1" spc="-6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of</a:t>
            </a:r>
            <a:r>
              <a:rPr sz="2400" b="1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520065" lvl="1" indent="-507365">
              <a:lnSpc>
                <a:spcPct val="100000"/>
              </a:lnSpc>
              <a:buAutoNum type="arabicPeriod"/>
              <a:tabLst>
                <a:tab pos="520065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Behavioral</a:t>
            </a:r>
            <a:r>
              <a:rPr sz="2400" b="1" spc="-1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approach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810"/>
              </a:spcBef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519430" lvl="1" indent="-506730">
              <a:lnSpc>
                <a:spcPct val="100000"/>
              </a:lnSpc>
              <a:buAutoNum type="arabicPeriod"/>
              <a:tabLst>
                <a:tab pos="519430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Quantitative</a:t>
            </a:r>
            <a:r>
              <a:rPr sz="2400" b="1" spc="-9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approach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25"/>
              </a:spcBef>
              <a:buClr>
                <a:srgbClr val="434343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519430" lvl="1" indent="-50673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19430" algn="l"/>
              </a:tabLst>
            </a:pPr>
            <a:r>
              <a:rPr sz="2400" b="1" dirty="0">
                <a:solidFill>
                  <a:srgbClr val="434343"/>
                </a:solidFill>
                <a:latin typeface="Arial"/>
                <a:cs typeface="Arial"/>
              </a:rPr>
              <a:t>Contemporary</a:t>
            </a:r>
            <a:r>
              <a:rPr sz="2400" b="1" spc="-1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34343"/>
                </a:solidFill>
                <a:latin typeface="Arial"/>
                <a:cs typeface="Arial"/>
              </a:rPr>
              <a:t>approach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2697" y="2692284"/>
            <a:ext cx="278765" cy="461645"/>
            <a:chOff x="672697" y="2692284"/>
            <a:chExt cx="278765" cy="461645"/>
          </a:xfrm>
        </p:grpSpPr>
        <p:sp>
          <p:nvSpPr>
            <p:cNvPr id="8" name="object 8"/>
            <p:cNvSpPr/>
            <p:nvPr/>
          </p:nvSpPr>
          <p:spPr>
            <a:xfrm>
              <a:off x="672693" y="2692285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55" y="0"/>
                  </a:moveTo>
                  <a:lnTo>
                    <a:pt x="128778" y="0"/>
                  </a:lnTo>
                  <a:lnTo>
                    <a:pt x="0" y="230555"/>
                  </a:lnTo>
                  <a:lnTo>
                    <a:pt x="128778" y="461098"/>
                  </a:lnTo>
                  <a:lnTo>
                    <a:pt x="278155" y="461098"/>
                  </a:lnTo>
                  <a:lnTo>
                    <a:pt x="149364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2701" y="2708383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8"/>
                  </a:lnTo>
                  <a:lnTo>
                    <a:pt x="155674" y="214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72697" y="3761717"/>
            <a:ext cx="278765" cy="461645"/>
            <a:chOff x="672697" y="3761717"/>
            <a:chExt cx="278765" cy="461645"/>
          </a:xfrm>
        </p:grpSpPr>
        <p:sp>
          <p:nvSpPr>
            <p:cNvPr id="11" name="object 11"/>
            <p:cNvSpPr/>
            <p:nvPr/>
          </p:nvSpPr>
          <p:spPr>
            <a:xfrm>
              <a:off x="672693" y="3761727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2701" y="3777815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8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72697" y="4759897"/>
            <a:ext cx="278765" cy="461645"/>
            <a:chOff x="672697" y="4759897"/>
            <a:chExt cx="278765" cy="461645"/>
          </a:xfrm>
        </p:grpSpPr>
        <p:sp>
          <p:nvSpPr>
            <p:cNvPr id="14" name="object 14"/>
            <p:cNvSpPr/>
            <p:nvPr/>
          </p:nvSpPr>
          <p:spPr>
            <a:xfrm>
              <a:off x="672693" y="4759909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55" y="461086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2701" y="4775996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8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72701" y="5643838"/>
            <a:ext cx="278765" cy="461645"/>
            <a:chOff x="672701" y="5643838"/>
            <a:chExt cx="278765" cy="461645"/>
          </a:xfrm>
        </p:grpSpPr>
        <p:sp>
          <p:nvSpPr>
            <p:cNvPr id="17" name="object 17"/>
            <p:cNvSpPr/>
            <p:nvPr/>
          </p:nvSpPr>
          <p:spPr>
            <a:xfrm>
              <a:off x="672693" y="5643841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90" y="0"/>
                  </a:lnTo>
                  <a:lnTo>
                    <a:pt x="0" y="230543"/>
                  </a:lnTo>
                  <a:lnTo>
                    <a:pt x="128790" y="461098"/>
                  </a:lnTo>
                  <a:lnTo>
                    <a:pt x="278155" y="461098"/>
                  </a:lnTo>
                  <a:lnTo>
                    <a:pt x="149377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2705" y="5659935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8"/>
                  </a:lnTo>
                  <a:lnTo>
                    <a:pt x="155675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724" y="3345205"/>
            <a:ext cx="6003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376092"/>
                </a:solidFill>
              </a:rPr>
              <a:t>2.1</a:t>
            </a:r>
            <a:r>
              <a:rPr sz="3000" spc="-45" dirty="0">
                <a:solidFill>
                  <a:srgbClr val="376092"/>
                </a:solidFill>
              </a:rPr>
              <a:t> </a:t>
            </a:r>
            <a:r>
              <a:rPr sz="3000" spc="-10" dirty="0">
                <a:solidFill>
                  <a:srgbClr val="376092"/>
                </a:solidFill>
              </a:rPr>
              <a:t>HISTORICAL</a:t>
            </a:r>
            <a:r>
              <a:rPr sz="3000" spc="-95" dirty="0">
                <a:solidFill>
                  <a:srgbClr val="376092"/>
                </a:solidFill>
              </a:rPr>
              <a:t> </a:t>
            </a:r>
            <a:r>
              <a:rPr sz="3000" spc="-10" dirty="0">
                <a:solidFill>
                  <a:srgbClr val="376092"/>
                </a:solidFill>
              </a:rPr>
              <a:t>PERSPECTIVES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584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Why</a:t>
            </a:r>
            <a:r>
              <a:rPr sz="3200" spc="-30" dirty="0"/>
              <a:t> </a:t>
            </a:r>
            <a:r>
              <a:rPr sz="3200" dirty="0"/>
              <a:t>study</a:t>
            </a:r>
            <a:r>
              <a:rPr sz="3200" spc="-30" dirty="0"/>
              <a:t> </a:t>
            </a:r>
            <a:r>
              <a:rPr sz="3200" dirty="0"/>
              <a:t>History</a:t>
            </a:r>
            <a:r>
              <a:rPr sz="3200" spc="-30" dirty="0"/>
              <a:t> </a:t>
            </a:r>
            <a:r>
              <a:rPr sz="3200" dirty="0"/>
              <a:t>of</a:t>
            </a:r>
            <a:r>
              <a:rPr sz="3200" spc="-35" dirty="0"/>
              <a:t> </a:t>
            </a:r>
            <a:r>
              <a:rPr sz="3200" dirty="0"/>
              <a:t>Management</a:t>
            </a:r>
            <a:r>
              <a:rPr sz="3200" spc="-35" dirty="0"/>
              <a:t> </a:t>
            </a:r>
            <a:r>
              <a:rPr sz="3200" spc="-10" dirty="0"/>
              <a:t>Theories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1144" y="2942819"/>
            <a:ext cx="5285854" cy="327574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86" y="1153744"/>
            <a:ext cx="8994612" cy="45051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Major</a:t>
            </a:r>
            <a:r>
              <a:rPr sz="3200" spc="-150" dirty="0"/>
              <a:t> </a:t>
            </a:r>
            <a:r>
              <a:rPr sz="3200" dirty="0"/>
              <a:t>Approaches</a:t>
            </a:r>
            <a:r>
              <a:rPr sz="3200" spc="-25" dirty="0"/>
              <a:t> </a:t>
            </a:r>
            <a:r>
              <a:rPr sz="3200" dirty="0"/>
              <a:t>to</a:t>
            </a:r>
            <a:r>
              <a:rPr sz="3200" spc="-35" dirty="0"/>
              <a:t> </a:t>
            </a:r>
            <a:r>
              <a:rPr sz="3200" spc="-10" dirty="0"/>
              <a:t>Management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642" y="202017"/>
            <a:ext cx="36169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Early</a:t>
            </a:r>
            <a:r>
              <a:rPr sz="3200" spc="-25" dirty="0"/>
              <a:t> </a:t>
            </a:r>
            <a:r>
              <a:rPr sz="3200" spc="-10" dirty="0"/>
              <a:t>Management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58657" y="1177174"/>
            <a:ext cx="8557895" cy="453961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413384" indent="-342900">
              <a:lnSpc>
                <a:spcPts val="3100"/>
              </a:lnSpc>
              <a:spcBef>
                <a:spcPts val="219"/>
              </a:spcBef>
              <a:buFont typeface="Arial"/>
              <a:buChar char="•"/>
              <a:tabLst>
                <a:tab pos="355600" algn="l"/>
              </a:tabLst>
            </a:pPr>
            <a:r>
              <a:rPr sz="2600" b="1" dirty="0">
                <a:latin typeface="Arial"/>
                <a:cs typeface="Arial"/>
              </a:rPr>
              <a:t>Ancient</a:t>
            </a:r>
            <a:r>
              <a:rPr sz="2600" b="1" spc="-7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Management</a:t>
            </a:r>
            <a:r>
              <a:rPr sz="2600" b="1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Egypt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(pyramids)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China </a:t>
            </a:r>
            <a:r>
              <a:rPr sz="2600" dirty="0">
                <a:latin typeface="Arial"/>
                <a:cs typeface="Arial"/>
              </a:rPr>
              <a:t>(Great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Wall)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Font typeface="Arial"/>
              <a:buChar char="•"/>
            </a:pPr>
            <a:endParaRPr sz="2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2600" b="1" dirty="0">
                <a:latin typeface="Arial"/>
                <a:cs typeface="Arial"/>
              </a:rPr>
              <a:t>Adam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Smith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The</a:t>
            </a:r>
            <a:r>
              <a:rPr sz="2600" i="1" spc="-4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Wealth</a:t>
            </a:r>
            <a:r>
              <a:rPr sz="2600" i="1" spc="-5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of</a:t>
            </a:r>
            <a:r>
              <a:rPr sz="2600" i="1" spc="-5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Nations</a:t>
            </a:r>
            <a:r>
              <a:rPr sz="2600" i="1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1776</a:t>
            </a:r>
            <a:endParaRPr sz="2600">
              <a:latin typeface="Arial"/>
              <a:cs typeface="Arial"/>
            </a:endParaRPr>
          </a:p>
          <a:p>
            <a:pPr marL="927100" marR="280670" lvl="1" indent="-457200">
              <a:lnSpc>
                <a:spcPts val="3080"/>
              </a:lnSpc>
              <a:spcBef>
                <a:spcPts val="815"/>
              </a:spcBef>
              <a:buFont typeface="Arial"/>
              <a:buChar char="■"/>
              <a:tabLst>
                <a:tab pos="927100" algn="l"/>
                <a:tab pos="7036434" algn="l"/>
              </a:tabLst>
            </a:pPr>
            <a:r>
              <a:rPr sz="2600" b="1" dirty="0">
                <a:latin typeface="Arial"/>
                <a:cs typeface="Arial"/>
              </a:rPr>
              <a:t>Division</a:t>
            </a:r>
            <a:r>
              <a:rPr sz="2600" b="1" spc="-6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of</a:t>
            </a:r>
            <a:r>
              <a:rPr sz="2600" b="1" spc="-6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labor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(job</a:t>
            </a:r>
            <a:r>
              <a:rPr sz="2600" b="1" spc="-6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specialization)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–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breakdown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jobs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into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narrow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repetitive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tasks</a:t>
            </a:r>
            <a:endParaRPr sz="2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310"/>
              </a:spcBef>
              <a:buFont typeface="Arial"/>
              <a:buChar char="■"/>
            </a:pPr>
            <a:endParaRPr sz="26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2600" b="1" dirty="0">
                <a:latin typeface="Arial"/>
                <a:cs typeface="Arial"/>
              </a:rPr>
              <a:t>Industrial</a:t>
            </a:r>
            <a:r>
              <a:rPr sz="2600" b="1" spc="-90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Revolution</a:t>
            </a:r>
            <a:endParaRPr sz="2600">
              <a:latin typeface="Arial"/>
              <a:cs typeface="Arial"/>
            </a:endParaRPr>
          </a:p>
          <a:p>
            <a:pPr marL="926465" lvl="1" indent="-456565">
              <a:lnSpc>
                <a:spcPct val="100000"/>
              </a:lnSpc>
              <a:spcBef>
                <a:spcPts val="580"/>
              </a:spcBef>
              <a:buChar char="■"/>
              <a:tabLst>
                <a:tab pos="926465" algn="l"/>
              </a:tabLst>
            </a:pPr>
            <a:r>
              <a:rPr sz="2600" dirty="0">
                <a:latin typeface="Arial"/>
                <a:cs typeface="Arial"/>
              </a:rPr>
              <a:t>Substituted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machine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power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for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human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labor</a:t>
            </a:r>
            <a:endParaRPr sz="2600">
              <a:latin typeface="Arial"/>
              <a:cs typeface="Arial"/>
            </a:endParaRPr>
          </a:p>
          <a:p>
            <a:pPr marL="926465" lvl="1" indent="-456565">
              <a:lnSpc>
                <a:spcPct val="100000"/>
              </a:lnSpc>
              <a:spcBef>
                <a:spcPts val="680"/>
              </a:spcBef>
              <a:buChar char="■"/>
              <a:tabLst>
                <a:tab pos="926465" algn="l"/>
              </a:tabLst>
            </a:pPr>
            <a:r>
              <a:rPr sz="2600" dirty="0">
                <a:latin typeface="Arial"/>
                <a:cs typeface="Arial"/>
              </a:rPr>
              <a:t>Created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large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organizations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need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management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642" y="202017"/>
            <a:ext cx="655065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Evolution</a:t>
            </a:r>
            <a:r>
              <a:rPr sz="3200" spc="-25" dirty="0"/>
              <a:t> </a:t>
            </a:r>
            <a:r>
              <a:rPr sz="3200" dirty="0"/>
              <a:t>of</a:t>
            </a:r>
            <a:r>
              <a:rPr sz="3200" spc="-25" dirty="0"/>
              <a:t> </a:t>
            </a:r>
            <a:r>
              <a:rPr sz="3200" dirty="0"/>
              <a:t>Modern</a:t>
            </a:r>
            <a:r>
              <a:rPr sz="3200" spc="-25" dirty="0"/>
              <a:t> </a:t>
            </a:r>
            <a:r>
              <a:rPr sz="3200" spc="-10" dirty="0"/>
              <a:t>Management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33257" y="953240"/>
            <a:ext cx="8740775" cy="477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"/>
                <a:cs typeface="Arial"/>
              </a:rPr>
              <a:t>Began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industrial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revolution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late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19</a:t>
            </a:r>
            <a:r>
              <a:rPr sz="2550" baseline="26143" dirty="0">
                <a:latin typeface="Arial"/>
                <a:cs typeface="Arial"/>
              </a:rPr>
              <a:t>th</a:t>
            </a:r>
            <a:r>
              <a:rPr sz="2550" spc="292" baseline="26143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century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as: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2600">
              <a:latin typeface="Arial"/>
              <a:cs typeface="Arial"/>
            </a:endParaRPr>
          </a:p>
          <a:p>
            <a:pPr marL="495300" marR="894715" indent="-457200">
              <a:lnSpc>
                <a:spcPct val="101800"/>
              </a:lnSpc>
              <a:buFont typeface="Courier New"/>
              <a:buChar char="o"/>
              <a:tabLst>
                <a:tab pos="495300" algn="l"/>
              </a:tabLst>
            </a:pPr>
            <a:r>
              <a:rPr sz="2600" dirty="0">
                <a:latin typeface="Arial"/>
                <a:cs typeface="Arial"/>
              </a:rPr>
              <a:t>Managers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organizations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began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seeking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ways</a:t>
            </a:r>
            <a:r>
              <a:rPr sz="2600" i="1" spc="-75" dirty="0">
                <a:latin typeface="Arial"/>
                <a:cs typeface="Arial"/>
              </a:rPr>
              <a:t> </a:t>
            </a:r>
            <a:r>
              <a:rPr sz="2600" i="1" spc="-25" dirty="0">
                <a:latin typeface="Arial"/>
                <a:cs typeface="Arial"/>
              </a:rPr>
              <a:t>to </a:t>
            </a:r>
            <a:r>
              <a:rPr sz="2600" i="1" dirty="0">
                <a:latin typeface="Arial"/>
                <a:cs typeface="Arial"/>
              </a:rPr>
              <a:t>better</a:t>
            </a:r>
            <a:r>
              <a:rPr sz="2600" i="1" spc="-9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satisfy</a:t>
            </a:r>
            <a:r>
              <a:rPr sz="2600" i="1" spc="-9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customer</a:t>
            </a:r>
            <a:r>
              <a:rPr sz="2600" i="1" spc="-90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needs</a:t>
            </a:r>
            <a:endParaRPr sz="2600">
              <a:latin typeface="Arial"/>
              <a:cs typeface="Arial"/>
            </a:endParaRPr>
          </a:p>
          <a:p>
            <a:pPr marL="495300" marR="344805" indent="-457200">
              <a:lnSpc>
                <a:spcPct val="99000"/>
              </a:lnSpc>
              <a:spcBef>
                <a:spcPts val="635"/>
              </a:spcBef>
              <a:buFont typeface="Courier New"/>
              <a:buChar char="o"/>
              <a:tabLst>
                <a:tab pos="495300" algn="l"/>
              </a:tabLst>
            </a:pPr>
            <a:r>
              <a:rPr sz="2600" i="1" spc="-20" dirty="0">
                <a:latin typeface="Arial"/>
                <a:cs typeface="Arial"/>
              </a:rPr>
              <a:t>Large-</a:t>
            </a:r>
            <a:r>
              <a:rPr sz="2600" i="1" dirty="0">
                <a:latin typeface="Arial"/>
                <a:cs typeface="Arial"/>
              </a:rPr>
              <a:t>scale</a:t>
            </a:r>
            <a:r>
              <a:rPr sz="2600" i="1" spc="-1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mechanized</a:t>
            </a:r>
            <a:r>
              <a:rPr sz="2600" i="1" spc="-10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manufacturing</a:t>
            </a:r>
            <a:r>
              <a:rPr sz="2600" i="1" spc="-10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began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supplanting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small-</a:t>
            </a:r>
            <a:r>
              <a:rPr sz="2600" dirty="0">
                <a:latin typeface="Arial"/>
                <a:cs typeface="Arial"/>
              </a:rPr>
              <a:t>scale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craft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production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ways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in </a:t>
            </a:r>
            <a:r>
              <a:rPr sz="2600" dirty="0">
                <a:latin typeface="Arial"/>
                <a:cs typeface="Arial"/>
              </a:rPr>
              <a:t>which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goods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were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produced</a:t>
            </a:r>
            <a:endParaRPr sz="2600">
              <a:latin typeface="Arial"/>
              <a:cs typeface="Arial"/>
            </a:endParaRPr>
          </a:p>
          <a:p>
            <a:pPr marL="495300" marR="1078230" indent="-457200">
              <a:lnSpc>
                <a:spcPts val="3080"/>
              </a:lnSpc>
              <a:spcBef>
                <a:spcPts val="840"/>
              </a:spcBef>
              <a:buFont typeface="Courier New"/>
              <a:buChar char="o"/>
              <a:tabLst>
                <a:tab pos="495300" algn="l"/>
              </a:tabLst>
            </a:pPr>
            <a:r>
              <a:rPr sz="2600" i="1" dirty="0">
                <a:latin typeface="Arial"/>
                <a:cs typeface="Arial"/>
              </a:rPr>
              <a:t>Social</a:t>
            </a:r>
            <a:r>
              <a:rPr sz="2600" i="1" spc="-6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problems</a:t>
            </a:r>
            <a:r>
              <a:rPr sz="2600" i="1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developed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large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groups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of </a:t>
            </a:r>
            <a:r>
              <a:rPr sz="2600" dirty="0">
                <a:latin typeface="Arial"/>
                <a:cs typeface="Arial"/>
              </a:rPr>
              <a:t>workers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employed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under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factory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system</a:t>
            </a:r>
            <a:endParaRPr sz="2600">
              <a:latin typeface="Arial"/>
              <a:cs typeface="Arial"/>
            </a:endParaRPr>
          </a:p>
          <a:p>
            <a:pPr marL="495300" marR="68580" indent="-457200">
              <a:lnSpc>
                <a:spcPct val="101800"/>
              </a:lnSpc>
              <a:spcBef>
                <a:spcPts val="450"/>
              </a:spcBef>
              <a:buFont typeface="Courier New"/>
              <a:buChar char="o"/>
              <a:tabLst>
                <a:tab pos="495300" algn="l"/>
              </a:tabLst>
            </a:pPr>
            <a:r>
              <a:rPr sz="2600" dirty="0">
                <a:latin typeface="Arial"/>
                <a:cs typeface="Arial"/>
              </a:rPr>
              <a:t>Managers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began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focus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on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increasing</a:t>
            </a:r>
            <a:r>
              <a:rPr sz="2600" i="1" spc="-6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the</a:t>
            </a:r>
            <a:r>
              <a:rPr sz="2600" i="1" spc="-6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efficiency</a:t>
            </a:r>
            <a:r>
              <a:rPr sz="2600" i="1" spc="-65" dirty="0">
                <a:latin typeface="Arial"/>
                <a:cs typeface="Arial"/>
              </a:rPr>
              <a:t> </a:t>
            </a:r>
            <a:r>
              <a:rPr sz="2600" i="1" spc="-25" dirty="0">
                <a:latin typeface="Arial"/>
                <a:cs typeface="Arial"/>
              </a:rPr>
              <a:t>of </a:t>
            </a:r>
            <a:r>
              <a:rPr sz="2600" i="1" dirty="0">
                <a:latin typeface="Arial"/>
                <a:cs typeface="Arial"/>
              </a:rPr>
              <a:t>the </a:t>
            </a:r>
            <a:r>
              <a:rPr sz="2600" i="1" spc="-25" dirty="0">
                <a:latin typeface="Arial"/>
                <a:cs typeface="Arial"/>
              </a:rPr>
              <a:t>worker-</a:t>
            </a:r>
            <a:r>
              <a:rPr sz="2600" i="1" dirty="0">
                <a:latin typeface="Arial"/>
                <a:cs typeface="Arial"/>
              </a:rPr>
              <a:t>task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spc="-25" dirty="0">
                <a:latin typeface="Arial"/>
                <a:cs typeface="Arial"/>
              </a:rPr>
              <a:t>mix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584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The</a:t>
            </a:r>
            <a:r>
              <a:rPr sz="3200" spc="-25" dirty="0"/>
              <a:t> </a:t>
            </a:r>
            <a:r>
              <a:rPr sz="3200" dirty="0"/>
              <a:t>Evolution</a:t>
            </a:r>
            <a:r>
              <a:rPr sz="3200" spc="-15" dirty="0"/>
              <a:t> </a:t>
            </a:r>
            <a:r>
              <a:rPr sz="3200" dirty="0"/>
              <a:t>of</a:t>
            </a:r>
            <a:r>
              <a:rPr sz="3200" spc="-20" dirty="0"/>
              <a:t> </a:t>
            </a:r>
            <a:r>
              <a:rPr sz="3200" dirty="0"/>
              <a:t>MGM</a:t>
            </a:r>
            <a:r>
              <a:rPr sz="3200" spc="-15" dirty="0"/>
              <a:t> </a:t>
            </a:r>
            <a:r>
              <a:rPr sz="3200" spc="-10" dirty="0"/>
              <a:t>Theory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13" y="1402132"/>
            <a:ext cx="8948596" cy="403920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2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416" y="2842343"/>
            <a:ext cx="8046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76092"/>
                </a:solidFill>
              </a:rPr>
              <a:t>2.2</a:t>
            </a:r>
            <a:r>
              <a:rPr sz="2800" spc="-30" dirty="0">
                <a:solidFill>
                  <a:srgbClr val="376092"/>
                </a:solidFill>
              </a:rPr>
              <a:t> </a:t>
            </a:r>
            <a:r>
              <a:rPr sz="2800" spc="-20" dirty="0">
                <a:solidFill>
                  <a:srgbClr val="376092"/>
                </a:solidFill>
              </a:rPr>
              <a:t>CLASSICAL</a:t>
            </a:r>
            <a:r>
              <a:rPr sz="2800" spc="-175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APPROACH</a:t>
            </a:r>
            <a:r>
              <a:rPr sz="2800" spc="-25" dirty="0">
                <a:solidFill>
                  <a:srgbClr val="376092"/>
                </a:solidFill>
              </a:rPr>
              <a:t> </a:t>
            </a:r>
            <a:r>
              <a:rPr sz="2800" dirty="0">
                <a:solidFill>
                  <a:srgbClr val="376092"/>
                </a:solidFill>
              </a:rPr>
              <a:t>OF</a:t>
            </a:r>
            <a:r>
              <a:rPr sz="2800" spc="-30" dirty="0">
                <a:solidFill>
                  <a:srgbClr val="376092"/>
                </a:solidFill>
              </a:rPr>
              <a:t> </a:t>
            </a:r>
            <a:r>
              <a:rPr sz="2800" spc="-10" dirty="0">
                <a:solidFill>
                  <a:srgbClr val="376092"/>
                </a:solidFill>
              </a:rPr>
              <a:t>MANAGEMENT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4748" y="177801"/>
            <a:ext cx="2536823" cy="25368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349" y="445857"/>
            <a:ext cx="37846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Classical</a:t>
            </a:r>
            <a:r>
              <a:rPr sz="3200" spc="-120" dirty="0"/>
              <a:t> </a:t>
            </a:r>
            <a:r>
              <a:rPr sz="3200" spc="-10" dirty="0"/>
              <a:t>Approach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1640" y="1061768"/>
            <a:ext cx="8129270" cy="338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8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Classical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approach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first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studies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management, </a:t>
            </a:r>
            <a:r>
              <a:rPr sz="2800" dirty="0">
                <a:latin typeface="Arial"/>
                <a:cs typeface="Arial"/>
              </a:rPr>
              <a:t>which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emphasized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rationality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making </a:t>
            </a:r>
            <a:r>
              <a:rPr sz="2800" dirty="0">
                <a:latin typeface="Arial"/>
                <a:cs typeface="Arial"/>
              </a:rPr>
              <a:t>organizations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workers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efficient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possible.</a:t>
            </a:r>
            <a:endParaRPr sz="2800">
              <a:latin typeface="Arial"/>
              <a:cs typeface="Arial"/>
            </a:endParaRPr>
          </a:p>
          <a:p>
            <a:pPr marL="925194" indent="-455930">
              <a:lnSpc>
                <a:spcPct val="100000"/>
              </a:lnSpc>
              <a:spcBef>
                <a:spcPts val="2410"/>
              </a:spcBef>
              <a:buFont typeface="Courier New"/>
              <a:buChar char="o"/>
              <a:tabLst>
                <a:tab pos="925194" algn="l"/>
              </a:tabLst>
            </a:pPr>
            <a:r>
              <a:rPr sz="2800" dirty="0">
                <a:latin typeface="Arial"/>
                <a:cs typeface="Arial"/>
              </a:rPr>
              <a:t>Scientific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Management</a:t>
            </a:r>
            <a:endParaRPr sz="2800">
              <a:latin typeface="Arial"/>
              <a:cs typeface="Arial"/>
            </a:endParaRPr>
          </a:p>
          <a:p>
            <a:pPr marL="925194" indent="-455930">
              <a:lnSpc>
                <a:spcPct val="100000"/>
              </a:lnSpc>
              <a:spcBef>
                <a:spcPts val="2340"/>
              </a:spcBef>
              <a:buFont typeface="Courier New"/>
              <a:buChar char="o"/>
              <a:tabLst>
                <a:tab pos="925194" algn="l"/>
              </a:tabLst>
            </a:pPr>
            <a:r>
              <a:rPr sz="2800" spc="-10" dirty="0">
                <a:latin typeface="Arial"/>
                <a:cs typeface="Arial"/>
              </a:rPr>
              <a:t>General</a:t>
            </a:r>
            <a:r>
              <a:rPr sz="2800" spc="-1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Administrative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349" y="445857"/>
            <a:ext cx="44297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Scientific</a:t>
            </a:r>
            <a:r>
              <a:rPr sz="3200" spc="-35" dirty="0"/>
              <a:t> </a:t>
            </a:r>
            <a:r>
              <a:rPr sz="3200" spc="-10" dirty="0"/>
              <a:t>Management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1640" y="1092248"/>
            <a:ext cx="8453120" cy="37896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163830">
              <a:lnSpc>
                <a:spcPts val="3800"/>
              </a:lnSpc>
              <a:spcBef>
                <a:spcPts val="260"/>
              </a:spcBef>
            </a:pPr>
            <a:r>
              <a:rPr sz="3200" b="1" dirty="0">
                <a:latin typeface="Arial"/>
                <a:cs typeface="Arial"/>
              </a:rPr>
              <a:t>Scientific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management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approach</a:t>
            </a:r>
            <a:r>
              <a:rPr sz="3200" spc="-20" dirty="0">
                <a:latin typeface="Arial"/>
                <a:cs typeface="Arial"/>
              </a:rPr>
              <a:t> that </a:t>
            </a:r>
            <a:r>
              <a:rPr sz="3200" dirty="0">
                <a:latin typeface="Arial"/>
                <a:cs typeface="Arial"/>
              </a:rPr>
              <a:t>involves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using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scientific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method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find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the </a:t>
            </a:r>
            <a:r>
              <a:rPr sz="3200" dirty="0">
                <a:latin typeface="Arial"/>
                <a:cs typeface="Arial"/>
              </a:rPr>
              <a:t>“one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best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way”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for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job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be</a:t>
            </a:r>
            <a:r>
              <a:rPr sz="3200" spc="-10" dirty="0">
                <a:latin typeface="Arial"/>
                <a:cs typeface="Arial"/>
              </a:rPr>
              <a:t> done.</a:t>
            </a:r>
            <a:endParaRPr sz="3200">
              <a:latin typeface="Arial"/>
              <a:cs typeface="Arial"/>
            </a:endParaRPr>
          </a:p>
          <a:p>
            <a:pPr marL="757555" indent="-300990">
              <a:lnSpc>
                <a:spcPct val="100000"/>
              </a:lnSpc>
              <a:spcBef>
                <a:spcPts val="1235"/>
              </a:spcBef>
              <a:buFont typeface="Courier New"/>
              <a:buChar char="o"/>
              <a:tabLst>
                <a:tab pos="757555" algn="l"/>
              </a:tabLst>
            </a:pPr>
            <a:r>
              <a:rPr sz="2700" dirty="0">
                <a:latin typeface="Arial"/>
                <a:cs typeface="Arial"/>
              </a:rPr>
              <a:t>Frederick</a:t>
            </a:r>
            <a:r>
              <a:rPr sz="2700" spc="-65" dirty="0">
                <a:latin typeface="Arial"/>
                <a:cs typeface="Arial"/>
              </a:rPr>
              <a:t> </a:t>
            </a:r>
            <a:r>
              <a:rPr sz="2700" spc="-45" dirty="0">
                <a:latin typeface="Arial"/>
                <a:cs typeface="Arial"/>
              </a:rPr>
              <a:t>W.</a:t>
            </a:r>
            <a:r>
              <a:rPr sz="2700" spc="-100" dirty="0">
                <a:latin typeface="Arial"/>
                <a:cs typeface="Arial"/>
              </a:rPr>
              <a:t> </a:t>
            </a:r>
            <a:r>
              <a:rPr sz="2700" spc="-35" dirty="0">
                <a:latin typeface="Arial"/>
                <a:cs typeface="Arial"/>
              </a:rPr>
              <a:t>Taylor</a:t>
            </a:r>
            <a:r>
              <a:rPr sz="2700" spc="-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(1856</a:t>
            </a:r>
            <a:r>
              <a:rPr sz="2700" spc="-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–</a:t>
            </a:r>
            <a:r>
              <a:rPr sz="2700" spc="-5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1915)</a:t>
            </a:r>
            <a:endParaRPr sz="2700">
              <a:latin typeface="Arial"/>
              <a:cs typeface="Arial"/>
            </a:endParaRPr>
          </a:p>
          <a:p>
            <a:pPr marL="757555" indent="-300990">
              <a:lnSpc>
                <a:spcPct val="100000"/>
              </a:lnSpc>
              <a:spcBef>
                <a:spcPts val="1260"/>
              </a:spcBef>
              <a:buFont typeface="Courier New"/>
              <a:buChar char="o"/>
              <a:tabLst>
                <a:tab pos="757555" algn="l"/>
              </a:tabLst>
            </a:pPr>
            <a:r>
              <a:rPr sz="2700" dirty="0">
                <a:latin typeface="Arial"/>
                <a:cs typeface="Arial"/>
              </a:rPr>
              <a:t>Charles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Babbage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(1792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–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1871)</a:t>
            </a:r>
            <a:endParaRPr sz="2700">
              <a:latin typeface="Arial"/>
              <a:cs typeface="Arial"/>
            </a:endParaRPr>
          </a:p>
          <a:p>
            <a:pPr marL="456565">
              <a:lnSpc>
                <a:spcPct val="100000"/>
              </a:lnSpc>
              <a:spcBef>
                <a:spcPts val="1260"/>
              </a:spcBef>
            </a:pP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latin typeface="Arial"/>
                <a:cs typeface="Arial"/>
              </a:rPr>
              <a:t>Frank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(1868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-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1924)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&amp;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Lilian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Gilbreth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(1878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–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1972)</a:t>
            </a:r>
            <a:endParaRPr sz="2700">
              <a:latin typeface="Arial"/>
              <a:cs typeface="Arial"/>
            </a:endParaRPr>
          </a:p>
          <a:p>
            <a:pPr marL="456565">
              <a:lnSpc>
                <a:spcPct val="100000"/>
              </a:lnSpc>
              <a:spcBef>
                <a:spcPts val="1360"/>
              </a:spcBef>
            </a:pP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latin typeface="Arial"/>
                <a:cs typeface="Arial"/>
              </a:rPr>
              <a:t>Henry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L.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Gantt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(1861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–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1919)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349" y="445857"/>
            <a:ext cx="44297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Scientific</a:t>
            </a:r>
            <a:r>
              <a:rPr sz="3200" spc="-35" dirty="0"/>
              <a:t> </a:t>
            </a:r>
            <a:r>
              <a:rPr sz="3200" spc="-10" dirty="0"/>
              <a:t>Management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1640" y="902982"/>
            <a:ext cx="5407025" cy="360108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3200" dirty="0">
                <a:latin typeface="Arial"/>
                <a:cs typeface="Arial"/>
              </a:rPr>
              <a:t>Fredrick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Winslow</a:t>
            </a:r>
            <a:r>
              <a:rPr sz="3200" spc="-11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Taylor</a:t>
            </a:r>
            <a:endParaRPr sz="3200">
              <a:latin typeface="Arial"/>
              <a:cs typeface="Arial"/>
            </a:endParaRPr>
          </a:p>
          <a:p>
            <a:pPr marL="927100" marR="756285" indent="-457200">
              <a:lnSpc>
                <a:spcPct val="100000"/>
              </a:lnSpc>
              <a:spcBef>
                <a:spcPts val="1305"/>
              </a:spcBef>
              <a:buChar char="■"/>
              <a:tabLst>
                <a:tab pos="927100" algn="l"/>
              </a:tabLst>
            </a:pPr>
            <a:r>
              <a:rPr sz="2800" dirty="0">
                <a:latin typeface="Arial"/>
                <a:cs typeface="Arial"/>
              </a:rPr>
              <a:t>The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“father”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scientific management</a:t>
            </a:r>
            <a:endParaRPr sz="2800">
              <a:latin typeface="Arial"/>
              <a:cs typeface="Arial"/>
            </a:endParaRPr>
          </a:p>
          <a:p>
            <a:pPr marL="927100" marR="5080" indent="-457200">
              <a:lnSpc>
                <a:spcPct val="99800"/>
              </a:lnSpc>
              <a:spcBef>
                <a:spcPts val="1385"/>
              </a:spcBef>
              <a:buChar char="■"/>
              <a:tabLst>
                <a:tab pos="927100" algn="l"/>
              </a:tabLst>
            </a:pPr>
            <a:r>
              <a:rPr sz="2800" spc="-50" dirty="0">
                <a:latin typeface="Arial"/>
                <a:cs typeface="Arial"/>
              </a:rPr>
              <a:t>Taylor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sought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reduce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time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worker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spent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each </a:t>
            </a:r>
            <a:r>
              <a:rPr sz="2800" dirty="0">
                <a:latin typeface="Arial"/>
                <a:cs typeface="Arial"/>
              </a:rPr>
              <a:t>task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optimizing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way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task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was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done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2182" y="650165"/>
            <a:ext cx="3008066" cy="402078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584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Taylor’s</a:t>
            </a:r>
            <a:r>
              <a:rPr sz="3200" spc="-90" dirty="0"/>
              <a:t> </a:t>
            </a:r>
            <a:r>
              <a:rPr sz="3200" dirty="0"/>
              <a:t>Scientific</a:t>
            </a:r>
            <a:r>
              <a:rPr sz="3200" spc="-85" dirty="0"/>
              <a:t> </a:t>
            </a:r>
            <a:r>
              <a:rPr sz="3200" dirty="0"/>
              <a:t>Management</a:t>
            </a:r>
            <a:r>
              <a:rPr sz="3200" spc="-95" dirty="0"/>
              <a:t> </a:t>
            </a:r>
            <a:r>
              <a:rPr sz="3200" spc="-10" dirty="0"/>
              <a:t>Principles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65" y="1603327"/>
            <a:ext cx="8987920" cy="24012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0520" marR="5080">
              <a:lnSpc>
                <a:spcPts val="3800"/>
              </a:lnSpc>
              <a:spcBef>
                <a:spcPts val="240"/>
              </a:spcBef>
            </a:pPr>
            <a:r>
              <a:rPr sz="3200" dirty="0"/>
              <a:t>Problem</a:t>
            </a:r>
            <a:r>
              <a:rPr sz="3200" spc="-80" dirty="0"/>
              <a:t> </a:t>
            </a:r>
            <a:r>
              <a:rPr sz="3200" dirty="0"/>
              <a:t>with</a:t>
            </a:r>
            <a:r>
              <a:rPr sz="3200" spc="-80" dirty="0"/>
              <a:t> </a:t>
            </a:r>
            <a:r>
              <a:rPr sz="3200" spc="-10" dirty="0"/>
              <a:t>Taylor’s</a:t>
            </a:r>
            <a:r>
              <a:rPr sz="3200" spc="-75" dirty="0"/>
              <a:t> </a:t>
            </a:r>
            <a:r>
              <a:rPr sz="3200" dirty="0"/>
              <a:t>Scientific</a:t>
            </a:r>
            <a:r>
              <a:rPr sz="3200" spc="-75" dirty="0"/>
              <a:t> </a:t>
            </a:r>
            <a:r>
              <a:rPr sz="3200" spc="-25" dirty="0"/>
              <a:t>MGM </a:t>
            </a:r>
            <a:r>
              <a:rPr sz="3200" spc="-10" dirty="0"/>
              <a:t>Principles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75696" y="1357243"/>
            <a:ext cx="8303895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 marR="5080" indent="-508000">
              <a:lnSpc>
                <a:spcPct val="118600"/>
              </a:lnSpc>
              <a:spcBef>
                <a:spcPts val="100"/>
              </a:spcBef>
              <a:buChar char="►"/>
              <a:tabLst>
                <a:tab pos="520700" algn="l"/>
                <a:tab pos="526415" algn="l"/>
              </a:tabLst>
            </a:pPr>
            <a:r>
              <a:rPr sz="2600" dirty="0">
                <a:latin typeface="Arial"/>
                <a:cs typeface="Arial"/>
              </a:rPr>
              <a:t>	Managers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frequently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implemented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only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increased </a:t>
            </a:r>
            <a:r>
              <a:rPr sz="2600" dirty="0">
                <a:latin typeface="Arial"/>
                <a:cs typeface="Arial"/>
              </a:rPr>
              <a:t>output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side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11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Taylor’s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plan.</a:t>
            </a:r>
            <a:endParaRPr sz="2600">
              <a:latin typeface="Arial"/>
              <a:cs typeface="Arial"/>
            </a:endParaRPr>
          </a:p>
          <a:p>
            <a:pPr marL="920750">
              <a:lnSpc>
                <a:spcPct val="100000"/>
              </a:lnSpc>
              <a:spcBef>
                <a:spcPts val="580"/>
              </a:spcBef>
            </a:pPr>
            <a:r>
              <a:rPr sz="2600" i="1" dirty="0">
                <a:latin typeface="Arial"/>
                <a:cs typeface="Arial"/>
              </a:rPr>
              <a:t>Workers</a:t>
            </a:r>
            <a:r>
              <a:rPr sz="2600" i="1" spc="-6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did</a:t>
            </a:r>
            <a:r>
              <a:rPr sz="2600" i="1" spc="-5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not</a:t>
            </a:r>
            <a:r>
              <a:rPr sz="2600" i="1" spc="-6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share</a:t>
            </a:r>
            <a:r>
              <a:rPr sz="2600" i="1" spc="-5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in</a:t>
            </a:r>
            <a:r>
              <a:rPr sz="2600" i="1" spc="-5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the</a:t>
            </a:r>
            <a:r>
              <a:rPr sz="2600" i="1" spc="-5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increased</a:t>
            </a:r>
            <a:r>
              <a:rPr sz="2600" i="1" spc="-55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output</a:t>
            </a:r>
            <a:endParaRPr sz="2600">
              <a:latin typeface="Arial"/>
              <a:cs typeface="Arial"/>
            </a:endParaRPr>
          </a:p>
          <a:p>
            <a:pPr marL="469265" marR="1109980" indent="-457200">
              <a:lnSpc>
                <a:spcPct val="120200"/>
              </a:lnSpc>
              <a:spcBef>
                <a:spcPts val="50"/>
              </a:spcBef>
              <a:buChar char="►"/>
              <a:tabLst>
                <a:tab pos="926465" algn="l"/>
              </a:tabLst>
            </a:pPr>
            <a:r>
              <a:rPr sz="2600" dirty="0">
                <a:latin typeface="Arial"/>
                <a:cs typeface="Arial"/>
              </a:rPr>
              <a:t>Specialized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jobs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became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very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boring,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dull. 	</a:t>
            </a:r>
            <a:r>
              <a:rPr sz="2600" i="1" dirty="0">
                <a:latin typeface="Arial"/>
                <a:cs typeface="Arial"/>
              </a:rPr>
              <a:t>Workers</a:t>
            </a:r>
            <a:r>
              <a:rPr sz="2600" i="1" spc="-7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ended</a:t>
            </a:r>
            <a:r>
              <a:rPr sz="2600" i="1" spc="-6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up</a:t>
            </a:r>
            <a:r>
              <a:rPr sz="2600" i="1" spc="-6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distrusting</a:t>
            </a:r>
            <a:r>
              <a:rPr sz="2600" i="1" spc="-6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the</a:t>
            </a:r>
            <a:r>
              <a:rPr sz="2600" i="1" spc="-70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Scientific 	</a:t>
            </a:r>
            <a:r>
              <a:rPr sz="2600" i="1" dirty="0">
                <a:latin typeface="Arial"/>
                <a:cs typeface="Arial"/>
              </a:rPr>
              <a:t>Management</a:t>
            </a:r>
            <a:r>
              <a:rPr sz="2600" i="1" spc="-170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method.</a:t>
            </a:r>
            <a:endParaRPr sz="26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580"/>
              </a:spcBef>
              <a:buChar char="►"/>
              <a:tabLst>
                <a:tab pos="469265" algn="l"/>
              </a:tabLst>
            </a:pPr>
            <a:r>
              <a:rPr sz="2600" dirty="0">
                <a:latin typeface="Arial"/>
                <a:cs typeface="Arial"/>
              </a:rPr>
              <a:t>Workers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could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purposely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“under-</a:t>
            </a:r>
            <a:r>
              <a:rPr sz="2600" spc="-10" dirty="0">
                <a:latin typeface="Arial"/>
                <a:cs typeface="Arial"/>
              </a:rPr>
              <a:t>perform.”</a:t>
            </a:r>
            <a:endParaRPr sz="2600">
              <a:latin typeface="Arial"/>
              <a:cs typeface="Arial"/>
            </a:endParaRPr>
          </a:p>
          <a:p>
            <a:pPr marL="926465" marR="595630">
              <a:lnSpc>
                <a:spcPct val="118600"/>
              </a:lnSpc>
              <a:spcBef>
                <a:spcPts val="100"/>
              </a:spcBef>
            </a:pPr>
            <a:r>
              <a:rPr sz="2600" i="1" dirty="0">
                <a:latin typeface="Arial"/>
                <a:cs typeface="Arial"/>
              </a:rPr>
              <a:t>Management</a:t>
            </a:r>
            <a:r>
              <a:rPr sz="2600" i="1" spc="-10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responded</a:t>
            </a:r>
            <a:r>
              <a:rPr sz="2600" i="1" spc="-10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with</a:t>
            </a:r>
            <a:r>
              <a:rPr sz="2600" i="1" spc="-9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increased</a:t>
            </a:r>
            <a:r>
              <a:rPr sz="2600" i="1" spc="-10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use</a:t>
            </a:r>
            <a:r>
              <a:rPr sz="2600" i="1" spc="-100" dirty="0">
                <a:latin typeface="Arial"/>
                <a:cs typeface="Arial"/>
              </a:rPr>
              <a:t> </a:t>
            </a:r>
            <a:r>
              <a:rPr sz="2600" i="1" spc="-25" dirty="0">
                <a:latin typeface="Arial"/>
                <a:cs typeface="Arial"/>
              </a:rPr>
              <a:t>of </a:t>
            </a:r>
            <a:r>
              <a:rPr sz="2600" i="1" dirty="0">
                <a:latin typeface="Arial"/>
                <a:cs typeface="Arial"/>
              </a:rPr>
              <a:t>machines</a:t>
            </a:r>
            <a:r>
              <a:rPr sz="2600" i="1" spc="-9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and</a:t>
            </a:r>
            <a:r>
              <a:rPr sz="2600" i="1" spc="-8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conveyors</a:t>
            </a:r>
            <a:r>
              <a:rPr sz="2600" i="1" spc="-90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belts.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0520" marR="5080">
              <a:lnSpc>
                <a:spcPts val="3800"/>
              </a:lnSpc>
              <a:spcBef>
                <a:spcPts val="240"/>
              </a:spcBef>
            </a:pPr>
            <a:r>
              <a:rPr sz="3200" dirty="0"/>
              <a:t>Scientific</a:t>
            </a:r>
            <a:r>
              <a:rPr sz="3200" spc="-25" dirty="0"/>
              <a:t> </a:t>
            </a:r>
            <a:r>
              <a:rPr sz="3200" dirty="0"/>
              <a:t>MGM</a:t>
            </a:r>
            <a:r>
              <a:rPr sz="3200" spc="-30" dirty="0"/>
              <a:t> </a:t>
            </a:r>
            <a:r>
              <a:rPr sz="3200" dirty="0"/>
              <a:t>Theory_Frank</a:t>
            </a:r>
            <a:r>
              <a:rPr sz="3200" spc="-15" dirty="0"/>
              <a:t> </a:t>
            </a:r>
            <a:r>
              <a:rPr sz="3200" dirty="0"/>
              <a:t>and</a:t>
            </a:r>
            <a:r>
              <a:rPr sz="3200" spc="-25" dirty="0"/>
              <a:t> </a:t>
            </a:r>
            <a:r>
              <a:rPr sz="3200" spc="-10" dirty="0"/>
              <a:t>Lillian Gilbreth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831215" marR="5080" indent="-508000">
              <a:lnSpc>
                <a:spcPts val="3100"/>
              </a:lnSpc>
              <a:spcBef>
                <a:spcPts val="219"/>
              </a:spcBef>
              <a:buChar char="►"/>
              <a:tabLst>
                <a:tab pos="831215" algn="l"/>
                <a:tab pos="836930" algn="l"/>
              </a:tabLst>
            </a:pPr>
            <a:r>
              <a:rPr dirty="0"/>
              <a:t>	Refined</a:t>
            </a:r>
            <a:r>
              <a:rPr spc="-110" dirty="0"/>
              <a:t> </a:t>
            </a:r>
            <a:r>
              <a:rPr spc="-20" dirty="0"/>
              <a:t>Taylor’s</a:t>
            </a:r>
            <a:r>
              <a:rPr spc="-70" dirty="0"/>
              <a:t> </a:t>
            </a:r>
            <a:r>
              <a:rPr dirty="0"/>
              <a:t>work</a:t>
            </a:r>
            <a:r>
              <a:rPr spc="-6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made</a:t>
            </a:r>
            <a:r>
              <a:rPr spc="-65" dirty="0"/>
              <a:t> </a:t>
            </a:r>
            <a:r>
              <a:rPr dirty="0"/>
              <a:t>many</a:t>
            </a:r>
            <a:r>
              <a:rPr spc="-65" dirty="0"/>
              <a:t> </a:t>
            </a:r>
            <a:r>
              <a:rPr spc="-10" dirty="0"/>
              <a:t>improvements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methodologies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time</a:t>
            </a:r>
            <a:r>
              <a:rPr spc="-6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motion</a:t>
            </a:r>
            <a:r>
              <a:rPr spc="-60" dirty="0"/>
              <a:t> </a:t>
            </a:r>
            <a:r>
              <a:rPr spc="-10" dirty="0"/>
              <a:t>studies.</a:t>
            </a:r>
          </a:p>
          <a:p>
            <a:pPr marL="1032510" lvl="1" indent="-201295">
              <a:lnSpc>
                <a:spcPts val="2990"/>
              </a:lnSpc>
              <a:buChar char="•"/>
              <a:tabLst>
                <a:tab pos="1032510" algn="l"/>
              </a:tabLst>
            </a:pPr>
            <a:r>
              <a:rPr sz="2600" dirty="0">
                <a:latin typeface="Arial"/>
                <a:cs typeface="Arial"/>
              </a:rPr>
              <a:t>Time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motion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studies</a:t>
            </a:r>
            <a:endParaRPr sz="2600">
              <a:latin typeface="Arial"/>
              <a:cs typeface="Arial"/>
            </a:endParaRPr>
          </a:p>
          <a:p>
            <a:pPr marL="1038225" lvl="1" indent="-207010">
              <a:lnSpc>
                <a:spcPts val="3100"/>
              </a:lnSpc>
              <a:buChar char="•"/>
              <a:tabLst>
                <a:tab pos="1038225" algn="l"/>
              </a:tabLst>
            </a:pPr>
            <a:r>
              <a:rPr sz="2600" dirty="0">
                <a:latin typeface="Arial"/>
                <a:cs typeface="Arial"/>
              </a:rPr>
              <a:t>Breaking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up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each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job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action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into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its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components.</a:t>
            </a:r>
            <a:endParaRPr sz="2600">
              <a:latin typeface="Arial"/>
              <a:cs typeface="Arial"/>
            </a:endParaRPr>
          </a:p>
          <a:p>
            <a:pPr marL="1038225" lvl="1" indent="-207010">
              <a:lnSpc>
                <a:spcPts val="3100"/>
              </a:lnSpc>
              <a:buChar char="•"/>
              <a:tabLst>
                <a:tab pos="1038225" algn="l"/>
              </a:tabLst>
            </a:pPr>
            <a:r>
              <a:rPr sz="2600" dirty="0">
                <a:latin typeface="Arial"/>
                <a:cs typeface="Arial"/>
              </a:rPr>
              <a:t>Finding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better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ways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perform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action.</a:t>
            </a:r>
            <a:endParaRPr sz="2600">
              <a:latin typeface="Arial"/>
              <a:cs typeface="Arial"/>
            </a:endParaRPr>
          </a:p>
          <a:p>
            <a:pPr marL="1038225" lvl="1" indent="-207010">
              <a:lnSpc>
                <a:spcPts val="3110"/>
              </a:lnSpc>
              <a:buChar char="•"/>
              <a:tabLst>
                <a:tab pos="1038225" algn="l"/>
              </a:tabLst>
            </a:pPr>
            <a:r>
              <a:rPr sz="2600" dirty="0">
                <a:latin typeface="Arial"/>
                <a:cs typeface="Arial"/>
              </a:rPr>
              <a:t>Reorganizing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each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job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action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be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more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efficient.</a:t>
            </a:r>
            <a:endParaRPr sz="2600">
              <a:latin typeface="Arial"/>
              <a:cs typeface="Arial"/>
            </a:endParaRPr>
          </a:p>
          <a:p>
            <a:pPr marL="831215" marR="77470" indent="-508000">
              <a:lnSpc>
                <a:spcPts val="3100"/>
              </a:lnSpc>
              <a:spcBef>
                <a:spcPts val="200"/>
              </a:spcBef>
              <a:buChar char="►"/>
              <a:tabLst>
                <a:tab pos="831215" algn="l"/>
                <a:tab pos="836930" algn="l"/>
              </a:tabLst>
            </a:pPr>
            <a:r>
              <a:rPr dirty="0"/>
              <a:t>	Also</a:t>
            </a:r>
            <a:r>
              <a:rPr spc="-60" dirty="0"/>
              <a:t> </a:t>
            </a:r>
            <a:r>
              <a:rPr dirty="0"/>
              <a:t>studied</a:t>
            </a:r>
            <a:r>
              <a:rPr spc="-60" dirty="0"/>
              <a:t> </a:t>
            </a:r>
            <a:r>
              <a:rPr spc="-20" dirty="0"/>
              <a:t>worker-</a:t>
            </a:r>
            <a:r>
              <a:rPr dirty="0"/>
              <a:t>related</a:t>
            </a:r>
            <a:r>
              <a:rPr spc="-55" dirty="0"/>
              <a:t> </a:t>
            </a:r>
            <a:r>
              <a:rPr dirty="0"/>
              <a:t>fatigue</a:t>
            </a:r>
            <a:r>
              <a:rPr spc="-60" dirty="0"/>
              <a:t> </a:t>
            </a:r>
            <a:r>
              <a:rPr dirty="0"/>
              <a:t>problems</a:t>
            </a:r>
            <a:r>
              <a:rPr spc="-60" dirty="0"/>
              <a:t> </a:t>
            </a:r>
            <a:r>
              <a:rPr spc="-10" dirty="0"/>
              <a:t>caused </a:t>
            </a:r>
            <a:r>
              <a:rPr dirty="0"/>
              <a:t>by</a:t>
            </a:r>
            <a:r>
              <a:rPr spc="-55" dirty="0"/>
              <a:t> </a:t>
            </a:r>
            <a:r>
              <a:rPr dirty="0"/>
              <a:t>lighting,</a:t>
            </a:r>
            <a:r>
              <a:rPr spc="-55" dirty="0"/>
              <a:t> </a:t>
            </a:r>
            <a:r>
              <a:rPr dirty="0"/>
              <a:t>heating,</a:t>
            </a:r>
            <a:r>
              <a:rPr spc="-5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design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tools</a:t>
            </a:r>
            <a:r>
              <a:rPr spc="-50" dirty="0"/>
              <a:t> </a:t>
            </a:r>
            <a:r>
              <a:rPr spc="-25" dirty="0"/>
              <a:t>and </a:t>
            </a:r>
            <a:r>
              <a:rPr spc="-10" dirty="0"/>
              <a:t>machines.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584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Issues</a:t>
            </a:r>
            <a:r>
              <a:rPr sz="3200" spc="-30" dirty="0"/>
              <a:t> </a:t>
            </a:r>
            <a:r>
              <a:rPr sz="3200" dirty="0"/>
              <a:t>with</a:t>
            </a:r>
            <a:r>
              <a:rPr sz="3200" spc="-35" dirty="0"/>
              <a:t> </a:t>
            </a:r>
            <a:r>
              <a:rPr sz="3200" dirty="0"/>
              <a:t>scientific</a:t>
            </a:r>
            <a:r>
              <a:rPr sz="3200" spc="-25" dirty="0"/>
              <a:t> </a:t>
            </a:r>
            <a:r>
              <a:rPr sz="3200" dirty="0"/>
              <a:t>management</a:t>
            </a:r>
            <a:r>
              <a:rPr sz="3200" spc="-35" dirty="0"/>
              <a:t> </a:t>
            </a:r>
            <a:r>
              <a:rPr sz="3200" spc="-10" dirty="0"/>
              <a:t>theory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8158" y="5447438"/>
            <a:ext cx="2115840" cy="14105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686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</a:t>
            </a:r>
            <a:r>
              <a:rPr spc="-220" dirty="0"/>
              <a:t> </a:t>
            </a:r>
            <a:r>
              <a:rPr dirty="0"/>
              <a:t>Administrative</a:t>
            </a:r>
            <a:r>
              <a:rPr spc="-95" dirty="0"/>
              <a:t> </a:t>
            </a:r>
            <a:r>
              <a:rPr spc="-10" dirty="0"/>
              <a:t>Theory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5410" marR="5080" indent="-12700">
              <a:lnSpc>
                <a:spcPct val="99200"/>
              </a:lnSpc>
              <a:spcBef>
                <a:spcPts val="125"/>
              </a:spcBef>
            </a:pPr>
            <a:r>
              <a:rPr sz="2800" b="1" dirty="0">
                <a:latin typeface="Arial"/>
                <a:cs typeface="Arial"/>
              </a:rPr>
              <a:t>General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administrative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theory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–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dirty="0"/>
              <a:t>an</a:t>
            </a:r>
            <a:r>
              <a:rPr sz="2800" spc="-85" dirty="0"/>
              <a:t> </a:t>
            </a:r>
            <a:r>
              <a:rPr sz="2800" dirty="0"/>
              <a:t>approach</a:t>
            </a:r>
            <a:r>
              <a:rPr sz="2800" spc="-85" dirty="0"/>
              <a:t> </a:t>
            </a:r>
            <a:r>
              <a:rPr sz="2800" spc="-25" dirty="0"/>
              <a:t>to </a:t>
            </a:r>
            <a:r>
              <a:rPr sz="2800" dirty="0"/>
              <a:t>management</a:t>
            </a:r>
            <a:r>
              <a:rPr sz="2800" spc="-100" dirty="0"/>
              <a:t> </a:t>
            </a:r>
            <a:r>
              <a:rPr sz="2800" dirty="0"/>
              <a:t>that</a:t>
            </a:r>
            <a:r>
              <a:rPr sz="2800" spc="-100" dirty="0"/>
              <a:t> </a:t>
            </a:r>
            <a:r>
              <a:rPr sz="2800" dirty="0"/>
              <a:t>focuses</a:t>
            </a:r>
            <a:r>
              <a:rPr sz="2800" spc="-95" dirty="0"/>
              <a:t> </a:t>
            </a:r>
            <a:r>
              <a:rPr sz="2800" dirty="0"/>
              <a:t>on</a:t>
            </a:r>
            <a:r>
              <a:rPr sz="2800" spc="-95" dirty="0"/>
              <a:t> </a:t>
            </a:r>
            <a:r>
              <a:rPr sz="2800" dirty="0"/>
              <a:t>describing</a:t>
            </a:r>
            <a:r>
              <a:rPr sz="2800" spc="-95" dirty="0"/>
              <a:t> </a:t>
            </a:r>
            <a:r>
              <a:rPr sz="2800" spc="-20" dirty="0"/>
              <a:t>what </a:t>
            </a:r>
            <a:r>
              <a:rPr sz="2800" dirty="0"/>
              <a:t>managers</a:t>
            </a:r>
            <a:r>
              <a:rPr sz="2800" spc="-80" dirty="0"/>
              <a:t> </a:t>
            </a:r>
            <a:r>
              <a:rPr sz="2800" dirty="0"/>
              <a:t>do</a:t>
            </a:r>
            <a:r>
              <a:rPr sz="2800" spc="-70" dirty="0"/>
              <a:t> </a:t>
            </a:r>
            <a:r>
              <a:rPr sz="2800" dirty="0"/>
              <a:t>and</a:t>
            </a:r>
            <a:r>
              <a:rPr sz="2800" spc="-70" dirty="0"/>
              <a:t> </a:t>
            </a:r>
            <a:r>
              <a:rPr sz="2800" dirty="0"/>
              <a:t>what</a:t>
            </a:r>
            <a:r>
              <a:rPr sz="2800" spc="-75" dirty="0"/>
              <a:t> </a:t>
            </a:r>
            <a:r>
              <a:rPr sz="2800" dirty="0"/>
              <a:t>constitutes</a:t>
            </a:r>
            <a:r>
              <a:rPr sz="2800" spc="-75" dirty="0"/>
              <a:t> </a:t>
            </a:r>
            <a:r>
              <a:rPr sz="2800" dirty="0"/>
              <a:t>good</a:t>
            </a:r>
            <a:r>
              <a:rPr sz="2800" spc="-70" dirty="0"/>
              <a:t> </a:t>
            </a:r>
            <a:r>
              <a:rPr sz="2800" spc="-10" dirty="0"/>
              <a:t>management practice.</a:t>
            </a:r>
            <a:endParaRPr sz="2800">
              <a:latin typeface="Arial"/>
              <a:cs typeface="Arial"/>
            </a:endParaRPr>
          </a:p>
          <a:p>
            <a:pPr marL="447675">
              <a:lnSpc>
                <a:spcPct val="100000"/>
              </a:lnSpc>
              <a:spcBef>
                <a:spcPts val="40"/>
              </a:spcBef>
            </a:pPr>
            <a:r>
              <a:rPr sz="2800" dirty="0">
                <a:latin typeface="Courier New"/>
                <a:cs typeface="Courier New"/>
              </a:rPr>
              <a:t>o</a:t>
            </a:r>
            <a:r>
              <a:rPr sz="2800" dirty="0"/>
              <a:t>Henry</a:t>
            </a:r>
            <a:r>
              <a:rPr sz="2800" spc="-70" dirty="0"/>
              <a:t> </a:t>
            </a:r>
            <a:r>
              <a:rPr sz="2800" dirty="0"/>
              <a:t>Fayol</a:t>
            </a:r>
            <a:r>
              <a:rPr sz="2800" spc="-60" dirty="0"/>
              <a:t> </a:t>
            </a:r>
            <a:r>
              <a:rPr sz="2800" dirty="0"/>
              <a:t>(1841</a:t>
            </a:r>
            <a:r>
              <a:rPr sz="2800" spc="-60" dirty="0"/>
              <a:t> </a:t>
            </a:r>
            <a:r>
              <a:rPr sz="2800" dirty="0"/>
              <a:t>–</a:t>
            </a:r>
            <a:r>
              <a:rPr sz="2800" spc="-65" dirty="0"/>
              <a:t> </a:t>
            </a:r>
            <a:r>
              <a:rPr sz="2800" spc="-10" dirty="0"/>
              <a:t>1925)</a:t>
            </a:r>
            <a:endParaRPr sz="2800">
              <a:latin typeface="Courier New"/>
              <a:cs typeface="Courier New"/>
            </a:endParaRPr>
          </a:p>
          <a:p>
            <a:pPr marL="447675">
              <a:lnSpc>
                <a:spcPts val="3329"/>
              </a:lnSpc>
              <a:spcBef>
                <a:spcPts val="40"/>
              </a:spcBef>
            </a:pPr>
            <a:r>
              <a:rPr sz="2800" dirty="0">
                <a:latin typeface="Courier New"/>
                <a:cs typeface="Courier New"/>
              </a:rPr>
              <a:t>o</a:t>
            </a:r>
            <a:r>
              <a:rPr sz="2800" dirty="0"/>
              <a:t>Max</a:t>
            </a:r>
            <a:r>
              <a:rPr sz="2800" spc="-70" dirty="0"/>
              <a:t> </a:t>
            </a:r>
            <a:r>
              <a:rPr sz="2800" dirty="0"/>
              <a:t>Weber</a:t>
            </a:r>
            <a:r>
              <a:rPr sz="2800" spc="-65" dirty="0"/>
              <a:t> </a:t>
            </a:r>
            <a:r>
              <a:rPr sz="2800" dirty="0"/>
              <a:t>(1864</a:t>
            </a:r>
            <a:r>
              <a:rPr sz="2800" spc="-65" dirty="0"/>
              <a:t> </a:t>
            </a:r>
            <a:r>
              <a:rPr sz="2800" dirty="0"/>
              <a:t>–</a:t>
            </a:r>
            <a:r>
              <a:rPr sz="2800" spc="-60" dirty="0"/>
              <a:t> </a:t>
            </a:r>
            <a:r>
              <a:rPr sz="2800" spc="-10" dirty="0"/>
              <a:t>1920)</a:t>
            </a:r>
            <a:endParaRPr sz="2800">
              <a:latin typeface="Courier New"/>
              <a:cs typeface="Courier New"/>
            </a:endParaRPr>
          </a:p>
          <a:p>
            <a:pPr marL="447675">
              <a:lnSpc>
                <a:spcPts val="3329"/>
              </a:lnSpc>
            </a:pPr>
            <a:r>
              <a:rPr sz="2800" dirty="0">
                <a:latin typeface="Courier New"/>
                <a:cs typeface="Courier New"/>
              </a:rPr>
              <a:t>o</a:t>
            </a:r>
            <a:r>
              <a:rPr sz="2800" dirty="0"/>
              <a:t>Chester</a:t>
            </a:r>
            <a:r>
              <a:rPr sz="2800" spc="-70" dirty="0"/>
              <a:t> </a:t>
            </a:r>
            <a:r>
              <a:rPr sz="2800" dirty="0"/>
              <a:t>Barnard</a:t>
            </a:r>
            <a:r>
              <a:rPr sz="2800" spc="-65" dirty="0"/>
              <a:t> </a:t>
            </a:r>
            <a:r>
              <a:rPr sz="2800" dirty="0"/>
              <a:t>(1886</a:t>
            </a:r>
            <a:r>
              <a:rPr sz="2800" spc="-65" dirty="0"/>
              <a:t> </a:t>
            </a:r>
            <a:r>
              <a:rPr sz="2800" dirty="0"/>
              <a:t>–</a:t>
            </a:r>
            <a:r>
              <a:rPr sz="2800" spc="-60" dirty="0"/>
              <a:t> </a:t>
            </a:r>
            <a:r>
              <a:rPr sz="2800" spc="-10" dirty="0"/>
              <a:t>1961)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</a:t>
            </a:r>
            <a:r>
              <a:rPr spc="-204" dirty="0"/>
              <a:t> </a:t>
            </a:r>
            <a:r>
              <a:rPr dirty="0"/>
              <a:t>Administrative</a:t>
            </a:r>
            <a:r>
              <a:rPr spc="-90" dirty="0"/>
              <a:t> </a:t>
            </a:r>
            <a:r>
              <a:rPr dirty="0"/>
              <a:t>Theory_Henri</a:t>
            </a:r>
            <a:r>
              <a:rPr spc="-80" dirty="0"/>
              <a:t> </a:t>
            </a:r>
            <a:r>
              <a:rPr spc="-10" dirty="0"/>
              <a:t>Fayol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0" y="959595"/>
            <a:ext cx="5850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Fayol’s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14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Principles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Management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745" y="1634233"/>
            <a:ext cx="8211727" cy="38765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</a:t>
            </a:r>
            <a:r>
              <a:rPr spc="-204" dirty="0"/>
              <a:t> </a:t>
            </a:r>
            <a:r>
              <a:rPr dirty="0"/>
              <a:t>Administrative</a:t>
            </a:r>
            <a:r>
              <a:rPr spc="-90" dirty="0"/>
              <a:t> </a:t>
            </a:r>
            <a:r>
              <a:rPr dirty="0"/>
              <a:t>Theory_Henri</a:t>
            </a:r>
            <a:r>
              <a:rPr spc="-80" dirty="0"/>
              <a:t> </a:t>
            </a:r>
            <a:r>
              <a:rPr spc="-10" dirty="0"/>
              <a:t>Fayol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0" y="959595"/>
            <a:ext cx="6956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Fayol’s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14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Principles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Management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(cont.)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37" y="1826998"/>
            <a:ext cx="8324938" cy="34490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15" y="173973"/>
            <a:ext cx="892873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</a:t>
            </a:r>
            <a:r>
              <a:rPr spc="-190" dirty="0"/>
              <a:t> </a:t>
            </a:r>
            <a:r>
              <a:rPr dirty="0"/>
              <a:t>Administrative</a:t>
            </a:r>
            <a:r>
              <a:rPr spc="-70" dirty="0"/>
              <a:t> </a:t>
            </a:r>
            <a:r>
              <a:rPr dirty="0"/>
              <a:t>Theory_</a:t>
            </a:r>
            <a:r>
              <a:rPr spc="-70" dirty="0"/>
              <a:t> </a:t>
            </a:r>
            <a:r>
              <a:rPr dirty="0"/>
              <a:t>Max</a:t>
            </a:r>
            <a:r>
              <a:rPr spc="-65" dirty="0"/>
              <a:t> </a:t>
            </a:r>
            <a:r>
              <a:rPr spc="-10" dirty="0"/>
              <a:t>Weber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538" y="820928"/>
            <a:ext cx="8620760" cy="56489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162560">
              <a:lnSpc>
                <a:spcPts val="3100"/>
              </a:lnSpc>
              <a:spcBef>
                <a:spcPts val="219"/>
              </a:spcBef>
            </a:pPr>
            <a:r>
              <a:rPr sz="2600" b="1" dirty="0">
                <a:latin typeface="Arial"/>
                <a:cs typeface="Arial"/>
              </a:rPr>
              <a:t>Bureaucracy</a:t>
            </a:r>
            <a:r>
              <a:rPr sz="2600" b="1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form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organization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characterized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by </a:t>
            </a:r>
            <a:r>
              <a:rPr sz="2600" dirty="0">
                <a:latin typeface="Arial"/>
                <a:cs typeface="Arial"/>
              </a:rPr>
              <a:t>division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labor,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clearly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defined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hierarchy,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detailed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rules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regulations,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impersonal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relationships.</a:t>
            </a:r>
            <a:endParaRPr sz="2600">
              <a:latin typeface="Arial"/>
              <a:cs typeface="Arial"/>
            </a:endParaRPr>
          </a:p>
          <a:p>
            <a:pPr marL="469265" indent="-456565">
              <a:lnSpc>
                <a:spcPts val="3329"/>
              </a:lnSpc>
              <a:spcBef>
                <a:spcPts val="2775"/>
              </a:spcBef>
              <a:buClr>
                <a:srgbClr val="C00000"/>
              </a:buClr>
              <a:buFont typeface="Arial"/>
              <a:buChar char="►"/>
              <a:tabLst>
                <a:tab pos="469265" algn="l"/>
              </a:tabLst>
            </a:pPr>
            <a:r>
              <a:rPr sz="2800" b="1" dirty="0">
                <a:solidFill>
                  <a:srgbClr val="CE1C00"/>
                </a:solidFill>
                <a:latin typeface="Arial"/>
                <a:cs typeface="Arial"/>
              </a:rPr>
              <a:t>Weber’s</a:t>
            </a:r>
            <a:r>
              <a:rPr sz="2800" b="1" spc="-95" dirty="0">
                <a:solidFill>
                  <a:srgbClr val="CE1C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E1C00"/>
                </a:solidFill>
                <a:latin typeface="Arial"/>
                <a:cs typeface="Arial"/>
              </a:rPr>
              <a:t>Five</a:t>
            </a:r>
            <a:r>
              <a:rPr sz="2800" b="1" spc="-85" dirty="0">
                <a:solidFill>
                  <a:srgbClr val="CE1C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E1C00"/>
                </a:solidFill>
                <a:latin typeface="Arial"/>
                <a:cs typeface="Arial"/>
              </a:rPr>
              <a:t>Principles</a:t>
            </a:r>
            <a:r>
              <a:rPr sz="2800" b="1" spc="-80" dirty="0">
                <a:solidFill>
                  <a:srgbClr val="CE1C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E1C00"/>
                </a:solidFill>
                <a:latin typeface="Arial"/>
                <a:cs typeface="Arial"/>
              </a:rPr>
              <a:t>of</a:t>
            </a:r>
            <a:r>
              <a:rPr sz="2800" b="1" spc="-85" dirty="0">
                <a:solidFill>
                  <a:srgbClr val="CE1C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E1C00"/>
                </a:solidFill>
                <a:latin typeface="Arial"/>
                <a:cs typeface="Arial"/>
              </a:rPr>
              <a:t>Bureaucracy</a:t>
            </a:r>
            <a:endParaRPr sz="2800">
              <a:latin typeface="Arial"/>
              <a:cs typeface="Arial"/>
            </a:endParaRPr>
          </a:p>
          <a:p>
            <a:pPr marL="469265" marR="190500" lvl="1" indent="173355">
              <a:lnSpc>
                <a:spcPts val="2900"/>
              </a:lnSpc>
              <a:spcBef>
                <a:spcPts val="50"/>
              </a:spcBef>
              <a:buChar char="•"/>
              <a:tabLst>
                <a:tab pos="642620" algn="l"/>
              </a:tabLst>
            </a:pPr>
            <a:r>
              <a:rPr sz="2400" dirty="0">
                <a:latin typeface="Arial"/>
                <a:cs typeface="Arial"/>
              </a:rPr>
              <a:t>Authority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power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hold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accountable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their actions.</a:t>
            </a:r>
            <a:endParaRPr sz="2400">
              <a:latin typeface="Arial"/>
              <a:cs typeface="Arial"/>
            </a:endParaRPr>
          </a:p>
          <a:p>
            <a:pPr marL="469265" marR="5080" lvl="1" indent="189865">
              <a:lnSpc>
                <a:spcPts val="2900"/>
              </a:lnSpc>
              <a:buChar char="•"/>
              <a:tabLst>
                <a:tab pos="659130" algn="l"/>
              </a:tabLst>
            </a:pPr>
            <a:r>
              <a:rPr sz="2400" dirty="0">
                <a:latin typeface="Arial"/>
                <a:cs typeface="Arial"/>
              </a:rPr>
              <a:t>Positions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should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held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performance,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social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contacts.</a:t>
            </a:r>
            <a:endParaRPr sz="2400">
              <a:latin typeface="Arial"/>
              <a:cs typeface="Arial"/>
            </a:endParaRPr>
          </a:p>
          <a:p>
            <a:pPr marL="659130" lvl="1" indent="-189865">
              <a:lnSpc>
                <a:spcPts val="2700"/>
              </a:lnSpc>
              <a:buChar char="•"/>
              <a:tabLst>
                <a:tab pos="659130" algn="l"/>
              </a:tabLst>
            </a:pPr>
            <a:r>
              <a:rPr sz="2400" dirty="0">
                <a:latin typeface="Arial"/>
                <a:cs typeface="Arial"/>
              </a:rPr>
              <a:t>Position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duties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clearly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identified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know</a:t>
            </a:r>
            <a:endParaRPr sz="24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expected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them.</a:t>
            </a:r>
            <a:endParaRPr sz="2400">
              <a:latin typeface="Arial"/>
              <a:cs typeface="Arial"/>
            </a:endParaRPr>
          </a:p>
          <a:p>
            <a:pPr marL="469265" marR="632460" lvl="1" indent="189865">
              <a:lnSpc>
                <a:spcPct val="100699"/>
              </a:lnSpc>
              <a:buChar char="•"/>
              <a:tabLst>
                <a:tab pos="659130" algn="l"/>
              </a:tabLst>
            </a:pPr>
            <a:r>
              <a:rPr sz="2400" dirty="0">
                <a:latin typeface="Arial"/>
                <a:cs typeface="Arial"/>
              </a:rPr>
              <a:t>Lines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authority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should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clearly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identified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such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reports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who.</a:t>
            </a:r>
            <a:endParaRPr sz="2400">
              <a:latin typeface="Arial"/>
              <a:cs typeface="Arial"/>
            </a:endParaRPr>
          </a:p>
          <a:p>
            <a:pPr marL="469265" marR="157480" lvl="1" indent="189865">
              <a:lnSpc>
                <a:spcPts val="2800"/>
              </a:lnSpc>
              <a:spcBef>
                <a:spcPts val="180"/>
              </a:spcBef>
              <a:buChar char="•"/>
              <a:tabLst>
                <a:tab pos="659130" algn="l"/>
              </a:tabLst>
            </a:pPr>
            <a:r>
              <a:rPr sz="2400" dirty="0">
                <a:latin typeface="Arial"/>
                <a:cs typeface="Arial"/>
              </a:rPr>
              <a:t>Rules,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standard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operating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procedures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(SOPs),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norms </a:t>
            </a:r>
            <a:r>
              <a:rPr sz="2400" dirty="0">
                <a:latin typeface="Arial"/>
                <a:cs typeface="Arial"/>
              </a:rPr>
              <a:t>guide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firm’s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operations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686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dirty="0"/>
              <a:t>Characteristics</a:t>
            </a:r>
            <a:r>
              <a:rPr spc="-8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Weber’s</a:t>
            </a:r>
            <a:r>
              <a:rPr spc="-85" dirty="0"/>
              <a:t> </a:t>
            </a:r>
            <a:r>
              <a:rPr spc="-10" dirty="0"/>
              <a:t>Bureaucracy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802" y="1463041"/>
            <a:ext cx="8378285" cy="36575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584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Issues</a:t>
            </a:r>
            <a:r>
              <a:rPr sz="3200" spc="-50" dirty="0"/>
              <a:t> </a:t>
            </a:r>
            <a:r>
              <a:rPr sz="3200" dirty="0"/>
              <a:t>with</a:t>
            </a:r>
            <a:r>
              <a:rPr sz="3200" spc="-155" dirty="0"/>
              <a:t> </a:t>
            </a:r>
            <a:r>
              <a:rPr sz="3200" dirty="0"/>
              <a:t>Administration</a:t>
            </a:r>
            <a:r>
              <a:rPr sz="3200" spc="-50" dirty="0"/>
              <a:t> </a:t>
            </a:r>
            <a:r>
              <a:rPr sz="3200" spc="-10" dirty="0"/>
              <a:t>theory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8158" y="5447438"/>
            <a:ext cx="2115840" cy="14105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416" y="2842343"/>
            <a:ext cx="50577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76092"/>
                </a:solidFill>
              </a:rPr>
              <a:t>2.3</a:t>
            </a:r>
            <a:r>
              <a:rPr sz="2800" spc="-10" dirty="0">
                <a:solidFill>
                  <a:srgbClr val="376092"/>
                </a:solidFill>
              </a:rPr>
              <a:t> </a:t>
            </a:r>
            <a:r>
              <a:rPr sz="2800" spc="-35" dirty="0">
                <a:solidFill>
                  <a:srgbClr val="376092"/>
                </a:solidFill>
              </a:rPr>
              <a:t>BEHAVIORAL</a:t>
            </a:r>
            <a:r>
              <a:rPr sz="2800" spc="-155" dirty="0">
                <a:solidFill>
                  <a:srgbClr val="376092"/>
                </a:solidFill>
              </a:rPr>
              <a:t> </a:t>
            </a:r>
            <a:r>
              <a:rPr sz="2800" spc="-10" dirty="0">
                <a:solidFill>
                  <a:srgbClr val="376092"/>
                </a:solidFill>
              </a:rPr>
              <a:t>APPROACH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15" y="197979"/>
            <a:ext cx="435546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Behavioral</a:t>
            </a:r>
            <a:r>
              <a:rPr spc="-13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926" y="895172"/>
            <a:ext cx="8446135" cy="52832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b="1" dirty="0">
                <a:latin typeface="Arial"/>
                <a:cs typeface="Arial"/>
              </a:rPr>
              <a:t>Behavioral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  <a:p>
            <a:pPr marL="192405" indent="-179705">
              <a:lnSpc>
                <a:spcPct val="100000"/>
              </a:lnSpc>
              <a:spcBef>
                <a:spcPts val="520"/>
              </a:spcBef>
              <a:buChar char="-"/>
              <a:tabLst>
                <a:tab pos="19240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study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managers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should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behave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motivate</a:t>
            </a:r>
            <a:endParaRPr sz="2400">
              <a:latin typeface="Arial"/>
              <a:cs typeface="Arial"/>
            </a:endParaRPr>
          </a:p>
          <a:p>
            <a:pPr marL="12700" marR="139700">
              <a:lnSpc>
                <a:spcPct val="118100"/>
              </a:lnSpc>
              <a:spcBef>
                <a:spcPts val="95"/>
              </a:spcBef>
            </a:pPr>
            <a:r>
              <a:rPr sz="2400" dirty="0">
                <a:latin typeface="Arial"/>
                <a:cs typeface="Arial"/>
              </a:rPr>
              <a:t>employees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encourage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perform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high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committed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achievement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organizational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goals.</a:t>
            </a:r>
            <a:endParaRPr sz="2400">
              <a:latin typeface="Arial"/>
              <a:cs typeface="Arial"/>
            </a:endParaRPr>
          </a:p>
          <a:p>
            <a:pPr marL="12700" marR="5080" indent="184785">
              <a:lnSpc>
                <a:spcPct val="118100"/>
              </a:lnSpc>
              <a:spcBef>
                <a:spcPts val="100"/>
              </a:spcBef>
              <a:buChar char="-"/>
              <a:tabLst>
                <a:tab pos="197485" algn="l"/>
              </a:tabLst>
            </a:pPr>
            <a:r>
              <a:rPr sz="2400" dirty="0">
                <a:latin typeface="Arial"/>
                <a:cs typeface="Arial"/>
              </a:rPr>
              <a:t>Focuses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should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personally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motivate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employees.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24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o</a:t>
            </a:r>
            <a:r>
              <a:rPr sz="2400" dirty="0">
                <a:latin typeface="Arial"/>
                <a:cs typeface="Arial"/>
              </a:rPr>
              <a:t>Hugo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Munsterberg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(1863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1916)</a:t>
            </a:r>
            <a:endParaRPr sz="24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Courier New"/>
                <a:cs typeface="Courier New"/>
              </a:rPr>
              <a:t>o</a:t>
            </a:r>
            <a:r>
              <a:rPr sz="2400" dirty="0">
                <a:latin typeface="Arial"/>
                <a:cs typeface="Arial"/>
              </a:rPr>
              <a:t>Mary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Parker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Follett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(1868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1933)</a:t>
            </a:r>
            <a:endParaRPr sz="24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Courier New"/>
                <a:cs typeface="Courier New"/>
              </a:rPr>
              <a:t>o</a:t>
            </a:r>
            <a:r>
              <a:rPr sz="2400" dirty="0">
                <a:latin typeface="Arial"/>
                <a:cs typeface="Arial"/>
              </a:rPr>
              <a:t>Douglas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Gregor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(1909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1964)</a:t>
            </a:r>
            <a:endParaRPr sz="24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520"/>
              </a:spcBef>
            </a:pPr>
            <a:r>
              <a:rPr sz="2400" dirty="0">
                <a:latin typeface="Courier New"/>
                <a:cs typeface="Courier New"/>
              </a:rPr>
              <a:t>o</a:t>
            </a:r>
            <a:r>
              <a:rPr sz="2400" dirty="0">
                <a:latin typeface="Arial"/>
                <a:cs typeface="Arial"/>
              </a:rPr>
              <a:t>Abraham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Maslow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(1908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1970)</a:t>
            </a:r>
            <a:endParaRPr sz="24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Courier New"/>
                <a:cs typeface="Courier New"/>
              </a:rPr>
              <a:t>o</a:t>
            </a:r>
            <a:r>
              <a:rPr sz="2400" dirty="0">
                <a:latin typeface="Arial"/>
                <a:cs typeface="Arial"/>
              </a:rPr>
              <a:t>Elton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Mayo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(1880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1949)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15" y="197979"/>
            <a:ext cx="435546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Behavioral</a:t>
            </a:r>
            <a:r>
              <a:rPr spc="-13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122" y="1019125"/>
            <a:ext cx="8514080" cy="35433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latin typeface="Arial"/>
                <a:cs typeface="Arial"/>
              </a:rPr>
              <a:t>Mary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Parker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Follett</a:t>
            </a:r>
            <a:endParaRPr sz="2400">
              <a:latin typeface="Arial"/>
              <a:cs typeface="Arial"/>
            </a:endParaRPr>
          </a:p>
          <a:p>
            <a:pPr marL="180975" indent="-168275">
              <a:lnSpc>
                <a:spcPct val="100000"/>
              </a:lnSpc>
              <a:spcBef>
                <a:spcPts val="620"/>
              </a:spcBef>
              <a:buChar char="-"/>
              <a:tabLst>
                <a:tab pos="180975" algn="l"/>
              </a:tabLst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influential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leader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early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managerial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theory</a:t>
            </a:r>
            <a:endParaRPr sz="2400">
              <a:latin typeface="Arial"/>
              <a:cs typeface="Arial"/>
            </a:endParaRPr>
          </a:p>
          <a:p>
            <a:pPr marL="197485" indent="-184785">
              <a:lnSpc>
                <a:spcPct val="100000"/>
              </a:lnSpc>
              <a:spcBef>
                <a:spcPts val="520"/>
              </a:spcBef>
              <a:buChar char="-"/>
              <a:tabLst>
                <a:tab pos="197485" algn="l"/>
              </a:tabLst>
            </a:pPr>
            <a:r>
              <a:rPr sz="2400" dirty="0">
                <a:latin typeface="Arial"/>
                <a:cs typeface="Arial"/>
              </a:rPr>
              <a:t>Held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horizontal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view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power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authority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organizations</a:t>
            </a:r>
            <a:endParaRPr sz="2400">
              <a:latin typeface="Arial"/>
              <a:cs typeface="Arial"/>
            </a:endParaRPr>
          </a:p>
          <a:p>
            <a:pPr marL="355600" marR="256540" indent="-342900">
              <a:lnSpc>
                <a:spcPct val="119800"/>
              </a:lnSpc>
              <a:spcBef>
                <a:spcPts val="50"/>
              </a:spcBef>
              <a:buChar char="•"/>
              <a:tabLst>
                <a:tab pos="355600" algn="l"/>
                <a:tab pos="440055" algn="l"/>
              </a:tabLst>
            </a:pPr>
            <a:r>
              <a:rPr sz="2400" dirty="0">
                <a:latin typeface="Arial"/>
                <a:cs typeface="Arial"/>
              </a:rPr>
              <a:t>	Suggested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help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analyzing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their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 </a:t>
            </a:r>
            <a:r>
              <a:rPr sz="2400" spc="-20" dirty="0">
                <a:latin typeface="Arial"/>
                <a:cs typeface="Arial"/>
              </a:rPr>
              <a:t>improvements—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best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improve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job.</a:t>
            </a:r>
            <a:endParaRPr sz="2400">
              <a:latin typeface="Arial"/>
              <a:cs typeface="Arial"/>
            </a:endParaRPr>
          </a:p>
          <a:p>
            <a:pPr marL="354965" marR="1118870" indent="-342900">
              <a:lnSpc>
                <a:spcPts val="3500"/>
              </a:lnSpc>
              <a:buChar char="•"/>
              <a:tabLst>
                <a:tab pos="440055" algn="l"/>
              </a:tabLst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relevant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knowledge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task,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then 	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should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control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task.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15" y="213217"/>
            <a:ext cx="89535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Behavioral</a:t>
            </a:r>
            <a:r>
              <a:rPr sz="3200" spc="-160" dirty="0"/>
              <a:t> </a:t>
            </a:r>
            <a:r>
              <a:rPr sz="3200" dirty="0"/>
              <a:t>Approach_</a:t>
            </a:r>
            <a:r>
              <a:rPr sz="3200" spc="-45" dirty="0"/>
              <a:t> </a:t>
            </a:r>
            <a:r>
              <a:rPr sz="3200" dirty="0"/>
              <a:t>The</a:t>
            </a:r>
            <a:r>
              <a:rPr sz="3200" spc="-45" dirty="0"/>
              <a:t> </a:t>
            </a:r>
            <a:r>
              <a:rPr sz="3200" dirty="0"/>
              <a:t>Hawthorne</a:t>
            </a:r>
            <a:r>
              <a:rPr sz="3200" spc="-45" dirty="0"/>
              <a:t> </a:t>
            </a:r>
            <a:r>
              <a:rPr sz="3200" spc="-10" dirty="0"/>
              <a:t>Studies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31302" y="1006443"/>
            <a:ext cx="8682355" cy="55702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10"/>
              </a:spcBef>
            </a:pPr>
            <a:r>
              <a:rPr sz="2800" dirty="0">
                <a:latin typeface="Arial"/>
                <a:cs typeface="Arial"/>
              </a:rPr>
              <a:t>Hawthorne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Studies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series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studies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Elton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Mayo </a:t>
            </a:r>
            <a:r>
              <a:rPr sz="2800" dirty="0">
                <a:latin typeface="Arial"/>
                <a:cs typeface="Arial"/>
              </a:rPr>
              <a:t>during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1920s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1930s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provided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3366FF"/>
                </a:solidFill>
                <a:latin typeface="Arial"/>
                <a:cs typeface="Arial"/>
              </a:rPr>
              <a:t>new </a:t>
            </a:r>
            <a:r>
              <a:rPr sz="2800" b="1" dirty="0">
                <a:solidFill>
                  <a:srgbClr val="3366FF"/>
                </a:solidFill>
                <a:latin typeface="Arial"/>
                <a:cs typeface="Arial"/>
              </a:rPr>
              <a:t>insights</a:t>
            </a:r>
            <a:r>
              <a:rPr sz="2800" b="1" spc="-95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66FF"/>
                </a:solidFill>
                <a:latin typeface="Arial"/>
                <a:cs typeface="Arial"/>
              </a:rPr>
              <a:t>into</a:t>
            </a:r>
            <a:r>
              <a:rPr sz="2800" b="1" spc="-90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66FF"/>
                </a:solidFill>
                <a:latin typeface="Arial"/>
                <a:cs typeface="Arial"/>
              </a:rPr>
              <a:t>individual</a:t>
            </a:r>
            <a:r>
              <a:rPr sz="2800" b="1" spc="-95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66FF"/>
                </a:solidFill>
                <a:latin typeface="Arial"/>
                <a:cs typeface="Arial"/>
              </a:rPr>
              <a:t>and</a:t>
            </a:r>
            <a:r>
              <a:rPr sz="2800" b="1" spc="-95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66FF"/>
                </a:solidFill>
                <a:latin typeface="Arial"/>
                <a:cs typeface="Arial"/>
              </a:rPr>
              <a:t>group</a:t>
            </a:r>
            <a:r>
              <a:rPr sz="2800" b="1" spc="-95" dirty="0">
                <a:solidFill>
                  <a:srgbClr val="3366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3366FF"/>
                </a:solidFill>
                <a:latin typeface="Arial"/>
                <a:cs typeface="Arial"/>
              </a:rPr>
              <a:t>behavior.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800">
              <a:latin typeface="Arial"/>
              <a:cs typeface="Arial"/>
            </a:endParaRPr>
          </a:p>
          <a:p>
            <a:pPr marL="12700" marR="551815">
              <a:lnSpc>
                <a:spcPct val="100200"/>
              </a:lnSpc>
            </a:pPr>
            <a:r>
              <a:rPr sz="2800" dirty="0">
                <a:latin typeface="Arial"/>
                <a:cs typeface="Arial"/>
              </a:rPr>
              <a:t>Studies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how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characteristics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work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setting </a:t>
            </a:r>
            <a:r>
              <a:rPr sz="2800" dirty="0">
                <a:latin typeface="Arial"/>
                <a:cs typeface="Arial"/>
              </a:rPr>
              <a:t>affected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worker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fatigue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performance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Hawthorne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Works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Western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Electric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Company </a:t>
            </a:r>
            <a:r>
              <a:rPr sz="2800" dirty="0">
                <a:latin typeface="Arial"/>
                <a:cs typeface="Arial"/>
              </a:rPr>
              <a:t>from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1924-</a:t>
            </a:r>
            <a:r>
              <a:rPr sz="2800" spc="-10" dirty="0">
                <a:latin typeface="Arial"/>
                <a:cs typeface="Arial"/>
              </a:rPr>
              <a:t>1932.</a:t>
            </a:r>
            <a:endParaRPr sz="2800">
              <a:latin typeface="Arial"/>
              <a:cs typeface="Arial"/>
            </a:endParaRPr>
          </a:p>
          <a:p>
            <a:pPr marL="468630" marR="107950" indent="-455930">
              <a:lnSpc>
                <a:spcPts val="3400"/>
              </a:lnSpc>
              <a:spcBef>
                <a:spcPts val="20"/>
              </a:spcBef>
              <a:buFont typeface="Courier New"/>
              <a:buChar char="o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Worker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productivity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was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measured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various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levels 	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light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illumination.</a:t>
            </a:r>
            <a:endParaRPr sz="2800">
              <a:latin typeface="Arial"/>
              <a:cs typeface="Arial"/>
            </a:endParaRPr>
          </a:p>
          <a:p>
            <a:pPr marL="468630" marR="396240" indent="-455930">
              <a:lnSpc>
                <a:spcPts val="3300"/>
              </a:lnSpc>
              <a:spcBef>
                <a:spcPts val="80"/>
              </a:spcBef>
              <a:buFont typeface="Courier New"/>
              <a:buChar char="o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Researchers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found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regardless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whether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	</a:t>
            </a:r>
            <a:r>
              <a:rPr sz="2800" dirty="0">
                <a:latin typeface="Arial"/>
                <a:cs typeface="Arial"/>
              </a:rPr>
              <a:t>light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levels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were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raised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lowered,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worker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ts val="3300"/>
              </a:lnSpc>
            </a:pPr>
            <a:r>
              <a:rPr sz="2800" dirty="0">
                <a:latin typeface="Arial"/>
                <a:cs typeface="Arial"/>
              </a:rPr>
              <a:t>productivity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increased.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9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Behavioral</a:t>
            </a:r>
            <a:r>
              <a:rPr sz="3200" spc="-160" dirty="0"/>
              <a:t> </a:t>
            </a:r>
            <a:r>
              <a:rPr sz="3200" dirty="0"/>
              <a:t>Approach_</a:t>
            </a:r>
            <a:r>
              <a:rPr sz="3200" spc="-45" dirty="0"/>
              <a:t> </a:t>
            </a:r>
            <a:r>
              <a:rPr sz="3200" dirty="0"/>
              <a:t>The</a:t>
            </a:r>
            <a:r>
              <a:rPr sz="3200" spc="-45" dirty="0"/>
              <a:t> </a:t>
            </a:r>
            <a:r>
              <a:rPr sz="3200" dirty="0"/>
              <a:t>Hawthorne</a:t>
            </a:r>
            <a:r>
              <a:rPr sz="3200" spc="-45" dirty="0"/>
              <a:t> </a:t>
            </a:r>
            <a:r>
              <a:rPr sz="3200" spc="-10" dirty="0"/>
              <a:t>Studies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28122" y="1366265"/>
            <a:ext cx="8724265" cy="385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b="1" dirty="0">
                <a:solidFill>
                  <a:srgbClr val="E46C0A"/>
                </a:solidFill>
                <a:latin typeface="Arial"/>
                <a:cs typeface="Arial"/>
              </a:rPr>
              <a:t>Human</a:t>
            </a:r>
            <a:r>
              <a:rPr sz="2800" b="1" spc="-114" dirty="0">
                <a:solidFill>
                  <a:srgbClr val="E46C0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E46C0A"/>
                </a:solidFill>
                <a:latin typeface="Arial"/>
                <a:cs typeface="Arial"/>
              </a:rPr>
              <a:t>Relations</a:t>
            </a:r>
            <a:r>
              <a:rPr sz="2800" b="1" spc="-105" dirty="0">
                <a:solidFill>
                  <a:srgbClr val="E46C0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E46C0A"/>
                </a:solidFill>
                <a:latin typeface="Arial"/>
                <a:cs typeface="Arial"/>
              </a:rPr>
              <a:t>Implications</a:t>
            </a:r>
            <a:endParaRPr sz="2800">
              <a:latin typeface="Arial"/>
              <a:cs typeface="Arial"/>
            </a:endParaRPr>
          </a:p>
          <a:p>
            <a:pPr marL="468630" marR="359410" indent="-455930">
              <a:lnSpc>
                <a:spcPts val="3400"/>
              </a:lnSpc>
              <a:spcBef>
                <a:spcPts val="50"/>
              </a:spcBef>
              <a:buFont typeface="Courier New"/>
              <a:buChar char="o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Hawthorne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effect—</a:t>
            </a:r>
            <a:r>
              <a:rPr sz="2800" dirty="0">
                <a:latin typeface="Arial"/>
                <a:cs typeface="Arial"/>
              </a:rPr>
              <a:t>workers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responded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	</a:t>
            </a:r>
            <a:r>
              <a:rPr sz="2800" dirty="0">
                <a:latin typeface="Arial"/>
                <a:cs typeface="Arial"/>
              </a:rPr>
              <a:t>attention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they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received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were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more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productive.</a:t>
            </a:r>
            <a:endParaRPr sz="2800">
              <a:latin typeface="Arial"/>
              <a:cs typeface="Arial"/>
            </a:endParaRPr>
          </a:p>
          <a:p>
            <a:pPr marL="468630" indent="-455930">
              <a:lnSpc>
                <a:spcPts val="3180"/>
              </a:lnSpc>
              <a:buFont typeface="Courier New"/>
              <a:buChar char="o"/>
              <a:tabLst>
                <a:tab pos="468630" algn="l"/>
              </a:tabLst>
            </a:pPr>
            <a:r>
              <a:rPr sz="2800" dirty="0">
                <a:latin typeface="Arial"/>
                <a:cs typeface="Arial"/>
              </a:rPr>
              <a:t>Managers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should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behaviorally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trained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manage</a:t>
            </a:r>
            <a:endParaRPr sz="2800">
              <a:latin typeface="Arial"/>
              <a:cs typeface="Arial"/>
            </a:endParaRPr>
          </a:p>
          <a:p>
            <a:pPr marL="469900" marR="121920">
              <a:lnSpc>
                <a:spcPct val="101200"/>
              </a:lnSpc>
            </a:pPr>
            <a:r>
              <a:rPr sz="2800" dirty="0">
                <a:latin typeface="Arial"/>
                <a:cs typeface="Arial"/>
              </a:rPr>
              <a:t>subordinates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elicit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their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cooperation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increase </a:t>
            </a:r>
            <a:r>
              <a:rPr sz="2800" dirty="0">
                <a:latin typeface="Arial"/>
                <a:cs typeface="Arial"/>
              </a:rPr>
              <a:t>their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productivity.</a:t>
            </a:r>
            <a:endParaRPr sz="2800">
              <a:latin typeface="Arial"/>
              <a:cs typeface="Arial"/>
            </a:endParaRPr>
          </a:p>
          <a:p>
            <a:pPr marL="468630" marR="5080" indent="-455930">
              <a:lnSpc>
                <a:spcPts val="3400"/>
              </a:lnSpc>
              <a:spcBef>
                <a:spcPts val="20"/>
              </a:spcBef>
              <a:buFont typeface="Courier New"/>
              <a:buChar char="o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Groups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impose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informal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performance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norms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their 	</a:t>
            </a:r>
            <a:r>
              <a:rPr sz="2800" dirty="0">
                <a:latin typeface="Arial"/>
                <a:cs typeface="Arial"/>
              </a:rPr>
              <a:t>members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(both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“rate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busters”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“chiselers”)</a:t>
            </a:r>
            <a:endParaRPr sz="2800">
              <a:latin typeface="Arial"/>
              <a:cs typeface="Arial"/>
            </a:endParaRPr>
          </a:p>
          <a:p>
            <a:pPr marL="468630" indent="-455930">
              <a:lnSpc>
                <a:spcPts val="3180"/>
              </a:lnSpc>
              <a:buFont typeface="Courier New"/>
              <a:buChar char="o"/>
              <a:tabLst>
                <a:tab pos="468630" algn="l"/>
              </a:tabLst>
            </a:pPr>
            <a:r>
              <a:rPr sz="2800" dirty="0">
                <a:latin typeface="Arial"/>
                <a:cs typeface="Arial"/>
              </a:rPr>
              <a:t>Gave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rise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field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Organizational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Behavior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823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Issues</a:t>
            </a:r>
            <a:r>
              <a:rPr sz="2800" spc="-80" dirty="0"/>
              <a:t> </a:t>
            </a:r>
            <a:r>
              <a:rPr sz="3000" dirty="0">
                <a:solidFill>
                  <a:srgbClr val="0085CC"/>
                </a:solidFill>
              </a:rPr>
              <a:t>with</a:t>
            </a:r>
            <a:r>
              <a:rPr sz="3000" spc="-95" dirty="0">
                <a:solidFill>
                  <a:srgbClr val="0085CC"/>
                </a:solidFill>
              </a:rPr>
              <a:t> </a:t>
            </a:r>
            <a:r>
              <a:rPr sz="3000" dirty="0">
                <a:solidFill>
                  <a:srgbClr val="0085CC"/>
                </a:solidFill>
              </a:rPr>
              <a:t>Behavioral</a:t>
            </a:r>
            <a:r>
              <a:rPr sz="3000" spc="-90" dirty="0">
                <a:solidFill>
                  <a:srgbClr val="0085CC"/>
                </a:solidFill>
              </a:rPr>
              <a:t> </a:t>
            </a:r>
            <a:r>
              <a:rPr sz="3000" dirty="0">
                <a:solidFill>
                  <a:srgbClr val="0085CC"/>
                </a:solidFill>
              </a:rPr>
              <a:t>Management</a:t>
            </a:r>
            <a:r>
              <a:rPr sz="3000" spc="-90" dirty="0">
                <a:solidFill>
                  <a:srgbClr val="0085CC"/>
                </a:solidFill>
              </a:rPr>
              <a:t> </a:t>
            </a:r>
            <a:r>
              <a:rPr sz="3000" spc="-10" dirty="0">
                <a:solidFill>
                  <a:srgbClr val="0085CC"/>
                </a:solidFill>
              </a:rPr>
              <a:t>Theory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8158" y="5447438"/>
            <a:ext cx="2115840" cy="14105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416" y="2842343"/>
            <a:ext cx="50965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76092"/>
                </a:solidFill>
              </a:rPr>
              <a:t>2.4</a:t>
            </a:r>
            <a:r>
              <a:rPr sz="2800" spc="-25" dirty="0">
                <a:solidFill>
                  <a:srgbClr val="376092"/>
                </a:solidFill>
              </a:rPr>
              <a:t> </a:t>
            </a:r>
            <a:r>
              <a:rPr sz="2800" spc="-50" dirty="0">
                <a:solidFill>
                  <a:srgbClr val="376092"/>
                </a:solidFill>
              </a:rPr>
              <a:t>QUANTITAVIE</a:t>
            </a:r>
            <a:r>
              <a:rPr sz="2800" spc="-125" dirty="0">
                <a:solidFill>
                  <a:srgbClr val="376092"/>
                </a:solidFill>
              </a:rPr>
              <a:t> </a:t>
            </a:r>
            <a:r>
              <a:rPr sz="2800" spc="-10" dirty="0">
                <a:solidFill>
                  <a:srgbClr val="376092"/>
                </a:solidFill>
              </a:rPr>
              <a:t>APPROACH</a:t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Quantitative</a:t>
            </a:r>
            <a:r>
              <a:rPr spc="-14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122" y="1366265"/>
            <a:ext cx="8448040" cy="46304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797560">
              <a:lnSpc>
                <a:spcPts val="3300"/>
              </a:lnSpc>
              <a:spcBef>
                <a:spcPts val="260"/>
              </a:spcBef>
            </a:pPr>
            <a:r>
              <a:rPr sz="2800" b="1" dirty="0">
                <a:latin typeface="Arial"/>
                <a:cs typeface="Arial"/>
              </a:rPr>
              <a:t>Quantitative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approach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quantitative </a:t>
            </a:r>
            <a:r>
              <a:rPr sz="2800" dirty="0">
                <a:latin typeface="Arial"/>
                <a:cs typeface="Arial"/>
              </a:rPr>
              <a:t>techniques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improve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decision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making.</a:t>
            </a:r>
            <a:endParaRPr sz="2800">
              <a:latin typeface="Arial"/>
              <a:cs typeface="Arial"/>
            </a:endParaRPr>
          </a:p>
          <a:p>
            <a:pPr marL="468630" marR="1032510" indent="-455930">
              <a:lnSpc>
                <a:spcPts val="3329"/>
              </a:lnSpc>
              <a:spcBef>
                <a:spcPts val="745"/>
              </a:spcBef>
              <a:buFont typeface="Courier New"/>
              <a:buChar char="o"/>
              <a:tabLst>
                <a:tab pos="469900" algn="l"/>
              </a:tabLst>
            </a:pPr>
            <a:r>
              <a:rPr sz="2800" b="1" dirty="0">
                <a:latin typeface="Arial"/>
                <a:cs typeface="Arial"/>
              </a:rPr>
              <a:t>Quantitative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management</a:t>
            </a:r>
            <a:r>
              <a:rPr sz="2800" spc="-25" dirty="0">
                <a:latin typeface="Arial"/>
                <a:cs typeface="Arial"/>
              </a:rPr>
              <a:t>—</a:t>
            </a:r>
            <a:r>
              <a:rPr sz="2800" dirty="0">
                <a:latin typeface="Arial"/>
                <a:cs typeface="Arial"/>
              </a:rPr>
              <a:t>utilizes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linear 	</a:t>
            </a:r>
            <a:r>
              <a:rPr sz="2800" dirty="0">
                <a:latin typeface="Arial"/>
                <a:cs typeface="Arial"/>
              </a:rPr>
              <a:t>programming,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modeling,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simulation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systems</a:t>
            </a:r>
            <a:endParaRPr sz="2800">
              <a:latin typeface="Arial"/>
              <a:cs typeface="Arial"/>
            </a:endParaRPr>
          </a:p>
          <a:p>
            <a:pPr marL="468630" marR="5080" indent="-455930">
              <a:lnSpc>
                <a:spcPts val="3329"/>
              </a:lnSpc>
              <a:spcBef>
                <a:spcPts val="740"/>
              </a:spcBef>
              <a:buFont typeface="Courier New"/>
              <a:buChar char="o"/>
              <a:tabLst>
                <a:tab pos="469900" algn="l"/>
              </a:tabLst>
            </a:pPr>
            <a:r>
              <a:rPr sz="2800" b="1" dirty="0">
                <a:latin typeface="Arial"/>
                <a:cs typeface="Arial"/>
              </a:rPr>
              <a:t>Operations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management</a:t>
            </a:r>
            <a:r>
              <a:rPr sz="2800" spc="-20" dirty="0">
                <a:latin typeface="Arial"/>
                <a:cs typeface="Arial"/>
              </a:rPr>
              <a:t>—</a:t>
            </a:r>
            <a:r>
              <a:rPr sz="2800" dirty="0">
                <a:latin typeface="Arial"/>
                <a:cs typeface="Arial"/>
              </a:rPr>
              <a:t>techniques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analyze 	</a:t>
            </a:r>
            <a:r>
              <a:rPr sz="2800" dirty="0">
                <a:latin typeface="Arial"/>
                <a:cs typeface="Arial"/>
              </a:rPr>
              <a:t>all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aspects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production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  <a:p>
            <a:pPr marL="468630" marR="368935" indent="-455930">
              <a:lnSpc>
                <a:spcPts val="3329"/>
              </a:lnSpc>
              <a:spcBef>
                <a:spcPts val="740"/>
              </a:spcBef>
              <a:buFont typeface="Courier New"/>
              <a:buChar char="o"/>
              <a:tabLst>
                <a:tab pos="469900" algn="l"/>
              </a:tabLst>
            </a:pPr>
            <a:r>
              <a:rPr sz="2800" b="1" spc="-25" dirty="0">
                <a:latin typeface="Arial"/>
                <a:cs typeface="Arial"/>
              </a:rPr>
              <a:t>Total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Quality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Management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(TQM)</a:t>
            </a:r>
            <a:r>
              <a:rPr sz="2800" spc="-20" dirty="0">
                <a:latin typeface="Arial"/>
                <a:cs typeface="Arial"/>
              </a:rPr>
              <a:t>—</a:t>
            </a:r>
            <a:r>
              <a:rPr sz="2800" dirty="0">
                <a:latin typeface="Arial"/>
                <a:cs typeface="Arial"/>
              </a:rPr>
              <a:t>focuses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on 	</a:t>
            </a:r>
            <a:r>
              <a:rPr sz="2800" dirty="0">
                <a:latin typeface="Arial"/>
                <a:cs typeface="Arial"/>
              </a:rPr>
              <a:t>improving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quality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throughout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organization.</a:t>
            </a:r>
            <a:endParaRPr sz="2800">
              <a:latin typeface="Arial"/>
              <a:cs typeface="Arial"/>
            </a:endParaRPr>
          </a:p>
          <a:p>
            <a:pPr marL="468630" marR="856615" indent="-455930">
              <a:lnSpc>
                <a:spcPct val="102000"/>
              </a:lnSpc>
              <a:spcBef>
                <a:spcPts val="439"/>
              </a:spcBef>
              <a:buFont typeface="Courier New"/>
              <a:buChar char="o"/>
              <a:tabLst>
                <a:tab pos="469900" algn="l"/>
              </a:tabLst>
            </a:pPr>
            <a:r>
              <a:rPr sz="2800" b="1" dirty="0">
                <a:latin typeface="Arial"/>
                <a:cs typeface="Arial"/>
              </a:rPr>
              <a:t>Management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Information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Systems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(MIS)</a:t>
            </a:r>
            <a:r>
              <a:rPr sz="2800" spc="-10" dirty="0">
                <a:latin typeface="Arial"/>
                <a:cs typeface="Arial"/>
              </a:rPr>
              <a:t>— 	</a:t>
            </a:r>
            <a:r>
              <a:rPr sz="2800" dirty="0">
                <a:latin typeface="Arial"/>
                <a:cs typeface="Arial"/>
              </a:rPr>
              <a:t>provides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information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about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organization.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Quantitative</a:t>
            </a:r>
            <a:r>
              <a:rPr spc="-145" dirty="0"/>
              <a:t> </a:t>
            </a:r>
            <a:r>
              <a:rPr dirty="0"/>
              <a:t>Approach</a:t>
            </a:r>
            <a:r>
              <a:rPr spc="-15" dirty="0"/>
              <a:t> </a:t>
            </a:r>
            <a:r>
              <a:rPr dirty="0"/>
              <a:t>_</a:t>
            </a:r>
            <a:r>
              <a:rPr spc="-15" dirty="0"/>
              <a:t> </a:t>
            </a:r>
            <a:r>
              <a:rPr spc="-25" dirty="0"/>
              <a:t>TQM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702" y="1431549"/>
            <a:ext cx="8464171" cy="407924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7445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Issues</a:t>
            </a:r>
            <a:r>
              <a:rPr sz="2800" spc="-75" dirty="0"/>
              <a:t> </a:t>
            </a:r>
            <a:r>
              <a:rPr sz="2900" dirty="0">
                <a:solidFill>
                  <a:srgbClr val="0085CC"/>
                </a:solidFill>
              </a:rPr>
              <a:t>with</a:t>
            </a:r>
            <a:r>
              <a:rPr sz="2900" spc="-75" dirty="0">
                <a:solidFill>
                  <a:srgbClr val="0085CC"/>
                </a:solidFill>
              </a:rPr>
              <a:t> </a:t>
            </a:r>
            <a:r>
              <a:rPr sz="2900" dirty="0">
                <a:solidFill>
                  <a:srgbClr val="0085CC"/>
                </a:solidFill>
              </a:rPr>
              <a:t>Quantitative</a:t>
            </a:r>
            <a:r>
              <a:rPr sz="2900" spc="-75" dirty="0">
                <a:solidFill>
                  <a:srgbClr val="0085CC"/>
                </a:solidFill>
              </a:rPr>
              <a:t> </a:t>
            </a:r>
            <a:r>
              <a:rPr sz="2900" dirty="0">
                <a:solidFill>
                  <a:srgbClr val="0085CC"/>
                </a:solidFill>
              </a:rPr>
              <a:t>Management</a:t>
            </a:r>
            <a:r>
              <a:rPr sz="2900" spc="-75" dirty="0">
                <a:solidFill>
                  <a:srgbClr val="0085CC"/>
                </a:solidFill>
              </a:rPr>
              <a:t> </a:t>
            </a:r>
            <a:r>
              <a:rPr sz="2900" spc="-10" dirty="0">
                <a:solidFill>
                  <a:srgbClr val="0085CC"/>
                </a:solidFill>
              </a:rPr>
              <a:t>Theory</a:t>
            </a:r>
            <a:endParaRPr sz="2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8158" y="5447438"/>
            <a:ext cx="2115840" cy="14105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416" y="2842343"/>
            <a:ext cx="5782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76092"/>
                </a:solidFill>
              </a:rPr>
              <a:t>2.5</a:t>
            </a:r>
            <a:r>
              <a:rPr sz="2800" spc="10" dirty="0">
                <a:solidFill>
                  <a:srgbClr val="376092"/>
                </a:solidFill>
              </a:rPr>
              <a:t> </a:t>
            </a:r>
            <a:r>
              <a:rPr sz="2800" spc="-25" dirty="0">
                <a:solidFill>
                  <a:srgbClr val="376092"/>
                </a:solidFill>
              </a:rPr>
              <a:t>CONTEMPORARY</a:t>
            </a:r>
            <a:r>
              <a:rPr sz="2800" spc="-140" dirty="0">
                <a:solidFill>
                  <a:srgbClr val="376092"/>
                </a:solidFill>
              </a:rPr>
              <a:t> </a:t>
            </a:r>
            <a:r>
              <a:rPr sz="2800" spc="-10" dirty="0">
                <a:solidFill>
                  <a:srgbClr val="376092"/>
                </a:solidFill>
              </a:rPr>
              <a:t>APPROACH</a:t>
            </a:r>
            <a:endParaRPr sz="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61938" y="6442064"/>
            <a:ext cx="262572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Copyright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©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2016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Pearson</a:t>
            </a: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Educa9on,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98989"/>
                </a:solidFill>
                <a:latin typeface="Calibri"/>
                <a:cs typeface="Calibri"/>
              </a:rPr>
              <a:t>Ltd.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83622" y="1465988"/>
            <a:ext cx="8354695" cy="32562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4965" marR="5080" indent="-342900">
              <a:lnSpc>
                <a:spcPct val="99700"/>
              </a:lnSpc>
              <a:spcBef>
                <a:spcPts val="11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System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interrelated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interdependent </a:t>
            </a:r>
            <a:r>
              <a:rPr sz="2800" dirty="0">
                <a:latin typeface="Arial"/>
                <a:cs typeface="Arial"/>
              </a:rPr>
              <a:t>parts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arranged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manner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produces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unified whole.</a:t>
            </a:r>
            <a:endParaRPr sz="2800">
              <a:latin typeface="Arial"/>
              <a:cs typeface="Arial"/>
            </a:endParaRPr>
          </a:p>
          <a:p>
            <a:pPr marL="354965" marR="163830" indent="-342900">
              <a:lnSpc>
                <a:spcPct val="102000"/>
              </a:lnSpc>
              <a:spcBef>
                <a:spcPts val="54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Closed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system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influenced </a:t>
            </a:r>
            <a:r>
              <a:rPr sz="2800" dirty="0">
                <a:latin typeface="Arial"/>
                <a:cs typeface="Arial"/>
              </a:rPr>
              <a:t>by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interact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their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environment.</a:t>
            </a:r>
            <a:endParaRPr sz="2800">
              <a:latin typeface="Arial"/>
              <a:cs typeface="Arial"/>
            </a:endParaRPr>
          </a:p>
          <a:p>
            <a:pPr marL="354965" marR="579755" indent="-342900">
              <a:lnSpc>
                <a:spcPct val="102099"/>
              </a:lnSpc>
              <a:spcBef>
                <a:spcPts val="63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Open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system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interact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their environment</a:t>
            </a:r>
            <a:r>
              <a:rPr sz="3200" spc="-1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3085" rIns="0" bIns="0" rtlCol="0">
            <a:spAutoFit/>
          </a:bodyPr>
          <a:lstStyle/>
          <a:p>
            <a:pPr marL="7346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Contemporary</a:t>
            </a:r>
            <a:r>
              <a:rPr spc="-125" dirty="0"/>
              <a:t> </a:t>
            </a:r>
            <a:r>
              <a:rPr spc="-10" dirty="0"/>
              <a:t>Approaches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725" y="1684224"/>
            <a:ext cx="8966272" cy="402553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3085" rIns="0" bIns="0" rtlCol="0">
            <a:spAutoFit/>
          </a:bodyPr>
          <a:lstStyle/>
          <a:p>
            <a:pPr marL="734695">
              <a:lnSpc>
                <a:spcPct val="100000"/>
              </a:lnSpc>
              <a:spcBef>
                <a:spcPts val="100"/>
              </a:spcBef>
            </a:pPr>
            <a:r>
              <a:rPr dirty="0"/>
              <a:t>Organization</a:t>
            </a:r>
            <a:r>
              <a:rPr spc="-45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dirty="0"/>
              <a:t>Open</a:t>
            </a:r>
            <a:r>
              <a:rPr spc="-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61938" y="6442064"/>
            <a:ext cx="262572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Copyright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©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2016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Pearson</a:t>
            </a: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Educa9on,</a:t>
            </a:r>
            <a:r>
              <a:rPr sz="120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98989"/>
                </a:solidFill>
                <a:latin typeface="Calibri"/>
                <a:cs typeface="Calibri"/>
              </a:rPr>
              <a:t>Ltd.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Contigency</a:t>
            </a:r>
            <a:r>
              <a:rPr spc="-18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1927" rIns="0" bIns="0" rtlCol="0">
            <a:spAutoFit/>
          </a:bodyPr>
          <a:lstStyle/>
          <a:p>
            <a:pPr marL="38735" marR="5080">
              <a:lnSpc>
                <a:spcPts val="3100"/>
              </a:lnSpc>
              <a:spcBef>
                <a:spcPts val="219"/>
              </a:spcBef>
            </a:pPr>
            <a:r>
              <a:rPr b="1" dirty="0">
                <a:latin typeface="Arial"/>
                <a:cs typeface="Arial"/>
              </a:rPr>
              <a:t>Contingency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approach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management</a:t>
            </a:r>
            <a:r>
              <a:rPr spc="-80" dirty="0"/>
              <a:t> </a:t>
            </a:r>
            <a:r>
              <a:rPr dirty="0"/>
              <a:t>approach</a:t>
            </a:r>
            <a:r>
              <a:rPr spc="-75" dirty="0"/>
              <a:t> </a:t>
            </a:r>
            <a:r>
              <a:rPr spc="-20" dirty="0"/>
              <a:t>that </a:t>
            </a:r>
            <a:r>
              <a:rPr dirty="0"/>
              <a:t>recognizes</a:t>
            </a:r>
            <a:r>
              <a:rPr spc="-100" dirty="0"/>
              <a:t> </a:t>
            </a:r>
            <a:r>
              <a:rPr dirty="0"/>
              <a:t>organizations</a:t>
            </a:r>
            <a:r>
              <a:rPr spc="-100" dirty="0"/>
              <a:t> </a:t>
            </a:r>
            <a:r>
              <a:rPr dirty="0"/>
              <a:t>as</a:t>
            </a:r>
            <a:r>
              <a:rPr spc="-95" dirty="0"/>
              <a:t> </a:t>
            </a:r>
            <a:r>
              <a:rPr dirty="0"/>
              <a:t>different,</a:t>
            </a:r>
            <a:r>
              <a:rPr spc="-100" dirty="0"/>
              <a:t> </a:t>
            </a:r>
            <a:r>
              <a:rPr dirty="0"/>
              <a:t>which</a:t>
            </a:r>
            <a:r>
              <a:rPr spc="-95" dirty="0"/>
              <a:t> </a:t>
            </a:r>
            <a:r>
              <a:rPr dirty="0"/>
              <a:t>means</a:t>
            </a:r>
            <a:r>
              <a:rPr spc="-95" dirty="0"/>
              <a:t> </a:t>
            </a:r>
            <a:r>
              <a:rPr spc="-20" dirty="0"/>
              <a:t>they </a:t>
            </a:r>
            <a:r>
              <a:rPr dirty="0"/>
              <a:t>face</a:t>
            </a:r>
            <a:r>
              <a:rPr spc="-100" dirty="0"/>
              <a:t> </a:t>
            </a:r>
            <a:r>
              <a:rPr dirty="0"/>
              <a:t>different</a:t>
            </a:r>
            <a:r>
              <a:rPr spc="-105" dirty="0"/>
              <a:t> </a:t>
            </a:r>
            <a:r>
              <a:rPr dirty="0"/>
              <a:t>situations</a:t>
            </a:r>
            <a:r>
              <a:rPr spc="-100" dirty="0"/>
              <a:t> </a:t>
            </a:r>
            <a:r>
              <a:rPr dirty="0"/>
              <a:t>(contingencies)</a:t>
            </a:r>
            <a:r>
              <a:rPr spc="-105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require </a:t>
            </a:r>
            <a:r>
              <a:rPr dirty="0"/>
              <a:t>different</a:t>
            </a:r>
            <a:r>
              <a:rPr spc="-70" dirty="0"/>
              <a:t> </a:t>
            </a:r>
            <a:r>
              <a:rPr dirty="0"/>
              <a:t>ways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managing.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15" y="197979"/>
            <a:ext cx="449643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Contigency</a:t>
            </a:r>
            <a:r>
              <a:rPr spc="-18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414" y="916081"/>
            <a:ext cx="8208009" cy="38201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8630" marR="71120" indent="-455930">
              <a:lnSpc>
                <a:spcPts val="2800"/>
              </a:lnSpc>
              <a:spcBef>
                <a:spcPts val="260"/>
              </a:spcBef>
              <a:buFont typeface="Courier New"/>
              <a:buChar char="o"/>
              <a:tabLst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structures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control 	</a:t>
            </a:r>
            <a:r>
              <a:rPr sz="2400" dirty="0">
                <a:latin typeface="Arial"/>
                <a:cs typeface="Arial"/>
              </a:rPr>
              <a:t>systems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choose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depend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on—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contingent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  <a:p>
            <a:pPr marL="469900" marR="5080">
              <a:lnSpc>
                <a:spcPts val="2900"/>
              </a:lnSpc>
              <a:spcBef>
                <a:spcPts val="20"/>
              </a:spcBef>
            </a:pPr>
            <a:r>
              <a:rPr sz="2400" spc="-35" dirty="0">
                <a:latin typeface="Arial"/>
                <a:cs typeface="Arial"/>
              </a:rPr>
              <a:t>—</a:t>
            </a:r>
            <a:r>
              <a:rPr sz="2400" dirty="0">
                <a:latin typeface="Arial"/>
                <a:cs typeface="Arial"/>
              </a:rPr>
              <a:t>characteristics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external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environment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organization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operates.</a:t>
            </a:r>
            <a:endParaRPr sz="2400">
              <a:latin typeface="Arial"/>
              <a:cs typeface="Arial"/>
            </a:endParaRPr>
          </a:p>
          <a:p>
            <a:pPr marL="468630" marR="614680" indent="-455930">
              <a:lnSpc>
                <a:spcPct val="99400"/>
              </a:lnSpc>
              <a:spcBef>
                <a:spcPts val="509"/>
              </a:spcBef>
              <a:buFont typeface="Courier New"/>
              <a:buChar char="o"/>
              <a:tabLst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Assumes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best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manage.The 	</a:t>
            </a:r>
            <a:r>
              <a:rPr sz="2400" dirty="0">
                <a:latin typeface="Arial"/>
                <a:cs typeface="Arial"/>
              </a:rPr>
              <a:t>environment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impacts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managers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must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be 	</a:t>
            </a:r>
            <a:r>
              <a:rPr sz="2400" dirty="0">
                <a:latin typeface="Arial"/>
                <a:cs typeface="Arial"/>
              </a:rPr>
              <a:t>flexible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react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environmental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changes</a:t>
            </a:r>
            <a:endParaRPr sz="2400">
              <a:latin typeface="Arial"/>
              <a:cs typeface="Arial"/>
            </a:endParaRPr>
          </a:p>
          <a:p>
            <a:pPr marL="468630" marR="1189355" indent="-455930" algn="just">
              <a:lnSpc>
                <a:spcPct val="99400"/>
              </a:lnSpc>
              <a:spcBef>
                <a:spcPts val="615"/>
              </a:spcBef>
              <a:buFont typeface="Courier New"/>
              <a:buChar char="o"/>
              <a:tabLst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rapidly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changing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organizational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environments, 	</a:t>
            </a:r>
            <a:r>
              <a:rPr sz="2400" dirty="0">
                <a:latin typeface="Arial"/>
                <a:cs typeface="Arial"/>
              </a:rPr>
              <a:t>managers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coordinate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different 	</a:t>
            </a:r>
            <a:r>
              <a:rPr sz="2400" dirty="0">
                <a:latin typeface="Arial"/>
                <a:cs typeface="Arial"/>
              </a:rPr>
              <a:t>departments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respond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quickly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effectively.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15" y="197979"/>
            <a:ext cx="449643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Contigency</a:t>
            </a:r>
            <a:r>
              <a:rPr spc="-18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071559"/>
            <a:ext cx="57194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"/>
              <a:buChar char="►"/>
              <a:tabLst>
                <a:tab pos="469265" algn="l"/>
              </a:tabLst>
            </a:pPr>
            <a:r>
              <a:rPr sz="2800" b="1" dirty="0">
                <a:solidFill>
                  <a:srgbClr val="E46C0A"/>
                </a:solidFill>
                <a:latin typeface="Arial"/>
                <a:cs typeface="Arial"/>
              </a:rPr>
              <a:t>Popular</a:t>
            </a:r>
            <a:r>
              <a:rPr sz="2800" b="1" spc="-80" dirty="0">
                <a:solidFill>
                  <a:srgbClr val="E46C0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E46C0A"/>
                </a:solidFill>
                <a:latin typeface="Arial"/>
                <a:cs typeface="Arial"/>
              </a:rPr>
              <a:t>Contingency</a:t>
            </a:r>
            <a:r>
              <a:rPr sz="2800" b="1" spc="-80" dirty="0">
                <a:solidFill>
                  <a:srgbClr val="E46C0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E46C0A"/>
                </a:solidFill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89" y="1849535"/>
            <a:ext cx="8769565" cy="383645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7044" y="2316946"/>
            <a:ext cx="4894212" cy="29235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1277</Words>
  <Application>Microsoft Office PowerPoint</Application>
  <PresentationFormat>On-screen Show (4:3)</PresentationFormat>
  <Paragraphs>178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CHAPTER 2: EVOLUTION OF MANAGEMENT THINKING</vt:lpstr>
      <vt:lpstr>LEARNING OUTCOMES</vt:lpstr>
      <vt:lpstr>CONTENTS</vt:lpstr>
      <vt:lpstr>2.1 HISTORICAL PERSPECTIVES</vt:lpstr>
      <vt:lpstr>Why study History of Management Theories</vt:lpstr>
      <vt:lpstr>Major Approaches to Management</vt:lpstr>
      <vt:lpstr>Early Management</vt:lpstr>
      <vt:lpstr>Evolution of Modern Management</vt:lpstr>
      <vt:lpstr>The Evolution of MGM Theory</vt:lpstr>
      <vt:lpstr>2.2 CLASSICAL APPROACH OF MANAGEMENT</vt:lpstr>
      <vt:lpstr>Classical Approach</vt:lpstr>
      <vt:lpstr>Scientific Management</vt:lpstr>
      <vt:lpstr>Scientific Management</vt:lpstr>
      <vt:lpstr>Taylor’s Scientific Management Principles</vt:lpstr>
      <vt:lpstr>Problem with Taylor’s Scientific MGM Principles</vt:lpstr>
      <vt:lpstr>Scientific MGM Theory_Frank and Lillian Gilbreth</vt:lpstr>
      <vt:lpstr>Issues with scientific management theory</vt:lpstr>
      <vt:lpstr>General Administrative Theory</vt:lpstr>
      <vt:lpstr>General Administrative Theory_Henri Fayol</vt:lpstr>
      <vt:lpstr>General Administrative Theory_Henri Fayol</vt:lpstr>
      <vt:lpstr>General Administrative Theory_ Max Weber</vt:lpstr>
      <vt:lpstr>Characteristics of Weber’s Bureaucracy</vt:lpstr>
      <vt:lpstr>Issues with Administration theory</vt:lpstr>
      <vt:lpstr>2.3 BEHAVIORAL APPROACH</vt:lpstr>
      <vt:lpstr>Behavioral Approach</vt:lpstr>
      <vt:lpstr>Behavioral Approach</vt:lpstr>
      <vt:lpstr>Behavioral Approach_ The Hawthorne Studies</vt:lpstr>
      <vt:lpstr>Behavioral Approach_ The Hawthorne Studies</vt:lpstr>
      <vt:lpstr>Issues with Behavioral Management Theory</vt:lpstr>
      <vt:lpstr>2.4 QUANTITAVIE APPROACH</vt:lpstr>
      <vt:lpstr>Quantitative Approach</vt:lpstr>
      <vt:lpstr>Quantitative Approach _ TQM</vt:lpstr>
      <vt:lpstr>Issues with Quantitative Management Theory</vt:lpstr>
      <vt:lpstr>2.5 CONTEMPORARY APPROACH</vt:lpstr>
      <vt:lpstr>Contemporary Approaches</vt:lpstr>
      <vt:lpstr>Organization as an Open System</vt:lpstr>
      <vt:lpstr>Contigency Approach</vt:lpstr>
      <vt:lpstr>Contigency Approach</vt:lpstr>
      <vt:lpstr>Contigency Approach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Tung Le</dc:creator>
  <cp:lastModifiedBy>Tung Le</cp:lastModifiedBy>
  <cp:revision>2</cp:revision>
  <dcterms:created xsi:type="dcterms:W3CDTF">2024-06-23T14:44:44Z</dcterms:created>
  <dcterms:modified xsi:type="dcterms:W3CDTF">2024-06-23T15:52:08Z</dcterms:modified>
</cp:coreProperties>
</file>