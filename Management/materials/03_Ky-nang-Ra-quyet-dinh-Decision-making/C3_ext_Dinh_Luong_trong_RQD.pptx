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y="6858000" cx="9144000"/>
  <p:notesSz cx="7315200" cy="96012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70" roundtripDataSignature="AMtx7mhk55MQ+yXjhxRhM8decwUBytLl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302C292-000E-4312-823E-40D575495FEE}">
  <a:tblStyle styleId="{9302C292-000E-4312-823E-40D575495FE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0" Type="http://customschemas.google.com/relationships/presentationmetadata" Target="meta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70238" cy="479425"/>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143375" y="0"/>
            <a:ext cx="3170238" cy="479425"/>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31838" y="4560888"/>
            <a:ext cx="5851525" cy="4319587"/>
          </a:xfrm>
          <a:prstGeom prst="rect">
            <a:avLst/>
          </a:prstGeom>
          <a:noFill/>
          <a:ln>
            <a:noFill/>
          </a:ln>
        </p:spPr>
        <p:txBody>
          <a:bodyPr anchorCtr="0" anchor="t" bIns="48325" lIns="96650" spcFirstLastPara="1" rIns="96650" wrap="square" tIns="48325">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20188"/>
            <a:ext cx="3170238" cy="479425"/>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143375" y="9120188"/>
            <a:ext cx="3170238" cy="479425"/>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1: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11" name="Google Shape;111;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2: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17" name="Google Shape;117;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24" name="Google Shape;124;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4: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31" name="Google Shape;131;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5: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38" name="Google Shape;138;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6: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45" name="Google Shape;145;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52" name="Google Shape;152;p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59" name="Google Shape;159;p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68" name="Google Shape;168;p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0: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77" name="Google Shape;177;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84" name="Google Shape;184;p1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2: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91" name="Google Shape;191;p1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199" name="Google Shape;199;p1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4: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06" name="Google Shape;206;p1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5: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14" name="Google Shape;214;p1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6: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24" name="Google Shape;224;p1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7: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32" name="Google Shape;232;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8: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41" name="Google Shape;241;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9: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51" name="Google Shape;251;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0: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60" name="Google Shape;260;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1: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68" name="Google Shape;268;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2: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76" name="Google Shape;276;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3: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83" name="Google Shape;283;p2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4: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291" name="Google Shape;291;p2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5: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302" name="Google Shape;302;p2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6: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309" name="Google Shape;309;p2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27: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317" name="Google Shape;317;p2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8: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330" name="Google Shape;330;p2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29: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340" name="Google Shape;340;p2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0: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347" name="Google Shape;347;p3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31: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355" name="Google Shape;355;p3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2: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363" name="Google Shape;363;p3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3: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372" name="Google Shape;372;p3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34: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379" name="Google Shape;379;p3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35: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388" name="Google Shape;388;p3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36: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395" name="Google Shape;395;p3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7: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402" name="Google Shape;402;p3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8: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413" name="Google Shape;413;p3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9: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423" name="Google Shape;423;p3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40: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433" name="Google Shape;433;p4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41: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440" name="Google Shape;440;p4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2: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452" name="Google Shape;452;p4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43: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459" name="Google Shape;459;p4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44: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531" name="Google Shape;531;p4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p45: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538" name="Google Shape;538;p4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p46: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633" name="Google Shape;633;p4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47: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640" name="Google Shape;640;p4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48: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650" name="Google Shape;650;p4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49: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660" name="Google Shape;660;p4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50: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667" name="Google Shape;667;p5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p51: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676" name="Google Shape;676;p5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52: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683" name="Google Shape;683;p5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53: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691" name="Google Shape;691;p5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54: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705" name="Google Shape;705;p5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55: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712" name="Google Shape;712;p5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p56: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722" name="Google Shape;722;p5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57: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729" name="Google Shape;729;p5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p58: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736" name="Google Shape;736;p5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p59: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744" name="Google Shape;744;p5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p60: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751" name="Google Shape;751;p6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61: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761" name="Google Shape;761;p6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62: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771" name="Google Shape;771;p6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p63:notes"/>
          <p:cNvSpPr txBox="1"/>
          <p:nvPr>
            <p:ph idx="1" type="body"/>
          </p:nvPr>
        </p:nvSpPr>
        <p:spPr>
          <a:xfrm>
            <a:off x="731838" y="4560888"/>
            <a:ext cx="5851525" cy="4319587"/>
          </a:xfrm>
          <a:prstGeom prst="rect">
            <a:avLst/>
          </a:prstGeom>
        </p:spPr>
        <p:txBody>
          <a:bodyPr anchorCtr="0" anchor="t" bIns="48325" lIns="96650" spcFirstLastPara="1" rIns="96650" wrap="square" tIns="48325">
            <a:noAutofit/>
          </a:bodyPr>
          <a:lstStyle/>
          <a:p>
            <a:pPr indent="0" lvl="0" marL="0" rtl="0" algn="l">
              <a:spcBef>
                <a:spcPts val="360"/>
              </a:spcBef>
              <a:spcAft>
                <a:spcPts val="0"/>
              </a:spcAft>
              <a:buNone/>
            </a:pPr>
            <a:r>
              <a:t/>
            </a:r>
            <a:endParaRPr/>
          </a:p>
        </p:txBody>
      </p:sp>
      <p:sp>
        <p:nvSpPr>
          <p:cNvPr id="779" name="Google Shape;779;p6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8" name="Shape 18"/>
        <p:cNvGrpSpPr/>
        <p:nvPr/>
      </p:nvGrpSpPr>
      <p:grpSpPr>
        <a:xfrm>
          <a:off x="0" y="0"/>
          <a:ext cx="0" cy="0"/>
          <a:chOff x="0" y="0"/>
          <a:chExt cx="0" cy="0"/>
        </a:xfrm>
      </p:grpSpPr>
      <p:sp>
        <p:nvSpPr>
          <p:cNvPr id="19" name="Google Shape;19;p65"/>
          <p:cNvSpPr/>
          <p:nvPr/>
        </p:nvSpPr>
        <p:spPr>
          <a:xfrm>
            <a:off x="228600" y="381000"/>
            <a:ext cx="8686800" cy="5638800"/>
          </a:xfrm>
          <a:prstGeom prst="roundRect">
            <a:avLst>
              <a:gd fmla="val 7912" name="adj"/>
            </a:avLst>
          </a:prstGeom>
          <a:solidFill>
            <a:schemeClr val="folHlink"/>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0" name="Google Shape;20;p65"/>
          <p:cNvSpPr/>
          <p:nvPr/>
        </p:nvSpPr>
        <p:spPr>
          <a:xfrm>
            <a:off x="327025" y="488950"/>
            <a:ext cx="8435975" cy="4768850"/>
          </a:xfrm>
          <a:prstGeom prst="roundRect">
            <a:avLst>
              <a:gd fmla="val 7310" name="adj"/>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1" name="Google Shape;21;p65"/>
          <p:cNvSpPr/>
          <p:nvPr/>
        </p:nvSpPr>
        <p:spPr>
          <a:xfrm>
            <a:off x="1371600" y="3338513"/>
            <a:ext cx="6400800" cy="2286000"/>
          </a:xfrm>
          <a:prstGeom prst="roundRect">
            <a:avLst>
              <a:gd fmla="val 16667" name="adj"/>
            </a:avLst>
          </a:prstGeom>
          <a:solidFill>
            <a:schemeClr val="lt1"/>
          </a:solidFill>
          <a:ln cap="flat" cmpd="sng" w="50800">
            <a:solidFill>
              <a:schemeClr val="l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22" name="Google Shape;22;p65"/>
          <p:cNvSpPr txBox="1"/>
          <p:nvPr>
            <p:ph type="ctrTitle"/>
          </p:nvPr>
        </p:nvSpPr>
        <p:spPr>
          <a:xfrm>
            <a:off x="685800" y="857250"/>
            <a:ext cx="7772400" cy="2266950"/>
          </a:xfrm>
          <a:prstGeom prst="rect">
            <a:avLst/>
          </a:prstGeom>
          <a:noFill/>
          <a:ln>
            <a:noFill/>
          </a:ln>
        </p:spPr>
        <p:txBody>
          <a:bodyPr anchorCtr="1" anchor="ctr" bIns="45700" lIns="91425" spcFirstLastPara="1" rIns="91425" wrap="square" tIns="45700">
            <a:noAutofit/>
          </a:bodyPr>
          <a:lstStyle>
            <a:lvl1pPr lvl="0" algn="ctr">
              <a:spcBef>
                <a:spcPts val="0"/>
              </a:spcBef>
              <a:spcAft>
                <a:spcPts val="0"/>
              </a:spcAft>
              <a:buSzPts val="1400"/>
              <a:buNone/>
              <a:defRPr sz="41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5"/>
          <p:cNvSpPr txBox="1"/>
          <p:nvPr>
            <p:ph idx="1" type="subTitle"/>
          </p:nvPr>
        </p:nvSpPr>
        <p:spPr>
          <a:xfrm>
            <a:off x="1752600" y="3567113"/>
            <a:ext cx="5410200" cy="1905000"/>
          </a:xfrm>
          <a:prstGeom prst="rect">
            <a:avLst/>
          </a:prstGeom>
          <a:noFill/>
          <a:ln>
            <a:noFill/>
          </a:ln>
        </p:spPr>
        <p:txBody>
          <a:bodyPr anchorCtr="0" anchor="ctr" bIns="45700" lIns="91425" spcFirstLastPara="1" rIns="91425" wrap="square" tIns="45700">
            <a:noAutofit/>
          </a:bodyPr>
          <a:lstStyle>
            <a:lvl1pPr lvl="0" algn="ctr">
              <a:spcBef>
                <a:spcPts val="660"/>
              </a:spcBef>
              <a:spcAft>
                <a:spcPts val="0"/>
              </a:spcAft>
              <a:buSzPts val="2310"/>
              <a:buFont typeface="Noto Sans Symbols"/>
              <a:buNone/>
              <a:defRPr b="1" sz="3300"/>
            </a:lvl1pPr>
            <a:lvl2pPr lvl="1" algn="just">
              <a:spcBef>
                <a:spcPts val="360"/>
              </a:spcBef>
              <a:spcAft>
                <a:spcPts val="0"/>
              </a:spcAft>
              <a:buSzPts val="2700"/>
              <a:buChar char="•"/>
              <a:defRPr/>
            </a:lvl2pPr>
            <a:lvl3pPr lvl="2" algn="just">
              <a:spcBef>
                <a:spcPts val="360"/>
              </a:spcBef>
              <a:spcAft>
                <a:spcPts val="0"/>
              </a:spcAft>
              <a:buSzPts val="2700"/>
              <a:buChar char="•"/>
              <a:defRPr/>
            </a:lvl3pPr>
            <a:lvl4pPr lvl="3" algn="just">
              <a:spcBef>
                <a:spcPts val="360"/>
              </a:spcBef>
              <a:spcAft>
                <a:spcPts val="0"/>
              </a:spcAft>
              <a:buSzPts val="2700"/>
              <a:buChar char="•"/>
              <a:defRPr/>
            </a:lvl4pPr>
            <a:lvl5pPr lvl="4" algn="just">
              <a:spcBef>
                <a:spcPts val="360"/>
              </a:spcBef>
              <a:spcAft>
                <a:spcPts val="0"/>
              </a:spcAft>
              <a:buSzPts val="2700"/>
              <a:buChar char="•"/>
              <a:defRPr/>
            </a:lvl5pPr>
            <a:lvl6pPr lvl="5" algn="just">
              <a:spcBef>
                <a:spcPts val="360"/>
              </a:spcBef>
              <a:spcAft>
                <a:spcPts val="0"/>
              </a:spcAft>
              <a:buSzPts val="2700"/>
              <a:buChar char="•"/>
              <a:defRPr/>
            </a:lvl6pPr>
            <a:lvl7pPr lvl="6" algn="just">
              <a:spcBef>
                <a:spcPts val="360"/>
              </a:spcBef>
              <a:spcAft>
                <a:spcPts val="0"/>
              </a:spcAft>
              <a:buSzPts val="2700"/>
              <a:buChar char="•"/>
              <a:defRPr/>
            </a:lvl7pPr>
            <a:lvl8pPr lvl="7" algn="just">
              <a:spcBef>
                <a:spcPts val="360"/>
              </a:spcBef>
              <a:spcAft>
                <a:spcPts val="0"/>
              </a:spcAft>
              <a:buSzPts val="2700"/>
              <a:buChar char="•"/>
              <a:defRPr/>
            </a:lvl8pPr>
            <a:lvl9pPr lvl="8" algn="just">
              <a:spcBef>
                <a:spcPts val="360"/>
              </a:spcBef>
              <a:spcAft>
                <a:spcPts val="0"/>
              </a:spcAft>
              <a:buSzPts val="2700"/>
              <a:buChar char="•"/>
              <a:defRPr/>
            </a:lvl9pPr>
          </a:lstStyle>
          <a:p/>
        </p:txBody>
      </p:sp>
      <p:sp>
        <p:nvSpPr>
          <p:cNvPr id="24" name="Google Shape;24;p65"/>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65"/>
          <p:cNvSpPr txBox="1"/>
          <p:nvPr>
            <p:ph idx="11" type="ftr"/>
          </p:nvPr>
        </p:nvSpPr>
        <p:spPr>
          <a:xfrm>
            <a:off x="3352800" y="6391275"/>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65"/>
          <p:cNvSpPr txBox="1"/>
          <p:nvPr>
            <p:ph idx="12" type="sldNum"/>
          </p:nvPr>
        </p:nvSpPr>
        <p:spPr>
          <a:xfrm>
            <a:off x="6858000" y="6391275"/>
            <a:ext cx="1600200" cy="457200"/>
          </a:xfrm>
          <a:prstGeom prst="rect">
            <a:avLst/>
          </a:prstGeom>
          <a:noFill/>
          <a:ln>
            <a:noFill/>
          </a:ln>
        </p:spPr>
        <p:txBody>
          <a:bodyPr anchorCtr="0" anchor="t" bIns="45700" lIns="91425" spcFirstLastPara="1" rIns="91425" wrap="square" tIns="45700">
            <a:noAutofit/>
          </a:bodyPr>
          <a:lstStyle>
            <a:lvl1pPr indent="0" lvl="0" mar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push dir="r"/>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6"/>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6"/>
          <p:cNvSpPr txBox="1"/>
          <p:nvPr>
            <p:ph idx="1" type="body"/>
          </p:nvPr>
        </p:nvSpPr>
        <p:spPr>
          <a:xfrm>
            <a:off x="762000" y="1905000"/>
            <a:ext cx="7696200" cy="4038600"/>
          </a:xfrm>
          <a:prstGeom prst="rect">
            <a:avLst/>
          </a:prstGeom>
          <a:noFill/>
          <a:ln>
            <a:noFill/>
          </a:ln>
        </p:spPr>
        <p:txBody>
          <a:bodyPr anchorCtr="0" anchor="t" bIns="45700" lIns="91425" spcFirstLastPara="1" rIns="91425" wrap="square" tIns="45700">
            <a:noAutofit/>
          </a:bodyPr>
          <a:lstStyle>
            <a:lvl1pPr indent="-308610" lvl="0" marL="457200" algn="just">
              <a:spcBef>
                <a:spcPts val="360"/>
              </a:spcBef>
              <a:spcAft>
                <a:spcPts val="0"/>
              </a:spcAft>
              <a:buSzPts val="1260"/>
              <a:buChar char="●"/>
              <a:defRPr/>
            </a:lvl1pPr>
            <a:lvl2pPr indent="-400050" lvl="1" marL="914400" algn="just">
              <a:spcBef>
                <a:spcPts val="360"/>
              </a:spcBef>
              <a:spcAft>
                <a:spcPts val="0"/>
              </a:spcAft>
              <a:buSzPts val="2700"/>
              <a:buChar char="•"/>
              <a:defRPr/>
            </a:lvl2pPr>
            <a:lvl3pPr indent="-400050" lvl="2" marL="1371600" algn="just">
              <a:spcBef>
                <a:spcPts val="360"/>
              </a:spcBef>
              <a:spcAft>
                <a:spcPts val="0"/>
              </a:spcAft>
              <a:buSzPts val="2700"/>
              <a:buChar char="•"/>
              <a:defRPr/>
            </a:lvl3pPr>
            <a:lvl4pPr indent="-400050" lvl="3" marL="1828800" algn="just">
              <a:spcBef>
                <a:spcPts val="360"/>
              </a:spcBef>
              <a:spcAft>
                <a:spcPts val="0"/>
              </a:spcAft>
              <a:buSzPts val="2700"/>
              <a:buChar char="•"/>
              <a:defRPr/>
            </a:lvl4pPr>
            <a:lvl5pPr indent="-400050" lvl="4" marL="2286000" algn="just">
              <a:spcBef>
                <a:spcPts val="360"/>
              </a:spcBef>
              <a:spcAft>
                <a:spcPts val="0"/>
              </a:spcAft>
              <a:buSzPts val="2700"/>
              <a:buChar char="•"/>
              <a:defRPr/>
            </a:lvl5pPr>
            <a:lvl6pPr indent="-400050" lvl="5" marL="2743200" algn="just">
              <a:spcBef>
                <a:spcPts val="360"/>
              </a:spcBef>
              <a:spcAft>
                <a:spcPts val="0"/>
              </a:spcAft>
              <a:buSzPts val="2700"/>
              <a:buChar char="•"/>
              <a:defRPr/>
            </a:lvl6pPr>
            <a:lvl7pPr indent="-400050" lvl="6" marL="3200400" algn="just">
              <a:spcBef>
                <a:spcPts val="360"/>
              </a:spcBef>
              <a:spcAft>
                <a:spcPts val="0"/>
              </a:spcAft>
              <a:buSzPts val="2700"/>
              <a:buChar char="•"/>
              <a:defRPr/>
            </a:lvl7pPr>
            <a:lvl8pPr indent="-400050" lvl="7" marL="3657600" algn="just">
              <a:spcBef>
                <a:spcPts val="360"/>
              </a:spcBef>
              <a:spcAft>
                <a:spcPts val="0"/>
              </a:spcAft>
              <a:buSzPts val="2700"/>
              <a:buChar char="•"/>
              <a:defRPr/>
            </a:lvl8pPr>
            <a:lvl9pPr indent="-400050" lvl="8" marL="4114800" algn="just">
              <a:spcBef>
                <a:spcPts val="360"/>
              </a:spcBef>
              <a:spcAft>
                <a:spcPts val="0"/>
              </a:spcAft>
              <a:buSzPts val="2700"/>
              <a:buChar char="•"/>
              <a:defRPr/>
            </a:lvl9pPr>
          </a:lstStyle>
          <a:p/>
        </p:txBody>
      </p:sp>
      <p:sp>
        <p:nvSpPr>
          <p:cNvPr id="30" name="Google Shape;30;p66"/>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6"/>
          <p:cNvSpPr txBox="1"/>
          <p:nvPr>
            <p:ph idx="11" type="ftr"/>
          </p:nvPr>
        </p:nvSpPr>
        <p:spPr>
          <a:xfrm>
            <a:off x="3352800" y="6403975"/>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6"/>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lvl1pPr indent="0" lvl="0" mar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push dir="r"/>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67"/>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7"/>
          <p:cNvSpPr txBox="1"/>
          <p:nvPr>
            <p:ph idx="11" type="ftr"/>
          </p:nvPr>
        </p:nvSpPr>
        <p:spPr>
          <a:xfrm>
            <a:off x="3352800" y="6403975"/>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67"/>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lvl1pPr indent="0" lvl="0" mar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push dir="r"/>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 name="Shape 37"/>
        <p:cNvGrpSpPr/>
        <p:nvPr/>
      </p:nvGrpSpPr>
      <p:grpSpPr>
        <a:xfrm>
          <a:off x="0" y="0"/>
          <a:ext cx="0" cy="0"/>
          <a:chOff x="0" y="0"/>
          <a:chExt cx="0" cy="0"/>
        </a:xfrm>
      </p:grpSpPr>
      <p:sp>
        <p:nvSpPr>
          <p:cNvPr id="38" name="Google Shape;38;p6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just">
              <a:spcBef>
                <a:spcPts val="400"/>
              </a:spcBef>
              <a:spcAft>
                <a:spcPts val="0"/>
              </a:spcAft>
              <a:buSzPts val="1400"/>
              <a:buNone/>
              <a:defRPr sz="2000"/>
            </a:lvl1pPr>
            <a:lvl2pPr indent="-228600" lvl="1" marL="914400" algn="just">
              <a:spcBef>
                <a:spcPts val="360"/>
              </a:spcBef>
              <a:spcAft>
                <a:spcPts val="0"/>
              </a:spcAft>
              <a:buSzPts val="2700"/>
              <a:buFont typeface="Times New Roman"/>
              <a:buNone/>
              <a:defRPr sz="1800"/>
            </a:lvl2pPr>
            <a:lvl3pPr indent="-228600" lvl="2" marL="1371600" algn="just">
              <a:spcBef>
                <a:spcPts val="320"/>
              </a:spcBef>
              <a:spcAft>
                <a:spcPts val="0"/>
              </a:spcAft>
              <a:buSzPts val="2400"/>
              <a:buFont typeface="Times New Roman"/>
              <a:buNone/>
              <a:defRPr sz="1600"/>
            </a:lvl3pPr>
            <a:lvl4pPr indent="-228600" lvl="3" marL="1828800" algn="just">
              <a:spcBef>
                <a:spcPts val="280"/>
              </a:spcBef>
              <a:spcAft>
                <a:spcPts val="0"/>
              </a:spcAft>
              <a:buSzPts val="2100"/>
              <a:buFont typeface="Times New Roman"/>
              <a:buNone/>
              <a:defRPr sz="1400"/>
            </a:lvl4pPr>
            <a:lvl5pPr indent="-228600" lvl="4" marL="2286000" algn="just">
              <a:spcBef>
                <a:spcPts val="280"/>
              </a:spcBef>
              <a:spcAft>
                <a:spcPts val="0"/>
              </a:spcAft>
              <a:buSzPts val="2100"/>
              <a:buFont typeface="Times New Roman"/>
              <a:buNone/>
              <a:defRPr sz="1400"/>
            </a:lvl5pPr>
            <a:lvl6pPr indent="-228600" lvl="5" marL="2743200" algn="just">
              <a:spcBef>
                <a:spcPts val="280"/>
              </a:spcBef>
              <a:spcAft>
                <a:spcPts val="0"/>
              </a:spcAft>
              <a:buSzPts val="2100"/>
              <a:buFont typeface="Times New Roman"/>
              <a:buNone/>
              <a:defRPr sz="1400"/>
            </a:lvl6pPr>
            <a:lvl7pPr indent="-228600" lvl="6" marL="3200400" algn="just">
              <a:spcBef>
                <a:spcPts val="280"/>
              </a:spcBef>
              <a:spcAft>
                <a:spcPts val="0"/>
              </a:spcAft>
              <a:buSzPts val="2100"/>
              <a:buFont typeface="Times New Roman"/>
              <a:buNone/>
              <a:defRPr sz="1400"/>
            </a:lvl7pPr>
            <a:lvl8pPr indent="-228600" lvl="7" marL="3657600" algn="just">
              <a:spcBef>
                <a:spcPts val="280"/>
              </a:spcBef>
              <a:spcAft>
                <a:spcPts val="0"/>
              </a:spcAft>
              <a:buSzPts val="2100"/>
              <a:buFont typeface="Times New Roman"/>
              <a:buNone/>
              <a:defRPr sz="1400"/>
            </a:lvl8pPr>
            <a:lvl9pPr indent="-228600" lvl="8" marL="4114800" algn="just">
              <a:spcBef>
                <a:spcPts val="280"/>
              </a:spcBef>
              <a:spcAft>
                <a:spcPts val="0"/>
              </a:spcAft>
              <a:buSzPts val="2100"/>
              <a:buFont typeface="Times New Roman"/>
              <a:buNone/>
              <a:defRPr sz="1400"/>
            </a:lvl9pPr>
          </a:lstStyle>
          <a:p/>
        </p:txBody>
      </p:sp>
      <p:sp>
        <p:nvSpPr>
          <p:cNvPr id="40" name="Google Shape;40;p68"/>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8"/>
          <p:cNvSpPr txBox="1"/>
          <p:nvPr>
            <p:ph idx="11" type="ftr"/>
          </p:nvPr>
        </p:nvSpPr>
        <p:spPr>
          <a:xfrm>
            <a:off x="3352800" y="6403975"/>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8"/>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lvl1pPr indent="0" lvl="0" mar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push dir="r"/>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3" name="Shape 43"/>
        <p:cNvGrpSpPr/>
        <p:nvPr/>
      </p:nvGrpSpPr>
      <p:grpSpPr>
        <a:xfrm>
          <a:off x="0" y="0"/>
          <a:ext cx="0" cy="0"/>
          <a:chOff x="0" y="0"/>
          <a:chExt cx="0" cy="0"/>
        </a:xfrm>
      </p:grpSpPr>
      <p:sp>
        <p:nvSpPr>
          <p:cNvPr id="44" name="Google Shape;44;p69"/>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69"/>
          <p:cNvSpPr txBox="1"/>
          <p:nvPr>
            <p:ph idx="1" type="body"/>
          </p:nvPr>
        </p:nvSpPr>
        <p:spPr>
          <a:xfrm>
            <a:off x="762000" y="1905000"/>
            <a:ext cx="3771900" cy="4038600"/>
          </a:xfrm>
          <a:prstGeom prst="rect">
            <a:avLst/>
          </a:prstGeom>
          <a:noFill/>
          <a:ln>
            <a:noFill/>
          </a:ln>
        </p:spPr>
        <p:txBody>
          <a:bodyPr anchorCtr="0" anchor="t" bIns="45700" lIns="91425" spcFirstLastPara="1" rIns="91425" wrap="square" tIns="45700">
            <a:noAutofit/>
          </a:bodyPr>
          <a:lstStyle>
            <a:lvl1pPr indent="-353060" lvl="0" marL="457200" algn="just">
              <a:spcBef>
                <a:spcPts val="560"/>
              </a:spcBef>
              <a:spcAft>
                <a:spcPts val="0"/>
              </a:spcAft>
              <a:buSzPts val="1960"/>
              <a:buChar char="●"/>
              <a:defRPr sz="2800"/>
            </a:lvl1pPr>
            <a:lvl2pPr indent="-457200" lvl="1" marL="914400" algn="just">
              <a:spcBef>
                <a:spcPts val="480"/>
              </a:spcBef>
              <a:spcAft>
                <a:spcPts val="0"/>
              </a:spcAft>
              <a:buSzPts val="3600"/>
              <a:buFont typeface="Times New Roman"/>
              <a:buChar char="•"/>
              <a:defRPr sz="2400"/>
            </a:lvl2pPr>
            <a:lvl3pPr indent="-419100" lvl="2" marL="1371600" algn="just">
              <a:spcBef>
                <a:spcPts val="400"/>
              </a:spcBef>
              <a:spcAft>
                <a:spcPts val="0"/>
              </a:spcAft>
              <a:buSzPts val="3000"/>
              <a:buFont typeface="Times New Roman"/>
              <a:buChar char="•"/>
              <a:defRPr sz="2000"/>
            </a:lvl3pPr>
            <a:lvl4pPr indent="-400050" lvl="3" marL="1828800" algn="just">
              <a:spcBef>
                <a:spcPts val="360"/>
              </a:spcBef>
              <a:spcAft>
                <a:spcPts val="0"/>
              </a:spcAft>
              <a:buSzPts val="2700"/>
              <a:buFont typeface="Times New Roman"/>
              <a:buChar char="•"/>
              <a:defRPr sz="1800"/>
            </a:lvl4pPr>
            <a:lvl5pPr indent="-400050" lvl="4" marL="2286000" algn="just">
              <a:spcBef>
                <a:spcPts val="360"/>
              </a:spcBef>
              <a:spcAft>
                <a:spcPts val="0"/>
              </a:spcAft>
              <a:buSzPts val="2700"/>
              <a:buFont typeface="Times New Roman"/>
              <a:buChar char="•"/>
              <a:defRPr sz="1800"/>
            </a:lvl5pPr>
            <a:lvl6pPr indent="-400050" lvl="5" marL="2743200" algn="just">
              <a:spcBef>
                <a:spcPts val="360"/>
              </a:spcBef>
              <a:spcAft>
                <a:spcPts val="0"/>
              </a:spcAft>
              <a:buSzPts val="2700"/>
              <a:buFont typeface="Times New Roman"/>
              <a:buChar char="•"/>
              <a:defRPr sz="1800"/>
            </a:lvl6pPr>
            <a:lvl7pPr indent="-400050" lvl="6" marL="3200400" algn="just">
              <a:spcBef>
                <a:spcPts val="360"/>
              </a:spcBef>
              <a:spcAft>
                <a:spcPts val="0"/>
              </a:spcAft>
              <a:buSzPts val="2700"/>
              <a:buFont typeface="Times New Roman"/>
              <a:buChar char="•"/>
              <a:defRPr sz="1800"/>
            </a:lvl7pPr>
            <a:lvl8pPr indent="-400050" lvl="7" marL="3657600" algn="just">
              <a:spcBef>
                <a:spcPts val="360"/>
              </a:spcBef>
              <a:spcAft>
                <a:spcPts val="0"/>
              </a:spcAft>
              <a:buSzPts val="2700"/>
              <a:buFont typeface="Times New Roman"/>
              <a:buChar char="•"/>
              <a:defRPr sz="1800"/>
            </a:lvl8pPr>
            <a:lvl9pPr indent="-400050" lvl="8" marL="4114800" algn="just">
              <a:spcBef>
                <a:spcPts val="360"/>
              </a:spcBef>
              <a:spcAft>
                <a:spcPts val="0"/>
              </a:spcAft>
              <a:buSzPts val="2700"/>
              <a:buFont typeface="Times New Roman"/>
              <a:buChar char="•"/>
              <a:defRPr sz="1800"/>
            </a:lvl9pPr>
          </a:lstStyle>
          <a:p/>
        </p:txBody>
      </p:sp>
      <p:sp>
        <p:nvSpPr>
          <p:cNvPr id="46" name="Google Shape;46;p69"/>
          <p:cNvSpPr txBox="1"/>
          <p:nvPr>
            <p:ph idx="2" type="body"/>
          </p:nvPr>
        </p:nvSpPr>
        <p:spPr>
          <a:xfrm>
            <a:off x="4686300" y="1905000"/>
            <a:ext cx="3771900" cy="4038600"/>
          </a:xfrm>
          <a:prstGeom prst="rect">
            <a:avLst/>
          </a:prstGeom>
          <a:noFill/>
          <a:ln>
            <a:noFill/>
          </a:ln>
        </p:spPr>
        <p:txBody>
          <a:bodyPr anchorCtr="0" anchor="t" bIns="45700" lIns="91425" spcFirstLastPara="1" rIns="91425" wrap="square" tIns="45700">
            <a:noAutofit/>
          </a:bodyPr>
          <a:lstStyle>
            <a:lvl1pPr indent="-353060" lvl="0" marL="457200" algn="just">
              <a:spcBef>
                <a:spcPts val="560"/>
              </a:spcBef>
              <a:spcAft>
                <a:spcPts val="0"/>
              </a:spcAft>
              <a:buSzPts val="1960"/>
              <a:buChar char="●"/>
              <a:defRPr sz="2800"/>
            </a:lvl1pPr>
            <a:lvl2pPr indent="-457200" lvl="1" marL="914400" algn="just">
              <a:spcBef>
                <a:spcPts val="480"/>
              </a:spcBef>
              <a:spcAft>
                <a:spcPts val="0"/>
              </a:spcAft>
              <a:buSzPts val="3600"/>
              <a:buFont typeface="Times New Roman"/>
              <a:buChar char="•"/>
              <a:defRPr sz="2400"/>
            </a:lvl2pPr>
            <a:lvl3pPr indent="-419100" lvl="2" marL="1371600" algn="just">
              <a:spcBef>
                <a:spcPts val="400"/>
              </a:spcBef>
              <a:spcAft>
                <a:spcPts val="0"/>
              </a:spcAft>
              <a:buSzPts val="3000"/>
              <a:buFont typeface="Times New Roman"/>
              <a:buChar char="•"/>
              <a:defRPr sz="2000"/>
            </a:lvl3pPr>
            <a:lvl4pPr indent="-400050" lvl="3" marL="1828800" algn="just">
              <a:spcBef>
                <a:spcPts val="360"/>
              </a:spcBef>
              <a:spcAft>
                <a:spcPts val="0"/>
              </a:spcAft>
              <a:buSzPts val="2700"/>
              <a:buFont typeface="Times New Roman"/>
              <a:buChar char="•"/>
              <a:defRPr sz="1800"/>
            </a:lvl4pPr>
            <a:lvl5pPr indent="-400050" lvl="4" marL="2286000" algn="just">
              <a:spcBef>
                <a:spcPts val="360"/>
              </a:spcBef>
              <a:spcAft>
                <a:spcPts val="0"/>
              </a:spcAft>
              <a:buSzPts val="2700"/>
              <a:buFont typeface="Times New Roman"/>
              <a:buChar char="•"/>
              <a:defRPr sz="1800"/>
            </a:lvl5pPr>
            <a:lvl6pPr indent="-400050" lvl="5" marL="2743200" algn="just">
              <a:spcBef>
                <a:spcPts val="360"/>
              </a:spcBef>
              <a:spcAft>
                <a:spcPts val="0"/>
              </a:spcAft>
              <a:buSzPts val="2700"/>
              <a:buFont typeface="Times New Roman"/>
              <a:buChar char="•"/>
              <a:defRPr sz="1800"/>
            </a:lvl6pPr>
            <a:lvl7pPr indent="-400050" lvl="6" marL="3200400" algn="just">
              <a:spcBef>
                <a:spcPts val="360"/>
              </a:spcBef>
              <a:spcAft>
                <a:spcPts val="0"/>
              </a:spcAft>
              <a:buSzPts val="2700"/>
              <a:buFont typeface="Times New Roman"/>
              <a:buChar char="•"/>
              <a:defRPr sz="1800"/>
            </a:lvl7pPr>
            <a:lvl8pPr indent="-400050" lvl="7" marL="3657600" algn="just">
              <a:spcBef>
                <a:spcPts val="360"/>
              </a:spcBef>
              <a:spcAft>
                <a:spcPts val="0"/>
              </a:spcAft>
              <a:buSzPts val="2700"/>
              <a:buFont typeface="Times New Roman"/>
              <a:buChar char="•"/>
              <a:defRPr sz="1800"/>
            </a:lvl8pPr>
            <a:lvl9pPr indent="-400050" lvl="8" marL="4114800" algn="just">
              <a:spcBef>
                <a:spcPts val="360"/>
              </a:spcBef>
              <a:spcAft>
                <a:spcPts val="0"/>
              </a:spcAft>
              <a:buSzPts val="2700"/>
              <a:buFont typeface="Times New Roman"/>
              <a:buChar char="•"/>
              <a:defRPr sz="1800"/>
            </a:lvl9pPr>
          </a:lstStyle>
          <a:p/>
        </p:txBody>
      </p:sp>
      <p:sp>
        <p:nvSpPr>
          <p:cNvPr id="47" name="Google Shape;47;p69"/>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9"/>
          <p:cNvSpPr txBox="1"/>
          <p:nvPr>
            <p:ph idx="11" type="ftr"/>
          </p:nvPr>
        </p:nvSpPr>
        <p:spPr>
          <a:xfrm>
            <a:off x="3352800" y="6403975"/>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9"/>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lvl1pPr indent="0" lvl="0" mar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push dir="r"/>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0" name="Shape 50"/>
        <p:cNvGrpSpPr/>
        <p:nvPr/>
      </p:nvGrpSpPr>
      <p:grpSpPr>
        <a:xfrm>
          <a:off x="0" y="0"/>
          <a:ext cx="0" cy="0"/>
          <a:chOff x="0" y="0"/>
          <a:chExt cx="0" cy="0"/>
        </a:xfrm>
      </p:grpSpPr>
      <p:sp>
        <p:nvSpPr>
          <p:cNvPr id="51" name="Google Shape;51;p70"/>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just">
              <a:spcBef>
                <a:spcPts val="480"/>
              </a:spcBef>
              <a:spcAft>
                <a:spcPts val="0"/>
              </a:spcAft>
              <a:buSzPts val="1680"/>
              <a:buNone/>
              <a:defRPr b="1" sz="2400"/>
            </a:lvl1pPr>
            <a:lvl2pPr indent="-228600" lvl="1" marL="914400" algn="just">
              <a:spcBef>
                <a:spcPts val="400"/>
              </a:spcBef>
              <a:spcAft>
                <a:spcPts val="0"/>
              </a:spcAft>
              <a:buSzPts val="3000"/>
              <a:buFont typeface="Times New Roman"/>
              <a:buNone/>
              <a:defRPr b="1" sz="2000"/>
            </a:lvl2pPr>
            <a:lvl3pPr indent="-228600" lvl="2" marL="1371600" algn="just">
              <a:spcBef>
                <a:spcPts val="360"/>
              </a:spcBef>
              <a:spcAft>
                <a:spcPts val="0"/>
              </a:spcAft>
              <a:buSzPts val="2700"/>
              <a:buFont typeface="Times New Roman"/>
              <a:buNone/>
              <a:defRPr b="1" sz="1800"/>
            </a:lvl3pPr>
            <a:lvl4pPr indent="-228600" lvl="3" marL="1828800" algn="just">
              <a:spcBef>
                <a:spcPts val="320"/>
              </a:spcBef>
              <a:spcAft>
                <a:spcPts val="0"/>
              </a:spcAft>
              <a:buSzPts val="2400"/>
              <a:buFont typeface="Times New Roman"/>
              <a:buNone/>
              <a:defRPr b="1" sz="1600"/>
            </a:lvl4pPr>
            <a:lvl5pPr indent="-228600" lvl="4" marL="2286000" algn="just">
              <a:spcBef>
                <a:spcPts val="320"/>
              </a:spcBef>
              <a:spcAft>
                <a:spcPts val="0"/>
              </a:spcAft>
              <a:buSzPts val="2400"/>
              <a:buFont typeface="Times New Roman"/>
              <a:buNone/>
              <a:defRPr b="1" sz="1600"/>
            </a:lvl5pPr>
            <a:lvl6pPr indent="-228600" lvl="5" marL="2743200" algn="just">
              <a:spcBef>
                <a:spcPts val="320"/>
              </a:spcBef>
              <a:spcAft>
                <a:spcPts val="0"/>
              </a:spcAft>
              <a:buSzPts val="2400"/>
              <a:buFont typeface="Times New Roman"/>
              <a:buNone/>
              <a:defRPr b="1" sz="1600"/>
            </a:lvl6pPr>
            <a:lvl7pPr indent="-228600" lvl="6" marL="3200400" algn="just">
              <a:spcBef>
                <a:spcPts val="320"/>
              </a:spcBef>
              <a:spcAft>
                <a:spcPts val="0"/>
              </a:spcAft>
              <a:buSzPts val="2400"/>
              <a:buFont typeface="Times New Roman"/>
              <a:buNone/>
              <a:defRPr b="1" sz="1600"/>
            </a:lvl7pPr>
            <a:lvl8pPr indent="-228600" lvl="7" marL="3657600" algn="just">
              <a:spcBef>
                <a:spcPts val="320"/>
              </a:spcBef>
              <a:spcAft>
                <a:spcPts val="0"/>
              </a:spcAft>
              <a:buSzPts val="2400"/>
              <a:buFont typeface="Times New Roman"/>
              <a:buNone/>
              <a:defRPr b="1" sz="1600"/>
            </a:lvl8pPr>
            <a:lvl9pPr indent="-228600" lvl="8" marL="4114800" algn="just">
              <a:spcBef>
                <a:spcPts val="320"/>
              </a:spcBef>
              <a:spcAft>
                <a:spcPts val="0"/>
              </a:spcAft>
              <a:buSzPts val="2400"/>
              <a:buFont typeface="Times New Roman"/>
              <a:buNone/>
              <a:defRPr b="1" sz="1600"/>
            </a:lvl9pPr>
          </a:lstStyle>
          <a:p/>
        </p:txBody>
      </p:sp>
      <p:sp>
        <p:nvSpPr>
          <p:cNvPr id="53" name="Google Shape;53;p7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35280" lvl="0" marL="457200" algn="just">
              <a:spcBef>
                <a:spcPts val="480"/>
              </a:spcBef>
              <a:spcAft>
                <a:spcPts val="0"/>
              </a:spcAft>
              <a:buSzPts val="1680"/>
              <a:buChar char="●"/>
              <a:defRPr sz="2400"/>
            </a:lvl1pPr>
            <a:lvl2pPr indent="-419100" lvl="1" marL="914400" algn="just">
              <a:spcBef>
                <a:spcPts val="400"/>
              </a:spcBef>
              <a:spcAft>
                <a:spcPts val="0"/>
              </a:spcAft>
              <a:buSzPts val="3000"/>
              <a:buFont typeface="Times New Roman"/>
              <a:buChar char="•"/>
              <a:defRPr sz="2000"/>
            </a:lvl2pPr>
            <a:lvl3pPr indent="-400050" lvl="2" marL="1371600" algn="just">
              <a:spcBef>
                <a:spcPts val="360"/>
              </a:spcBef>
              <a:spcAft>
                <a:spcPts val="0"/>
              </a:spcAft>
              <a:buSzPts val="2700"/>
              <a:buFont typeface="Times New Roman"/>
              <a:buChar char="•"/>
              <a:defRPr sz="1800"/>
            </a:lvl3pPr>
            <a:lvl4pPr indent="-381000" lvl="3" marL="1828800" algn="just">
              <a:spcBef>
                <a:spcPts val="320"/>
              </a:spcBef>
              <a:spcAft>
                <a:spcPts val="0"/>
              </a:spcAft>
              <a:buSzPts val="2400"/>
              <a:buFont typeface="Times New Roman"/>
              <a:buChar char="•"/>
              <a:defRPr sz="1600"/>
            </a:lvl4pPr>
            <a:lvl5pPr indent="-381000" lvl="4" marL="2286000" algn="just">
              <a:spcBef>
                <a:spcPts val="320"/>
              </a:spcBef>
              <a:spcAft>
                <a:spcPts val="0"/>
              </a:spcAft>
              <a:buSzPts val="2400"/>
              <a:buFont typeface="Times New Roman"/>
              <a:buChar char="•"/>
              <a:defRPr sz="1600"/>
            </a:lvl5pPr>
            <a:lvl6pPr indent="-381000" lvl="5" marL="2743200" algn="just">
              <a:spcBef>
                <a:spcPts val="320"/>
              </a:spcBef>
              <a:spcAft>
                <a:spcPts val="0"/>
              </a:spcAft>
              <a:buSzPts val="2400"/>
              <a:buFont typeface="Times New Roman"/>
              <a:buChar char="•"/>
              <a:defRPr sz="1600"/>
            </a:lvl6pPr>
            <a:lvl7pPr indent="-381000" lvl="6" marL="3200400" algn="just">
              <a:spcBef>
                <a:spcPts val="320"/>
              </a:spcBef>
              <a:spcAft>
                <a:spcPts val="0"/>
              </a:spcAft>
              <a:buSzPts val="2400"/>
              <a:buFont typeface="Times New Roman"/>
              <a:buChar char="•"/>
              <a:defRPr sz="1600"/>
            </a:lvl7pPr>
            <a:lvl8pPr indent="-381000" lvl="7" marL="3657600" algn="just">
              <a:spcBef>
                <a:spcPts val="320"/>
              </a:spcBef>
              <a:spcAft>
                <a:spcPts val="0"/>
              </a:spcAft>
              <a:buSzPts val="2400"/>
              <a:buFont typeface="Times New Roman"/>
              <a:buChar char="•"/>
              <a:defRPr sz="1600"/>
            </a:lvl8pPr>
            <a:lvl9pPr indent="-381000" lvl="8" marL="4114800" algn="just">
              <a:spcBef>
                <a:spcPts val="320"/>
              </a:spcBef>
              <a:spcAft>
                <a:spcPts val="0"/>
              </a:spcAft>
              <a:buSzPts val="2400"/>
              <a:buFont typeface="Times New Roman"/>
              <a:buChar char="•"/>
              <a:defRPr sz="1600"/>
            </a:lvl9pPr>
          </a:lstStyle>
          <a:p/>
        </p:txBody>
      </p:sp>
      <p:sp>
        <p:nvSpPr>
          <p:cNvPr id="54" name="Google Shape;54;p7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just">
              <a:spcBef>
                <a:spcPts val="480"/>
              </a:spcBef>
              <a:spcAft>
                <a:spcPts val="0"/>
              </a:spcAft>
              <a:buSzPts val="1680"/>
              <a:buNone/>
              <a:defRPr b="1" sz="2400"/>
            </a:lvl1pPr>
            <a:lvl2pPr indent="-228600" lvl="1" marL="914400" algn="just">
              <a:spcBef>
                <a:spcPts val="400"/>
              </a:spcBef>
              <a:spcAft>
                <a:spcPts val="0"/>
              </a:spcAft>
              <a:buSzPts val="3000"/>
              <a:buFont typeface="Times New Roman"/>
              <a:buNone/>
              <a:defRPr b="1" sz="2000"/>
            </a:lvl2pPr>
            <a:lvl3pPr indent="-228600" lvl="2" marL="1371600" algn="just">
              <a:spcBef>
                <a:spcPts val="360"/>
              </a:spcBef>
              <a:spcAft>
                <a:spcPts val="0"/>
              </a:spcAft>
              <a:buSzPts val="2700"/>
              <a:buFont typeface="Times New Roman"/>
              <a:buNone/>
              <a:defRPr b="1" sz="1800"/>
            </a:lvl3pPr>
            <a:lvl4pPr indent="-228600" lvl="3" marL="1828800" algn="just">
              <a:spcBef>
                <a:spcPts val="320"/>
              </a:spcBef>
              <a:spcAft>
                <a:spcPts val="0"/>
              </a:spcAft>
              <a:buSzPts val="2400"/>
              <a:buFont typeface="Times New Roman"/>
              <a:buNone/>
              <a:defRPr b="1" sz="1600"/>
            </a:lvl4pPr>
            <a:lvl5pPr indent="-228600" lvl="4" marL="2286000" algn="just">
              <a:spcBef>
                <a:spcPts val="320"/>
              </a:spcBef>
              <a:spcAft>
                <a:spcPts val="0"/>
              </a:spcAft>
              <a:buSzPts val="2400"/>
              <a:buFont typeface="Times New Roman"/>
              <a:buNone/>
              <a:defRPr b="1" sz="1600"/>
            </a:lvl5pPr>
            <a:lvl6pPr indent="-228600" lvl="5" marL="2743200" algn="just">
              <a:spcBef>
                <a:spcPts val="320"/>
              </a:spcBef>
              <a:spcAft>
                <a:spcPts val="0"/>
              </a:spcAft>
              <a:buSzPts val="2400"/>
              <a:buFont typeface="Times New Roman"/>
              <a:buNone/>
              <a:defRPr b="1" sz="1600"/>
            </a:lvl6pPr>
            <a:lvl7pPr indent="-228600" lvl="6" marL="3200400" algn="just">
              <a:spcBef>
                <a:spcPts val="320"/>
              </a:spcBef>
              <a:spcAft>
                <a:spcPts val="0"/>
              </a:spcAft>
              <a:buSzPts val="2400"/>
              <a:buFont typeface="Times New Roman"/>
              <a:buNone/>
              <a:defRPr b="1" sz="1600"/>
            </a:lvl7pPr>
            <a:lvl8pPr indent="-228600" lvl="7" marL="3657600" algn="just">
              <a:spcBef>
                <a:spcPts val="320"/>
              </a:spcBef>
              <a:spcAft>
                <a:spcPts val="0"/>
              </a:spcAft>
              <a:buSzPts val="2400"/>
              <a:buFont typeface="Times New Roman"/>
              <a:buNone/>
              <a:defRPr b="1" sz="1600"/>
            </a:lvl8pPr>
            <a:lvl9pPr indent="-228600" lvl="8" marL="4114800" algn="just">
              <a:spcBef>
                <a:spcPts val="320"/>
              </a:spcBef>
              <a:spcAft>
                <a:spcPts val="0"/>
              </a:spcAft>
              <a:buSzPts val="2400"/>
              <a:buFont typeface="Times New Roman"/>
              <a:buNone/>
              <a:defRPr b="1" sz="1600"/>
            </a:lvl9pPr>
          </a:lstStyle>
          <a:p/>
        </p:txBody>
      </p:sp>
      <p:sp>
        <p:nvSpPr>
          <p:cNvPr id="55" name="Google Shape;55;p7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35280" lvl="0" marL="457200" algn="just">
              <a:spcBef>
                <a:spcPts val="480"/>
              </a:spcBef>
              <a:spcAft>
                <a:spcPts val="0"/>
              </a:spcAft>
              <a:buSzPts val="1680"/>
              <a:buChar char="●"/>
              <a:defRPr sz="2400"/>
            </a:lvl1pPr>
            <a:lvl2pPr indent="-419100" lvl="1" marL="914400" algn="just">
              <a:spcBef>
                <a:spcPts val="400"/>
              </a:spcBef>
              <a:spcAft>
                <a:spcPts val="0"/>
              </a:spcAft>
              <a:buSzPts val="3000"/>
              <a:buFont typeface="Times New Roman"/>
              <a:buChar char="•"/>
              <a:defRPr sz="2000"/>
            </a:lvl2pPr>
            <a:lvl3pPr indent="-400050" lvl="2" marL="1371600" algn="just">
              <a:spcBef>
                <a:spcPts val="360"/>
              </a:spcBef>
              <a:spcAft>
                <a:spcPts val="0"/>
              </a:spcAft>
              <a:buSzPts val="2700"/>
              <a:buFont typeface="Times New Roman"/>
              <a:buChar char="•"/>
              <a:defRPr sz="1800"/>
            </a:lvl3pPr>
            <a:lvl4pPr indent="-381000" lvl="3" marL="1828800" algn="just">
              <a:spcBef>
                <a:spcPts val="320"/>
              </a:spcBef>
              <a:spcAft>
                <a:spcPts val="0"/>
              </a:spcAft>
              <a:buSzPts val="2400"/>
              <a:buFont typeface="Times New Roman"/>
              <a:buChar char="•"/>
              <a:defRPr sz="1600"/>
            </a:lvl4pPr>
            <a:lvl5pPr indent="-381000" lvl="4" marL="2286000" algn="just">
              <a:spcBef>
                <a:spcPts val="320"/>
              </a:spcBef>
              <a:spcAft>
                <a:spcPts val="0"/>
              </a:spcAft>
              <a:buSzPts val="2400"/>
              <a:buFont typeface="Times New Roman"/>
              <a:buChar char="•"/>
              <a:defRPr sz="1600"/>
            </a:lvl5pPr>
            <a:lvl6pPr indent="-381000" lvl="5" marL="2743200" algn="just">
              <a:spcBef>
                <a:spcPts val="320"/>
              </a:spcBef>
              <a:spcAft>
                <a:spcPts val="0"/>
              </a:spcAft>
              <a:buSzPts val="2400"/>
              <a:buFont typeface="Times New Roman"/>
              <a:buChar char="•"/>
              <a:defRPr sz="1600"/>
            </a:lvl6pPr>
            <a:lvl7pPr indent="-381000" lvl="6" marL="3200400" algn="just">
              <a:spcBef>
                <a:spcPts val="320"/>
              </a:spcBef>
              <a:spcAft>
                <a:spcPts val="0"/>
              </a:spcAft>
              <a:buSzPts val="2400"/>
              <a:buFont typeface="Times New Roman"/>
              <a:buChar char="•"/>
              <a:defRPr sz="1600"/>
            </a:lvl7pPr>
            <a:lvl8pPr indent="-381000" lvl="7" marL="3657600" algn="just">
              <a:spcBef>
                <a:spcPts val="320"/>
              </a:spcBef>
              <a:spcAft>
                <a:spcPts val="0"/>
              </a:spcAft>
              <a:buSzPts val="2400"/>
              <a:buFont typeface="Times New Roman"/>
              <a:buChar char="•"/>
              <a:defRPr sz="1600"/>
            </a:lvl8pPr>
            <a:lvl9pPr indent="-381000" lvl="8" marL="4114800" algn="just">
              <a:spcBef>
                <a:spcPts val="320"/>
              </a:spcBef>
              <a:spcAft>
                <a:spcPts val="0"/>
              </a:spcAft>
              <a:buSzPts val="2400"/>
              <a:buFont typeface="Times New Roman"/>
              <a:buChar char="•"/>
              <a:defRPr sz="1600"/>
            </a:lvl9pPr>
          </a:lstStyle>
          <a:p/>
        </p:txBody>
      </p:sp>
      <p:sp>
        <p:nvSpPr>
          <p:cNvPr id="56" name="Google Shape;56;p70"/>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0"/>
          <p:cNvSpPr txBox="1"/>
          <p:nvPr>
            <p:ph idx="11" type="ftr"/>
          </p:nvPr>
        </p:nvSpPr>
        <p:spPr>
          <a:xfrm>
            <a:off x="3352800" y="6403975"/>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0"/>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lvl1pPr indent="0" lvl="0" mar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push dir="r"/>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sp>
        <p:nvSpPr>
          <p:cNvPr id="60" name="Google Shape;60;p71"/>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71"/>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71"/>
          <p:cNvSpPr txBox="1"/>
          <p:nvPr>
            <p:ph idx="11" type="ftr"/>
          </p:nvPr>
        </p:nvSpPr>
        <p:spPr>
          <a:xfrm>
            <a:off x="3352800" y="6403975"/>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1"/>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lvl1pPr indent="0" lvl="0" mar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push dir="r"/>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7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7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70840" lvl="0" marL="457200" algn="just">
              <a:spcBef>
                <a:spcPts val="640"/>
              </a:spcBef>
              <a:spcAft>
                <a:spcPts val="0"/>
              </a:spcAft>
              <a:buSzPts val="2240"/>
              <a:buChar char="●"/>
              <a:defRPr sz="3200"/>
            </a:lvl1pPr>
            <a:lvl2pPr indent="-495300" lvl="1" marL="914400" algn="just">
              <a:spcBef>
                <a:spcPts val="560"/>
              </a:spcBef>
              <a:spcAft>
                <a:spcPts val="0"/>
              </a:spcAft>
              <a:buSzPts val="4200"/>
              <a:buFont typeface="Times New Roman"/>
              <a:buChar char="•"/>
              <a:defRPr sz="2800"/>
            </a:lvl2pPr>
            <a:lvl3pPr indent="-457200" lvl="2" marL="1371600" algn="just">
              <a:spcBef>
                <a:spcPts val="480"/>
              </a:spcBef>
              <a:spcAft>
                <a:spcPts val="0"/>
              </a:spcAft>
              <a:buSzPts val="3600"/>
              <a:buFont typeface="Times New Roman"/>
              <a:buChar char="•"/>
              <a:defRPr sz="2400"/>
            </a:lvl3pPr>
            <a:lvl4pPr indent="-419100" lvl="3" marL="1828800" algn="just">
              <a:spcBef>
                <a:spcPts val="400"/>
              </a:spcBef>
              <a:spcAft>
                <a:spcPts val="0"/>
              </a:spcAft>
              <a:buSzPts val="3000"/>
              <a:buFont typeface="Times New Roman"/>
              <a:buChar char="•"/>
              <a:defRPr sz="2000"/>
            </a:lvl4pPr>
            <a:lvl5pPr indent="-419100" lvl="4" marL="2286000" algn="just">
              <a:spcBef>
                <a:spcPts val="400"/>
              </a:spcBef>
              <a:spcAft>
                <a:spcPts val="0"/>
              </a:spcAft>
              <a:buSzPts val="3000"/>
              <a:buFont typeface="Times New Roman"/>
              <a:buChar char="•"/>
              <a:defRPr sz="2000"/>
            </a:lvl5pPr>
            <a:lvl6pPr indent="-419100" lvl="5" marL="2743200" algn="just">
              <a:spcBef>
                <a:spcPts val="400"/>
              </a:spcBef>
              <a:spcAft>
                <a:spcPts val="0"/>
              </a:spcAft>
              <a:buSzPts val="3000"/>
              <a:buFont typeface="Times New Roman"/>
              <a:buChar char="•"/>
              <a:defRPr sz="2000"/>
            </a:lvl6pPr>
            <a:lvl7pPr indent="-419100" lvl="6" marL="3200400" algn="just">
              <a:spcBef>
                <a:spcPts val="400"/>
              </a:spcBef>
              <a:spcAft>
                <a:spcPts val="0"/>
              </a:spcAft>
              <a:buSzPts val="3000"/>
              <a:buFont typeface="Times New Roman"/>
              <a:buChar char="•"/>
              <a:defRPr sz="2000"/>
            </a:lvl7pPr>
            <a:lvl8pPr indent="-419100" lvl="7" marL="3657600" algn="just">
              <a:spcBef>
                <a:spcPts val="400"/>
              </a:spcBef>
              <a:spcAft>
                <a:spcPts val="0"/>
              </a:spcAft>
              <a:buSzPts val="3000"/>
              <a:buFont typeface="Times New Roman"/>
              <a:buChar char="•"/>
              <a:defRPr sz="2000"/>
            </a:lvl8pPr>
            <a:lvl9pPr indent="-419100" lvl="8" marL="4114800" algn="just">
              <a:spcBef>
                <a:spcPts val="400"/>
              </a:spcBef>
              <a:spcAft>
                <a:spcPts val="0"/>
              </a:spcAft>
              <a:buSzPts val="3000"/>
              <a:buFont typeface="Times New Roman"/>
              <a:buChar char="•"/>
              <a:defRPr sz="2000"/>
            </a:lvl9pPr>
          </a:lstStyle>
          <a:p/>
        </p:txBody>
      </p:sp>
      <p:sp>
        <p:nvSpPr>
          <p:cNvPr id="67" name="Google Shape;67;p7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just">
              <a:spcBef>
                <a:spcPts val="280"/>
              </a:spcBef>
              <a:spcAft>
                <a:spcPts val="0"/>
              </a:spcAft>
              <a:buSzPts val="980"/>
              <a:buNone/>
              <a:defRPr sz="1400"/>
            </a:lvl1pPr>
            <a:lvl2pPr indent="-228600" lvl="1" marL="914400" algn="just">
              <a:spcBef>
                <a:spcPts val="240"/>
              </a:spcBef>
              <a:spcAft>
                <a:spcPts val="0"/>
              </a:spcAft>
              <a:buSzPts val="1800"/>
              <a:buFont typeface="Times New Roman"/>
              <a:buNone/>
              <a:defRPr sz="1200"/>
            </a:lvl2pPr>
            <a:lvl3pPr indent="-228600" lvl="2" marL="1371600" algn="just">
              <a:spcBef>
                <a:spcPts val="200"/>
              </a:spcBef>
              <a:spcAft>
                <a:spcPts val="0"/>
              </a:spcAft>
              <a:buSzPts val="1500"/>
              <a:buFont typeface="Times New Roman"/>
              <a:buNone/>
              <a:defRPr sz="1000"/>
            </a:lvl3pPr>
            <a:lvl4pPr indent="-228600" lvl="3" marL="1828800" algn="just">
              <a:spcBef>
                <a:spcPts val="180"/>
              </a:spcBef>
              <a:spcAft>
                <a:spcPts val="0"/>
              </a:spcAft>
              <a:buSzPts val="1350"/>
              <a:buFont typeface="Times New Roman"/>
              <a:buNone/>
              <a:defRPr sz="900"/>
            </a:lvl4pPr>
            <a:lvl5pPr indent="-228600" lvl="4" marL="2286000" algn="just">
              <a:spcBef>
                <a:spcPts val="180"/>
              </a:spcBef>
              <a:spcAft>
                <a:spcPts val="0"/>
              </a:spcAft>
              <a:buSzPts val="1350"/>
              <a:buFont typeface="Times New Roman"/>
              <a:buNone/>
              <a:defRPr sz="900"/>
            </a:lvl5pPr>
            <a:lvl6pPr indent="-228600" lvl="5" marL="2743200" algn="just">
              <a:spcBef>
                <a:spcPts val="180"/>
              </a:spcBef>
              <a:spcAft>
                <a:spcPts val="0"/>
              </a:spcAft>
              <a:buSzPts val="1350"/>
              <a:buFont typeface="Times New Roman"/>
              <a:buNone/>
              <a:defRPr sz="900"/>
            </a:lvl6pPr>
            <a:lvl7pPr indent="-228600" lvl="6" marL="3200400" algn="just">
              <a:spcBef>
                <a:spcPts val="180"/>
              </a:spcBef>
              <a:spcAft>
                <a:spcPts val="0"/>
              </a:spcAft>
              <a:buSzPts val="1350"/>
              <a:buFont typeface="Times New Roman"/>
              <a:buNone/>
              <a:defRPr sz="900"/>
            </a:lvl7pPr>
            <a:lvl8pPr indent="-228600" lvl="7" marL="3657600" algn="just">
              <a:spcBef>
                <a:spcPts val="180"/>
              </a:spcBef>
              <a:spcAft>
                <a:spcPts val="0"/>
              </a:spcAft>
              <a:buSzPts val="1350"/>
              <a:buFont typeface="Times New Roman"/>
              <a:buNone/>
              <a:defRPr sz="900"/>
            </a:lvl8pPr>
            <a:lvl9pPr indent="-228600" lvl="8" marL="4114800" algn="just">
              <a:spcBef>
                <a:spcPts val="180"/>
              </a:spcBef>
              <a:spcAft>
                <a:spcPts val="0"/>
              </a:spcAft>
              <a:buSzPts val="1350"/>
              <a:buFont typeface="Times New Roman"/>
              <a:buNone/>
              <a:defRPr sz="900"/>
            </a:lvl9pPr>
          </a:lstStyle>
          <a:p/>
        </p:txBody>
      </p:sp>
      <p:sp>
        <p:nvSpPr>
          <p:cNvPr id="68" name="Google Shape;68;p72"/>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72"/>
          <p:cNvSpPr txBox="1"/>
          <p:nvPr>
            <p:ph idx="11" type="ftr"/>
          </p:nvPr>
        </p:nvSpPr>
        <p:spPr>
          <a:xfrm>
            <a:off x="3352800" y="6403975"/>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72"/>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lvl1pPr indent="0" lvl="0" mar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push dir="r"/>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7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73"/>
          <p:cNvSpPr/>
          <p:nvPr>
            <p:ph idx="2" type="pic"/>
          </p:nvPr>
        </p:nvSpPr>
        <p:spPr>
          <a:xfrm>
            <a:off x="1792288" y="612775"/>
            <a:ext cx="5486400" cy="4114800"/>
          </a:xfrm>
          <a:prstGeom prst="rect">
            <a:avLst/>
          </a:prstGeom>
          <a:noFill/>
          <a:ln>
            <a:noFill/>
          </a:ln>
        </p:spPr>
      </p:sp>
      <p:sp>
        <p:nvSpPr>
          <p:cNvPr id="74" name="Google Shape;74;p7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just">
              <a:spcBef>
                <a:spcPts val="280"/>
              </a:spcBef>
              <a:spcAft>
                <a:spcPts val="0"/>
              </a:spcAft>
              <a:buSzPts val="980"/>
              <a:buNone/>
              <a:defRPr sz="1400"/>
            </a:lvl1pPr>
            <a:lvl2pPr indent="-228600" lvl="1" marL="914400" algn="just">
              <a:spcBef>
                <a:spcPts val="240"/>
              </a:spcBef>
              <a:spcAft>
                <a:spcPts val="0"/>
              </a:spcAft>
              <a:buSzPts val="1800"/>
              <a:buFont typeface="Times New Roman"/>
              <a:buNone/>
              <a:defRPr sz="1200"/>
            </a:lvl2pPr>
            <a:lvl3pPr indent="-228600" lvl="2" marL="1371600" algn="just">
              <a:spcBef>
                <a:spcPts val="200"/>
              </a:spcBef>
              <a:spcAft>
                <a:spcPts val="0"/>
              </a:spcAft>
              <a:buSzPts val="1500"/>
              <a:buFont typeface="Times New Roman"/>
              <a:buNone/>
              <a:defRPr sz="1000"/>
            </a:lvl3pPr>
            <a:lvl4pPr indent="-228600" lvl="3" marL="1828800" algn="just">
              <a:spcBef>
                <a:spcPts val="180"/>
              </a:spcBef>
              <a:spcAft>
                <a:spcPts val="0"/>
              </a:spcAft>
              <a:buSzPts val="1350"/>
              <a:buFont typeface="Times New Roman"/>
              <a:buNone/>
              <a:defRPr sz="900"/>
            </a:lvl4pPr>
            <a:lvl5pPr indent="-228600" lvl="4" marL="2286000" algn="just">
              <a:spcBef>
                <a:spcPts val="180"/>
              </a:spcBef>
              <a:spcAft>
                <a:spcPts val="0"/>
              </a:spcAft>
              <a:buSzPts val="1350"/>
              <a:buFont typeface="Times New Roman"/>
              <a:buNone/>
              <a:defRPr sz="900"/>
            </a:lvl5pPr>
            <a:lvl6pPr indent="-228600" lvl="5" marL="2743200" algn="just">
              <a:spcBef>
                <a:spcPts val="180"/>
              </a:spcBef>
              <a:spcAft>
                <a:spcPts val="0"/>
              </a:spcAft>
              <a:buSzPts val="1350"/>
              <a:buFont typeface="Times New Roman"/>
              <a:buNone/>
              <a:defRPr sz="900"/>
            </a:lvl6pPr>
            <a:lvl7pPr indent="-228600" lvl="6" marL="3200400" algn="just">
              <a:spcBef>
                <a:spcPts val="180"/>
              </a:spcBef>
              <a:spcAft>
                <a:spcPts val="0"/>
              </a:spcAft>
              <a:buSzPts val="1350"/>
              <a:buFont typeface="Times New Roman"/>
              <a:buNone/>
              <a:defRPr sz="900"/>
            </a:lvl7pPr>
            <a:lvl8pPr indent="-228600" lvl="7" marL="3657600" algn="just">
              <a:spcBef>
                <a:spcPts val="180"/>
              </a:spcBef>
              <a:spcAft>
                <a:spcPts val="0"/>
              </a:spcAft>
              <a:buSzPts val="1350"/>
              <a:buFont typeface="Times New Roman"/>
              <a:buNone/>
              <a:defRPr sz="900"/>
            </a:lvl8pPr>
            <a:lvl9pPr indent="-228600" lvl="8" marL="4114800" algn="just">
              <a:spcBef>
                <a:spcPts val="180"/>
              </a:spcBef>
              <a:spcAft>
                <a:spcPts val="0"/>
              </a:spcAft>
              <a:buSzPts val="1350"/>
              <a:buFont typeface="Times New Roman"/>
              <a:buNone/>
              <a:defRPr sz="900"/>
            </a:lvl9pPr>
          </a:lstStyle>
          <a:p/>
        </p:txBody>
      </p:sp>
      <p:sp>
        <p:nvSpPr>
          <p:cNvPr id="75" name="Google Shape;75;p73"/>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73"/>
          <p:cNvSpPr txBox="1"/>
          <p:nvPr>
            <p:ph idx="11" type="ftr"/>
          </p:nvPr>
        </p:nvSpPr>
        <p:spPr>
          <a:xfrm>
            <a:off x="3352800" y="6403975"/>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73"/>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lvl1pPr indent="0" lvl="0" mar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push dir="r"/>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74"/>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74"/>
          <p:cNvSpPr txBox="1"/>
          <p:nvPr>
            <p:ph idx="1" type="body"/>
          </p:nvPr>
        </p:nvSpPr>
        <p:spPr>
          <a:xfrm rot="5400000">
            <a:off x="2590800" y="76200"/>
            <a:ext cx="4038600" cy="7696200"/>
          </a:xfrm>
          <a:prstGeom prst="rect">
            <a:avLst/>
          </a:prstGeom>
          <a:noFill/>
          <a:ln>
            <a:noFill/>
          </a:ln>
        </p:spPr>
        <p:txBody>
          <a:bodyPr anchorCtr="0" anchor="t" bIns="45700" lIns="91425" spcFirstLastPara="1" rIns="91425" wrap="square" tIns="45700">
            <a:noAutofit/>
          </a:bodyPr>
          <a:lstStyle>
            <a:lvl1pPr indent="-308610" lvl="0" marL="457200" algn="just">
              <a:spcBef>
                <a:spcPts val="360"/>
              </a:spcBef>
              <a:spcAft>
                <a:spcPts val="0"/>
              </a:spcAft>
              <a:buSzPts val="1260"/>
              <a:buChar char="●"/>
              <a:defRPr/>
            </a:lvl1pPr>
            <a:lvl2pPr indent="-400050" lvl="1" marL="914400" algn="just">
              <a:spcBef>
                <a:spcPts val="360"/>
              </a:spcBef>
              <a:spcAft>
                <a:spcPts val="0"/>
              </a:spcAft>
              <a:buSzPts val="2700"/>
              <a:buChar char="•"/>
              <a:defRPr/>
            </a:lvl2pPr>
            <a:lvl3pPr indent="-400050" lvl="2" marL="1371600" algn="just">
              <a:spcBef>
                <a:spcPts val="360"/>
              </a:spcBef>
              <a:spcAft>
                <a:spcPts val="0"/>
              </a:spcAft>
              <a:buSzPts val="2700"/>
              <a:buChar char="•"/>
              <a:defRPr/>
            </a:lvl3pPr>
            <a:lvl4pPr indent="-400050" lvl="3" marL="1828800" algn="just">
              <a:spcBef>
                <a:spcPts val="360"/>
              </a:spcBef>
              <a:spcAft>
                <a:spcPts val="0"/>
              </a:spcAft>
              <a:buSzPts val="2700"/>
              <a:buChar char="•"/>
              <a:defRPr/>
            </a:lvl4pPr>
            <a:lvl5pPr indent="-400050" lvl="4" marL="2286000" algn="just">
              <a:spcBef>
                <a:spcPts val="360"/>
              </a:spcBef>
              <a:spcAft>
                <a:spcPts val="0"/>
              </a:spcAft>
              <a:buSzPts val="2700"/>
              <a:buChar char="•"/>
              <a:defRPr/>
            </a:lvl5pPr>
            <a:lvl6pPr indent="-400050" lvl="5" marL="2743200" algn="just">
              <a:spcBef>
                <a:spcPts val="360"/>
              </a:spcBef>
              <a:spcAft>
                <a:spcPts val="0"/>
              </a:spcAft>
              <a:buSzPts val="2700"/>
              <a:buChar char="•"/>
              <a:defRPr/>
            </a:lvl6pPr>
            <a:lvl7pPr indent="-400050" lvl="6" marL="3200400" algn="just">
              <a:spcBef>
                <a:spcPts val="360"/>
              </a:spcBef>
              <a:spcAft>
                <a:spcPts val="0"/>
              </a:spcAft>
              <a:buSzPts val="2700"/>
              <a:buChar char="•"/>
              <a:defRPr/>
            </a:lvl7pPr>
            <a:lvl8pPr indent="-400050" lvl="7" marL="3657600" algn="just">
              <a:spcBef>
                <a:spcPts val="360"/>
              </a:spcBef>
              <a:spcAft>
                <a:spcPts val="0"/>
              </a:spcAft>
              <a:buSzPts val="2700"/>
              <a:buChar char="•"/>
              <a:defRPr/>
            </a:lvl8pPr>
            <a:lvl9pPr indent="-400050" lvl="8" marL="4114800" algn="just">
              <a:spcBef>
                <a:spcPts val="360"/>
              </a:spcBef>
              <a:spcAft>
                <a:spcPts val="0"/>
              </a:spcAft>
              <a:buSzPts val="2700"/>
              <a:buChar char="•"/>
              <a:defRPr/>
            </a:lvl9pPr>
          </a:lstStyle>
          <a:p/>
        </p:txBody>
      </p:sp>
      <p:sp>
        <p:nvSpPr>
          <p:cNvPr id="81" name="Google Shape;81;p74"/>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4"/>
          <p:cNvSpPr txBox="1"/>
          <p:nvPr>
            <p:ph idx="11" type="ftr"/>
          </p:nvPr>
        </p:nvSpPr>
        <p:spPr>
          <a:xfrm>
            <a:off x="3352800" y="6403975"/>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74"/>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lvl1pPr indent="0" lvl="0" mar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push dir="r"/>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75"/>
          <p:cNvSpPr txBox="1"/>
          <p:nvPr>
            <p:ph type="title"/>
          </p:nvPr>
        </p:nvSpPr>
        <p:spPr>
          <a:xfrm rot="5400000">
            <a:off x="4791075" y="2276475"/>
            <a:ext cx="5410200" cy="1924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75"/>
          <p:cNvSpPr txBox="1"/>
          <p:nvPr>
            <p:ph idx="1" type="body"/>
          </p:nvPr>
        </p:nvSpPr>
        <p:spPr>
          <a:xfrm rot="5400000">
            <a:off x="866775" y="428625"/>
            <a:ext cx="5410200" cy="5619750"/>
          </a:xfrm>
          <a:prstGeom prst="rect">
            <a:avLst/>
          </a:prstGeom>
          <a:noFill/>
          <a:ln>
            <a:noFill/>
          </a:ln>
        </p:spPr>
        <p:txBody>
          <a:bodyPr anchorCtr="0" anchor="t" bIns="45700" lIns="91425" spcFirstLastPara="1" rIns="91425" wrap="square" tIns="45700">
            <a:noAutofit/>
          </a:bodyPr>
          <a:lstStyle>
            <a:lvl1pPr indent="-308610" lvl="0" marL="457200" algn="just">
              <a:spcBef>
                <a:spcPts val="360"/>
              </a:spcBef>
              <a:spcAft>
                <a:spcPts val="0"/>
              </a:spcAft>
              <a:buSzPts val="1260"/>
              <a:buChar char="●"/>
              <a:defRPr/>
            </a:lvl1pPr>
            <a:lvl2pPr indent="-400050" lvl="1" marL="914400" algn="just">
              <a:spcBef>
                <a:spcPts val="360"/>
              </a:spcBef>
              <a:spcAft>
                <a:spcPts val="0"/>
              </a:spcAft>
              <a:buSzPts val="2700"/>
              <a:buChar char="•"/>
              <a:defRPr/>
            </a:lvl2pPr>
            <a:lvl3pPr indent="-400050" lvl="2" marL="1371600" algn="just">
              <a:spcBef>
                <a:spcPts val="360"/>
              </a:spcBef>
              <a:spcAft>
                <a:spcPts val="0"/>
              </a:spcAft>
              <a:buSzPts val="2700"/>
              <a:buChar char="•"/>
              <a:defRPr/>
            </a:lvl3pPr>
            <a:lvl4pPr indent="-400050" lvl="3" marL="1828800" algn="just">
              <a:spcBef>
                <a:spcPts val="360"/>
              </a:spcBef>
              <a:spcAft>
                <a:spcPts val="0"/>
              </a:spcAft>
              <a:buSzPts val="2700"/>
              <a:buChar char="•"/>
              <a:defRPr/>
            </a:lvl4pPr>
            <a:lvl5pPr indent="-400050" lvl="4" marL="2286000" algn="just">
              <a:spcBef>
                <a:spcPts val="360"/>
              </a:spcBef>
              <a:spcAft>
                <a:spcPts val="0"/>
              </a:spcAft>
              <a:buSzPts val="2700"/>
              <a:buChar char="•"/>
              <a:defRPr/>
            </a:lvl5pPr>
            <a:lvl6pPr indent="-400050" lvl="5" marL="2743200" algn="just">
              <a:spcBef>
                <a:spcPts val="360"/>
              </a:spcBef>
              <a:spcAft>
                <a:spcPts val="0"/>
              </a:spcAft>
              <a:buSzPts val="2700"/>
              <a:buChar char="•"/>
              <a:defRPr/>
            </a:lvl6pPr>
            <a:lvl7pPr indent="-400050" lvl="6" marL="3200400" algn="just">
              <a:spcBef>
                <a:spcPts val="360"/>
              </a:spcBef>
              <a:spcAft>
                <a:spcPts val="0"/>
              </a:spcAft>
              <a:buSzPts val="2700"/>
              <a:buChar char="•"/>
              <a:defRPr/>
            </a:lvl7pPr>
            <a:lvl8pPr indent="-400050" lvl="7" marL="3657600" algn="just">
              <a:spcBef>
                <a:spcPts val="360"/>
              </a:spcBef>
              <a:spcAft>
                <a:spcPts val="0"/>
              </a:spcAft>
              <a:buSzPts val="2700"/>
              <a:buChar char="•"/>
              <a:defRPr/>
            </a:lvl8pPr>
            <a:lvl9pPr indent="-400050" lvl="8" marL="4114800" algn="just">
              <a:spcBef>
                <a:spcPts val="360"/>
              </a:spcBef>
              <a:spcAft>
                <a:spcPts val="0"/>
              </a:spcAft>
              <a:buSzPts val="2700"/>
              <a:buChar char="•"/>
              <a:defRPr/>
            </a:lvl9pPr>
          </a:lstStyle>
          <a:p/>
        </p:txBody>
      </p:sp>
      <p:sp>
        <p:nvSpPr>
          <p:cNvPr id="87" name="Google Shape;87;p75"/>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75"/>
          <p:cNvSpPr txBox="1"/>
          <p:nvPr>
            <p:ph idx="11" type="ftr"/>
          </p:nvPr>
        </p:nvSpPr>
        <p:spPr>
          <a:xfrm>
            <a:off x="3352800" y="6403975"/>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75"/>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lvl1pPr indent="0" lvl="0" mar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push dir="r"/>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90" name="Shape 90"/>
        <p:cNvGrpSpPr/>
        <p:nvPr/>
      </p:nvGrpSpPr>
      <p:grpSpPr>
        <a:xfrm>
          <a:off x="0" y="0"/>
          <a:ext cx="0" cy="0"/>
          <a:chOff x="0" y="0"/>
          <a:chExt cx="0" cy="0"/>
        </a:xfrm>
      </p:grpSpPr>
      <p:sp>
        <p:nvSpPr>
          <p:cNvPr id="91" name="Google Shape;91;p76"/>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76"/>
          <p:cNvSpPr txBox="1"/>
          <p:nvPr>
            <p:ph idx="1" type="body"/>
          </p:nvPr>
        </p:nvSpPr>
        <p:spPr>
          <a:xfrm>
            <a:off x="762000" y="1905000"/>
            <a:ext cx="3771900" cy="4038600"/>
          </a:xfrm>
          <a:prstGeom prst="rect">
            <a:avLst/>
          </a:prstGeom>
          <a:noFill/>
          <a:ln>
            <a:noFill/>
          </a:ln>
        </p:spPr>
        <p:txBody>
          <a:bodyPr anchorCtr="0" anchor="t" bIns="45700" lIns="91425" spcFirstLastPara="1" rIns="91425" wrap="square" tIns="45700">
            <a:noAutofit/>
          </a:bodyPr>
          <a:lstStyle>
            <a:lvl1pPr indent="-308610" lvl="0" marL="457200" algn="just">
              <a:spcBef>
                <a:spcPts val="360"/>
              </a:spcBef>
              <a:spcAft>
                <a:spcPts val="0"/>
              </a:spcAft>
              <a:buSzPts val="1260"/>
              <a:buChar char="●"/>
              <a:defRPr/>
            </a:lvl1pPr>
            <a:lvl2pPr indent="-400050" lvl="1" marL="914400" algn="just">
              <a:spcBef>
                <a:spcPts val="360"/>
              </a:spcBef>
              <a:spcAft>
                <a:spcPts val="0"/>
              </a:spcAft>
              <a:buSzPts val="2700"/>
              <a:buChar char="•"/>
              <a:defRPr/>
            </a:lvl2pPr>
            <a:lvl3pPr indent="-400050" lvl="2" marL="1371600" algn="just">
              <a:spcBef>
                <a:spcPts val="360"/>
              </a:spcBef>
              <a:spcAft>
                <a:spcPts val="0"/>
              </a:spcAft>
              <a:buSzPts val="2700"/>
              <a:buChar char="•"/>
              <a:defRPr/>
            </a:lvl3pPr>
            <a:lvl4pPr indent="-400050" lvl="3" marL="1828800" algn="just">
              <a:spcBef>
                <a:spcPts val="360"/>
              </a:spcBef>
              <a:spcAft>
                <a:spcPts val="0"/>
              </a:spcAft>
              <a:buSzPts val="2700"/>
              <a:buChar char="•"/>
              <a:defRPr/>
            </a:lvl4pPr>
            <a:lvl5pPr indent="-400050" lvl="4" marL="2286000" algn="just">
              <a:spcBef>
                <a:spcPts val="360"/>
              </a:spcBef>
              <a:spcAft>
                <a:spcPts val="0"/>
              </a:spcAft>
              <a:buSzPts val="2700"/>
              <a:buChar char="•"/>
              <a:defRPr/>
            </a:lvl5pPr>
            <a:lvl6pPr indent="-400050" lvl="5" marL="2743200" algn="just">
              <a:spcBef>
                <a:spcPts val="360"/>
              </a:spcBef>
              <a:spcAft>
                <a:spcPts val="0"/>
              </a:spcAft>
              <a:buSzPts val="2700"/>
              <a:buChar char="•"/>
              <a:defRPr/>
            </a:lvl6pPr>
            <a:lvl7pPr indent="-400050" lvl="6" marL="3200400" algn="just">
              <a:spcBef>
                <a:spcPts val="360"/>
              </a:spcBef>
              <a:spcAft>
                <a:spcPts val="0"/>
              </a:spcAft>
              <a:buSzPts val="2700"/>
              <a:buChar char="•"/>
              <a:defRPr/>
            </a:lvl7pPr>
            <a:lvl8pPr indent="-400050" lvl="7" marL="3657600" algn="just">
              <a:spcBef>
                <a:spcPts val="360"/>
              </a:spcBef>
              <a:spcAft>
                <a:spcPts val="0"/>
              </a:spcAft>
              <a:buSzPts val="2700"/>
              <a:buChar char="•"/>
              <a:defRPr/>
            </a:lvl8pPr>
            <a:lvl9pPr indent="-400050" lvl="8" marL="4114800" algn="just">
              <a:spcBef>
                <a:spcPts val="360"/>
              </a:spcBef>
              <a:spcAft>
                <a:spcPts val="0"/>
              </a:spcAft>
              <a:buSzPts val="2700"/>
              <a:buChar char="•"/>
              <a:defRPr/>
            </a:lvl9pPr>
          </a:lstStyle>
          <a:p/>
        </p:txBody>
      </p:sp>
      <p:sp>
        <p:nvSpPr>
          <p:cNvPr id="93" name="Google Shape;93;p76"/>
          <p:cNvSpPr txBox="1"/>
          <p:nvPr>
            <p:ph idx="2" type="body"/>
          </p:nvPr>
        </p:nvSpPr>
        <p:spPr>
          <a:xfrm>
            <a:off x="4686300" y="1905000"/>
            <a:ext cx="3771900" cy="4038600"/>
          </a:xfrm>
          <a:prstGeom prst="rect">
            <a:avLst/>
          </a:prstGeom>
          <a:noFill/>
          <a:ln>
            <a:noFill/>
          </a:ln>
        </p:spPr>
        <p:txBody>
          <a:bodyPr anchorCtr="0" anchor="t" bIns="45700" lIns="91425" spcFirstLastPara="1" rIns="91425" wrap="square" tIns="45700">
            <a:noAutofit/>
          </a:bodyPr>
          <a:lstStyle>
            <a:lvl1pPr indent="-308610" lvl="0" marL="457200" algn="just">
              <a:spcBef>
                <a:spcPts val="360"/>
              </a:spcBef>
              <a:spcAft>
                <a:spcPts val="0"/>
              </a:spcAft>
              <a:buSzPts val="1260"/>
              <a:buChar char="●"/>
              <a:defRPr/>
            </a:lvl1pPr>
            <a:lvl2pPr indent="-400050" lvl="1" marL="914400" algn="just">
              <a:spcBef>
                <a:spcPts val="360"/>
              </a:spcBef>
              <a:spcAft>
                <a:spcPts val="0"/>
              </a:spcAft>
              <a:buSzPts val="2700"/>
              <a:buChar char="•"/>
              <a:defRPr/>
            </a:lvl2pPr>
            <a:lvl3pPr indent="-400050" lvl="2" marL="1371600" algn="just">
              <a:spcBef>
                <a:spcPts val="360"/>
              </a:spcBef>
              <a:spcAft>
                <a:spcPts val="0"/>
              </a:spcAft>
              <a:buSzPts val="2700"/>
              <a:buChar char="•"/>
              <a:defRPr/>
            </a:lvl3pPr>
            <a:lvl4pPr indent="-400050" lvl="3" marL="1828800" algn="just">
              <a:spcBef>
                <a:spcPts val="360"/>
              </a:spcBef>
              <a:spcAft>
                <a:spcPts val="0"/>
              </a:spcAft>
              <a:buSzPts val="2700"/>
              <a:buChar char="•"/>
              <a:defRPr/>
            </a:lvl4pPr>
            <a:lvl5pPr indent="-400050" lvl="4" marL="2286000" algn="just">
              <a:spcBef>
                <a:spcPts val="360"/>
              </a:spcBef>
              <a:spcAft>
                <a:spcPts val="0"/>
              </a:spcAft>
              <a:buSzPts val="2700"/>
              <a:buChar char="•"/>
              <a:defRPr/>
            </a:lvl5pPr>
            <a:lvl6pPr indent="-400050" lvl="5" marL="2743200" algn="just">
              <a:spcBef>
                <a:spcPts val="360"/>
              </a:spcBef>
              <a:spcAft>
                <a:spcPts val="0"/>
              </a:spcAft>
              <a:buSzPts val="2700"/>
              <a:buChar char="•"/>
              <a:defRPr/>
            </a:lvl6pPr>
            <a:lvl7pPr indent="-400050" lvl="6" marL="3200400" algn="just">
              <a:spcBef>
                <a:spcPts val="360"/>
              </a:spcBef>
              <a:spcAft>
                <a:spcPts val="0"/>
              </a:spcAft>
              <a:buSzPts val="2700"/>
              <a:buChar char="•"/>
              <a:defRPr/>
            </a:lvl7pPr>
            <a:lvl8pPr indent="-400050" lvl="7" marL="3657600" algn="just">
              <a:spcBef>
                <a:spcPts val="360"/>
              </a:spcBef>
              <a:spcAft>
                <a:spcPts val="0"/>
              </a:spcAft>
              <a:buSzPts val="2700"/>
              <a:buChar char="•"/>
              <a:defRPr/>
            </a:lvl8pPr>
            <a:lvl9pPr indent="-400050" lvl="8" marL="4114800" algn="just">
              <a:spcBef>
                <a:spcPts val="360"/>
              </a:spcBef>
              <a:spcAft>
                <a:spcPts val="0"/>
              </a:spcAft>
              <a:buSzPts val="2700"/>
              <a:buChar char="•"/>
              <a:defRPr/>
            </a:lvl9pPr>
          </a:lstStyle>
          <a:p/>
        </p:txBody>
      </p:sp>
      <p:sp>
        <p:nvSpPr>
          <p:cNvPr id="94" name="Google Shape;94;p76"/>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76"/>
          <p:cNvSpPr txBox="1"/>
          <p:nvPr>
            <p:ph idx="11" type="ftr"/>
          </p:nvPr>
        </p:nvSpPr>
        <p:spPr>
          <a:xfrm>
            <a:off x="3352800" y="6403975"/>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76"/>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lvl1pPr indent="0" lvl="0" mar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push dir="r"/>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lip Art" type="txAndClipArt">
  <p:cSld name="TEXT_AND_CLIPART">
    <p:spTree>
      <p:nvGrpSpPr>
        <p:cNvPr id="97" name="Shape 97"/>
        <p:cNvGrpSpPr/>
        <p:nvPr/>
      </p:nvGrpSpPr>
      <p:grpSpPr>
        <a:xfrm>
          <a:off x="0" y="0"/>
          <a:ext cx="0" cy="0"/>
          <a:chOff x="0" y="0"/>
          <a:chExt cx="0" cy="0"/>
        </a:xfrm>
      </p:grpSpPr>
      <p:sp>
        <p:nvSpPr>
          <p:cNvPr id="98" name="Google Shape;98;p77"/>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77"/>
          <p:cNvSpPr txBox="1"/>
          <p:nvPr>
            <p:ph idx="1" type="body"/>
          </p:nvPr>
        </p:nvSpPr>
        <p:spPr>
          <a:xfrm>
            <a:off x="762000" y="1905000"/>
            <a:ext cx="3771900" cy="4038600"/>
          </a:xfrm>
          <a:prstGeom prst="rect">
            <a:avLst/>
          </a:prstGeom>
          <a:noFill/>
          <a:ln>
            <a:noFill/>
          </a:ln>
        </p:spPr>
        <p:txBody>
          <a:bodyPr anchorCtr="0" anchor="t" bIns="45700" lIns="91425" spcFirstLastPara="1" rIns="91425" wrap="square" tIns="45700">
            <a:noAutofit/>
          </a:bodyPr>
          <a:lstStyle>
            <a:lvl1pPr indent="-308610" lvl="0" marL="457200" algn="just">
              <a:spcBef>
                <a:spcPts val="360"/>
              </a:spcBef>
              <a:spcAft>
                <a:spcPts val="0"/>
              </a:spcAft>
              <a:buSzPts val="1260"/>
              <a:buChar char="●"/>
              <a:defRPr/>
            </a:lvl1pPr>
            <a:lvl2pPr indent="-400050" lvl="1" marL="914400" algn="just">
              <a:spcBef>
                <a:spcPts val="360"/>
              </a:spcBef>
              <a:spcAft>
                <a:spcPts val="0"/>
              </a:spcAft>
              <a:buSzPts val="2700"/>
              <a:buChar char="•"/>
              <a:defRPr/>
            </a:lvl2pPr>
            <a:lvl3pPr indent="-400050" lvl="2" marL="1371600" algn="just">
              <a:spcBef>
                <a:spcPts val="360"/>
              </a:spcBef>
              <a:spcAft>
                <a:spcPts val="0"/>
              </a:spcAft>
              <a:buSzPts val="2700"/>
              <a:buChar char="•"/>
              <a:defRPr/>
            </a:lvl3pPr>
            <a:lvl4pPr indent="-400050" lvl="3" marL="1828800" algn="just">
              <a:spcBef>
                <a:spcPts val="360"/>
              </a:spcBef>
              <a:spcAft>
                <a:spcPts val="0"/>
              </a:spcAft>
              <a:buSzPts val="2700"/>
              <a:buChar char="•"/>
              <a:defRPr/>
            </a:lvl4pPr>
            <a:lvl5pPr indent="-400050" lvl="4" marL="2286000" algn="just">
              <a:spcBef>
                <a:spcPts val="360"/>
              </a:spcBef>
              <a:spcAft>
                <a:spcPts val="0"/>
              </a:spcAft>
              <a:buSzPts val="2700"/>
              <a:buChar char="•"/>
              <a:defRPr/>
            </a:lvl5pPr>
            <a:lvl6pPr indent="-400050" lvl="5" marL="2743200" algn="just">
              <a:spcBef>
                <a:spcPts val="360"/>
              </a:spcBef>
              <a:spcAft>
                <a:spcPts val="0"/>
              </a:spcAft>
              <a:buSzPts val="2700"/>
              <a:buChar char="•"/>
              <a:defRPr/>
            </a:lvl6pPr>
            <a:lvl7pPr indent="-400050" lvl="6" marL="3200400" algn="just">
              <a:spcBef>
                <a:spcPts val="360"/>
              </a:spcBef>
              <a:spcAft>
                <a:spcPts val="0"/>
              </a:spcAft>
              <a:buSzPts val="2700"/>
              <a:buChar char="•"/>
              <a:defRPr/>
            </a:lvl7pPr>
            <a:lvl8pPr indent="-400050" lvl="7" marL="3657600" algn="just">
              <a:spcBef>
                <a:spcPts val="360"/>
              </a:spcBef>
              <a:spcAft>
                <a:spcPts val="0"/>
              </a:spcAft>
              <a:buSzPts val="2700"/>
              <a:buChar char="•"/>
              <a:defRPr/>
            </a:lvl8pPr>
            <a:lvl9pPr indent="-400050" lvl="8" marL="4114800" algn="just">
              <a:spcBef>
                <a:spcPts val="360"/>
              </a:spcBef>
              <a:spcAft>
                <a:spcPts val="0"/>
              </a:spcAft>
              <a:buSzPts val="2700"/>
              <a:buChar char="•"/>
              <a:defRPr/>
            </a:lvl9pPr>
          </a:lstStyle>
          <a:p/>
        </p:txBody>
      </p:sp>
      <p:sp>
        <p:nvSpPr>
          <p:cNvPr id="100" name="Google Shape;100;p77"/>
          <p:cNvSpPr/>
          <p:nvPr>
            <p:ph idx="2" type="clipArt"/>
          </p:nvPr>
        </p:nvSpPr>
        <p:spPr>
          <a:xfrm>
            <a:off x="4686300" y="1905000"/>
            <a:ext cx="3771900" cy="4038600"/>
          </a:xfrm>
          <a:prstGeom prst="rect">
            <a:avLst/>
          </a:prstGeom>
          <a:noFill/>
          <a:ln>
            <a:noFill/>
          </a:ln>
        </p:spPr>
      </p:sp>
      <p:sp>
        <p:nvSpPr>
          <p:cNvPr id="101" name="Google Shape;101;p77"/>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77"/>
          <p:cNvSpPr txBox="1"/>
          <p:nvPr>
            <p:ph idx="11" type="ftr"/>
          </p:nvPr>
        </p:nvSpPr>
        <p:spPr>
          <a:xfrm>
            <a:off x="3352800" y="6403975"/>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77"/>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lvl1pPr indent="0" lvl="0" mar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push dir="r"/>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104" name="Shape 104"/>
        <p:cNvGrpSpPr/>
        <p:nvPr/>
      </p:nvGrpSpPr>
      <p:grpSpPr>
        <a:xfrm>
          <a:off x="0" y="0"/>
          <a:ext cx="0" cy="0"/>
          <a:chOff x="0" y="0"/>
          <a:chExt cx="0" cy="0"/>
        </a:xfrm>
      </p:grpSpPr>
      <p:sp>
        <p:nvSpPr>
          <p:cNvPr id="105" name="Google Shape;105;p78"/>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78"/>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p78"/>
          <p:cNvSpPr txBox="1"/>
          <p:nvPr>
            <p:ph idx="11" type="ftr"/>
          </p:nvPr>
        </p:nvSpPr>
        <p:spPr>
          <a:xfrm>
            <a:off x="3352800" y="6403975"/>
            <a:ext cx="2895600" cy="45720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78"/>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lvl1pPr indent="0" lvl="0" mar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transition>
    <p:push dir="r"/>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4"/>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3300" u="none" cap="none" strike="noStrike">
                <a:solidFill>
                  <a:schemeClr val="dk2"/>
                </a:solidFill>
                <a:latin typeface="Times New Roman"/>
                <a:ea typeface="Times New Roman"/>
                <a:cs typeface="Times New Roman"/>
                <a:sym typeface="Times New Roman"/>
              </a:defRPr>
            </a:lvl1pPr>
            <a:lvl2pPr lvl="1" marR="0" rtl="0" algn="l">
              <a:spcBef>
                <a:spcPts val="0"/>
              </a:spcBef>
              <a:spcAft>
                <a:spcPts val="0"/>
              </a:spcAft>
              <a:buSzPts val="1400"/>
              <a:buNone/>
              <a:defRPr b="1" i="0" sz="3300" u="none" cap="none" strike="noStrike">
                <a:solidFill>
                  <a:schemeClr val="dk2"/>
                </a:solidFill>
                <a:latin typeface="Times New Roman"/>
                <a:ea typeface="Times New Roman"/>
                <a:cs typeface="Times New Roman"/>
                <a:sym typeface="Times New Roman"/>
              </a:defRPr>
            </a:lvl2pPr>
            <a:lvl3pPr lvl="2" marR="0" rtl="0" algn="l">
              <a:spcBef>
                <a:spcPts val="0"/>
              </a:spcBef>
              <a:spcAft>
                <a:spcPts val="0"/>
              </a:spcAft>
              <a:buSzPts val="1400"/>
              <a:buNone/>
              <a:defRPr b="1" i="0" sz="3300" u="none" cap="none" strike="noStrike">
                <a:solidFill>
                  <a:schemeClr val="dk2"/>
                </a:solidFill>
                <a:latin typeface="Times New Roman"/>
                <a:ea typeface="Times New Roman"/>
                <a:cs typeface="Times New Roman"/>
                <a:sym typeface="Times New Roman"/>
              </a:defRPr>
            </a:lvl3pPr>
            <a:lvl4pPr lvl="3" marR="0" rtl="0" algn="l">
              <a:spcBef>
                <a:spcPts val="0"/>
              </a:spcBef>
              <a:spcAft>
                <a:spcPts val="0"/>
              </a:spcAft>
              <a:buSzPts val="1400"/>
              <a:buNone/>
              <a:defRPr b="1" i="0" sz="3300" u="none" cap="none" strike="noStrike">
                <a:solidFill>
                  <a:schemeClr val="dk2"/>
                </a:solidFill>
                <a:latin typeface="Times New Roman"/>
                <a:ea typeface="Times New Roman"/>
                <a:cs typeface="Times New Roman"/>
                <a:sym typeface="Times New Roman"/>
              </a:defRPr>
            </a:lvl4pPr>
            <a:lvl5pPr lvl="4" marR="0" rtl="0" algn="l">
              <a:spcBef>
                <a:spcPts val="0"/>
              </a:spcBef>
              <a:spcAft>
                <a:spcPts val="0"/>
              </a:spcAft>
              <a:buSzPts val="1400"/>
              <a:buNone/>
              <a:defRPr b="1" i="0" sz="3300" u="none" cap="none" strike="noStrike">
                <a:solidFill>
                  <a:schemeClr val="dk2"/>
                </a:solidFill>
                <a:latin typeface="Times New Roman"/>
                <a:ea typeface="Times New Roman"/>
                <a:cs typeface="Times New Roman"/>
                <a:sym typeface="Times New Roman"/>
              </a:defRPr>
            </a:lvl5pPr>
            <a:lvl6pPr lvl="5" marR="0" rtl="0" algn="l">
              <a:spcBef>
                <a:spcPts val="0"/>
              </a:spcBef>
              <a:spcAft>
                <a:spcPts val="0"/>
              </a:spcAft>
              <a:buSzPts val="1400"/>
              <a:buNone/>
              <a:defRPr b="1" i="0" sz="3300" u="none" cap="none" strike="noStrike">
                <a:solidFill>
                  <a:schemeClr val="dk2"/>
                </a:solidFill>
                <a:latin typeface="Times New Roman"/>
                <a:ea typeface="Times New Roman"/>
                <a:cs typeface="Times New Roman"/>
                <a:sym typeface="Times New Roman"/>
              </a:defRPr>
            </a:lvl6pPr>
            <a:lvl7pPr lvl="6" marR="0" rtl="0" algn="l">
              <a:spcBef>
                <a:spcPts val="0"/>
              </a:spcBef>
              <a:spcAft>
                <a:spcPts val="0"/>
              </a:spcAft>
              <a:buSzPts val="1400"/>
              <a:buNone/>
              <a:defRPr b="1" i="0" sz="3300" u="none" cap="none" strike="noStrike">
                <a:solidFill>
                  <a:schemeClr val="dk2"/>
                </a:solidFill>
                <a:latin typeface="Times New Roman"/>
                <a:ea typeface="Times New Roman"/>
                <a:cs typeface="Times New Roman"/>
                <a:sym typeface="Times New Roman"/>
              </a:defRPr>
            </a:lvl7pPr>
            <a:lvl8pPr lvl="7" marR="0" rtl="0" algn="l">
              <a:spcBef>
                <a:spcPts val="0"/>
              </a:spcBef>
              <a:spcAft>
                <a:spcPts val="0"/>
              </a:spcAft>
              <a:buSzPts val="1400"/>
              <a:buNone/>
              <a:defRPr b="1" i="0" sz="3300" u="none" cap="none" strike="noStrike">
                <a:solidFill>
                  <a:schemeClr val="dk2"/>
                </a:solidFill>
                <a:latin typeface="Times New Roman"/>
                <a:ea typeface="Times New Roman"/>
                <a:cs typeface="Times New Roman"/>
                <a:sym typeface="Times New Roman"/>
              </a:defRPr>
            </a:lvl8pPr>
            <a:lvl9pPr lvl="8" marR="0" rtl="0" algn="l">
              <a:spcBef>
                <a:spcPts val="0"/>
              </a:spcBef>
              <a:spcAft>
                <a:spcPts val="0"/>
              </a:spcAft>
              <a:buSzPts val="1400"/>
              <a:buNone/>
              <a:defRPr b="1" i="0" sz="3300" u="none" cap="none" strike="noStrike">
                <a:solidFill>
                  <a:schemeClr val="dk2"/>
                </a:solidFill>
                <a:latin typeface="Times New Roman"/>
                <a:ea typeface="Times New Roman"/>
                <a:cs typeface="Times New Roman"/>
                <a:sym typeface="Times New Roman"/>
              </a:defRPr>
            </a:lvl9pPr>
          </a:lstStyle>
          <a:p/>
        </p:txBody>
      </p:sp>
      <p:sp>
        <p:nvSpPr>
          <p:cNvPr id="11" name="Google Shape;11;p64"/>
          <p:cNvSpPr txBox="1"/>
          <p:nvPr>
            <p:ph idx="1" type="body"/>
          </p:nvPr>
        </p:nvSpPr>
        <p:spPr>
          <a:xfrm>
            <a:off x="762000" y="1905000"/>
            <a:ext cx="7696200" cy="4038600"/>
          </a:xfrm>
          <a:prstGeom prst="rect">
            <a:avLst/>
          </a:prstGeom>
          <a:noFill/>
          <a:ln>
            <a:noFill/>
          </a:ln>
        </p:spPr>
        <p:txBody>
          <a:bodyPr anchorCtr="0" anchor="t" bIns="45700" lIns="91425" spcFirstLastPara="1" rIns="91425" wrap="square" tIns="45700">
            <a:noAutofit/>
          </a:bodyPr>
          <a:lstStyle>
            <a:lvl1pPr indent="-366395" lvl="0" marL="457200" marR="0" rtl="0" algn="just">
              <a:spcBef>
                <a:spcPts val="620"/>
              </a:spcBef>
              <a:spcAft>
                <a:spcPts val="0"/>
              </a:spcAft>
              <a:buClr>
                <a:schemeClr val="lt2"/>
              </a:buClr>
              <a:buSzPts val="2170"/>
              <a:buFont typeface="Noto Sans Symbols"/>
              <a:buChar char="●"/>
              <a:defRPr b="0" i="0" sz="3100" u="none" cap="none" strike="noStrike">
                <a:solidFill>
                  <a:schemeClr val="dk1"/>
                </a:solidFill>
                <a:latin typeface="Times New Roman"/>
                <a:ea typeface="Times New Roman"/>
                <a:cs typeface="Times New Roman"/>
                <a:sym typeface="Times New Roman"/>
              </a:defRPr>
            </a:lvl1pPr>
            <a:lvl2pPr indent="-476250" lvl="1" marL="914400" marR="0" rtl="0" algn="just">
              <a:spcBef>
                <a:spcPts val="520"/>
              </a:spcBef>
              <a:spcAft>
                <a:spcPts val="0"/>
              </a:spcAft>
              <a:buClr>
                <a:schemeClr val="accent1"/>
              </a:buClr>
              <a:buSzPts val="3900"/>
              <a:buFont typeface="Times New Roman"/>
              <a:buChar char="•"/>
              <a:defRPr b="0" i="0" sz="2600" u="none" cap="none" strike="noStrike">
                <a:solidFill>
                  <a:schemeClr val="dk1"/>
                </a:solidFill>
                <a:latin typeface="Times New Roman"/>
                <a:ea typeface="Times New Roman"/>
                <a:cs typeface="Times New Roman"/>
                <a:sym typeface="Times New Roman"/>
              </a:defRPr>
            </a:lvl2pPr>
            <a:lvl3pPr indent="-438150" lvl="2" marL="1371600" marR="0" rtl="0" algn="just">
              <a:spcBef>
                <a:spcPts val="440"/>
              </a:spcBef>
              <a:spcAft>
                <a:spcPts val="0"/>
              </a:spcAft>
              <a:buClr>
                <a:schemeClr val="dk1"/>
              </a:buClr>
              <a:buSzPts val="3300"/>
              <a:buFont typeface="Times New Roman"/>
              <a:buChar char="•"/>
              <a:defRPr b="0" i="0" sz="2200" u="none" cap="none" strike="noStrike">
                <a:solidFill>
                  <a:schemeClr val="dk1"/>
                </a:solidFill>
                <a:latin typeface="Times New Roman"/>
                <a:ea typeface="Times New Roman"/>
                <a:cs typeface="Times New Roman"/>
                <a:sym typeface="Times New Roman"/>
              </a:defRPr>
            </a:lvl3pPr>
            <a:lvl4pPr indent="-419100" lvl="3" marL="1828800" marR="0" rtl="0" algn="just">
              <a:spcBef>
                <a:spcPts val="400"/>
              </a:spcBef>
              <a:spcAft>
                <a:spcPts val="0"/>
              </a:spcAft>
              <a:buClr>
                <a:schemeClr val="dk2"/>
              </a:buClr>
              <a:buSzPts val="3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419100" lvl="4" marL="2286000" marR="0" rtl="0" algn="just">
              <a:spcBef>
                <a:spcPts val="400"/>
              </a:spcBef>
              <a:spcAft>
                <a:spcPts val="0"/>
              </a:spcAft>
              <a:buClr>
                <a:schemeClr val="folHlink"/>
              </a:buClr>
              <a:buSzPts val="3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419100" lvl="5" marL="2743200" marR="0" rtl="0" algn="just">
              <a:spcBef>
                <a:spcPts val="400"/>
              </a:spcBef>
              <a:spcAft>
                <a:spcPts val="0"/>
              </a:spcAft>
              <a:buClr>
                <a:schemeClr val="folHlink"/>
              </a:buClr>
              <a:buSzPts val="3000"/>
              <a:buFont typeface="Times New Roman"/>
              <a:buChar char="•"/>
              <a:defRPr b="0" i="0" sz="2000" u="none" cap="none" strike="noStrike">
                <a:solidFill>
                  <a:schemeClr val="dk1"/>
                </a:solidFill>
                <a:latin typeface="Times New Roman"/>
                <a:ea typeface="Times New Roman"/>
                <a:cs typeface="Times New Roman"/>
                <a:sym typeface="Times New Roman"/>
              </a:defRPr>
            </a:lvl6pPr>
            <a:lvl7pPr indent="-419100" lvl="6" marL="3200400" marR="0" rtl="0" algn="just">
              <a:spcBef>
                <a:spcPts val="400"/>
              </a:spcBef>
              <a:spcAft>
                <a:spcPts val="0"/>
              </a:spcAft>
              <a:buClr>
                <a:schemeClr val="folHlink"/>
              </a:buClr>
              <a:buSzPts val="3000"/>
              <a:buFont typeface="Times New Roman"/>
              <a:buChar char="•"/>
              <a:defRPr b="0" i="0" sz="2000" u="none" cap="none" strike="noStrike">
                <a:solidFill>
                  <a:schemeClr val="dk1"/>
                </a:solidFill>
                <a:latin typeface="Times New Roman"/>
                <a:ea typeface="Times New Roman"/>
                <a:cs typeface="Times New Roman"/>
                <a:sym typeface="Times New Roman"/>
              </a:defRPr>
            </a:lvl7pPr>
            <a:lvl8pPr indent="-419100" lvl="7" marL="3657600" marR="0" rtl="0" algn="just">
              <a:spcBef>
                <a:spcPts val="400"/>
              </a:spcBef>
              <a:spcAft>
                <a:spcPts val="0"/>
              </a:spcAft>
              <a:buClr>
                <a:schemeClr val="folHlink"/>
              </a:buClr>
              <a:buSzPts val="3000"/>
              <a:buFont typeface="Times New Roman"/>
              <a:buChar char="•"/>
              <a:defRPr b="0" i="0" sz="2000" u="none" cap="none" strike="noStrike">
                <a:solidFill>
                  <a:schemeClr val="dk1"/>
                </a:solidFill>
                <a:latin typeface="Times New Roman"/>
                <a:ea typeface="Times New Roman"/>
                <a:cs typeface="Times New Roman"/>
                <a:sym typeface="Times New Roman"/>
              </a:defRPr>
            </a:lvl8pPr>
            <a:lvl9pPr indent="-419100" lvl="8" marL="4114800" marR="0" rtl="0" algn="just">
              <a:spcBef>
                <a:spcPts val="400"/>
              </a:spcBef>
              <a:spcAft>
                <a:spcPts val="0"/>
              </a:spcAft>
              <a:buClr>
                <a:schemeClr val="folHlink"/>
              </a:buClr>
              <a:buSzPts val="3000"/>
              <a:buFont typeface="Times New Roman"/>
              <a:buChar char="•"/>
              <a:defRPr b="0" i="0" sz="2000" u="none" cap="none" strike="noStrike">
                <a:solidFill>
                  <a:schemeClr val="dk1"/>
                </a:solidFill>
                <a:latin typeface="Times New Roman"/>
                <a:ea typeface="Times New Roman"/>
                <a:cs typeface="Times New Roman"/>
                <a:sym typeface="Times New Roman"/>
              </a:defRPr>
            </a:lvl9pPr>
          </a:lstStyle>
          <a:p/>
        </p:txBody>
      </p:sp>
      <p:sp>
        <p:nvSpPr>
          <p:cNvPr id="12" name="Google Shape;12;p64"/>
          <p:cNvSpPr txBox="1"/>
          <p:nvPr>
            <p:ph idx="10" type="dt"/>
          </p:nvPr>
        </p:nvSpPr>
        <p:spPr>
          <a:xfrm>
            <a:off x="762000" y="6391275"/>
            <a:ext cx="2057400" cy="4572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64"/>
          <p:cNvSpPr txBox="1"/>
          <p:nvPr>
            <p:ph idx="11" type="ftr"/>
          </p:nvPr>
        </p:nvSpPr>
        <p:spPr>
          <a:xfrm>
            <a:off x="3352800" y="6403975"/>
            <a:ext cx="2895600" cy="4572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64"/>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lvl1pPr indent="0" lvl="0" marL="0" marR="0" rtl="0" algn="ct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rtl="0" algn="ct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rtl="0" algn="ct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rtl="0" algn="ct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rtl="0" algn="ct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rtl="0" algn="ct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rtl="0" algn="ct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rtl="0" algn="ct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rtl="0" algn="ct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grpSp>
        <p:nvGrpSpPr>
          <p:cNvPr id="15" name="Google Shape;15;p64"/>
          <p:cNvGrpSpPr/>
          <p:nvPr/>
        </p:nvGrpSpPr>
        <p:grpSpPr>
          <a:xfrm>
            <a:off x="168275" y="228600"/>
            <a:ext cx="8823325" cy="6096000"/>
            <a:chOff x="106" y="144"/>
            <a:chExt cx="5558" cy="3840"/>
          </a:xfrm>
        </p:grpSpPr>
        <p:sp>
          <p:nvSpPr>
            <p:cNvPr id="16" name="Google Shape;16;p64"/>
            <p:cNvSpPr/>
            <p:nvPr/>
          </p:nvSpPr>
          <p:spPr>
            <a:xfrm>
              <a:off x="106" y="144"/>
              <a:ext cx="5558" cy="3840"/>
            </a:xfrm>
            <a:prstGeom prst="roundRect">
              <a:avLst>
                <a:gd fmla="val 11046" name="adj"/>
              </a:avLst>
            </a:prstGeom>
            <a:noFill/>
            <a:ln cap="flat" cmpd="sng" w="28575">
              <a:solidFill>
                <a:schemeClr val="fo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17" name="Google Shape;17;p64"/>
            <p:cNvCxnSpPr/>
            <p:nvPr/>
          </p:nvCxnSpPr>
          <p:spPr>
            <a:xfrm>
              <a:off x="480" y="1077"/>
              <a:ext cx="4848" cy="0"/>
            </a:xfrm>
            <a:prstGeom prst="straightConnector1">
              <a:avLst/>
            </a:prstGeom>
            <a:noFill/>
            <a:ln cap="flat" cmpd="sng" w="38100">
              <a:solidFill>
                <a:schemeClr val="folHlink"/>
              </a:solidFill>
              <a:prstDash val="solid"/>
              <a:round/>
              <a:headEnd len="med" w="med" type="none"/>
              <a:tailEnd len="med" w="med" type="none"/>
            </a:ln>
          </p:spPr>
        </p:cxn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push dir="r"/>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20.png"/><Relationship Id="rId5" Type="http://schemas.openxmlformats.org/officeDocument/2006/relationships/image" Target="../media/image3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4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4.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0.png"/><Relationship Id="rId4" Type="http://schemas.openxmlformats.org/officeDocument/2006/relationships/image" Target="../media/image12.png"/><Relationship Id="rId5"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image" Target="../media/image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1.png"/><Relationship Id="rId4" Type="http://schemas.openxmlformats.org/officeDocument/2006/relationships/image" Target="../media/image9.png"/><Relationship Id="rId5" Type="http://schemas.openxmlformats.org/officeDocument/2006/relationships/image" Target="../media/image3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slide" Target="/ppt/slides/slide4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slide" Target="/ppt/slides/slide4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5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3.png"/><Relationship Id="rId4" Type="http://schemas.openxmlformats.org/officeDocument/2006/relationships/image" Target="../media/image52.png"/><Relationship Id="rId5" Type="http://schemas.openxmlformats.org/officeDocument/2006/relationships/image" Target="../media/image29.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5.png"/><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slide" Target="/ppt/slid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slide" Target="/ppt/slides/slide4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slide" Target="/ppt/slid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slide" Target="/ppt/slides/slide4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slide" Target="/ppt/slides/slide4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slide" Target="/ppt/slides/slide4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4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5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27.png"/><Relationship Id="rId4" Type="http://schemas.openxmlformats.org/officeDocument/2006/relationships/image" Target="../media/image48.png"/><Relationship Id="rId5" Type="http://schemas.openxmlformats.org/officeDocument/2006/relationships/image" Target="../media/image5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4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39.png"/><Relationship Id="rId4" Type="http://schemas.openxmlformats.org/officeDocument/2006/relationships/image" Target="../media/image3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5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4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
          <p:cNvSpPr txBox="1"/>
          <p:nvPr>
            <p:ph type="ctrTitle"/>
          </p:nvPr>
        </p:nvSpPr>
        <p:spPr>
          <a:xfrm>
            <a:off x="685800" y="857250"/>
            <a:ext cx="7772400" cy="2266950"/>
          </a:xfrm>
          <a:prstGeom prst="rect">
            <a:avLst/>
          </a:prstGeom>
          <a:noFill/>
          <a:ln>
            <a:noFill/>
          </a:ln>
        </p:spPr>
        <p:txBody>
          <a:bodyPr anchorCtr="1" anchor="ctr" bIns="45700" lIns="91425" spcFirstLastPara="1" rIns="91425" wrap="square" tIns="45700">
            <a:noAutofit/>
          </a:bodyPr>
          <a:lstStyle/>
          <a:p>
            <a:pPr indent="0" lvl="0" marL="0" rtl="0" algn="ctr">
              <a:spcBef>
                <a:spcPts val="0"/>
              </a:spcBef>
              <a:spcAft>
                <a:spcPts val="0"/>
              </a:spcAft>
              <a:buNone/>
            </a:pPr>
            <a:r>
              <a:rPr b="0" lang="en-US"/>
              <a:t>Chương 3 - ext</a:t>
            </a:r>
            <a:endParaRPr b="0"/>
          </a:p>
        </p:txBody>
      </p:sp>
      <p:sp>
        <p:nvSpPr>
          <p:cNvPr id="114" name="Google Shape;114;p1"/>
          <p:cNvSpPr txBox="1"/>
          <p:nvPr>
            <p:ph idx="1" type="subTitle"/>
          </p:nvPr>
        </p:nvSpPr>
        <p:spPr>
          <a:xfrm>
            <a:off x="1752600" y="3567113"/>
            <a:ext cx="5410200" cy="1905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SzPts val="2310"/>
              <a:buNone/>
            </a:pPr>
            <a:r>
              <a:rPr lang="en-US"/>
              <a:t>Ra Quyết Định</a:t>
            </a:r>
            <a:endParaRPr/>
          </a:p>
          <a:p>
            <a:pPr indent="0" lvl="0" marL="0" rtl="0" algn="ctr">
              <a:spcBef>
                <a:spcPts val="660"/>
              </a:spcBef>
              <a:spcAft>
                <a:spcPts val="0"/>
              </a:spcAft>
              <a:buSzPts val="2310"/>
              <a:buNone/>
            </a:pPr>
            <a:r>
              <a:rPr lang="en-US"/>
              <a:t>Trong Quản Lý</a:t>
            </a:r>
            <a:endParaRPr/>
          </a:p>
        </p:txBody>
      </p:sp>
    </p:spTree>
  </p:cSld>
  <p:clrMapOvr>
    <a:masterClrMapping/>
  </p:clrMapOvr>
  <p:transition>
    <p:push dir="r"/>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20" name="Google Shape;120;p2"/>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C2. Ra quyết định trong Quản lý</a:t>
            </a:r>
            <a:endParaRPr/>
          </a:p>
        </p:txBody>
      </p:sp>
      <p:sp>
        <p:nvSpPr>
          <p:cNvPr id="121" name="Google Shape;121;p2"/>
          <p:cNvSpPr txBox="1"/>
          <p:nvPr>
            <p:ph idx="1" type="body"/>
          </p:nvPr>
        </p:nvSpPr>
        <p:spPr>
          <a:xfrm>
            <a:off x="762000" y="1905000"/>
            <a:ext cx="7848600" cy="4724400"/>
          </a:xfrm>
          <a:prstGeom prst="rect">
            <a:avLst/>
          </a:prstGeom>
          <a:noFill/>
          <a:ln>
            <a:noFill/>
          </a:ln>
        </p:spPr>
        <p:txBody>
          <a:bodyPr anchorCtr="0" anchor="t" bIns="45700" lIns="91425" spcFirstLastPara="1" rIns="91425" wrap="square" tIns="45700">
            <a:noAutofit/>
          </a:bodyPr>
          <a:lstStyle/>
          <a:p>
            <a:pPr indent="-346075" lvl="0" marL="346075" rtl="0" algn="just">
              <a:spcBef>
                <a:spcPts val="0"/>
              </a:spcBef>
              <a:spcAft>
                <a:spcPts val="0"/>
              </a:spcAft>
              <a:buClr>
                <a:schemeClr val="dk2"/>
              </a:buClr>
              <a:buSzPts val="2325"/>
              <a:buFont typeface="Noto Sans Symbols"/>
              <a:buAutoNum type="arabicPeriod"/>
            </a:pPr>
            <a:r>
              <a:rPr b="1" lang="en-US"/>
              <a:t>Giới thiệu về RQĐ trong quản lý</a:t>
            </a:r>
            <a:endParaRPr i="1"/>
          </a:p>
          <a:p>
            <a:pPr indent="-346075" lvl="0" marL="346075" rtl="0" algn="just">
              <a:spcBef>
                <a:spcPts val="1800"/>
              </a:spcBef>
              <a:spcAft>
                <a:spcPts val="0"/>
              </a:spcAft>
              <a:buClr>
                <a:schemeClr val="dk2"/>
              </a:buClr>
              <a:buSzPts val="2170"/>
              <a:buFont typeface="Times New Roman"/>
              <a:buAutoNum type="arabicPeriod"/>
            </a:pPr>
            <a:r>
              <a:rPr b="1" lang="en-US"/>
              <a:t>Các loại RQĐ trong quản lý</a:t>
            </a:r>
            <a:endParaRPr i="1"/>
          </a:p>
          <a:p>
            <a:pPr indent="-346075" lvl="0" marL="346075" rtl="0" algn="just">
              <a:spcBef>
                <a:spcPts val="1800"/>
              </a:spcBef>
              <a:spcAft>
                <a:spcPts val="0"/>
              </a:spcAft>
              <a:buClr>
                <a:schemeClr val="dk2"/>
              </a:buClr>
              <a:buSzPts val="2170"/>
              <a:buFont typeface="Times New Roman"/>
              <a:buAutoNum type="arabicPeriod"/>
            </a:pPr>
            <a:r>
              <a:rPr b="1" lang="en-US"/>
              <a:t>Quá trình RQĐ</a:t>
            </a:r>
            <a:endParaRPr i="1"/>
          </a:p>
          <a:p>
            <a:pPr indent="-346075" lvl="0" marL="346075" rtl="0" algn="just">
              <a:spcBef>
                <a:spcPts val="1800"/>
              </a:spcBef>
              <a:spcAft>
                <a:spcPts val="0"/>
              </a:spcAft>
              <a:buClr>
                <a:schemeClr val="dk2"/>
              </a:buClr>
              <a:buSzPts val="2170"/>
              <a:buFont typeface="Times New Roman"/>
              <a:buAutoNum type="arabicPeriod"/>
            </a:pPr>
            <a:r>
              <a:rPr b="1" lang="en-US"/>
              <a:t>RQĐ trong điều kiện rủi ro</a:t>
            </a:r>
            <a:endParaRPr/>
          </a:p>
          <a:p>
            <a:pPr indent="-346075" lvl="0" marL="346075" rtl="0" algn="just">
              <a:spcBef>
                <a:spcPts val="1800"/>
              </a:spcBef>
              <a:spcAft>
                <a:spcPts val="0"/>
              </a:spcAft>
              <a:buClr>
                <a:schemeClr val="dk2"/>
              </a:buClr>
              <a:buSzPts val="2170"/>
              <a:buFont typeface="Times New Roman"/>
              <a:buAutoNum type="arabicPeriod"/>
            </a:pPr>
            <a:r>
              <a:rPr b="1" lang="en-US"/>
              <a:t>RQĐ trong điều kiện không chắc chắn</a:t>
            </a:r>
            <a:endParaRPr/>
          </a:p>
          <a:p>
            <a:pPr indent="-346075" lvl="0" marL="346075" rtl="0" algn="just">
              <a:spcBef>
                <a:spcPts val="1800"/>
              </a:spcBef>
              <a:spcAft>
                <a:spcPts val="0"/>
              </a:spcAft>
              <a:buClr>
                <a:schemeClr val="dk2"/>
              </a:buClr>
              <a:buSzPts val="2170"/>
              <a:buFont typeface="Times New Roman"/>
              <a:buAutoNum type="arabicPeriod"/>
            </a:pPr>
            <a:r>
              <a:rPr b="1" lang="en-US"/>
              <a:t>RQĐ theo mô hình toán trong PPĐL</a:t>
            </a:r>
            <a:endParaRPr/>
          </a:p>
        </p:txBody>
      </p:sp>
    </p:spTree>
  </p:cSld>
  <p:clrMapOvr>
    <a:masterClrMapping/>
  </p:clrMapOvr>
  <p:transition>
    <p:push dir="r"/>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27" name="Google Shape;127;p3"/>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1. Giới thiệu về RQĐ trong quản lý</a:t>
            </a:r>
            <a:endParaRPr b="0" i="1"/>
          </a:p>
        </p:txBody>
      </p:sp>
      <p:sp>
        <p:nvSpPr>
          <p:cNvPr id="128" name="Google Shape;128;p3"/>
          <p:cNvSpPr txBox="1"/>
          <p:nvPr>
            <p:ph idx="1"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0" marL="346075" rtl="0" algn="just">
              <a:spcBef>
                <a:spcPts val="0"/>
              </a:spcBef>
              <a:spcAft>
                <a:spcPts val="0"/>
              </a:spcAft>
              <a:buClr>
                <a:schemeClr val="dk2"/>
              </a:buClr>
              <a:buSzPts val="1680"/>
              <a:buFont typeface="Noto Sans Symbols"/>
              <a:buNone/>
            </a:pPr>
            <a:r>
              <a:rPr b="1" lang="en-US" sz="2400"/>
              <a:t>	1.1. Tổng quát</a:t>
            </a:r>
            <a:endParaRPr i="1" sz="2400"/>
          </a:p>
          <a:p>
            <a:pPr indent="-346075" lvl="0" marL="346075" rtl="0" algn="just">
              <a:spcBef>
                <a:spcPts val="2400"/>
              </a:spcBef>
              <a:spcAft>
                <a:spcPts val="0"/>
              </a:spcAft>
              <a:buClr>
                <a:schemeClr val="dk2"/>
              </a:buClr>
              <a:buSzPts val="1680"/>
              <a:buFont typeface="Noto Sans Symbols"/>
              <a:buNone/>
            </a:pPr>
            <a:r>
              <a:rPr b="1" lang="en-US" sz="2400"/>
              <a:t>	1.2. Định nghĩa</a:t>
            </a:r>
            <a:endParaRPr i="1" sz="2400"/>
          </a:p>
          <a:p>
            <a:pPr indent="-346075" lvl="0" marL="346075" rtl="0" algn="just">
              <a:spcBef>
                <a:spcPts val="2400"/>
              </a:spcBef>
              <a:spcAft>
                <a:spcPts val="0"/>
              </a:spcAft>
              <a:buClr>
                <a:schemeClr val="dk2"/>
              </a:buClr>
              <a:buSzPts val="1680"/>
              <a:buFont typeface="Noto Sans Symbols"/>
              <a:buNone/>
            </a:pPr>
            <a:r>
              <a:rPr b="1" lang="en-US" sz="2400"/>
              <a:t>	1.3. Giả thiết về sự hợp lý</a:t>
            </a:r>
            <a:endParaRPr i="1" sz="2400"/>
          </a:p>
        </p:txBody>
      </p:sp>
    </p:spTree>
  </p:cSld>
  <p:clrMapOvr>
    <a:masterClrMapping/>
  </p:clrMapOvr>
  <p:transition>
    <p:push dir="r"/>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4"/>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34" name="Google Shape;134;p4"/>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1. Giới thiệu về RQĐ trong quản lý </a:t>
            </a:r>
            <a:r>
              <a:rPr b="0" i="1" lang="en-US"/>
              <a:t>(tt)</a:t>
            </a:r>
            <a:endParaRPr/>
          </a:p>
        </p:txBody>
      </p:sp>
      <p:sp>
        <p:nvSpPr>
          <p:cNvPr id="135" name="Google Shape;135;p4"/>
          <p:cNvSpPr txBox="1"/>
          <p:nvPr>
            <p:ph idx="1"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0" marL="346075" rtl="0" algn="just">
              <a:lnSpc>
                <a:spcPct val="90000"/>
              </a:lnSpc>
              <a:spcBef>
                <a:spcPts val="0"/>
              </a:spcBef>
              <a:spcAft>
                <a:spcPts val="0"/>
              </a:spcAft>
              <a:buClr>
                <a:schemeClr val="dk2"/>
              </a:buClr>
              <a:buSzPts val="1960"/>
              <a:buFont typeface="Noto Sans Symbols"/>
              <a:buNone/>
            </a:pPr>
            <a:r>
              <a:rPr b="1" lang="en-US" sz="2800"/>
              <a:t>1.1. Tổng quát</a:t>
            </a:r>
            <a:endParaRPr i="1" sz="2800"/>
          </a:p>
          <a:p>
            <a:pPr indent="-346075" lvl="1" marL="746125" rtl="0" algn="just">
              <a:lnSpc>
                <a:spcPct val="90000"/>
              </a:lnSpc>
              <a:spcBef>
                <a:spcPts val="1800"/>
              </a:spcBef>
              <a:spcAft>
                <a:spcPts val="0"/>
              </a:spcAft>
              <a:buClr>
                <a:schemeClr val="dk2"/>
              </a:buClr>
              <a:buSzPts val="3000"/>
              <a:buFont typeface="Times New Roman"/>
              <a:buChar char="•"/>
            </a:pPr>
            <a:r>
              <a:rPr lang="en-US" sz="2000"/>
              <a:t>Khi nào cần RQĐ? (When)</a:t>
            </a:r>
            <a:endParaRPr/>
          </a:p>
          <a:p>
            <a:pPr indent="-346075" lvl="1" marL="746125" rtl="0" algn="just">
              <a:lnSpc>
                <a:spcPct val="90000"/>
              </a:lnSpc>
              <a:spcBef>
                <a:spcPts val="1200"/>
              </a:spcBef>
              <a:spcAft>
                <a:spcPts val="0"/>
              </a:spcAft>
              <a:buClr>
                <a:schemeClr val="dk2"/>
              </a:buClr>
              <a:buSzPts val="3000"/>
              <a:buFont typeface="Times New Roman"/>
              <a:buChar char="•"/>
            </a:pPr>
            <a:r>
              <a:rPr lang="en-US" sz="2000"/>
              <a:t>Ai sẽ RQĐ? (Who)</a:t>
            </a:r>
            <a:endParaRPr/>
          </a:p>
          <a:p>
            <a:pPr indent="-346075" lvl="1" marL="746125" rtl="0" algn="just">
              <a:lnSpc>
                <a:spcPct val="90000"/>
              </a:lnSpc>
              <a:spcBef>
                <a:spcPts val="1200"/>
              </a:spcBef>
              <a:spcAft>
                <a:spcPts val="0"/>
              </a:spcAft>
              <a:buClr>
                <a:schemeClr val="dk2"/>
              </a:buClr>
              <a:buSzPts val="3000"/>
              <a:buFont typeface="Times New Roman"/>
              <a:buChar char="•"/>
            </a:pPr>
            <a:r>
              <a:rPr lang="en-US" sz="2000"/>
              <a:t>RQĐ thường gặp ở đâu? (Where)</a:t>
            </a:r>
            <a:endParaRPr/>
          </a:p>
          <a:p>
            <a:pPr indent="-346075" lvl="1" marL="746125" rtl="0" algn="just">
              <a:lnSpc>
                <a:spcPct val="90000"/>
              </a:lnSpc>
              <a:spcBef>
                <a:spcPts val="1200"/>
              </a:spcBef>
              <a:spcAft>
                <a:spcPts val="0"/>
              </a:spcAft>
              <a:buClr>
                <a:schemeClr val="dk2"/>
              </a:buClr>
              <a:buSzPts val="3000"/>
              <a:buFont typeface="Times New Roman"/>
              <a:buChar char="•"/>
            </a:pPr>
            <a:r>
              <a:rPr lang="en-US" sz="2000"/>
              <a:t>Tại sao </a:t>
            </a:r>
            <a:r>
              <a:rPr b="1" lang="en-US" sz="2000"/>
              <a:t>Người</a:t>
            </a:r>
            <a:r>
              <a:rPr lang="en-US" sz="2000"/>
              <a:t> </a:t>
            </a:r>
            <a:r>
              <a:rPr b="1" lang="en-US" sz="2000"/>
              <a:t>QL gọi là Người RQĐ</a:t>
            </a:r>
            <a:r>
              <a:rPr lang="en-US" sz="2000"/>
              <a:t>? (Why)</a:t>
            </a:r>
            <a:endParaRPr/>
          </a:p>
          <a:p>
            <a:pPr indent="-346075" lvl="1" marL="746125" rtl="0" algn="just">
              <a:lnSpc>
                <a:spcPct val="90000"/>
              </a:lnSpc>
              <a:spcBef>
                <a:spcPts val="1200"/>
              </a:spcBef>
              <a:spcAft>
                <a:spcPts val="0"/>
              </a:spcAft>
              <a:buClr>
                <a:schemeClr val="dk2"/>
              </a:buClr>
              <a:buSzPts val="3000"/>
              <a:buFont typeface="Times New Roman"/>
              <a:buChar char="•"/>
            </a:pPr>
            <a:r>
              <a:rPr b="1" lang="en-US" sz="2000"/>
              <a:t>QL </a:t>
            </a:r>
            <a:r>
              <a:rPr lang="en-US" sz="2000"/>
              <a:t>gồm </a:t>
            </a:r>
            <a:r>
              <a:rPr b="1" lang="en-US" sz="2000"/>
              <a:t>4 chức năng</a:t>
            </a:r>
            <a:endParaRPr/>
          </a:p>
          <a:p>
            <a:pPr indent="-228600" lvl="2" marL="1143000" rtl="0" algn="just">
              <a:lnSpc>
                <a:spcPct val="90000"/>
              </a:lnSpc>
              <a:spcBef>
                <a:spcPts val="1200"/>
              </a:spcBef>
              <a:spcAft>
                <a:spcPts val="0"/>
              </a:spcAft>
              <a:buClr>
                <a:schemeClr val="dk2"/>
              </a:buClr>
              <a:buSzPts val="2700"/>
              <a:buFont typeface="Times New Roman"/>
              <a:buChar char="•"/>
            </a:pPr>
            <a:r>
              <a:rPr lang="en-US" sz="1800"/>
              <a:t>Lập kế hoạch</a:t>
            </a:r>
            <a:endParaRPr/>
          </a:p>
          <a:p>
            <a:pPr indent="-228600" lvl="2" marL="1143000" rtl="0" algn="just">
              <a:lnSpc>
                <a:spcPct val="90000"/>
              </a:lnSpc>
              <a:spcBef>
                <a:spcPts val="1200"/>
              </a:spcBef>
              <a:spcAft>
                <a:spcPts val="0"/>
              </a:spcAft>
              <a:buClr>
                <a:schemeClr val="dk2"/>
              </a:buClr>
              <a:buSzPts val="2700"/>
              <a:buFont typeface="Times New Roman"/>
              <a:buChar char="•"/>
            </a:pPr>
            <a:r>
              <a:rPr lang="en-US" sz="1800"/>
              <a:t>Tổ chức</a:t>
            </a:r>
            <a:endParaRPr/>
          </a:p>
          <a:p>
            <a:pPr indent="-228600" lvl="2" marL="1143000" rtl="0" algn="just">
              <a:lnSpc>
                <a:spcPct val="90000"/>
              </a:lnSpc>
              <a:spcBef>
                <a:spcPts val="1200"/>
              </a:spcBef>
              <a:spcAft>
                <a:spcPts val="0"/>
              </a:spcAft>
              <a:buClr>
                <a:schemeClr val="dk2"/>
              </a:buClr>
              <a:buSzPts val="2700"/>
              <a:buFont typeface="Times New Roman"/>
              <a:buChar char="•"/>
            </a:pPr>
            <a:r>
              <a:rPr lang="en-US" sz="1800"/>
              <a:t>Kiểm tra</a:t>
            </a:r>
            <a:endParaRPr/>
          </a:p>
          <a:p>
            <a:pPr indent="-228600" lvl="2" marL="1143000" rtl="0" algn="just">
              <a:lnSpc>
                <a:spcPct val="90000"/>
              </a:lnSpc>
              <a:spcBef>
                <a:spcPts val="1200"/>
              </a:spcBef>
              <a:spcAft>
                <a:spcPts val="0"/>
              </a:spcAft>
              <a:buClr>
                <a:schemeClr val="dk2"/>
              </a:buClr>
              <a:buSzPts val="2700"/>
              <a:buFont typeface="Times New Roman"/>
              <a:buChar char="•"/>
            </a:pPr>
            <a:r>
              <a:rPr lang="en-US" sz="1800"/>
              <a:t>Lãnh đạo</a:t>
            </a:r>
            <a:endParaRPr/>
          </a:p>
        </p:txBody>
      </p:sp>
    </p:spTree>
  </p:cSld>
  <p:clrMapOvr>
    <a:masterClrMapping/>
  </p:clrMapOvr>
  <p:transition>
    <p:push dir="r"/>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5"/>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41" name="Google Shape;141;p5"/>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1. Giới thiệu về RQĐ trong quản lý </a:t>
            </a:r>
            <a:r>
              <a:rPr b="0" i="1" lang="en-US"/>
              <a:t>(tt)</a:t>
            </a:r>
            <a:endParaRPr/>
          </a:p>
        </p:txBody>
      </p:sp>
      <p:sp>
        <p:nvSpPr>
          <p:cNvPr id="142" name="Google Shape;142;p5"/>
          <p:cNvSpPr txBox="1"/>
          <p:nvPr>
            <p:ph idx="1" type="body"/>
          </p:nvPr>
        </p:nvSpPr>
        <p:spPr>
          <a:xfrm>
            <a:off x="762000" y="1828800"/>
            <a:ext cx="7696200" cy="4572000"/>
          </a:xfrm>
          <a:prstGeom prst="rect">
            <a:avLst/>
          </a:prstGeom>
          <a:noFill/>
          <a:ln>
            <a:noFill/>
          </a:ln>
        </p:spPr>
        <p:txBody>
          <a:bodyPr anchorCtr="0" anchor="t" bIns="45700" lIns="91425" spcFirstLastPara="1" rIns="91425" wrap="square" tIns="45700">
            <a:noAutofit/>
          </a:bodyPr>
          <a:lstStyle/>
          <a:p>
            <a:pPr indent="-346075" lvl="0" marL="346075" rtl="0" algn="just">
              <a:spcBef>
                <a:spcPts val="0"/>
              </a:spcBef>
              <a:spcAft>
                <a:spcPts val="0"/>
              </a:spcAft>
              <a:buClr>
                <a:schemeClr val="dk2"/>
              </a:buClr>
              <a:buSzPts val="2240"/>
              <a:buFont typeface="Noto Sans Symbols"/>
              <a:buNone/>
            </a:pPr>
            <a:r>
              <a:rPr b="1" lang="en-US" sz="3200"/>
              <a:t>1.2. Định nghĩa</a:t>
            </a:r>
            <a:endParaRPr i="1" sz="3200"/>
          </a:p>
          <a:p>
            <a:pPr indent="-346075" lvl="1" marL="746125" rtl="0" algn="just">
              <a:lnSpc>
                <a:spcPct val="120000"/>
              </a:lnSpc>
              <a:spcBef>
                <a:spcPts val="1200"/>
              </a:spcBef>
              <a:spcAft>
                <a:spcPts val="0"/>
              </a:spcAft>
              <a:buClr>
                <a:schemeClr val="dk2"/>
              </a:buClr>
              <a:buSzPts val="3600"/>
              <a:buFont typeface="Times New Roman"/>
              <a:buChar char="•"/>
            </a:pPr>
            <a:r>
              <a:rPr b="1" lang="en-US" sz="2400"/>
              <a:t>RQĐ</a:t>
            </a:r>
            <a:r>
              <a:rPr lang="en-US" sz="2400"/>
              <a:t> là một quá trình lựa chọn có ý thức giữa 2 hoặc nhiều PA (Giải pháp GQVĐ), </a:t>
            </a:r>
            <a:r>
              <a:rPr b="1" lang="en-US" sz="2400"/>
              <a:t>để</a:t>
            </a:r>
            <a:r>
              <a:rPr lang="en-US" sz="2400"/>
              <a:t> chọn ra </a:t>
            </a:r>
            <a:r>
              <a:rPr b="1" i="1" lang="en-US" sz="2400"/>
              <a:t>1 PA</a:t>
            </a:r>
            <a:r>
              <a:rPr lang="en-US" sz="2400"/>
              <a:t> và PA này sẽ tạo ra được 1 kết quả mong muốn </a:t>
            </a:r>
            <a:r>
              <a:rPr b="1" i="1" lang="en-US" sz="2400"/>
              <a:t>trong các điều kiện ràng buộc đã biết.</a:t>
            </a:r>
            <a:endParaRPr/>
          </a:p>
          <a:p>
            <a:pPr indent="-346075" lvl="1" marL="746125" rtl="0" algn="just">
              <a:lnSpc>
                <a:spcPct val="120000"/>
              </a:lnSpc>
              <a:spcBef>
                <a:spcPts val="1080"/>
              </a:spcBef>
              <a:spcAft>
                <a:spcPts val="0"/>
              </a:spcAft>
              <a:buClr>
                <a:schemeClr val="dk2"/>
              </a:buClr>
              <a:buSzPts val="3600"/>
              <a:buFont typeface="Times New Roman"/>
              <a:buChar char="•"/>
            </a:pPr>
            <a:r>
              <a:rPr lang="en-US" sz="2400"/>
              <a:t>Chỉ có 1 PA để lựa chọn, thì không phải là Bài toán RQĐ.</a:t>
            </a:r>
            <a:endParaRPr/>
          </a:p>
          <a:p>
            <a:pPr indent="-346075" lvl="1" marL="746125" rtl="0" algn="just">
              <a:lnSpc>
                <a:spcPct val="120000"/>
              </a:lnSpc>
              <a:spcBef>
                <a:spcPts val="1080"/>
              </a:spcBef>
              <a:spcAft>
                <a:spcPts val="0"/>
              </a:spcAft>
              <a:buClr>
                <a:schemeClr val="dk2"/>
              </a:buClr>
              <a:buSzPts val="3600"/>
              <a:buFont typeface="Times New Roman"/>
              <a:buChar char="•"/>
            </a:pPr>
            <a:r>
              <a:rPr b="1" lang="en-US" sz="2400"/>
              <a:t>“Không làm gì cả”</a:t>
            </a:r>
            <a:r>
              <a:rPr lang="en-US" sz="2400"/>
              <a:t> </a:t>
            </a:r>
            <a:r>
              <a:rPr i="1" lang="en-US" sz="2400"/>
              <a:t>(Do nothing)</a:t>
            </a:r>
            <a:r>
              <a:rPr lang="en-US" sz="2400"/>
              <a:t> cũng là PA.</a:t>
            </a:r>
            <a:endParaRPr/>
          </a:p>
        </p:txBody>
      </p:sp>
    </p:spTree>
  </p:cSld>
  <p:clrMapOvr>
    <a:masterClrMapping/>
  </p:clrMapOvr>
  <p:transition>
    <p:push dir="r"/>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6"/>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48" name="Google Shape;148;p6"/>
          <p:cNvSpPr txBox="1"/>
          <p:nvPr>
            <p:ph type="title"/>
          </p:nvPr>
        </p:nvSpPr>
        <p:spPr>
          <a:xfrm>
            <a:off x="762000" y="256500"/>
            <a:ext cx="7696200" cy="8697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1. Giới thiệu về RQĐ trong quản lý </a:t>
            </a:r>
            <a:r>
              <a:rPr b="0" i="1" lang="en-US"/>
              <a:t>(tt)</a:t>
            </a:r>
            <a:endParaRPr/>
          </a:p>
        </p:txBody>
      </p:sp>
      <p:sp>
        <p:nvSpPr>
          <p:cNvPr id="149" name="Google Shape;149;p6"/>
          <p:cNvSpPr txBox="1"/>
          <p:nvPr>
            <p:ph idx="1" type="body"/>
          </p:nvPr>
        </p:nvSpPr>
        <p:spPr>
          <a:xfrm>
            <a:off x="762000" y="1683475"/>
            <a:ext cx="7696200" cy="4572000"/>
          </a:xfrm>
          <a:prstGeom prst="rect">
            <a:avLst/>
          </a:prstGeom>
          <a:noFill/>
          <a:ln>
            <a:noFill/>
          </a:ln>
        </p:spPr>
        <p:txBody>
          <a:bodyPr anchorCtr="0" anchor="t" bIns="45700" lIns="91425" spcFirstLastPara="1" rIns="91425" wrap="square" tIns="45700">
            <a:noAutofit/>
          </a:bodyPr>
          <a:lstStyle/>
          <a:p>
            <a:pPr indent="-346075" lvl="0" marL="346075" rtl="0" algn="just">
              <a:lnSpc>
                <a:spcPct val="80000"/>
              </a:lnSpc>
              <a:spcBef>
                <a:spcPts val="0"/>
              </a:spcBef>
              <a:spcAft>
                <a:spcPts val="0"/>
              </a:spcAft>
              <a:buClr>
                <a:schemeClr val="dk2"/>
              </a:buClr>
              <a:buSzPts val="1260"/>
              <a:buFont typeface="Noto Sans Symbols"/>
              <a:buNone/>
            </a:pPr>
            <a:r>
              <a:rPr b="1" lang="en-US" sz="1800"/>
              <a:t>1.3. Giả thiết về sự hợp lý</a:t>
            </a:r>
            <a:endParaRPr sz="1800"/>
          </a:p>
          <a:p>
            <a:pPr indent="-346075" lvl="0" marL="346075" rtl="0" algn="just">
              <a:lnSpc>
                <a:spcPct val="90000"/>
              </a:lnSpc>
              <a:spcBef>
                <a:spcPts val="540"/>
              </a:spcBef>
              <a:spcAft>
                <a:spcPts val="0"/>
              </a:spcAft>
              <a:buClr>
                <a:schemeClr val="dk2"/>
              </a:buClr>
              <a:buSzPts val="1260"/>
              <a:buChar char="●"/>
            </a:pPr>
            <a:r>
              <a:rPr lang="en-US" sz="1800"/>
              <a:t>Giả thuyết về sự hợp lý “</a:t>
            </a:r>
            <a:r>
              <a:rPr b="1" lang="en-US" sz="1800"/>
              <a:t>Các QĐ được đưa ra</a:t>
            </a:r>
            <a:r>
              <a:rPr lang="en-US" sz="1800"/>
              <a:t> là </a:t>
            </a:r>
            <a:r>
              <a:rPr lang="en-US" sz="1800">
                <a:solidFill>
                  <a:srgbClr val="000099"/>
                </a:solidFill>
              </a:rPr>
              <a:t>KQ của 1 sự lựa chọn</a:t>
            </a:r>
            <a:r>
              <a:rPr lang="en-US" sz="1800"/>
              <a:t> </a:t>
            </a:r>
            <a:r>
              <a:rPr lang="en-US" sz="1800">
                <a:solidFill>
                  <a:schemeClr val="dk2"/>
                </a:solidFill>
              </a:rPr>
              <a:t>có lập trường</a:t>
            </a:r>
            <a:r>
              <a:rPr lang="en-US" sz="1800"/>
              <a:t> và </a:t>
            </a:r>
            <a:r>
              <a:rPr lang="en-US" sz="1800">
                <a:solidFill>
                  <a:schemeClr val="dk2"/>
                </a:solidFill>
              </a:rPr>
              <a:t>với mục tiêu là tối ưu </a:t>
            </a:r>
            <a:r>
              <a:rPr i="1" lang="en-US" sz="1800">
                <a:solidFill>
                  <a:schemeClr val="dk2"/>
                </a:solidFill>
              </a:rPr>
              <a:t>(cực đại hay cực tiểu)</a:t>
            </a:r>
            <a:r>
              <a:rPr lang="en-US" sz="1800">
                <a:solidFill>
                  <a:schemeClr val="dk2"/>
                </a:solidFill>
              </a:rPr>
              <a:t> một giá trị nào đó</a:t>
            </a:r>
            <a:r>
              <a:rPr lang="en-US" sz="1800"/>
              <a:t> </a:t>
            </a:r>
            <a:r>
              <a:rPr lang="en-US" sz="1800">
                <a:solidFill>
                  <a:srgbClr val="000099"/>
                </a:solidFill>
              </a:rPr>
              <a:t>trong những điều kiện ràng buộc cụ thể</a:t>
            </a:r>
            <a:r>
              <a:rPr lang="en-US" sz="1800"/>
              <a:t>.”</a:t>
            </a:r>
            <a:endParaRPr/>
          </a:p>
          <a:p>
            <a:pPr indent="-346075" lvl="0" marL="346075" rtl="0" algn="just">
              <a:lnSpc>
                <a:spcPct val="90000"/>
              </a:lnSpc>
              <a:spcBef>
                <a:spcPts val="540"/>
              </a:spcBef>
              <a:spcAft>
                <a:spcPts val="0"/>
              </a:spcAft>
              <a:buClr>
                <a:schemeClr val="dk2"/>
              </a:buClr>
              <a:buSzPts val="1260"/>
              <a:buChar char="●"/>
            </a:pPr>
            <a:r>
              <a:rPr lang="en-US" sz="1800"/>
              <a:t>Quá trình RQĐ hợp lý dựa trên các giả thuyết</a:t>
            </a:r>
            <a:endParaRPr/>
          </a:p>
          <a:p>
            <a:pPr indent="-285750" lvl="1" marL="742950" rtl="0" algn="just">
              <a:lnSpc>
                <a:spcPct val="90000"/>
              </a:lnSpc>
              <a:spcBef>
                <a:spcPts val="540"/>
              </a:spcBef>
              <a:spcAft>
                <a:spcPts val="0"/>
              </a:spcAft>
              <a:buSzPts val="2700"/>
              <a:buFont typeface="Times New Roman"/>
              <a:buChar char="•"/>
            </a:pPr>
            <a:r>
              <a:rPr lang="en-US" sz="1800"/>
              <a:t>Người RQĐ có </a:t>
            </a:r>
            <a:r>
              <a:rPr b="1" lang="en-US" sz="1800"/>
              <a:t>mục tiêu</a:t>
            </a:r>
            <a:r>
              <a:rPr lang="en-US" sz="1800"/>
              <a:t> cụ thể.</a:t>
            </a:r>
            <a:endParaRPr/>
          </a:p>
          <a:p>
            <a:pPr indent="-285750" lvl="1" marL="742950" rtl="0" algn="just">
              <a:lnSpc>
                <a:spcPct val="90000"/>
              </a:lnSpc>
              <a:spcBef>
                <a:spcPts val="540"/>
              </a:spcBef>
              <a:spcAft>
                <a:spcPts val="0"/>
              </a:spcAft>
              <a:buSzPts val="2700"/>
              <a:buFont typeface="Times New Roman"/>
              <a:buChar char="•"/>
            </a:pPr>
            <a:r>
              <a:rPr lang="en-US" sz="1800"/>
              <a:t>Xác định tất cả </a:t>
            </a:r>
            <a:r>
              <a:rPr b="1" lang="en-US" sz="1800"/>
              <a:t>các PA</a:t>
            </a:r>
            <a:r>
              <a:rPr lang="en-US" sz="1800"/>
              <a:t> có thể có. </a:t>
            </a:r>
            <a:endParaRPr/>
          </a:p>
          <a:p>
            <a:pPr indent="-285750" lvl="1" marL="742950" rtl="0" algn="just">
              <a:lnSpc>
                <a:spcPct val="90000"/>
              </a:lnSpc>
              <a:spcBef>
                <a:spcPts val="540"/>
              </a:spcBef>
              <a:spcAft>
                <a:spcPts val="0"/>
              </a:spcAft>
              <a:buSzPts val="2700"/>
              <a:buFont typeface="Times New Roman"/>
              <a:buChar char="•"/>
            </a:pPr>
            <a:r>
              <a:rPr lang="en-US" sz="1800"/>
              <a:t>Sự ưa thích của người RQĐ cần phải rõ ràng, cần lượng hóa các </a:t>
            </a:r>
            <a:r>
              <a:rPr b="1" lang="en-US" sz="1800"/>
              <a:t>tiêu chuẩn</a:t>
            </a:r>
            <a:r>
              <a:rPr lang="en-US" sz="1800"/>
              <a:t> của các PA và xếp hạng các tiêu chuẩn theo thứ tự ưa thích của người RQĐ.</a:t>
            </a:r>
            <a:endParaRPr/>
          </a:p>
          <a:p>
            <a:pPr indent="-285750" lvl="1" marL="742950" rtl="0" algn="just">
              <a:lnSpc>
                <a:spcPct val="90000"/>
              </a:lnSpc>
              <a:spcBef>
                <a:spcPts val="540"/>
              </a:spcBef>
              <a:spcAft>
                <a:spcPts val="0"/>
              </a:spcAft>
              <a:buSzPts val="2700"/>
              <a:buFont typeface="Times New Roman"/>
              <a:buChar char="•"/>
            </a:pPr>
            <a:r>
              <a:rPr lang="en-US" sz="1800"/>
              <a:t>Sự ưa thích của người RQĐ là không thay đổi trong quá trình RQĐ, nghĩa là các tiêu chuẩn và </a:t>
            </a:r>
            <a:r>
              <a:rPr b="1" lang="en-US" sz="1800"/>
              <a:t>trọng số</a:t>
            </a:r>
            <a:r>
              <a:rPr lang="en-US" sz="1800"/>
              <a:t> của các tiêu chuẩn là không đổi.</a:t>
            </a:r>
            <a:endParaRPr/>
          </a:p>
          <a:p>
            <a:pPr indent="-285750" lvl="1" marL="742950" rtl="0" algn="just">
              <a:lnSpc>
                <a:spcPct val="90000"/>
              </a:lnSpc>
              <a:spcBef>
                <a:spcPts val="540"/>
              </a:spcBef>
              <a:spcAft>
                <a:spcPts val="0"/>
              </a:spcAft>
              <a:buSzPts val="2700"/>
              <a:buFont typeface="Times New Roman"/>
              <a:buChar char="•"/>
            </a:pPr>
            <a:r>
              <a:rPr lang="en-US" sz="1800"/>
              <a:t>Không có sự hạn chế về </a:t>
            </a:r>
            <a:r>
              <a:rPr b="1" lang="en-US" sz="1800"/>
              <a:t>thời gian và chi phí</a:t>
            </a:r>
            <a:r>
              <a:rPr lang="en-US" sz="1800"/>
              <a:t>, nghĩa là có đủ điều kiện để thu thập đầy đủ thông tin trước khi RQĐ.</a:t>
            </a:r>
            <a:endParaRPr/>
          </a:p>
          <a:p>
            <a:pPr indent="-285750" lvl="1" marL="742950" rtl="0" algn="just">
              <a:lnSpc>
                <a:spcPct val="90000"/>
              </a:lnSpc>
              <a:spcBef>
                <a:spcPts val="540"/>
              </a:spcBef>
              <a:spcAft>
                <a:spcPts val="0"/>
              </a:spcAft>
              <a:buSzPts val="2700"/>
              <a:buFont typeface="Times New Roman"/>
              <a:buChar char="•"/>
            </a:pPr>
            <a:r>
              <a:rPr lang="en-US" sz="1800"/>
              <a:t>Sự lựa chọn cuối cùng sẽ là </a:t>
            </a:r>
            <a:r>
              <a:rPr b="1" lang="en-US" sz="1800"/>
              <a:t>tối ưu mục tiêu</a:t>
            </a:r>
            <a:r>
              <a:rPr lang="en-US" sz="1800"/>
              <a:t> mong muốn.</a:t>
            </a:r>
            <a:endParaRPr/>
          </a:p>
        </p:txBody>
      </p:sp>
    </p:spTree>
  </p:cSld>
  <p:clrMapOvr>
    <a:masterClrMapping/>
  </p:clrMapOvr>
  <p:transition>
    <p:push dir="r"/>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7"/>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55" name="Google Shape;155;p7"/>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2. Các loại RQĐ trong quản lý</a:t>
            </a:r>
            <a:endParaRPr b="0" i="1"/>
          </a:p>
        </p:txBody>
      </p:sp>
      <p:sp>
        <p:nvSpPr>
          <p:cNvPr id="156" name="Google Shape;156;p7"/>
          <p:cNvSpPr txBox="1"/>
          <p:nvPr>
            <p:ph idx="1" type="body"/>
          </p:nvPr>
        </p:nvSpPr>
        <p:spPr>
          <a:xfrm>
            <a:off x="762000" y="1905000"/>
            <a:ext cx="7696200" cy="4724400"/>
          </a:xfrm>
          <a:prstGeom prst="rect">
            <a:avLst/>
          </a:prstGeom>
          <a:noFill/>
          <a:ln>
            <a:noFill/>
          </a:ln>
        </p:spPr>
        <p:txBody>
          <a:bodyPr anchorCtr="0" anchor="t" bIns="45700" lIns="91425" spcFirstLastPara="1" rIns="91425" wrap="square" tIns="45700">
            <a:noAutofit/>
          </a:bodyPr>
          <a:lstStyle/>
          <a:p>
            <a:pPr indent="-346075" lvl="1" marL="746125" rtl="0" algn="just">
              <a:spcBef>
                <a:spcPts val="0"/>
              </a:spcBef>
              <a:spcAft>
                <a:spcPts val="0"/>
              </a:spcAft>
              <a:buSzPts val="1500"/>
              <a:buFont typeface="Times New Roman"/>
              <a:buNone/>
            </a:pPr>
            <a:r>
              <a:t/>
            </a:r>
            <a:endParaRPr b="1" sz="1000"/>
          </a:p>
          <a:p>
            <a:pPr indent="-346075" lvl="1" marL="746125" rtl="0" algn="just">
              <a:spcBef>
                <a:spcPts val="2400"/>
              </a:spcBef>
              <a:spcAft>
                <a:spcPts val="0"/>
              </a:spcAft>
              <a:buSzPts val="4200"/>
              <a:buFont typeface="Times New Roman"/>
              <a:buNone/>
            </a:pPr>
            <a:r>
              <a:rPr b="1" lang="en-US" sz="2800"/>
              <a:t>2.1. RQĐ theo cấu trúc của vấn đề</a:t>
            </a:r>
            <a:endParaRPr/>
          </a:p>
          <a:p>
            <a:pPr indent="-346075" lvl="1" marL="746125" rtl="0" algn="just">
              <a:spcBef>
                <a:spcPts val="2400"/>
              </a:spcBef>
              <a:spcAft>
                <a:spcPts val="0"/>
              </a:spcAft>
              <a:buSzPts val="4200"/>
              <a:buFont typeface="Times New Roman"/>
              <a:buNone/>
            </a:pPr>
            <a:r>
              <a:rPr b="1" lang="en-US" sz="2800"/>
              <a:t>2.2. RQĐ theo tính chất của vấn đề</a:t>
            </a:r>
            <a:endParaRPr/>
          </a:p>
        </p:txBody>
      </p:sp>
    </p:spTree>
  </p:cSld>
  <p:clrMapOvr>
    <a:masterClrMapping/>
  </p:clrMapOvr>
  <p:transition>
    <p:push dir="r"/>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8"/>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2. Các loại RQĐ trong quản lý</a:t>
            </a:r>
            <a:r>
              <a:rPr b="0" i="1" lang="en-US"/>
              <a:t> (tt)</a:t>
            </a:r>
            <a:endParaRPr/>
          </a:p>
        </p:txBody>
      </p:sp>
      <p:sp>
        <p:nvSpPr>
          <p:cNvPr id="162" name="Google Shape;162;p8"/>
          <p:cNvSpPr txBox="1"/>
          <p:nvPr>
            <p:ph idx="1"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SzPts val="4200"/>
              <a:buFont typeface="Times New Roman"/>
              <a:buNone/>
            </a:pPr>
            <a:r>
              <a:rPr b="1" lang="en-US" sz="2800"/>
              <a:t>2.1. RQĐ theo cấu trúc của vấn đề</a:t>
            </a:r>
            <a:r>
              <a:rPr lang="en-US" sz="2800"/>
              <a:t>  </a:t>
            </a:r>
            <a:r>
              <a:rPr i="1" lang="en-US" sz="2800"/>
              <a:t>(2 loại)</a:t>
            </a:r>
            <a:endParaRPr b="1" i="1" sz="2800"/>
          </a:p>
          <a:p>
            <a:pPr indent="-342900" lvl="0" marL="342900" rtl="0" algn="just">
              <a:lnSpc>
                <a:spcPct val="115000"/>
              </a:lnSpc>
              <a:spcBef>
                <a:spcPts val="1440"/>
              </a:spcBef>
              <a:spcAft>
                <a:spcPts val="0"/>
              </a:spcAft>
              <a:buSzPts val="1680"/>
              <a:buChar char="●"/>
            </a:pPr>
            <a:r>
              <a:rPr b="1" lang="en-US" sz="2400"/>
              <a:t>Vấn đề có cấu trúc tốt:</a:t>
            </a:r>
            <a:r>
              <a:rPr i="1" lang="en-US" sz="2400"/>
              <a:t> Khi MT rõ ràng, TT đầy đủ,  dạng bài toán quen thuộc. </a:t>
            </a:r>
            <a:r>
              <a:rPr b="1" i="1" lang="en-US" sz="2400" u="sng"/>
              <a:t>	VD</a:t>
            </a:r>
            <a:r>
              <a:rPr lang="en-US" sz="2400"/>
              <a:t> </a:t>
            </a:r>
            <a:endParaRPr/>
          </a:p>
          <a:p>
            <a:pPr indent="-342900" lvl="0" marL="342900" rtl="0" algn="just">
              <a:lnSpc>
                <a:spcPct val="115000"/>
              </a:lnSpc>
              <a:spcBef>
                <a:spcPts val="1200"/>
              </a:spcBef>
              <a:spcAft>
                <a:spcPts val="0"/>
              </a:spcAft>
              <a:buSzPts val="1680"/>
              <a:buFont typeface="Noto Sans Symbols"/>
              <a:buNone/>
            </a:pPr>
            <a:r>
              <a:rPr lang="en-US" sz="2400"/>
              <a:t>	-&gt; </a:t>
            </a:r>
            <a:r>
              <a:rPr b="1" i="1" lang="en-US" sz="2400"/>
              <a:t>RQĐ theo chương trình</a:t>
            </a:r>
            <a:r>
              <a:rPr lang="en-US" sz="2400"/>
              <a:t> thường theo</a:t>
            </a:r>
            <a:r>
              <a:rPr i="1" lang="en-US" sz="2400"/>
              <a:t> </a:t>
            </a:r>
            <a:r>
              <a:rPr b="1" i="1" lang="en-US" sz="2400"/>
              <a:t>Quy trình, Luật, Chính sách</a:t>
            </a:r>
            <a:endParaRPr b="1" i="1" sz="2400" u="sng"/>
          </a:p>
          <a:p>
            <a:pPr indent="-342900" lvl="0" marL="342900" rtl="0" algn="just">
              <a:lnSpc>
                <a:spcPct val="115000"/>
              </a:lnSpc>
              <a:spcBef>
                <a:spcPts val="1560"/>
              </a:spcBef>
              <a:spcAft>
                <a:spcPts val="0"/>
              </a:spcAft>
              <a:buSzPts val="1680"/>
              <a:buChar char="●"/>
            </a:pPr>
            <a:r>
              <a:rPr b="1" lang="en-US" sz="2400"/>
              <a:t>Vấn đề có cấu trúc kém:</a:t>
            </a:r>
            <a:r>
              <a:rPr i="1" lang="en-US" sz="2400"/>
              <a:t> Dạng bài toán mới mẻ, TT không đầy đủ, không rõ ràng. </a:t>
            </a:r>
            <a:r>
              <a:rPr b="1" i="1" lang="en-US" sz="2400" u="sng"/>
              <a:t>VD</a:t>
            </a:r>
            <a:r>
              <a:rPr lang="en-US" sz="2400"/>
              <a:t> </a:t>
            </a:r>
            <a:endParaRPr/>
          </a:p>
          <a:p>
            <a:pPr indent="-342900" lvl="0" marL="342900" rtl="0" algn="just">
              <a:lnSpc>
                <a:spcPct val="115000"/>
              </a:lnSpc>
              <a:spcBef>
                <a:spcPts val="1200"/>
              </a:spcBef>
              <a:spcAft>
                <a:spcPts val="0"/>
              </a:spcAft>
              <a:buSzPts val="1680"/>
              <a:buFont typeface="Noto Sans Symbols"/>
              <a:buNone/>
            </a:pPr>
            <a:r>
              <a:rPr lang="en-US" sz="2400"/>
              <a:t>	-&gt; </a:t>
            </a:r>
            <a:r>
              <a:rPr b="1" i="1" lang="en-US" sz="2400"/>
              <a:t>RQĐ không theo chương trình</a:t>
            </a:r>
            <a:endParaRPr sz="2400"/>
          </a:p>
        </p:txBody>
      </p:sp>
      <p:sp>
        <p:nvSpPr>
          <p:cNvPr id="163" name="Google Shape;163;p8"/>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164" name="Google Shape;164;p8"/>
          <p:cNvPicPr preferRelativeResize="0"/>
          <p:nvPr/>
        </p:nvPicPr>
        <p:blipFill rotWithShape="1">
          <a:blip r:embed="rId3">
            <a:alphaModFix/>
          </a:blip>
          <a:srcRect b="0" l="0" r="0" t="0"/>
          <a:stretch/>
        </p:blipFill>
        <p:spPr>
          <a:xfrm>
            <a:off x="152400" y="3276600"/>
            <a:ext cx="1079500" cy="1341438"/>
          </a:xfrm>
          <a:prstGeom prst="rect">
            <a:avLst/>
          </a:prstGeom>
          <a:noFill/>
          <a:ln>
            <a:noFill/>
          </a:ln>
        </p:spPr>
      </p:pic>
      <p:pic>
        <p:nvPicPr>
          <p:cNvPr id="165" name="Google Shape;165;p8"/>
          <p:cNvPicPr preferRelativeResize="0"/>
          <p:nvPr/>
        </p:nvPicPr>
        <p:blipFill rotWithShape="1">
          <a:blip r:embed="rId4">
            <a:alphaModFix/>
          </a:blip>
          <a:srcRect b="0" l="0" r="0" t="0"/>
          <a:stretch/>
        </p:blipFill>
        <p:spPr>
          <a:xfrm>
            <a:off x="5562600" y="5321300"/>
            <a:ext cx="1689100" cy="1536700"/>
          </a:xfrm>
          <a:prstGeom prst="rect">
            <a:avLst/>
          </a:prstGeom>
          <a:noFill/>
          <a:ln>
            <a:noFill/>
          </a:ln>
        </p:spPr>
      </p:pic>
    </p:spTree>
  </p:cSld>
  <p:clrMapOvr>
    <a:masterClrMapping/>
  </p:clrMapOvr>
  <p:transition>
    <p:push dir="r"/>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9"/>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2. Các loại RQĐ trong quản lý</a:t>
            </a:r>
            <a:r>
              <a:rPr b="0" i="1" lang="en-US"/>
              <a:t> (tt)</a:t>
            </a:r>
            <a:endParaRPr/>
          </a:p>
        </p:txBody>
      </p:sp>
      <p:sp>
        <p:nvSpPr>
          <p:cNvPr id="171" name="Google Shape;171;p9"/>
          <p:cNvSpPr txBox="1"/>
          <p:nvPr>
            <p:ph idx="1" type="body"/>
          </p:nvPr>
        </p:nvSpPr>
        <p:spPr>
          <a:xfrm>
            <a:off x="762000" y="1905000"/>
            <a:ext cx="7696200" cy="40386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SzPts val="4200"/>
              <a:buFont typeface="Times New Roman"/>
              <a:buNone/>
            </a:pPr>
            <a:r>
              <a:rPr b="1" lang="en-US" sz="2800"/>
              <a:t>2.1. RQĐ theo tính chất của vấn đề</a:t>
            </a:r>
            <a:r>
              <a:rPr lang="en-US" sz="2800"/>
              <a:t>  </a:t>
            </a:r>
            <a:r>
              <a:rPr i="1" lang="en-US" sz="2800"/>
              <a:t>(3 loại)</a:t>
            </a:r>
            <a:endParaRPr b="1" i="1" sz="2800"/>
          </a:p>
        </p:txBody>
      </p:sp>
      <p:sp>
        <p:nvSpPr>
          <p:cNvPr id="172" name="Google Shape;172;p9"/>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173" name="Google Shape;173;p9"/>
          <p:cNvPicPr preferRelativeResize="0"/>
          <p:nvPr/>
        </p:nvPicPr>
        <p:blipFill rotWithShape="1">
          <a:blip r:embed="rId3">
            <a:alphaModFix/>
          </a:blip>
          <a:srcRect b="0" l="0" r="0" t="0"/>
          <a:stretch/>
        </p:blipFill>
        <p:spPr>
          <a:xfrm>
            <a:off x="6096000" y="2425700"/>
            <a:ext cx="2743200" cy="3898900"/>
          </a:xfrm>
          <a:prstGeom prst="rect">
            <a:avLst/>
          </a:prstGeom>
          <a:noFill/>
          <a:ln>
            <a:noFill/>
          </a:ln>
        </p:spPr>
      </p:pic>
      <p:pic>
        <p:nvPicPr>
          <p:cNvPr id="174" name="Google Shape;174;p9"/>
          <p:cNvPicPr preferRelativeResize="0"/>
          <p:nvPr/>
        </p:nvPicPr>
        <p:blipFill rotWithShape="1">
          <a:blip r:embed="rId4">
            <a:alphaModFix/>
          </a:blip>
          <a:srcRect b="0" l="0" r="0" t="0"/>
          <a:stretch/>
        </p:blipFill>
        <p:spPr>
          <a:xfrm>
            <a:off x="762000" y="2514600"/>
            <a:ext cx="5187950" cy="4114800"/>
          </a:xfrm>
          <a:prstGeom prst="rect">
            <a:avLst/>
          </a:prstGeom>
          <a:noFill/>
          <a:ln>
            <a:noFill/>
          </a:ln>
        </p:spPr>
      </p:pic>
    </p:spTree>
  </p:cSld>
  <p:clrMapOvr>
    <a:masterClrMapping/>
  </p:clrMapOvr>
  <p:transition>
    <p:push dir="r"/>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0"/>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80" name="Google Shape;180;p10"/>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3. Quá trình RQĐ</a:t>
            </a:r>
            <a:endParaRPr/>
          </a:p>
        </p:txBody>
      </p:sp>
      <p:sp>
        <p:nvSpPr>
          <p:cNvPr id="181" name="Google Shape;181;p10"/>
          <p:cNvSpPr txBox="1"/>
          <p:nvPr>
            <p:ph idx="1"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1" marL="746125" rtl="0" algn="just">
              <a:spcBef>
                <a:spcPts val="0"/>
              </a:spcBef>
              <a:spcAft>
                <a:spcPts val="0"/>
              </a:spcAft>
              <a:buClr>
                <a:schemeClr val="dk2"/>
              </a:buClr>
              <a:buSzPts val="4200"/>
              <a:buFont typeface="Times New Roman"/>
              <a:buNone/>
            </a:pPr>
            <a:r>
              <a:rPr b="1" lang="en-US" sz="2800"/>
              <a:t>3.1. Các bước của Quá trình RQĐ</a:t>
            </a:r>
            <a:endParaRPr/>
          </a:p>
          <a:p>
            <a:pPr indent="-346075" lvl="1" marL="746125" rtl="0" algn="just">
              <a:spcBef>
                <a:spcPts val="2400"/>
              </a:spcBef>
              <a:spcAft>
                <a:spcPts val="0"/>
              </a:spcAft>
              <a:buClr>
                <a:schemeClr val="dk2"/>
              </a:buClr>
              <a:buSzPts val="4200"/>
              <a:buFont typeface="Times New Roman"/>
              <a:buNone/>
            </a:pPr>
            <a:r>
              <a:rPr b="1" lang="en-US" sz="2800"/>
              <a:t>3.2. Bài toán RQĐ</a:t>
            </a:r>
            <a:endParaRPr/>
          </a:p>
        </p:txBody>
      </p:sp>
    </p:spTree>
  </p:cSld>
  <p:clrMapOvr>
    <a:masterClrMapping/>
  </p:clrMapOvr>
  <p:transition>
    <p:push dir="r"/>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3. Quá trình RQĐ </a:t>
            </a:r>
            <a:r>
              <a:rPr b="0" i="1" lang="en-US"/>
              <a:t>(tt)</a:t>
            </a:r>
            <a:endParaRPr/>
          </a:p>
        </p:txBody>
      </p:sp>
      <p:sp>
        <p:nvSpPr>
          <p:cNvPr id="187" name="Google Shape;187;p11"/>
          <p:cNvSpPr txBox="1"/>
          <p:nvPr>
            <p:ph idx="1"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1" marL="400050" rtl="0" algn="just">
              <a:spcBef>
                <a:spcPts val="0"/>
              </a:spcBef>
              <a:spcAft>
                <a:spcPts val="0"/>
              </a:spcAft>
              <a:buClr>
                <a:schemeClr val="dk2"/>
              </a:buClr>
              <a:buSzPts val="4200"/>
              <a:buFont typeface="Times New Roman"/>
              <a:buNone/>
            </a:pPr>
            <a:r>
              <a:rPr b="1" lang="en-US" sz="2800"/>
              <a:t>3.1. Các bước của Quá trình RQĐ</a:t>
            </a:r>
            <a:r>
              <a:rPr lang="en-US" sz="2800"/>
              <a:t>  </a:t>
            </a:r>
            <a:r>
              <a:rPr i="1" lang="en-US" sz="2800"/>
              <a:t>(6 bước)</a:t>
            </a:r>
            <a:endParaRPr b="1" i="1" sz="2800"/>
          </a:p>
          <a:p>
            <a:pPr indent="-342900" lvl="0" marL="342900" rtl="0" algn="just">
              <a:lnSpc>
                <a:spcPct val="110000"/>
              </a:lnSpc>
              <a:spcBef>
                <a:spcPts val="1480"/>
              </a:spcBef>
              <a:spcAft>
                <a:spcPts val="0"/>
              </a:spcAft>
              <a:buSzPts val="1540"/>
              <a:buChar char="●"/>
            </a:pPr>
            <a:r>
              <a:rPr b="1" lang="en-US" sz="2200" u="sng">
                <a:solidFill>
                  <a:srgbClr val="000099"/>
                </a:solidFill>
              </a:rPr>
              <a:t>B1:</a:t>
            </a:r>
            <a:r>
              <a:rPr lang="en-US" sz="2200">
                <a:solidFill>
                  <a:srgbClr val="000099"/>
                </a:solidFill>
              </a:rPr>
              <a:t> Xác định rõ </a:t>
            </a:r>
            <a:r>
              <a:rPr b="1" lang="en-US" sz="2200">
                <a:solidFill>
                  <a:srgbClr val="000099"/>
                </a:solidFill>
              </a:rPr>
              <a:t>VĐ</a:t>
            </a:r>
            <a:r>
              <a:rPr lang="en-US" sz="2200">
                <a:solidFill>
                  <a:srgbClr val="000099"/>
                </a:solidFill>
              </a:rPr>
              <a:t> cần giải quyết.</a:t>
            </a:r>
            <a:endParaRPr/>
          </a:p>
          <a:p>
            <a:pPr indent="-342900" lvl="0" marL="342900" rtl="0" algn="just">
              <a:lnSpc>
                <a:spcPct val="110000"/>
              </a:lnSpc>
              <a:spcBef>
                <a:spcPts val="880"/>
              </a:spcBef>
              <a:spcAft>
                <a:spcPts val="0"/>
              </a:spcAft>
              <a:buSzPts val="1540"/>
              <a:buChar char="●"/>
            </a:pPr>
            <a:r>
              <a:rPr b="1" lang="en-US" sz="2200" u="sng">
                <a:solidFill>
                  <a:schemeClr val="dk2"/>
                </a:solidFill>
              </a:rPr>
              <a:t>B2:</a:t>
            </a:r>
            <a:r>
              <a:rPr lang="en-US" sz="2200">
                <a:solidFill>
                  <a:schemeClr val="dk2"/>
                </a:solidFill>
              </a:rPr>
              <a:t> Liệt kê tất cả </a:t>
            </a:r>
            <a:r>
              <a:rPr b="1" lang="en-US" sz="2200">
                <a:solidFill>
                  <a:schemeClr val="dk2"/>
                </a:solidFill>
              </a:rPr>
              <a:t>các PA</a:t>
            </a:r>
            <a:r>
              <a:rPr lang="en-US" sz="2200">
                <a:solidFill>
                  <a:schemeClr val="dk2"/>
                </a:solidFill>
              </a:rPr>
              <a:t> có thể có.</a:t>
            </a:r>
            <a:endParaRPr/>
          </a:p>
          <a:p>
            <a:pPr indent="-342900" lvl="0" marL="342900" rtl="0" algn="just">
              <a:lnSpc>
                <a:spcPct val="110000"/>
              </a:lnSpc>
              <a:spcBef>
                <a:spcPts val="880"/>
              </a:spcBef>
              <a:spcAft>
                <a:spcPts val="0"/>
              </a:spcAft>
              <a:buSzPts val="1540"/>
              <a:buChar char="●"/>
            </a:pPr>
            <a:r>
              <a:rPr b="1" lang="en-US" sz="2200" u="sng">
                <a:solidFill>
                  <a:srgbClr val="000099"/>
                </a:solidFill>
              </a:rPr>
              <a:t>B3:</a:t>
            </a:r>
            <a:r>
              <a:rPr lang="en-US" sz="2200">
                <a:solidFill>
                  <a:srgbClr val="000099"/>
                </a:solidFill>
              </a:rPr>
              <a:t> Nhận ra </a:t>
            </a:r>
            <a:r>
              <a:rPr b="1" lang="en-US" sz="2200">
                <a:solidFill>
                  <a:srgbClr val="000099"/>
                </a:solidFill>
              </a:rPr>
              <a:t>Các tình huống/Các trạng thái</a:t>
            </a:r>
            <a:r>
              <a:rPr lang="en-US" sz="2200">
                <a:solidFill>
                  <a:srgbClr val="000099"/>
                </a:solidFill>
              </a:rPr>
              <a:t>.</a:t>
            </a:r>
            <a:endParaRPr/>
          </a:p>
          <a:p>
            <a:pPr indent="-342900" lvl="0" marL="342900" rtl="0" algn="just">
              <a:lnSpc>
                <a:spcPct val="110000"/>
              </a:lnSpc>
              <a:spcBef>
                <a:spcPts val="880"/>
              </a:spcBef>
              <a:spcAft>
                <a:spcPts val="0"/>
              </a:spcAft>
              <a:buSzPts val="1540"/>
              <a:buChar char="●"/>
            </a:pPr>
            <a:r>
              <a:rPr b="1" lang="en-US" sz="2200" u="sng">
                <a:solidFill>
                  <a:schemeClr val="dk2"/>
                </a:solidFill>
              </a:rPr>
              <a:t>B4:</a:t>
            </a:r>
            <a:r>
              <a:rPr lang="en-US" sz="2200">
                <a:solidFill>
                  <a:schemeClr val="dk2"/>
                </a:solidFill>
              </a:rPr>
              <a:t> Ước lượng tất cả </a:t>
            </a:r>
            <a:r>
              <a:rPr b="1" lang="en-US" sz="2200">
                <a:solidFill>
                  <a:schemeClr val="dk2"/>
                </a:solidFill>
              </a:rPr>
              <a:t>lợi ích và chi phí</a:t>
            </a:r>
            <a:r>
              <a:rPr lang="en-US" sz="2200">
                <a:solidFill>
                  <a:schemeClr val="dk2"/>
                </a:solidFill>
              </a:rPr>
              <a:t> cho mỗi PA ứng với mỗi trạng thái.</a:t>
            </a:r>
            <a:endParaRPr/>
          </a:p>
          <a:p>
            <a:pPr indent="-342900" lvl="0" marL="342900" rtl="0" algn="just">
              <a:lnSpc>
                <a:spcPct val="110000"/>
              </a:lnSpc>
              <a:spcBef>
                <a:spcPts val="880"/>
              </a:spcBef>
              <a:spcAft>
                <a:spcPts val="0"/>
              </a:spcAft>
              <a:buSzPts val="1540"/>
              <a:buChar char="●"/>
            </a:pPr>
            <a:r>
              <a:rPr b="1" lang="en-US" sz="2200" u="sng">
                <a:solidFill>
                  <a:srgbClr val="000099"/>
                </a:solidFill>
              </a:rPr>
              <a:t>B5:</a:t>
            </a:r>
            <a:r>
              <a:rPr lang="en-US" sz="2200">
                <a:solidFill>
                  <a:srgbClr val="000099"/>
                </a:solidFill>
              </a:rPr>
              <a:t> Lựa chọn </a:t>
            </a:r>
            <a:r>
              <a:rPr b="1" lang="en-US" sz="2200">
                <a:solidFill>
                  <a:srgbClr val="000099"/>
                </a:solidFill>
              </a:rPr>
              <a:t>1 mô hình toán học</a:t>
            </a:r>
            <a:r>
              <a:rPr lang="en-US" sz="2200">
                <a:solidFill>
                  <a:srgbClr val="000099"/>
                </a:solidFill>
              </a:rPr>
              <a:t> trong PPĐL để tìm lời giải tối  ưu.</a:t>
            </a:r>
            <a:endParaRPr/>
          </a:p>
          <a:p>
            <a:pPr indent="-342900" lvl="0" marL="342900" rtl="0" algn="just">
              <a:lnSpc>
                <a:spcPct val="110000"/>
              </a:lnSpc>
              <a:spcBef>
                <a:spcPts val="880"/>
              </a:spcBef>
              <a:spcAft>
                <a:spcPts val="0"/>
              </a:spcAft>
              <a:buSzPts val="1540"/>
              <a:buChar char="●"/>
            </a:pPr>
            <a:r>
              <a:rPr b="1" lang="en-US" sz="2200" u="sng">
                <a:solidFill>
                  <a:schemeClr val="dk2"/>
                </a:solidFill>
              </a:rPr>
              <a:t>B6:</a:t>
            </a:r>
            <a:r>
              <a:rPr lang="en-US" sz="2200">
                <a:solidFill>
                  <a:schemeClr val="dk2"/>
                </a:solidFill>
              </a:rPr>
              <a:t> Áp dụng mô hình để tìm </a:t>
            </a:r>
            <a:r>
              <a:rPr b="1" lang="en-US" sz="2200">
                <a:solidFill>
                  <a:schemeClr val="dk2"/>
                </a:solidFill>
              </a:rPr>
              <a:t>lời giải</a:t>
            </a:r>
            <a:r>
              <a:rPr lang="en-US" sz="2200">
                <a:solidFill>
                  <a:schemeClr val="dk2"/>
                </a:solidFill>
              </a:rPr>
              <a:t> và dựa vào đó để RQĐ.</a:t>
            </a:r>
            <a:endParaRPr/>
          </a:p>
        </p:txBody>
      </p:sp>
      <p:sp>
        <p:nvSpPr>
          <p:cNvPr id="188" name="Google Shape;188;p11"/>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2"/>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3. Quá trình RQĐ </a:t>
            </a:r>
            <a:r>
              <a:rPr b="0" i="1" lang="en-US" sz="2900"/>
              <a:t>(tt)</a:t>
            </a:r>
            <a:br>
              <a:rPr b="0" i="1" lang="en-US" sz="2900"/>
            </a:br>
            <a:r>
              <a:rPr lang="en-US" sz="2400">
                <a:solidFill>
                  <a:schemeClr val="dk1"/>
                </a:solidFill>
              </a:rPr>
              <a:t>3.2. Bài toán RQĐ</a:t>
            </a:r>
            <a:br>
              <a:rPr lang="en-US" sz="2400">
                <a:solidFill>
                  <a:schemeClr val="dk1"/>
                </a:solidFill>
              </a:rPr>
            </a:br>
            <a:r>
              <a:rPr b="0" lang="en-US" sz="2900"/>
              <a:t>	</a:t>
            </a:r>
            <a:r>
              <a:rPr i="1" lang="en-US" sz="2400" u="sng">
                <a:solidFill>
                  <a:srgbClr val="000099"/>
                </a:solidFill>
              </a:rPr>
              <a:t>VD:</a:t>
            </a:r>
            <a:r>
              <a:rPr b="0" lang="en-US" sz="2400">
                <a:solidFill>
                  <a:srgbClr val="000099"/>
                </a:solidFill>
              </a:rPr>
              <a:t> Bài toán của Công ty xẻ gỗ Thompson</a:t>
            </a:r>
            <a:r>
              <a:rPr lang="en-US" sz="2900"/>
              <a:t> </a:t>
            </a:r>
            <a:endParaRPr/>
          </a:p>
        </p:txBody>
      </p:sp>
      <p:sp>
        <p:nvSpPr>
          <p:cNvPr id="194" name="Google Shape;194;p12"/>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195" name="Google Shape;195;p12"/>
          <p:cNvPicPr preferRelativeResize="0"/>
          <p:nvPr/>
        </p:nvPicPr>
        <p:blipFill rotWithShape="1">
          <a:blip r:embed="rId3">
            <a:alphaModFix/>
          </a:blip>
          <a:srcRect b="0" l="0" r="0" t="0"/>
          <a:stretch/>
        </p:blipFill>
        <p:spPr>
          <a:xfrm>
            <a:off x="947738" y="1676400"/>
            <a:ext cx="7815262" cy="4803775"/>
          </a:xfrm>
          <a:prstGeom prst="rect">
            <a:avLst/>
          </a:prstGeom>
          <a:noFill/>
          <a:ln>
            <a:noFill/>
          </a:ln>
        </p:spPr>
      </p:pic>
      <p:graphicFrame>
        <p:nvGraphicFramePr>
          <p:cNvPr id="196" name="Google Shape;196;p12"/>
          <p:cNvGraphicFramePr/>
          <p:nvPr/>
        </p:nvGraphicFramePr>
        <p:xfrm>
          <a:off x="1524000" y="4186238"/>
          <a:ext cx="3000000" cy="3000000"/>
        </p:xfrm>
        <a:graphic>
          <a:graphicData uri="http://schemas.openxmlformats.org/drawingml/2006/table">
            <a:tbl>
              <a:tblPr>
                <a:noFill/>
                <a:tableStyleId>{9302C292-000E-4312-823E-40D575495FEE}</a:tableStyleId>
              </a:tblPr>
              <a:tblGrid>
                <a:gridCol w="1828800"/>
                <a:gridCol w="2133600"/>
                <a:gridCol w="2133600"/>
              </a:tblGrid>
              <a:tr h="366700">
                <a:tc rowSpan="2">
                  <a:txBody>
                    <a:bodyPr/>
                    <a:lstStyle/>
                    <a:p>
                      <a:pPr indent="0" lvl="0" marL="0" marR="0" rtl="0" algn="l">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Phương án</a:t>
                      </a:r>
                      <a:endParaRPr/>
                    </a:p>
                  </a:txBody>
                  <a:tcPr marT="45725" marB="45725" marR="91450" marL="91450" anchor="ctr">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2">
                  <a:txBody>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Trạng thái</a:t>
                      </a:r>
                      <a:endParaRPr b="1"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r>
              <a:tr h="366700">
                <a:tc vMerge="1"/>
                <a:tc>
                  <a:txBody>
                    <a:bodyPr/>
                    <a:lstStyle/>
                    <a:p>
                      <a:pPr indent="0" lvl="0" marL="0" marR="0" rtl="0" algn="ctr">
                        <a:lnSpc>
                          <a:spcPct val="100000"/>
                        </a:lnSpc>
                        <a:spcBef>
                          <a:spcPts val="0"/>
                        </a:spcBef>
                        <a:spcAft>
                          <a:spcPts val="0"/>
                        </a:spcAft>
                        <a:buClr>
                          <a:schemeClr val="dk1"/>
                        </a:buClr>
                        <a:buSzPts val="1800"/>
                        <a:buFont typeface="Times New Roman"/>
                        <a:buNone/>
                      </a:pPr>
                      <a:r>
                        <a:rPr b="1" i="1" lang="en-US" sz="1800" u="none" cap="none" strike="noStrike">
                          <a:solidFill>
                            <a:schemeClr val="dk1"/>
                          </a:solidFill>
                          <a:latin typeface="Times New Roman"/>
                          <a:ea typeface="Times New Roman"/>
                          <a:cs typeface="Times New Roman"/>
                          <a:sym typeface="Times New Roman"/>
                        </a:rPr>
                        <a:t>Thị trường tốt</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1" i="1" lang="en-US" sz="1800" u="none" cap="none" strike="noStrike">
                          <a:solidFill>
                            <a:schemeClr val="dk1"/>
                          </a:solidFill>
                          <a:latin typeface="Times New Roman"/>
                          <a:ea typeface="Times New Roman"/>
                          <a:cs typeface="Times New Roman"/>
                          <a:sym typeface="Times New Roman"/>
                        </a:rPr>
                        <a:t>Thị trường xấu</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66700">
                <a:tc>
                  <a:txBody>
                    <a:bodyPr/>
                    <a:lstStyle/>
                    <a:p>
                      <a:pPr indent="0" lvl="0" marL="0" marR="0" rtl="0" algn="just">
                        <a:lnSpc>
                          <a:spcPct val="100000"/>
                        </a:lnSpc>
                        <a:spcBef>
                          <a:spcPts val="0"/>
                        </a:spcBef>
                        <a:spcAft>
                          <a:spcPts val="0"/>
                        </a:spcAft>
                        <a:buClr>
                          <a:schemeClr val="dk1"/>
                        </a:buClr>
                        <a:buSzPts val="1800"/>
                        <a:buFont typeface="Times New Roman"/>
                        <a:buNone/>
                      </a:pPr>
                      <a:r>
                        <a:rPr b="1" i="1" lang="en-US" sz="1800" u="none" cap="none" strike="noStrike">
                          <a:solidFill>
                            <a:schemeClr val="dk1"/>
                          </a:solidFill>
                          <a:latin typeface="Times New Roman"/>
                          <a:ea typeface="Times New Roman"/>
                          <a:cs typeface="Times New Roman"/>
                          <a:sym typeface="Times New Roman"/>
                        </a:rPr>
                        <a:t>Nhà máy lớn</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200.000</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-180.000</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66700">
                <a:tc>
                  <a:txBody>
                    <a:bodyPr/>
                    <a:lstStyle/>
                    <a:p>
                      <a:pPr indent="0" lvl="0" marL="0" marR="0" rtl="0" algn="just">
                        <a:lnSpc>
                          <a:spcPct val="100000"/>
                        </a:lnSpc>
                        <a:spcBef>
                          <a:spcPts val="0"/>
                        </a:spcBef>
                        <a:spcAft>
                          <a:spcPts val="0"/>
                        </a:spcAft>
                        <a:buClr>
                          <a:schemeClr val="dk1"/>
                        </a:buClr>
                        <a:buSzPts val="1800"/>
                        <a:buFont typeface="Times New Roman"/>
                        <a:buNone/>
                      </a:pPr>
                      <a:r>
                        <a:rPr b="1" i="1" lang="en-US" sz="1800" u="none" cap="none" strike="noStrike">
                          <a:solidFill>
                            <a:schemeClr val="dk1"/>
                          </a:solidFill>
                          <a:latin typeface="Times New Roman"/>
                          <a:ea typeface="Times New Roman"/>
                          <a:cs typeface="Times New Roman"/>
                          <a:sym typeface="Times New Roman"/>
                        </a:rPr>
                        <a:t>Nhà máy nhỏ</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100.000</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-20.000</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66700">
                <a:tc>
                  <a:txBody>
                    <a:bodyPr/>
                    <a:lstStyle/>
                    <a:p>
                      <a:pPr indent="0" lvl="0" marL="0" marR="0" rtl="0" algn="just">
                        <a:lnSpc>
                          <a:spcPct val="100000"/>
                        </a:lnSpc>
                        <a:spcBef>
                          <a:spcPts val="0"/>
                        </a:spcBef>
                        <a:spcAft>
                          <a:spcPts val="0"/>
                        </a:spcAft>
                        <a:buClr>
                          <a:schemeClr val="dk1"/>
                        </a:buClr>
                        <a:buSzPts val="1800"/>
                        <a:buFont typeface="Times New Roman"/>
                        <a:buNone/>
                      </a:pPr>
                      <a:r>
                        <a:rPr b="1" i="1" lang="en-US" sz="1800" u="none" cap="none" strike="noStrike">
                          <a:solidFill>
                            <a:schemeClr val="dk1"/>
                          </a:solidFill>
                          <a:latin typeface="Times New Roman"/>
                          <a:ea typeface="Times New Roman"/>
                          <a:cs typeface="Times New Roman"/>
                          <a:sym typeface="Times New Roman"/>
                        </a:rPr>
                        <a:t>Không sản xuất</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tcPr>
                </a:tc>
              </a:tr>
            </a:tbl>
          </a:graphicData>
        </a:graphic>
      </p:graphicFrame>
    </p:spTree>
  </p:cSld>
  <p:clrMapOvr>
    <a:masterClrMapping/>
  </p:clrMapOvr>
  <p:transition>
    <p:push dir="r"/>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3"/>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202" name="Google Shape;202;p13"/>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4. RQĐ trong điều kiện rủi ro</a:t>
            </a:r>
            <a:endParaRPr/>
          </a:p>
        </p:txBody>
      </p:sp>
      <p:sp>
        <p:nvSpPr>
          <p:cNvPr id="203" name="Google Shape;203;p13"/>
          <p:cNvSpPr txBox="1"/>
          <p:nvPr>
            <p:ph idx="1"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1" marL="746125" rtl="0" algn="just">
              <a:lnSpc>
                <a:spcPct val="120000"/>
              </a:lnSpc>
              <a:spcBef>
                <a:spcPts val="0"/>
              </a:spcBef>
              <a:spcAft>
                <a:spcPts val="0"/>
              </a:spcAft>
              <a:buClr>
                <a:schemeClr val="dk2"/>
              </a:buClr>
              <a:buSzPts val="3000"/>
              <a:buFont typeface="Times New Roman"/>
              <a:buChar char="•"/>
            </a:pPr>
            <a:r>
              <a:rPr lang="en-US" sz="2000"/>
              <a:t>Khi RQĐ trong điều kiện rủi ro, biết </a:t>
            </a:r>
            <a:r>
              <a:rPr b="1" lang="en-US" sz="2000"/>
              <a:t>Xác suất xảy ra của mỗi trạng thái.</a:t>
            </a:r>
            <a:endParaRPr/>
          </a:p>
          <a:p>
            <a:pPr indent="-346075" lvl="1" marL="746125" rtl="0" algn="just">
              <a:lnSpc>
                <a:spcPct val="120000"/>
              </a:lnSpc>
              <a:spcBef>
                <a:spcPts val="600"/>
              </a:spcBef>
              <a:spcAft>
                <a:spcPts val="0"/>
              </a:spcAft>
              <a:buClr>
                <a:schemeClr val="dk2"/>
              </a:buClr>
              <a:buSzPts val="3000"/>
              <a:buFont typeface="Times New Roman"/>
              <a:buChar char="•"/>
            </a:pPr>
            <a:r>
              <a:rPr lang="en-US" sz="2000"/>
              <a:t>RQĐ trong điều kiện rủi ro, thường sử dụng </a:t>
            </a:r>
            <a:r>
              <a:rPr b="1" lang="en-US" sz="2000"/>
              <a:t>các tiêu chuẩn</a:t>
            </a:r>
            <a:endParaRPr sz="2000"/>
          </a:p>
          <a:p>
            <a:pPr indent="-228600" lvl="2" marL="1143000" rtl="0" algn="just">
              <a:lnSpc>
                <a:spcPct val="120000"/>
              </a:lnSpc>
              <a:spcBef>
                <a:spcPts val="600"/>
              </a:spcBef>
              <a:spcAft>
                <a:spcPts val="0"/>
              </a:spcAft>
              <a:buClr>
                <a:schemeClr val="dk2"/>
              </a:buClr>
              <a:buSzPts val="3000"/>
              <a:buFont typeface="Times New Roman"/>
              <a:buChar char="•"/>
            </a:pPr>
            <a:r>
              <a:rPr lang="en-US" sz="2000"/>
              <a:t>Cực đại Giá trị kỳ vọng được tính bằng tiền </a:t>
            </a:r>
            <a:r>
              <a:rPr i="1" lang="en-US" sz="2000"/>
              <a:t>(Expected Moneytary Value)</a:t>
            </a:r>
            <a:r>
              <a:rPr lang="en-US" sz="2000"/>
              <a:t> </a:t>
            </a:r>
            <a:r>
              <a:rPr lang="en-US" sz="2000">
                <a:solidFill>
                  <a:srgbClr val="000099"/>
                </a:solidFill>
              </a:rPr>
              <a:t>(Max</a:t>
            </a:r>
            <a:r>
              <a:rPr baseline="-25000" lang="en-US" sz="2000">
                <a:solidFill>
                  <a:srgbClr val="000099"/>
                </a:solidFill>
              </a:rPr>
              <a:t>i</a:t>
            </a:r>
            <a:r>
              <a:rPr lang="en-US" sz="2000">
                <a:solidFill>
                  <a:srgbClr val="000099"/>
                </a:solidFill>
              </a:rPr>
              <a:t> EMV</a:t>
            </a:r>
            <a:r>
              <a:rPr baseline="-25000" lang="en-US" sz="2000">
                <a:solidFill>
                  <a:srgbClr val="000099"/>
                </a:solidFill>
              </a:rPr>
              <a:t>i</a:t>
            </a:r>
            <a:r>
              <a:rPr lang="en-US" sz="2000">
                <a:solidFill>
                  <a:srgbClr val="000099"/>
                </a:solidFill>
              </a:rPr>
              <a:t>)</a:t>
            </a:r>
            <a:r>
              <a:rPr lang="en-US" sz="2000"/>
              <a:t>, hay</a:t>
            </a:r>
            <a:endParaRPr/>
          </a:p>
          <a:p>
            <a:pPr indent="-228600" lvl="2" marL="1143000" rtl="0" algn="just">
              <a:lnSpc>
                <a:spcPct val="120000"/>
              </a:lnSpc>
              <a:spcBef>
                <a:spcPts val="600"/>
              </a:spcBef>
              <a:spcAft>
                <a:spcPts val="0"/>
              </a:spcAft>
              <a:buClr>
                <a:schemeClr val="dk2"/>
              </a:buClr>
              <a:buSzPts val="3000"/>
              <a:buFont typeface="Times New Roman"/>
              <a:buChar char="•"/>
            </a:pPr>
            <a:r>
              <a:rPr lang="en-US" sz="2000"/>
              <a:t>Cực tiểu Thiệt hại kỳ vọng </a:t>
            </a:r>
            <a:r>
              <a:rPr i="1" lang="en-US" sz="2000"/>
              <a:t>(Expected Opportunity Loss)</a:t>
            </a:r>
            <a:r>
              <a:rPr lang="en-US" sz="2000"/>
              <a:t> </a:t>
            </a:r>
            <a:br>
              <a:rPr lang="en-US" sz="2000"/>
            </a:br>
            <a:r>
              <a:rPr lang="en-US" sz="2000">
                <a:solidFill>
                  <a:srgbClr val="000099"/>
                </a:solidFill>
              </a:rPr>
              <a:t>(Min</a:t>
            </a:r>
            <a:r>
              <a:rPr baseline="-25000" lang="en-US" sz="2000">
                <a:solidFill>
                  <a:srgbClr val="000099"/>
                </a:solidFill>
              </a:rPr>
              <a:t>i</a:t>
            </a:r>
            <a:r>
              <a:rPr lang="en-US" sz="2000">
                <a:solidFill>
                  <a:srgbClr val="000099"/>
                </a:solidFill>
              </a:rPr>
              <a:t> EOL</a:t>
            </a:r>
            <a:r>
              <a:rPr baseline="-25000" lang="en-US" sz="2000">
                <a:solidFill>
                  <a:srgbClr val="000099"/>
                </a:solidFill>
              </a:rPr>
              <a:t>i</a:t>
            </a:r>
            <a:r>
              <a:rPr lang="en-US" sz="2000">
                <a:solidFill>
                  <a:srgbClr val="000099"/>
                </a:solidFill>
              </a:rPr>
              <a:t>)</a:t>
            </a:r>
            <a:endParaRPr/>
          </a:p>
          <a:p>
            <a:pPr indent="-346075" lvl="1" marL="746125" rtl="0" algn="just">
              <a:lnSpc>
                <a:spcPct val="120000"/>
              </a:lnSpc>
              <a:spcBef>
                <a:spcPts val="800"/>
              </a:spcBef>
              <a:spcAft>
                <a:spcPts val="0"/>
              </a:spcAft>
              <a:buClr>
                <a:schemeClr val="dk2"/>
              </a:buClr>
              <a:buSzPts val="3000"/>
              <a:buFont typeface="Times New Roman"/>
              <a:buChar char="•"/>
            </a:pPr>
            <a:r>
              <a:rPr lang="en-US" sz="2000"/>
              <a:t>Các </a:t>
            </a:r>
            <a:r>
              <a:rPr b="1" lang="en-US" sz="2000"/>
              <a:t>Phương pháp</a:t>
            </a:r>
            <a:r>
              <a:rPr lang="en-US" sz="2000"/>
              <a:t> sử dụng</a:t>
            </a:r>
            <a:endParaRPr/>
          </a:p>
          <a:p>
            <a:pPr indent="-228600" lvl="2" marL="1143000" rtl="0" algn="just">
              <a:lnSpc>
                <a:spcPct val="120000"/>
              </a:lnSpc>
              <a:spcBef>
                <a:spcPts val="800"/>
              </a:spcBef>
              <a:spcAft>
                <a:spcPts val="0"/>
              </a:spcAft>
              <a:buClr>
                <a:schemeClr val="dk2"/>
              </a:buClr>
              <a:buSzPts val="3000"/>
              <a:buFont typeface="Times New Roman"/>
              <a:buNone/>
            </a:pPr>
            <a:r>
              <a:rPr b="1" lang="en-US" sz="2000"/>
              <a:t>4.1. Phương pháp lập bảng QĐ</a:t>
            </a:r>
            <a:endParaRPr/>
          </a:p>
          <a:p>
            <a:pPr indent="-228600" lvl="2" marL="1143000" rtl="0" algn="just">
              <a:lnSpc>
                <a:spcPct val="120000"/>
              </a:lnSpc>
              <a:spcBef>
                <a:spcPts val="800"/>
              </a:spcBef>
              <a:spcAft>
                <a:spcPts val="0"/>
              </a:spcAft>
              <a:buClr>
                <a:schemeClr val="dk2"/>
              </a:buClr>
              <a:buSzPts val="3000"/>
              <a:buFont typeface="Times New Roman"/>
              <a:buNone/>
            </a:pPr>
            <a:r>
              <a:rPr b="1" lang="en-US" sz="2000"/>
              <a:t>4.2. Phương pháp cây QĐ</a:t>
            </a:r>
            <a:endParaRPr/>
          </a:p>
        </p:txBody>
      </p:sp>
    </p:spTree>
  </p:cSld>
  <p:clrMapOvr>
    <a:masterClrMapping/>
  </p:clrMapOvr>
  <p:transition>
    <p:push dir="r"/>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4"/>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4. RQĐ trong điều kiện rủi ro </a:t>
            </a:r>
            <a:r>
              <a:rPr b="0" i="1" lang="en-US"/>
              <a:t>(tt)</a:t>
            </a:r>
            <a:endParaRPr b="0" sz="3400"/>
          </a:p>
        </p:txBody>
      </p:sp>
      <p:sp>
        <p:nvSpPr>
          <p:cNvPr id="209" name="Google Shape;209;p14"/>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210" name="Google Shape;210;p14"/>
          <p:cNvPicPr preferRelativeResize="0"/>
          <p:nvPr/>
        </p:nvPicPr>
        <p:blipFill rotWithShape="1">
          <a:blip r:embed="rId3">
            <a:alphaModFix/>
          </a:blip>
          <a:srcRect b="0" l="0" r="0" t="0"/>
          <a:stretch/>
        </p:blipFill>
        <p:spPr>
          <a:xfrm>
            <a:off x="444500" y="1892300"/>
            <a:ext cx="8394700" cy="4889500"/>
          </a:xfrm>
          <a:prstGeom prst="rect">
            <a:avLst/>
          </a:prstGeom>
          <a:noFill/>
          <a:ln>
            <a:noFill/>
          </a:ln>
        </p:spPr>
      </p:pic>
      <p:sp>
        <p:nvSpPr>
          <p:cNvPr id="211" name="Google Shape;211;p14"/>
          <p:cNvSpPr/>
          <p:nvPr/>
        </p:nvSpPr>
        <p:spPr>
          <a:xfrm>
            <a:off x="762000" y="1752600"/>
            <a:ext cx="7696200" cy="4038600"/>
          </a:xfrm>
          <a:prstGeom prst="rect">
            <a:avLst/>
          </a:prstGeom>
          <a:noFill/>
          <a:ln>
            <a:noFill/>
          </a:ln>
        </p:spPr>
        <p:txBody>
          <a:bodyPr anchorCtr="0" anchor="t" bIns="45700" lIns="91425" spcFirstLastPara="1" rIns="91425" wrap="square" tIns="45700">
            <a:noAutofit/>
          </a:bodyPr>
          <a:lstStyle/>
          <a:p>
            <a:pPr indent="-347663" lvl="1" marL="347663" marR="0" rtl="0" algn="just">
              <a:spcBef>
                <a:spcPts val="0"/>
              </a:spcBef>
              <a:spcAft>
                <a:spcPts val="0"/>
              </a:spcAft>
              <a:buNone/>
            </a:pPr>
            <a:r>
              <a:rPr b="1" i="0" lang="en-US" sz="2400" u="none" cap="none" strike="noStrike">
                <a:solidFill>
                  <a:schemeClr val="dk1"/>
                </a:solidFill>
                <a:latin typeface="Times New Roman"/>
                <a:ea typeface="Times New Roman"/>
                <a:cs typeface="Times New Roman"/>
                <a:sym typeface="Times New Roman"/>
              </a:rPr>
              <a:t>4.1. Phương pháp lập bảng QĐ</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transition>
    <p:push dir="r"/>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5"/>
          <p:cNvSpPr txBox="1"/>
          <p:nvPr>
            <p:ph idx="4294967295"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4. RQĐ trong điều kiện rủi ro </a:t>
            </a:r>
            <a:r>
              <a:rPr b="0" i="1" lang="en-US"/>
              <a:t>(tt)</a:t>
            </a:r>
            <a:br>
              <a:rPr b="0" i="1" lang="en-US"/>
            </a:br>
            <a:r>
              <a:rPr i="1" lang="en-US" sz="2800">
                <a:solidFill>
                  <a:schemeClr val="dk1"/>
                </a:solidFill>
              </a:rPr>
              <a:t> </a:t>
            </a:r>
            <a:r>
              <a:rPr lang="en-US" sz="2800">
                <a:solidFill>
                  <a:schemeClr val="dk1"/>
                </a:solidFill>
              </a:rPr>
              <a:t>4.1. Phương pháp lập bảng QĐ </a:t>
            </a:r>
            <a:r>
              <a:rPr i="1" lang="en-US" sz="2800">
                <a:solidFill>
                  <a:schemeClr val="dk1"/>
                </a:solidFill>
              </a:rPr>
              <a:t>(tt)</a:t>
            </a:r>
            <a:endParaRPr/>
          </a:p>
        </p:txBody>
      </p:sp>
      <p:sp>
        <p:nvSpPr>
          <p:cNvPr id="217" name="Google Shape;217;p15"/>
          <p:cNvSpPr txBox="1"/>
          <p:nvPr>
            <p:ph idx="4294967295" type="body"/>
          </p:nvPr>
        </p:nvSpPr>
        <p:spPr>
          <a:xfrm>
            <a:off x="762000" y="1600200"/>
            <a:ext cx="7696200" cy="4572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1400"/>
              <a:buFont typeface="Noto Sans Symbols"/>
              <a:buNone/>
            </a:pPr>
            <a:r>
              <a:rPr lang="en-US" sz="2000"/>
              <a:t>	</a:t>
            </a:r>
            <a:r>
              <a:rPr lang="en-US" sz="1800"/>
              <a:t>EMV (PA nhà máy lớn)  =  0,5 x 200.000  +  0,5 x (-180.000)  =  10.000</a:t>
            </a:r>
            <a:endParaRPr/>
          </a:p>
          <a:p>
            <a:pPr indent="-342900" lvl="0" marL="342900" rtl="0" algn="just">
              <a:spcBef>
                <a:spcPts val="360"/>
              </a:spcBef>
              <a:spcAft>
                <a:spcPts val="0"/>
              </a:spcAft>
              <a:buSzPts val="1260"/>
              <a:buFont typeface="Noto Sans Symbols"/>
              <a:buNone/>
            </a:pPr>
            <a:r>
              <a:rPr lang="en-US" sz="1800"/>
              <a:t>	EMV (PA nhà máy nhỏ)  =  0,5 x 100.000  +  0,5 x (-20.000)  =  40.000</a:t>
            </a:r>
            <a:endParaRPr/>
          </a:p>
          <a:p>
            <a:pPr indent="-342900" lvl="0" marL="342900" rtl="0" algn="just">
              <a:spcBef>
                <a:spcPts val="360"/>
              </a:spcBef>
              <a:spcAft>
                <a:spcPts val="0"/>
              </a:spcAft>
              <a:buSzPts val="1260"/>
              <a:buFont typeface="Noto Sans Symbols"/>
              <a:buNone/>
            </a:pPr>
            <a:r>
              <a:rPr lang="en-US" sz="1800"/>
              <a:t>	EMV (Không)		=  0,5 x 0  +  0,5 x 0  =  0</a:t>
            </a:r>
            <a:endParaRPr/>
          </a:p>
          <a:p>
            <a:pPr indent="-342900" lvl="0" marL="342900" rtl="0" algn="just">
              <a:spcBef>
                <a:spcPts val="400"/>
              </a:spcBef>
              <a:spcAft>
                <a:spcPts val="0"/>
              </a:spcAft>
              <a:buSzPts val="1400"/>
              <a:buFont typeface="Noto Sans Symbols"/>
              <a:buNone/>
            </a:pPr>
            <a:r>
              <a:rPr b="1" lang="en-US" sz="2000"/>
              <a:t>Ra quyết định</a:t>
            </a:r>
            <a:endParaRPr/>
          </a:p>
          <a:p>
            <a:pPr indent="-228600" lvl="2" marL="1143000" rtl="0" algn="just">
              <a:spcBef>
                <a:spcPts val="400"/>
              </a:spcBef>
              <a:spcAft>
                <a:spcPts val="0"/>
              </a:spcAft>
              <a:buSzPts val="3000"/>
              <a:buFont typeface="Times New Roman"/>
              <a:buChar char="•"/>
            </a:pPr>
            <a:r>
              <a:rPr b="1" lang="en-US" sz="2000"/>
              <a:t>EMV (i) &gt; 0</a:t>
            </a:r>
            <a:r>
              <a:rPr lang="en-US" sz="2000"/>
              <a:t> ==&gt; </a:t>
            </a:r>
            <a:r>
              <a:rPr lang="en-US" sz="2000">
                <a:solidFill>
                  <a:srgbClr val="000099"/>
                </a:solidFill>
              </a:rPr>
              <a:t>Phương án có lợi</a:t>
            </a:r>
            <a:endParaRPr/>
          </a:p>
          <a:p>
            <a:pPr indent="-228600" lvl="2" marL="1143000" rtl="0" algn="just">
              <a:spcBef>
                <a:spcPts val="400"/>
              </a:spcBef>
              <a:spcAft>
                <a:spcPts val="0"/>
              </a:spcAft>
              <a:buSzPts val="3000"/>
              <a:buFont typeface="Times New Roman"/>
              <a:buChar char="•"/>
            </a:pPr>
            <a:r>
              <a:rPr b="1" lang="en-US" sz="2000"/>
              <a:t>Max EMV(i)</a:t>
            </a:r>
            <a:r>
              <a:rPr lang="en-US" sz="2000"/>
              <a:t> = EMV(i=2) = 40.000 </a:t>
            </a:r>
            <a:endParaRPr/>
          </a:p>
          <a:p>
            <a:pPr indent="-228600" lvl="2" marL="1143000" rtl="0" algn="just">
              <a:spcBef>
                <a:spcPts val="400"/>
              </a:spcBef>
              <a:spcAft>
                <a:spcPts val="0"/>
              </a:spcAft>
              <a:buSzPts val="3000"/>
              <a:buFont typeface="Times New Roman"/>
              <a:buNone/>
            </a:pPr>
            <a:r>
              <a:rPr lang="en-US" sz="2000"/>
              <a:t>		==&gt; </a:t>
            </a:r>
            <a:r>
              <a:rPr lang="en-US" sz="2000">
                <a:solidFill>
                  <a:srgbClr val="000099"/>
                </a:solidFill>
              </a:rPr>
              <a:t>Chọn Phương án</a:t>
            </a:r>
            <a:r>
              <a:rPr lang="en-US" sz="2000"/>
              <a:t> xây nhà máy nhỏ.</a:t>
            </a:r>
            <a:endParaRPr/>
          </a:p>
          <a:p>
            <a:pPr indent="-342900" lvl="0" marL="342900" rtl="0" algn="just">
              <a:spcBef>
                <a:spcPts val="400"/>
              </a:spcBef>
              <a:spcAft>
                <a:spcPts val="0"/>
              </a:spcAft>
              <a:buSzPts val="1400"/>
              <a:buFont typeface="Noto Sans Symbols"/>
              <a:buNone/>
            </a:pPr>
            <a:r>
              <a:rPr b="1" lang="en-US" sz="2000"/>
              <a:t>Giá trị kỳ vọng với thông tin hoàn hảo </a:t>
            </a:r>
            <a:endParaRPr/>
          </a:p>
          <a:p>
            <a:pPr indent="-342900" lvl="0" marL="342900" rtl="0" algn="r">
              <a:spcBef>
                <a:spcPts val="360"/>
              </a:spcBef>
              <a:spcAft>
                <a:spcPts val="0"/>
              </a:spcAft>
              <a:buSzPts val="1260"/>
              <a:buFont typeface="Noto Sans Symbols"/>
              <a:buNone/>
            </a:pPr>
            <a:r>
              <a:rPr b="1" lang="en-US" sz="1800"/>
              <a:t>			</a:t>
            </a:r>
            <a:r>
              <a:rPr i="1" lang="en-US" sz="1800"/>
              <a:t>(</a:t>
            </a:r>
            <a:r>
              <a:rPr b="1" lang="en-US" sz="1800"/>
              <a:t>EVWPI</a:t>
            </a:r>
            <a:r>
              <a:rPr i="1" lang="en-US" sz="1800"/>
              <a:t>, Expected Value With Perfect Information)</a:t>
            </a:r>
            <a:endParaRPr/>
          </a:p>
          <a:p>
            <a:pPr indent="-342900" lvl="0" marL="342900" rtl="0" algn="r">
              <a:spcBef>
                <a:spcPts val="400"/>
              </a:spcBef>
              <a:spcAft>
                <a:spcPts val="0"/>
              </a:spcAft>
              <a:buSzPts val="1400"/>
              <a:buFont typeface="Noto Sans Symbols"/>
              <a:buNone/>
            </a:pPr>
            <a:r>
              <a:rPr lang="en-US" sz="2000"/>
              <a:t>			EVWPI  =  0,5 x (200.000) + 0,5 x (0) = 100.000</a:t>
            </a:r>
            <a:endParaRPr/>
          </a:p>
          <a:p>
            <a:pPr indent="-342900" lvl="0" marL="342900" rtl="0" algn="just">
              <a:spcBef>
                <a:spcPts val="400"/>
              </a:spcBef>
              <a:spcAft>
                <a:spcPts val="0"/>
              </a:spcAft>
              <a:buSzPts val="1400"/>
              <a:buFont typeface="Noto Sans Symbols"/>
              <a:buNone/>
            </a:pPr>
            <a:r>
              <a:rPr b="1" lang="en-US" sz="2000"/>
              <a:t>Giá trị kỳ vọng của thông tin hoàn hảo </a:t>
            </a:r>
            <a:endParaRPr/>
          </a:p>
          <a:p>
            <a:pPr indent="-342900" lvl="0" marL="342900" rtl="0" algn="r">
              <a:spcBef>
                <a:spcPts val="360"/>
              </a:spcBef>
              <a:spcAft>
                <a:spcPts val="0"/>
              </a:spcAft>
              <a:buSzPts val="1260"/>
              <a:buFont typeface="Noto Sans Symbols"/>
              <a:buNone/>
            </a:pPr>
            <a:r>
              <a:rPr i="1" lang="en-US" sz="1800"/>
              <a:t>(</a:t>
            </a:r>
            <a:r>
              <a:rPr b="1" lang="en-US" sz="1800"/>
              <a:t>EVPI</a:t>
            </a:r>
            <a:r>
              <a:rPr i="1" lang="en-US" sz="1800"/>
              <a:t>, Expected Value Of Perfect Information)</a:t>
            </a:r>
            <a:endParaRPr b="1" sz="1800"/>
          </a:p>
          <a:p>
            <a:pPr indent="-342900" lvl="0" marL="342900" rtl="0" algn="r">
              <a:spcBef>
                <a:spcPts val="400"/>
              </a:spcBef>
              <a:spcAft>
                <a:spcPts val="0"/>
              </a:spcAft>
              <a:buSzPts val="1400"/>
              <a:buFont typeface="Noto Sans Symbols"/>
              <a:buNone/>
            </a:pPr>
            <a:r>
              <a:rPr lang="en-US" sz="2000"/>
              <a:t>			EVPI  = 100.000 -  40.000  =  60.000</a:t>
            </a:r>
            <a:endParaRPr/>
          </a:p>
        </p:txBody>
      </p:sp>
      <p:sp>
        <p:nvSpPr>
          <p:cNvPr id="218" name="Google Shape;218;p15"/>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219" name="Google Shape;219;p15"/>
          <p:cNvPicPr preferRelativeResize="0"/>
          <p:nvPr/>
        </p:nvPicPr>
        <p:blipFill rotWithShape="1">
          <a:blip r:embed="rId3">
            <a:alphaModFix/>
          </a:blip>
          <a:srcRect b="0" l="0" r="0" t="0"/>
          <a:stretch/>
        </p:blipFill>
        <p:spPr>
          <a:xfrm>
            <a:off x="6172200" y="2514600"/>
            <a:ext cx="2362200" cy="746125"/>
          </a:xfrm>
          <a:prstGeom prst="rect">
            <a:avLst/>
          </a:prstGeom>
          <a:noFill/>
          <a:ln cap="flat" cmpd="sng" w="28575">
            <a:solidFill>
              <a:schemeClr val="hlink"/>
            </a:solidFill>
            <a:prstDash val="solid"/>
            <a:miter lim="800000"/>
            <a:headEnd len="sm" w="sm" type="none"/>
            <a:tailEnd len="sm" w="sm" type="none"/>
          </a:ln>
        </p:spPr>
      </p:pic>
      <p:pic>
        <p:nvPicPr>
          <p:cNvPr id="220" name="Google Shape;220;p15"/>
          <p:cNvPicPr preferRelativeResize="0"/>
          <p:nvPr/>
        </p:nvPicPr>
        <p:blipFill rotWithShape="1">
          <a:blip r:embed="rId4">
            <a:alphaModFix/>
          </a:blip>
          <a:srcRect b="0" l="0" r="0" t="0"/>
          <a:stretch/>
        </p:blipFill>
        <p:spPr>
          <a:xfrm>
            <a:off x="76200" y="4689475"/>
            <a:ext cx="3124200" cy="644525"/>
          </a:xfrm>
          <a:prstGeom prst="rect">
            <a:avLst/>
          </a:prstGeom>
          <a:noFill/>
          <a:ln cap="flat" cmpd="sng" w="28575">
            <a:solidFill>
              <a:schemeClr val="hlink"/>
            </a:solidFill>
            <a:prstDash val="solid"/>
            <a:miter lim="800000"/>
            <a:headEnd len="sm" w="sm" type="none"/>
            <a:tailEnd len="sm" w="sm" type="none"/>
          </a:ln>
        </p:spPr>
      </p:pic>
      <p:pic>
        <p:nvPicPr>
          <p:cNvPr id="221" name="Google Shape;221;p15"/>
          <p:cNvPicPr preferRelativeResize="0"/>
          <p:nvPr/>
        </p:nvPicPr>
        <p:blipFill rotWithShape="1">
          <a:blip r:embed="rId5">
            <a:alphaModFix/>
          </a:blip>
          <a:srcRect b="0" l="0" r="0" t="0"/>
          <a:stretch/>
        </p:blipFill>
        <p:spPr>
          <a:xfrm>
            <a:off x="914400" y="5834063"/>
            <a:ext cx="2895600" cy="414337"/>
          </a:xfrm>
          <a:prstGeom prst="rect">
            <a:avLst/>
          </a:prstGeom>
          <a:noFill/>
          <a:ln cap="flat" cmpd="sng" w="28575">
            <a:solidFill>
              <a:schemeClr val="hlink"/>
            </a:solidFill>
            <a:prstDash val="solid"/>
            <a:miter lim="800000"/>
            <a:headEnd len="sm" w="sm" type="none"/>
            <a:tailEnd len="sm" w="sm" type="none"/>
          </a:ln>
        </p:spPr>
      </p:pic>
    </p:spTree>
  </p:cSld>
  <p:clrMapOvr>
    <a:masterClrMapping/>
  </p:clrMapOvr>
  <p:transition>
    <p:push dir="r"/>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pic>
        <p:nvPicPr>
          <p:cNvPr id="226" name="Google Shape;226;p16"/>
          <p:cNvPicPr preferRelativeResize="0"/>
          <p:nvPr/>
        </p:nvPicPr>
        <p:blipFill rotWithShape="1">
          <a:blip r:embed="rId3">
            <a:alphaModFix/>
          </a:blip>
          <a:srcRect b="0" l="0" r="0" t="0"/>
          <a:stretch/>
        </p:blipFill>
        <p:spPr>
          <a:xfrm>
            <a:off x="849313" y="1752600"/>
            <a:ext cx="7913687" cy="4737100"/>
          </a:xfrm>
          <a:prstGeom prst="rect">
            <a:avLst/>
          </a:prstGeom>
          <a:noFill/>
          <a:ln>
            <a:noFill/>
          </a:ln>
        </p:spPr>
      </p:pic>
      <p:sp>
        <p:nvSpPr>
          <p:cNvPr id="227" name="Google Shape;227;p16"/>
          <p:cNvSpPr txBox="1"/>
          <p:nvPr>
            <p:ph idx="4294967295"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4. RQĐ trong điều kiện rủi ro </a:t>
            </a:r>
            <a:r>
              <a:rPr b="0" i="1" lang="en-US"/>
              <a:t>(tt)</a:t>
            </a:r>
            <a:endParaRPr/>
          </a:p>
        </p:txBody>
      </p:sp>
      <p:sp>
        <p:nvSpPr>
          <p:cNvPr id="228" name="Google Shape;228;p16"/>
          <p:cNvSpPr txBox="1"/>
          <p:nvPr>
            <p:ph idx="4294967295" type="body"/>
          </p:nvPr>
        </p:nvSpPr>
        <p:spPr>
          <a:xfrm>
            <a:off x="762000" y="1752600"/>
            <a:ext cx="7696200" cy="4038600"/>
          </a:xfrm>
          <a:prstGeom prst="rect">
            <a:avLst/>
          </a:prstGeom>
          <a:noFill/>
          <a:ln>
            <a:noFill/>
          </a:ln>
        </p:spPr>
        <p:txBody>
          <a:bodyPr anchorCtr="0" anchor="t" bIns="45700" lIns="91425" spcFirstLastPara="1" rIns="91425" wrap="square" tIns="45700">
            <a:noAutofit/>
          </a:bodyPr>
          <a:lstStyle/>
          <a:p>
            <a:pPr indent="-347663" lvl="1" marL="347663" rtl="0" algn="just">
              <a:spcBef>
                <a:spcPts val="0"/>
              </a:spcBef>
              <a:spcAft>
                <a:spcPts val="0"/>
              </a:spcAft>
              <a:buClr>
                <a:schemeClr val="dk2"/>
              </a:buClr>
              <a:buSzPts val="3600"/>
              <a:buFont typeface="Times New Roman"/>
              <a:buNone/>
            </a:pPr>
            <a:r>
              <a:rPr b="1" lang="en-US" sz="2400"/>
              <a:t>4.1. Phương pháp lập bảng QĐ</a:t>
            </a:r>
            <a:r>
              <a:rPr lang="en-US" sz="2400"/>
              <a:t> </a:t>
            </a:r>
            <a:r>
              <a:rPr i="1" lang="en-US" sz="2400"/>
              <a:t>(tt)</a:t>
            </a:r>
            <a:endParaRPr sz="2400"/>
          </a:p>
        </p:txBody>
      </p:sp>
      <p:sp>
        <p:nvSpPr>
          <p:cNvPr id="229" name="Google Shape;229;p16"/>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7"/>
          <p:cNvSpPr txBox="1"/>
          <p:nvPr>
            <p:ph idx="4294967295" type="body"/>
          </p:nvPr>
        </p:nvSpPr>
        <p:spPr>
          <a:xfrm>
            <a:off x="685800" y="1828800"/>
            <a:ext cx="7696200" cy="4038600"/>
          </a:xfrm>
          <a:prstGeom prst="rect">
            <a:avLst/>
          </a:prstGeom>
          <a:noFill/>
          <a:ln>
            <a:noFill/>
          </a:ln>
        </p:spPr>
        <p:txBody>
          <a:bodyPr anchorCtr="0" anchor="t" bIns="45700" lIns="91425" spcFirstLastPara="1" rIns="91425" wrap="square" tIns="45700">
            <a:noAutofit/>
          </a:bodyPr>
          <a:lstStyle/>
          <a:p>
            <a:pPr indent="-347663" lvl="1" marL="347663" rtl="0" algn="just">
              <a:spcBef>
                <a:spcPts val="0"/>
              </a:spcBef>
              <a:spcAft>
                <a:spcPts val="0"/>
              </a:spcAft>
              <a:buClr>
                <a:schemeClr val="dk2"/>
              </a:buClr>
              <a:buSzPts val="3000"/>
              <a:buFont typeface="Times New Roman"/>
              <a:buNone/>
            </a:pPr>
            <a:r>
              <a:rPr b="1" lang="en-US" sz="2000"/>
              <a:t>4.1. Phương pháp lập bảng QĐ</a:t>
            </a:r>
            <a:r>
              <a:rPr lang="en-US" sz="2000"/>
              <a:t> </a:t>
            </a:r>
            <a:r>
              <a:rPr i="1" lang="en-US" sz="2000"/>
              <a:t>(tt)</a:t>
            </a:r>
            <a:endParaRPr b="1" sz="2000"/>
          </a:p>
          <a:p>
            <a:pPr indent="-342900" lvl="0" marL="342900" rtl="0" algn="just">
              <a:spcBef>
                <a:spcPts val="1000"/>
              </a:spcBef>
              <a:spcAft>
                <a:spcPts val="0"/>
              </a:spcAft>
              <a:buSzPts val="1400"/>
              <a:buFont typeface="Noto Sans Symbols"/>
              <a:buNone/>
            </a:pPr>
            <a:r>
              <a:rPr lang="en-US" sz="2000"/>
              <a:t>	OL</a:t>
            </a:r>
            <a:r>
              <a:rPr baseline="-25000" lang="en-US" sz="2000"/>
              <a:t>11</a:t>
            </a:r>
            <a:r>
              <a:rPr lang="en-US" sz="2000"/>
              <a:t>	=	200.000	-	200.000		=	0</a:t>
            </a:r>
            <a:endParaRPr/>
          </a:p>
          <a:p>
            <a:pPr indent="-342900" lvl="0" marL="342900" rtl="0" algn="just">
              <a:spcBef>
                <a:spcPts val="400"/>
              </a:spcBef>
              <a:spcAft>
                <a:spcPts val="0"/>
              </a:spcAft>
              <a:buSzPts val="1400"/>
              <a:buFont typeface="Noto Sans Symbols"/>
              <a:buNone/>
            </a:pPr>
            <a:r>
              <a:rPr lang="en-US" sz="2000"/>
              <a:t>	OL</a:t>
            </a:r>
            <a:r>
              <a:rPr baseline="-25000" lang="en-US" sz="2000"/>
              <a:t>12</a:t>
            </a:r>
            <a:r>
              <a:rPr lang="en-US" sz="2000"/>
              <a:t>	=	0	-	(-180.000)	=	180.000</a:t>
            </a:r>
            <a:endParaRPr/>
          </a:p>
          <a:p>
            <a:pPr indent="-342900" lvl="0" marL="342900" rtl="0" algn="just">
              <a:spcBef>
                <a:spcPts val="400"/>
              </a:spcBef>
              <a:spcAft>
                <a:spcPts val="0"/>
              </a:spcAft>
              <a:buSzPts val="1400"/>
              <a:buFont typeface="Noto Sans Symbols"/>
              <a:buNone/>
            </a:pPr>
            <a:r>
              <a:rPr lang="en-US" sz="2000"/>
              <a:t>	OL</a:t>
            </a:r>
            <a:r>
              <a:rPr baseline="-25000" lang="en-US" sz="2000"/>
              <a:t>21</a:t>
            </a:r>
            <a:r>
              <a:rPr lang="en-US" sz="2000"/>
              <a:t> = 	200.000	-	100.000		=	100.000 </a:t>
            </a:r>
            <a:endParaRPr/>
          </a:p>
          <a:p>
            <a:pPr indent="-342900" lvl="0" marL="342900" rtl="0" algn="just">
              <a:spcBef>
                <a:spcPts val="400"/>
              </a:spcBef>
              <a:spcAft>
                <a:spcPts val="0"/>
              </a:spcAft>
              <a:buSzPts val="1400"/>
              <a:buFont typeface="Noto Sans Symbols"/>
              <a:buNone/>
            </a:pPr>
            <a:r>
              <a:rPr lang="en-US" sz="2000"/>
              <a:t>	OL</a:t>
            </a:r>
            <a:r>
              <a:rPr baseline="-25000" lang="en-US" sz="2000"/>
              <a:t>22</a:t>
            </a:r>
            <a:r>
              <a:rPr lang="en-US" sz="2000"/>
              <a:t> = 	0	-	(-20.000)	= 	20.000</a:t>
            </a:r>
            <a:endParaRPr/>
          </a:p>
          <a:p>
            <a:pPr indent="-342900" lvl="0" marL="342900" rtl="0" algn="just">
              <a:spcBef>
                <a:spcPts val="400"/>
              </a:spcBef>
              <a:spcAft>
                <a:spcPts val="0"/>
              </a:spcAft>
              <a:buSzPts val="1400"/>
              <a:buFont typeface="Noto Sans Symbols"/>
              <a:buNone/>
            </a:pPr>
            <a:r>
              <a:rPr lang="en-US" sz="2000"/>
              <a:t>	OL</a:t>
            </a:r>
            <a:r>
              <a:rPr baseline="-25000" lang="en-US" sz="2000"/>
              <a:t>31</a:t>
            </a:r>
            <a:r>
              <a:rPr lang="en-US" sz="2000"/>
              <a:t> =	200.000	-	0		=	200.000</a:t>
            </a:r>
            <a:endParaRPr/>
          </a:p>
          <a:p>
            <a:pPr indent="-342900" lvl="0" marL="342900" rtl="0" algn="just">
              <a:spcBef>
                <a:spcPts val="400"/>
              </a:spcBef>
              <a:spcAft>
                <a:spcPts val="0"/>
              </a:spcAft>
              <a:buSzPts val="1400"/>
              <a:buFont typeface="Noto Sans Symbols"/>
              <a:buNone/>
            </a:pPr>
            <a:r>
              <a:rPr lang="en-US" sz="2000"/>
              <a:t>	OL</a:t>
            </a:r>
            <a:r>
              <a:rPr baseline="-25000" lang="en-US" sz="2000"/>
              <a:t>32</a:t>
            </a:r>
            <a:r>
              <a:rPr lang="en-US" sz="2000"/>
              <a:t> = 	0	-	0		= 	0</a:t>
            </a:r>
            <a:endParaRPr/>
          </a:p>
          <a:p>
            <a:pPr indent="-342900" lvl="0" marL="342900" rtl="0" algn="just">
              <a:spcBef>
                <a:spcPts val="400"/>
              </a:spcBef>
              <a:spcAft>
                <a:spcPts val="0"/>
              </a:spcAft>
              <a:buSzPts val="1400"/>
              <a:buFont typeface="Noto Sans Symbols"/>
              <a:buNone/>
            </a:pPr>
            <a:r>
              <a:rPr lang="en-US" sz="2000">
                <a:solidFill>
                  <a:srgbClr val="000099"/>
                </a:solidFill>
              </a:rPr>
              <a:t>Bảng thiệt hại cơ hội OL</a:t>
            </a:r>
            <a:r>
              <a:rPr baseline="-25000" lang="en-US" sz="2000">
                <a:solidFill>
                  <a:srgbClr val="000099"/>
                </a:solidFill>
              </a:rPr>
              <a:t>ij</a:t>
            </a:r>
            <a:endParaRPr/>
          </a:p>
        </p:txBody>
      </p:sp>
      <p:sp>
        <p:nvSpPr>
          <p:cNvPr id="235" name="Google Shape;235;p17"/>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graphicFrame>
        <p:nvGraphicFramePr>
          <p:cNvPr id="236" name="Google Shape;236;p17"/>
          <p:cNvGraphicFramePr/>
          <p:nvPr/>
        </p:nvGraphicFramePr>
        <p:xfrm>
          <a:off x="3505200" y="4495800"/>
          <a:ext cx="3000000" cy="3000000"/>
        </p:xfrm>
        <a:graphic>
          <a:graphicData uri="http://schemas.openxmlformats.org/drawingml/2006/table">
            <a:tbl>
              <a:tblPr>
                <a:noFill/>
                <a:tableStyleId>{9302C292-000E-4312-823E-40D575495FEE}</a:tableStyleId>
              </a:tblPr>
              <a:tblGrid>
                <a:gridCol w="1805775"/>
                <a:gridCol w="1522025"/>
                <a:gridCol w="1625200"/>
              </a:tblGrid>
              <a:tr h="388950">
                <a:tc>
                  <a:txBody>
                    <a:bodyPr/>
                    <a:lstStyle/>
                    <a:p>
                      <a:pPr indent="0" lvl="0" marL="0" marR="0" rtl="0" algn="just">
                        <a:lnSpc>
                          <a:spcPct val="100000"/>
                        </a:lnSpc>
                        <a:spcBef>
                          <a:spcPts val="0"/>
                        </a:spcBef>
                        <a:spcAft>
                          <a:spcPts val="0"/>
                        </a:spcAft>
                        <a:buClr>
                          <a:schemeClr val="lt2"/>
                        </a:buClr>
                        <a:buSzPts val="1120"/>
                        <a:buFont typeface="Noto Sans Symbols"/>
                        <a:buNone/>
                      </a:pPr>
                      <a:r>
                        <a:t/>
                      </a:r>
                      <a:endParaRPr b="1" i="0" sz="1600" u="none" cap="none" strike="noStrike">
                        <a:solidFill>
                          <a:schemeClr val="dk1"/>
                        </a:solidFill>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T.Trường tốt</a:t>
                      </a:r>
                      <a:endParaRPr b="1" i="0" sz="16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T.Trường xấu</a:t>
                      </a:r>
                      <a:endParaRPr b="1" i="0" sz="16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r>
              <a:tr h="388950">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Nh</a:t>
                      </a:r>
                      <a:r>
                        <a:rPr b="0" i="0" lang="en-US" sz="1800" u="none" cap="none" strike="noStrike">
                          <a:solidFill>
                            <a:schemeClr val="dk1"/>
                          </a:solidFill>
                          <a:latin typeface="Arial"/>
                          <a:ea typeface="Arial"/>
                          <a:cs typeface="Arial"/>
                          <a:sym typeface="Arial"/>
                        </a:rPr>
                        <a:t>à</a:t>
                      </a:r>
                      <a:r>
                        <a:rPr b="0" i="0" lang="en-US" sz="1800" u="none" cap="none" strike="noStrike">
                          <a:solidFill>
                            <a:schemeClr val="dk1"/>
                          </a:solidFill>
                          <a:latin typeface="Times New Roman"/>
                          <a:ea typeface="Times New Roman"/>
                          <a:cs typeface="Times New Roman"/>
                          <a:sym typeface="Times New Roman"/>
                        </a:rPr>
                        <a:t> m</a:t>
                      </a:r>
                      <a:r>
                        <a:rPr b="0" i="0" lang="en-US" sz="1800" u="none" cap="none" strike="noStrike">
                          <a:solidFill>
                            <a:schemeClr val="dk1"/>
                          </a:solidFill>
                          <a:latin typeface="Arial"/>
                          <a:ea typeface="Arial"/>
                          <a:cs typeface="Arial"/>
                          <a:sym typeface="Arial"/>
                        </a:rPr>
                        <a:t>á</a:t>
                      </a:r>
                      <a:r>
                        <a:rPr b="0" i="0" lang="en-US" sz="1800" u="none" cap="none" strike="noStrike">
                          <a:solidFill>
                            <a:schemeClr val="dk1"/>
                          </a:solidFill>
                          <a:latin typeface="Times New Roman"/>
                          <a:ea typeface="Times New Roman"/>
                          <a:cs typeface="Times New Roman"/>
                          <a:sym typeface="Times New Roman"/>
                        </a:rPr>
                        <a:t>y lớn</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180.000</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87350">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Nh</a:t>
                      </a:r>
                      <a:r>
                        <a:rPr b="0" i="0" lang="en-US" sz="1800" u="none" cap="none" strike="noStrike">
                          <a:solidFill>
                            <a:schemeClr val="dk1"/>
                          </a:solidFill>
                          <a:latin typeface="Arial"/>
                          <a:ea typeface="Arial"/>
                          <a:cs typeface="Arial"/>
                          <a:sym typeface="Arial"/>
                        </a:rPr>
                        <a:t>à</a:t>
                      </a:r>
                      <a:r>
                        <a:rPr b="0" i="0" lang="en-US" sz="1800" u="none" cap="none" strike="noStrike">
                          <a:solidFill>
                            <a:schemeClr val="dk1"/>
                          </a:solidFill>
                          <a:latin typeface="Times New Roman"/>
                          <a:ea typeface="Times New Roman"/>
                          <a:cs typeface="Times New Roman"/>
                          <a:sym typeface="Times New Roman"/>
                        </a:rPr>
                        <a:t> m</a:t>
                      </a:r>
                      <a:r>
                        <a:rPr b="0" i="0" lang="en-US" sz="1800" u="none" cap="none" strike="noStrike">
                          <a:solidFill>
                            <a:schemeClr val="dk1"/>
                          </a:solidFill>
                          <a:latin typeface="Arial"/>
                          <a:ea typeface="Arial"/>
                          <a:cs typeface="Arial"/>
                          <a:sym typeface="Arial"/>
                        </a:rPr>
                        <a:t>á</a:t>
                      </a:r>
                      <a:r>
                        <a:rPr b="0" i="0" lang="en-US" sz="1800" u="none" cap="none" strike="noStrike">
                          <a:solidFill>
                            <a:schemeClr val="dk1"/>
                          </a:solidFill>
                          <a:latin typeface="Times New Roman"/>
                          <a:ea typeface="Times New Roman"/>
                          <a:cs typeface="Times New Roman"/>
                          <a:sym typeface="Times New Roman"/>
                        </a:rPr>
                        <a:t>y nhỏ</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100.000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20.000</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88950">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Không sản xuất</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200.000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r>
              <a:tr h="366725">
                <a:tc>
                  <a:txBody>
                    <a:bodyPr/>
                    <a:lstStyle/>
                    <a:p>
                      <a:pPr indent="0" lvl="0" marL="0" marR="0" rtl="0" algn="l">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P(S</a:t>
                      </a:r>
                      <a:r>
                        <a:rPr b="1" baseline="-25000" i="0" lang="en-US" sz="1800" u="none" cap="none" strike="noStrike">
                          <a:solidFill>
                            <a:schemeClr val="dk1"/>
                          </a:solidFill>
                          <a:latin typeface="Times New Roman"/>
                          <a:ea typeface="Times New Roman"/>
                          <a:cs typeface="Times New Roman"/>
                          <a:sym typeface="Times New Roman"/>
                        </a:rPr>
                        <a:t>j</a:t>
                      </a:r>
                      <a:r>
                        <a:rPr b="1"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0.5</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0.5</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id="237" name="Google Shape;237;p17"/>
          <p:cNvPicPr preferRelativeResize="0"/>
          <p:nvPr/>
        </p:nvPicPr>
        <p:blipFill rotWithShape="1">
          <a:blip r:embed="rId3">
            <a:alphaModFix/>
          </a:blip>
          <a:srcRect b="0" l="0" r="0" t="0"/>
          <a:stretch/>
        </p:blipFill>
        <p:spPr>
          <a:xfrm>
            <a:off x="542925" y="304800"/>
            <a:ext cx="3038475" cy="552450"/>
          </a:xfrm>
          <a:prstGeom prst="rect">
            <a:avLst/>
          </a:prstGeom>
          <a:noFill/>
          <a:ln cap="flat" cmpd="sng" w="28575">
            <a:solidFill>
              <a:schemeClr val="hlink"/>
            </a:solidFill>
            <a:prstDash val="solid"/>
            <a:miter lim="800000"/>
            <a:headEnd len="sm" w="sm" type="none"/>
            <a:tailEnd len="sm" w="sm" type="none"/>
          </a:ln>
        </p:spPr>
      </p:pic>
      <p:pic>
        <p:nvPicPr>
          <p:cNvPr id="238" name="Google Shape;238;p17"/>
          <p:cNvPicPr preferRelativeResize="0"/>
          <p:nvPr/>
        </p:nvPicPr>
        <p:blipFill rotWithShape="1">
          <a:blip r:embed="rId4">
            <a:alphaModFix/>
          </a:blip>
          <a:srcRect b="0" l="0" r="0" t="0"/>
          <a:stretch/>
        </p:blipFill>
        <p:spPr>
          <a:xfrm>
            <a:off x="3657600" y="152400"/>
            <a:ext cx="5410200" cy="1676400"/>
          </a:xfrm>
          <a:prstGeom prst="rect">
            <a:avLst/>
          </a:prstGeom>
          <a:noFill/>
          <a:ln>
            <a:noFill/>
          </a:ln>
        </p:spPr>
      </p:pic>
    </p:spTree>
  </p:cSld>
  <p:clrMapOvr>
    <a:masterClrMapping/>
  </p:clrMapOvr>
  <p:transition>
    <p:push dir="r"/>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50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gtEl>
                                        <p:attrNameLst>
                                          <p:attrName>style.visibility</p:attrName>
                                        </p:attrNameLst>
                                      </p:cBhvr>
                                      <p:to>
                                        <p:strVal val="visible"/>
                                      </p:to>
                                    </p:set>
                                    <p:animEffect filter="fade" transition="in">
                                      <p:cBhvr>
                                        <p:cTn dur="500"/>
                                        <p:tgtEl>
                                          <p:spTgt spid="2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0" st="0"/>
                                            </p:txEl>
                                          </p:spTgt>
                                        </p:tgtEl>
                                        <p:attrNameLst>
                                          <p:attrName>style.visibility</p:attrName>
                                        </p:attrNameLst>
                                      </p:cBhvr>
                                      <p:to>
                                        <p:strVal val="visible"/>
                                      </p:to>
                                    </p:set>
                                    <p:animEffect filter="fade" transition="in">
                                      <p:cBhvr>
                                        <p:cTn dur="500"/>
                                        <p:tgtEl>
                                          <p:spTgt spid="2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1" st="1"/>
                                            </p:txEl>
                                          </p:spTgt>
                                        </p:tgtEl>
                                        <p:attrNameLst>
                                          <p:attrName>style.visibility</p:attrName>
                                        </p:attrNameLst>
                                      </p:cBhvr>
                                      <p:to>
                                        <p:strVal val="visible"/>
                                      </p:to>
                                    </p:set>
                                    <p:animEffect filter="fade" transition="in">
                                      <p:cBhvr>
                                        <p:cTn dur="500"/>
                                        <p:tgtEl>
                                          <p:spTgt spid="2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2" st="2"/>
                                            </p:txEl>
                                          </p:spTgt>
                                        </p:tgtEl>
                                        <p:attrNameLst>
                                          <p:attrName>style.visibility</p:attrName>
                                        </p:attrNameLst>
                                      </p:cBhvr>
                                      <p:to>
                                        <p:strVal val="visible"/>
                                      </p:to>
                                    </p:set>
                                    <p:animEffect filter="fade" transition="in">
                                      <p:cBhvr>
                                        <p:cTn dur="500"/>
                                        <p:tgtEl>
                                          <p:spTgt spid="2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3" st="3"/>
                                            </p:txEl>
                                          </p:spTgt>
                                        </p:tgtEl>
                                        <p:attrNameLst>
                                          <p:attrName>style.visibility</p:attrName>
                                        </p:attrNameLst>
                                      </p:cBhvr>
                                      <p:to>
                                        <p:strVal val="visible"/>
                                      </p:to>
                                    </p:set>
                                    <p:animEffect filter="fade" transition="in">
                                      <p:cBhvr>
                                        <p:cTn dur="500"/>
                                        <p:tgtEl>
                                          <p:spTgt spid="2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4" st="4"/>
                                            </p:txEl>
                                          </p:spTgt>
                                        </p:tgtEl>
                                        <p:attrNameLst>
                                          <p:attrName>style.visibility</p:attrName>
                                        </p:attrNameLst>
                                      </p:cBhvr>
                                      <p:to>
                                        <p:strVal val="visible"/>
                                      </p:to>
                                    </p:set>
                                    <p:animEffect filter="fade" transition="in">
                                      <p:cBhvr>
                                        <p:cTn dur="500"/>
                                        <p:tgtEl>
                                          <p:spTgt spid="2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5" st="5"/>
                                            </p:txEl>
                                          </p:spTgt>
                                        </p:tgtEl>
                                        <p:attrNameLst>
                                          <p:attrName>style.visibility</p:attrName>
                                        </p:attrNameLst>
                                      </p:cBhvr>
                                      <p:to>
                                        <p:strVal val="visible"/>
                                      </p:to>
                                    </p:set>
                                    <p:animEffect filter="fade" transition="in">
                                      <p:cBhvr>
                                        <p:cTn dur="500"/>
                                        <p:tgtEl>
                                          <p:spTgt spid="2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6" st="6"/>
                                            </p:txEl>
                                          </p:spTgt>
                                        </p:tgtEl>
                                        <p:attrNameLst>
                                          <p:attrName>style.visibility</p:attrName>
                                        </p:attrNameLst>
                                      </p:cBhvr>
                                      <p:to>
                                        <p:strVal val="visible"/>
                                      </p:to>
                                    </p:set>
                                    <p:animEffect filter="fade" transition="in">
                                      <p:cBhvr>
                                        <p:cTn dur="500"/>
                                        <p:tgtEl>
                                          <p:spTgt spid="23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xEl>
                                              <p:pRg end="7" st="7"/>
                                            </p:txEl>
                                          </p:spTgt>
                                        </p:tgtEl>
                                        <p:attrNameLst>
                                          <p:attrName>style.visibility</p:attrName>
                                        </p:attrNameLst>
                                      </p:cBhvr>
                                      <p:to>
                                        <p:strVal val="visible"/>
                                      </p:to>
                                    </p:set>
                                    <p:animEffect filter="fade" transition="in">
                                      <p:cBhvr>
                                        <p:cTn dur="500"/>
                                        <p:tgtEl>
                                          <p:spTgt spid="23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5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8"/>
          <p:cNvSpPr txBox="1"/>
          <p:nvPr>
            <p:ph idx="4294967295"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4. RQĐ trong điều kiện rủi ro </a:t>
            </a:r>
            <a:r>
              <a:rPr b="0" i="1" lang="en-US"/>
              <a:t>(tt)</a:t>
            </a:r>
            <a:endParaRPr/>
          </a:p>
        </p:txBody>
      </p:sp>
      <p:sp>
        <p:nvSpPr>
          <p:cNvPr id="244" name="Google Shape;244;p18"/>
          <p:cNvSpPr txBox="1"/>
          <p:nvPr>
            <p:ph idx="4294967295"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7663" lvl="1" marL="347663" rtl="0" algn="just">
              <a:spcBef>
                <a:spcPts val="0"/>
              </a:spcBef>
              <a:spcAft>
                <a:spcPts val="0"/>
              </a:spcAft>
              <a:buClr>
                <a:schemeClr val="dk2"/>
              </a:buClr>
              <a:buSzPts val="4200"/>
              <a:buFont typeface="Times New Roman"/>
              <a:buNone/>
            </a:pPr>
            <a:r>
              <a:rPr b="1" lang="en-US" sz="2800"/>
              <a:t>4.1. Phương pháp lập bảng QĐ</a:t>
            </a:r>
            <a:r>
              <a:rPr lang="en-US" sz="2800"/>
              <a:t> </a:t>
            </a:r>
            <a:r>
              <a:rPr i="1" lang="en-US" sz="2800"/>
              <a:t>(tt)</a:t>
            </a:r>
            <a:endParaRPr b="1" sz="2800"/>
          </a:p>
          <a:p>
            <a:pPr indent="-342900" lvl="0" marL="342900" rtl="0" algn="just">
              <a:spcBef>
                <a:spcPts val="1500"/>
              </a:spcBef>
              <a:spcAft>
                <a:spcPts val="0"/>
              </a:spcAft>
              <a:buSzPts val="1400"/>
              <a:buFont typeface="Noto Sans Symbols"/>
              <a:buNone/>
            </a:pPr>
            <a:r>
              <a:rPr lang="en-US" sz="2000"/>
              <a:t>	EOL (lớn)	=  0,5 x  0	+  0,5 x  180.000	=	90.000</a:t>
            </a:r>
            <a:endParaRPr/>
          </a:p>
          <a:p>
            <a:pPr indent="-342900" lvl="0" marL="342900" rtl="0" algn="just">
              <a:spcBef>
                <a:spcPts val="900"/>
              </a:spcBef>
              <a:spcAft>
                <a:spcPts val="0"/>
              </a:spcAft>
              <a:buSzPts val="1400"/>
              <a:buFont typeface="Noto Sans Symbols"/>
              <a:buNone/>
            </a:pPr>
            <a:r>
              <a:rPr lang="en-US" sz="2000"/>
              <a:t>	EOL (nhỏ)	=  0,5 x 100.000	+  0,5 x  20.000 	= 	60.000</a:t>
            </a:r>
            <a:endParaRPr/>
          </a:p>
          <a:p>
            <a:pPr indent="-342900" lvl="0" marL="342900" rtl="0" algn="just">
              <a:spcBef>
                <a:spcPts val="900"/>
              </a:spcBef>
              <a:spcAft>
                <a:spcPts val="0"/>
              </a:spcAft>
              <a:buSzPts val="1400"/>
              <a:buFont typeface="Noto Sans Symbols"/>
              <a:buNone/>
            </a:pPr>
            <a:r>
              <a:rPr lang="en-US" sz="2000"/>
              <a:t>	EOL (không)	=  0,5 x 200.000	+  0,5 x  0          	=	100.000</a:t>
            </a:r>
            <a:endParaRPr/>
          </a:p>
          <a:p>
            <a:pPr indent="-342900" lvl="0" marL="342900" rtl="0" algn="just">
              <a:spcBef>
                <a:spcPts val="900"/>
              </a:spcBef>
              <a:spcAft>
                <a:spcPts val="0"/>
              </a:spcAft>
              <a:buSzPts val="1400"/>
              <a:buFont typeface="Noto Sans Symbols"/>
              <a:buNone/>
            </a:pPr>
            <a:r>
              <a:rPr lang="en-US" sz="2000"/>
              <a:t>RQĐ theo tiêu chuẩn </a:t>
            </a:r>
            <a:r>
              <a:rPr b="1" lang="en-US" sz="2000">
                <a:solidFill>
                  <a:srgbClr val="000099"/>
                </a:solidFill>
              </a:rPr>
              <a:t>Min</a:t>
            </a:r>
            <a:r>
              <a:rPr b="1" baseline="-25000" lang="en-US" sz="2000">
                <a:solidFill>
                  <a:srgbClr val="000099"/>
                </a:solidFill>
              </a:rPr>
              <a:t>i</a:t>
            </a:r>
            <a:r>
              <a:rPr b="1" lang="en-US" sz="2000">
                <a:solidFill>
                  <a:srgbClr val="000099"/>
                </a:solidFill>
              </a:rPr>
              <a:t> EOL (i)</a:t>
            </a:r>
            <a:r>
              <a:rPr lang="en-US" sz="2000"/>
              <a:t> </a:t>
            </a:r>
            <a:endParaRPr/>
          </a:p>
          <a:p>
            <a:pPr indent="-342900" lvl="0" marL="342900" rtl="0" algn="just">
              <a:spcBef>
                <a:spcPts val="900"/>
              </a:spcBef>
              <a:spcAft>
                <a:spcPts val="0"/>
              </a:spcAft>
              <a:buSzPts val="1400"/>
              <a:buFont typeface="Noto Sans Symbols"/>
              <a:buNone/>
            </a:pPr>
            <a:r>
              <a:rPr lang="en-US" sz="2000"/>
              <a:t>	    	Min</a:t>
            </a:r>
            <a:r>
              <a:rPr baseline="-25000" lang="en-US" sz="2000"/>
              <a:t>i</a:t>
            </a:r>
            <a:r>
              <a:rPr lang="en-US" sz="2000"/>
              <a:t> EOL (i) = Min</a:t>
            </a:r>
            <a:r>
              <a:rPr baseline="-25000" lang="en-US" sz="2000"/>
              <a:t>i</a:t>
            </a:r>
            <a:r>
              <a:rPr lang="en-US" sz="2000"/>
              <a:t> (90.000, 60.000, 100.000) = 60.000</a:t>
            </a:r>
            <a:endParaRPr/>
          </a:p>
          <a:p>
            <a:pPr indent="-342900" lvl="0" marL="342900" rtl="0" algn="just">
              <a:spcBef>
                <a:spcPts val="900"/>
              </a:spcBef>
              <a:spcAft>
                <a:spcPts val="0"/>
              </a:spcAft>
              <a:buSzPts val="1400"/>
              <a:buFont typeface="Noto Sans Symbols"/>
              <a:buNone/>
            </a:pPr>
            <a:r>
              <a:rPr b="1" lang="en-US" sz="2000"/>
              <a:t>		=&gt; </a:t>
            </a:r>
            <a:r>
              <a:rPr b="1" lang="en-US" sz="2000">
                <a:solidFill>
                  <a:srgbClr val="000099"/>
                </a:solidFill>
              </a:rPr>
              <a:t>Chọn PA</a:t>
            </a:r>
            <a:r>
              <a:rPr b="1" lang="en-US" sz="2000"/>
              <a:t> xây nhà máy nhỏ </a:t>
            </a:r>
            <a:r>
              <a:rPr lang="en-US" sz="2000"/>
              <a:t>(i=2)</a:t>
            </a:r>
            <a:endParaRPr/>
          </a:p>
          <a:p>
            <a:pPr indent="-342900" lvl="0" marL="342900" rtl="0" algn="just">
              <a:spcBef>
                <a:spcPts val="900"/>
              </a:spcBef>
              <a:spcAft>
                <a:spcPts val="0"/>
              </a:spcAft>
              <a:buSzPts val="1400"/>
              <a:buFont typeface="Noto Sans Symbols"/>
              <a:buNone/>
            </a:pPr>
            <a:r>
              <a:rPr b="1" lang="en-US" sz="2000" u="sng"/>
              <a:t>Ghi chú :</a:t>
            </a:r>
            <a:endParaRPr/>
          </a:p>
          <a:p>
            <a:pPr indent="-342900" lvl="0" marL="342900" rtl="0" algn="just">
              <a:spcBef>
                <a:spcPts val="900"/>
              </a:spcBef>
              <a:spcAft>
                <a:spcPts val="0"/>
              </a:spcAft>
              <a:buSzPts val="1400"/>
              <a:buChar char="●"/>
            </a:pPr>
            <a:r>
              <a:rPr lang="en-US" sz="2000"/>
              <a:t>PPháp Min EOL (i) và PPháp EVPI sẽ cho cùng kết quả. 				</a:t>
            </a:r>
            <a:r>
              <a:rPr b="1" lang="en-US" sz="2000">
                <a:solidFill>
                  <a:srgbClr val="000099"/>
                </a:solidFill>
              </a:rPr>
              <a:t>EVPI = Min</a:t>
            </a:r>
            <a:r>
              <a:rPr b="1" baseline="-25000" lang="en-US" sz="2000">
                <a:solidFill>
                  <a:srgbClr val="000099"/>
                </a:solidFill>
              </a:rPr>
              <a:t>i</a:t>
            </a:r>
            <a:r>
              <a:rPr b="1" lang="en-US" sz="2000">
                <a:solidFill>
                  <a:srgbClr val="000099"/>
                </a:solidFill>
              </a:rPr>
              <a:t> EOL (i)</a:t>
            </a:r>
            <a:endParaRPr/>
          </a:p>
        </p:txBody>
      </p:sp>
      <p:sp>
        <p:nvSpPr>
          <p:cNvPr id="245" name="Google Shape;245;p18"/>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graphicFrame>
        <p:nvGraphicFramePr>
          <p:cNvPr id="246" name="Google Shape;246;p18"/>
          <p:cNvGraphicFramePr/>
          <p:nvPr/>
        </p:nvGraphicFramePr>
        <p:xfrm>
          <a:off x="242400" y="144425"/>
          <a:ext cx="3000000" cy="3000000"/>
        </p:xfrm>
        <a:graphic>
          <a:graphicData uri="http://schemas.openxmlformats.org/drawingml/2006/table">
            <a:tbl>
              <a:tblPr>
                <a:noFill/>
                <a:tableStyleId>{9302C292-000E-4312-823E-40D575495FEE}</a:tableStyleId>
              </a:tblPr>
              <a:tblGrid>
                <a:gridCol w="1778000"/>
                <a:gridCol w="1498600"/>
                <a:gridCol w="1600200"/>
              </a:tblGrid>
              <a:tr h="388950">
                <a:tc>
                  <a:txBody>
                    <a:bodyPr/>
                    <a:lstStyle/>
                    <a:p>
                      <a:pPr indent="0" lvl="0" marL="0" marR="0" rtl="0" algn="just">
                        <a:lnSpc>
                          <a:spcPct val="100000"/>
                        </a:lnSpc>
                        <a:spcBef>
                          <a:spcPts val="0"/>
                        </a:spcBef>
                        <a:spcAft>
                          <a:spcPts val="0"/>
                        </a:spcAft>
                        <a:buClr>
                          <a:schemeClr val="lt2"/>
                        </a:buClr>
                        <a:buSzPts val="1120"/>
                        <a:buFont typeface="Noto Sans Symbols"/>
                        <a:buNone/>
                      </a:pPr>
                      <a:r>
                        <a:t/>
                      </a:r>
                      <a:endParaRPr b="1" i="0" sz="1600" u="none" cap="none" strike="noStrike">
                        <a:solidFill>
                          <a:schemeClr val="dk1"/>
                        </a:solidFill>
                        <a:latin typeface="Times New Roman"/>
                        <a:ea typeface="Times New Roman"/>
                        <a:cs typeface="Times New Roman"/>
                        <a:sym typeface="Times New Roman"/>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T.Trường tốt</a:t>
                      </a:r>
                      <a:endParaRPr b="1" i="0" sz="16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600"/>
                        <a:buFont typeface="Times New Roman"/>
                        <a:buNone/>
                      </a:pPr>
                      <a:r>
                        <a:rPr b="1" i="0" lang="en-US" sz="1600" u="none" cap="none" strike="noStrike">
                          <a:solidFill>
                            <a:schemeClr val="dk1"/>
                          </a:solidFill>
                          <a:latin typeface="Times New Roman"/>
                          <a:ea typeface="Times New Roman"/>
                          <a:cs typeface="Times New Roman"/>
                          <a:sym typeface="Times New Roman"/>
                        </a:rPr>
                        <a:t>T.Trường xấu</a:t>
                      </a:r>
                      <a:endParaRPr b="1" i="0" sz="16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388950">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Nh</a:t>
                      </a:r>
                      <a:r>
                        <a:rPr b="0" i="0" lang="en-US" sz="1800" u="none" cap="none" strike="noStrike">
                          <a:solidFill>
                            <a:schemeClr val="dk1"/>
                          </a:solidFill>
                          <a:latin typeface="Arial"/>
                          <a:ea typeface="Arial"/>
                          <a:cs typeface="Arial"/>
                          <a:sym typeface="Arial"/>
                        </a:rPr>
                        <a:t>à</a:t>
                      </a:r>
                      <a:r>
                        <a:rPr b="0" i="0" lang="en-US" sz="1800" u="none" cap="none" strike="noStrike">
                          <a:solidFill>
                            <a:schemeClr val="dk1"/>
                          </a:solidFill>
                          <a:latin typeface="Times New Roman"/>
                          <a:ea typeface="Times New Roman"/>
                          <a:cs typeface="Times New Roman"/>
                          <a:sym typeface="Times New Roman"/>
                        </a:rPr>
                        <a:t> m</a:t>
                      </a:r>
                      <a:r>
                        <a:rPr b="0" i="0" lang="en-US" sz="1800" u="none" cap="none" strike="noStrike">
                          <a:solidFill>
                            <a:schemeClr val="dk1"/>
                          </a:solidFill>
                          <a:latin typeface="Arial"/>
                          <a:ea typeface="Arial"/>
                          <a:cs typeface="Arial"/>
                          <a:sym typeface="Arial"/>
                        </a:rPr>
                        <a:t>á</a:t>
                      </a:r>
                      <a:r>
                        <a:rPr b="0" i="0" lang="en-US" sz="1800" u="none" cap="none" strike="noStrike">
                          <a:solidFill>
                            <a:schemeClr val="dk1"/>
                          </a:solidFill>
                          <a:latin typeface="Times New Roman"/>
                          <a:ea typeface="Times New Roman"/>
                          <a:cs typeface="Times New Roman"/>
                          <a:sym typeface="Times New Roman"/>
                        </a:rPr>
                        <a:t>y lớn</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180.000</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87350">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Nh</a:t>
                      </a:r>
                      <a:r>
                        <a:rPr b="0" i="0" lang="en-US" sz="1800" u="none" cap="none" strike="noStrike">
                          <a:solidFill>
                            <a:schemeClr val="dk1"/>
                          </a:solidFill>
                          <a:latin typeface="Arial"/>
                          <a:ea typeface="Arial"/>
                          <a:cs typeface="Arial"/>
                          <a:sym typeface="Arial"/>
                        </a:rPr>
                        <a:t>à</a:t>
                      </a:r>
                      <a:r>
                        <a:rPr b="0" i="0" lang="en-US" sz="1800" u="none" cap="none" strike="noStrike">
                          <a:solidFill>
                            <a:schemeClr val="dk1"/>
                          </a:solidFill>
                          <a:latin typeface="Times New Roman"/>
                          <a:ea typeface="Times New Roman"/>
                          <a:cs typeface="Times New Roman"/>
                          <a:sym typeface="Times New Roman"/>
                        </a:rPr>
                        <a:t> m</a:t>
                      </a:r>
                      <a:r>
                        <a:rPr b="0" i="0" lang="en-US" sz="1800" u="none" cap="none" strike="noStrike">
                          <a:solidFill>
                            <a:schemeClr val="dk1"/>
                          </a:solidFill>
                          <a:latin typeface="Arial"/>
                          <a:ea typeface="Arial"/>
                          <a:cs typeface="Arial"/>
                          <a:sym typeface="Arial"/>
                        </a:rPr>
                        <a:t>á</a:t>
                      </a:r>
                      <a:r>
                        <a:rPr b="0" i="0" lang="en-US" sz="1800" u="none" cap="none" strike="noStrike">
                          <a:solidFill>
                            <a:schemeClr val="dk1"/>
                          </a:solidFill>
                          <a:latin typeface="Times New Roman"/>
                          <a:ea typeface="Times New Roman"/>
                          <a:cs typeface="Times New Roman"/>
                          <a:sym typeface="Times New Roman"/>
                        </a:rPr>
                        <a:t>y nhỏ</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100.000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20.000</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r h="388950">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Không sản xuất</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200.000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solidFill>
                      <a:schemeClr val="lt1"/>
                    </a:solidFill>
                  </a:tcPr>
                </a:tc>
              </a:tr>
              <a:tr h="366725">
                <a:tc>
                  <a:txBody>
                    <a:bodyPr/>
                    <a:lstStyle/>
                    <a:p>
                      <a:pPr indent="0" lvl="0" marL="0" marR="0" rtl="0" algn="l">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P(Sj)</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0.5</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0.5</a:t>
                      </a:r>
                      <a:endParaRPr b="0" i="0" sz="1800" u="none" cap="none" strike="noStrike">
                        <a:solidFill>
                          <a:schemeClr val="dk1"/>
                        </a:solidFill>
                        <a:latin typeface="Arial"/>
                        <a:ea typeface="Arial"/>
                        <a:cs typeface="Arial"/>
                        <a:sym typeface="Aria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lt1"/>
                    </a:solidFill>
                  </a:tcPr>
                </a:tc>
              </a:tr>
            </a:tbl>
          </a:graphicData>
        </a:graphic>
      </p:graphicFrame>
      <p:sp>
        <p:nvSpPr>
          <p:cNvPr id="247" name="Google Shape;247;p18"/>
          <p:cNvSpPr/>
          <p:nvPr/>
        </p:nvSpPr>
        <p:spPr>
          <a:xfrm>
            <a:off x="7010400" y="2971800"/>
            <a:ext cx="1219200" cy="457200"/>
          </a:xfrm>
          <a:prstGeom prst="ellipse">
            <a:avLst/>
          </a:prstGeom>
          <a:noFill/>
          <a:ln cap="flat" cmpd="sng" w="2857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pic>
        <p:nvPicPr>
          <p:cNvPr id="248" name="Google Shape;248;p18"/>
          <p:cNvPicPr preferRelativeResize="0"/>
          <p:nvPr/>
        </p:nvPicPr>
        <p:blipFill rotWithShape="1">
          <a:blip r:embed="rId3">
            <a:alphaModFix/>
          </a:blip>
          <a:srcRect b="0" l="0" r="0" t="0"/>
          <a:stretch/>
        </p:blipFill>
        <p:spPr>
          <a:xfrm>
            <a:off x="6477000" y="2057400"/>
            <a:ext cx="2438400" cy="533400"/>
          </a:xfrm>
          <a:prstGeom prst="rect">
            <a:avLst/>
          </a:prstGeom>
          <a:noFill/>
          <a:ln cap="flat" cmpd="sng" w="28575">
            <a:solidFill>
              <a:schemeClr val="hlink"/>
            </a:solidFill>
            <a:prstDash val="solid"/>
            <a:miter lim="800000"/>
            <a:headEnd len="sm" w="sm" type="none"/>
            <a:tailEnd len="sm" w="sm" type="none"/>
          </a:ln>
        </p:spPr>
      </p:pic>
    </p:spTree>
  </p:cSld>
  <p:clrMapOvr>
    <a:masterClrMapping/>
  </p:clrMapOvr>
  <p:transition>
    <p:push dir="r"/>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9"/>
          <p:cNvSpPr txBox="1"/>
          <p:nvPr>
            <p:ph idx="4294967295"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4. RQĐ trong điều kiện rủi ro </a:t>
            </a:r>
            <a:r>
              <a:rPr b="0" i="1" lang="en-US"/>
              <a:t>(tt)</a:t>
            </a:r>
            <a:endParaRPr/>
          </a:p>
        </p:txBody>
      </p:sp>
      <p:sp>
        <p:nvSpPr>
          <p:cNvPr id="254" name="Google Shape;254;p19"/>
          <p:cNvSpPr txBox="1"/>
          <p:nvPr>
            <p:ph idx="4294967295" type="body"/>
          </p:nvPr>
        </p:nvSpPr>
        <p:spPr>
          <a:xfrm>
            <a:off x="762000" y="1905000"/>
            <a:ext cx="7696200" cy="4038600"/>
          </a:xfrm>
          <a:prstGeom prst="rect">
            <a:avLst/>
          </a:prstGeom>
          <a:noFill/>
          <a:ln>
            <a:noFill/>
          </a:ln>
        </p:spPr>
        <p:txBody>
          <a:bodyPr anchorCtr="0" anchor="t" bIns="45700" lIns="91425" spcFirstLastPara="1" rIns="91425" wrap="square" tIns="45700">
            <a:noAutofit/>
          </a:bodyPr>
          <a:lstStyle/>
          <a:p>
            <a:pPr indent="-347663" lvl="1" marL="347663" rtl="0" algn="just">
              <a:spcBef>
                <a:spcPts val="0"/>
              </a:spcBef>
              <a:spcAft>
                <a:spcPts val="0"/>
              </a:spcAft>
              <a:buClr>
                <a:schemeClr val="dk2"/>
              </a:buClr>
              <a:buSzPts val="4200"/>
              <a:buFont typeface="Times New Roman"/>
              <a:buNone/>
            </a:pPr>
            <a:r>
              <a:rPr b="1" lang="en-US" sz="2800"/>
              <a:t>4.1. Phương pháp lập bảng QĐ</a:t>
            </a:r>
            <a:r>
              <a:rPr lang="en-US" sz="2800"/>
              <a:t> </a:t>
            </a:r>
            <a:r>
              <a:rPr i="1" lang="en-US" sz="2800"/>
              <a:t>(tt)</a:t>
            </a:r>
            <a:endParaRPr b="1" sz="2800"/>
          </a:p>
          <a:p>
            <a:pPr indent="-342900" lvl="0" marL="342900" rtl="0" algn="just">
              <a:spcBef>
                <a:spcPts val="1220"/>
              </a:spcBef>
              <a:spcAft>
                <a:spcPts val="0"/>
              </a:spcAft>
              <a:buSzPts val="2170"/>
              <a:buFont typeface="Noto Sans Symbols"/>
              <a:buNone/>
            </a:pPr>
            <a:r>
              <a:t/>
            </a:r>
            <a:endParaRPr/>
          </a:p>
        </p:txBody>
      </p:sp>
      <p:sp>
        <p:nvSpPr>
          <p:cNvPr id="255" name="Google Shape;255;p19"/>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256" name="Google Shape;256;p19"/>
          <p:cNvPicPr preferRelativeResize="0"/>
          <p:nvPr/>
        </p:nvPicPr>
        <p:blipFill rotWithShape="1">
          <a:blip r:embed="rId3">
            <a:alphaModFix/>
          </a:blip>
          <a:srcRect b="0" l="0" r="0" t="0"/>
          <a:stretch/>
        </p:blipFill>
        <p:spPr>
          <a:xfrm>
            <a:off x="895350" y="2471738"/>
            <a:ext cx="7791450" cy="4614862"/>
          </a:xfrm>
          <a:prstGeom prst="rect">
            <a:avLst/>
          </a:prstGeom>
          <a:noFill/>
          <a:ln>
            <a:noFill/>
          </a:ln>
        </p:spPr>
      </p:pic>
      <p:graphicFrame>
        <p:nvGraphicFramePr>
          <p:cNvPr id="257" name="Google Shape;257;p19"/>
          <p:cNvGraphicFramePr/>
          <p:nvPr/>
        </p:nvGraphicFramePr>
        <p:xfrm>
          <a:off x="1879600" y="3222625"/>
          <a:ext cx="3000000" cy="3000000"/>
        </p:xfrm>
        <a:graphic>
          <a:graphicData uri="http://schemas.openxmlformats.org/drawingml/2006/table">
            <a:tbl>
              <a:tblPr>
                <a:noFill/>
                <a:tableStyleId>{9302C292-000E-4312-823E-40D575495FEE}</a:tableStyleId>
              </a:tblPr>
              <a:tblGrid>
                <a:gridCol w="1625600"/>
                <a:gridCol w="1625600"/>
                <a:gridCol w="1625600"/>
                <a:gridCol w="1625600"/>
              </a:tblGrid>
              <a:tr h="366725">
                <a:tc rowSpan="2">
                  <a:txBody>
                    <a:bodyPr/>
                    <a:lstStyle/>
                    <a:p>
                      <a:pPr indent="0" lvl="0" marL="0" marR="0" rtl="0" algn="just">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M</a:t>
                      </a:r>
                      <a:r>
                        <a:rPr b="1" i="0" lang="en-US" sz="1800" u="none" cap="none" strike="noStrike">
                          <a:solidFill>
                            <a:schemeClr val="dk1"/>
                          </a:solidFill>
                          <a:latin typeface="Arial"/>
                          <a:ea typeface="Arial"/>
                          <a:cs typeface="Arial"/>
                          <a:sym typeface="Arial"/>
                        </a:rPr>
                        <a:t>á</a:t>
                      </a:r>
                      <a:r>
                        <a:rPr b="1" i="0" lang="en-US" sz="1800" u="none" cap="none" strike="noStrike">
                          <a:solidFill>
                            <a:schemeClr val="dk1"/>
                          </a:solidFill>
                          <a:latin typeface="Times New Roman"/>
                          <a:ea typeface="Times New Roman"/>
                          <a:cs typeface="Times New Roman"/>
                          <a:sym typeface="Times New Roman"/>
                        </a:rPr>
                        <a:t>y biến thế</a:t>
                      </a:r>
                      <a:endParaRPr b="1" i="0" sz="1800" u="none" cap="none" strike="noStrike">
                        <a:solidFill>
                          <a:schemeClr val="dk1"/>
                        </a:solidFill>
                        <a:latin typeface="Arial"/>
                        <a:ea typeface="Arial"/>
                        <a:cs typeface="Arial"/>
                        <a:sym typeface="Arial"/>
                      </a:endParaRPr>
                    </a:p>
                  </a:txBody>
                  <a:tcPr marT="45725" marB="45725" marR="91450" marL="91450" anchor="ctr">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gridSpan="3">
                  <a:txBody>
                    <a:bodyPr/>
                    <a:lstStyle/>
                    <a:p>
                      <a:pPr indent="0" lvl="0" marL="0" marR="0" rtl="0" algn="ctr">
                        <a:lnSpc>
                          <a:spcPct val="100000"/>
                        </a:lnSpc>
                        <a:spcBef>
                          <a:spcPts val="0"/>
                        </a:spcBef>
                        <a:spcAft>
                          <a:spcPts val="0"/>
                        </a:spcAft>
                        <a:buClr>
                          <a:schemeClr val="dk1"/>
                        </a:buClr>
                        <a:buSzPts val="1800"/>
                        <a:buFont typeface="Times New Roman"/>
                        <a:buNone/>
                      </a:pPr>
                      <a:r>
                        <a:rPr b="1" i="1" lang="en-US" sz="1800" u="none" cap="none" strike="noStrike">
                          <a:solidFill>
                            <a:schemeClr val="dk1"/>
                          </a:solidFill>
                          <a:latin typeface="Times New Roman"/>
                          <a:ea typeface="Times New Roman"/>
                          <a:cs typeface="Times New Roman"/>
                          <a:sym typeface="Times New Roman"/>
                        </a:rPr>
                        <a:t>Nhu cầu điện của TT mua sắm</a:t>
                      </a:r>
                      <a:endParaRPr b="1" i="1"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hMerge="1"/>
                <a:tc hMerge="1"/>
              </a:tr>
              <a:tr h="366725">
                <a:tc vMerge="1"/>
                <a:tc>
                  <a:txBody>
                    <a:bodyPr/>
                    <a:lstStyle/>
                    <a:p>
                      <a:pPr indent="0" lvl="0" marL="0" marR="0" rtl="0" algn="ctr">
                        <a:lnSpc>
                          <a:spcPct val="100000"/>
                        </a:lnSpc>
                        <a:spcBef>
                          <a:spcPts val="0"/>
                        </a:spcBef>
                        <a:spcAft>
                          <a:spcPts val="0"/>
                        </a:spcAft>
                        <a:buClr>
                          <a:schemeClr val="dk1"/>
                        </a:buClr>
                        <a:buSzPts val="1800"/>
                        <a:buFont typeface="Arial"/>
                        <a:buNone/>
                      </a:pPr>
                      <a:r>
                        <a:rPr b="1" i="1" lang="en-US" sz="1800" u="none" cap="none" strike="noStrike">
                          <a:solidFill>
                            <a:schemeClr val="dk1"/>
                          </a:solidFill>
                          <a:latin typeface="Arial"/>
                          <a:ea typeface="Arial"/>
                          <a:cs typeface="Arial"/>
                          <a:sym typeface="Arial"/>
                        </a:rPr>
                        <a:t>Í</a:t>
                      </a:r>
                      <a:r>
                        <a:rPr b="1" i="1" lang="en-US" sz="1800" u="none" cap="none" strike="noStrike">
                          <a:solidFill>
                            <a:schemeClr val="dk1"/>
                          </a:solidFill>
                          <a:latin typeface="Times New Roman"/>
                          <a:ea typeface="Times New Roman"/>
                          <a:cs typeface="Times New Roman"/>
                          <a:sym typeface="Times New Roman"/>
                        </a:rPr>
                        <a:t>t</a:t>
                      </a:r>
                      <a:endParaRPr b="1" i="1"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1" i="1" lang="en-US" sz="1800" u="none" cap="none" strike="noStrike">
                          <a:solidFill>
                            <a:schemeClr val="dk1"/>
                          </a:solidFill>
                          <a:latin typeface="Times New Roman"/>
                          <a:ea typeface="Times New Roman"/>
                          <a:cs typeface="Times New Roman"/>
                          <a:sym typeface="Times New Roman"/>
                        </a:rPr>
                        <a:t>Trung b</a:t>
                      </a:r>
                      <a:r>
                        <a:rPr b="1" i="1" lang="en-US" sz="1800" u="none" cap="none" strike="noStrike">
                          <a:solidFill>
                            <a:schemeClr val="dk1"/>
                          </a:solidFill>
                          <a:latin typeface="Arial"/>
                          <a:ea typeface="Arial"/>
                          <a:cs typeface="Arial"/>
                          <a:sym typeface="Arial"/>
                        </a:rPr>
                        <a:t>ì</a:t>
                      </a:r>
                      <a:r>
                        <a:rPr b="1" i="1" lang="en-US" sz="1800" u="none" cap="none" strike="noStrike">
                          <a:solidFill>
                            <a:schemeClr val="dk1"/>
                          </a:solidFill>
                          <a:latin typeface="Times New Roman"/>
                          <a:ea typeface="Times New Roman"/>
                          <a:cs typeface="Times New Roman"/>
                          <a:sym typeface="Times New Roman"/>
                        </a:rPr>
                        <a:t>nh</a:t>
                      </a:r>
                      <a:endParaRPr b="1" i="1"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1" i="1" lang="en-US" sz="1800" u="none" cap="none" strike="noStrike">
                          <a:solidFill>
                            <a:schemeClr val="dk1"/>
                          </a:solidFill>
                          <a:latin typeface="Times New Roman"/>
                          <a:ea typeface="Times New Roman"/>
                          <a:cs typeface="Times New Roman"/>
                          <a:sym typeface="Times New Roman"/>
                        </a:rPr>
                        <a:t>Nhiều</a:t>
                      </a:r>
                      <a:endParaRPr b="1" i="1"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66725">
                <a:tc>
                  <a:txBody>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Nhỏ</a:t>
                      </a:r>
                      <a:endParaRPr b="1" i="0" sz="1800" u="none" cap="none" strike="noStrike">
                        <a:solidFill>
                          <a:schemeClr val="dk1"/>
                        </a:solidFill>
                        <a:latin typeface="Arial"/>
                        <a:ea typeface="Arial"/>
                        <a:cs typeface="Arial"/>
                        <a:sym typeface="Arial"/>
                      </a:endParaRPr>
                    </a:p>
                  </a:txBody>
                  <a:tcPr marT="45725" marB="45725" marR="91450" marL="91450" anchor="ctr">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50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140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190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66725">
                <a:tc>
                  <a:txBody>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Vừa</a:t>
                      </a:r>
                      <a:endParaRPr b="1" i="0" sz="1800" u="none" cap="none" strike="noStrike">
                        <a:solidFill>
                          <a:schemeClr val="dk1"/>
                        </a:solidFill>
                        <a:latin typeface="Arial"/>
                        <a:ea typeface="Arial"/>
                        <a:cs typeface="Arial"/>
                        <a:sym typeface="Arial"/>
                      </a:endParaRPr>
                    </a:p>
                  </a:txBody>
                  <a:tcPr marT="45725" marB="45725" marR="91450" marL="91450" anchor="ctr">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100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100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190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68325">
                <a:tc>
                  <a:txBody>
                    <a:bodyPr/>
                    <a:lstStyle/>
                    <a:p>
                      <a:pPr indent="0" lvl="0" marL="0" marR="0" rtl="0" algn="ctr">
                        <a:lnSpc>
                          <a:spcPct val="100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Lớn</a:t>
                      </a:r>
                      <a:endParaRPr b="1" i="0" sz="1800" u="none" cap="none" strike="noStrike">
                        <a:solidFill>
                          <a:schemeClr val="dk1"/>
                        </a:solidFill>
                        <a:latin typeface="Arial"/>
                        <a:ea typeface="Arial"/>
                        <a:cs typeface="Arial"/>
                        <a:sym typeface="Arial"/>
                      </a:endParaRPr>
                    </a:p>
                  </a:txBody>
                  <a:tcPr marT="45725" marB="45725" marR="91450" marL="91450" anchor="ctr">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150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150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150</a:t>
                      </a:r>
                      <a:endParaRPr b="0" i="0" sz="1800" u="none" cap="none" strike="noStrike">
                        <a:solidFill>
                          <a:schemeClr val="dk1"/>
                        </a:solidFill>
                        <a:latin typeface="Arial"/>
                        <a:ea typeface="Arial"/>
                        <a:cs typeface="Arial"/>
                        <a:sym typeface="Arial"/>
                      </a:endParaRPr>
                    </a:p>
                  </a:txBody>
                  <a:tcPr marT="45725" marB="45725" marR="91450" marL="91450" anchor="ctr">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tcPr>
                </a:tc>
              </a:tr>
            </a:tbl>
          </a:graphicData>
        </a:graphic>
      </p:graphicFrame>
    </p:spTree>
  </p:cSld>
  <p:clrMapOvr>
    <a:masterClrMapping/>
  </p:clrMapOvr>
  <p:transition>
    <p:push dir="r"/>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id="262" name="Google Shape;262;p20"/>
          <p:cNvPicPr preferRelativeResize="0"/>
          <p:nvPr/>
        </p:nvPicPr>
        <p:blipFill rotWithShape="1">
          <a:blip r:embed="rId3">
            <a:alphaModFix/>
          </a:blip>
          <a:srcRect b="0" l="0" r="0" t="0"/>
          <a:stretch/>
        </p:blipFill>
        <p:spPr>
          <a:xfrm>
            <a:off x="401638" y="2209800"/>
            <a:ext cx="8208962" cy="4151313"/>
          </a:xfrm>
          <a:prstGeom prst="rect">
            <a:avLst/>
          </a:prstGeom>
          <a:noFill/>
          <a:ln>
            <a:noFill/>
          </a:ln>
        </p:spPr>
      </p:pic>
      <p:sp>
        <p:nvSpPr>
          <p:cNvPr id="263" name="Google Shape;263;p20"/>
          <p:cNvSpPr txBox="1"/>
          <p:nvPr>
            <p:ph idx="4294967295"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4. RQĐ trong điều kiện rủi ro </a:t>
            </a:r>
            <a:r>
              <a:rPr b="0" i="1" lang="en-US"/>
              <a:t>(tt)</a:t>
            </a:r>
            <a:br>
              <a:rPr b="0" i="1" lang="en-US"/>
            </a:br>
            <a:r>
              <a:rPr b="0" i="1" lang="en-US"/>
              <a:t> </a:t>
            </a:r>
            <a:r>
              <a:rPr lang="en-US" sz="2800">
                <a:solidFill>
                  <a:schemeClr val="dk1"/>
                </a:solidFill>
              </a:rPr>
              <a:t>4.1. Phương pháp lập bảng QĐ </a:t>
            </a:r>
            <a:r>
              <a:rPr i="1" lang="en-US" sz="2800">
                <a:solidFill>
                  <a:schemeClr val="dk1"/>
                </a:solidFill>
              </a:rPr>
              <a:t>(tt)</a:t>
            </a:r>
            <a:endParaRPr/>
          </a:p>
        </p:txBody>
      </p:sp>
      <p:sp>
        <p:nvSpPr>
          <p:cNvPr id="264" name="Google Shape;264;p20"/>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265" name="Google Shape;265;p20"/>
          <p:cNvPicPr preferRelativeResize="0"/>
          <p:nvPr/>
        </p:nvPicPr>
        <p:blipFill rotWithShape="1">
          <a:blip r:embed="rId4">
            <a:alphaModFix/>
          </a:blip>
          <a:srcRect b="0" l="0" r="0" t="0"/>
          <a:stretch/>
        </p:blipFill>
        <p:spPr>
          <a:xfrm>
            <a:off x="1066800" y="1703388"/>
            <a:ext cx="7999413" cy="1420812"/>
          </a:xfrm>
          <a:prstGeom prst="rect">
            <a:avLst/>
          </a:prstGeom>
          <a:noFill/>
          <a:ln>
            <a:noFill/>
          </a:ln>
        </p:spPr>
      </p:pic>
    </p:spTree>
  </p:cSld>
  <p:clrMapOvr>
    <a:masterClrMapping/>
  </p:clrMapOvr>
  <p:transition>
    <p:push dir="r"/>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1"/>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4. RQĐ trong điều kiện rủi ro </a:t>
            </a:r>
            <a:r>
              <a:rPr b="0" i="1" lang="en-US"/>
              <a:t>(tt)</a:t>
            </a:r>
            <a:endParaRPr/>
          </a:p>
        </p:txBody>
      </p:sp>
      <p:sp>
        <p:nvSpPr>
          <p:cNvPr id="271" name="Google Shape;271;p21"/>
          <p:cNvSpPr txBox="1"/>
          <p:nvPr>
            <p:ph idx="1" type="body"/>
          </p:nvPr>
        </p:nvSpPr>
        <p:spPr>
          <a:xfrm>
            <a:off x="685800" y="1752600"/>
            <a:ext cx="7696200" cy="40386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Clr>
                <a:schemeClr val="dk2"/>
              </a:buClr>
              <a:buSzPts val="4200"/>
              <a:buFont typeface="Times New Roman"/>
              <a:buNone/>
            </a:pPr>
            <a:r>
              <a:rPr b="1" lang="en-US" sz="2800"/>
              <a:t>4.2. Phương pháp cây QĐ</a:t>
            </a:r>
            <a:endParaRPr/>
          </a:p>
          <a:p>
            <a:pPr indent="-342900" lvl="0" marL="342900" rtl="0" algn="just">
              <a:spcBef>
                <a:spcPts val="1220"/>
              </a:spcBef>
              <a:spcAft>
                <a:spcPts val="0"/>
              </a:spcAft>
              <a:buSzPts val="2170"/>
              <a:buFont typeface="Noto Sans Symbols"/>
              <a:buNone/>
            </a:pPr>
            <a:r>
              <a:t/>
            </a:r>
            <a:endParaRPr/>
          </a:p>
        </p:txBody>
      </p:sp>
      <p:sp>
        <p:nvSpPr>
          <p:cNvPr id="272" name="Google Shape;272;p21"/>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273" name="Google Shape;273;p21"/>
          <p:cNvPicPr preferRelativeResize="0"/>
          <p:nvPr/>
        </p:nvPicPr>
        <p:blipFill rotWithShape="1">
          <a:blip r:embed="rId3">
            <a:alphaModFix/>
          </a:blip>
          <a:srcRect b="0" l="0" r="0" t="0"/>
          <a:stretch/>
        </p:blipFill>
        <p:spPr>
          <a:xfrm>
            <a:off x="663575" y="2289175"/>
            <a:ext cx="7815263" cy="4340225"/>
          </a:xfrm>
          <a:prstGeom prst="rect">
            <a:avLst/>
          </a:prstGeom>
          <a:noFill/>
          <a:ln>
            <a:noFill/>
          </a:ln>
        </p:spPr>
      </p:pic>
    </p:spTree>
  </p:cSld>
  <p:clrMapOvr>
    <a:masterClrMapping/>
  </p:clrMapOvr>
  <p:transition>
    <p:push dir="r"/>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2"/>
          <p:cNvSpPr txBox="1"/>
          <p:nvPr>
            <p:ph idx="4294967295"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4. RQĐ trong điều kiện rủi ro </a:t>
            </a:r>
            <a:r>
              <a:rPr b="0" i="1" lang="en-US"/>
              <a:t>(tt)</a:t>
            </a:r>
            <a:endParaRPr/>
          </a:p>
        </p:txBody>
      </p:sp>
      <p:sp>
        <p:nvSpPr>
          <p:cNvPr id="279" name="Google Shape;279;p22"/>
          <p:cNvSpPr txBox="1"/>
          <p:nvPr>
            <p:ph idx="4294967295" type="body"/>
          </p:nvPr>
        </p:nvSpPr>
        <p:spPr>
          <a:xfrm>
            <a:off x="762000" y="1905000"/>
            <a:ext cx="7696200" cy="46482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Clr>
                <a:schemeClr val="dk2"/>
              </a:buClr>
              <a:buSzPts val="3600"/>
              <a:buFont typeface="Times New Roman"/>
              <a:buNone/>
            </a:pPr>
            <a:r>
              <a:rPr b="1" lang="en-US" sz="2400"/>
              <a:t>4.2. Phương pháp cây QĐ</a:t>
            </a:r>
            <a:r>
              <a:rPr i="1" lang="en-US" sz="2400"/>
              <a:t> (tt)</a:t>
            </a:r>
            <a:endParaRPr sz="2400"/>
          </a:p>
          <a:p>
            <a:pPr indent="-342900" lvl="0" marL="342900" rtl="0" algn="just">
              <a:lnSpc>
                <a:spcPct val="110000"/>
              </a:lnSpc>
              <a:spcBef>
                <a:spcPts val="280"/>
              </a:spcBef>
              <a:spcAft>
                <a:spcPts val="0"/>
              </a:spcAft>
              <a:buSzPts val="560"/>
              <a:buFont typeface="Noto Sans Symbols"/>
              <a:buNone/>
            </a:pPr>
            <a:r>
              <a:t/>
            </a:r>
            <a:endParaRPr b="1" sz="800"/>
          </a:p>
          <a:p>
            <a:pPr indent="-342900" lvl="0" marL="342900" rtl="0" algn="just">
              <a:lnSpc>
                <a:spcPct val="120000"/>
              </a:lnSpc>
              <a:spcBef>
                <a:spcPts val="900"/>
              </a:spcBef>
              <a:spcAft>
                <a:spcPts val="0"/>
              </a:spcAft>
              <a:buSzPts val="1400"/>
              <a:buFont typeface="Noto Sans Symbols"/>
              <a:buNone/>
            </a:pPr>
            <a:r>
              <a:rPr b="1" lang="en-US" sz="2000"/>
              <a:t>Các bước của việc phân tích bài toán Cây QĐ:</a:t>
            </a:r>
            <a:r>
              <a:rPr lang="en-US" sz="2000"/>
              <a:t>    Gồm </a:t>
            </a:r>
            <a:r>
              <a:rPr b="1" lang="en-US" sz="2000"/>
              <a:t>5 bước</a:t>
            </a:r>
            <a:endParaRPr/>
          </a:p>
          <a:p>
            <a:pPr indent="-342900" lvl="0" marL="342900" rtl="0" algn="just">
              <a:lnSpc>
                <a:spcPct val="120000"/>
              </a:lnSpc>
              <a:spcBef>
                <a:spcPts val="900"/>
              </a:spcBef>
              <a:spcAft>
                <a:spcPts val="0"/>
              </a:spcAft>
              <a:buSzPts val="1400"/>
              <a:buChar char="●"/>
            </a:pPr>
            <a:r>
              <a:rPr b="1" lang="en-US" sz="2000">
                <a:solidFill>
                  <a:srgbClr val="000099"/>
                </a:solidFill>
              </a:rPr>
              <a:t>B1:</a:t>
            </a:r>
            <a:r>
              <a:rPr lang="en-US" sz="2000">
                <a:solidFill>
                  <a:srgbClr val="000099"/>
                </a:solidFill>
              </a:rPr>
              <a:t> Xác định vấn đề cần giải quyết</a:t>
            </a:r>
            <a:endParaRPr/>
          </a:p>
          <a:p>
            <a:pPr indent="-342900" lvl="0" marL="342900" rtl="0" algn="just">
              <a:lnSpc>
                <a:spcPct val="120000"/>
              </a:lnSpc>
              <a:spcBef>
                <a:spcPts val="900"/>
              </a:spcBef>
              <a:spcAft>
                <a:spcPts val="0"/>
              </a:spcAft>
              <a:buSzPts val="1400"/>
              <a:buChar char="●"/>
            </a:pPr>
            <a:r>
              <a:rPr b="1" lang="en-US" sz="2000">
                <a:solidFill>
                  <a:schemeClr val="folHlink"/>
                </a:solidFill>
              </a:rPr>
              <a:t>B2:</a:t>
            </a:r>
            <a:r>
              <a:rPr lang="en-US" sz="2000">
                <a:solidFill>
                  <a:schemeClr val="folHlink"/>
                </a:solidFill>
              </a:rPr>
              <a:t> Vẽ cây quyết định</a:t>
            </a:r>
            <a:endParaRPr/>
          </a:p>
          <a:p>
            <a:pPr indent="-342900" lvl="0" marL="342900" rtl="0" algn="just">
              <a:lnSpc>
                <a:spcPct val="120000"/>
              </a:lnSpc>
              <a:spcBef>
                <a:spcPts val="900"/>
              </a:spcBef>
              <a:spcAft>
                <a:spcPts val="0"/>
              </a:spcAft>
              <a:buSzPts val="1400"/>
              <a:buChar char="●"/>
            </a:pPr>
            <a:r>
              <a:rPr b="1" lang="en-US" sz="2000">
                <a:solidFill>
                  <a:srgbClr val="000099"/>
                </a:solidFill>
              </a:rPr>
              <a:t>B3:</a:t>
            </a:r>
            <a:r>
              <a:rPr lang="en-US" sz="2000">
                <a:solidFill>
                  <a:srgbClr val="000099"/>
                </a:solidFill>
              </a:rPr>
              <a:t> Gán xác suất cho các trạng thái</a:t>
            </a:r>
            <a:endParaRPr/>
          </a:p>
          <a:p>
            <a:pPr indent="-342900" lvl="0" marL="342900" rtl="0" algn="just">
              <a:lnSpc>
                <a:spcPct val="120000"/>
              </a:lnSpc>
              <a:spcBef>
                <a:spcPts val="900"/>
              </a:spcBef>
              <a:spcAft>
                <a:spcPts val="0"/>
              </a:spcAft>
              <a:buSzPts val="1400"/>
              <a:buChar char="●"/>
            </a:pPr>
            <a:r>
              <a:rPr b="1" lang="en-US" sz="2000">
                <a:solidFill>
                  <a:schemeClr val="folHlink"/>
                </a:solidFill>
              </a:rPr>
              <a:t>B4:</a:t>
            </a:r>
            <a:r>
              <a:rPr lang="en-US" sz="2000">
                <a:solidFill>
                  <a:schemeClr val="folHlink"/>
                </a:solidFill>
              </a:rPr>
              <a:t> Ước tính lợi nhuận thay chi phí cho một sự kết hợp giữa một phương án và một trạng thái</a:t>
            </a:r>
            <a:endParaRPr/>
          </a:p>
          <a:p>
            <a:pPr indent="-342900" lvl="0" marL="342900" rtl="0" algn="just">
              <a:lnSpc>
                <a:spcPct val="120000"/>
              </a:lnSpc>
              <a:spcBef>
                <a:spcPts val="900"/>
              </a:spcBef>
              <a:spcAft>
                <a:spcPts val="0"/>
              </a:spcAft>
              <a:buSzPts val="1400"/>
              <a:buChar char="●"/>
            </a:pPr>
            <a:r>
              <a:rPr b="1" lang="en-US" sz="2000">
                <a:solidFill>
                  <a:srgbClr val="000099"/>
                </a:solidFill>
              </a:rPr>
              <a:t>B5:</a:t>
            </a:r>
            <a:r>
              <a:rPr lang="en-US" sz="2000">
                <a:solidFill>
                  <a:srgbClr val="000099"/>
                </a:solidFill>
              </a:rPr>
              <a:t> Giải bài toán bằng phương pháp Max EMV (i) </a:t>
            </a:r>
            <a:r>
              <a:rPr lang="en-US" sz="2000"/>
              <a:t> </a:t>
            </a:r>
            <a:r>
              <a:rPr i="1" lang="en-US" sz="2000"/>
              <a:t>(từ phải qua trái)</a:t>
            </a:r>
            <a:r>
              <a:rPr lang="en-US" sz="2000"/>
              <a:t>.</a:t>
            </a:r>
            <a:endParaRPr/>
          </a:p>
        </p:txBody>
      </p:sp>
      <p:sp>
        <p:nvSpPr>
          <p:cNvPr id="280" name="Google Shape;280;p22"/>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3"/>
          <p:cNvSpPr txBox="1"/>
          <p:nvPr>
            <p:ph idx="4294967295"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4. RQĐ trong điều kiện rủi ro </a:t>
            </a:r>
            <a:r>
              <a:rPr b="0" i="1" lang="en-US"/>
              <a:t>(tt)</a:t>
            </a:r>
            <a:endParaRPr/>
          </a:p>
        </p:txBody>
      </p:sp>
      <p:sp>
        <p:nvSpPr>
          <p:cNvPr id="286" name="Google Shape;286;p23"/>
          <p:cNvSpPr txBox="1"/>
          <p:nvPr>
            <p:ph idx="4294967295" type="body"/>
          </p:nvPr>
        </p:nvSpPr>
        <p:spPr>
          <a:xfrm>
            <a:off x="762000" y="1905000"/>
            <a:ext cx="7696200" cy="46482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Clr>
                <a:schemeClr val="dk2"/>
              </a:buClr>
              <a:buSzPts val="4200"/>
              <a:buFont typeface="Times New Roman"/>
              <a:buNone/>
            </a:pPr>
            <a:r>
              <a:rPr b="1" lang="en-US" sz="2800"/>
              <a:t>4.2. Phương pháp cây QĐ</a:t>
            </a:r>
            <a:r>
              <a:rPr i="1" lang="en-US" sz="2800"/>
              <a:t> (tt)</a:t>
            </a:r>
            <a:endParaRPr/>
          </a:p>
          <a:p>
            <a:pPr indent="-342900" lvl="0" marL="342900" rtl="0" algn="just">
              <a:spcBef>
                <a:spcPts val="1400"/>
              </a:spcBef>
              <a:spcAft>
                <a:spcPts val="0"/>
              </a:spcAft>
              <a:buSzPts val="1400"/>
              <a:buFont typeface="Noto Sans Symbols"/>
              <a:buNone/>
            </a:pPr>
            <a:r>
              <a:rPr b="1" i="1" lang="en-US" sz="2000" u="sng"/>
              <a:t>VD:</a:t>
            </a:r>
            <a:r>
              <a:rPr lang="en-US" sz="2000"/>
              <a:t> </a:t>
            </a:r>
            <a:r>
              <a:rPr b="1" i="1" lang="en-US" sz="2000"/>
              <a:t>Giải bài toán ông Giám đốc A bằng cây quyết định</a:t>
            </a:r>
            <a:r>
              <a:rPr lang="en-US" sz="2000"/>
              <a:t>	</a:t>
            </a:r>
            <a:endParaRPr/>
          </a:p>
          <a:p>
            <a:pPr indent="-342900" lvl="0" marL="342900" rtl="0" algn="just">
              <a:spcBef>
                <a:spcPts val="800"/>
              </a:spcBef>
              <a:spcAft>
                <a:spcPts val="0"/>
              </a:spcAft>
              <a:buSzPts val="1400"/>
              <a:buChar char="●"/>
            </a:pPr>
            <a:r>
              <a:rPr lang="en-US" sz="2000">
                <a:solidFill>
                  <a:srgbClr val="000099"/>
                </a:solidFill>
              </a:rPr>
              <a:t>B1: Vấn đề? </a:t>
            </a:r>
            <a:r>
              <a:rPr i="1" lang="en-US" sz="2000">
                <a:solidFill>
                  <a:srgbClr val="000099"/>
                </a:solidFill>
              </a:rPr>
              <a:t>(Có nên sx 1 sp mới để kinh doanh?)</a:t>
            </a:r>
            <a:endParaRPr/>
          </a:p>
          <a:p>
            <a:pPr indent="-342900" lvl="0" marL="342900" rtl="0" algn="just">
              <a:spcBef>
                <a:spcPts val="800"/>
              </a:spcBef>
              <a:spcAft>
                <a:spcPts val="0"/>
              </a:spcAft>
              <a:buSzPts val="1400"/>
              <a:buChar char="●"/>
            </a:pPr>
            <a:r>
              <a:rPr lang="en-US" sz="2000">
                <a:solidFill>
                  <a:schemeClr val="folHlink"/>
                </a:solidFill>
              </a:rPr>
              <a:t>B2: Vẽ cây quyết định</a:t>
            </a:r>
            <a:endParaRPr/>
          </a:p>
          <a:p>
            <a:pPr indent="-342900" lvl="0" marL="342900" rtl="0" algn="just">
              <a:spcBef>
                <a:spcPts val="800"/>
              </a:spcBef>
              <a:spcAft>
                <a:spcPts val="0"/>
              </a:spcAft>
              <a:buSzPts val="1400"/>
              <a:buChar char="●"/>
            </a:pPr>
            <a:r>
              <a:rPr lang="en-US" sz="2000">
                <a:solidFill>
                  <a:srgbClr val="000099"/>
                </a:solidFill>
              </a:rPr>
              <a:t>B3: Gán xác suất 0.5 cho các loại thị trường</a:t>
            </a:r>
            <a:endParaRPr/>
          </a:p>
          <a:p>
            <a:pPr indent="-342900" lvl="0" marL="342900" rtl="0" algn="just">
              <a:spcBef>
                <a:spcPts val="800"/>
              </a:spcBef>
              <a:spcAft>
                <a:spcPts val="0"/>
              </a:spcAft>
              <a:buSzPts val="1400"/>
              <a:buChar char="●"/>
            </a:pPr>
            <a:r>
              <a:rPr lang="en-US" sz="2000">
                <a:solidFill>
                  <a:schemeClr val="folHlink"/>
                </a:solidFill>
              </a:rPr>
              <a:t>B4: Dùng giá trị ở bảng số liệu để ghi vào</a:t>
            </a:r>
            <a:endParaRPr/>
          </a:p>
          <a:p>
            <a:pPr indent="-342900" lvl="0" marL="342900" rtl="0" algn="just">
              <a:spcBef>
                <a:spcPts val="800"/>
              </a:spcBef>
              <a:spcAft>
                <a:spcPts val="0"/>
              </a:spcAft>
              <a:buSzPts val="1400"/>
              <a:buChar char="●"/>
            </a:pPr>
            <a:r>
              <a:rPr lang="en-US" sz="2000">
                <a:solidFill>
                  <a:srgbClr val="000099"/>
                </a:solidFill>
              </a:rPr>
              <a:t>B5: Tính các giá trị EMV (i) tại các nút</a:t>
            </a:r>
            <a:endParaRPr/>
          </a:p>
          <a:p>
            <a:pPr indent="-342900" lvl="0" marL="342900" rtl="0" algn="just">
              <a:spcBef>
                <a:spcPts val="800"/>
              </a:spcBef>
              <a:spcAft>
                <a:spcPts val="0"/>
              </a:spcAft>
              <a:buSzPts val="1400"/>
              <a:buFont typeface="Noto Sans Symbols"/>
              <a:buNone/>
            </a:pPr>
            <a:r>
              <a:rPr lang="en-US" sz="2000"/>
              <a:t>	- Tại nút 1 : EMV(1) = 0,5 x  200.000 + 0,5 x  (-180.000) = 10.000</a:t>
            </a:r>
            <a:endParaRPr/>
          </a:p>
          <a:p>
            <a:pPr indent="-342900" lvl="0" marL="342900" rtl="0" algn="just">
              <a:spcBef>
                <a:spcPts val="800"/>
              </a:spcBef>
              <a:spcAft>
                <a:spcPts val="0"/>
              </a:spcAft>
              <a:buSzPts val="1400"/>
              <a:buFont typeface="Noto Sans Symbols"/>
              <a:buNone/>
            </a:pPr>
            <a:r>
              <a:rPr lang="en-US" sz="2000"/>
              <a:t>	- Tại nút 2 : EMV(2) = 0,5 x  100.000 + 0,5 x  (-20.0000) = 40.000</a:t>
            </a:r>
            <a:endParaRPr/>
          </a:p>
          <a:p>
            <a:pPr indent="-342900" lvl="0" marL="342900" rtl="0" algn="just">
              <a:spcBef>
                <a:spcPts val="800"/>
              </a:spcBef>
              <a:spcAft>
                <a:spcPts val="0"/>
              </a:spcAft>
              <a:buSzPts val="1400"/>
              <a:buFont typeface="Noto Sans Symbols"/>
              <a:buNone/>
            </a:pPr>
            <a:r>
              <a:rPr lang="en-US" sz="2000"/>
              <a:t>	- Tại nút 3 : EMV(3) = 0</a:t>
            </a:r>
            <a:endParaRPr/>
          </a:p>
        </p:txBody>
      </p:sp>
      <p:sp>
        <p:nvSpPr>
          <p:cNvPr id="287" name="Google Shape;287;p23"/>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288" name="Google Shape;288;p23"/>
          <p:cNvPicPr preferRelativeResize="0"/>
          <p:nvPr/>
        </p:nvPicPr>
        <p:blipFill rotWithShape="1">
          <a:blip r:embed="rId3">
            <a:alphaModFix/>
          </a:blip>
          <a:srcRect b="0" l="0" r="0" t="0"/>
          <a:stretch/>
        </p:blipFill>
        <p:spPr>
          <a:xfrm>
            <a:off x="6096000" y="4359275"/>
            <a:ext cx="2362200" cy="746125"/>
          </a:xfrm>
          <a:prstGeom prst="rect">
            <a:avLst/>
          </a:prstGeom>
          <a:noFill/>
          <a:ln cap="flat" cmpd="sng" w="28575">
            <a:solidFill>
              <a:schemeClr val="hlink"/>
            </a:solidFill>
            <a:prstDash val="solid"/>
            <a:miter lim="800000"/>
            <a:headEnd len="sm" w="sm" type="none"/>
            <a:tailEnd len="sm" w="sm" type="none"/>
          </a:ln>
        </p:spPr>
      </p:pic>
    </p:spTree>
  </p:cSld>
  <p:clrMapOvr>
    <a:masterClrMapping/>
  </p:clrMapOvr>
  <p:transition>
    <p:push dir="r"/>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4"/>
          <p:cNvSpPr txBox="1"/>
          <p:nvPr>
            <p:ph idx="4294967295"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4. RQĐ trong điều kiện rủi ro </a:t>
            </a:r>
            <a:r>
              <a:rPr b="0" i="1" lang="en-US"/>
              <a:t>(tt)</a:t>
            </a:r>
            <a:endParaRPr/>
          </a:p>
        </p:txBody>
      </p:sp>
      <p:sp>
        <p:nvSpPr>
          <p:cNvPr id="294" name="Google Shape;294;p24"/>
          <p:cNvSpPr txBox="1"/>
          <p:nvPr>
            <p:ph idx="4294967295" type="body"/>
          </p:nvPr>
        </p:nvSpPr>
        <p:spPr>
          <a:xfrm>
            <a:off x="762000" y="1905000"/>
            <a:ext cx="7696200" cy="40386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Clr>
                <a:schemeClr val="dk2"/>
              </a:buClr>
              <a:buSzPts val="4200"/>
              <a:buFont typeface="Times New Roman"/>
              <a:buNone/>
            </a:pPr>
            <a:r>
              <a:rPr b="1" lang="en-US" sz="2800"/>
              <a:t>4.2. Phương pháp cây QĐ</a:t>
            </a:r>
            <a:r>
              <a:rPr i="1" lang="en-US" sz="2800"/>
              <a:t> (tt)</a:t>
            </a:r>
            <a:endParaRPr/>
          </a:p>
        </p:txBody>
      </p:sp>
      <p:sp>
        <p:nvSpPr>
          <p:cNvPr id="295" name="Google Shape;295;p24"/>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296" name="Google Shape;296;p24"/>
          <p:cNvPicPr preferRelativeResize="0"/>
          <p:nvPr/>
        </p:nvPicPr>
        <p:blipFill rotWithShape="1">
          <a:blip r:embed="rId3">
            <a:alphaModFix/>
          </a:blip>
          <a:srcRect b="0" l="0" r="0" t="0"/>
          <a:stretch/>
        </p:blipFill>
        <p:spPr>
          <a:xfrm>
            <a:off x="1447800" y="2362200"/>
            <a:ext cx="6934200" cy="3505200"/>
          </a:xfrm>
          <a:prstGeom prst="rect">
            <a:avLst/>
          </a:prstGeom>
          <a:noFill/>
          <a:ln>
            <a:noFill/>
          </a:ln>
        </p:spPr>
      </p:pic>
      <p:sp>
        <p:nvSpPr>
          <p:cNvPr id="297" name="Google Shape;297;p24"/>
          <p:cNvSpPr txBox="1"/>
          <p:nvPr/>
        </p:nvSpPr>
        <p:spPr>
          <a:xfrm>
            <a:off x="457200" y="5867400"/>
            <a:ext cx="8247063"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400" u="none" cap="none" strike="noStrike">
                <a:solidFill>
                  <a:schemeClr val="dk1"/>
                </a:solidFill>
                <a:latin typeface="Times New Roman"/>
                <a:ea typeface="Times New Roman"/>
                <a:cs typeface="Times New Roman"/>
                <a:sym typeface="Times New Roman"/>
              </a:rPr>
              <a:t>Ta chọn Max</a:t>
            </a:r>
            <a:r>
              <a:rPr b="1" baseline="-25000" i="1" lang="en-US" sz="2400" u="none" cap="none" strike="noStrike">
                <a:solidFill>
                  <a:schemeClr val="dk1"/>
                </a:solidFill>
                <a:latin typeface="Times New Roman"/>
                <a:ea typeface="Times New Roman"/>
                <a:cs typeface="Times New Roman"/>
                <a:sym typeface="Times New Roman"/>
              </a:rPr>
              <a:t>i</a:t>
            </a:r>
            <a:r>
              <a:rPr b="1" i="1" lang="en-US" sz="2400" u="none" cap="none" strike="noStrike">
                <a:solidFill>
                  <a:schemeClr val="dk1"/>
                </a:solidFill>
                <a:latin typeface="Times New Roman"/>
                <a:ea typeface="Times New Roman"/>
                <a:cs typeface="Times New Roman"/>
                <a:sym typeface="Times New Roman"/>
              </a:rPr>
              <a:t> EMV</a:t>
            </a:r>
            <a:r>
              <a:rPr b="1" baseline="-25000" i="1" lang="en-US" sz="2400" u="none" cap="none" strike="noStrike">
                <a:solidFill>
                  <a:schemeClr val="dk1"/>
                </a:solidFill>
                <a:latin typeface="Times New Roman"/>
                <a:ea typeface="Times New Roman"/>
                <a:cs typeface="Times New Roman"/>
                <a:sym typeface="Times New Roman"/>
              </a:rPr>
              <a:t>i</a:t>
            </a:r>
            <a:r>
              <a:rPr b="1" i="1" lang="en-US" sz="2400" u="none" cap="none" strike="noStrike">
                <a:solidFill>
                  <a:schemeClr val="dk1"/>
                </a:solidFill>
                <a:latin typeface="Times New Roman"/>
                <a:ea typeface="Times New Roman"/>
                <a:cs typeface="Times New Roman"/>
                <a:sym typeface="Times New Roman"/>
              </a:rPr>
              <a:t> = 40.000   ==&gt;  Chọn PA nhà máy nhỏ</a:t>
            </a:r>
            <a:r>
              <a:rPr b="0" i="0" lang="en-US" sz="1800" u="none" cap="none" strike="noStrike">
                <a:solidFill>
                  <a:schemeClr val="dk1"/>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(i=2)</a:t>
            </a:r>
            <a:endParaRPr/>
          </a:p>
        </p:txBody>
      </p:sp>
      <p:pic>
        <p:nvPicPr>
          <p:cNvPr id="298" name="Google Shape;298;p24"/>
          <p:cNvPicPr preferRelativeResize="0"/>
          <p:nvPr/>
        </p:nvPicPr>
        <p:blipFill rotWithShape="1">
          <a:blip r:embed="rId4">
            <a:alphaModFix/>
          </a:blip>
          <a:srcRect b="0" l="0" r="0" t="0"/>
          <a:stretch/>
        </p:blipFill>
        <p:spPr>
          <a:xfrm>
            <a:off x="3886200" y="79375"/>
            <a:ext cx="5181600" cy="1749425"/>
          </a:xfrm>
          <a:prstGeom prst="rect">
            <a:avLst/>
          </a:prstGeom>
          <a:noFill/>
          <a:ln>
            <a:noFill/>
          </a:ln>
        </p:spPr>
      </p:pic>
      <p:pic>
        <p:nvPicPr>
          <p:cNvPr id="299" name="Google Shape;299;p24"/>
          <p:cNvPicPr preferRelativeResize="0"/>
          <p:nvPr/>
        </p:nvPicPr>
        <p:blipFill rotWithShape="1">
          <a:blip r:embed="rId5">
            <a:alphaModFix/>
          </a:blip>
          <a:srcRect b="0" l="0" r="0" t="0"/>
          <a:stretch/>
        </p:blipFill>
        <p:spPr>
          <a:xfrm>
            <a:off x="1524000" y="152400"/>
            <a:ext cx="2362200" cy="746125"/>
          </a:xfrm>
          <a:prstGeom prst="rect">
            <a:avLst/>
          </a:prstGeom>
          <a:noFill/>
          <a:ln cap="flat" cmpd="sng" w="28575">
            <a:solidFill>
              <a:schemeClr val="hlink"/>
            </a:solidFill>
            <a:prstDash val="solid"/>
            <a:miter lim="800000"/>
            <a:headEnd len="sm" w="sm" type="none"/>
            <a:tailEnd len="sm" w="sm" type="none"/>
          </a:ln>
        </p:spPr>
      </p:pic>
    </p:spTree>
  </p:cSld>
  <p:clrMapOvr>
    <a:masterClrMapping/>
  </p:clrMapOvr>
  <p:transition>
    <p:push dir="r"/>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5"/>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305" name="Google Shape;305;p25"/>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5. RQĐ trong điều kiện không chắc chắn</a:t>
            </a:r>
            <a:endParaRPr/>
          </a:p>
        </p:txBody>
      </p:sp>
      <p:sp>
        <p:nvSpPr>
          <p:cNvPr id="306" name="Google Shape;306;p25"/>
          <p:cNvSpPr txBox="1"/>
          <p:nvPr>
            <p:ph idx="1"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1" marL="746125" rtl="0" algn="just">
              <a:spcBef>
                <a:spcPts val="0"/>
              </a:spcBef>
              <a:spcAft>
                <a:spcPts val="0"/>
              </a:spcAft>
              <a:buClr>
                <a:schemeClr val="dk2"/>
              </a:buClr>
              <a:buSzPts val="4200"/>
              <a:buFont typeface="Times New Roman"/>
              <a:buNone/>
            </a:pPr>
            <a:r>
              <a:rPr b="1" lang="en-US" sz="2800"/>
              <a:t>5.1. Mô hình Maximax</a:t>
            </a:r>
            <a:endParaRPr/>
          </a:p>
          <a:p>
            <a:pPr indent="-346075" lvl="1" marL="746125" rtl="0" algn="just">
              <a:spcBef>
                <a:spcPts val="2400"/>
              </a:spcBef>
              <a:spcAft>
                <a:spcPts val="0"/>
              </a:spcAft>
              <a:buClr>
                <a:schemeClr val="dk2"/>
              </a:buClr>
              <a:buSzPts val="4200"/>
              <a:buFont typeface="Times New Roman"/>
              <a:buNone/>
            </a:pPr>
            <a:r>
              <a:rPr b="1" lang="en-US" sz="2800"/>
              <a:t>5.2. Mô hình Maximin</a:t>
            </a:r>
            <a:endParaRPr/>
          </a:p>
          <a:p>
            <a:pPr indent="-346075" lvl="1" marL="746125" rtl="0" algn="just">
              <a:spcBef>
                <a:spcPts val="2400"/>
              </a:spcBef>
              <a:spcAft>
                <a:spcPts val="0"/>
              </a:spcAft>
              <a:buClr>
                <a:schemeClr val="dk2"/>
              </a:buClr>
              <a:buSzPts val="4200"/>
              <a:buFont typeface="Times New Roman"/>
              <a:buNone/>
            </a:pPr>
            <a:r>
              <a:rPr b="1" lang="en-US" sz="2800"/>
              <a:t>5.3. Mô hình đồng đều ngẫu nhiên</a:t>
            </a:r>
            <a:endParaRPr/>
          </a:p>
          <a:p>
            <a:pPr indent="-346075" lvl="1" marL="746125" rtl="0" algn="just">
              <a:spcBef>
                <a:spcPts val="2400"/>
              </a:spcBef>
              <a:spcAft>
                <a:spcPts val="0"/>
              </a:spcAft>
              <a:buClr>
                <a:schemeClr val="dk2"/>
              </a:buClr>
              <a:buSzPts val="4200"/>
              <a:buFont typeface="Times New Roman"/>
              <a:buNone/>
            </a:pPr>
            <a:r>
              <a:rPr b="1" lang="en-US" sz="2800"/>
              <a:t>5.4. Mô hình Hurwicz</a:t>
            </a:r>
            <a:endParaRPr/>
          </a:p>
          <a:p>
            <a:pPr indent="-346075" lvl="1" marL="746125" rtl="0" algn="just">
              <a:spcBef>
                <a:spcPts val="2400"/>
              </a:spcBef>
              <a:spcAft>
                <a:spcPts val="0"/>
              </a:spcAft>
              <a:buClr>
                <a:schemeClr val="dk2"/>
              </a:buClr>
              <a:buSzPts val="4200"/>
              <a:buFont typeface="Times New Roman"/>
              <a:buNone/>
            </a:pPr>
            <a:r>
              <a:rPr b="1" lang="en-US" sz="2800"/>
              <a:t>5.5. Mô hình Minimax</a:t>
            </a:r>
            <a:endParaRPr/>
          </a:p>
        </p:txBody>
      </p:sp>
    </p:spTree>
  </p:cSld>
  <p:clrMapOvr>
    <a:masterClrMapping/>
  </p:clrMapOvr>
  <p:transition>
    <p:push dir="r"/>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6"/>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312" name="Google Shape;312;p26"/>
          <p:cNvSpPr txBox="1"/>
          <p:nvPr>
            <p:ph idx="4294967295" type="title"/>
          </p:nvPr>
        </p:nvSpPr>
        <p:spPr>
          <a:xfrm>
            <a:off x="762000" y="533400"/>
            <a:ext cx="80010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3200"/>
              <a:t>5. RQĐ trong điều kiện không chắc chắn</a:t>
            </a:r>
            <a:r>
              <a:rPr b="0" i="1" lang="en-US" sz="3200"/>
              <a:t> (tt)</a:t>
            </a:r>
            <a:endParaRPr sz="3200"/>
          </a:p>
        </p:txBody>
      </p:sp>
      <p:pic>
        <p:nvPicPr>
          <p:cNvPr id="313" name="Google Shape;313;p26"/>
          <p:cNvPicPr preferRelativeResize="0"/>
          <p:nvPr/>
        </p:nvPicPr>
        <p:blipFill rotWithShape="1">
          <a:blip r:embed="rId3">
            <a:alphaModFix/>
          </a:blip>
          <a:srcRect b="0" l="0" r="0" t="0"/>
          <a:stretch/>
        </p:blipFill>
        <p:spPr>
          <a:xfrm>
            <a:off x="639763" y="2362200"/>
            <a:ext cx="7864475" cy="4419600"/>
          </a:xfrm>
          <a:prstGeom prst="rect">
            <a:avLst/>
          </a:prstGeom>
          <a:noFill/>
          <a:ln>
            <a:noFill/>
          </a:ln>
        </p:spPr>
      </p:pic>
      <p:sp>
        <p:nvSpPr>
          <p:cNvPr id="314" name="Google Shape;314;p26"/>
          <p:cNvSpPr/>
          <p:nvPr/>
        </p:nvSpPr>
        <p:spPr>
          <a:xfrm>
            <a:off x="457200" y="1754188"/>
            <a:ext cx="6170613" cy="989012"/>
          </a:xfrm>
          <a:prstGeom prst="rect">
            <a:avLst/>
          </a:prstGeom>
          <a:noFill/>
          <a:ln>
            <a:noFill/>
          </a:ln>
        </p:spPr>
        <p:txBody>
          <a:bodyPr anchorCtr="0" anchor="ctr" bIns="0" lIns="347550" spcFirstLastPara="1" rIns="91425" wrap="square" tIns="92025">
            <a:spAutoFit/>
          </a:bodyPr>
          <a:lstStyle/>
          <a:p>
            <a:pPr indent="0" lvl="0" marL="0" marR="0" rtl="0" algn="l">
              <a:lnSpc>
                <a:spcPct val="85000"/>
              </a:lnSpc>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i</a:t>
            </a:r>
            <a:r>
              <a:rPr b="0" i="0" lang="en-US" sz="2000" u="none" cap="none" strike="noStrike">
                <a:solidFill>
                  <a:schemeClr val="dk1"/>
                </a:solidFill>
                <a:latin typeface="Times New Roman"/>
                <a:ea typeface="Times New Roman"/>
                <a:cs typeface="Times New Roman"/>
                <a:sym typeface="Times New Roman"/>
              </a:rPr>
              <a:t>: PA ở hàng i trong bảng RQĐ</a:t>
            </a:r>
            <a:endParaRPr/>
          </a:p>
          <a:p>
            <a:pPr indent="0" lvl="0" marL="0" marR="0" rtl="0" algn="l">
              <a:lnSpc>
                <a:spcPct val="85000"/>
              </a:lnSpc>
              <a:spcBef>
                <a:spcPts val="400"/>
              </a:spcBef>
              <a:spcAft>
                <a:spcPts val="0"/>
              </a:spcAft>
              <a:buNone/>
            </a:pPr>
            <a:r>
              <a:rPr b="1" i="0" lang="en-US" sz="2000" u="none" cap="none" strike="noStrike">
                <a:solidFill>
                  <a:schemeClr val="dk1"/>
                </a:solidFill>
                <a:latin typeface="Times New Roman"/>
                <a:ea typeface="Times New Roman"/>
                <a:cs typeface="Times New Roman"/>
                <a:sym typeface="Times New Roman"/>
              </a:rPr>
              <a:t>j</a:t>
            </a:r>
            <a:r>
              <a:rPr b="0" i="0" lang="en-US" sz="2000" u="none" cap="none" strike="noStrike">
                <a:solidFill>
                  <a:schemeClr val="dk1"/>
                </a:solidFill>
                <a:latin typeface="Times New Roman"/>
                <a:ea typeface="Times New Roman"/>
                <a:cs typeface="Times New Roman"/>
                <a:sym typeface="Times New Roman"/>
              </a:rPr>
              <a:t>: Trạng thái ở cột j trong bảng RQĐ</a:t>
            </a:r>
            <a:endParaRPr/>
          </a:p>
          <a:p>
            <a:pPr indent="0" lvl="0" marL="0" marR="0" rtl="0" algn="l">
              <a:lnSpc>
                <a:spcPct val="85000"/>
              </a:lnSpc>
              <a:spcBef>
                <a:spcPts val="400"/>
              </a:spcBef>
              <a:spcAft>
                <a:spcPts val="0"/>
              </a:spcAft>
              <a:buNone/>
            </a:pPr>
            <a:r>
              <a:rPr b="1" i="0" lang="en-US" sz="2000" u="none" cap="none" strike="noStrike">
                <a:solidFill>
                  <a:schemeClr val="dk1"/>
                </a:solidFill>
                <a:latin typeface="Times New Roman"/>
                <a:ea typeface="Times New Roman"/>
                <a:cs typeface="Times New Roman"/>
                <a:sym typeface="Times New Roman"/>
              </a:rPr>
              <a:t>P</a:t>
            </a:r>
            <a:r>
              <a:rPr b="1" baseline="-25000" i="0" lang="en-US" sz="2000" u="none" cap="none" strike="noStrike">
                <a:solidFill>
                  <a:schemeClr val="dk1"/>
                </a:solidFill>
                <a:latin typeface="Times New Roman"/>
                <a:ea typeface="Times New Roman"/>
                <a:cs typeface="Times New Roman"/>
                <a:sym typeface="Times New Roman"/>
              </a:rPr>
              <a:t>ij</a:t>
            </a:r>
            <a:r>
              <a:rPr b="0" i="0" lang="en-US" sz="2000" u="none" cap="none" strike="noStrike">
                <a:solidFill>
                  <a:schemeClr val="dk1"/>
                </a:solidFill>
                <a:latin typeface="Times New Roman"/>
                <a:ea typeface="Times New Roman"/>
                <a:cs typeface="Times New Roman"/>
                <a:sym typeface="Times New Roman"/>
              </a:rPr>
              <a:t>: Lợi ích có được nếu chọn PA i và trạng thái j xảy ra.</a:t>
            </a:r>
            <a:endParaRPr/>
          </a:p>
        </p:txBody>
      </p:sp>
    </p:spTree>
  </p:cSld>
  <p:clrMapOvr>
    <a:masterClrMapping/>
  </p:clrMapOvr>
  <p:transition>
    <p:push dir="r"/>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7"/>
          <p:cNvSpPr txBox="1"/>
          <p:nvPr>
            <p:ph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5. RQĐ trong điều kiện không chắc chắn </a:t>
            </a:r>
            <a:r>
              <a:rPr b="0" i="1" lang="en-US"/>
              <a:t>(tt)</a:t>
            </a:r>
            <a:endParaRPr/>
          </a:p>
        </p:txBody>
      </p:sp>
      <p:sp>
        <p:nvSpPr>
          <p:cNvPr id="320" name="Google Shape;320;p27"/>
          <p:cNvSpPr txBox="1"/>
          <p:nvPr>
            <p:ph idx="1" type="body"/>
          </p:nvPr>
        </p:nvSpPr>
        <p:spPr>
          <a:xfrm>
            <a:off x="762000" y="1905000"/>
            <a:ext cx="7696200" cy="46482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Clr>
                <a:schemeClr val="dk2"/>
              </a:buClr>
              <a:buSzPts val="3000"/>
              <a:buFont typeface="Times New Roman"/>
              <a:buNone/>
            </a:pPr>
            <a:r>
              <a:rPr b="1" lang="en-US" sz="2000"/>
              <a:t>5.1. Mô hình Maximax</a:t>
            </a:r>
            <a:r>
              <a:rPr b="1" i="1" lang="en-US" sz="2000"/>
              <a:t> (tiêu chuẩn lạc quan)</a:t>
            </a:r>
            <a:endParaRPr b="1" sz="2000"/>
          </a:p>
          <a:p>
            <a:pPr indent="-342900" lvl="0" marL="342900" rtl="0" algn="just">
              <a:spcBef>
                <a:spcPts val="1000"/>
              </a:spcBef>
              <a:spcAft>
                <a:spcPts val="0"/>
              </a:spcAft>
              <a:buSzPts val="1400"/>
              <a:buFont typeface="Noto Sans Symbols"/>
              <a:buNone/>
            </a:pPr>
            <a:r>
              <a:rPr lang="en-US" sz="2000"/>
              <a:t>		Max</a:t>
            </a:r>
            <a:r>
              <a:rPr baseline="-25000" lang="en-US" sz="2000"/>
              <a:t>i</a:t>
            </a:r>
            <a:r>
              <a:rPr lang="en-US" sz="2000"/>
              <a:t> (Max</a:t>
            </a:r>
            <a:r>
              <a:rPr baseline="-25000" lang="en-US" sz="2000"/>
              <a:t>j</a:t>
            </a:r>
            <a:r>
              <a:rPr lang="en-US" sz="2000"/>
              <a:t> P</a:t>
            </a:r>
            <a:r>
              <a:rPr baseline="-25000" lang="en-US" sz="2000"/>
              <a:t>ij</a:t>
            </a:r>
            <a:r>
              <a:rPr lang="en-US" sz="2000"/>
              <a:t>) = Max</a:t>
            </a:r>
            <a:r>
              <a:rPr baseline="-25000" lang="en-US" sz="2000"/>
              <a:t>i </a:t>
            </a:r>
            <a:r>
              <a:rPr lang="en-US" sz="2000"/>
              <a:t>(200.000, 100.000, 0) = 200.000	</a:t>
            </a:r>
            <a:endParaRPr/>
          </a:p>
          <a:p>
            <a:pPr indent="-342900" lvl="0" marL="342900" rtl="0" algn="just">
              <a:spcBef>
                <a:spcPts val="400"/>
              </a:spcBef>
              <a:spcAft>
                <a:spcPts val="0"/>
              </a:spcAft>
              <a:buSzPts val="1400"/>
              <a:buFont typeface="Noto Sans Symbols"/>
              <a:buNone/>
            </a:pPr>
            <a:r>
              <a:rPr lang="en-US" sz="2000"/>
              <a:t>		</a:t>
            </a:r>
            <a:r>
              <a:rPr lang="en-US" sz="2000" u="sng"/>
              <a:t>RQĐ:</a:t>
            </a:r>
            <a:r>
              <a:rPr lang="en-US" sz="2000"/>
              <a:t> Chọn PA xây nhà máy lớn (i = 1)</a:t>
            </a:r>
            <a:endParaRPr/>
          </a:p>
          <a:p>
            <a:pPr indent="-342900" lvl="0" marL="342900" rtl="0" algn="just">
              <a:spcBef>
                <a:spcPts val="400"/>
              </a:spcBef>
              <a:spcAft>
                <a:spcPts val="0"/>
              </a:spcAft>
              <a:buSzPts val="1400"/>
              <a:buFont typeface="Noto Sans Symbols"/>
              <a:buNone/>
            </a:pPr>
            <a:r>
              <a:rPr b="1" lang="en-US" sz="2000"/>
              <a:t>5.2. Mô hình Maximin</a:t>
            </a:r>
            <a:r>
              <a:rPr b="1" i="1" lang="en-US" sz="2000"/>
              <a:t> (tiêu chuẩn bi quan)</a:t>
            </a:r>
            <a:endParaRPr sz="2000"/>
          </a:p>
          <a:p>
            <a:pPr indent="-342900" lvl="0" marL="342900" rtl="0" algn="just">
              <a:spcBef>
                <a:spcPts val="400"/>
              </a:spcBef>
              <a:spcAft>
                <a:spcPts val="0"/>
              </a:spcAft>
              <a:buSzPts val="1400"/>
              <a:buFont typeface="Noto Sans Symbols"/>
              <a:buNone/>
            </a:pPr>
            <a:r>
              <a:rPr lang="en-US" sz="2000"/>
              <a:t>		Max</a:t>
            </a:r>
            <a:r>
              <a:rPr baseline="-25000" lang="en-US" sz="2000"/>
              <a:t>i</a:t>
            </a:r>
            <a:r>
              <a:rPr lang="en-US" sz="2000"/>
              <a:t> (Min</a:t>
            </a:r>
            <a:r>
              <a:rPr baseline="-25000" lang="en-US" sz="2000"/>
              <a:t>j</a:t>
            </a:r>
            <a:r>
              <a:rPr lang="en-US" sz="2000"/>
              <a:t> P</a:t>
            </a:r>
            <a:r>
              <a:rPr baseline="-25000" lang="en-US" sz="2000"/>
              <a:t>ij</a:t>
            </a:r>
            <a:r>
              <a:rPr lang="en-US" sz="2000"/>
              <a:t>)  =  Max</a:t>
            </a:r>
            <a:r>
              <a:rPr baseline="-25000" lang="en-US" sz="2000"/>
              <a:t>i</a:t>
            </a:r>
            <a:r>
              <a:rPr lang="en-US" sz="2000"/>
              <a:t> (-180.000, -20.000, 0) = 0</a:t>
            </a:r>
            <a:endParaRPr/>
          </a:p>
          <a:p>
            <a:pPr indent="-342900" lvl="0" marL="342900" rtl="0" algn="just">
              <a:spcBef>
                <a:spcPts val="400"/>
              </a:spcBef>
              <a:spcAft>
                <a:spcPts val="0"/>
              </a:spcAft>
              <a:buSzPts val="1400"/>
              <a:buFont typeface="Noto Sans Symbols"/>
              <a:buNone/>
            </a:pPr>
            <a:r>
              <a:rPr lang="en-US" sz="2000"/>
              <a:t>		</a:t>
            </a:r>
            <a:r>
              <a:rPr lang="en-US" sz="2000" u="sng"/>
              <a:t>RQĐ:</a:t>
            </a:r>
            <a:r>
              <a:rPr lang="en-US" sz="2000"/>
              <a:t> Không làm gì cả (i = 3).</a:t>
            </a:r>
            <a:endParaRPr/>
          </a:p>
          <a:p>
            <a:pPr indent="-346075" lvl="1" marL="346075" rtl="0" algn="just">
              <a:spcBef>
                <a:spcPts val="1800"/>
              </a:spcBef>
              <a:spcAft>
                <a:spcPts val="0"/>
              </a:spcAft>
              <a:buClr>
                <a:schemeClr val="dk2"/>
              </a:buClr>
              <a:buSzPts val="3000"/>
              <a:buFont typeface="Times New Roman"/>
              <a:buNone/>
            </a:pPr>
            <a:r>
              <a:rPr b="1" lang="en-US" sz="2000"/>
              <a:t>5.3. Mô hình đồng đều ngẫu nhiên</a:t>
            </a:r>
            <a:endParaRPr/>
          </a:p>
          <a:p>
            <a:pPr indent="-342900" lvl="0" marL="342900" rtl="0" algn="just">
              <a:spcBef>
                <a:spcPts val="1000"/>
              </a:spcBef>
              <a:spcAft>
                <a:spcPts val="0"/>
              </a:spcAft>
              <a:buSzPts val="1400"/>
              <a:buFont typeface="Noto Sans Symbols"/>
              <a:buNone/>
            </a:pPr>
            <a:r>
              <a:t/>
            </a:r>
            <a:endParaRPr sz="2000"/>
          </a:p>
          <a:p>
            <a:pPr indent="-254000" lvl="0" marL="342900" rtl="0" algn="just">
              <a:spcBef>
                <a:spcPts val="400"/>
              </a:spcBef>
              <a:spcAft>
                <a:spcPts val="0"/>
              </a:spcAft>
              <a:buSzPts val="1400"/>
              <a:buNone/>
            </a:pPr>
            <a:r>
              <a:t/>
            </a:r>
            <a:endParaRPr sz="2000"/>
          </a:p>
          <a:p>
            <a:pPr indent="-342900" lvl="0" marL="342900" rtl="0" algn="just">
              <a:spcBef>
                <a:spcPts val="400"/>
              </a:spcBef>
              <a:spcAft>
                <a:spcPts val="0"/>
              </a:spcAft>
              <a:buSzPts val="1400"/>
              <a:buFont typeface="Noto Sans Symbols"/>
              <a:buNone/>
            </a:pPr>
            <a:r>
              <a:rPr lang="en-US" sz="2000"/>
              <a:t>		=  Max</a:t>
            </a:r>
            <a:r>
              <a:rPr baseline="-25000" lang="en-US" sz="2000"/>
              <a:t>i</a:t>
            </a:r>
            <a:r>
              <a:rPr lang="en-US" sz="2000"/>
              <a:t> (10.000, 40.000, 0)   =  40.000</a:t>
            </a:r>
            <a:endParaRPr/>
          </a:p>
          <a:p>
            <a:pPr indent="-342900" lvl="0" marL="342900" rtl="0" algn="just">
              <a:spcBef>
                <a:spcPts val="400"/>
              </a:spcBef>
              <a:spcAft>
                <a:spcPts val="0"/>
              </a:spcAft>
              <a:buSzPts val="1400"/>
              <a:buFont typeface="Noto Sans Symbols"/>
              <a:buNone/>
            </a:pPr>
            <a:r>
              <a:rPr lang="en-US" sz="2000"/>
              <a:t>		</a:t>
            </a:r>
            <a:r>
              <a:rPr lang="en-US" sz="2000" u="sng"/>
              <a:t>RQĐ:</a:t>
            </a:r>
            <a:r>
              <a:rPr lang="en-US" sz="2000"/>
              <a:t> Chọn PA xây nhà máy nhỏ (i = 2).</a:t>
            </a:r>
            <a:endParaRPr/>
          </a:p>
        </p:txBody>
      </p:sp>
      <p:sp>
        <p:nvSpPr>
          <p:cNvPr id="321" name="Google Shape;321;p27"/>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322" name="Google Shape;322;p27"/>
          <p:cNvSpPr/>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nvGrpSpPr>
          <p:cNvPr id="323" name="Google Shape;323;p27"/>
          <p:cNvGrpSpPr/>
          <p:nvPr/>
        </p:nvGrpSpPr>
        <p:grpSpPr>
          <a:xfrm>
            <a:off x="1752600" y="4724400"/>
            <a:ext cx="7010400" cy="852488"/>
            <a:chOff x="1104" y="2976"/>
            <a:chExt cx="4416" cy="537"/>
          </a:xfrm>
        </p:grpSpPr>
        <p:pic>
          <p:nvPicPr>
            <p:cNvPr id="324" name="Google Shape;324;p27"/>
            <p:cNvPicPr preferRelativeResize="0"/>
            <p:nvPr/>
          </p:nvPicPr>
          <p:blipFill rotWithShape="1">
            <a:blip r:embed="rId3">
              <a:alphaModFix/>
            </a:blip>
            <a:srcRect b="0" l="0" r="0" t="0"/>
            <a:stretch/>
          </p:blipFill>
          <p:spPr>
            <a:xfrm>
              <a:off x="1104" y="2976"/>
              <a:ext cx="1584" cy="537"/>
            </a:xfrm>
            <a:prstGeom prst="rect">
              <a:avLst/>
            </a:prstGeom>
            <a:noFill/>
            <a:ln>
              <a:noFill/>
            </a:ln>
          </p:spPr>
        </p:pic>
        <p:pic>
          <p:nvPicPr>
            <p:cNvPr id="325" name="Google Shape;325;p27"/>
            <p:cNvPicPr preferRelativeResize="0"/>
            <p:nvPr/>
          </p:nvPicPr>
          <p:blipFill rotWithShape="1">
            <a:blip r:embed="rId4">
              <a:alphaModFix/>
            </a:blip>
            <a:srcRect b="0" l="0" r="0" t="0"/>
            <a:stretch/>
          </p:blipFill>
          <p:spPr>
            <a:xfrm>
              <a:off x="2784" y="3024"/>
              <a:ext cx="2736" cy="366"/>
            </a:xfrm>
            <a:prstGeom prst="rect">
              <a:avLst/>
            </a:prstGeom>
            <a:noFill/>
            <a:ln>
              <a:noFill/>
            </a:ln>
          </p:spPr>
        </p:pic>
        <p:pic>
          <p:nvPicPr>
            <p:cNvPr id="326" name="Google Shape;326;p27"/>
            <p:cNvPicPr preferRelativeResize="0"/>
            <p:nvPr/>
          </p:nvPicPr>
          <p:blipFill rotWithShape="1">
            <a:blip r:embed="rId5">
              <a:alphaModFix/>
            </a:blip>
            <a:srcRect b="0" l="0" r="0" t="0"/>
            <a:stretch/>
          </p:blipFill>
          <p:spPr>
            <a:xfrm>
              <a:off x="2604" y="2976"/>
              <a:ext cx="192" cy="336"/>
            </a:xfrm>
            <a:prstGeom prst="rect">
              <a:avLst/>
            </a:prstGeom>
            <a:noFill/>
            <a:ln>
              <a:noFill/>
            </a:ln>
          </p:spPr>
        </p:pic>
      </p:grpSp>
      <p:pic>
        <p:nvPicPr>
          <p:cNvPr id="327" name="Google Shape;327;p27"/>
          <p:cNvPicPr preferRelativeResize="0"/>
          <p:nvPr/>
        </p:nvPicPr>
        <p:blipFill rotWithShape="1">
          <a:blip r:embed="rId6">
            <a:alphaModFix/>
          </a:blip>
          <a:srcRect b="0" l="0" r="0" t="0"/>
          <a:stretch/>
        </p:blipFill>
        <p:spPr>
          <a:xfrm>
            <a:off x="3657600" y="152400"/>
            <a:ext cx="5410200" cy="1676400"/>
          </a:xfrm>
          <a:prstGeom prst="rect">
            <a:avLst/>
          </a:prstGeom>
          <a:noFill/>
          <a:ln>
            <a:noFill/>
          </a:ln>
        </p:spPr>
      </p:pic>
    </p:spTree>
  </p:cSld>
  <p:clrMapOvr>
    <a:masterClrMapping/>
  </p:clrMapOvr>
  <p:transition>
    <p:push dir="r"/>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8"/>
          <p:cNvSpPr txBox="1"/>
          <p:nvPr>
            <p:ph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5. RQĐ trong điều kiện không chắc chắn </a:t>
            </a:r>
            <a:r>
              <a:rPr b="0" i="1" lang="en-US"/>
              <a:t>(tt)</a:t>
            </a:r>
            <a:endParaRPr/>
          </a:p>
        </p:txBody>
      </p:sp>
      <p:sp>
        <p:nvSpPr>
          <p:cNvPr id="333" name="Google Shape;333;p28"/>
          <p:cNvSpPr txBox="1"/>
          <p:nvPr>
            <p:ph idx="1"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7663" lvl="1" marL="347663" rtl="0" algn="just">
              <a:spcBef>
                <a:spcPts val="0"/>
              </a:spcBef>
              <a:spcAft>
                <a:spcPts val="0"/>
              </a:spcAft>
              <a:buClr>
                <a:schemeClr val="dk2"/>
              </a:buClr>
              <a:buSzPts val="3000"/>
              <a:buFont typeface="Times New Roman"/>
              <a:buNone/>
            </a:pPr>
            <a:r>
              <a:rPr b="1" lang="en-US" sz="2000"/>
              <a:t>5.4. Mô hình Hurwicz</a:t>
            </a:r>
            <a:r>
              <a:rPr b="1" i="1" lang="en-US" sz="2000"/>
              <a:t> (MH trung bình có trọng số)</a:t>
            </a:r>
            <a:endParaRPr/>
          </a:p>
          <a:p>
            <a:pPr indent="-342900" lvl="0" marL="342900" rtl="0" algn="just">
              <a:spcBef>
                <a:spcPts val="1200"/>
              </a:spcBef>
              <a:spcAft>
                <a:spcPts val="0"/>
              </a:spcAft>
              <a:buSzPts val="1400"/>
              <a:buFont typeface="Noto Sans Symbols"/>
              <a:buNone/>
            </a:pPr>
            <a:r>
              <a:rPr lang="en-US" sz="2000"/>
              <a:t>	Chọn α  = 0,8</a:t>
            </a:r>
            <a:endParaRPr/>
          </a:p>
          <a:p>
            <a:pPr indent="-342900" lvl="0" marL="342900" rtl="0" algn="just">
              <a:spcBef>
                <a:spcPts val="1200"/>
              </a:spcBef>
              <a:spcAft>
                <a:spcPts val="0"/>
              </a:spcAft>
              <a:buSzPts val="1400"/>
              <a:buFont typeface="Noto Sans Symbols"/>
              <a:buNone/>
            </a:pPr>
            <a:r>
              <a:rPr lang="en-US" sz="2000"/>
              <a:t>	Max</a:t>
            </a:r>
            <a:r>
              <a:rPr baseline="-25000" lang="en-US" sz="2000"/>
              <a:t>i</a:t>
            </a:r>
            <a:r>
              <a:rPr lang="en-US" sz="2000"/>
              <a:t> [0,8 x 200.000 + 0,2 x (-180.000), </a:t>
            </a:r>
            <a:endParaRPr/>
          </a:p>
          <a:p>
            <a:pPr indent="-342900" lvl="0" marL="342900" rtl="0" algn="just">
              <a:spcBef>
                <a:spcPts val="1200"/>
              </a:spcBef>
              <a:spcAft>
                <a:spcPts val="0"/>
              </a:spcAft>
              <a:buSzPts val="1400"/>
              <a:buFont typeface="Noto Sans Symbols"/>
              <a:buNone/>
            </a:pPr>
            <a:r>
              <a:rPr lang="en-US" sz="2000"/>
              <a:t>			0,8 x 100.000 + 0,2 x (-20.000),  0,8 x 0 + 0,2 x 0]</a:t>
            </a:r>
            <a:endParaRPr/>
          </a:p>
          <a:p>
            <a:pPr indent="-342900" lvl="0" marL="342900" rtl="0" algn="just">
              <a:spcBef>
                <a:spcPts val="1200"/>
              </a:spcBef>
              <a:spcAft>
                <a:spcPts val="0"/>
              </a:spcAft>
              <a:buSzPts val="1400"/>
              <a:buFont typeface="Noto Sans Symbols"/>
              <a:buNone/>
            </a:pPr>
            <a:r>
              <a:rPr lang="en-US" sz="2000"/>
              <a:t>	=   Max</a:t>
            </a:r>
            <a:r>
              <a:rPr baseline="-25000" lang="en-US" sz="2000"/>
              <a:t>i</a:t>
            </a:r>
            <a:r>
              <a:rPr lang="en-US" sz="2000"/>
              <a:t> [124.000, 76.000, 0]   = 124.000	  	</a:t>
            </a:r>
            <a:endParaRPr/>
          </a:p>
          <a:p>
            <a:pPr indent="-342900" lvl="0" marL="342900" rtl="0" algn="just">
              <a:spcBef>
                <a:spcPts val="1200"/>
              </a:spcBef>
              <a:spcAft>
                <a:spcPts val="0"/>
              </a:spcAft>
              <a:buSzPts val="1400"/>
              <a:buFont typeface="Noto Sans Symbols"/>
              <a:buNone/>
            </a:pPr>
            <a:r>
              <a:rPr lang="en-US" sz="2000"/>
              <a:t>	</a:t>
            </a:r>
            <a:r>
              <a:rPr lang="en-US" sz="2000" u="sng"/>
              <a:t>RQĐ:</a:t>
            </a:r>
            <a:r>
              <a:rPr lang="en-US" sz="2000"/>
              <a:t> Chọn PA xây nhà máy lớn (i = 1).</a:t>
            </a:r>
            <a:endParaRPr/>
          </a:p>
          <a:p>
            <a:pPr indent="-342900" lvl="0" marL="342900" rtl="0" algn="just">
              <a:spcBef>
                <a:spcPts val="1800"/>
              </a:spcBef>
              <a:spcAft>
                <a:spcPts val="0"/>
              </a:spcAft>
              <a:buSzPts val="1400"/>
              <a:buFont typeface="Noto Sans Symbols"/>
              <a:buNone/>
            </a:pPr>
            <a:r>
              <a:rPr b="1" lang="en-US" sz="2000"/>
              <a:t>5.5. Mô hình Minimax</a:t>
            </a:r>
            <a:endParaRPr sz="2000"/>
          </a:p>
          <a:p>
            <a:pPr indent="-342900" lvl="0" marL="342900" rtl="0" algn="just">
              <a:spcBef>
                <a:spcPts val="1200"/>
              </a:spcBef>
              <a:spcAft>
                <a:spcPts val="0"/>
              </a:spcAft>
              <a:buSzPts val="1400"/>
              <a:buFont typeface="Noto Sans Symbols"/>
              <a:buNone/>
            </a:pPr>
            <a:r>
              <a:rPr lang="en-US" sz="2000"/>
              <a:t>	Min</a:t>
            </a:r>
            <a:r>
              <a:rPr baseline="-25000" lang="en-US" sz="2000"/>
              <a:t>i</a:t>
            </a:r>
            <a:r>
              <a:rPr lang="en-US" sz="2000"/>
              <a:t>  [Max</a:t>
            </a:r>
            <a:r>
              <a:rPr baseline="-25000" lang="en-US" sz="2000"/>
              <a:t>j</a:t>
            </a:r>
            <a:r>
              <a:rPr lang="en-US" sz="2000"/>
              <a:t> OL</a:t>
            </a:r>
            <a:r>
              <a:rPr baseline="-25000" lang="en-US" sz="2000"/>
              <a:t>ij</a:t>
            </a:r>
            <a:r>
              <a:rPr lang="en-US" sz="2000"/>
              <a:t>] =  Min</a:t>
            </a:r>
            <a:r>
              <a:rPr baseline="-25000" lang="en-US" sz="2000"/>
              <a:t>i</a:t>
            </a:r>
            <a:r>
              <a:rPr lang="en-US" sz="2000"/>
              <a:t> [180.000, 100.000, 200.000] = 100.000	</a:t>
            </a:r>
            <a:endParaRPr/>
          </a:p>
          <a:p>
            <a:pPr indent="-342900" lvl="0" marL="342900" rtl="0" algn="just">
              <a:spcBef>
                <a:spcPts val="1200"/>
              </a:spcBef>
              <a:spcAft>
                <a:spcPts val="0"/>
              </a:spcAft>
              <a:buSzPts val="1400"/>
              <a:buFont typeface="Noto Sans Symbols"/>
              <a:buNone/>
            </a:pPr>
            <a:r>
              <a:rPr lang="en-US" sz="2000"/>
              <a:t>	</a:t>
            </a:r>
            <a:r>
              <a:rPr lang="en-US" sz="2000" u="sng"/>
              <a:t>RQĐ:</a:t>
            </a:r>
            <a:r>
              <a:rPr lang="en-US" sz="2000"/>
              <a:t> Chọn PA xây nhà máy nhỏ (i = 2).</a:t>
            </a:r>
            <a:endParaRPr/>
          </a:p>
        </p:txBody>
      </p:sp>
      <p:sp>
        <p:nvSpPr>
          <p:cNvPr id="334" name="Google Shape;334;p28"/>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335" name="Google Shape;335;p28"/>
          <p:cNvPicPr preferRelativeResize="0"/>
          <p:nvPr/>
        </p:nvPicPr>
        <p:blipFill rotWithShape="1">
          <a:blip r:embed="rId3">
            <a:alphaModFix/>
          </a:blip>
          <a:srcRect b="0" l="0" r="0" t="0"/>
          <a:stretch/>
        </p:blipFill>
        <p:spPr>
          <a:xfrm>
            <a:off x="0" y="152400"/>
            <a:ext cx="4800600" cy="1676400"/>
          </a:xfrm>
          <a:prstGeom prst="rect">
            <a:avLst/>
          </a:prstGeom>
          <a:noFill/>
          <a:ln>
            <a:noFill/>
          </a:ln>
        </p:spPr>
      </p:pic>
      <p:pic>
        <p:nvPicPr>
          <p:cNvPr id="336" name="Google Shape;336;p28"/>
          <p:cNvPicPr preferRelativeResize="0"/>
          <p:nvPr/>
        </p:nvPicPr>
        <p:blipFill rotWithShape="1">
          <a:blip r:embed="rId4">
            <a:alphaModFix/>
          </a:blip>
          <a:srcRect b="0" l="0" r="0" t="0"/>
          <a:stretch/>
        </p:blipFill>
        <p:spPr>
          <a:xfrm>
            <a:off x="4724400" y="152400"/>
            <a:ext cx="4343400" cy="1676400"/>
          </a:xfrm>
          <a:prstGeom prst="rect">
            <a:avLst/>
          </a:prstGeom>
          <a:noFill/>
          <a:ln>
            <a:noFill/>
          </a:ln>
        </p:spPr>
      </p:pic>
      <p:pic>
        <p:nvPicPr>
          <p:cNvPr id="337" name="Google Shape;337;p28"/>
          <p:cNvPicPr preferRelativeResize="0"/>
          <p:nvPr/>
        </p:nvPicPr>
        <p:blipFill rotWithShape="1">
          <a:blip r:embed="rId5">
            <a:alphaModFix/>
          </a:blip>
          <a:srcRect b="0" l="0" r="0" t="0"/>
          <a:stretch/>
        </p:blipFill>
        <p:spPr>
          <a:xfrm>
            <a:off x="3657600" y="2352675"/>
            <a:ext cx="4572000" cy="466725"/>
          </a:xfrm>
          <a:prstGeom prst="rect">
            <a:avLst/>
          </a:prstGeom>
          <a:noFill/>
          <a:ln cap="flat" cmpd="sng" w="28575">
            <a:solidFill>
              <a:schemeClr val="hlink"/>
            </a:solidFill>
            <a:prstDash val="solid"/>
            <a:miter lim="800000"/>
            <a:headEnd len="sm" w="sm" type="none"/>
            <a:tailEnd len="sm" w="sm" type="none"/>
          </a:ln>
        </p:spPr>
      </p:pic>
    </p:spTree>
  </p:cSld>
  <p:clrMapOvr>
    <a:masterClrMapping/>
  </p:clrMapOvr>
  <p:transition>
    <p:push dir="r"/>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9"/>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343" name="Google Shape;343;p29"/>
          <p:cNvSpPr txBox="1"/>
          <p:nvPr>
            <p:ph type="title"/>
          </p:nvPr>
        </p:nvSpPr>
        <p:spPr>
          <a:xfrm>
            <a:off x="762000" y="533400"/>
            <a:ext cx="76962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6. RQĐ theo mô hình toán trong PPĐL</a:t>
            </a:r>
            <a:endParaRPr/>
          </a:p>
        </p:txBody>
      </p:sp>
      <p:sp>
        <p:nvSpPr>
          <p:cNvPr id="344" name="Google Shape;344;p29"/>
          <p:cNvSpPr txBox="1"/>
          <p:nvPr>
            <p:ph idx="1"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1" marL="746125" rtl="0" algn="just">
              <a:spcBef>
                <a:spcPts val="0"/>
              </a:spcBef>
              <a:spcAft>
                <a:spcPts val="0"/>
              </a:spcAft>
              <a:buClr>
                <a:schemeClr val="dk2"/>
              </a:buClr>
              <a:buSzPts val="4200"/>
              <a:buFont typeface="Times New Roman"/>
              <a:buNone/>
            </a:pPr>
            <a:r>
              <a:rPr b="1" lang="en-US" sz="2800"/>
              <a:t>6.1. Khái niệm chung về PPĐL trong quản lý</a:t>
            </a:r>
            <a:endParaRPr/>
          </a:p>
          <a:p>
            <a:pPr indent="-346075" lvl="1" marL="746125" rtl="0" algn="just">
              <a:spcBef>
                <a:spcPts val="2400"/>
              </a:spcBef>
              <a:spcAft>
                <a:spcPts val="0"/>
              </a:spcAft>
              <a:buClr>
                <a:schemeClr val="dk2"/>
              </a:buClr>
              <a:buSzPts val="4200"/>
              <a:buFont typeface="Times New Roman"/>
              <a:buNone/>
            </a:pPr>
            <a:r>
              <a:rPr b="1" lang="en-US" sz="2800"/>
              <a:t>6.2. Quy hoạch tuyến tính</a:t>
            </a:r>
            <a:endParaRPr/>
          </a:p>
          <a:p>
            <a:pPr indent="-346075" lvl="1" marL="746125" rtl="0" algn="just">
              <a:spcBef>
                <a:spcPts val="2400"/>
              </a:spcBef>
              <a:spcAft>
                <a:spcPts val="0"/>
              </a:spcAft>
              <a:buClr>
                <a:schemeClr val="dk2"/>
              </a:buClr>
              <a:buSzPts val="4200"/>
              <a:buFont typeface="Times New Roman"/>
              <a:buNone/>
            </a:pPr>
            <a:r>
              <a:rPr b="1" lang="en-US" sz="2800"/>
              <a:t>6.3. RQĐ đa yếu tố</a:t>
            </a:r>
            <a:endParaRPr/>
          </a:p>
          <a:p>
            <a:pPr indent="-346075" lvl="1" marL="746125" rtl="0" algn="just">
              <a:spcBef>
                <a:spcPts val="2400"/>
              </a:spcBef>
              <a:spcAft>
                <a:spcPts val="0"/>
              </a:spcAft>
              <a:buClr>
                <a:schemeClr val="dk2"/>
              </a:buClr>
              <a:buSzPts val="4200"/>
              <a:buFont typeface="Times New Roman"/>
              <a:buNone/>
            </a:pPr>
            <a:r>
              <a:rPr b="1" lang="en-US" sz="2800"/>
              <a:t>6.4. RQĐ theo lý thuyết độ hữu ích</a:t>
            </a:r>
            <a:endParaRPr/>
          </a:p>
        </p:txBody>
      </p:sp>
    </p:spTree>
  </p:cSld>
  <p:clrMapOvr>
    <a:masterClrMapping/>
  </p:clrMapOvr>
  <p:transition>
    <p:push dir="r"/>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0"/>
          <p:cNvSpPr txBox="1"/>
          <p:nvPr>
            <p:ph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6. RQĐ theo mô hình toán trong PPĐL </a:t>
            </a:r>
            <a:r>
              <a:rPr b="0" i="1" lang="en-US"/>
              <a:t>(tt)</a:t>
            </a:r>
            <a:endParaRPr/>
          </a:p>
        </p:txBody>
      </p:sp>
      <p:sp>
        <p:nvSpPr>
          <p:cNvPr id="350" name="Google Shape;350;p30"/>
          <p:cNvSpPr txBox="1"/>
          <p:nvPr>
            <p:ph idx="1" type="body"/>
          </p:nvPr>
        </p:nvSpPr>
        <p:spPr>
          <a:xfrm>
            <a:off x="762000" y="1905000"/>
            <a:ext cx="7696200" cy="46482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Clr>
                <a:schemeClr val="dk2"/>
              </a:buClr>
              <a:buSzPts val="3000"/>
              <a:buFont typeface="Times New Roman"/>
              <a:buNone/>
            </a:pPr>
            <a:r>
              <a:rPr b="1" lang="en-US" sz="2000"/>
              <a:t>6.1. Khái niệm chung về PPĐL trong quản lý</a:t>
            </a:r>
            <a:endParaRPr/>
          </a:p>
          <a:p>
            <a:pPr indent="-346075" lvl="1" marL="346075" rtl="0" algn="just">
              <a:spcBef>
                <a:spcPts val="1000"/>
              </a:spcBef>
              <a:spcAft>
                <a:spcPts val="0"/>
              </a:spcAft>
              <a:buSzPts val="3000"/>
              <a:buFont typeface="Times New Roman"/>
              <a:buNone/>
            </a:pPr>
            <a:r>
              <a:rPr b="1" lang="en-US" sz="2000"/>
              <a:t>Các thuật ngữ về PPĐL</a:t>
            </a:r>
            <a:endParaRPr sz="2000"/>
          </a:p>
          <a:p>
            <a:pPr indent="-285750" lvl="2" marL="746125" rtl="0" algn="just">
              <a:spcBef>
                <a:spcPts val="360"/>
              </a:spcBef>
              <a:spcAft>
                <a:spcPts val="0"/>
              </a:spcAft>
              <a:buClr>
                <a:schemeClr val="dk2"/>
              </a:buClr>
              <a:buSzPts val="2700"/>
              <a:buFont typeface="Times New Roman"/>
              <a:buChar char="•"/>
            </a:pPr>
            <a:r>
              <a:rPr b="1" lang="en-US" sz="1800"/>
              <a:t>Phân tích định lượng</a:t>
            </a:r>
            <a:r>
              <a:rPr lang="en-US" sz="1800"/>
              <a:t> (Quantitative Analysis)</a:t>
            </a:r>
            <a:endParaRPr/>
          </a:p>
          <a:p>
            <a:pPr indent="-285750" lvl="2" marL="746125" rtl="0" algn="just">
              <a:spcBef>
                <a:spcPts val="360"/>
              </a:spcBef>
              <a:spcAft>
                <a:spcPts val="0"/>
              </a:spcAft>
              <a:buClr>
                <a:schemeClr val="dk2"/>
              </a:buClr>
              <a:buSzPts val="2700"/>
              <a:buFont typeface="Times New Roman"/>
              <a:buChar char="•"/>
            </a:pPr>
            <a:r>
              <a:rPr b="1" lang="en-US" sz="1800"/>
              <a:t>Phương pháp định lượng</a:t>
            </a:r>
            <a:r>
              <a:rPr lang="en-US" sz="1800"/>
              <a:t> (Quantitative Methods, Quantitative Approaches)</a:t>
            </a:r>
            <a:endParaRPr/>
          </a:p>
          <a:p>
            <a:pPr indent="-285750" lvl="2" marL="746125" rtl="0" algn="just">
              <a:spcBef>
                <a:spcPts val="360"/>
              </a:spcBef>
              <a:spcAft>
                <a:spcPts val="0"/>
              </a:spcAft>
              <a:buClr>
                <a:schemeClr val="dk2"/>
              </a:buClr>
              <a:buSzPts val="2700"/>
              <a:buFont typeface="Times New Roman"/>
              <a:buChar char="•"/>
            </a:pPr>
            <a:r>
              <a:rPr b="1" lang="en-US" sz="1800"/>
              <a:t>Nghiên cứu tác vụ</a:t>
            </a:r>
            <a:r>
              <a:rPr lang="en-US" sz="1800"/>
              <a:t>, </a:t>
            </a:r>
            <a:r>
              <a:rPr b="1" lang="en-US" sz="1800"/>
              <a:t>Vận trù học</a:t>
            </a:r>
            <a:r>
              <a:rPr lang="en-US" sz="1800"/>
              <a:t> (Operations Research)</a:t>
            </a:r>
            <a:endParaRPr/>
          </a:p>
          <a:p>
            <a:pPr indent="-285750" lvl="2" marL="746125" rtl="0" algn="just">
              <a:spcBef>
                <a:spcPts val="360"/>
              </a:spcBef>
              <a:spcAft>
                <a:spcPts val="0"/>
              </a:spcAft>
              <a:buClr>
                <a:schemeClr val="dk2"/>
              </a:buClr>
              <a:buSzPts val="2700"/>
              <a:buFont typeface="Times New Roman"/>
              <a:buChar char="•"/>
            </a:pPr>
            <a:r>
              <a:rPr b="1" lang="en-US" sz="1800"/>
              <a:t>Khoa học quản lý</a:t>
            </a:r>
            <a:r>
              <a:rPr lang="en-US" sz="1800"/>
              <a:t> (Management Science)</a:t>
            </a:r>
            <a:endParaRPr/>
          </a:p>
          <a:p>
            <a:pPr indent="-346075" lvl="1" marL="346075" rtl="0" algn="just">
              <a:spcBef>
                <a:spcPts val="360"/>
              </a:spcBef>
              <a:spcAft>
                <a:spcPts val="0"/>
              </a:spcAft>
              <a:buSzPts val="2700"/>
              <a:buFont typeface="Times New Roman"/>
              <a:buNone/>
            </a:pPr>
            <a:r>
              <a:t/>
            </a:r>
            <a:endParaRPr b="1" sz="1800"/>
          </a:p>
          <a:p>
            <a:pPr indent="-346075" lvl="1" marL="346075" rtl="0" algn="just">
              <a:spcBef>
                <a:spcPts val="400"/>
              </a:spcBef>
              <a:spcAft>
                <a:spcPts val="0"/>
              </a:spcAft>
              <a:buSzPts val="3000"/>
              <a:buFont typeface="Times New Roman"/>
              <a:buNone/>
            </a:pPr>
            <a:r>
              <a:t/>
            </a:r>
            <a:endParaRPr b="1" sz="2000"/>
          </a:p>
          <a:p>
            <a:pPr indent="-346075" lvl="1" marL="346075" rtl="0" algn="just">
              <a:spcBef>
                <a:spcPts val="400"/>
              </a:spcBef>
              <a:spcAft>
                <a:spcPts val="0"/>
              </a:spcAft>
              <a:buSzPts val="3000"/>
              <a:buFont typeface="Times New Roman"/>
              <a:buNone/>
            </a:pPr>
            <a:r>
              <a:rPr b="1" lang="en-US" sz="2000"/>
              <a:t>PPĐL</a:t>
            </a:r>
            <a:r>
              <a:rPr lang="en-US" sz="2000"/>
              <a:t> là PP khoa học dùng các phép tính toán để giải quyết các vấn đề RQĐ.</a:t>
            </a:r>
            <a:endParaRPr/>
          </a:p>
          <a:p>
            <a:pPr indent="-342900" lvl="0" marL="342900" rtl="0" algn="just">
              <a:spcBef>
                <a:spcPts val="400"/>
              </a:spcBef>
              <a:spcAft>
                <a:spcPts val="0"/>
              </a:spcAft>
              <a:buSzPts val="1400"/>
              <a:buFont typeface="Noto Sans Symbols"/>
              <a:buNone/>
            </a:pPr>
            <a:r>
              <a:rPr b="1" lang="en-US" sz="2000"/>
              <a:t>Nguồn gốc </a:t>
            </a:r>
            <a:r>
              <a:rPr b="1" i="1" lang="en-US" sz="2000"/>
              <a:t>(lịch sử)</a:t>
            </a:r>
            <a:r>
              <a:rPr b="1" lang="en-US" sz="2000"/>
              <a:t>:  </a:t>
            </a:r>
            <a:r>
              <a:rPr lang="en-US" sz="2000"/>
              <a:t> từ đầu TK 20, </a:t>
            </a:r>
            <a:endParaRPr/>
          </a:p>
          <a:p>
            <a:pPr indent="-342900" lvl="0" marL="342900" rtl="0" algn="r">
              <a:spcBef>
                <a:spcPts val="0"/>
              </a:spcBef>
              <a:spcAft>
                <a:spcPts val="0"/>
              </a:spcAft>
              <a:buSzPts val="1400"/>
              <a:buFont typeface="Noto Sans Symbols"/>
              <a:buNone/>
            </a:pPr>
            <a:r>
              <a:rPr lang="en-US" sz="2000"/>
              <a:t>				trong thế chiến thứ hai (1939 – 1945).</a:t>
            </a:r>
            <a:endParaRPr/>
          </a:p>
        </p:txBody>
      </p:sp>
      <p:sp>
        <p:nvSpPr>
          <p:cNvPr id="351" name="Google Shape;351;p30"/>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352" name="Google Shape;352;p30"/>
          <p:cNvPicPr preferRelativeResize="0"/>
          <p:nvPr/>
        </p:nvPicPr>
        <p:blipFill rotWithShape="1">
          <a:blip r:embed="rId3">
            <a:alphaModFix/>
          </a:blip>
          <a:srcRect b="0" l="0" r="0" t="0"/>
          <a:stretch/>
        </p:blipFill>
        <p:spPr>
          <a:xfrm>
            <a:off x="2340150" y="4826363"/>
            <a:ext cx="5416549" cy="738187"/>
          </a:xfrm>
          <a:prstGeom prst="rect">
            <a:avLst/>
          </a:prstGeom>
          <a:noFill/>
          <a:ln>
            <a:noFill/>
          </a:ln>
        </p:spPr>
      </p:pic>
    </p:spTree>
  </p:cSld>
  <p:clrMapOvr>
    <a:masterClrMapping/>
  </p:clrMapOvr>
  <p:transition>
    <p:push dir="r"/>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id="357" name="Google Shape;357;p31"/>
          <p:cNvPicPr preferRelativeResize="0"/>
          <p:nvPr/>
        </p:nvPicPr>
        <p:blipFill rotWithShape="1">
          <a:blip r:embed="rId3">
            <a:alphaModFix/>
          </a:blip>
          <a:srcRect b="0" l="0" r="0" t="0"/>
          <a:stretch/>
        </p:blipFill>
        <p:spPr>
          <a:xfrm>
            <a:off x="623888" y="1981200"/>
            <a:ext cx="7986712" cy="4054475"/>
          </a:xfrm>
          <a:prstGeom prst="rect">
            <a:avLst/>
          </a:prstGeom>
          <a:noFill/>
          <a:ln>
            <a:noFill/>
          </a:ln>
        </p:spPr>
      </p:pic>
      <p:sp>
        <p:nvSpPr>
          <p:cNvPr id="358" name="Google Shape;358;p31"/>
          <p:cNvSpPr txBox="1"/>
          <p:nvPr>
            <p:ph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6. RQĐ theo mô hình toán trong PPĐL </a:t>
            </a:r>
            <a:r>
              <a:rPr b="0" i="1" lang="en-US"/>
              <a:t>(tt)</a:t>
            </a:r>
            <a:br>
              <a:rPr b="0" i="1" lang="en-US"/>
            </a:br>
            <a:r>
              <a:rPr i="1" lang="en-US" sz="2400">
                <a:solidFill>
                  <a:schemeClr val="dk1"/>
                </a:solidFill>
              </a:rPr>
              <a:t> </a:t>
            </a:r>
            <a:r>
              <a:rPr lang="en-US" sz="2400">
                <a:solidFill>
                  <a:schemeClr val="dk1"/>
                </a:solidFill>
              </a:rPr>
              <a:t>6.1. Khái niệm chung về PPĐL trong quản lý</a:t>
            </a:r>
            <a:r>
              <a:rPr i="1" lang="en-US" sz="2400">
                <a:solidFill>
                  <a:schemeClr val="dk1"/>
                </a:solidFill>
              </a:rPr>
              <a:t> (tt)</a:t>
            </a:r>
            <a:endParaRPr/>
          </a:p>
        </p:txBody>
      </p:sp>
      <p:sp>
        <p:nvSpPr>
          <p:cNvPr id="359" name="Google Shape;359;p31"/>
          <p:cNvSpPr txBox="1"/>
          <p:nvPr>
            <p:ph idx="1" type="body"/>
          </p:nvPr>
        </p:nvSpPr>
        <p:spPr>
          <a:xfrm>
            <a:off x="4267200" y="2133600"/>
            <a:ext cx="4191000" cy="685800"/>
          </a:xfrm>
          <a:prstGeom prst="rect">
            <a:avLst/>
          </a:prstGeom>
          <a:noFill/>
          <a:ln>
            <a:noFill/>
          </a:ln>
        </p:spPr>
        <p:txBody>
          <a:bodyPr anchorCtr="0" anchor="t" bIns="45700" lIns="91425" spcFirstLastPara="1" rIns="91425" wrap="square" tIns="45700">
            <a:noAutofit/>
          </a:bodyPr>
          <a:lstStyle/>
          <a:p>
            <a:pPr indent="-346075" lvl="1" marL="346075" rtl="0" algn="r">
              <a:spcBef>
                <a:spcPts val="0"/>
              </a:spcBef>
              <a:spcAft>
                <a:spcPts val="0"/>
              </a:spcAft>
              <a:buClr>
                <a:schemeClr val="dk2"/>
              </a:buClr>
              <a:buSzPts val="4200"/>
              <a:buFont typeface="Times New Roman"/>
              <a:buNone/>
            </a:pPr>
            <a:r>
              <a:rPr b="1" lang="en-US" sz="2800">
                <a:solidFill>
                  <a:srgbClr val="000099"/>
                </a:solidFill>
              </a:rPr>
              <a:t>Các bước trong PPĐL</a:t>
            </a:r>
            <a:endParaRPr/>
          </a:p>
        </p:txBody>
      </p:sp>
      <p:sp>
        <p:nvSpPr>
          <p:cNvPr id="360" name="Google Shape;360;p31"/>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2"/>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6. RQĐ theo mô hình toán trong PPĐL </a:t>
            </a:r>
            <a:r>
              <a:rPr b="0" i="1" lang="en-US"/>
              <a:t>(tt)</a:t>
            </a:r>
            <a:br>
              <a:rPr b="0" i="1" lang="en-US"/>
            </a:br>
            <a:r>
              <a:rPr i="1" lang="en-US" sz="2400">
                <a:solidFill>
                  <a:schemeClr val="dk1"/>
                </a:solidFill>
              </a:rPr>
              <a:t> </a:t>
            </a:r>
            <a:r>
              <a:rPr lang="en-US" sz="2400">
                <a:solidFill>
                  <a:schemeClr val="dk1"/>
                </a:solidFill>
              </a:rPr>
              <a:t>6.1. Khái niệm chung về PPĐL trong quản lý</a:t>
            </a:r>
            <a:r>
              <a:rPr i="1" lang="en-US" sz="2400">
                <a:solidFill>
                  <a:schemeClr val="dk1"/>
                </a:solidFill>
              </a:rPr>
              <a:t> (tt)</a:t>
            </a:r>
            <a:endParaRPr/>
          </a:p>
        </p:txBody>
      </p:sp>
      <p:sp>
        <p:nvSpPr>
          <p:cNvPr id="366" name="Google Shape;366;p32"/>
          <p:cNvSpPr txBox="1"/>
          <p:nvPr>
            <p:ph idx="4294967295"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Clr>
                <a:schemeClr val="dk2"/>
              </a:buClr>
              <a:buSzPts val="3600"/>
              <a:buFont typeface="Times New Roman"/>
              <a:buNone/>
            </a:pPr>
            <a:r>
              <a:rPr b="1" lang="en-US" sz="2400"/>
              <a:t>Các công cụ định lượng</a:t>
            </a:r>
            <a:endParaRPr/>
          </a:p>
          <a:p>
            <a:pPr indent="-285750" lvl="2" marL="746125" rtl="0" algn="just">
              <a:spcBef>
                <a:spcPts val="1000"/>
              </a:spcBef>
              <a:spcAft>
                <a:spcPts val="0"/>
              </a:spcAft>
              <a:buClr>
                <a:schemeClr val="dk2"/>
              </a:buClr>
              <a:buSzPts val="3000"/>
              <a:buFont typeface="Times New Roman"/>
              <a:buChar char="•"/>
            </a:pPr>
            <a:r>
              <a:rPr lang="en-US" sz="2000">
                <a:solidFill>
                  <a:srgbClr val="000099"/>
                </a:solidFill>
              </a:rPr>
              <a:t>Các mô hình định lượng</a:t>
            </a:r>
            <a:endParaRPr/>
          </a:p>
          <a:p>
            <a:pPr indent="-95250" lvl="2" marL="746125" rtl="0" algn="just">
              <a:spcBef>
                <a:spcPts val="400"/>
              </a:spcBef>
              <a:spcAft>
                <a:spcPts val="0"/>
              </a:spcAft>
              <a:buClr>
                <a:schemeClr val="dk2"/>
              </a:buClr>
              <a:buSzPts val="3000"/>
              <a:buFont typeface="Times New Roman"/>
              <a:buNone/>
            </a:pPr>
            <a:r>
              <a:t/>
            </a:r>
            <a:endParaRPr sz="2000">
              <a:solidFill>
                <a:srgbClr val="000099"/>
              </a:solidFill>
            </a:endParaRPr>
          </a:p>
          <a:p>
            <a:pPr indent="-95250" lvl="2" marL="746125" rtl="0" algn="just">
              <a:spcBef>
                <a:spcPts val="400"/>
              </a:spcBef>
              <a:spcAft>
                <a:spcPts val="0"/>
              </a:spcAft>
              <a:buClr>
                <a:schemeClr val="dk2"/>
              </a:buClr>
              <a:buSzPts val="3000"/>
              <a:buFont typeface="Times New Roman"/>
              <a:buNone/>
            </a:pPr>
            <a:r>
              <a:t/>
            </a:r>
            <a:endParaRPr sz="2000"/>
          </a:p>
          <a:p>
            <a:pPr indent="-152400" lvl="2" marL="746125" rtl="0" algn="just">
              <a:spcBef>
                <a:spcPts val="280"/>
              </a:spcBef>
              <a:spcAft>
                <a:spcPts val="0"/>
              </a:spcAft>
              <a:buClr>
                <a:schemeClr val="dk2"/>
              </a:buClr>
              <a:buSzPts val="2100"/>
              <a:buFont typeface="Times New Roman"/>
              <a:buNone/>
            </a:pPr>
            <a:r>
              <a:t/>
            </a:r>
            <a:endParaRPr sz="1400"/>
          </a:p>
          <a:p>
            <a:pPr indent="-95250" lvl="2" marL="746125" rtl="0" algn="just">
              <a:spcBef>
                <a:spcPts val="400"/>
              </a:spcBef>
              <a:spcAft>
                <a:spcPts val="0"/>
              </a:spcAft>
              <a:buClr>
                <a:schemeClr val="dk2"/>
              </a:buClr>
              <a:buSzPts val="3000"/>
              <a:buFont typeface="Times New Roman"/>
              <a:buNone/>
            </a:pPr>
            <a:r>
              <a:t/>
            </a:r>
            <a:endParaRPr sz="2000"/>
          </a:p>
          <a:p>
            <a:pPr indent="-95250" lvl="2" marL="746125" rtl="0" algn="just">
              <a:spcBef>
                <a:spcPts val="400"/>
              </a:spcBef>
              <a:spcAft>
                <a:spcPts val="0"/>
              </a:spcAft>
              <a:buClr>
                <a:schemeClr val="dk2"/>
              </a:buClr>
              <a:buSzPts val="3000"/>
              <a:buFont typeface="Times New Roman"/>
              <a:buNone/>
            </a:pPr>
            <a:r>
              <a:t/>
            </a:r>
            <a:endParaRPr sz="2000"/>
          </a:p>
          <a:p>
            <a:pPr indent="-95250" lvl="2" marL="746125" rtl="0" algn="just">
              <a:spcBef>
                <a:spcPts val="400"/>
              </a:spcBef>
              <a:spcAft>
                <a:spcPts val="0"/>
              </a:spcAft>
              <a:buClr>
                <a:schemeClr val="dk2"/>
              </a:buClr>
              <a:buSzPts val="3000"/>
              <a:buFont typeface="Times New Roman"/>
              <a:buNone/>
            </a:pPr>
            <a:r>
              <a:t/>
            </a:r>
            <a:endParaRPr sz="2000"/>
          </a:p>
          <a:p>
            <a:pPr indent="-95250" lvl="2" marL="746125" rtl="0" algn="just">
              <a:spcBef>
                <a:spcPts val="400"/>
              </a:spcBef>
              <a:spcAft>
                <a:spcPts val="0"/>
              </a:spcAft>
              <a:buClr>
                <a:schemeClr val="dk2"/>
              </a:buClr>
              <a:buSzPts val="3000"/>
              <a:buFont typeface="Times New Roman"/>
              <a:buNone/>
            </a:pPr>
            <a:r>
              <a:t/>
            </a:r>
            <a:endParaRPr sz="2000"/>
          </a:p>
          <a:p>
            <a:pPr indent="-95250" lvl="2" marL="746125" rtl="0" algn="just">
              <a:spcBef>
                <a:spcPts val="400"/>
              </a:spcBef>
              <a:spcAft>
                <a:spcPts val="0"/>
              </a:spcAft>
              <a:buClr>
                <a:schemeClr val="dk2"/>
              </a:buClr>
              <a:buSzPts val="3000"/>
              <a:buFont typeface="Times New Roman"/>
              <a:buNone/>
            </a:pPr>
            <a:r>
              <a:t/>
            </a:r>
            <a:endParaRPr sz="2000"/>
          </a:p>
          <a:p>
            <a:pPr indent="-285750" lvl="2" marL="746125" rtl="0" algn="just">
              <a:spcBef>
                <a:spcPts val="400"/>
              </a:spcBef>
              <a:spcAft>
                <a:spcPts val="0"/>
              </a:spcAft>
              <a:buClr>
                <a:schemeClr val="dk2"/>
              </a:buClr>
              <a:buSzPts val="3000"/>
              <a:buFont typeface="Times New Roman"/>
              <a:buChar char="•"/>
            </a:pPr>
            <a:r>
              <a:rPr lang="en-US" sz="2000">
                <a:solidFill>
                  <a:srgbClr val="000099"/>
                </a:solidFill>
              </a:rPr>
              <a:t>Phần mềm:</a:t>
            </a:r>
            <a:r>
              <a:rPr lang="en-US" sz="2000"/>
              <a:t> Excel/ABQM </a:t>
            </a:r>
            <a:endParaRPr/>
          </a:p>
          <a:p>
            <a:pPr indent="-285750" lvl="2" marL="746125" rtl="0" algn="just">
              <a:spcBef>
                <a:spcPts val="280"/>
              </a:spcBef>
              <a:spcAft>
                <a:spcPts val="0"/>
              </a:spcAft>
              <a:buClr>
                <a:schemeClr val="dk2"/>
              </a:buClr>
              <a:buSzPts val="2100"/>
              <a:buFont typeface="Times New Roman"/>
              <a:buNone/>
            </a:pPr>
            <a:r>
              <a:rPr lang="en-US" sz="1400"/>
              <a:t>(http://tailieu.vn/xem-tai-lieu/ung-dung-excel-de-giai-bai-toan-quy-hoach-tuyen-tinh.201799.html)</a:t>
            </a:r>
            <a:endParaRPr/>
          </a:p>
        </p:txBody>
      </p:sp>
      <p:sp>
        <p:nvSpPr>
          <p:cNvPr id="367" name="Google Shape;367;p32"/>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graphicFrame>
        <p:nvGraphicFramePr>
          <p:cNvPr id="368" name="Google Shape;368;p32"/>
          <p:cNvGraphicFramePr/>
          <p:nvPr/>
        </p:nvGraphicFramePr>
        <p:xfrm>
          <a:off x="1219200" y="2911475"/>
          <a:ext cx="3000000" cy="3000000"/>
        </p:xfrm>
        <a:graphic>
          <a:graphicData uri="http://schemas.openxmlformats.org/drawingml/2006/table">
            <a:tbl>
              <a:tblPr>
                <a:noFill/>
                <a:tableStyleId>{9302C292-000E-4312-823E-40D575495FEE}</a:tableStyleId>
              </a:tblPr>
              <a:tblGrid>
                <a:gridCol w="3810000"/>
                <a:gridCol w="3352800"/>
              </a:tblGrid>
              <a:tr h="454025">
                <a:tc rowSpan="2">
                  <a:txBody>
                    <a:bodyPr/>
                    <a:lstStyle/>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Lý thuyết RQĐ</a:t>
                      </a:r>
                      <a:endParaRPr b="0" i="0" sz="18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(X</a:t>
                      </a:r>
                      <a:r>
                        <a:rPr b="0" i="0" lang="en-US" sz="2000" u="none" cap="none" strike="noStrike">
                          <a:solidFill>
                            <a:schemeClr val="dk1"/>
                          </a:solidFill>
                          <a:latin typeface="Arial"/>
                          <a:ea typeface="Arial"/>
                          <a:cs typeface="Arial"/>
                          <a:sym typeface="Arial"/>
                        </a:rPr>
                        <a:t>á</a:t>
                      </a:r>
                      <a:r>
                        <a:rPr b="0" i="0" lang="en-US" sz="2000" u="none" cap="none" strike="noStrike">
                          <a:solidFill>
                            <a:schemeClr val="dk1"/>
                          </a:solidFill>
                          <a:latin typeface="Times New Roman"/>
                          <a:ea typeface="Times New Roman"/>
                          <a:cs typeface="Times New Roman"/>
                          <a:sym typeface="Times New Roman"/>
                        </a:rPr>
                        <a:t>c suất c</a:t>
                      </a:r>
                      <a:r>
                        <a:rPr b="0" i="0" lang="en-US" sz="2000" u="none" cap="none" strike="noStrike">
                          <a:solidFill>
                            <a:schemeClr val="dk1"/>
                          </a:solidFill>
                          <a:latin typeface="Arial"/>
                          <a:ea typeface="Arial"/>
                          <a:cs typeface="Arial"/>
                          <a:sym typeface="Arial"/>
                        </a:rPr>
                        <a:t>ó</a:t>
                      </a:r>
                      <a:r>
                        <a:rPr b="0" i="0" lang="en-US" sz="2000" u="none" cap="none" strike="noStrike">
                          <a:solidFill>
                            <a:schemeClr val="dk1"/>
                          </a:solidFill>
                          <a:latin typeface="Times New Roman"/>
                          <a:ea typeface="Times New Roman"/>
                          <a:cs typeface="Times New Roman"/>
                          <a:sym typeface="Times New Roman"/>
                        </a:rPr>
                        <a:t> đk, Bảng tiền lời lỗ, Cây QĐ, Lý thuyết trò chơi)</a:t>
                      </a:r>
                      <a:endParaRPr b="0" i="0" sz="1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B</a:t>
                      </a:r>
                      <a:r>
                        <a:rPr b="0" i="0" lang="en-US" sz="2000" u="none" cap="none" strike="noStrike">
                          <a:solidFill>
                            <a:schemeClr val="dk1"/>
                          </a:solidFill>
                          <a:latin typeface="Arial"/>
                          <a:ea typeface="Arial"/>
                          <a:cs typeface="Arial"/>
                          <a:sym typeface="Arial"/>
                        </a:rPr>
                        <a:t>à</a:t>
                      </a:r>
                      <a:r>
                        <a:rPr b="0" i="0" lang="en-US" sz="2000" u="none" cap="none" strike="noStrike">
                          <a:solidFill>
                            <a:schemeClr val="dk1"/>
                          </a:solidFill>
                          <a:latin typeface="Times New Roman"/>
                          <a:ea typeface="Times New Roman"/>
                          <a:cs typeface="Times New Roman"/>
                          <a:sym typeface="Times New Roman"/>
                        </a:rPr>
                        <a:t>i to</a:t>
                      </a:r>
                      <a:r>
                        <a:rPr b="0" i="0" lang="en-US" sz="2000" u="none" cap="none" strike="noStrike">
                          <a:solidFill>
                            <a:schemeClr val="dk1"/>
                          </a:solidFill>
                          <a:latin typeface="Arial"/>
                          <a:ea typeface="Arial"/>
                          <a:cs typeface="Arial"/>
                          <a:sym typeface="Arial"/>
                        </a:rPr>
                        <a:t>á</a:t>
                      </a:r>
                      <a:r>
                        <a:rPr b="0" i="0" lang="en-US" sz="2000" u="none" cap="none" strike="noStrike">
                          <a:solidFill>
                            <a:schemeClr val="dk1"/>
                          </a:solidFill>
                          <a:latin typeface="Times New Roman"/>
                          <a:ea typeface="Times New Roman"/>
                          <a:cs typeface="Times New Roman"/>
                          <a:sym typeface="Times New Roman"/>
                        </a:rPr>
                        <a:t>n phân công</a:t>
                      </a:r>
                      <a:endParaRPr b="0" i="0" sz="1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11200">
                <a:tc vMerge="1"/>
                <a:tc>
                  <a:txBody>
                    <a:bodyPr/>
                    <a:lstStyle/>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B</a:t>
                      </a:r>
                      <a:r>
                        <a:rPr b="0" i="0" lang="en-US" sz="2000" u="none" cap="none" strike="noStrike">
                          <a:solidFill>
                            <a:schemeClr val="dk1"/>
                          </a:solidFill>
                          <a:latin typeface="Arial"/>
                          <a:ea typeface="Arial"/>
                          <a:cs typeface="Arial"/>
                          <a:sym typeface="Arial"/>
                        </a:rPr>
                        <a:t>à</a:t>
                      </a:r>
                      <a:r>
                        <a:rPr b="0" i="0" lang="en-US" sz="2000" u="none" cap="none" strike="noStrike">
                          <a:solidFill>
                            <a:schemeClr val="dk1"/>
                          </a:solidFill>
                          <a:latin typeface="Times New Roman"/>
                          <a:ea typeface="Times New Roman"/>
                          <a:cs typeface="Times New Roman"/>
                          <a:sym typeface="Times New Roman"/>
                        </a:rPr>
                        <a:t>i to</a:t>
                      </a:r>
                      <a:r>
                        <a:rPr b="0" i="0" lang="en-US" sz="2000" u="none" cap="none" strike="noStrike">
                          <a:solidFill>
                            <a:schemeClr val="dk1"/>
                          </a:solidFill>
                          <a:latin typeface="Arial"/>
                          <a:ea typeface="Arial"/>
                          <a:cs typeface="Arial"/>
                          <a:sym typeface="Arial"/>
                        </a:rPr>
                        <a:t>á</a:t>
                      </a:r>
                      <a:r>
                        <a:rPr b="0" i="0" lang="en-US" sz="2000" u="none" cap="none" strike="noStrike">
                          <a:solidFill>
                            <a:schemeClr val="dk1"/>
                          </a:solidFill>
                          <a:latin typeface="Times New Roman"/>
                          <a:ea typeface="Times New Roman"/>
                          <a:cs typeface="Times New Roman"/>
                          <a:sym typeface="Times New Roman"/>
                        </a:rPr>
                        <a:t>n dòng chảy tối đa</a:t>
                      </a:r>
                      <a:endParaRPr b="0" i="0" sz="1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96875">
                <a:tc>
                  <a:txBody>
                    <a:bodyPr/>
                    <a:lstStyle/>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QHTT</a:t>
                      </a:r>
                      <a:endParaRPr b="0" i="0" sz="1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Sơ đồ mạng (CPM/PERT)</a:t>
                      </a:r>
                      <a:endParaRPr b="0" i="0" sz="1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96875">
                <a:tc>
                  <a:txBody>
                    <a:bodyPr/>
                    <a:lstStyle/>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QH nguyên</a:t>
                      </a:r>
                      <a:endParaRPr b="0" i="0" sz="1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Kiểm so</a:t>
                      </a:r>
                      <a:r>
                        <a:rPr b="0" i="0" lang="en-US" sz="2000" u="none" cap="none" strike="noStrike">
                          <a:solidFill>
                            <a:schemeClr val="dk1"/>
                          </a:solidFill>
                          <a:latin typeface="Arial"/>
                          <a:ea typeface="Arial"/>
                          <a:cs typeface="Arial"/>
                          <a:sym typeface="Arial"/>
                        </a:rPr>
                        <a:t>á</a:t>
                      </a:r>
                      <a:r>
                        <a:rPr b="0" i="0" lang="en-US" sz="2000" u="none" cap="none" strike="noStrike">
                          <a:solidFill>
                            <a:schemeClr val="dk1"/>
                          </a:solidFill>
                          <a:latin typeface="Times New Roman"/>
                          <a:ea typeface="Times New Roman"/>
                          <a:cs typeface="Times New Roman"/>
                          <a:sym typeface="Times New Roman"/>
                        </a:rPr>
                        <a:t>t tồn kho</a:t>
                      </a:r>
                      <a:endParaRPr b="0" i="0" sz="1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96875">
                <a:tc>
                  <a:txBody>
                    <a:bodyPr/>
                    <a:lstStyle/>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QH động</a:t>
                      </a:r>
                      <a:endParaRPr b="0" i="0" sz="1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Lý thuyết xếp h</a:t>
                      </a:r>
                      <a:r>
                        <a:rPr b="0" i="0" lang="en-US" sz="2000" u="none" cap="none" strike="noStrike">
                          <a:solidFill>
                            <a:schemeClr val="dk1"/>
                          </a:solidFill>
                          <a:latin typeface="Arial"/>
                          <a:ea typeface="Arial"/>
                          <a:cs typeface="Arial"/>
                          <a:sym typeface="Arial"/>
                        </a:rPr>
                        <a:t>à</a:t>
                      </a:r>
                      <a:r>
                        <a:rPr b="0" i="0" lang="en-US" sz="2000" u="none" cap="none" strike="noStrike">
                          <a:solidFill>
                            <a:schemeClr val="dk1"/>
                          </a:solidFill>
                          <a:latin typeface="Times New Roman"/>
                          <a:ea typeface="Times New Roman"/>
                          <a:cs typeface="Times New Roman"/>
                          <a:sym typeface="Times New Roman"/>
                        </a:rPr>
                        <a:t>ng </a:t>
                      </a:r>
                      <a:r>
                        <a:rPr b="0" i="1" lang="en-US" sz="2000" u="none" cap="none" strike="noStrike">
                          <a:solidFill>
                            <a:schemeClr val="dk1"/>
                          </a:solidFill>
                          <a:latin typeface="Times New Roman"/>
                          <a:ea typeface="Times New Roman"/>
                          <a:cs typeface="Times New Roman"/>
                          <a:sym typeface="Times New Roman"/>
                        </a:rPr>
                        <a:t>(h</a:t>
                      </a:r>
                      <a:r>
                        <a:rPr b="0" i="1" lang="en-US" sz="2000" u="none" cap="none" strike="noStrike">
                          <a:solidFill>
                            <a:schemeClr val="dk1"/>
                          </a:solidFill>
                          <a:latin typeface="Arial"/>
                          <a:ea typeface="Arial"/>
                          <a:cs typeface="Arial"/>
                          <a:sym typeface="Arial"/>
                        </a:rPr>
                        <a:t>à</a:t>
                      </a:r>
                      <a:r>
                        <a:rPr b="0" i="1" lang="en-US" sz="2000" u="none" cap="none" strike="noStrike">
                          <a:solidFill>
                            <a:schemeClr val="dk1"/>
                          </a:solidFill>
                          <a:latin typeface="Times New Roman"/>
                          <a:ea typeface="Times New Roman"/>
                          <a:cs typeface="Times New Roman"/>
                          <a:sym typeface="Times New Roman"/>
                        </a:rPr>
                        <a:t>ng đợi)</a:t>
                      </a:r>
                      <a:endParaRPr b="0" i="0" sz="1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96875">
                <a:tc>
                  <a:txBody>
                    <a:bodyPr/>
                    <a:lstStyle/>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B</a:t>
                      </a:r>
                      <a:r>
                        <a:rPr b="0" i="0" lang="en-US" sz="2000" u="none" cap="none" strike="noStrike">
                          <a:solidFill>
                            <a:schemeClr val="dk1"/>
                          </a:solidFill>
                          <a:latin typeface="Arial"/>
                          <a:ea typeface="Arial"/>
                          <a:cs typeface="Arial"/>
                          <a:sym typeface="Arial"/>
                        </a:rPr>
                        <a:t>à</a:t>
                      </a:r>
                      <a:r>
                        <a:rPr b="0" i="0" lang="en-US" sz="2000" u="none" cap="none" strike="noStrike">
                          <a:solidFill>
                            <a:schemeClr val="dk1"/>
                          </a:solidFill>
                          <a:latin typeface="Times New Roman"/>
                          <a:ea typeface="Times New Roman"/>
                          <a:cs typeface="Times New Roman"/>
                          <a:sym typeface="Times New Roman"/>
                        </a:rPr>
                        <a:t>i to</a:t>
                      </a:r>
                      <a:r>
                        <a:rPr b="0" i="0" lang="en-US" sz="2000" u="none" cap="none" strike="noStrike">
                          <a:solidFill>
                            <a:schemeClr val="dk1"/>
                          </a:solidFill>
                          <a:latin typeface="Arial"/>
                          <a:ea typeface="Arial"/>
                          <a:cs typeface="Arial"/>
                          <a:sym typeface="Arial"/>
                        </a:rPr>
                        <a:t>á</a:t>
                      </a:r>
                      <a:r>
                        <a:rPr b="0" i="0" lang="en-US" sz="2000" u="none" cap="none" strike="noStrike">
                          <a:solidFill>
                            <a:schemeClr val="dk1"/>
                          </a:solidFill>
                          <a:latin typeface="Times New Roman"/>
                          <a:ea typeface="Times New Roman"/>
                          <a:cs typeface="Times New Roman"/>
                          <a:sym typeface="Times New Roman"/>
                        </a:rPr>
                        <a:t>n vận tải</a:t>
                      </a:r>
                      <a:endParaRPr b="0" i="0" sz="1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Phân t</a:t>
                      </a:r>
                      <a:r>
                        <a:rPr b="0" i="0" lang="en-US" sz="2000" u="none" cap="none" strike="noStrike">
                          <a:solidFill>
                            <a:schemeClr val="dk1"/>
                          </a:solidFill>
                          <a:latin typeface="Arial"/>
                          <a:ea typeface="Arial"/>
                          <a:cs typeface="Arial"/>
                          <a:sym typeface="Arial"/>
                        </a:rPr>
                        <a:t>í</a:t>
                      </a:r>
                      <a:r>
                        <a:rPr b="0" i="0" lang="en-US" sz="2000" u="none" cap="none" strike="noStrike">
                          <a:solidFill>
                            <a:schemeClr val="dk1"/>
                          </a:solidFill>
                          <a:latin typeface="Times New Roman"/>
                          <a:ea typeface="Times New Roman"/>
                          <a:cs typeface="Times New Roman"/>
                          <a:sym typeface="Times New Roman"/>
                        </a:rPr>
                        <a:t>ch Markov</a:t>
                      </a:r>
                      <a:endParaRPr b="0" i="0" sz="1800" u="none" cap="none" strike="noStrike">
                        <a:solidFill>
                          <a:schemeClr val="dk1"/>
                        </a:solidFill>
                        <a:latin typeface="Arial"/>
                        <a:ea typeface="Arial"/>
                        <a:cs typeface="Arial"/>
                        <a:sym typeface="Arial"/>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pic>
        <p:nvPicPr>
          <p:cNvPr id="369" name="Google Shape;369;p32"/>
          <p:cNvPicPr preferRelativeResize="0"/>
          <p:nvPr/>
        </p:nvPicPr>
        <p:blipFill rotWithShape="1">
          <a:blip r:embed="rId3">
            <a:alphaModFix/>
          </a:blip>
          <a:srcRect b="0" l="0" r="0" t="0"/>
          <a:stretch/>
        </p:blipFill>
        <p:spPr>
          <a:xfrm>
            <a:off x="0" y="2647950"/>
            <a:ext cx="1179513" cy="1847850"/>
          </a:xfrm>
          <a:prstGeom prst="rect">
            <a:avLst/>
          </a:prstGeom>
          <a:noFill/>
          <a:ln>
            <a:noFill/>
          </a:ln>
        </p:spPr>
      </p:pic>
    </p:spTree>
  </p:cSld>
  <p:clrMapOvr>
    <a:masterClrMapping/>
  </p:clrMapOvr>
  <p:transition>
    <p:push dir="r"/>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33"/>
          <p:cNvSpPr txBox="1"/>
          <p:nvPr>
            <p:ph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6. RQĐ theo mô hình toán trong PPĐL </a:t>
            </a:r>
            <a:r>
              <a:rPr b="0" i="1" lang="en-US"/>
              <a:t>(tt)</a:t>
            </a:r>
            <a:endParaRPr/>
          </a:p>
        </p:txBody>
      </p:sp>
      <p:sp>
        <p:nvSpPr>
          <p:cNvPr id="375" name="Google Shape;375;p33"/>
          <p:cNvSpPr txBox="1"/>
          <p:nvPr>
            <p:ph idx="1"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Clr>
                <a:schemeClr val="dk2"/>
              </a:buClr>
              <a:buSzPts val="3600"/>
              <a:buFont typeface="Times New Roman"/>
              <a:buNone/>
            </a:pPr>
            <a:r>
              <a:rPr b="1" lang="en-US" sz="2400"/>
              <a:t>6.2. Quy hoạch tuyến tính</a:t>
            </a:r>
            <a:endParaRPr/>
          </a:p>
          <a:p>
            <a:pPr indent="-346075" lvl="1" marL="346075" rtl="0" algn="just">
              <a:spcBef>
                <a:spcPts val="900"/>
              </a:spcBef>
              <a:spcAft>
                <a:spcPts val="0"/>
              </a:spcAft>
              <a:buClr>
                <a:schemeClr val="dk2"/>
              </a:buClr>
              <a:buSzPts val="3600"/>
              <a:buFont typeface="Times New Roman"/>
              <a:buNone/>
            </a:pPr>
            <a:r>
              <a:rPr b="1" lang="en-US" sz="2400"/>
              <a:t>6.2.1. Giới thiệu BT QHTT</a:t>
            </a:r>
            <a:endParaRPr/>
          </a:p>
          <a:p>
            <a:pPr indent="-342900" lvl="0" marL="342900" rtl="0" algn="just">
              <a:spcBef>
                <a:spcPts val="930"/>
              </a:spcBef>
              <a:spcAft>
                <a:spcPts val="0"/>
              </a:spcAft>
              <a:buSzPts val="2170"/>
              <a:buFont typeface="Noto Sans Symbols"/>
              <a:buNone/>
            </a:pPr>
            <a:r>
              <a:rPr lang="en-US"/>
              <a:t>	</a:t>
            </a:r>
            <a:r>
              <a:rPr b="1" lang="en-US" sz="2200">
                <a:solidFill>
                  <a:srgbClr val="800000"/>
                </a:solidFill>
              </a:rPr>
              <a:t>Xác định x</a:t>
            </a:r>
            <a:r>
              <a:rPr b="1" baseline="-25000" lang="en-US" sz="2200">
                <a:solidFill>
                  <a:srgbClr val="800000"/>
                </a:solidFill>
              </a:rPr>
              <a:t>1</a:t>
            </a:r>
            <a:r>
              <a:rPr b="1" lang="en-US" sz="2200">
                <a:solidFill>
                  <a:srgbClr val="800000"/>
                </a:solidFill>
              </a:rPr>
              <a:t>, x</a:t>
            </a:r>
            <a:r>
              <a:rPr b="1" baseline="-25000" lang="en-US" sz="2200">
                <a:solidFill>
                  <a:srgbClr val="800000"/>
                </a:solidFill>
              </a:rPr>
              <a:t>2</a:t>
            </a:r>
            <a:r>
              <a:rPr b="1" lang="en-US" sz="2200">
                <a:solidFill>
                  <a:srgbClr val="800000"/>
                </a:solidFill>
              </a:rPr>
              <a:t>, …, x</a:t>
            </a:r>
            <a:r>
              <a:rPr b="1" baseline="-25000" lang="en-US" sz="2200">
                <a:solidFill>
                  <a:srgbClr val="800000"/>
                </a:solidFill>
              </a:rPr>
              <a:t>n</a:t>
            </a:r>
            <a:r>
              <a:rPr lang="en-US" sz="2200"/>
              <a:t> sao cho:</a:t>
            </a:r>
            <a:endParaRPr/>
          </a:p>
          <a:p>
            <a:pPr indent="-342900" lvl="0" marL="342900" rtl="0" algn="just">
              <a:spcBef>
                <a:spcPts val="880"/>
              </a:spcBef>
              <a:spcAft>
                <a:spcPts val="0"/>
              </a:spcAft>
              <a:buSzPts val="1540"/>
              <a:buFont typeface="Noto Sans Symbols"/>
              <a:buNone/>
            </a:pPr>
            <a:r>
              <a:rPr lang="en-US" sz="2200"/>
              <a:t>		</a:t>
            </a:r>
            <a:r>
              <a:rPr b="1" lang="en-US" sz="2200"/>
              <a:t>Cực đại (hay Cực tiểu)</a:t>
            </a:r>
            <a:r>
              <a:rPr lang="en-US" sz="2200"/>
              <a:t> </a:t>
            </a:r>
            <a:r>
              <a:rPr lang="en-US" sz="2200">
                <a:solidFill>
                  <a:srgbClr val="000099"/>
                </a:solidFill>
              </a:rPr>
              <a:t>Hàm mục tiêu Z</a:t>
            </a:r>
            <a:r>
              <a:rPr lang="en-US" sz="2200"/>
              <a:t>:</a:t>
            </a:r>
            <a:endParaRPr/>
          </a:p>
          <a:p>
            <a:pPr indent="-342900" lvl="0" marL="342900" rtl="0" algn="just">
              <a:spcBef>
                <a:spcPts val="880"/>
              </a:spcBef>
              <a:spcAft>
                <a:spcPts val="0"/>
              </a:spcAft>
              <a:buSzPts val="1540"/>
              <a:buFont typeface="Noto Sans Symbols"/>
              <a:buNone/>
            </a:pPr>
            <a:r>
              <a:rPr lang="en-US" sz="2200"/>
              <a:t>			Z = z(x</a:t>
            </a:r>
            <a:r>
              <a:rPr baseline="-25000" lang="en-US" sz="2200"/>
              <a:t>1</a:t>
            </a:r>
            <a:r>
              <a:rPr lang="en-US" sz="2200"/>
              <a:t>, x</a:t>
            </a:r>
            <a:r>
              <a:rPr baseline="-25000" lang="en-US" sz="2200"/>
              <a:t>2</a:t>
            </a:r>
            <a:r>
              <a:rPr lang="en-US" sz="2200"/>
              <a:t>, …, x</a:t>
            </a:r>
            <a:r>
              <a:rPr baseline="-25000" lang="en-US" sz="2200"/>
              <a:t>n</a:t>
            </a:r>
            <a:r>
              <a:rPr lang="en-US" sz="2200"/>
              <a:t>)</a:t>
            </a:r>
            <a:endParaRPr/>
          </a:p>
          <a:p>
            <a:pPr indent="-342900" lvl="0" marL="342900" rtl="0" algn="just">
              <a:spcBef>
                <a:spcPts val="880"/>
              </a:spcBef>
              <a:spcAft>
                <a:spcPts val="0"/>
              </a:spcAft>
              <a:buSzPts val="1540"/>
              <a:buFont typeface="Noto Sans Symbols"/>
              <a:buNone/>
            </a:pPr>
            <a:r>
              <a:rPr lang="en-US" sz="2200"/>
              <a:t>		Đồng thời thỏa mãn </a:t>
            </a:r>
            <a:r>
              <a:rPr lang="en-US" sz="2200">
                <a:solidFill>
                  <a:srgbClr val="000099"/>
                </a:solidFill>
              </a:rPr>
              <a:t>các Ràng buộc R</a:t>
            </a:r>
            <a:r>
              <a:rPr baseline="-25000" lang="en-US" sz="2200">
                <a:solidFill>
                  <a:srgbClr val="000099"/>
                </a:solidFill>
              </a:rPr>
              <a:t>j</a:t>
            </a:r>
            <a:r>
              <a:rPr lang="en-US" sz="2200"/>
              <a:t>:</a:t>
            </a:r>
            <a:endParaRPr/>
          </a:p>
          <a:p>
            <a:pPr indent="-342900" lvl="0" marL="342900" rtl="0" algn="just">
              <a:spcBef>
                <a:spcPts val="880"/>
              </a:spcBef>
              <a:spcAft>
                <a:spcPts val="0"/>
              </a:spcAft>
              <a:buSzPts val="1540"/>
              <a:buFont typeface="Noto Sans Symbols"/>
              <a:buNone/>
            </a:pPr>
            <a:r>
              <a:rPr lang="en-US" sz="2200"/>
              <a:t>			R</a:t>
            </a:r>
            <a:r>
              <a:rPr baseline="-25000" lang="en-US" sz="2200"/>
              <a:t>j</a:t>
            </a:r>
            <a:r>
              <a:rPr lang="en-US" sz="2200"/>
              <a:t> = r</a:t>
            </a:r>
            <a:r>
              <a:rPr baseline="-25000" lang="en-US" sz="2200"/>
              <a:t>j</a:t>
            </a:r>
            <a:r>
              <a:rPr lang="en-US" sz="2200"/>
              <a:t>(x</a:t>
            </a:r>
            <a:r>
              <a:rPr baseline="-25000" lang="en-US" sz="2200"/>
              <a:t>1</a:t>
            </a:r>
            <a:r>
              <a:rPr lang="en-US" sz="2200"/>
              <a:t>, x</a:t>
            </a:r>
            <a:r>
              <a:rPr baseline="-25000" lang="en-US" sz="2200"/>
              <a:t>2</a:t>
            </a:r>
            <a:r>
              <a:rPr lang="en-US" sz="2200"/>
              <a:t>, …, x</a:t>
            </a:r>
            <a:r>
              <a:rPr baseline="-25000" lang="en-US" sz="2200"/>
              <a:t>n</a:t>
            </a:r>
            <a:r>
              <a:rPr lang="en-US" sz="2200"/>
              <a:t>)</a:t>
            </a:r>
            <a:endParaRPr/>
          </a:p>
          <a:p>
            <a:pPr indent="-342900" lvl="0" marL="342900" rtl="0" algn="just">
              <a:spcBef>
                <a:spcPts val="880"/>
              </a:spcBef>
              <a:spcAft>
                <a:spcPts val="0"/>
              </a:spcAft>
              <a:buSzPts val="1540"/>
              <a:buFont typeface="Noto Sans Symbols"/>
              <a:buNone/>
            </a:pPr>
            <a:r>
              <a:rPr lang="en-US" sz="2200"/>
              <a:t>		Trong đó, </a:t>
            </a:r>
            <a:r>
              <a:rPr b="1" lang="en-US" sz="2200"/>
              <a:t>z</a:t>
            </a:r>
            <a:r>
              <a:rPr lang="en-US" sz="2200"/>
              <a:t> và </a:t>
            </a:r>
            <a:r>
              <a:rPr b="1" lang="en-US" sz="2200"/>
              <a:t>r</a:t>
            </a:r>
            <a:r>
              <a:rPr b="1" baseline="-25000" lang="en-US" sz="2200"/>
              <a:t>j</a:t>
            </a:r>
            <a:r>
              <a:rPr lang="en-US" sz="2200"/>
              <a:t> là biểu thức tuyến tính</a:t>
            </a:r>
            <a:endParaRPr/>
          </a:p>
          <a:p>
            <a:pPr indent="-342900" lvl="0" marL="342900" rtl="0" algn="just">
              <a:spcBef>
                <a:spcPts val="880"/>
              </a:spcBef>
              <a:spcAft>
                <a:spcPts val="0"/>
              </a:spcAft>
              <a:buSzPts val="1540"/>
              <a:buFont typeface="Noto Sans Symbols"/>
              <a:buNone/>
            </a:pPr>
            <a:r>
              <a:rPr lang="en-US" sz="2200"/>
              <a:t>					đối với x</a:t>
            </a:r>
            <a:r>
              <a:rPr baseline="-25000" lang="en-US" sz="2200"/>
              <a:t>1</a:t>
            </a:r>
            <a:r>
              <a:rPr lang="en-US" sz="2200"/>
              <a:t>, x</a:t>
            </a:r>
            <a:r>
              <a:rPr baseline="-25000" lang="en-US" sz="2200"/>
              <a:t>2</a:t>
            </a:r>
            <a:r>
              <a:rPr lang="en-US" sz="2200"/>
              <a:t>, …, x</a:t>
            </a:r>
            <a:r>
              <a:rPr baseline="-25000" lang="en-US" sz="2200"/>
              <a:t>n</a:t>
            </a:r>
            <a:r>
              <a:rPr lang="en-US" sz="2200"/>
              <a:t>.</a:t>
            </a:r>
            <a:endParaRPr/>
          </a:p>
        </p:txBody>
      </p:sp>
      <p:sp>
        <p:nvSpPr>
          <p:cNvPr id="376" name="Google Shape;376;p33"/>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4"/>
          <p:cNvSpPr txBox="1"/>
          <p:nvPr>
            <p:ph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000">
                <a:solidFill>
                  <a:schemeClr val="dk1"/>
                </a:solidFill>
              </a:rPr>
              <a:t>6.2. Quy hoạch tuyến tính</a:t>
            </a:r>
            <a:r>
              <a:rPr i="1" lang="en-US" sz="2000">
                <a:solidFill>
                  <a:schemeClr val="dk1"/>
                </a:solidFill>
              </a:rPr>
              <a:t> (tt)</a:t>
            </a:r>
            <a:br>
              <a:rPr i="1" lang="en-US" sz="2000">
                <a:solidFill>
                  <a:schemeClr val="dk1"/>
                </a:solidFill>
              </a:rPr>
            </a:br>
            <a:r>
              <a:rPr b="0" i="1" lang="en-US" sz="2000">
                <a:solidFill>
                  <a:schemeClr val="dk1"/>
                </a:solidFill>
              </a:rPr>
              <a:t> </a:t>
            </a:r>
            <a:r>
              <a:rPr b="0" lang="en-US" sz="2000">
                <a:solidFill>
                  <a:schemeClr val="dk1"/>
                </a:solidFill>
              </a:rPr>
              <a:t>6.2.1. Giới thiệu BT QHTT </a:t>
            </a:r>
            <a:r>
              <a:rPr b="0" i="1" lang="en-US" sz="2000">
                <a:solidFill>
                  <a:schemeClr val="dk1"/>
                </a:solidFill>
              </a:rPr>
              <a:t>(tt)</a:t>
            </a:r>
            <a:endParaRPr/>
          </a:p>
        </p:txBody>
      </p:sp>
      <p:sp>
        <p:nvSpPr>
          <p:cNvPr id="382" name="Google Shape;382;p34"/>
          <p:cNvSpPr txBox="1"/>
          <p:nvPr>
            <p:ph idx="1" type="body"/>
          </p:nvPr>
        </p:nvSpPr>
        <p:spPr>
          <a:xfrm>
            <a:off x="762000" y="1752600"/>
            <a:ext cx="7696200" cy="44958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1400"/>
              <a:buFont typeface="Noto Sans Symbols"/>
              <a:buNone/>
            </a:pPr>
            <a:r>
              <a:rPr b="1" i="1" lang="en-US" sz="2000" u="sng"/>
              <a:t>Bài toán cực đại:</a:t>
            </a:r>
            <a:endParaRPr sz="2000"/>
          </a:p>
          <a:p>
            <a:pPr indent="-342900" lvl="0" marL="342900" rtl="0" algn="just">
              <a:spcBef>
                <a:spcPts val="400"/>
              </a:spcBef>
              <a:spcAft>
                <a:spcPts val="0"/>
              </a:spcAft>
              <a:buSzPts val="1400"/>
              <a:buFont typeface="Noto Sans Symbols"/>
              <a:buNone/>
            </a:pPr>
            <a:r>
              <a:t/>
            </a:r>
            <a:endParaRPr b="1" sz="2000"/>
          </a:p>
          <a:p>
            <a:pPr indent="-342900" lvl="0" marL="342900" rtl="0" algn="just">
              <a:spcBef>
                <a:spcPts val="360"/>
              </a:spcBef>
              <a:spcAft>
                <a:spcPts val="0"/>
              </a:spcAft>
              <a:buSzPts val="1260"/>
              <a:buFont typeface="Noto Sans Symbols"/>
              <a:buNone/>
            </a:pPr>
            <a:r>
              <a:t/>
            </a:r>
            <a:endParaRPr b="1" sz="1800"/>
          </a:p>
          <a:p>
            <a:pPr indent="-342900" lvl="0" marL="342900" rtl="0" algn="just">
              <a:spcBef>
                <a:spcPts val="320"/>
              </a:spcBef>
              <a:spcAft>
                <a:spcPts val="0"/>
              </a:spcAft>
              <a:buSzPts val="1120"/>
              <a:buFont typeface="Noto Sans Symbols"/>
              <a:buNone/>
            </a:pPr>
            <a:r>
              <a:t/>
            </a:r>
            <a:endParaRPr b="1" sz="1600"/>
          </a:p>
          <a:p>
            <a:pPr indent="-342900" lvl="0" marL="342900" rtl="0" algn="just">
              <a:spcBef>
                <a:spcPts val="320"/>
              </a:spcBef>
              <a:spcAft>
                <a:spcPts val="0"/>
              </a:spcAft>
              <a:buSzPts val="1120"/>
              <a:buFont typeface="Noto Sans Symbols"/>
              <a:buNone/>
            </a:pPr>
            <a:r>
              <a:t/>
            </a:r>
            <a:endParaRPr b="1" sz="1600"/>
          </a:p>
          <a:p>
            <a:pPr indent="-342900" lvl="0" marL="342900" rtl="0" algn="just">
              <a:spcBef>
                <a:spcPts val="320"/>
              </a:spcBef>
              <a:spcAft>
                <a:spcPts val="0"/>
              </a:spcAft>
              <a:buSzPts val="1120"/>
              <a:buFont typeface="Noto Sans Symbols"/>
              <a:buNone/>
            </a:pPr>
            <a:r>
              <a:t/>
            </a:r>
            <a:endParaRPr b="1" sz="1600"/>
          </a:p>
          <a:p>
            <a:pPr indent="-342900" lvl="0" marL="342900" rtl="0" algn="just">
              <a:spcBef>
                <a:spcPts val="320"/>
              </a:spcBef>
              <a:spcAft>
                <a:spcPts val="0"/>
              </a:spcAft>
              <a:buSzPts val="1120"/>
              <a:buFont typeface="Noto Sans Symbols"/>
              <a:buNone/>
            </a:pPr>
            <a:r>
              <a:t/>
            </a:r>
            <a:endParaRPr b="1" sz="1600"/>
          </a:p>
          <a:p>
            <a:pPr indent="-342900" lvl="0" marL="342900" rtl="0" algn="just">
              <a:spcBef>
                <a:spcPts val="320"/>
              </a:spcBef>
              <a:spcAft>
                <a:spcPts val="0"/>
              </a:spcAft>
              <a:buSzPts val="1120"/>
              <a:buFont typeface="Noto Sans Symbols"/>
              <a:buNone/>
            </a:pPr>
            <a:r>
              <a:rPr b="1" lang="en-US" sz="1600"/>
              <a:t>Biến QĐ:</a:t>
            </a:r>
            <a:r>
              <a:rPr lang="en-US" sz="1600"/>
              <a:t> Gọi </a:t>
            </a:r>
            <a:r>
              <a:rPr b="1" lang="en-US" sz="1600"/>
              <a:t>x</a:t>
            </a:r>
            <a:r>
              <a:rPr b="1" baseline="-25000" lang="en-US" sz="1600"/>
              <a:t>1</a:t>
            </a:r>
            <a:r>
              <a:rPr b="1" lang="en-US" sz="1600"/>
              <a:t>, x</a:t>
            </a:r>
            <a:r>
              <a:rPr b="1" baseline="-25000" lang="en-US" sz="1600"/>
              <a:t>2</a:t>
            </a:r>
            <a:r>
              <a:rPr lang="en-US" sz="1600"/>
              <a:t> là số tấn lúa gạo và lúa mì cần sản xuất.</a:t>
            </a:r>
            <a:endParaRPr b="1" sz="1600"/>
          </a:p>
          <a:p>
            <a:pPr indent="-342900" lvl="0" marL="342900" rtl="0" algn="just">
              <a:spcBef>
                <a:spcPts val="320"/>
              </a:spcBef>
              <a:spcAft>
                <a:spcPts val="0"/>
              </a:spcAft>
              <a:buSzPts val="1120"/>
              <a:buFont typeface="Noto Sans Symbols"/>
              <a:buNone/>
            </a:pPr>
            <a:r>
              <a:rPr b="1" lang="en-US" sz="1600"/>
              <a:t>Hàm MT:</a:t>
            </a:r>
            <a:r>
              <a:rPr lang="en-US" sz="1600"/>
              <a:t> Tổng lợi nhuận Max Z = 18 x</a:t>
            </a:r>
            <a:r>
              <a:rPr baseline="-25000" lang="en-US" sz="1600"/>
              <a:t>1</a:t>
            </a:r>
            <a:r>
              <a:rPr lang="en-US" sz="1600"/>
              <a:t> + 21 x</a:t>
            </a:r>
            <a:r>
              <a:rPr baseline="-25000" lang="en-US" sz="1600"/>
              <a:t>2</a:t>
            </a:r>
            <a:endParaRPr b="1" baseline="-25000" sz="1600"/>
          </a:p>
          <a:p>
            <a:pPr indent="-342900" lvl="0" marL="342900" rtl="0" algn="just">
              <a:spcBef>
                <a:spcPts val="320"/>
              </a:spcBef>
              <a:spcAft>
                <a:spcPts val="0"/>
              </a:spcAft>
              <a:buSzPts val="1120"/>
              <a:buFont typeface="Noto Sans Symbols"/>
              <a:buNone/>
            </a:pPr>
            <a:r>
              <a:rPr b="1" lang="en-US" sz="1600"/>
              <a:t>Các Ràng buộc:</a:t>
            </a:r>
            <a:endParaRPr sz="1600"/>
          </a:p>
          <a:p>
            <a:pPr indent="-342900" lvl="0" marL="342900" rtl="0" algn="just">
              <a:spcBef>
                <a:spcPts val="320"/>
              </a:spcBef>
              <a:spcAft>
                <a:spcPts val="0"/>
              </a:spcAft>
              <a:buSzPts val="1120"/>
              <a:buFont typeface="Noto Sans Symbols"/>
              <a:buNone/>
            </a:pPr>
            <a:r>
              <a:t/>
            </a:r>
            <a:endParaRPr b="1" sz="1600"/>
          </a:p>
          <a:p>
            <a:pPr indent="-342900" lvl="0" marL="342900" rtl="0" algn="just">
              <a:spcBef>
                <a:spcPts val="320"/>
              </a:spcBef>
              <a:spcAft>
                <a:spcPts val="0"/>
              </a:spcAft>
              <a:buSzPts val="1120"/>
              <a:buFont typeface="Noto Sans Symbols"/>
              <a:buNone/>
            </a:pPr>
            <a:r>
              <a:t/>
            </a:r>
            <a:endParaRPr b="1" sz="1600"/>
          </a:p>
          <a:p>
            <a:pPr indent="-342900" lvl="0" marL="342900" rtl="0" algn="just">
              <a:spcBef>
                <a:spcPts val="320"/>
              </a:spcBef>
              <a:spcAft>
                <a:spcPts val="0"/>
              </a:spcAft>
              <a:buSzPts val="1120"/>
              <a:buFont typeface="Noto Sans Symbols"/>
              <a:buNone/>
            </a:pPr>
            <a:r>
              <a:t/>
            </a:r>
            <a:endParaRPr b="1" sz="1600"/>
          </a:p>
          <a:p>
            <a:pPr indent="-342900" lvl="0" marL="342900" rtl="0" algn="just">
              <a:spcBef>
                <a:spcPts val="320"/>
              </a:spcBef>
              <a:spcAft>
                <a:spcPts val="0"/>
              </a:spcAft>
              <a:buSzPts val="1120"/>
              <a:buFont typeface="Noto Sans Symbols"/>
              <a:buNone/>
            </a:pPr>
            <a:r>
              <a:t/>
            </a:r>
            <a:endParaRPr b="1" sz="1600"/>
          </a:p>
          <a:p>
            <a:pPr indent="-342900" lvl="0" marL="342900" rtl="0" algn="just">
              <a:spcBef>
                <a:spcPts val="320"/>
              </a:spcBef>
              <a:spcAft>
                <a:spcPts val="0"/>
              </a:spcAft>
              <a:buSzPts val="1120"/>
              <a:buFont typeface="Noto Sans Symbols"/>
              <a:buNone/>
            </a:pPr>
            <a:r>
              <a:rPr b="1" lang="en-US" sz="1600"/>
              <a:t>Dùng phương pháp đồ thị</a:t>
            </a:r>
            <a:r>
              <a:rPr lang="en-US" sz="1600"/>
              <a:t>, để giải BT QHTT. </a:t>
            </a:r>
            <a:r>
              <a:rPr b="1" i="1" lang="en-US" sz="1600" u="sng">
                <a:solidFill>
                  <a:schemeClr val="hlink"/>
                </a:solidFill>
                <a:hlinkClick action="ppaction://hlinksldjump" r:id="rId3"/>
              </a:rPr>
              <a:t>(Slide 42)</a:t>
            </a:r>
            <a:endParaRPr b="1" i="1" sz="1600"/>
          </a:p>
        </p:txBody>
      </p:sp>
      <p:sp>
        <p:nvSpPr>
          <p:cNvPr id="383" name="Google Shape;383;p34"/>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graphicFrame>
        <p:nvGraphicFramePr>
          <p:cNvPr id="384" name="Google Shape;384;p34"/>
          <p:cNvGraphicFramePr/>
          <p:nvPr/>
        </p:nvGraphicFramePr>
        <p:xfrm>
          <a:off x="1835150" y="2268538"/>
          <a:ext cx="3000000" cy="3000000"/>
        </p:xfrm>
        <a:graphic>
          <a:graphicData uri="http://schemas.openxmlformats.org/drawingml/2006/table">
            <a:tbl>
              <a:tblPr>
                <a:noFill/>
                <a:tableStyleId>{9302C292-000E-4312-823E-40D575495FEE}</a:tableStyleId>
              </a:tblPr>
              <a:tblGrid>
                <a:gridCol w="2762250"/>
                <a:gridCol w="1052525"/>
                <a:gridCol w="923925"/>
                <a:gridCol w="2009775"/>
              </a:tblGrid>
              <a:tr h="396175">
                <a:tc>
                  <a:txBody>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Số liệu</a:t>
                      </a:r>
                      <a:endParaRPr/>
                    </a:p>
                  </a:txBody>
                  <a:tcPr marT="45700" marB="45700" marR="91450" marL="91450">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Lúa gạo</a:t>
                      </a:r>
                      <a:endParaRPr b="0" i="0" sz="2000" u="none" cap="none" strike="noStrike">
                        <a:solidFill>
                          <a:schemeClr val="dk1"/>
                        </a:solidFill>
                        <a:latin typeface="Times New Roman"/>
                        <a:ea typeface="Times New Roman"/>
                        <a:cs typeface="Times New Roman"/>
                        <a:sym typeface="Times New Roman"/>
                      </a:endParaRPr>
                    </a:p>
                  </a:txBody>
                  <a:tcPr marT="45700" marB="457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Lúa mì</a:t>
                      </a:r>
                      <a:endParaRPr b="0" i="0" sz="2000" u="none" cap="none" strike="noStrike">
                        <a:solidFill>
                          <a:schemeClr val="dk1"/>
                        </a:solidFill>
                        <a:latin typeface="Times New Roman"/>
                        <a:ea typeface="Times New Roman"/>
                        <a:cs typeface="Times New Roman"/>
                        <a:sym typeface="Times New Roman"/>
                      </a:endParaRPr>
                    </a:p>
                  </a:txBody>
                  <a:tcPr marT="45700" marB="457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Tài nguyên tối đa</a:t>
                      </a:r>
                      <a:endParaRPr b="0" i="0" sz="2000" u="none" cap="none" strike="noStrike">
                        <a:solidFill>
                          <a:schemeClr val="dk1"/>
                        </a:solidFill>
                        <a:latin typeface="Times New Roman"/>
                        <a:ea typeface="Times New Roman"/>
                        <a:cs typeface="Times New Roman"/>
                        <a:sym typeface="Times New Roman"/>
                      </a:endParaRPr>
                    </a:p>
                  </a:txBody>
                  <a:tcPr marT="45700" marB="45700"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254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310400">
                <a:tc>
                  <a:txBody>
                    <a:bodyPr/>
                    <a:lstStyle/>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Diện tích (ha/tấn)</a:t>
                      </a:r>
                      <a:endParaRPr/>
                    </a:p>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Lượng nước (10</a:t>
                      </a:r>
                      <a:r>
                        <a:rPr b="0" baseline="30000" i="0" lang="en-US" sz="2000" u="none" cap="none" strike="noStrike">
                          <a:solidFill>
                            <a:schemeClr val="dk1"/>
                          </a:solidFill>
                          <a:latin typeface="Times New Roman"/>
                          <a:ea typeface="Times New Roman"/>
                          <a:cs typeface="Times New Roman"/>
                          <a:sym typeface="Times New Roman"/>
                        </a:rPr>
                        <a:t>3</a:t>
                      </a:r>
                      <a:r>
                        <a:rPr b="0" i="0" lang="en-US" sz="2000" u="none" cap="none" strike="noStrike">
                          <a:solidFill>
                            <a:schemeClr val="dk1"/>
                          </a:solidFill>
                          <a:latin typeface="Times New Roman"/>
                          <a:ea typeface="Times New Roman"/>
                          <a:cs typeface="Times New Roman"/>
                          <a:sym typeface="Times New Roman"/>
                        </a:rPr>
                        <a:t>m</a:t>
                      </a:r>
                      <a:r>
                        <a:rPr b="0" baseline="30000" i="0" lang="en-US" sz="2000" u="none" cap="none" strike="noStrike">
                          <a:solidFill>
                            <a:schemeClr val="dk1"/>
                          </a:solidFill>
                          <a:latin typeface="Times New Roman"/>
                          <a:ea typeface="Times New Roman"/>
                          <a:cs typeface="Times New Roman"/>
                          <a:sym typeface="Times New Roman"/>
                        </a:rPr>
                        <a:t>3</a:t>
                      </a:r>
                      <a:r>
                        <a:rPr b="0" i="0" lang="en-US" sz="2000" u="none" cap="none" strike="noStrike">
                          <a:solidFill>
                            <a:schemeClr val="dk1"/>
                          </a:solidFill>
                          <a:latin typeface="Times New Roman"/>
                          <a:ea typeface="Times New Roman"/>
                          <a:cs typeface="Times New Roman"/>
                          <a:sym typeface="Times New Roman"/>
                        </a:rPr>
                        <a:t>/tấn)</a:t>
                      </a:r>
                      <a:endParaRPr/>
                    </a:p>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Nhân công (công/tấn)</a:t>
                      </a:r>
                      <a:endParaRPr/>
                    </a:p>
                    <a:p>
                      <a:pPr indent="0" lvl="0" marL="0" marR="0" rtl="0" algn="just">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Lợi nhuận (USD/tấn)</a:t>
                      </a:r>
                      <a:endParaRPr b="0" i="0" sz="2000" u="none" cap="none" strike="noStrike">
                        <a:solidFill>
                          <a:schemeClr val="dk1"/>
                        </a:solidFill>
                        <a:latin typeface="Times New Roman"/>
                        <a:ea typeface="Times New Roman"/>
                        <a:cs typeface="Times New Roman"/>
                        <a:sym typeface="Times New Roman"/>
                      </a:endParaRPr>
                    </a:p>
                  </a:txBody>
                  <a:tcPr marT="45700" marB="45700" marR="91450" marL="91450">
                    <a:lnL cap="flat" cmpd="sng" w="254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2</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6</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20</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18</a:t>
                      </a:r>
                      <a:endParaRPr b="0" i="0" sz="2000" u="none" cap="none" strike="noStrike">
                        <a:solidFill>
                          <a:schemeClr val="dk1"/>
                        </a:solidFill>
                        <a:latin typeface="Times New Roman"/>
                        <a:ea typeface="Times New Roman"/>
                        <a:cs typeface="Times New Roman"/>
                        <a:sym typeface="Times New Roman"/>
                      </a:endParaRPr>
                    </a:p>
                  </a:txBody>
                  <a:tcPr marT="45700" marB="457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3</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4</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5</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21</a:t>
                      </a:r>
                      <a:endParaRPr b="0" i="0" sz="2000" u="none" cap="none" strike="noStrike">
                        <a:solidFill>
                          <a:schemeClr val="dk1"/>
                        </a:solidFill>
                        <a:latin typeface="Times New Roman"/>
                        <a:ea typeface="Times New Roman"/>
                        <a:cs typeface="Times New Roman"/>
                        <a:sym typeface="Times New Roman"/>
                      </a:endParaRPr>
                    </a:p>
                  </a:txBody>
                  <a:tcPr marT="45700" marB="45700"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50</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90</a:t>
                      </a:r>
                      <a:endParaRPr/>
                    </a:p>
                    <a:p>
                      <a:pPr indent="0" lvl="0" marL="0" marR="0" rtl="0" algn="ctr">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250</a:t>
                      </a:r>
                      <a:endParaRPr/>
                    </a:p>
                  </a:txBody>
                  <a:tcPr marT="45700" marB="45700" marR="91450" marL="91450">
                    <a:lnL cap="flat" cmpd="sng" w="12700">
                      <a:solidFill>
                        <a:srgbClr val="000000"/>
                      </a:solidFill>
                      <a:prstDash val="solid"/>
                      <a:round/>
                      <a:headEnd len="sm" w="sm" type="none"/>
                      <a:tailEnd len="sm" w="sm" type="none"/>
                    </a:lnL>
                    <a:lnR cap="flat" cmpd="sng" w="254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25400">
                      <a:solidFill>
                        <a:srgbClr val="000000"/>
                      </a:solidFill>
                      <a:prstDash val="solid"/>
                      <a:round/>
                      <a:headEnd len="sm" w="sm" type="none"/>
                      <a:tailEnd len="sm" w="sm" type="none"/>
                    </a:lnB>
                  </a:tcPr>
                </a:tc>
              </a:tr>
            </a:tbl>
          </a:graphicData>
        </a:graphic>
      </p:graphicFrame>
      <p:graphicFrame>
        <p:nvGraphicFramePr>
          <p:cNvPr id="385" name="Google Shape;385;p34"/>
          <p:cNvGraphicFramePr/>
          <p:nvPr/>
        </p:nvGraphicFramePr>
        <p:xfrm>
          <a:off x="2286000" y="4846638"/>
          <a:ext cx="3000000" cy="3000000"/>
        </p:xfrm>
        <a:graphic>
          <a:graphicData uri="http://schemas.openxmlformats.org/drawingml/2006/table">
            <a:tbl>
              <a:tblPr>
                <a:noFill/>
                <a:tableStyleId>{9302C292-000E-4312-823E-40D575495FEE}</a:tableStyleId>
              </a:tblPr>
              <a:tblGrid>
                <a:gridCol w="1974850"/>
                <a:gridCol w="1035050"/>
                <a:gridCol w="387350"/>
                <a:gridCol w="723900"/>
                <a:gridCol w="320675"/>
                <a:gridCol w="657225"/>
              </a:tblGrid>
              <a:tr h="1249350">
                <a:tc>
                  <a:txBody>
                    <a:bodyPr/>
                    <a:lstStyle/>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Diện tích</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Lượng nước</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Nhân lực</a:t>
                      </a:r>
                      <a:endParaRPr/>
                    </a:p>
                    <a:p>
                      <a:pPr indent="0" lvl="0" marL="0" marR="0" rtl="0" algn="l">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Giá trị của biến</a:t>
                      </a:r>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 x</a:t>
                      </a:r>
                      <a:r>
                        <a:rPr b="0" baseline="-25000" i="0" lang="en-US" sz="1800" u="none" cap="none" strike="noStrike">
                          <a:solidFill>
                            <a:schemeClr val="dk1"/>
                          </a:solidFill>
                          <a:latin typeface="Times New Roman"/>
                          <a:ea typeface="Times New Roman"/>
                          <a:cs typeface="Times New Roman"/>
                          <a:sym typeface="Times New Roman"/>
                        </a:rPr>
                        <a:t>1</a:t>
                      </a:r>
                      <a:endParaRPr b="0" i="0" sz="18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6 x</a:t>
                      </a:r>
                      <a:r>
                        <a:rPr b="0" baseline="-25000" i="0" lang="en-US" sz="1800" u="none" cap="none" strike="noStrike">
                          <a:solidFill>
                            <a:schemeClr val="dk1"/>
                          </a:solidFill>
                          <a:latin typeface="Times New Roman"/>
                          <a:ea typeface="Times New Roman"/>
                          <a:cs typeface="Times New Roman"/>
                          <a:sym typeface="Times New Roman"/>
                        </a:rPr>
                        <a:t>1</a:t>
                      </a:r>
                      <a:endParaRPr b="0" i="0" sz="18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20 x</a:t>
                      </a:r>
                      <a:r>
                        <a:rPr b="0" baseline="-25000" i="0" lang="en-US" sz="1800" u="none" cap="none" strike="noStrike">
                          <a:solidFill>
                            <a:schemeClr val="dk1"/>
                          </a:solidFill>
                          <a:latin typeface="Times New Roman"/>
                          <a:ea typeface="Times New Roman"/>
                          <a:cs typeface="Times New Roman"/>
                          <a:sym typeface="Times New Roman"/>
                        </a:rPr>
                        <a:t>1</a:t>
                      </a:r>
                      <a:endParaRPr b="0" i="0" sz="18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x</a:t>
                      </a:r>
                      <a:r>
                        <a:rPr b="0" baseline="-25000" i="0" lang="en-US" sz="1800" u="none" cap="none" strike="noStrike">
                          <a:solidFill>
                            <a:schemeClr val="dk1"/>
                          </a:solidFill>
                          <a:latin typeface="Times New Roman"/>
                          <a:ea typeface="Times New Roman"/>
                          <a:cs typeface="Times New Roman"/>
                          <a:sym typeface="Times New Roman"/>
                        </a:rPr>
                        <a:t>1</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t>
                      </a:r>
                      <a:endParaRPr/>
                    </a:p>
                    <a:p>
                      <a:pPr indent="0" lvl="0" marL="0" marR="0" rtl="0" algn="just">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t>
                      </a:r>
                      <a:endParaRPr/>
                    </a:p>
                    <a:p>
                      <a:pPr indent="0" lvl="0" marL="0" marR="0" rtl="0" algn="just">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t>
                      </a:r>
                      <a:endParaRPr/>
                    </a:p>
                    <a:p>
                      <a:pPr indent="0" lvl="0" marL="0" marR="0" rtl="0" algn="just">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3 x</a:t>
                      </a:r>
                      <a:r>
                        <a:rPr b="0" baseline="-25000" i="0" lang="en-US" sz="1800" u="none" cap="none" strike="noStrike">
                          <a:solidFill>
                            <a:schemeClr val="dk1"/>
                          </a:solidFill>
                          <a:latin typeface="Times New Roman"/>
                          <a:ea typeface="Times New Roman"/>
                          <a:cs typeface="Times New Roman"/>
                          <a:sym typeface="Times New Roman"/>
                        </a:rPr>
                        <a:t>2</a:t>
                      </a:r>
                      <a:endParaRPr b="0" i="0" sz="18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4 x</a:t>
                      </a:r>
                      <a:r>
                        <a:rPr b="0" baseline="-25000" i="0" lang="en-US" sz="1800" u="none" cap="none" strike="noStrike">
                          <a:solidFill>
                            <a:schemeClr val="dk1"/>
                          </a:solidFill>
                          <a:latin typeface="Times New Roman"/>
                          <a:ea typeface="Times New Roman"/>
                          <a:cs typeface="Times New Roman"/>
                          <a:sym typeface="Times New Roman"/>
                        </a:rPr>
                        <a:t>2</a:t>
                      </a:r>
                      <a:endParaRPr b="0" i="0" sz="18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5 x</a:t>
                      </a:r>
                      <a:r>
                        <a:rPr b="0" baseline="-25000" i="0" lang="en-US" sz="1800" u="none" cap="none" strike="noStrike">
                          <a:solidFill>
                            <a:schemeClr val="dk1"/>
                          </a:solidFill>
                          <a:latin typeface="Times New Roman"/>
                          <a:ea typeface="Times New Roman"/>
                          <a:cs typeface="Times New Roman"/>
                          <a:sym typeface="Times New Roman"/>
                        </a:rPr>
                        <a:t>2</a:t>
                      </a:r>
                      <a:endParaRPr b="0" i="0" sz="1800" u="none" cap="none" strike="noStrike">
                        <a:solidFill>
                          <a:schemeClr val="dk1"/>
                        </a:solidFill>
                        <a:latin typeface="Times New Roman"/>
                        <a:ea typeface="Times New Roman"/>
                        <a:cs typeface="Times New Roman"/>
                        <a:sym typeface="Times New Roman"/>
                      </a:endParaRPr>
                    </a:p>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x</a:t>
                      </a:r>
                      <a:r>
                        <a:rPr b="0" baseline="-25000" i="0" lang="en-US" sz="1800" u="none" cap="none" strike="noStrike">
                          <a:solidFill>
                            <a:schemeClr val="dk1"/>
                          </a:solidFill>
                          <a:latin typeface="Times New Roman"/>
                          <a:ea typeface="Times New Roman"/>
                          <a:cs typeface="Times New Roman"/>
                          <a:sym typeface="Times New Roman"/>
                        </a:rPr>
                        <a:t>2</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just">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p>
                      <a:pPr indent="0" lvl="0" marL="0" marR="0" rtl="0" algn="just">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50</a:t>
                      </a:r>
                      <a:endParaRPr/>
                    </a:p>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90</a:t>
                      </a:r>
                      <a:endParaRPr/>
                    </a:p>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250</a:t>
                      </a:r>
                      <a:endParaRPr/>
                    </a:p>
                    <a:p>
                      <a:pPr indent="0" lvl="0" marL="0" marR="0" rtl="0" algn="r">
                        <a:lnSpc>
                          <a:spcPct val="100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0</a:t>
                      </a:r>
                      <a:endParaRPr b="0" i="0" sz="1800" u="none" cap="none" strike="noStrike">
                        <a:solidFill>
                          <a:schemeClr val="dk1"/>
                        </a:solidFill>
                        <a:latin typeface="Times New Roman"/>
                        <a:ea typeface="Times New Roman"/>
                        <a:cs typeface="Times New Roman"/>
                        <a:sym typeface="Times New Roman"/>
                      </a:endParaRPr>
                    </a:p>
                  </a:txBody>
                  <a:tcPr marT="45725" marB="45725" marR="91450" marL="914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transition>
    <p:push dir="r"/>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5"/>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000">
                <a:solidFill>
                  <a:schemeClr val="dk1"/>
                </a:solidFill>
              </a:rPr>
              <a:t>6.2. Quy hoạch tuyến tính</a:t>
            </a:r>
            <a:r>
              <a:rPr i="1" lang="en-US" sz="2000">
                <a:solidFill>
                  <a:schemeClr val="dk1"/>
                </a:solidFill>
              </a:rPr>
              <a:t> (tt)</a:t>
            </a:r>
            <a:br>
              <a:rPr i="1" lang="en-US" sz="2000">
                <a:solidFill>
                  <a:schemeClr val="dk1"/>
                </a:solidFill>
              </a:rPr>
            </a:br>
            <a:r>
              <a:rPr b="0" i="1" lang="en-US" sz="2000">
                <a:solidFill>
                  <a:schemeClr val="dk1"/>
                </a:solidFill>
              </a:rPr>
              <a:t> </a:t>
            </a:r>
            <a:r>
              <a:rPr b="0" lang="en-US" sz="2000">
                <a:solidFill>
                  <a:schemeClr val="dk1"/>
                </a:solidFill>
              </a:rPr>
              <a:t>6.2.1. Giới thiệu BT QHTT </a:t>
            </a:r>
            <a:r>
              <a:rPr b="0" i="1" lang="en-US" sz="2000">
                <a:solidFill>
                  <a:schemeClr val="dk1"/>
                </a:solidFill>
              </a:rPr>
              <a:t>(tt)</a:t>
            </a:r>
            <a:endParaRPr/>
          </a:p>
        </p:txBody>
      </p:sp>
      <p:sp>
        <p:nvSpPr>
          <p:cNvPr id="391" name="Google Shape;391;p35"/>
          <p:cNvSpPr txBox="1"/>
          <p:nvPr>
            <p:ph idx="4294967295"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1400"/>
              <a:buFont typeface="Noto Sans Symbols"/>
              <a:buNone/>
            </a:pPr>
            <a:r>
              <a:rPr b="1" i="1" lang="en-US" sz="2000" u="sng"/>
              <a:t>Bài toán cực tiểu:</a:t>
            </a:r>
            <a:endParaRPr/>
          </a:p>
          <a:p>
            <a:pPr indent="-342900" lvl="0" marL="342900" rtl="0" algn="just">
              <a:lnSpc>
                <a:spcPct val="110000"/>
              </a:lnSpc>
              <a:spcBef>
                <a:spcPts val="700"/>
              </a:spcBef>
              <a:spcAft>
                <a:spcPts val="0"/>
              </a:spcAft>
              <a:buSzPts val="1400"/>
              <a:buFont typeface="Noto Sans Symbols"/>
              <a:buNone/>
            </a:pPr>
            <a:r>
              <a:rPr lang="en-US" sz="2000"/>
              <a:t>	Một nhà QL trại gà dự định mua 2 loại thức ăn để trộn ra khẩu phần tốt và giá rẻ.</a:t>
            </a:r>
            <a:endParaRPr/>
          </a:p>
          <a:p>
            <a:pPr indent="-342900" lvl="0" marL="342900" rtl="0" algn="just">
              <a:lnSpc>
                <a:spcPct val="110000"/>
              </a:lnSpc>
              <a:spcBef>
                <a:spcPts val="700"/>
              </a:spcBef>
              <a:spcAft>
                <a:spcPts val="0"/>
              </a:spcAft>
              <a:buSzPts val="1400"/>
              <a:buFont typeface="Noto Sans Symbols"/>
              <a:buNone/>
            </a:pPr>
            <a:r>
              <a:rPr lang="en-US" sz="2000"/>
              <a:t>	Mỗi đơn vị thức ăn loại 1 giá 2 đồng có chứa: 5g thành phần A; 	4g thành phần B; 	0,5g thành phần C</a:t>
            </a:r>
            <a:endParaRPr/>
          </a:p>
          <a:p>
            <a:pPr indent="-342900" lvl="0" marL="342900" rtl="0" algn="just">
              <a:lnSpc>
                <a:spcPct val="110000"/>
              </a:lnSpc>
              <a:spcBef>
                <a:spcPts val="700"/>
              </a:spcBef>
              <a:spcAft>
                <a:spcPts val="0"/>
              </a:spcAft>
              <a:buSzPts val="1400"/>
              <a:buFont typeface="Noto Sans Symbols"/>
              <a:buNone/>
            </a:pPr>
            <a:r>
              <a:rPr lang="en-US" sz="2000"/>
              <a:t>	Mỗi đơn vị thức ăn loại 2 giá 3 đồng có chứa: 10g thành phần A;</a:t>
            </a:r>
            <a:endParaRPr/>
          </a:p>
          <a:p>
            <a:pPr indent="-342900" lvl="0" marL="342900" rtl="0" algn="just">
              <a:lnSpc>
                <a:spcPct val="110000"/>
              </a:lnSpc>
              <a:spcBef>
                <a:spcPts val="700"/>
              </a:spcBef>
              <a:spcAft>
                <a:spcPts val="0"/>
              </a:spcAft>
              <a:buSzPts val="1400"/>
              <a:buFont typeface="Noto Sans Symbols"/>
              <a:buNone/>
            </a:pPr>
            <a:r>
              <a:rPr lang="en-US" sz="2000"/>
              <a:t>		3g thành phần B;  không có chứa thành phần C.</a:t>
            </a:r>
            <a:endParaRPr/>
          </a:p>
          <a:p>
            <a:pPr indent="-342900" lvl="0" marL="342900" rtl="0" algn="just">
              <a:lnSpc>
                <a:spcPct val="110000"/>
              </a:lnSpc>
              <a:spcBef>
                <a:spcPts val="700"/>
              </a:spcBef>
              <a:spcAft>
                <a:spcPts val="0"/>
              </a:spcAft>
              <a:buSzPts val="1400"/>
              <a:buFont typeface="Noto Sans Symbols"/>
              <a:buNone/>
            </a:pPr>
            <a:r>
              <a:rPr lang="en-US" sz="2000"/>
              <a:t>	Trong 1 tháng, 1 con gà cần tối thiểu 90g thành phần A, 48g thành phần B và 1,5g thành phần C.</a:t>
            </a:r>
            <a:endParaRPr/>
          </a:p>
          <a:p>
            <a:pPr indent="-342900" lvl="0" marL="342900" rtl="0" algn="just">
              <a:lnSpc>
                <a:spcPct val="110000"/>
              </a:lnSpc>
              <a:spcBef>
                <a:spcPts val="700"/>
              </a:spcBef>
              <a:spcAft>
                <a:spcPts val="0"/>
              </a:spcAft>
              <a:buSzPts val="1400"/>
              <a:buFont typeface="Noto Sans Symbols"/>
              <a:buNone/>
            </a:pPr>
            <a:r>
              <a:rPr lang="en-US" sz="2000"/>
              <a:t>	Hãy tìm số lượng mỗi loại thức ăn cần mua để có đảm bảo đủ nhu cầu tối thiểu về dinh dưỡng cho 1 con gà với giá rẻ nhất.</a:t>
            </a:r>
            <a:endParaRPr/>
          </a:p>
        </p:txBody>
      </p:sp>
      <p:sp>
        <p:nvSpPr>
          <p:cNvPr id="392" name="Google Shape;392;p35"/>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6"/>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000">
                <a:solidFill>
                  <a:schemeClr val="dk1"/>
                </a:solidFill>
              </a:rPr>
              <a:t>6.2. Quy hoạch tuyến tính</a:t>
            </a:r>
            <a:r>
              <a:rPr i="1" lang="en-US" sz="2000">
                <a:solidFill>
                  <a:schemeClr val="dk1"/>
                </a:solidFill>
              </a:rPr>
              <a:t> (tt)</a:t>
            </a:r>
            <a:br>
              <a:rPr i="1" lang="en-US" sz="2000">
                <a:solidFill>
                  <a:schemeClr val="dk1"/>
                </a:solidFill>
              </a:rPr>
            </a:br>
            <a:r>
              <a:rPr b="0" i="1" lang="en-US" sz="2000">
                <a:solidFill>
                  <a:schemeClr val="dk1"/>
                </a:solidFill>
              </a:rPr>
              <a:t> </a:t>
            </a:r>
            <a:r>
              <a:rPr b="0" lang="en-US" sz="2000">
                <a:solidFill>
                  <a:schemeClr val="dk1"/>
                </a:solidFill>
              </a:rPr>
              <a:t>6.2.1. Giới thiệu BT QHTT </a:t>
            </a:r>
            <a:r>
              <a:rPr b="0" i="1" lang="en-US" sz="2000">
                <a:solidFill>
                  <a:schemeClr val="dk1"/>
                </a:solidFill>
              </a:rPr>
              <a:t>(tt)</a:t>
            </a:r>
            <a:endParaRPr/>
          </a:p>
        </p:txBody>
      </p:sp>
      <p:sp>
        <p:nvSpPr>
          <p:cNvPr id="398" name="Google Shape;398;p36"/>
          <p:cNvSpPr txBox="1"/>
          <p:nvPr>
            <p:ph idx="4294967295"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1400"/>
              <a:buFont typeface="Noto Sans Symbols"/>
              <a:buNone/>
            </a:pPr>
            <a:r>
              <a:rPr b="1" i="1" lang="en-US" sz="2000" u="sng"/>
              <a:t>Giải:</a:t>
            </a:r>
            <a:r>
              <a:rPr lang="en-US" sz="2000"/>
              <a:t>   (</a:t>
            </a:r>
            <a:r>
              <a:rPr b="1" lang="en-US" sz="2000" u="sng">
                <a:solidFill>
                  <a:schemeClr val="hlink"/>
                </a:solidFill>
                <a:hlinkClick action="ppaction://hlinksldjump" r:id="rId3"/>
              </a:rPr>
              <a:t>Slide 44</a:t>
            </a:r>
            <a:r>
              <a:rPr lang="en-US" sz="2000"/>
              <a:t>)</a:t>
            </a:r>
            <a:endParaRPr b="1" i="1" sz="2000" u="sng"/>
          </a:p>
          <a:p>
            <a:pPr indent="-342900" lvl="0" marL="342900" rtl="0" algn="just">
              <a:spcBef>
                <a:spcPts val="400"/>
              </a:spcBef>
              <a:spcAft>
                <a:spcPts val="0"/>
              </a:spcAft>
              <a:buSzPts val="1400"/>
              <a:buFont typeface="Noto Sans Symbols"/>
              <a:buNone/>
            </a:pPr>
            <a:r>
              <a:rPr lang="en-US" sz="2000">
                <a:solidFill>
                  <a:srgbClr val="000099"/>
                </a:solidFill>
              </a:rPr>
              <a:t>	</a:t>
            </a:r>
            <a:r>
              <a:rPr b="1" lang="en-US" sz="2000" u="sng">
                <a:solidFill>
                  <a:srgbClr val="000099"/>
                </a:solidFill>
              </a:rPr>
              <a:t>B1:</a:t>
            </a:r>
            <a:r>
              <a:rPr lang="en-US" sz="2000">
                <a:solidFill>
                  <a:srgbClr val="000099"/>
                </a:solidFill>
              </a:rPr>
              <a:t> Xác định Biến QĐ</a:t>
            </a:r>
            <a:endParaRPr/>
          </a:p>
          <a:p>
            <a:pPr indent="-342900" lvl="0" marL="342900" rtl="0" algn="just">
              <a:spcBef>
                <a:spcPts val="400"/>
              </a:spcBef>
              <a:spcAft>
                <a:spcPts val="0"/>
              </a:spcAft>
              <a:buSzPts val="1400"/>
              <a:buFont typeface="Noto Sans Symbols"/>
              <a:buNone/>
            </a:pPr>
            <a:r>
              <a:rPr lang="en-US" sz="2000"/>
              <a:t>	Gọi </a:t>
            </a:r>
            <a:r>
              <a:rPr b="1" lang="en-US" sz="2000"/>
              <a:t>x</a:t>
            </a:r>
            <a:r>
              <a:rPr b="1" baseline="-25000" lang="en-US" sz="2000"/>
              <a:t>1</a:t>
            </a:r>
            <a:r>
              <a:rPr b="1" lang="en-US" sz="2000"/>
              <a:t>, x</a:t>
            </a:r>
            <a:r>
              <a:rPr b="1" baseline="-25000" lang="en-US" sz="2000"/>
              <a:t>2</a:t>
            </a:r>
            <a:r>
              <a:rPr lang="en-US" sz="2000"/>
              <a:t> lần lượt là số lượng đơn vị thực phẩm loại 1 và loại 2 cần cho 1 con gà trong 1 tháng.</a:t>
            </a:r>
            <a:endParaRPr/>
          </a:p>
          <a:p>
            <a:pPr indent="-342900" lvl="0" marL="342900" rtl="0" algn="just">
              <a:spcBef>
                <a:spcPts val="400"/>
              </a:spcBef>
              <a:spcAft>
                <a:spcPts val="0"/>
              </a:spcAft>
              <a:buSzPts val="1400"/>
              <a:buFont typeface="Noto Sans Symbols"/>
              <a:buNone/>
            </a:pPr>
            <a:r>
              <a:rPr lang="en-US" sz="2000">
                <a:solidFill>
                  <a:schemeClr val="folHlink"/>
                </a:solidFill>
              </a:rPr>
              <a:t>	</a:t>
            </a:r>
            <a:r>
              <a:rPr b="1" lang="en-US" sz="2000" u="sng">
                <a:solidFill>
                  <a:schemeClr val="folHlink"/>
                </a:solidFill>
              </a:rPr>
              <a:t>B2:</a:t>
            </a:r>
            <a:r>
              <a:rPr lang="en-US" sz="2000">
                <a:solidFill>
                  <a:schemeClr val="folHlink"/>
                </a:solidFill>
              </a:rPr>
              <a:t> Xác định Hàm MT</a:t>
            </a:r>
            <a:endParaRPr/>
          </a:p>
          <a:p>
            <a:pPr indent="-342900" lvl="0" marL="342900" rtl="0" algn="just">
              <a:spcBef>
                <a:spcPts val="400"/>
              </a:spcBef>
              <a:spcAft>
                <a:spcPts val="0"/>
              </a:spcAft>
              <a:buSzPts val="1400"/>
              <a:buFont typeface="Noto Sans Symbols"/>
              <a:buNone/>
            </a:pPr>
            <a:r>
              <a:rPr lang="en-US" sz="2000"/>
              <a:t>	Hàm MT của BT này là </a:t>
            </a:r>
            <a:r>
              <a:rPr b="1" lang="en-US" sz="2000"/>
              <a:t>cực tiểu giá mua</a:t>
            </a:r>
            <a:endParaRPr/>
          </a:p>
          <a:p>
            <a:pPr indent="-342900" lvl="0" marL="342900" rtl="0" algn="just">
              <a:spcBef>
                <a:spcPts val="400"/>
              </a:spcBef>
              <a:spcAft>
                <a:spcPts val="0"/>
              </a:spcAft>
              <a:buSzPts val="1400"/>
              <a:buFont typeface="Noto Sans Symbols"/>
              <a:buNone/>
            </a:pPr>
            <a:r>
              <a:rPr lang="en-US" sz="2000"/>
              <a:t>			Min Z = 2x</a:t>
            </a:r>
            <a:r>
              <a:rPr baseline="-25000" lang="en-US" sz="2000"/>
              <a:t>1</a:t>
            </a:r>
            <a:r>
              <a:rPr lang="en-US" sz="2000"/>
              <a:t> + 3x</a:t>
            </a:r>
            <a:r>
              <a:rPr baseline="-25000" lang="en-US" sz="2000"/>
              <a:t>2</a:t>
            </a:r>
            <a:r>
              <a:rPr lang="en-US" sz="2000"/>
              <a:t> </a:t>
            </a:r>
            <a:endParaRPr/>
          </a:p>
          <a:p>
            <a:pPr indent="-342900" lvl="0" marL="342900" rtl="0" algn="just">
              <a:spcBef>
                <a:spcPts val="400"/>
              </a:spcBef>
              <a:spcAft>
                <a:spcPts val="0"/>
              </a:spcAft>
              <a:buSzPts val="1400"/>
              <a:buFont typeface="Noto Sans Symbols"/>
              <a:buNone/>
            </a:pPr>
            <a:r>
              <a:rPr lang="en-US" sz="2000">
                <a:solidFill>
                  <a:srgbClr val="000099"/>
                </a:solidFill>
              </a:rPr>
              <a:t>	</a:t>
            </a:r>
            <a:r>
              <a:rPr b="1" lang="en-US" sz="2000" u="sng">
                <a:solidFill>
                  <a:srgbClr val="000099"/>
                </a:solidFill>
              </a:rPr>
              <a:t>B3:</a:t>
            </a:r>
            <a:r>
              <a:rPr lang="en-US" sz="2000">
                <a:solidFill>
                  <a:srgbClr val="000099"/>
                </a:solidFill>
              </a:rPr>
              <a:t> Xác định các Ràng buộc</a:t>
            </a:r>
            <a:endParaRPr/>
          </a:p>
          <a:p>
            <a:pPr indent="-342900" lvl="0" marL="342900" rtl="0" algn="just">
              <a:spcBef>
                <a:spcPts val="400"/>
              </a:spcBef>
              <a:spcAft>
                <a:spcPts val="0"/>
              </a:spcAft>
              <a:buSzPts val="1400"/>
              <a:buFont typeface="Noto Sans Symbols"/>
              <a:buNone/>
            </a:pPr>
            <a:r>
              <a:rPr lang="en-US" sz="2000"/>
              <a:t>			Thành phần A:	5x</a:t>
            </a:r>
            <a:r>
              <a:rPr baseline="-25000" lang="en-US" sz="2000"/>
              <a:t>1</a:t>
            </a:r>
            <a:r>
              <a:rPr lang="en-US" sz="2000"/>
              <a:t> + 10x</a:t>
            </a:r>
            <a:r>
              <a:rPr baseline="-25000" lang="en-US" sz="2000"/>
              <a:t>2</a:t>
            </a:r>
            <a:r>
              <a:rPr lang="en-US" sz="2000"/>
              <a:t>  ≥  90</a:t>
            </a:r>
            <a:endParaRPr/>
          </a:p>
          <a:p>
            <a:pPr indent="-342900" lvl="0" marL="342900" rtl="0" algn="just">
              <a:spcBef>
                <a:spcPts val="400"/>
              </a:spcBef>
              <a:spcAft>
                <a:spcPts val="0"/>
              </a:spcAft>
              <a:buSzPts val="1400"/>
              <a:buFont typeface="Noto Sans Symbols"/>
              <a:buNone/>
            </a:pPr>
            <a:r>
              <a:rPr lang="en-US" sz="2000"/>
              <a:t>			Thành phần B:	4x</a:t>
            </a:r>
            <a:r>
              <a:rPr baseline="-25000" lang="en-US" sz="2000"/>
              <a:t>1</a:t>
            </a:r>
            <a:r>
              <a:rPr lang="en-US" sz="2000"/>
              <a:t> + 3x</a:t>
            </a:r>
            <a:r>
              <a:rPr baseline="-25000" lang="en-US" sz="2000"/>
              <a:t>2</a:t>
            </a:r>
            <a:r>
              <a:rPr lang="en-US" sz="2000"/>
              <a:t> ≥ 48</a:t>
            </a:r>
            <a:endParaRPr/>
          </a:p>
          <a:p>
            <a:pPr indent="-342900" lvl="0" marL="342900" rtl="0" algn="just">
              <a:spcBef>
                <a:spcPts val="400"/>
              </a:spcBef>
              <a:spcAft>
                <a:spcPts val="0"/>
              </a:spcAft>
              <a:buSzPts val="1400"/>
              <a:buFont typeface="Noto Sans Symbols"/>
              <a:buNone/>
            </a:pPr>
            <a:r>
              <a:rPr lang="en-US" sz="2000"/>
              <a:t>			Thành phần C:	0.5x</a:t>
            </a:r>
            <a:r>
              <a:rPr baseline="-25000" lang="en-US" sz="2000"/>
              <a:t>1</a:t>
            </a:r>
            <a:r>
              <a:rPr lang="en-US" sz="2000"/>
              <a:t> ≥ 1,5</a:t>
            </a:r>
            <a:endParaRPr/>
          </a:p>
          <a:p>
            <a:pPr indent="-342900" lvl="0" marL="342900" rtl="0" algn="just">
              <a:spcBef>
                <a:spcPts val="400"/>
              </a:spcBef>
              <a:spcAft>
                <a:spcPts val="0"/>
              </a:spcAft>
              <a:buSzPts val="1400"/>
              <a:buFont typeface="Noto Sans Symbols"/>
              <a:buNone/>
            </a:pPr>
            <a:r>
              <a:rPr lang="en-US" sz="2000"/>
              <a:t>			Các biến dương:	x</a:t>
            </a:r>
            <a:r>
              <a:rPr baseline="-25000" lang="en-US" sz="2000"/>
              <a:t>1</a:t>
            </a:r>
            <a:r>
              <a:rPr lang="en-US" sz="2000"/>
              <a:t>, x</a:t>
            </a:r>
            <a:r>
              <a:rPr baseline="-25000" lang="en-US" sz="2000"/>
              <a:t>2</a:t>
            </a:r>
            <a:r>
              <a:rPr lang="en-US" sz="2000"/>
              <a:t> ≥ 0</a:t>
            </a:r>
            <a:endParaRPr/>
          </a:p>
        </p:txBody>
      </p:sp>
      <p:sp>
        <p:nvSpPr>
          <p:cNvPr id="399" name="Google Shape;399;p36"/>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7"/>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6. RQĐ theo mô hình toán trong PPĐL </a:t>
            </a:r>
            <a:r>
              <a:rPr b="0" i="1" lang="en-US"/>
              <a:t>(tt)</a:t>
            </a:r>
            <a:br>
              <a:rPr b="0" i="1" lang="en-US"/>
            </a:br>
            <a:r>
              <a:rPr lang="en-US" sz="2400">
                <a:solidFill>
                  <a:schemeClr val="dk1"/>
                </a:solidFill>
              </a:rPr>
              <a:t>6.2. Quy hoạch tuyến tính</a:t>
            </a:r>
            <a:r>
              <a:rPr i="1" lang="en-US" sz="2400">
                <a:solidFill>
                  <a:schemeClr val="dk1"/>
                </a:solidFill>
              </a:rPr>
              <a:t> (tt)</a:t>
            </a:r>
            <a:endParaRPr/>
          </a:p>
        </p:txBody>
      </p:sp>
      <p:sp>
        <p:nvSpPr>
          <p:cNvPr id="405" name="Google Shape;405;p37"/>
          <p:cNvSpPr txBox="1"/>
          <p:nvPr>
            <p:ph idx="4294967295" type="body"/>
          </p:nvPr>
        </p:nvSpPr>
        <p:spPr>
          <a:xfrm>
            <a:off x="609600" y="1752600"/>
            <a:ext cx="7696200" cy="4038600"/>
          </a:xfrm>
          <a:prstGeom prst="rect">
            <a:avLst/>
          </a:prstGeom>
          <a:noFill/>
          <a:ln>
            <a:noFill/>
          </a:ln>
        </p:spPr>
        <p:txBody>
          <a:bodyPr anchorCtr="0" anchor="t" bIns="45700" lIns="91425" spcFirstLastPara="1" rIns="91425" wrap="square" tIns="45700">
            <a:noAutofit/>
          </a:bodyPr>
          <a:lstStyle/>
          <a:p>
            <a:pPr indent="-590550" lvl="0" marL="590550" rtl="0" algn="just">
              <a:spcBef>
                <a:spcPts val="0"/>
              </a:spcBef>
              <a:spcAft>
                <a:spcPts val="0"/>
              </a:spcAft>
              <a:buSzPts val="1400"/>
              <a:buFont typeface="Noto Sans Symbols"/>
              <a:buNone/>
            </a:pPr>
            <a:r>
              <a:rPr b="1" lang="en-US" sz="2000"/>
              <a:t>6.2.2. Mô hình tổng quát của bài toán QHTT:</a:t>
            </a:r>
            <a:endParaRPr/>
          </a:p>
          <a:p>
            <a:pPr indent="-590550" lvl="0" marL="590550" rtl="0" algn="just">
              <a:spcBef>
                <a:spcPts val="400"/>
              </a:spcBef>
              <a:spcAft>
                <a:spcPts val="0"/>
              </a:spcAft>
              <a:buSzPts val="1400"/>
              <a:buFont typeface="Noto Sans Symbols"/>
              <a:buNone/>
            </a:pPr>
            <a:r>
              <a:rPr b="1" lang="en-US" sz="2000">
                <a:solidFill>
                  <a:srgbClr val="000099"/>
                </a:solidFill>
              </a:rPr>
              <a:t>a. Bài toán cực đại:</a:t>
            </a:r>
            <a:endParaRPr/>
          </a:p>
          <a:p>
            <a:pPr indent="-590550" lvl="0" marL="590550" rtl="0" algn="just">
              <a:spcBef>
                <a:spcPts val="400"/>
              </a:spcBef>
              <a:spcAft>
                <a:spcPts val="0"/>
              </a:spcAft>
              <a:buSzPts val="1400"/>
              <a:buFont typeface="Noto Sans Symbols"/>
              <a:buNone/>
            </a:pPr>
            <a:r>
              <a:t/>
            </a:r>
            <a:endParaRPr b="1" sz="2000"/>
          </a:p>
        </p:txBody>
      </p:sp>
      <p:sp>
        <p:nvSpPr>
          <p:cNvPr id="406" name="Google Shape;406;p37"/>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407" name="Google Shape;407;p37"/>
          <p:cNvPicPr preferRelativeResize="0"/>
          <p:nvPr/>
        </p:nvPicPr>
        <p:blipFill rotWithShape="1">
          <a:blip r:embed="rId3">
            <a:alphaModFix/>
          </a:blip>
          <a:srcRect b="0" l="0" r="0" t="0"/>
          <a:stretch/>
        </p:blipFill>
        <p:spPr>
          <a:xfrm>
            <a:off x="76200" y="3733800"/>
            <a:ext cx="6019800" cy="3048000"/>
          </a:xfrm>
          <a:prstGeom prst="rect">
            <a:avLst/>
          </a:prstGeom>
          <a:noFill/>
          <a:ln cap="flat" cmpd="sng" w="28575">
            <a:solidFill>
              <a:srgbClr val="FF66FF"/>
            </a:solidFill>
            <a:prstDash val="solid"/>
            <a:miter lim="800000"/>
            <a:headEnd len="sm" w="sm" type="none"/>
            <a:tailEnd len="sm" w="sm" type="none"/>
          </a:ln>
        </p:spPr>
      </p:pic>
      <p:pic>
        <p:nvPicPr>
          <p:cNvPr id="408" name="Google Shape;408;p37"/>
          <p:cNvPicPr preferRelativeResize="0"/>
          <p:nvPr/>
        </p:nvPicPr>
        <p:blipFill rotWithShape="1">
          <a:blip r:embed="rId4">
            <a:alphaModFix/>
          </a:blip>
          <a:srcRect b="0" l="0" r="0" t="0"/>
          <a:stretch/>
        </p:blipFill>
        <p:spPr>
          <a:xfrm>
            <a:off x="2819400" y="2092325"/>
            <a:ext cx="6253163" cy="3165475"/>
          </a:xfrm>
          <a:prstGeom prst="rect">
            <a:avLst/>
          </a:prstGeom>
          <a:noFill/>
          <a:ln cap="flat" cmpd="sng" w="28575">
            <a:solidFill>
              <a:schemeClr val="hlink"/>
            </a:solidFill>
            <a:prstDash val="solid"/>
            <a:miter lim="800000"/>
            <a:headEnd len="sm" w="sm" type="none"/>
            <a:tailEnd len="sm" w="sm" type="none"/>
          </a:ln>
        </p:spPr>
      </p:pic>
      <p:pic>
        <p:nvPicPr>
          <p:cNvPr id="409" name="Google Shape;409;p37"/>
          <p:cNvPicPr preferRelativeResize="0"/>
          <p:nvPr/>
        </p:nvPicPr>
        <p:blipFill rotWithShape="1">
          <a:blip r:embed="rId5">
            <a:alphaModFix/>
          </a:blip>
          <a:srcRect b="0" l="0" r="0" t="0"/>
          <a:stretch/>
        </p:blipFill>
        <p:spPr>
          <a:xfrm>
            <a:off x="6172200" y="5753100"/>
            <a:ext cx="2895600" cy="1028700"/>
          </a:xfrm>
          <a:prstGeom prst="rect">
            <a:avLst/>
          </a:prstGeom>
          <a:noFill/>
          <a:ln cap="flat" cmpd="sng" w="28575">
            <a:solidFill>
              <a:schemeClr val="accent1"/>
            </a:solidFill>
            <a:prstDash val="solid"/>
            <a:miter lim="800000"/>
            <a:headEnd len="sm" w="sm" type="none"/>
            <a:tailEnd len="sm" w="sm" type="none"/>
          </a:ln>
        </p:spPr>
      </p:pic>
      <p:sp>
        <p:nvSpPr>
          <p:cNvPr id="410" name="Google Shape;410;p37"/>
          <p:cNvSpPr txBox="1"/>
          <p:nvPr/>
        </p:nvSpPr>
        <p:spPr>
          <a:xfrm>
            <a:off x="6232525" y="5334000"/>
            <a:ext cx="17780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2"/>
                </a:solidFill>
                <a:latin typeface="Times New Roman"/>
                <a:ea typeface="Times New Roman"/>
                <a:cs typeface="Times New Roman"/>
                <a:sym typeface="Times New Roman"/>
              </a:rPr>
              <a:t>Dạng ma trận:</a:t>
            </a:r>
            <a:endParaRPr/>
          </a:p>
        </p:txBody>
      </p:sp>
    </p:spTree>
  </p:cSld>
  <p:clrMapOvr>
    <a:masterClrMapping/>
  </p:clrMapOvr>
  <p:transition>
    <p:push dir="r"/>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8"/>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000">
                <a:solidFill>
                  <a:schemeClr val="dk1"/>
                </a:solidFill>
              </a:rPr>
              <a:t>6.2. Quy hoạch tuyến tính</a:t>
            </a:r>
            <a:r>
              <a:rPr i="1" lang="en-US" sz="2000">
                <a:solidFill>
                  <a:schemeClr val="dk1"/>
                </a:solidFill>
              </a:rPr>
              <a:t> (tt)</a:t>
            </a:r>
            <a:br>
              <a:rPr i="1" lang="en-US" sz="2000">
                <a:solidFill>
                  <a:schemeClr val="dk1"/>
                </a:solidFill>
              </a:rPr>
            </a:br>
            <a:r>
              <a:rPr b="0" i="1" lang="en-US" sz="2000">
                <a:solidFill>
                  <a:schemeClr val="dk1"/>
                </a:solidFill>
              </a:rPr>
              <a:t> </a:t>
            </a:r>
            <a:r>
              <a:rPr b="0" lang="en-US" sz="2000">
                <a:solidFill>
                  <a:schemeClr val="dk1"/>
                </a:solidFill>
              </a:rPr>
              <a:t>6.2.2. Mô hình tổng quát của bài toán QHTT </a:t>
            </a:r>
            <a:r>
              <a:rPr b="0" i="1" lang="en-US" sz="2000">
                <a:solidFill>
                  <a:schemeClr val="dk1"/>
                </a:solidFill>
              </a:rPr>
              <a:t>(tt)</a:t>
            </a:r>
            <a:endParaRPr/>
          </a:p>
        </p:txBody>
      </p:sp>
      <p:sp>
        <p:nvSpPr>
          <p:cNvPr id="416" name="Google Shape;416;p38"/>
          <p:cNvSpPr txBox="1"/>
          <p:nvPr>
            <p:ph idx="4294967295" type="body"/>
          </p:nvPr>
        </p:nvSpPr>
        <p:spPr>
          <a:xfrm>
            <a:off x="762000" y="1905000"/>
            <a:ext cx="7696200" cy="40386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1400"/>
              <a:buFont typeface="Noto Sans Symbols"/>
              <a:buNone/>
            </a:pPr>
            <a:r>
              <a:rPr b="1" lang="en-US" sz="2000">
                <a:solidFill>
                  <a:srgbClr val="000099"/>
                </a:solidFill>
              </a:rPr>
              <a:t>a. Bài toán cực đại:</a:t>
            </a:r>
            <a:r>
              <a:rPr i="1" lang="en-US" sz="2000">
                <a:solidFill>
                  <a:srgbClr val="000099"/>
                </a:solidFill>
              </a:rPr>
              <a:t> (tt)</a:t>
            </a:r>
            <a:endParaRPr i="1" sz="2000"/>
          </a:p>
          <a:p>
            <a:pPr indent="-342900" lvl="0" marL="342900" rtl="0" algn="just">
              <a:spcBef>
                <a:spcPts val="400"/>
              </a:spcBef>
              <a:spcAft>
                <a:spcPts val="0"/>
              </a:spcAft>
              <a:buSzPts val="1400"/>
              <a:buChar char="●"/>
            </a:pPr>
            <a:r>
              <a:rPr b="1" lang="en-US" sz="2000"/>
              <a:t>Dạng ma trận</a:t>
            </a:r>
            <a:endParaRPr/>
          </a:p>
        </p:txBody>
      </p:sp>
      <p:sp>
        <p:nvSpPr>
          <p:cNvPr id="417" name="Google Shape;417;p38"/>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418" name="Google Shape;418;p38"/>
          <p:cNvPicPr preferRelativeResize="0"/>
          <p:nvPr/>
        </p:nvPicPr>
        <p:blipFill rotWithShape="1">
          <a:blip r:embed="rId3">
            <a:alphaModFix/>
          </a:blip>
          <a:srcRect b="0" l="0" r="0" t="0"/>
          <a:stretch/>
        </p:blipFill>
        <p:spPr>
          <a:xfrm>
            <a:off x="4876800" y="1905000"/>
            <a:ext cx="4191000" cy="3962400"/>
          </a:xfrm>
          <a:prstGeom prst="rect">
            <a:avLst/>
          </a:prstGeom>
          <a:noFill/>
          <a:ln>
            <a:noFill/>
          </a:ln>
        </p:spPr>
      </p:pic>
      <p:pic>
        <p:nvPicPr>
          <p:cNvPr id="419" name="Google Shape;419;p38"/>
          <p:cNvPicPr preferRelativeResize="0"/>
          <p:nvPr/>
        </p:nvPicPr>
        <p:blipFill rotWithShape="1">
          <a:blip r:embed="rId4">
            <a:alphaModFix/>
          </a:blip>
          <a:srcRect b="0" l="0" r="0" t="0"/>
          <a:stretch/>
        </p:blipFill>
        <p:spPr>
          <a:xfrm>
            <a:off x="1219200" y="2743200"/>
            <a:ext cx="2895600" cy="1028700"/>
          </a:xfrm>
          <a:prstGeom prst="rect">
            <a:avLst/>
          </a:prstGeom>
          <a:noFill/>
          <a:ln cap="flat" cmpd="sng" w="28575">
            <a:solidFill>
              <a:schemeClr val="accent1"/>
            </a:solidFill>
            <a:prstDash val="solid"/>
            <a:miter lim="800000"/>
            <a:headEnd len="sm" w="sm" type="none"/>
            <a:tailEnd len="sm" w="sm" type="none"/>
          </a:ln>
        </p:spPr>
      </p:pic>
      <p:pic>
        <p:nvPicPr>
          <p:cNvPr id="420" name="Google Shape;420;p38"/>
          <p:cNvPicPr preferRelativeResize="0"/>
          <p:nvPr/>
        </p:nvPicPr>
        <p:blipFill rotWithShape="1">
          <a:blip r:embed="rId5">
            <a:alphaModFix/>
          </a:blip>
          <a:srcRect b="0" l="0" r="0" t="0"/>
          <a:stretch/>
        </p:blipFill>
        <p:spPr>
          <a:xfrm>
            <a:off x="228600" y="4114800"/>
            <a:ext cx="5257800" cy="2590800"/>
          </a:xfrm>
          <a:prstGeom prst="rect">
            <a:avLst/>
          </a:prstGeom>
          <a:noFill/>
          <a:ln>
            <a:noFill/>
          </a:ln>
        </p:spPr>
      </p:pic>
    </p:spTree>
  </p:cSld>
  <p:clrMapOvr>
    <a:masterClrMapping/>
  </p:clrMapOvr>
  <p:transition>
    <p:push dir="r"/>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9"/>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000">
                <a:solidFill>
                  <a:schemeClr val="dk1"/>
                </a:solidFill>
              </a:rPr>
              <a:t>6.2. Quy hoạch tuyến tính</a:t>
            </a:r>
            <a:r>
              <a:rPr i="1" lang="en-US" sz="2000">
                <a:solidFill>
                  <a:schemeClr val="dk1"/>
                </a:solidFill>
              </a:rPr>
              <a:t> (tt)</a:t>
            </a:r>
            <a:br>
              <a:rPr i="1" lang="en-US" sz="2000">
                <a:solidFill>
                  <a:schemeClr val="dk1"/>
                </a:solidFill>
              </a:rPr>
            </a:br>
            <a:r>
              <a:rPr b="0" i="1" lang="en-US" sz="2000">
                <a:solidFill>
                  <a:schemeClr val="dk1"/>
                </a:solidFill>
              </a:rPr>
              <a:t> </a:t>
            </a:r>
            <a:r>
              <a:rPr b="0" lang="en-US" sz="2000">
                <a:solidFill>
                  <a:schemeClr val="dk1"/>
                </a:solidFill>
              </a:rPr>
              <a:t>6.2.2. Mô hình tổng quát của bài toán QHTT </a:t>
            </a:r>
            <a:r>
              <a:rPr b="0" i="1" lang="en-US" sz="2000">
                <a:solidFill>
                  <a:schemeClr val="dk1"/>
                </a:solidFill>
              </a:rPr>
              <a:t>(tt)</a:t>
            </a:r>
            <a:endParaRPr/>
          </a:p>
        </p:txBody>
      </p:sp>
      <p:sp>
        <p:nvSpPr>
          <p:cNvPr id="426" name="Google Shape;426;p39"/>
          <p:cNvSpPr txBox="1"/>
          <p:nvPr>
            <p:ph idx="4294967295" type="body"/>
          </p:nvPr>
        </p:nvSpPr>
        <p:spPr>
          <a:xfrm>
            <a:off x="762000" y="1905000"/>
            <a:ext cx="7696200" cy="40386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1400"/>
              <a:buFont typeface="Noto Sans Symbols"/>
              <a:buNone/>
            </a:pPr>
            <a:r>
              <a:rPr b="1" lang="en-US" sz="2000">
                <a:solidFill>
                  <a:srgbClr val="000099"/>
                </a:solidFill>
              </a:rPr>
              <a:t>b. Bài toán cực tiểu:</a:t>
            </a:r>
            <a:endParaRPr/>
          </a:p>
          <a:p>
            <a:pPr indent="-342900" lvl="0" marL="342900" rtl="0" algn="just">
              <a:spcBef>
                <a:spcPts val="620"/>
              </a:spcBef>
              <a:spcAft>
                <a:spcPts val="0"/>
              </a:spcAft>
              <a:buSzPts val="2170"/>
              <a:buFont typeface="Noto Sans Symbols"/>
              <a:buNone/>
            </a:pPr>
            <a:r>
              <a:t/>
            </a:r>
            <a:endParaRPr/>
          </a:p>
        </p:txBody>
      </p:sp>
      <p:sp>
        <p:nvSpPr>
          <p:cNvPr id="427" name="Google Shape;427;p39"/>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428" name="Google Shape;428;p39"/>
          <p:cNvPicPr preferRelativeResize="0"/>
          <p:nvPr/>
        </p:nvPicPr>
        <p:blipFill rotWithShape="1">
          <a:blip r:embed="rId3">
            <a:alphaModFix/>
          </a:blip>
          <a:srcRect b="0" l="0" r="0" t="0"/>
          <a:stretch/>
        </p:blipFill>
        <p:spPr>
          <a:xfrm>
            <a:off x="3505200" y="2057400"/>
            <a:ext cx="3733800" cy="1741488"/>
          </a:xfrm>
          <a:prstGeom prst="rect">
            <a:avLst/>
          </a:prstGeom>
          <a:noFill/>
          <a:ln cap="flat" cmpd="sng" w="28575">
            <a:solidFill>
              <a:schemeClr val="hlink"/>
            </a:solidFill>
            <a:prstDash val="solid"/>
            <a:miter lim="800000"/>
            <a:headEnd len="sm" w="sm" type="none"/>
            <a:tailEnd len="sm" w="sm" type="none"/>
          </a:ln>
        </p:spPr>
      </p:pic>
      <p:pic>
        <p:nvPicPr>
          <p:cNvPr id="429" name="Google Shape;429;p39"/>
          <p:cNvPicPr preferRelativeResize="0"/>
          <p:nvPr/>
        </p:nvPicPr>
        <p:blipFill rotWithShape="1">
          <a:blip r:embed="rId4">
            <a:alphaModFix/>
          </a:blip>
          <a:srcRect b="0" l="0" r="0" t="0"/>
          <a:stretch/>
        </p:blipFill>
        <p:spPr>
          <a:xfrm>
            <a:off x="914400" y="3962400"/>
            <a:ext cx="7467600" cy="2336800"/>
          </a:xfrm>
          <a:prstGeom prst="rect">
            <a:avLst/>
          </a:prstGeom>
          <a:noFill/>
          <a:ln>
            <a:noFill/>
          </a:ln>
        </p:spPr>
      </p:pic>
      <p:sp>
        <p:nvSpPr>
          <p:cNvPr id="430" name="Google Shape;430;p39"/>
          <p:cNvSpPr txBox="1"/>
          <p:nvPr/>
        </p:nvSpPr>
        <p:spPr>
          <a:xfrm>
            <a:off x="838200" y="3482975"/>
            <a:ext cx="103822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2000" u="sng" cap="none" strike="noStrike">
                <a:solidFill>
                  <a:schemeClr val="dk2"/>
                </a:solidFill>
                <a:latin typeface="Times New Roman"/>
                <a:ea typeface="Times New Roman"/>
                <a:cs typeface="Times New Roman"/>
                <a:sym typeface="Times New Roman"/>
              </a:rPr>
              <a:t>Ghi chú</a:t>
            </a:r>
            <a:endParaRPr/>
          </a:p>
        </p:txBody>
      </p:sp>
    </p:spTree>
  </p:cSld>
  <p:clrMapOvr>
    <a:masterClrMapping/>
  </p:clrMapOvr>
  <p:transition>
    <p:push dir="r"/>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0"/>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000">
                <a:solidFill>
                  <a:schemeClr val="dk1"/>
                </a:solidFill>
              </a:rPr>
              <a:t>6.2. Quy hoạch tuyến tính</a:t>
            </a:r>
            <a:r>
              <a:rPr i="1" lang="en-US" sz="2000">
                <a:solidFill>
                  <a:schemeClr val="dk1"/>
                </a:solidFill>
              </a:rPr>
              <a:t> (tt)</a:t>
            </a:r>
            <a:br>
              <a:rPr i="1" lang="en-US" sz="2000">
                <a:solidFill>
                  <a:schemeClr val="dk1"/>
                </a:solidFill>
              </a:rPr>
            </a:br>
            <a:r>
              <a:rPr i="1" lang="en-US" sz="2000">
                <a:solidFill>
                  <a:schemeClr val="dk1"/>
                </a:solidFill>
              </a:rPr>
              <a:t>            </a:t>
            </a:r>
            <a:r>
              <a:rPr lang="en-US" sz="2000" u="sng">
                <a:solidFill>
                  <a:schemeClr val="dk1"/>
                </a:solidFill>
              </a:rPr>
              <a:t>Quá trình giải bài toán QHTT</a:t>
            </a:r>
            <a:r>
              <a:rPr lang="en-US" sz="2000">
                <a:solidFill>
                  <a:schemeClr val="dk1"/>
                </a:solidFill>
              </a:rPr>
              <a:t>   (5 bước)</a:t>
            </a:r>
            <a:endParaRPr/>
          </a:p>
        </p:txBody>
      </p:sp>
      <p:sp>
        <p:nvSpPr>
          <p:cNvPr id="436" name="Google Shape;436;p40"/>
          <p:cNvSpPr txBox="1"/>
          <p:nvPr>
            <p:ph idx="4294967295"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1260"/>
              <a:buFont typeface="Noto Sans Symbols"/>
              <a:buNone/>
            </a:pPr>
            <a:r>
              <a:rPr lang="en-US" sz="1800">
                <a:solidFill>
                  <a:srgbClr val="000099"/>
                </a:solidFill>
              </a:rPr>
              <a:t>B1: Nhận dạng các </a:t>
            </a:r>
            <a:r>
              <a:rPr b="1" lang="en-US" sz="1800">
                <a:solidFill>
                  <a:srgbClr val="000099"/>
                </a:solidFill>
              </a:rPr>
              <a:t>Biến QĐ</a:t>
            </a:r>
            <a:r>
              <a:rPr lang="en-US" sz="1800">
                <a:solidFill>
                  <a:srgbClr val="000099"/>
                </a:solidFill>
              </a:rPr>
              <a:t> và </a:t>
            </a:r>
            <a:r>
              <a:rPr b="1" lang="en-US" sz="1800">
                <a:solidFill>
                  <a:srgbClr val="000099"/>
                </a:solidFill>
              </a:rPr>
              <a:t>Hàm MT</a:t>
            </a:r>
            <a:r>
              <a:rPr lang="en-US" sz="1800">
                <a:solidFill>
                  <a:srgbClr val="000099"/>
                </a:solidFill>
              </a:rPr>
              <a:t>.</a:t>
            </a:r>
            <a:endParaRPr/>
          </a:p>
          <a:p>
            <a:pPr indent="-342900" lvl="0" marL="342900" rtl="0" algn="just">
              <a:spcBef>
                <a:spcPts val="360"/>
              </a:spcBef>
              <a:spcAft>
                <a:spcPts val="0"/>
              </a:spcAft>
              <a:buSzPts val="1260"/>
              <a:buFont typeface="Noto Sans Symbols"/>
              <a:buNone/>
            </a:pPr>
            <a:r>
              <a:rPr lang="en-US" sz="1800">
                <a:solidFill>
                  <a:schemeClr val="dk2"/>
                </a:solidFill>
              </a:rPr>
              <a:t>B2: Diễn tả </a:t>
            </a:r>
            <a:r>
              <a:rPr b="1" lang="en-US" sz="1800">
                <a:solidFill>
                  <a:schemeClr val="dk2"/>
                </a:solidFill>
              </a:rPr>
              <a:t>Hàm MT</a:t>
            </a:r>
            <a:r>
              <a:rPr lang="en-US" sz="1800">
                <a:solidFill>
                  <a:schemeClr val="dk2"/>
                </a:solidFill>
              </a:rPr>
              <a:t> và </a:t>
            </a:r>
            <a:r>
              <a:rPr b="1" lang="en-US" sz="1800">
                <a:solidFill>
                  <a:schemeClr val="dk2"/>
                </a:solidFill>
              </a:rPr>
              <a:t>các Ràng buộc</a:t>
            </a:r>
            <a:r>
              <a:rPr lang="en-US" sz="1800">
                <a:solidFill>
                  <a:schemeClr val="dk2"/>
                </a:solidFill>
              </a:rPr>
              <a:t> theo các Biến QĐ.</a:t>
            </a:r>
            <a:endParaRPr/>
          </a:p>
          <a:p>
            <a:pPr indent="-342900" lvl="0" marL="342900" rtl="0" algn="just">
              <a:spcBef>
                <a:spcPts val="360"/>
              </a:spcBef>
              <a:spcAft>
                <a:spcPts val="0"/>
              </a:spcAft>
              <a:buSzPts val="1260"/>
              <a:buFont typeface="Noto Sans Symbols"/>
              <a:buNone/>
            </a:pPr>
            <a:r>
              <a:rPr lang="en-US" sz="1800">
                <a:solidFill>
                  <a:srgbClr val="000099"/>
                </a:solidFill>
              </a:rPr>
              <a:t>B3: Kiểm tra xem có phải tất cả các QH trong Hàm MT và trong các Ràng buộc </a:t>
            </a:r>
            <a:r>
              <a:rPr b="1" lang="en-US" sz="1800">
                <a:solidFill>
                  <a:srgbClr val="000099"/>
                </a:solidFill>
              </a:rPr>
              <a:t>có tuyến tính</a:t>
            </a:r>
            <a:r>
              <a:rPr lang="en-US" sz="1800">
                <a:solidFill>
                  <a:srgbClr val="000099"/>
                </a:solidFill>
              </a:rPr>
              <a:t> không? Nếu không, phải tìm mô hình phi tuyến khác để giải.</a:t>
            </a:r>
            <a:endParaRPr/>
          </a:p>
          <a:p>
            <a:pPr indent="-342900" lvl="0" marL="342900" rtl="0" algn="just">
              <a:spcBef>
                <a:spcPts val="360"/>
              </a:spcBef>
              <a:spcAft>
                <a:spcPts val="0"/>
              </a:spcAft>
              <a:buSzPts val="1260"/>
              <a:buFont typeface="Noto Sans Symbols"/>
              <a:buNone/>
            </a:pPr>
            <a:r>
              <a:rPr lang="en-US" sz="1800">
                <a:solidFill>
                  <a:schemeClr val="dk2"/>
                </a:solidFill>
              </a:rPr>
              <a:t>B4: Kiểm tra </a:t>
            </a:r>
            <a:r>
              <a:rPr b="1" lang="en-US" sz="1800">
                <a:solidFill>
                  <a:schemeClr val="dk2"/>
                </a:solidFill>
              </a:rPr>
              <a:t>vùng không gian lời giải</a:t>
            </a:r>
            <a:r>
              <a:rPr lang="en-US" sz="1800">
                <a:solidFill>
                  <a:schemeClr val="dk2"/>
                </a:solidFill>
              </a:rPr>
              <a:t>, để xem xét điều kiện nghiệm của bài toán. Các khả năng có thể xảy ra là:	</a:t>
            </a:r>
            <a:endParaRPr/>
          </a:p>
          <a:p>
            <a:pPr indent="-342900" lvl="0" marL="342900" rtl="0" algn="just">
              <a:spcBef>
                <a:spcPts val="360"/>
              </a:spcBef>
              <a:spcAft>
                <a:spcPts val="0"/>
              </a:spcAft>
              <a:buSzPts val="1260"/>
              <a:buFont typeface="Noto Sans Symbols"/>
              <a:buNone/>
            </a:pPr>
            <a:r>
              <a:rPr lang="en-US" sz="1800">
                <a:solidFill>
                  <a:schemeClr val="dk2"/>
                </a:solidFill>
              </a:rPr>
              <a:t>	 a. </a:t>
            </a:r>
            <a:r>
              <a:rPr b="1" i="1" lang="en-US" sz="1800">
                <a:solidFill>
                  <a:schemeClr val="dk2"/>
                </a:solidFill>
              </a:rPr>
              <a:t>Không có</a:t>
            </a:r>
            <a:r>
              <a:rPr lang="en-US" sz="1800">
                <a:solidFill>
                  <a:schemeClr val="dk2"/>
                </a:solidFill>
              </a:rPr>
              <a:t> vùng khả thi (vô nghiệm) -&gt; Phải nới lỏng các Ràng buộc.</a:t>
            </a:r>
            <a:endParaRPr/>
          </a:p>
          <a:p>
            <a:pPr indent="-342900" lvl="0" marL="342900" rtl="0" algn="just">
              <a:spcBef>
                <a:spcPts val="360"/>
              </a:spcBef>
              <a:spcAft>
                <a:spcPts val="0"/>
              </a:spcAft>
              <a:buSzPts val="1260"/>
              <a:buFont typeface="Noto Sans Symbols"/>
              <a:buNone/>
            </a:pPr>
            <a:r>
              <a:rPr lang="en-US" sz="1800">
                <a:solidFill>
                  <a:schemeClr val="dk2"/>
                </a:solidFill>
              </a:rPr>
              <a:t>	 b. Vùng khả thi </a:t>
            </a:r>
            <a:r>
              <a:rPr b="1" i="1" lang="en-US" sz="1800">
                <a:solidFill>
                  <a:schemeClr val="dk2"/>
                </a:solidFill>
              </a:rPr>
              <a:t>vô hạn và không có điểm cực trị</a:t>
            </a:r>
            <a:r>
              <a:rPr lang="en-US" sz="1800">
                <a:solidFill>
                  <a:schemeClr val="dk2"/>
                </a:solidFill>
              </a:rPr>
              <a:t> -&gt; Phải cấu trúc lại mô hình, có thể đưa thêm Ràng buộc vào mô hình</a:t>
            </a:r>
            <a:endParaRPr/>
          </a:p>
          <a:p>
            <a:pPr indent="-342900" lvl="0" marL="342900" rtl="0" algn="just">
              <a:spcBef>
                <a:spcPts val="360"/>
              </a:spcBef>
              <a:spcAft>
                <a:spcPts val="0"/>
              </a:spcAft>
              <a:buSzPts val="1260"/>
              <a:buFont typeface="Noto Sans Symbols"/>
              <a:buNone/>
            </a:pPr>
            <a:r>
              <a:rPr lang="en-US" sz="1800">
                <a:solidFill>
                  <a:schemeClr val="dk2"/>
                </a:solidFill>
              </a:rPr>
              <a:t>	 c. Vùng khả thi </a:t>
            </a:r>
            <a:r>
              <a:rPr b="1" i="1" lang="en-US" sz="1800">
                <a:solidFill>
                  <a:schemeClr val="dk2"/>
                </a:solidFill>
              </a:rPr>
              <a:t>vô hạn và có điểm cực trị</a:t>
            </a:r>
            <a:r>
              <a:rPr lang="en-US" sz="1800">
                <a:solidFill>
                  <a:schemeClr val="dk2"/>
                </a:solidFill>
              </a:rPr>
              <a:t> -&gt; Sang B5.</a:t>
            </a:r>
            <a:endParaRPr/>
          </a:p>
          <a:p>
            <a:pPr indent="-342900" lvl="0" marL="342900" rtl="0" algn="just">
              <a:spcBef>
                <a:spcPts val="360"/>
              </a:spcBef>
              <a:spcAft>
                <a:spcPts val="0"/>
              </a:spcAft>
              <a:buSzPts val="1260"/>
              <a:buFont typeface="Noto Sans Symbols"/>
              <a:buNone/>
            </a:pPr>
            <a:r>
              <a:rPr lang="en-US" sz="1800">
                <a:solidFill>
                  <a:schemeClr val="dk2"/>
                </a:solidFill>
              </a:rPr>
              <a:t>	 d. Vùng khả thi </a:t>
            </a:r>
            <a:r>
              <a:rPr b="1" i="1" lang="en-US" sz="1800">
                <a:solidFill>
                  <a:schemeClr val="dk2"/>
                </a:solidFill>
              </a:rPr>
              <a:t>có giới hạn</a:t>
            </a:r>
            <a:r>
              <a:rPr lang="en-US" sz="1800">
                <a:solidFill>
                  <a:schemeClr val="dk2"/>
                </a:solidFill>
              </a:rPr>
              <a:t> -&gt; Sang B5.</a:t>
            </a:r>
            <a:endParaRPr/>
          </a:p>
          <a:p>
            <a:pPr indent="-342900" lvl="0" marL="342900" rtl="0" algn="just">
              <a:spcBef>
                <a:spcPts val="360"/>
              </a:spcBef>
              <a:spcAft>
                <a:spcPts val="0"/>
              </a:spcAft>
              <a:buSzPts val="1260"/>
              <a:buFont typeface="Noto Sans Symbols"/>
              <a:buNone/>
            </a:pPr>
            <a:r>
              <a:rPr lang="en-US" sz="1800">
                <a:solidFill>
                  <a:srgbClr val="000099"/>
                </a:solidFill>
              </a:rPr>
              <a:t>B5: Tìm ra </a:t>
            </a:r>
            <a:r>
              <a:rPr b="1" lang="en-US" sz="1800">
                <a:solidFill>
                  <a:srgbClr val="000099"/>
                </a:solidFill>
              </a:rPr>
              <a:t>các lời giải tối ưu có thể có</a:t>
            </a:r>
            <a:r>
              <a:rPr lang="en-US" sz="1800">
                <a:solidFill>
                  <a:srgbClr val="000099"/>
                </a:solidFill>
              </a:rPr>
              <a:t>, có thể dùng:</a:t>
            </a:r>
            <a:endParaRPr/>
          </a:p>
          <a:p>
            <a:pPr indent="-279400" lvl="2" marL="739775" rtl="0" algn="just">
              <a:spcBef>
                <a:spcPts val="360"/>
              </a:spcBef>
              <a:spcAft>
                <a:spcPts val="0"/>
              </a:spcAft>
              <a:buSzPts val="2700"/>
              <a:buFont typeface="Times New Roman"/>
              <a:buChar char="•"/>
            </a:pPr>
            <a:r>
              <a:rPr b="1" i="1" lang="en-US" sz="1800">
                <a:solidFill>
                  <a:srgbClr val="000099"/>
                </a:solidFill>
              </a:rPr>
              <a:t>Phương pháp đồ thị</a:t>
            </a:r>
            <a:r>
              <a:rPr lang="en-US" sz="1800">
                <a:solidFill>
                  <a:srgbClr val="000099"/>
                </a:solidFill>
              </a:rPr>
              <a:t> </a:t>
            </a:r>
            <a:r>
              <a:rPr i="1" lang="en-US" sz="1800">
                <a:solidFill>
                  <a:srgbClr val="000099"/>
                </a:solidFill>
              </a:rPr>
              <a:t>(Graphical method)</a:t>
            </a:r>
            <a:endParaRPr/>
          </a:p>
          <a:p>
            <a:pPr indent="-279400" lvl="2" marL="739775" rtl="0" algn="just">
              <a:spcBef>
                <a:spcPts val="360"/>
              </a:spcBef>
              <a:spcAft>
                <a:spcPts val="0"/>
              </a:spcAft>
              <a:buSzPts val="2700"/>
              <a:buFont typeface="Times New Roman"/>
              <a:buChar char="•"/>
            </a:pPr>
            <a:r>
              <a:rPr b="1" i="1" lang="en-US" sz="1800">
                <a:solidFill>
                  <a:srgbClr val="000099"/>
                </a:solidFill>
              </a:rPr>
              <a:t>Phương pháp đơn hình</a:t>
            </a:r>
            <a:r>
              <a:rPr lang="en-US" sz="1800">
                <a:solidFill>
                  <a:srgbClr val="000099"/>
                </a:solidFill>
              </a:rPr>
              <a:t> </a:t>
            </a:r>
            <a:r>
              <a:rPr i="1" lang="en-US" sz="1800">
                <a:solidFill>
                  <a:srgbClr val="000099"/>
                </a:solidFill>
              </a:rPr>
              <a:t>(Simplex method)</a:t>
            </a:r>
            <a:endParaRPr/>
          </a:p>
        </p:txBody>
      </p:sp>
      <p:sp>
        <p:nvSpPr>
          <p:cNvPr id="437" name="Google Shape;437;p40"/>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1" name="Shape 441"/>
        <p:cNvGrpSpPr/>
        <p:nvPr/>
      </p:nvGrpSpPr>
      <p:grpSpPr>
        <a:xfrm>
          <a:off x="0" y="0"/>
          <a:ext cx="0" cy="0"/>
          <a:chOff x="0" y="0"/>
          <a:chExt cx="0" cy="0"/>
        </a:xfrm>
      </p:grpSpPr>
      <p:sp>
        <p:nvSpPr>
          <p:cNvPr id="442" name="Google Shape;442;p41"/>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443" name="Google Shape;443;p41"/>
          <p:cNvPicPr preferRelativeResize="0"/>
          <p:nvPr/>
        </p:nvPicPr>
        <p:blipFill rotWithShape="1">
          <a:blip r:embed="rId3">
            <a:alphaModFix/>
          </a:blip>
          <a:srcRect b="0" l="0" r="0" t="0"/>
          <a:stretch/>
        </p:blipFill>
        <p:spPr>
          <a:xfrm>
            <a:off x="1676400" y="76200"/>
            <a:ext cx="7315200" cy="6705600"/>
          </a:xfrm>
          <a:prstGeom prst="rect">
            <a:avLst/>
          </a:prstGeom>
          <a:noFill/>
          <a:ln>
            <a:noFill/>
          </a:ln>
        </p:spPr>
      </p:pic>
      <p:sp>
        <p:nvSpPr>
          <p:cNvPr id="444" name="Google Shape;444;p41"/>
          <p:cNvSpPr txBox="1"/>
          <p:nvPr/>
        </p:nvSpPr>
        <p:spPr>
          <a:xfrm>
            <a:off x="107950" y="136525"/>
            <a:ext cx="385445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sng" cap="none" strike="noStrike">
                <a:solidFill>
                  <a:srgbClr val="000099"/>
                </a:solidFill>
                <a:latin typeface="Times New Roman"/>
                <a:ea typeface="Times New Roman"/>
                <a:cs typeface="Times New Roman"/>
                <a:sym typeface="Times New Roman"/>
              </a:rPr>
              <a:t>Quá trình giải BT QHTT</a:t>
            </a:r>
            <a:r>
              <a:rPr b="0" i="0" lang="en-US" sz="2000" u="none" cap="none" strike="noStrike">
                <a:solidFill>
                  <a:srgbClr val="000099"/>
                </a:solidFill>
                <a:latin typeface="Times New Roman"/>
                <a:ea typeface="Times New Roman"/>
                <a:cs typeface="Times New Roman"/>
                <a:sym typeface="Times New Roman"/>
              </a:rPr>
              <a:t> (5 bước)</a:t>
            </a:r>
            <a:endParaRPr/>
          </a:p>
        </p:txBody>
      </p:sp>
      <p:sp>
        <p:nvSpPr>
          <p:cNvPr id="445" name="Google Shape;445;p41"/>
          <p:cNvSpPr/>
          <p:nvPr/>
        </p:nvSpPr>
        <p:spPr>
          <a:xfrm>
            <a:off x="5791200" y="1219200"/>
            <a:ext cx="533400" cy="381000"/>
          </a:xfrm>
          <a:prstGeom prst="ellipse">
            <a:avLst/>
          </a:prstGeom>
          <a:solidFill>
            <a:schemeClr val="accent1"/>
          </a:solidFill>
          <a:ln cap="flat" cmpd="sng" w="28575">
            <a:solidFill>
              <a:srgbClr val="0000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800000"/>
                </a:solidFill>
                <a:latin typeface="Arial"/>
                <a:ea typeface="Arial"/>
                <a:cs typeface="Arial"/>
                <a:sym typeface="Arial"/>
              </a:rPr>
              <a:t>2</a:t>
            </a:r>
            <a:endParaRPr/>
          </a:p>
        </p:txBody>
      </p:sp>
      <p:sp>
        <p:nvSpPr>
          <p:cNvPr id="446" name="Google Shape;446;p41"/>
          <p:cNvSpPr/>
          <p:nvPr/>
        </p:nvSpPr>
        <p:spPr>
          <a:xfrm>
            <a:off x="5791200" y="228600"/>
            <a:ext cx="533400" cy="381000"/>
          </a:xfrm>
          <a:prstGeom prst="ellipse">
            <a:avLst/>
          </a:prstGeom>
          <a:solidFill>
            <a:srgbClr val="66CCFF"/>
          </a:solidFill>
          <a:ln cap="flat" cmpd="sng" w="28575">
            <a:solidFill>
              <a:srgbClr val="0000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800000"/>
                </a:solidFill>
                <a:latin typeface="Arial"/>
                <a:ea typeface="Arial"/>
                <a:cs typeface="Arial"/>
                <a:sym typeface="Arial"/>
              </a:rPr>
              <a:t>1</a:t>
            </a:r>
            <a:endParaRPr/>
          </a:p>
        </p:txBody>
      </p:sp>
      <p:sp>
        <p:nvSpPr>
          <p:cNvPr id="447" name="Google Shape;447;p41"/>
          <p:cNvSpPr/>
          <p:nvPr/>
        </p:nvSpPr>
        <p:spPr>
          <a:xfrm>
            <a:off x="5715000" y="2057400"/>
            <a:ext cx="533400" cy="381000"/>
          </a:xfrm>
          <a:prstGeom prst="ellipse">
            <a:avLst/>
          </a:prstGeom>
          <a:solidFill>
            <a:srgbClr val="66CCFF"/>
          </a:solidFill>
          <a:ln cap="flat" cmpd="sng" w="28575">
            <a:solidFill>
              <a:srgbClr val="0000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800000"/>
                </a:solidFill>
                <a:latin typeface="Arial"/>
                <a:ea typeface="Arial"/>
                <a:cs typeface="Arial"/>
                <a:sym typeface="Arial"/>
              </a:rPr>
              <a:t>3</a:t>
            </a:r>
            <a:endParaRPr/>
          </a:p>
        </p:txBody>
      </p:sp>
      <p:sp>
        <p:nvSpPr>
          <p:cNvPr id="448" name="Google Shape;448;p41"/>
          <p:cNvSpPr/>
          <p:nvPr/>
        </p:nvSpPr>
        <p:spPr>
          <a:xfrm>
            <a:off x="3429000" y="3048000"/>
            <a:ext cx="533400" cy="381000"/>
          </a:xfrm>
          <a:prstGeom prst="ellipse">
            <a:avLst/>
          </a:prstGeom>
          <a:solidFill>
            <a:schemeClr val="accent1"/>
          </a:solidFill>
          <a:ln cap="flat" cmpd="sng" w="28575">
            <a:solidFill>
              <a:srgbClr val="0000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800000"/>
                </a:solidFill>
                <a:latin typeface="Arial"/>
                <a:ea typeface="Arial"/>
                <a:cs typeface="Arial"/>
                <a:sym typeface="Arial"/>
              </a:rPr>
              <a:t>4</a:t>
            </a:r>
            <a:endParaRPr/>
          </a:p>
        </p:txBody>
      </p:sp>
      <p:sp>
        <p:nvSpPr>
          <p:cNvPr id="449" name="Google Shape;449;p41"/>
          <p:cNvSpPr/>
          <p:nvPr/>
        </p:nvSpPr>
        <p:spPr>
          <a:xfrm>
            <a:off x="3352800" y="5181600"/>
            <a:ext cx="533400" cy="381000"/>
          </a:xfrm>
          <a:prstGeom prst="ellipse">
            <a:avLst/>
          </a:prstGeom>
          <a:solidFill>
            <a:srgbClr val="66CCFF"/>
          </a:solidFill>
          <a:ln cap="flat" cmpd="sng" w="28575">
            <a:solidFill>
              <a:srgbClr val="00009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800000"/>
                </a:solidFill>
                <a:latin typeface="Arial"/>
                <a:ea typeface="Arial"/>
                <a:cs typeface="Arial"/>
                <a:sym typeface="Arial"/>
              </a:rPr>
              <a:t>5</a:t>
            </a:r>
            <a:endParaRPr/>
          </a:p>
        </p:txBody>
      </p:sp>
    </p:spTree>
  </p:cSld>
  <p:clrMapOvr>
    <a:masterClrMapping/>
  </p:clrMapOvr>
  <p:transition>
    <p:push dir="r"/>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2"/>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000">
                <a:solidFill>
                  <a:schemeClr val="dk1"/>
                </a:solidFill>
              </a:rPr>
              <a:t>6.2. Quy hoạch tuyến tính</a:t>
            </a:r>
            <a:r>
              <a:rPr i="1" lang="en-US" sz="2000">
                <a:solidFill>
                  <a:schemeClr val="dk1"/>
                </a:solidFill>
              </a:rPr>
              <a:t> (tt)</a:t>
            </a:r>
            <a:br>
              <a:rPr i="1" lang="en-US" sz="2000">
                <a:solidFill>
                  <a:schemeClr val="dk1"/>
                </a:solidFill>
              </a:rPr>
            </a:br>
            <a:r>
              <a:rPr lang="en-US" sz="2000">
                <a:solidFill>
                  <a:schemeClr val="dk1"/>
                </a:solidFill>
              </a:rPr>
              <a:t>6.2.3. Giải BT QHTT bằng Đồ thị  </a:t>
            </a:r>
            <a:r>
              <a:rPr b="0" lang="en-US" sz="2000">
                <a:solidFill>
                  <a:schemeClr val="dk1"/>
                </a:solidFill>
              </a:rPr>
              <a:t>(Chỉ dùng cho</a:t>
            </a:r>
            <a:r>
              <a:rPr lang="en-US" sz="2000">
                <a:solidFill>
                  <a:schemeClr val="dk1"/>
                </a:solidFill>
              </a:rPr>
              <a:t> 2-3 Biến QĐ</a:t>
            </a:r>
            <a:r>
              <a:rPr b="0" lang="en-US" sz="2000">
                <a:solidFill>
                  <a:schemeClr val="dk1"/>
                </a:solidFill>
              </a:rPr>
              <a:t>)</a:t>
            </a:r>
            <a:endParaRPr/>
          </a:p>
        </p:txBody>
      </p:sp>
      <p:sp>
        <p:nvSpPr>
          <p:cNvPr id="455" name="Google Shape;455;p42"/>
          <p:cNvSpPr txBox="1"/>
          <p:nvPr>
            <p:ph idx="4294967295" type="body"/>
          </p:nvPr>
        </p:nvSpPr>
        <p:spPr>
          <a:xfrm>
            <a:off x="762000" y="1905000"/>
            <a:ext cx="7696200" cy="47244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1400"/>
              <a:buFont typeface="Noto Sans Symbols"/>
              <a:buNone/>
            </a:pPr>
            <a:r>
              <a:rPr b="1" lang="en-US" sz="2000">
                <a:solidFill>
                  <a:srgbClr val="0033CC"/>
                </a:solidFill>
              </a:rPr>
              <a:t>a)  PP dùng đường đẳng lợi </a:t>
            </a:r>
            <a:r>
              <a:rPr lang="en-US" sz="2000">
                <a:solidFill>
                  <a:srgbClr val="0033CC"/>
                </a:solidFill>
              </a:rPr>
              <a:t>hay</a:t>
            </a:r>
            <a:r>
              <a:rPr b="1" lang="en-US" sz="2000">
                <a:solidFill>
                  <a:srgbClr val="0033CC"/>
                </a:solidFill>
              </a:rPr>
              <a:t> đường đẳng phí </a:t>
            </a:r>
            <a:r>
              <a:rPr i="1" lang="en-US" sz="2000">
                <a:solidFill>
                  <a:srgbClr val="0033CC"/>
                </a:solidFill>
              </a:rPr>
              <a:t>(iso – profit/cost line)</a:t>
            </a:r>
            <a:endParaRPr/>
          </a:p>
          <a:p>
            <a:pPr indent="-342900" lvl="0" marL="342900" rtl="0" algn="just">
              <a:spcBef>
                <a:spcPts val="360"/>
              </a:spcBef>
              <a:spcAft>
                <a:spcPts val="0"/>
              </a:spcAft>
              <a:buSzPts val="1260"/>
              <a:buFont typeface="Noto Sans Symbols"/>
              <a:buNone/>
            </a:pPr>
            <a:r>
              <a:rPr b="1" i="1" lang="en-US" sz="1800" u="sng"/>
              <a:t>Giải BT cực đại ở VD trên:</a:t>
            </a:r>
            <a:r>
              <a:rPr i="1" lang="en-US" sz="1800"/>
              <a:t> (</a:t>
            </a:r>
            <a:r>
              <a:rPr i="1" lang="en-US" sz="1800" u="sng">
                <a:solidFill>
                  <a:schemeClr val="hlink"/>
                </a:solidFill>
                <a:hlinkClick action="ppaction://hlinksldjump" r:id="rId3"/>
              </a:rPr>
              <a:t>Slide 34</a:t>
            </a:r>
            <a:r>
              <a:rPr i="1" lang="en-US" sz="1800"/>
              <a:t>)</a:t>
            </a:r>
            <a:r>
              <a:rPr lang="en-US" sz="1800"/>
              <a:t>		</a:t>
            </a:r>
            <a:r>
              <a:rPr b="1" lang="en-US" sz="1800"/>
              <a:t>Đường đẳng lợi</a:t>
            </a:r>
            <a:endParaRPr b="1" i="1" sz="1800" u="sng"/>
          </a:p>
          <a:p>
            <a:pPr indent="-342900" lvl="0" marL="342900" rtl="0" algn="just">
              <a:spcBef>
                <a:spcPts val="360"/>
              </a:spcBef>
              <a:spcAft>
                <a:spcPts val="0"/>
              </a:spcAft>
              <a:buSzPts val="1260"/>
              <a:buFont typeface="Noto Sans Symbols"/>
              <a:buNone/>
            </a:pPr>
            <a:r>
              <a:rPr lang="en-US" sz="1800"/>
              <a:t>Hàm MT:	     Max   = 18x</a:t>
            </a:r>
            <a:r>
              <a:rPr baseline="-25000" lang="en-US" sz="1800"/>
              <a:t>1</a:t>
            </a:r>
            <a:r>
              <a:rPr lang="en-US" sz="1800"/>
              <a:t> + 21x</a:t>
            </a:r>
            <a:r>
              <a:rPr baseline="-25000" lang="en-US" sz="1800"/>
              <a:t>2</a:t>
            </a:r>
            <a:endParaRPr/>
          </a:p>
          <a:p>
            <a:pPr indent="-342900" lvl="0" marL="342900" rtl="0" algn="just">
              <a:spcBef>
                <a:spcPts val="360"/>
              </a:spcBef>
              <a:spcAft>
                <a:spcPts val="0"/>
              </a:spcAft>
              <a:buSzPts val="1260"/>
              <a:buFont typeface="Noto Sans Symbols"/>
              <a:buNone/>
            </a:pPr>
            <a:r>
              <a:rPr lang="en-US" sz="1800"/>
              <a:t>Ràng buộc:	</a:t>
            </a:r>
            <a:r>
              <a:rPr lang="en-US" sz="1800">
                <a:solidFill>
                  <a:srgbClr val="000099"/>
                </a:solidFill>
              </a:rPr>
              <a:t>2x</a:t>
            </a:r>
            <a:r>
              <a:rPr baseline="-25000" lang="en-US" sz="1800">
                <a:solidFill>
                  <a:srgbClr val="000099"/>
                </a:solidFill>
              </a:rPr>
              <a:t>1</a:t>
            </a:r>
            <a:r>
              <a:rPr lang="en-US" sz="1800">
                <a:solidFill>
                  <a:srgbClr val="000099"/>
                </a:solidFill>
              </a:rPr>
              <a:t> 	+ 	3x</a:t>
            </a:r>
            <a:r>
              <a:rPr baseline="-25000" lang="en-US" sz="1800">
                <a:solidFill>
                  <a:srgbClr val="000099"/>
                </a:solidFill>
              </a:rPr>
              <a:t>2</a:t>
            </a:r>
            <a:r>
              <a:rPr lang="en-US" sz="1800">
                <a:solidFill>
                  <a:srgbClr val="000099"/>
                </a:solidFill>
              </a:rPr>
              <a:t> 	≤  	50	(1)</a:t>
            </a:r>
            <a:endParaRPr/>
          </a:p>
          <a:p>
            <a:pPr indent="-342900" lvl="0" marL="342900" rtl="0" algn="just">
              <a:spcBef>
                <a:spcPts val="360"/>
              </a:spcBef>
              <a:spcAft>
                <a:spcPts val="0"/>
              </a:spcAft>
              <a:buSzPts val="1260"/>
              <a:buFont typeface="Noto Sans Symbols"/>
              <a:buNone/>
            </a:pPr>
            <a:r>
              <a:rPr lang="en-US" sz="1800">
                <a:solidFill>
                  <a:srgbClr val="000099"/>
                </a:solidFill>
              </a:rPr>
              <a:t>			6x</a:t>
            </a:r>
            <a:r>
              <a:rPr baseline="-25000" lang="en-US" sz="1800">
                <a:solidFill>
                  <a:srgbClr val="000099"/>
                </a:solidFill>
              </a:rPr>
              <a:t>1</a:t>
            </a:r>
            <a:r>
              <a:rPr lang="en-US" sz="1800">
                <a:solidFill>
                  <a:srgbClr val="000099"/>
                </a:solidFill>
              </a:rPr>
              <a:t> 	+ 	4x</a:t>
            </a:r>
            <a:r>
              <a:rPr baseline="-25000" lang="en-US" sz="1800">
                <a:solidFill>
                  <a:srgbClr val="000099"/>
                </a:solidFill>
              </a:rPr>
              <a:t>2</a:t>
            </a:r>
            <a:r>
              <a:rPr lang="en-US" sz="1800">
                <a:solidFill>
                  <a:srgbClr val="000099"/>
                </a:solidFill>
              </a:rPr>
              <a:t> 	≤ 	90	(2)</a:t>
            </a:r>
            <a:endParaRPr/>
          </a:p>
          <a:p>
            <a:pPr indent="-342900" lvl="0" marL="342900" rtl="0" algn="just">
              <a:spcBef>
                <a:spcPts val="360"/>
              </a:spcBef>
              <a:spcAft>
                <a:spcPts val="0"/>
              </a:spcAft>
              <a:buSzPts val="1260"/>
              <a:buFont typeface="Noto Sans Symbols"/>
              <a:buNone/>
            </a:pPr>
            <a:r>
              <a:rPr lang="en-US" sz="1800">
                <a:solidFill>
                  <a:srgbClr val="000099"/>
                </a:solidFill>
              </a:rPr>
              <a:t>			20x</a:t>
            </a:r>
            <a:r>
              <a:rPr baseline="-25000" lang="en-US" sz="1800">
                <a:solidFill>
                  <a:srgbClr val="000099"/>
                </a:solidFill>
              </a:rPr>
              <a:t>1</a:t>
            </a:r>
            <a:r>
              <a:rPr lang="en-US" sz="1800">
                <a:solidFill>
                  <a:srgbClr val="000099"/>
                </a:solidFill>
              </a:rPr>
              <a:t>	+ 	5x</a:t>
            </a:r>
            <a:r>
              <a:rPr baseline="-25000" lang="en-US" sz="1800">
                <a:solidFill>
                  <a:srgbClr val="000099"/>
                </a:solidFill>
              </a:rPr>
              <a:t>2</a:t>
            </a:r>
            <a:r>
              <a:rPr lang="en-US" sz="1800">
                <a:solidFill>
                  <a:srgbClr val="000099"/>
                </a:solidFill>
              </a:rPr>
              <a:t> 	≤ 	250	(3)</a:t>
            </a:r>
            <a:endParaRPr/>
          </a:p>
          <a:p>
            <a:pPr indent="-342900" lvl="0" marL="342900" rtl="0" algn="just">
              <a:spcBef>
                <a:spcPts val="360"/>
              </a:spcBef>
              <a:spcAft>
                <a:spcPts val="0"/>
              </a:spcAft>
              <a:buSzPts val="1260"/>
              <a:buFont typeface="Noto Sans Symbols"/>
              <a:buNone/>
            </a:pPr>
            <a:r>
              <a:rPr lang="en-US" sz="1800"/>
              <a:t>					</a:t>
            </a:r>
            <a:r>
              <a:rPr lang="en-US" sz="1800">
                <a:solidFill>
                  <a:schemeClr val="dk2"/>
                </a:solidFill>
              </a:rPr>
              <a:t>x</a:t>
            </a:r>
            <a:r>
              <a:rPr baseline="-25000" lang="en-US" sz="1800">
                <a:solidFill>
                  <a:schemeClr val="dk2"/>
                </a:solidFill>
              </a:rPr>
              <a:t>1</a:t>
            </a:r>
            <a:r>
              <a:rPr lang="en-US" sz="1800">
                <a:solidFill>
                  <a:schemeClr val="dk2"/>
                </a:solidFill>
              </a:rPr>
              <a:t>	≥  	0	(4)</a:t>
            </a:r>
            <a:endParaRPr/>
          </a:p>
          <a:p>
            <a:pPr indent="-342900" lvl="0" marL="342900" rtl="0" algn="just">
              <a:spcBef>
                <a:spcPts val="360"/>
              </a:spcBef>
              <a:spcAft>
                <a:spcPts val="0"/>
              </a:spcAft>
              <a:buSzPts val="1260"/>
              <a:buFont typeface="Noto Sans Symbols"/>
              <a:buNone/>
            </a:pPr>
            <a:r>
              <a:rPr lang="en-US" sz="1800">
                <a:solidFill>
                  <a:schemeClr val="dk2"/>
                </a:solidFill>
              </a:rPr>
              <a:t>					x</a:t>
            </a:r>
            <a:r>
              <a:rPr baseline="-25000" lang="en-US" sz="1800">
                <a:solidFill>
                  <a:schemeClr val="dk2"/>
                </a:solidFill>
              </a:rPr>
              <a:t>2</a:t>
            </a:r>
            <a:r>
              <a:rPr lang="en-US" sz="1800">
                <a:solidFill>
                  <a:schemeClr val="dk2"/>
                </a:solidFill>
              </a:rPr>
              <a:t>	≥ 	0	(5)</a:t>
            </a:r>
            <a:endParaRPr/>
          </a:p>
          <a:p>
            <a:pPr indent="-342900" lvl="0" marL="342900" rtl="0" algn="just">
              <a:spcBef>
                <a:spcPts val="360"/>
              </a:spcBef>
              <a:spcAft>
                <a:spcPts val="0"/>
              </a:spcAft>
              <a:buSzPts val="1260"/>
              <a:buFont typeface="Noto Sans Symbols"/>
              <a:buNone/>
            </a:pPr>
            <a:r>
              <a:rPr b="1" i="1" lang="en-US" sz="1800" u="sng"/>
              <a:t>Giải</a:t>
            </a:r>
            <a:r>
              <a:rPr lang="en-US" sz="1800"/>
              <a:t>	Trong mặt phẳng tọa độ 0x</a:t>
            </a:r>
            <a:r>
              <a:rPr baseline="-25000" lang="en-US" sz="1800"/>
              <a:t>1</a:t>
            </a:r>
            <a:r>
              <a:rPr lang="en-US" sz="1800"/>
              <a:t>x</a:t>
            </a:r>
            <a:r>
              <a:rPr baseline="-25000" lang="en-US" sz="1800"/>
              <a:t>2</a:t>
            </a:r>
            <a:r>
              <a:rPr lang="en-US" sz="1800"/>
              <a:t>, ta vẽ các đường thẳng</a:t>
            </a:r>
            <a:endParaRPr/>
          </a:p>
          <a:p>
            <a:pPr indent="-342900" lvl="0" marL="342900" rtl="0" algn="just">
              <a:spcBef>
                <a:spcPts val="360"/>
              </a:spcBef>
              <a:spcAft>
                <a:spcPts val="0"/>
              </a:spcAft>
              <a:buSzPts val="1260"/>
              <a:buFont typeface="Noto Sans Symbols"/>
              <a:buNone/>
            </a:pPr>
            <a:r>
              <a:rPr lang="en-US" sz="1800"/>
              <a:t>		</a:t>
            </a:r>
            <a:r>
              <a:rPr lang="en-US" sz="1800">
                <a:solidFill>
                  <a:srgbClr val="800000"/>
                </a:solidFill>
              </a:rPr>
              <a:t>(D1)	2x</a:t>
            </a:r>
            <a:r>
              <a:rPr baseline="-25000" lang="en-US" sz="1800">
                <a:solidFill>
                  <a:srgbClr val="800000"/>
                </a:solidFill>
              </a:rPr>
              <a:t>1</a:t>
            </a:r>
            <a:r>
              <a:rPr lang="en-US" sz="1800">
                <a:solidFill>
                  <a:srgbClr val="800000"/>
                </a:solidFill>
              </a:rPr>
              <a:t>	+ 	3x</a:t>
            </a:r>
            <a:r>
              <a:rPr baseline="-25000" lang="en-US" sz="1800">
                <a:solidFill>
                  <a:srgbClr val="800000"/>
                </a:solidFill>
              </a:rPr>
              <a:t>2</a:t>
            </a:r>
            <a:r>
              <a:rPr lang="en-US" sz="1800">
                <a:solidFill>
                  <a:srgbClr val="800000"/>
                </a:solidFill>
              </a:rPr>
              <a:t>	=	50</a:t>
            </a:r>
            <a:endParaRPr/>
          </a:p>
          <a:p>
            <a:pPr indent="-342900" lvl="0" marL="342900" rtl="0" algn="just">
              <a:spcBef>
                <a:spcPts val="360"/>
              </a:spcBef>
              <a:spcAft>
                <a:spcPts val="0"/>
              </a:spcAft>
              <a:buSzPts val="1260"/>
              <a:buFont typeface="Noto Sans Symbols"/>
              <a:buNone/>
            </a:pPr>
            <a:r>
              <a:rPr lang="en-US" sz="1800">
                <a:solidFill>
                  <a:srgbClr val="800000"/>
                </a:solidFill>
              </a:rPr>
              <a:t>		(D2)	6x</a:t>
            </a:r>
            <a:r>
              <a:rPr baseline="-25000" lang="en-US" sz="1800">
                <a:solidFill>
                  <a:srgbClr val="800000"/>
                </a:solidFill>
              </a:rPr>
              <a:t>1</a:t>
            </a:r>
            <a:r>
              <a:rPr lang="en-US" sz="1800">
                <a:solidFill>
                  <a:srgbClr val="800000"/>
                </a:solidFill>
              </a:rPr>
              <a:t>	+	4x</a:t>
            </a:r>
            <a:r>
              <a:rPr baseline="-25000" lang="en-US" sz="1800">
                <a:solidFill>
                  <a:srgbClr val="800000"/>
                </a:solidFill>
              </a:rPr>
              <a:t>2</a:t>
            </a:r>
            <a:r>
              <a:rPr lang="en-US" sz="1800">
                <a:solidFill>
                  <a:srgbClr val="800000"/>
                </a:solidFill>
              </a:rPr>
              <a:t>	=	90</a:t>
            </a:r>
            <a:endParaRPr/>
          </a:p>
          <a:p>
            <a:pPr indent="-342900" lvl="0" marL="342900" rtl="0" algn="just">
              <a:spcBef>
                <a:spcPts val="360"/>
              </a:spcBef>
              <a:spcAft>
                <a:spcPts val="0"/>
              </a:spcAft>
              <a:buSzPts val="1260"/>
              <a:buFont typeface="Noto Sans Symbols"/>
              <a:buNone/>
            </a:pPr>
            <a:r>
              <a:rPr lang="en-US" sz="1800">
                <a:solidFill>
                  <a:srgbClr val="800000"/>
                </a:solidFill>
              </a:rPr>
              <a:t>		(D3)	20x</a:t>
            </a:r>
            <a:r>
              <a:rPr baseline="-25000" lang="en-US" sz="1800">
                <a:solidFill>
                  <a:srgbClr val="800000"/>
                </a:solidFill>
              </a:rPr>
              <a:t>1</a:t>
            </a:r>
            <a:r>
              <a:rPr lang="en-US" sz="1800">
                <a:solidFill>
                  <a:srgbClr val="800000"/>
                </a:solidFill>
              </a:rPr>
              <a:t>	+	5x</a:t>
            </a:r>
            <a:r>
              <a:rPr baseline="-25000" lang="en-US" sz="1800">
                <a:solidFill>
                  <a:srgbClr val="800000"/>
                </a:solidFill>
              </a:rPr>
              <a:t>2</a:t>
            </a:r>
            <a:r>
              <a:rPr lang="en-US" sz="1800">
                <a:solidFill>
                  <a:srgbClr val="800000"/>
                </a:solidFill>
              </a:rPr>
              <a:t>	=	250</a:t>
            </a:r>
            <a:endParaRPr/>
          </a:p>
          <a:p>
            <a:pPr indent="-342900" lvl="0" marL="342900" rtl="0" algn="just">
              <a:spcBef>
                <a:spcPts val="360"/>
              </a:spcBef>
              <a:spcAft>
                <a:spcPts val="0"/>
              </a:spcAft>
              <a:buSzPts val="1260"/>
              <a:buFont typeface="Noto Sans Symbols"/>
              <a:buNone/>
            </a:pPr>
            <a:r>
              <a:rPr lang="en-US" sz="1800">
                <a:solidFill>
                  <a:srgbClr val="800000"/>
                </a:solidFill>
              </a:rPr>
              <a:t>		(D4)			x</a:t>
            </a:r>
            <a:r>
              <a:rPr baseline="-25000" lang="en-US" sz="1800">
                <a:solidFill>
                  <a:srgbClr val="800000"/>
                </a:solidFill>
              </a:rPr>
              <a:t>1</a:t>
            </a:r>
            <a:r>
              <a:rPr lang="en-US" sz="1800">
                <a:solidFill>
                  <a:srgbClr val="800000"/>
                </a:solidFill>
              </a:rPr>
              <a:t>	=	0</a:t>
            </a:r>
            <a:endParaRPr/>
          </a:p>
          <a:p>
            <a:pPr indent="-342900" lvl="0" marL="342900" rtl="0" algn="just">
              <a:spcBef>
                <a:spcPts val="720"/>
              </a:spcBef>
              <a:spcAft>
                <a:spcPts val="0"/>
              </a:spcAft>
              <a:buSzPts val="1260"/>
              <a:buFont typeface="Noto Sans Symbols"/>
              <a:buNone/>
            </a:pPr>
            <a:r>
              <a:rPr lang="en-US" sz="1800">
                <a:solidFill>
                  <a:srgbClr val="800000"/>
                </a:solidFill>
              </a:rPr>
              <a:t>		(D5)			x</a:t>
            </a:r>
            <a:r>
              <a:rPr baseline="-25000" lang="en-US" sz="1800">
                <a:solidFill>
                  <a:srgbClr val="800000"/>
                </a:solidFill>
              </a:rPr>
              <a:t>2</a:t>
            </a:r>
            <a:r>
              <a:rPr lang="en-US" sz="1800">
                <a:solidFill>
                  <a:srgbClr val="800000"/>
                </a:solidFill>
              </a:rPr>
              <a:t>	=	0</a:t>
            </a:r>
            <a:endParaRPr/>
          </a:p>
        </p:txBody>
      </p:sp>
      <p:sp>
        <p:nvSpPr>
          <p:cNvPr id="456" name="Google Shape;456;p42"/>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60" name="Shape 460"/>
        <p:cNvGrpSpPr/>
        <p:nvPr/>
      </p:nvGrpSpPr>
      <p:grpSpPr>
        <a:xfrm>
          <a:off x="0" y="0"/>
          <a:ext cx="0" cy="0"/>
          <a:chOff x="0" y="0"/>
          <a:chExt cx="0" cy="0"/>
        </a:xfrm>
      </p:grpSpPr>
      <p:sp>
        <p:nvSpPr>
          <p:cNvPr id="461" name="Google Shape;461;p43"/>
          <p:cNvSpPr txBox="1"/>
          <p:nvPr/>
        </p:nvSpPr>
        <p:spPr>
          <a:xfrm>
            <a:off x="74676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grpSp>
        <p:nvGrpSpPr>
          <p:cNvPr id="462" name="Google Shape;462;p43"/>
          <p:cNvGrpSpPr/>
          <p:nvPr/>
        </p:nvGrpSpPr>
        <p:grpSpPr>
          <a:xfrm>
            <a:off x="243600" y="228600"/>
            <a:ext cx="8900400" cy="6477000"/>
            <a:chOff x="1888" y="7280"/>
            <a:chExt cx="8799" cy="7617"/>
          </a:xfrm>
        </p:grpSpPr>
        <p:grpSp>
          <p:nvGrpSpPr>
            <p:cNvPr id="463" name="Google Shape;463;p43"/>
            <p:cNvGrpSpPr/>
            <p:nvPr/>
          </p:nvGrpSpPr>
          <p:grpSpPr>
            <a:xfrm>
              <a:off x="2566" y="7280"/>
              <a:ext cx="8121" cy="7617"/>
              <a:chOff x="2566" y="7280"/>
              <a:chExt cx="8121" cy="7617"/>
            </a:xfrm>
          </p:grpSpPr>
          <p:sp>
            <p:nvSpPr>
              <p:cNvPr id="464" name="Google Shape;464;p43"/>
              <p:cNvSpPr/>
              <p:nvPr/>
            </p:nvSpPr>
            <p:spPr>
              <a:xfrm>
                <a:off x="3434" y="10332"/>
                <a:ext cx="3165" cy="4565"/>
              </a:xfrm>
              <a:custGeom>
                <a:rect b="b" l="l" r="r" t="t"/>
                <a:pathLst>
                  <a:path extrusionOk="0" h="20000" w="20000">
                    <a:moveTo>
                      <a:pt x="0" y="0"/>
                    </a:moveTo>
                    <a:lnTo>
                      <a:pt x="19994" y="19996"/>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65" name="Google Shape;465;p43"/>
              <p:cNvSpPr/>
              <p:nvPr/>
            </p:nvSpPr>
            <p:spPr>
              <a:xfrm>
                <a:off x="3154" y="11116"/>
                <a:ext cx="4285" cy="3053"/>
              </a:xfrm>
              <a:custGeom>
                <a:rect b="b" l="l" r="r" t="t"/>
                <a:pathLst>
                  <a:path extrusionOk="0" h="20000" w="20000">
                    <a:moveTo>
                      <a:pt x="0" y="0"/>
                    </a:moveTo>
                    <a:lnTo>
                      <a:pt x="19995" y="19993"/>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66" name="Google Shape;466;p43"/>
              <p:cNvSpPr/>
              <p:nvPr/>
            </p:nvSpPr>
            <p:spPr>
              <a:xfrm>
                <a:off x="4302" y="7588"/>
                <a:ext cx="1" cy="6665"/>
              </a:xfrm>
              <a:custGeom>
                <a:rect b="b" l="l" r="r" t="t"/>
                <a:pathLst>
                  <a:path extrusionOk="0" h="20000" w="20000">
                    <a:moveTo>
                      <a:pt x="0" y="0"/>
                    </a:moveTo>
                    <a:lnTo>
                      <a:pt x="0" y="19997"/>
                    </a:lnTo>
                  </a:path>
                </a:pathLst>
              </a:custGeom>
              <a:noFill/>
              <a:ln cap="flat" cmpd="sng" w="9525">
                <a:solidFill>
                  <a:srgbClr val="000000"/>
                </a:solidFill>
                <a:prstDash val="solid"/>
                <a:round/>
                <a:headEnd len="sm" w="sm" type="triangl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67" name="Google Shape;467;p43"/>
              <p:cNvSpPr/>
              <p:nvPr/>
            </p:nvSpPr>
            <p:spPr>
              <a:xfrm>
                <a:off x="3938" y="13496"/>
                <a:ext cx="6441" cy="1"/>
              </a:xfrm>
              <a:custGeom>
                <a:rect b="b" l="l" r="r" t="t"/>
                <a:pathLst>
                  <a:path extrusionOk="0" h="20000" w="20000">
                    <a:moveTo>
                      <a:pt x="19997" y="0"/>
                    </a:moveTo>
                    <a:lnTo>
                      <a:pt x="0" y="0"/>
                    </a:lnTo>
                  </a:path>
                </a:pathLst>
              </a:custGeom>
              <a:noFill/>
              <a:ln cap="flat" cmpd="sng" w="9525">
                <a:solidFill>
                  <a:srgbClr val="000000"/>
                </a:solidFill>
                <a:prstDash val="solid"/>
                <a:round/>
                <a:headEnd len="sm" w="sm" type="triangl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68" name="Google Shape;468;p43"/>
              <p:cNvSpPr/>
              <p:nvPr/>
            </p:nvSpPr>
            <p:spPr>
              <a:xfrm>
                <a:off x="3823" y="12401"/>
                <a:ext cx="337" cy="44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100" u="none" cap="none" strike="noStrike">
                    <a:solidFill>
                      <a:schemeClr val="dk1"/>
                    </a:solidFill>
                    <a:latin typeface="Calibri"/>
                    <a:ea typeface="Calibri"/>
                    <a:cs typeface="Calibri"/>
                    <a:sym typeface="Calibri"/>
                  </a:rPr>
                  <a:t>10</a:t>
                </a:r>
                <a:endParaRPr b="0" i="0" sz="1800" u="none" cap="none" strike="noStrike">
                  <a:solidFill>
                    <a:schemeClr val="dk1"/>
                  </a:solidFill>
                  <a:latin typeface="Arial"/>
                  <a:ea typeface="Arial"/>
                  <a:cs typeface="Arial"/>
                  <a:sym typeface="Arial"/>
                </a:endParaRPr>
              </a:p>
            </p:txBody>
          </p:sp>
          <p:sp>
            <p:nvSpPr>
              <p:cNvPr id="469" name="Google Shape;469;p43"/>
              <p:cNvSpPr/>
              <p:nvPr/>
            </p:nvSpPr>
            <p:spPr>
              <a:xfrm>
                <a:off x="3798" y="8931"/>
                <a:ext cx="337" cy="44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100" u="none" cap="none" strike="noStrike">
                    <a:solidFill>
                      <a:schemeClr val="dk1"/>
                    </a:solidFill>
                    <a:latin typeface="Calibri"/>
                    <a:ea typeface="Calibri"/>
                    <a:cs typeface="Calibri"/>
                    <a:sym typeface="Calibri"/>
                  </a:rPr>
                  <a:t>50</a:t>
                </a:r>
                <a:endParaRPr b="0" i="0" sz="1800" u="none" cap="none" strike="noStrike">
                  <a:solidFill>
                    <a:schemeClr val="dk1"/>
                  </a:solidFill>
                  <a:latin typeface="Arial"/>
                  <a:ea typeface="Arial"/>
                  <a:cs typeface="Arial"/>
                  <a:sym typeface="Arial"/>
                </a:endParaRPr>
              </a:p>
            </p:txBody>
          </p:sp>
          <p:sp>
            <p:nvSpPr>
              <p:cNvPr id="470" name="Google Shape;470;p43"/>
              <p:cNvSpPr/>
              <p:nvPr/>
            </p:nvSpPr>
            <p:spPr>
              <a:xfrm>
                <a:off x="8362" y="13579"/>
                <a:ext cx="337" cy="44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100" u="none" cap="none" strike="noStrike">
                    <a:solidFill>
                      <a:schemeClr val="dk1"/>
                    </a:solidFill>
                    <a:latin typeface="Calibri"/>
                    <a:ea typeface="Calibri"/>
                    <a:cs typeface="Calibri"/>
                    <a:sym typeface="Calibri"/>
                  </a:rPr>
                  <a:t>50</a:t>
                </a:r>
                <a:endParaRPr b="0" i="0" sz="1800" u="none" cap="none" strike="noStrike">
                  <a:solidFill>
                    <a:schemeClr val="dk1"/>
                  </a:solidFill>
                  <a:latin typeface="Arial"/>
                  <a:ea typeface="Arial"/>
                  <a:cs typeface="Arial"/>
                  <a:sym typeface="Arial"/>
                </a:endParaRPr>
              </a:p>
            </p:txBody>
          </p:sp>
          <p:sp>
            <p:nvSpPr>
              <p:cNvPr id="471" name="Google Shape;471;p43"/>
              <p:cNvSpPr/>
              <p:nvPr/>
            </p:nvSpPr>
            <p:spPr>
              <a:xfrm>
                <a:off x="6234" y="13580"/>
                <a:ext cx="337" cy="44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100" u="none" cap="none" strike="noStrike">
                    <a:solidFill>
                      <a:schemeClr val="dk1"/>
                    </a:solidFill>
                    <a:latin typeface="Calibri"/>
                    <a:ea typeface="Calibri"/>
                    <a:cs typeface="Calibri"/>
                    <a:sym typeface="Calibri"/>
                  </a:rPr>
                  <a:t>25</a:t>
                </a:r>
                <a:endParaRPr b="0" i="0" sz="1800" u="none" cap="none" strike="noStrike">
                  <a:solidFill>
                    <a:schemeClr val="dk1"/>
                  </a:solidFill>
                  <a:latin typeface="Arial"/>
                  <a:ea typeface="Arial"/>
                  <a:cs typeface="Arial"/>
                  <a:sym typeface="Arial"/>
                </a:endParaRPr>
              </a:p>
            </p:txBody>
          </p:sp>
          <p:sp>
            <p:nvSpPr>
              <p:cNvPr id="472" name="Google Shape;472;p43"/>
              <p:cNvSpPr/>
              <p:nvPr/>
            </p:nvSpPr>
            <p:spPr>
              <a:xfrm>
                <a:off x="4974" y="13579"/>
                <a:ext cx="337" cy="44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100" u="none" cap="none" strike="noStrike">
                    <a:solidFill>
                      <a:schemeClr val="dk1"/>
                    </a:solidFill>
                    <a:latin typeface="Calibri"/>
                    <a:ea typeface="Calibri"/>
                    <a:cs typeface="Calibri"/>
                    <a:sym typeface="Calibri"/>
                  </a:rPr>
                  <a:t>10</a:t>
                </a:r>
                <a:endParaRPr b="0" i="0" sz="1800" u="none" cap="none" strike="noStrike">
                  <a:solidFill>
                    <a:schemeClr val="dk1"/>
                  </a:solidFill>
                  <a:latin typeface="Arial"/>
                  <a:ea typeface="Arial"/>
                  <a:cs typeface="Arial"/>
                  <a:sym typeface="Arial"/>
                </a:endParaRPr>
              </a:p>
            </p:txBody>
          </p:sp>
          <p:sp>
            <p:nvSpPr>
              <p:cNvPr id="473" name="Google Shape;473;p43"/>
              <p:cNvSpPr/>
              <p:nvPr/>
            </p:nvSpPr>
            <p:spPr>
              <a:xfrm>
                <a:off x="3882" y="13579"/>
                <a:ext cx="337" cy="448"/>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0</a:t>
                </a:r>
                <a:endParaRPr b="1" i="0" sz="2000" u="none" cap="none" strike="noStrike">
                  <a:solidFill>
                    <a:schemeClr val="dk1"/>
                  </a:solidFill>
                  <a:latin typeface="Arial"/>
                  <a:ea typeface="Arial"/>
                  <a:cs typeface="Arial"/>
                  <a:sym typeface="Arial"/>
                </a:endParaRPr>
              </a:p>
            </p:txBody>
          </p:sp>
          <p:sp>
            <p:nvSpPr>
              <p:cNvPr id="474" name="Google Shape;474;p43"/>
              <p:cNvSpPr/>
              <p:nvPr/>
            </p:nvSpPr>
            <p:spPr>
              <a:xfrm>
                <a:off x="5142" y="13406"/>
                <a:ext cx="1" cy="225"/>
              </a:xfrm>
              <a:custGeom>
                <a:rect b="b" l="l" r="r" t="t"/>
                <a:pathLst>
                  <a:path extrusionOk="0" h="20000" w="20000">
                    <a:moveTo>
                      <a:pt x="0" y="0"/>
                    </a:moveTo>
                    <a:lnTo>
                      <a:pt x="0" y="19911"/>
                    </a:ln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75" name="Google Shape;475;p43"/>
              <p:cNvSpPr/>
              <p:nvPr/>
            </p:nvSpPr>
            <p:spPr>
              <a:xfrm>
                <a:off x="6010" y="13406"/>
                <a:ext cx="1" cy="225"/>
              </a:xfrm>
              <a:custGeom>
                <a:rect b="b" l="l" r="r" t="t"/>
                <a:pathLst>
                  <a:path extrusionOk="0" h="20000" w="20000">
                    <a:moveTo>
                      <a:pt x="0" y="0"/>
                    </a:moveTo>
                    <a:lnTo>
                      <a:pt x="0" y="19911"/>
                    </a:ln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76" name="Google Shape;476;p43"/>
              <p:cNvSpPr/>
              <p:nvPr/>
            </p:nvSpPr>
            <p:spPr>
              <a:xfrm>
                <a:off x="6850" y="13406"/>
                <a:ext cx="1" cy="225"/>
              </a:xfrm>
              <a:custGeom>
                <a:rect b="b" l="l" r="r" t="t"/>
                <a:pathLst>
                  <a:path extrusionOk="0" h="20000" w="20000">
                    <a:moveTo>
                      <a:pt x="0" y="0"/>
                    </a:moveTo>
                    <a:lnTo>
                      <a:pt x="0" y="19911"/>
                    </a:ln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77" name="Google Shape;477;p43"/>
              <p:cNvSpPr/>
              <p:nvPr/>
            </p:nvSpPr>
            <p:spPr>
              <a:xfrm>
                <a:off x="7690" y="13406"/>
                <a:ext cx="1" cy="225"/>
              </a:xfrm>
              <a:custGeom>
                <a:rect b="b" l="l" r="r" t="t"/>
                <a:pathLst>
                  <a:path extrusionOk="0" h="20000" w="20000">
                    <a:moveTo>
                      <a:pt x="0" y="0"/>
                    </a:moveTo>
                    <a:lnTo>
                      <a:pt x="0" y="19911"/>
                    </a:ln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78" name="Google Shape;478;p43"/>
              <p:cNvSpPr/>
              <p:nvPr/>
            </p:nvSpPr>
            <p:spPr>
              <a:xfrm>
                <a:off x="8530" y="13406"/>
                <a:ext cx="1" cy="225"/>
              </a:xfrm>
              <a:custGeom>
                <a:rect b="b" l="l" r="r" t="t"/>
                <a:pathLst>
                  <a:path extrusionOk="0" h="20000" w="20000">
                    <a:moveTo>
                      <a:pt x="0" y="0"/>
                    </a:moveTo>
                    <a:lnTo>
                      <a:pt x="0" y="19911"/>
                    </a:ln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nvGrpSpPr>
              <p:cNvPr id="479" name="Google Shape;479;p43"/>
              <p:cNvGrpSpPr/>
              <p:nvPr/>
            </p:nvGrpSpPr>
            <p:grpSpPr>
              <a:xfrm>
                <a:off x="4224" y="9184"/>
                <a:ext cx="169" cy="3445"/>
                <a:chOff x="0" y="-670"/>
                <a:chExt cx="20000" cy="20670"/>
              </a:xfrm>
            </p:grpSpPr>
            <p:sp>
              <p:nvSpPr>
                <p:cNvPr id="480" name="Google Shape;480;p43"/>
                <p:cNvSpPr/>
                <p:nvPr/>
              </p:nvSpPr>
              <p:spPr>
                <a:xfrm>
                  <a:off x="0" y="19994"/>
                  <a:ext cx="20000" cy="6"/>
                </a:xfrm>
                <a:custGeom>
                  <a:rect b="b" l="l" r="r" t="t"/>
                  <a:pathLst>
                    <a:path extrusionOk="0" h="20000" w="20000">
                      <a:moveTo>
                        <a:pt x="0" y="0"/>
                      </a:moveTo>
                      <a:lnTo>
                        <a:pt x="19882" y="0"/>
                      </a:ln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1" name="Google Shape;481;p43"/>
                <p:cNvSpPr/>
                <p:nvPr/>
              </p:nvSpPr>
              <p:spPr>
                <a:xfrm>
                  <a:off x="0" y="14786"/>
                  <a:ext cx="20000" cy="6"/>
                </a:xfrm>
                <a:custGeom>
                  <a:rect b="b" l="l" r="r" t="t"/>
                  <a:pathLst>
                    <a:path extrusionOk="0" h="20000" w="20000">
                      <a:moveTo>
                        <a:pt x="0" y="0"/>
                      </a:moveTo>
                      <a:lnTo>
                        <a:pt x="19882" y="0"/>
                      </a:ln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2" name="Google Shape;482;p43"/>
                <p:cNvSpPr/>
                <p:nvPr/>
              </p:nvSpPr>
              <p:spPr>
                <a:xfrm>
                  <a:off x="0" y="9578"/>
                  <a:ext cx="20000" cy="6"/>
                </a:xfrm>
                <a:custGeom>
                  <a:rect b="b" l="l" r="r" t="t"/>
                  <a:pathLst>
                    <a:path extrusionOk="0" h="20000" w="20000">
                      <a:moveTo>
                        <a:pt x="0" y="0"/>
                      </a:moveTo>
                      <a:lnTo>
                        <a:pt x="19882" y="0"/>
                      </a:ln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3" name="Google Shape;483;p43"/>
                <p:cNvSpPr/>
                <p:nvPr/>
              </p:nvSpPr>
              <p:spPr>
                <a:xfrm>
                  <a:off x="0" y="4370"/>
                  <a:ext cx="20000" cy="6"/>
                </a:xfrm>
                <a:custGeom>
                  <a:rect b="b" l="l" r="r" t="t"/>
                  <a:pathLst>
                    <a:path extrusionOk="0" h="20000" w="20000">
                      <a:moveTo>
                        <a:pt x="0" y="0"/>
                      </a:moveTo>
                      <a:lnTo>
                        <a:pt x="19882" y="0"/>
                      </a:ln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4" name="Google Shape;484;p43"/>
                <p:cNvSpPr/>
                <p:nvPr/>
              </p:nvSpPr>
              <p:spPr>
                <a:xfrm>
                  <a:off x="0" y="-670"/>
                  <a:ext cx="20000" cy="6"/>
                </a:xfrm>
                <a:custGeom>
                  <a:rect b="b" l="l" r="r" t="t"/>
                  <a:pathLst>
                    <a:path extrusionOk="0" h="20000" w="20000">
                      <a:moveTo>
                        <a:pt x="0" y="0"/>
                      </a:moveTo>
                      <a:lnTo>
                        <a:pt x="19882" y="0"/>
                      </a:ln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
            <p:nvSpPr>
              <p:cNvPr id="485" name="Google Shape;485;p43"/>
              <p:cNvSpPr/>
              <p:nvPr/>
            </p:nvSpPr>
            <p:spPr>
              <a:xfrm>
                <a:off x="2986" y="11228"/>
                <a:ext cx="2913" cy="3137"/>
              </a:xfrm>
              <a:custGeom>
                <a:rect b="b" l="l" r="r" t="t"/>
                <a:pathLst>
                  <a:path extrusionOk="0" h="20000" w="20000">
                    <a:moveTo>
                      <a:pt x="0" y="0"/>
                    </a:moveTo>
                    <a:lnTo>
                      <a:pt x="19993" y="19994"/>
                    </a:lnTo>
                  </a:path>
                </a:pathLst>
              </a:custGeom>
              <a:noFill/>
              <a:ln cap="flat" cmpd="sng" w="9525">
                <a:solidFill>
                  <a:srgbClr val="000000"/>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6" name="Google Shape;486;p43"/>
              <p:cNvSpPr/>
              <p:nvPr/>
            </p:nvSpPr>
            <p:spPr>
              <a:xfrm>
                <a:off x="2566" y="11620"/>
                <a:ext cx="2913" cy="3137"/>
              </a:xfrm>
              <a:custGeom>
                <a:rect b="b" l="l" r="r" t="t"/>
                <a:pathLst>
                  <a:path extrusionOk="0" h="20000" w="20000">
                    <a:moveTo>
                      <a:pt x="0" y="0"/>
                    </a:moveTo>
                    <a:lnTo>
                      <a:pt x="19993" y="19994"/>
                    </a:ln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7" name="Google Shape;487;p43"/>
              <p:cNvSpPr/>
              <p:nvPr/>
            </p:nvSpPr>
            <p:spPr>
              <a:xfrm>
                <a:off x="6430" y="13406"/>
                <a:ext cx="1" cy="225"/>
              </a:xfrm>
              <a:custGeom>
                <a:rect b="b" l="l" r="r" t="t"/>
                <a:pathLst>
                  <a:path extrusionOk="0" h="20000" w="20000">
                    <a:moveTo>
                      <a:pt x="0" y="0"/>
                    </a:moveTo>
                    <a:lnTo>
                      <a:pt x="0" y="19911"/>
                    </a:ln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8" name="Google Shape;488;p43"/>
              <p:cNvSpPr/>
              <p:nvPr/>
            </p:nvSpPr>
            <p:spPr>
              <a:xfrm>
                <a:off x="3882" y="7756"/>
                <a:ext cx="1765" cy="6721"/>
              </a:xfrm>
              <a:custGeom>
                <a:rect b="b" l="l" r="r" t="t"/>
                <a:pathLst>
                  <a:path extrusionOk="0" h="20000" w="20000">
                    <a:moveTo>
                      <a:pt x="0" y="0"/>
                    </a:moveTo>
                    <a:lnTo>
                      <a:pt x="19989" y="19997"/>
                    </a:ln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89" name="Google Shape;489;p43"/>
              <p:cNvSpPr/>
              <p:nvPr/>
            </p:nvSpPr>
            <p:spPr>
              <a:xfrm>
                <a:off x="5643" y="13406"/>
                <a:ext cx="1" cy="225"/>
              </a:xfrm>
              <a:custGeom>
                <a:rect b="b" l="l" r="r" t="t"/>
                <a:pathLst>
                  <a:path extrusionOk="0" h="20000" w="20000">
                    <a:moveTo>
                      <a:pt x="0" y="0"/>
                    </a:moveTo>
                    <a:lnTo>
                      <a:pt x="0" y="19911"/>
                    </a:lnTo>
                  </a:path>
                </a:pathLst>
              </a:custGeom>
              <a:no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90" name="Google Shape;490;p43"/>
              <p:cNvSpPr/>
              <p:nvPr/>
            </p:nvSpPr>
            <p:spPr>
              <a:xfrm>
                <a:off x="5310" y="13412"/>
                <a:ext cx="142" cy="142"/>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91" name="Google Shape;491;p43"/>
              <p:cNvSpPr/>
              <p:nvPr/>
            </p:nvSpPr>
            <p:spPr>
              <a:xfrm>
                <a:off x="4218" y="11872"/>
                <a:ext cx="142" cy="142"/>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92" name="Google Shape;492;p43"/>
              <p:cNvSpPr/>
              <p:nvPr/>
            </p:nvSpPr>
            <p:spPr>
              <a:xfrm>
                <a:off x="5181" y="12861"/>
                <a:ext cx="142" cy="142"/>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93" name="Google Shape;493;p43"/>
              <p:cNvSpPr/>
              <p:nvPr/>
            </p:nvSpPr>
            <p:spPr>
              <a:xfrm>
                <a:off x="4722" y="12211"/>
                <a:ext cx="142" cy="142"/>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94" name="Google Shape;494;p43"/>
              <p:cNvSpPr/>
              <p:nvPr/>
            </p:nvSpPr>
            <p:spPr>
              <a:xfrm>
                <a:off x="3070" y="10416"/>
                <a:ext cx="4117" cy="4453"/>
              </a:xfrm>
              <a:custGeom>
                <a:rect b="b" l="l" r="r" t="t"/>
                <a:pathLst>
                  <a:path extrusionOk="0" h="20000" w="20000">
                    <a:moveTo>
                      <a:pt x="0" y="0"/>
                    </a:moveTo>
                    <a:lnTo>
                      <a:pt x="117" y="63"/>
                    </a:lnTo>
                    <a:lnTo>
                      <a:pt x="19995" y="19996"/>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95" name="Google Shape;495;p43"/>
              <p:cNvSpPr/>
              <p:nvPr/>
            </p:nvSpPr>
            <p:spPr>
              <a:xfrm>
                <a:off x="4218" y="13412"/>
                <a:ext cx="142" cy="142"/>
              </a:xfrm>
              <a:prstGeom prst="ellipse">
                <a:avLst/>
              </a:prstGeom>
              <a:solidFill>
                <a:srgbClr val="000000"/>
              </a:solid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496" name="Google Shape;496;p43"/>
              <p:cNvSpPr/>
              <p:nvPr/>
            </p:nvSpPr>
            <p:spPr>
              <a:xfrm>
                <a:off x="3770" y="7280"/>
                <a:ext cx="561" cy="47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(x</a:t>
                </a:r>
                <a:r>
                  <a:rPr b="0" baseline="-25000" i="0" lang="en-US" sz="2000" u="none" cap="none" strike="noStrike">
                    <a:solidFill>
                      <a:schemeClr val="dk1"/>
                    </a:solidFill>
                    <a:latin typeface="Calibri"/>
                    <a:ea typeface="Calibri"/>
                    <a:cs typeface="Calibri"/>
                    <a:sym typeface="Calibri"/>
                  </a:rPr>
                  <a:t>2</a:t>
                </a:r>
                <a:r>
                  <a:rPr b="0" i="0" lang="en-US" sz="2000" u="none" cap="none" strike="noStrike">
                    <a:solidFill>
                      <a:schemeClr val="dk1"/>
                    </a:solidFill>
                    <a:latin typeface="Calibri"/>
                    <a:ea typeface="Calibri"/>
                    <a:cs typeface="Calibri"/>
                    <a:sym typeface="Calibri"/>
                  </a:rPr>
                  <a:t>)</a:t>
                </a:r>
                <a:endParaRPr b="0" i="0" sz="2000" u="none" cap="none" strike="noStrike">
                  <a:solidFill>
                    <a:schemeClr val="dk1"/>
                  </a:solidFill>
                  <a:latin typeface="Arial"/>
                  <a:ea typeface="Arial"/>
                  <a:cs typeface="Arial"/>
                  <a:sym typeface="Arial"/>
                </a:endParaRPr>
              </a:p>
            </p:txBody>
          </p:sp>
          <p:sp>
            <p:nvSpPr>
              <p:cNvPr id="497" name="Google Shape;497;p43"/>
              <p:cNvSpPr/>
              <p:nvPr/>
            </p:nvSpPr>
            <p:spPr>
              <a:xfrm>
                <a:off x="10126" y="13552"/>
                <a:ext cx="561" cy="47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(x</a:t>
                </a:r>
                <a:r>
                  <a:rPr b="0" baseline="-25000" i="0" lang="en-US" sz="2000" u="none" cap="none" strike="noStrike">
                    <a:solidFill>
                      <a:schemeClr val="dk1"/>
                    </a:solidFill>
                    <a:latin typeface="Calibri"/>
                    <a:ea typeface="Calibri"/>
                    <a:cs typeface="Calibri"/>
                    <a:sym typeface="Calibri"/>
                  </a:rPr>
                  <a:t>1</a:t>
                </a:r>
                <a:r>
                  <a:rPr b="0" i="0" lang="en-US" sz="2000" u="none" cap="none" strike="noStrike">
                    <a:solidFill>
                      <a:schemeClr val="dk1"/>
                    </a:solidFill>
                    <a:latin typeface="Calibri"/>
                    <a:ea typeface="Calibri"/>
                    <a:cs typeface="Calibri"/>
                    <a:sym typeface="Calibri"/>
                  </a:rPr>
                  <a:t>)</a:t>
                </a:r>
                <a:endParaRPr b="0" i="0" sz="2000" u="none" cap="none" strike="noStrike">
                  <a:solidFill>
                    <a:schemeClr val="dk1"/>
                  </a:solidFill>
                  <a:latin typeface="Arial"/>
                  <a:ea typeface="Arial"/>
                  <a:cs typeface="Arial"/>
                  <a:sym typeface="Arial"/>
                </a:endParaRPr>
              </a:p>
            </p:txBody>
          </p:sp>
          <p:sp>
            <p:nvSpPr>
              <p:cNvPr id="498" name="Google Shape;498;p43"/>
              <p:cNvSpPr/>
              <p:nvPr/>
            </p:nvSpPr>
            <p:spPr>
              <a:xfrm>
                <a:off x="3630" y="11059"/>
                <a:ext cx="561" cy="47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100" u="none" cap="none" strike="noStrike">
                    <a:solidFill>
                      <a:schemeClr val="dk1"/>
                    </a:solidFill>
                    <a:latin typeface="Calibri"/>
                    <a:ea typeface="Calibri"/>
                    <a:cs typeface="Calibri"/>
                    <a:sym typeface="Calibri"/>
                  </a:rPr>
                  <a:t>225</a:t>
                </a:r>
                <a:endParaRPr b="0" i="0" sz="1800" u="none" cap="none" strike="noStrike">
                  <a:solidFill>
                    <a:schemeClr val="dk1"/>
                  </a:solidFill>
                  <a:latin typeface="Arial"/>
                  <a:ea typeface="Arial"/>
                  <a:cs typeface="Arial"/>
                  <a:sym typeface="Arial"/>
                </a:endParaRPr>
              </a:p>
            </p:txBody>
          </p:sp>
          <p:sp>
            <p:nvSpPr>
              <p:cNvPr id="499" name="Google Shape;499;p43"/>
              <p:cNvSpPr/>
              <p:nvPr/>
            </p:nvSpPr>
            <p:spPr>
              <a:xfrm>
                <a:off x="3652" y="11725"/>
                <a:ext cx="561" cy="47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100" u="none" cap="none" strike="noStrike">
                    <a:solidFill>
                      <a:schemeClr val="dk1"/>
                    </a:solidFill>
                    <a:latin typeface="Calibri"/>
                    <a:ea typeface="Calibri"/>
                    <a:cs typeface="Calibri"/>
                    <a:sym typeface="Calibri"/>
                  </a:rPr>
                  <a:t>16.67</a:t>
                </a:r>
                <a:endParaRPr b="0" i="0" sz="1800" u="none" cap="none" strike="noStrike">
                  <a:solidFill>
                    <a:schemeClr val="dk1"/>
                  </a:solidFill>
                  <a:latin typeface="Arial"/>
                  <a:ea typeface="Arial"/>
                  <a:cs typeface="Arial"/>
                  <a:sym typeface="Arial"/>
                </a:endParaRPr>
              </a:p>
            </p:txBody>
          </p:sp>
          <p:sp>
            <p:nvSpPr>
              <p:cNvPr id="500" name="Google Shape;500;p43"/>
              <p:cNvSpPr/>
              <p:nvPr/>
            </p:nvSpPr>
            <p:spPr>
              <a:xfrm>
                <a:off x="5419" y="13607"/>
                <a:ext cx="561" cy="47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1" i="0" lang="en-US" sz="2000" u="none" cap="none" strike="noStrike">
                    <a:solidFill>
                      <a:schemeClr val="dk1"/>
                    </a:solidFill>
                    <a:latin typeface="Calibri"/>
                    <a:ea typeface="Calibri"/>
                    <a:cs typeface="Calibri"/>
                    <a:sym typeface="Calibri"/>
                  </a:rPr>
                  <a:t>A</a:t>
                </a:r>
                <a:r>
                  <a:rPr b="0" baseline="-25000" i="0" lang="en-US" sz="2000" u="none" cap="none" strike="noStrike">
                    <a:solidFill>
                      <a:schemeClr val="dk1"/>
                    </a:solidFill>
                    <a:latin typeface="Calibri"/>
                    <a:ea typeface="Calibri"/>
                    <a:cs typeface="Calibri"/>
                    <a:sym typeface="Calibri"/>
                  </a:rPr>
                  <a:t>15</a:t>
                </a:r>
                <a:endParaRPr b="0" i="0" sz="2000" u="none" cap="none" strike="noStrike">
                  <a:solidFill>
                    <a:schemeClr val="dk1"/>
                  </a:solidFill>
                  <a:latin typeface="Arial"/>
                  <a:ea typeface="Arial"/>
                  <a:cs typeface="Arial"/>
                  <a:sym typeface="Arial"/>
                </a:endParaRPr>
              </a:p>
            </p:txBody>
          </p:sp>
          <p:sp>
            <p:nvSpPr>
              <p:cNvPr id="501" name="Google Shape;501;p43"/>
              <p:cNvSpPr/>
              <p:nvPr/>
            </p:nvSpPr>
            <p:spPr>
              <a:xfrm>
                <a:off x="4526" y="11843"/>
                <a:ext cx="561" cy="476"/>
              </a:xfrm>
              <a:prstGeom prst="rect">
                <a:avLst/>
              </a:prstGeom>
              <a:noFill/>
              <a:ln>
                <a:noFill/>
              </a:ln>
            </p:spPr>
            <p:txBody>
              <a:bodyPr anchorCtr="0" anchor="t" bIns="12700" lIns="0" spcFirstLastPara="1" rIns="0" wrap="square" tIns="12700">
                <a:noAutofit/>
              </a:bodyPr>
              <a:lstStyle/>
              <a:p>
                <a:pPr indent="0" lvl="0" marL="0" marR="0" rtl="0" algn="ctr">
                  <a:spcBef>
                    <a:spcPts val="0"/>
                  </a:spcBef>
                  <a:spcAft>
                    <a:spcPts val="0"/>
                  </a:spcAft>
                  <a:buNone/>
                </a:pPr>
                <a:r>
                  <a:rPr b="1" i="0" lang="en-US" sz="1800" u="none" cap="none" strike="noStrike">
                    <a:solidFill>
                      <a:srgbClr val="800000"/>
                    </a:solidFill>
                    <a:latin typeface="Calibri"/>
                    <a:ea typeface="Calibri"/>
                    <a:cs typeface="Calibri"/>
                    <a:sym typeface="Calibri"/>
                  </a:rPr>
                  <a:t>C</a:t>
                </a:r>
                <a:endParaRPr b="1" i="0" sz="1800" u="none" cap="none" strike="noStrike">
                  <a:solidFill>
                    <a:srgbClr val="800000"/>
                  </a:solidFill>
                  <a:latin typeface="Arial"/>
                  <a:ea typeface="Arial"/>
                  <a:cs typeface="Arial"/>
                  <a:sym typeface="Arial"/>
                </a:endParaRPr>
              </a:p>
            </p:txBody>
          </p:sp>
          <p:sp>
            <p:nvSpPr>
              <p:cNvPr id="502" name="Google Shape;502;p43"/>
              <p:cNvSpPr/>
              <p:nvPr/>
            </p:nvSpPr>
            <p:spPr>
              <a:xfrm>
                <a:off x="3434" y="7867"/>
                <a:ext cx="561" cy="47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(D</a:t>
                </a:r>
                <a:r>
                  <a:rPr b="0" baseline="-25000" i="0" lang="en-US" sz="2000" u="none" cap="none" strike="noStrike">
                    <a:solidFill>
                      <a:schemeClr val="dk1"/>
                    </a:solidFill>
                    <a:latin typeface="Calibri"/>
                    <a:ea typeface="Calibri"/>
                    <a:cs typeface="Calibri"/>
                    <a:sym typeface="Calibri"/>
                  </a:rPr>
                  <a:t>3</a:t>
                </a:r>
                <a:r>
                  <a:rPr b="0" i="0" lang="en-US" sz="2000" u="none" cap="none" strike="noStrike">
                    <a:solidFill>
                      <a:schemeClr val="dk1"/>
                    </a:solidFill>
                    <a:latin typeface="Calibri"/>
                    <a:ea typeface="Calibri"/>
                    <a:cs typeface="Calibri"/>
                    <a:sym typeface="Calibri"/>
                  </a:rPr>
                  <a:t>)</a:t>
                </a:r>
                <a:endParaRPr b="0" i="0" sz="2000" u="none" cap="none" strike="noStrike">
                  <a:solidFill>
                    <a:schemeClr val="dk1"/>
                  </a:solidFill>
                  <a:latin typeface="Arial"/>
                  <a:ea typeface="Arial"/>
                  <a:cs typeface="Arial"/>
                  <a:sym typeface="Arial"/>
                </a:endParaRPr>
              </a:p>
            </p:txBody>
          </p:sp>
          <p:sp>
            <p:nvSpPr>
              <p:cNvPr id="503" name="Google Shape;503;p43"/>
              <p:cNvSpPr/>
              <p:nvPr/>
            </p:nvSpPr>
            <p:spPr>
              <a:xfrm>
                <a:off x="3126" y="11199"/>
                <a:ext cx="561" cy="47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(D</a:t>
                </a:r>
                <a:r>
                  <a:rPr b="0" baseline="-25000" i="0" lang="en-US" sz="2000" u="none" cap="none" strike="noStrike">
                    <a:solidFill>
                      <a:schemeClr val="dk1"/>
                    </a:solidFill>
                    <a:latin typeface="Calibri"/>
                    <a:ea typeface="Calibri"/>
                    <a:cs typeface="Calibri"/>
                    <a:sym typeface="Calibri"/>
                  </a:rPr>
                  <a:t>1</a:t>
                </a:r>
                <a:r>
                  <a:rPr b="0" i="0" lang="en-US" sz="2000" u="none" cap="none" strike="noStrike">
                    <a:solidFill>
                      <a:schemeClr val="dk1"/>
                    </a:solidFill>
                    <a:latin typeface="Calibri"/>
                    <a:ea typeface="Calibri"/>
                    <a:cs typeface="Calibri"/>
                    <a:sym typeface="Calibri"/>
                  </a:rPr>
                  <a:t>)</a:t>
                </a:r>
                <a:endParaRPr b="0" i="0" sz="2000" u="none" cap="none" strike="noStrike">
                  <a:solidFill>
                    <a:schemeClr val="dk1"/>
                  </a:solidFill>
                  <a:latin typeface="Arial"/>
                  <a:ea typeface="Arial"/>
                  <a:cs typeface="Arial"/>
                  <a:sym typeface="Arial"/>
                </a:endParaRPr>
              </a:p>
            </p:txBody>
          </p:sp>
          <p:sp>
            <p:nvSpPr>
              <p:cNvPr id="504" name="Google Shape;504;p43"/>
              <p:cNvSpPr/>
              <p:nvPr/>
            </p:nvSpPr>
            <p:spPr>
              <a:xfrm>
                <a:off x="2958" y="9939"/>
                <a:ext cx="561" cy="47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2000" u="none" cap="none" strike="noStrike">
                    <a:solidFill>
                      <a:schemeClr val="dk1"/>
                    </a:solidFill>
                    <a:latin typeface="Calibri"/>
                    <a:ea typeface="Calibri"/>
                    <a:cs typeface="Calibri"/>
                    <a:sym typeface="Calibri"/>
                  </a:rPr>
                  <a:t>(D</a:t>
                </a:r>
                <a:r>
                  <a:rPr b="0" baseline="-25000" i="0" lang="en-US" sz="2000" u="none" cap="none" strike="noStrike">
                    <a:solidFill>
                      <a:schemeClr val="dk1"/>
                    </a:solidFill>
                    <a:latin typeface="Calibri"/>
                    <a:ea typeface="Calibri"/>
                    <a:cs typeface="Calibri"/>
                    <a:sym typeface="Calibri"/>
                  </a:rPr>
                  <a:t>2</a:t>
                </a:r>
                <a:r>
                  <a:rPr b="0" i="0" lang="en-US" sz="2000" u="none" cap="none" strike="noStrike">
                    <a:solidFill>
                      <a:schemeClr val="dk1"/>
                    </a:solidFill>
                    <a:latin typeface="Calibri"/>
                    <a:ea typeface="Calibri"/>
                    <a:cs typeface="Calibri"/>
                    <a:sym typeface="Calibri"/>
                  </a:rPr>
                  <a:t>)</a:t>
                </a:r>
                <a:endParaRPr b="0" i="0" sz="2000" u="none" cap="none" strike="noStrike">
                  <a:solidFill>
                    <a:schemeClr val="dk1"/>
                  </a:solidFill>
                  <a:latin typeface="Arial"/>
                  <a:ea typeface="Arial"/>
                  <a:cs typeface="Arial"/>
                  <a:sym typeface="Arial"/>
                </a:endParaRPr>
              </a:p>
            </p:txBody>
          </p:sp>
          <p:sp>
            <p:nvSpPr>
              <p:cNvPr id="505" name="Google Shape;505;p43"/>
              <p:cNvSpPr/>
              <p:nvPr/>
            </p:nvSpPr>
            <p:spPr>
              <a:xfrm>
                <a:off x="2678" y="11396"/>
                <a:ext cx="337" cy="309"/>
              </a:xfrm>
              <a:custGeom>
                <a:rect b="b" l="l" r="r" t="t"/>
                <a:pathLst>
                  <a:path extrusionOk="0" h="20000" w="20000">
                    <a:moveTo>
                      <a:pt x="0" y="19935"/>
                    </a:moveTo>
                    <a:lnTo>
                      <a:pt x="19941" y="0"/>
                    </a:lnTo>
                  </a:path>
                </a:pathLst>
              </a:custGeom>
              <a:noFill/>
              <a:ln cap="flat" cmpd="sng" w="9525">
                <a:solidFill>
                  <a:srgbClr val="000000"/>
                </a:solidFill>
                <a:prstDash val="solid"/>
                <a:round/>
                <a:headEnd len="sm" w="sm" type="none"/>
                <a:tailEnd len="sm" w="sm"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
          <p:nvSpPr>
            <p:cNvPr id="506" name="Google Shape;506;p43"/>
            <p:cNvSpPr/>
            <p:nvPr/>
          </p:nvSpPr>
          <p:spPr>
            <a:xfrm rot="2852155">
              <a:off x="1770" y="10276"/>
              <a:ext cx="2100" cy="193"/>
            </a:xfrm>
            <a:prstGeom prst="rect">
              <a:avLst/>
            </a:prstGeom>
          </p:spPr>
          <p:txBody>
            <a:bodyPr>
              <a:prstTxWarp prst="textPlain"/>
            </a:bodyPr>
            <a:lstStyle/>
            <a:p>
              <a:pPr lvl="0" algn="ctr"/>
              <a:r>
                <a:rPr b="0" i="0">
                  <a:ln>
                    <a:noFill/>
                  </a:ln>
                  <a:solidFill>
                    <a:srgbClr val="000000"/>
                  </a:solidFill>
                  <a:latin typeface="Times New Roman"/>
                </a:rPr>
                <a:t>Z = 18x1 + 21x2 = 378</a:t>
              </a:r>
            </a:p>
          </p:txBody>
        </p:sp>
        <p:sp>
          <p:nvSpPr>
            <p:cNvPr id="507" name="Google Shape;507;p43"/>
            <p:cNvSpPr/>
            <p:nvPr/>
          </p:nvSpPr>
          <p:spPr>
            <a:xfrm rot="2852155">
              <a:off x="1771" y="12081"/>
              <a:ext cx="2089" cy="180"/>
            </a:xfrm>
            <a:prstGeom prst="rect">
              <a:avLst/>
            </a:prstGeom>
          </p:spPr>
          <p:txBody>
            <a:bodyPr>
              <a:prstTxWarp prst="textPlain"/>
            </a:bodyPr>
            <a:lstStyle/>
            <a:p>
              <a:pPr lvl="0" algn="ctr"/>
              <a:r>
                <a:rPr b="0" i="0">
                  <a:ln>
                    <a:noFill/>
                  </a:ln>
                  <a:solidFill>
                    <a:srgbClr val="000000"/>
                  </a:solidFill>
                  <a:latin typeface="Times New Roman"/>
                </a:rPr>
                <a:t>Z = 18x1 + 21x2 = 0</a:t>
              </a:r>
            </a:p>
          </p:txBody>
        </p:sp>
        <p:sp>
          <p:nvSpPr>
            <p:cNvPr id="508" name="Google Shape;508;p43"/>
            <p:cNvSpPr/>
            <p:nvPr/>
          </p:nvSpPr>
          <p:spPr>
            <a:xfrm rot="2852155">
              <a:off x="1771" y="11052"/>
              <a:ext cx="1146" cy="187"/>
            </a:xfrm>
            <a:prstGeom prst="rect">
              <a:avLst/>
            </a:prstGeom>
          </p:spPr>
          <p:txBody>
            <a:bodyPr>
              <a:prstTxWarp prst="textPlain"/>
            </a:bodyPr>
            <a:lstStyle/>
            <a:p>
              <a:pPr lvl="0" algn="ctr"/>
              <a:r>
                <a:rPr b="0" i="0">
                  <a:ln>
                    <a:noFill/>
                  </a:ln>
                  <a:solidFill>
                    <a:srgbClr val="000000"/>
                  </a:solidFill>
                  <a:latin typeface="Times New Roman"/>
                </a:rPr>
                <a:t>18x1 + 21x2</a:t>
              </a:r>
            </a:p>
          </p:txBody>
        </p:sp>
      </p:grpSp>
      <p:sp>
        <p:nvSpPr>
          <p:cNvPr id="509" name="Google Shape;509;p43"/>
          <p:cNvSpPr/>
          <p:nvPr/>
        </p:nvSpPr>
        <p:spPr>
          <a:xfrm>
            <a:off x="2667000" y="4191000"/>
            <a:ext cx="1066800" cy="1295400"/>
          </a:xfrm>
          <a:custGeom>
            <a:rect b="b" l="l" r="r" t="t"/>
            <a:pathLst>
              <a:path extrusionOk="0" h="816" w="672">
                <a:moveTo>
                  <a:pt x="0" y="816"/>
                </a:moveTo>
                <a:lnTo>
                  <a:pt x="0" y="0"/>
                </a:lnTo>
                <a:lnTo>
                  <a:pt x="336" y="192"/>
                </a:lnTo>
                <a:lnTo>
                  <a:pt x="624" y="528"/>
                </a:lnTo>
                <a:lnTo>
                  <a:pt x="672" y="816"/>
                </a:lnTo>
                <a:lnTo>
                  <a:pt x="0" y="816"/>
                </a:lnTo>
                <a:close/>
              </a:path>
            </a:pathLst>
          </a:custGeom>
          <a:solidFill>
            <a:srgbClr val="99CC00">
              <a:alpha val="49803"/>
            </a:srgb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cxnSp>
        <p:nvCxnSpPr>
          <p:cNvPr id="510" name="Google Shape;510;p43"/>
          <p:cNvCxnSpPr/>
          <p:nvPr/>
        </p:nvCxnSpPr>
        <p:spPr>
          <a:xfrm>
            <a:off x="3200400" y="4495800"/>
            <a:ext cx="0" cy="990600"/>
          </a:xfrm>
          <a:prstGeom prst="straightConnector1">
            <a:avLst/>
          </a:prstGeom>
          <a:noFill/>
          <a:ln cap="flat" cmpd="sng" w="19050">
            <a:solidFill>
              <a:srgbClr val="800000"/>
            </a:solidFill>
            <a:prstDash val="dash"/>
            <a:round/>
            <a:headEnd len="med" w="med" type="none"/>
            <a:tailEnd len="med" w="med" type="none"/>
          </a:ln>
        </p:spPr>
      </p:cxnSp>
      <p:cxnSp>
        <p:nvCxnSpPr>
          <p:cNvPr id="511" name="Google Shape;511;p43"/>
          <p:cNvCxnSpPr/>
          <p:nvPr/>
        </p:nvCxnSpPr>
        <p:spPr>
          <a:xfrm rot="10800000">
            <a:off x="2667000" y="4495800"/>
            <a:ext cx="533400" cy="0"/>
          </a:xfrm>
          <a:prstGeom prst="straightConnector1">
            <a:avLst/>
          </a:prstGeom>
          <a:noFill/>
          <a:ln cap="flat" cmpd="sng" w="19050">
            <a:solidFill>
              <a:srgbClr val="800000"/>
            </a:solidFill>
            <a:prstDash val="dash"/>
            <a:round/>
            <a:headEnd len="med" w="med" type="none"/>
            <a:tailEnd len="med" w="med" type="none"/>
          </a:ln>
        </p:spPr>
      </p:cxnSp>
      <p:sp>
        <p:nvSpPr>
          <p:cNvPr id="512" name="Google Shape;512;p43"/>
          <p:cNvSpPr txBox="1"/>
          <p:nvPr/>
        </p:nvSpPr>
        <p:spPr>
          <a:xfrm>
            <a:off x="3041650" y="5500688"/>
            <a:ext cx="3111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800000"/>
                </a:solidFill>
                <a:latin typeface="Arial"/>
                <a:ea typeface="Arial"/>
                <a:cs typeface="Arial"/>
                <a:sym typeface="Arial"/>
              </a:rPr>
              <a:t>7</a:t>
            </a:r>
            <a:endParaRPr/>
          </a:p>
        </p:txBody>
      </p:sp>
      <p:sp>
        <p:nvSpPr>
          <p:cNvPr id="513" name="Google Shape;513;p43"/>
          <p:cNvSpPr txBox="1"/>
          <p:nvPr/>
        </p:nvSpPr>
        <p:spPr>
          <a:xfrm>
            <a:off x="2305050" y="4343400"/>
            <a:ext cx="438150"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800000"/>
                </a:solidFill>
                <a:latin typeface="Arial"/>
                <a:ea typeface="Arial"/>
                <a:cs typeface="Arial"/>
                <a:sym typeface="Arial"/>
              </a:rPr>
              <a:t>12</a:t>
            </a:r>
            <a:endParaRPr/>
          </a:p>
        </p:txBody>
      </p:sp>
      <p:grpSp>
        <p:nvGrpSpPr>
          <p:cNvPr id="514" name="Google Shape;514;p43"/>
          <p:cNvGrpSpPr/>
          <p:nvPr/>
        </p:nvGrpSpPr>
        <p:grpSpPr>
          <a:xfrm>
            <a:off x="3733800" y="2590800"/>
            <a:ext cx="3886200" cy="1539875"/>
            <a:chOff x="2352" y="1632"/>
            <a:chExt cx="2448" cy="970"/>
          </a:xfrm>
        </p:grpSpPr>
        <p:sp>
          <p:nvSpPr>
            <p:cNvPr id="515" name="Google Shape;515;p43"/>
            <p:cNvSpPr txBox="1"/>
            <p:nvPr/>
          </p:nvSpPr>
          <p:spPr>
            <a:xfrm>
              <a:off x="2352" y="1632"/>
              <a:ext cx="2326" cy="44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99"/>
                  </a:solidFill>
                  <a:latin typeface="Times New Roman"/>
                  <a:ea typeface="Times New Roman"/>
                  <a:cs typeface="Times New Roman"/>
                  <a:sym typeface="Times New Roman"/>
                </a:rPr>
                <a:t>Nghiệm tối ưu:</a:t>
              </a:r>
              <a:r>
                <a:rPr b="0" i="0" lang="en-US" sz="2000" u="none" cap="none" strike="noStrike">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x</a:t>
              </a:r>
              <a:r>
                <a:rPr b="0" baseline="-25000" i="0" lang="en-US" sz="2000" u="none" cap="none" strike="noStrike">
                  <a:solidFill>
                    <a:schemeClr val="dk1"/>
                  </a:solidFill>
                  <a:latin typeface="Times New Roman"/>
                  <a:ea typeface="Times New Roman"/>
                  <a:cs typeface="Times New Roman"/>
                  <a:sym typeface="Times New Roman"/>
                </a:rPr>
                <a:t>1</a:t>
              </a:r>
              <a:r>
                <a:rPr b="0" i="0" lang="en-US" sz="2000" u="none" cap="none" strike="noStrike">
                  <a:solidFill>
                    <a:schemeClr val="dk1"/>
                  </a:solidFill>
                  <a:latin typeface="Times New Roman"/>
                  <a:ea typeface="Times New Roman"/>
                  <a:cs typeface="Times New Roman"/>
                  <a:sym typeface="Times New Roman"/>
                </a:rPr>
                <a:t>=7; x</a:t>
              </a:r>
              <a:r>
                <a:rPr b="0" baseline="-25000" i="0" lang="en-US" sz="2000" u="none" cap="none" strike="noStrike">
                  <a:solidFill>
                    <a:schemeClr val="dk1"/>
                  </a:solidFill>
                  <a:latin typeface="Times New Roman"/>
                  <a:ea typeface="Times New Roman"/>
                  <a:cs typeface="Times New Roman"/>
                  <a:sym typeface="Times New Roman"/>
                </a:rPr>
                <a:t>2</a:t>
              </a:r>
              <a:r>
                <a:rPr b="0" i="0" lang="en-US" sz="2000" u="none" cap="none" strike="noStrike">
                  <a:solidFill>
                    <a:schemeClr val="dk1"/>
                  </a:solidFill>
                  <a:latin typeface="Times New Roman"/>
                  <a:ea typeface="Times New Roman"/>
                  <a:cs typeface="Times New Roman"/>
                  <a:sym typeface="Times New Roman"/>
                </a:rPr>
                <a:t>=12 hay </a:t>
              </a:r>
              <a:r>
                <a:rPr b="1" i="0" lang="en-US" sz="2000" u="none" cap="none" strike="noStrike">
                  <a:solidFill>
                    <a:schemeClr val="dk1"/>
                  </a:solidFill>
                  <a:latin typeface="Times New Roman"/>
                  <a:ea typeface="Times New Roman"/>
                  <a:cs typeface="Times New Roman"/>
                  <a:sym typeface="Times New Roman"/>
                </a:rPr>
                <a:t>C(7; 12)</a:t>
              </a:r>
              <a:endParaRPr/>
            </a:p>
          </p:txBody>
        </p:sp>
        <p:sp>
          <p:nvSpPr>
            <p:cNvPr id="516" name="Google Shape;516;p43"/>
            <p:cNvSpPr txBox="1"/>
            <p:nvPr/>
          </p:nvSpPr>
          <p:spPr>
            <a:xfrm>
              <a:off x="2352" y="2160"/>
              <a:ext cx="2448" cy="44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0099"/>
                  </a:solidFill>
                  <a:latin typeface="Times New Roman"/>
                  <a:ea typeface="Times New Roman"/>
                  <a:cs typeface="Times New Roman"/>
                  <a:sym typeface="Times New Roman"/>
                </a:rPr>
                <a:t>Ràng buộc tích cực:</a:t>
              </a:r>
              <a:r>
                <a:rPr b="0" i="0" lang="en-US" sz="2000" u="none" cap="none" strike="noStrike">
                  <a:solidFill>
                    <a:schemeClr val="dk1"/>
                  </a:solidFill>
                  <a:latin typeface="Times New Roman"/>
                  <a:ea typeface="Times New Roman"/>
                  <a:cs typeface="Times New Roman"/>
                  <a:sym typeface="Times New Roman"/>
                </a:rPr>
                <a:t>   D</a:t>
              </a:r>
              <a:r>
                <a:rPr b="0" baseline="-25000" i="0" lang="en-US" sz="2000" u="none" cap="none" strike="noStrike">
                  <a:solidFill>
                    <a:schemeClr val="dk1"/>
                  </a:solidFill>
                  <a:latin typeface="Times New Roman"/>
                  <a:ea typeface="Times New Roman"/>
                  <a:cs typeface="Times New Roman"/>
                  <a:sym typeface="Times New Roman"/>
                </a:rPr>
                <a:t>1</a:t>
              </a:r>
              <a:r>
                <a:rPr b="0" i="0" lang="en-US" sz="2000" u="none" cap="none" strike="noStrike">
                  <a:solidFill>
                    <a:schemeClr val="dk1"/>
                  </a:solidFill>
                  <a:latin typeface="Times New Roman"/>
                  <a:ea typeface="Times New Roman"/>
                  <a:cs typeface="Times New Roman"/>
                  <a:sym typeface="Times New Roman"/>
                </a:rPr>
                <a:t> và D</a:t>
              </a:r>
              <a:r>
                <a:rPr b="0" baseline="-25000" i="0" lang="en-US" sz="2000" u="none" cap="none" strike="noStrike">
                  <a:solidFill>
                    <a:schemeClr val="dk1"/>
                  </a:solidFill>
                  <a:latin typeface="Times New Roman"/>
                  <a:ea typeface="Times New Roman"/>
                  <a:cs typeface="Times New Roman"/>
                  <a:sym typeface="Times New Roman"/>
                </a:rPr>
                <a:t>2 </a:t>
              </a:r>
              <a:endParaRPr/>
            </a:p>
            <a:p>
              <a:pPr indent="0" lvl="0" marL="0" marR="0" rtl="0" algn="l">
                <a:spcBef>
                  <a:spcPts val="0"/>
                </a:spcBef>
                <a:spcAft>
                  <a:spcPts val="0"/>
                </a:spcAft>
                <a:buNone/>
              </a:pPr>
              <a:r>
                <a:rPr b="0" baseline="-25000" i="0" lang="en-US" sz="2000" u="none" cap="none" strike="noStrike">
                  <a:solidFill>
                    <a:schemeClr val="dk1"/>
                  </a:solidFill>
                  <a:latin typeface="Times New Roman"/>
                  <a:ea typeface="Times New Roman"/>
                  <a:cs typeface="Times New Roman"/>
                  <a:sym typeface="Times New Roman"/>
                </a:rPr>
                <a:t>	</a:t>
              </a:r>
              <a:r>
                <a:rPr b="1" i="1" lang="en-US" sz="2000" u="none" cap="none" strike="noStrike">
                  <a:solidFill>
                    <a:schemeClr val="dk1"/>
                  </a:solidFill>
                  <a:latin typeface="Times New Roman"/>
                  <a:ea typeface="Times New Roman"/>
                  <a:cs typeface="Times New Roman"/>
                  <a:sym typeface="Times New Roman"/>
                </a:rPr>
                <a:t>(Số RBTC = Số Biến QĐ)</a:t>
              </a:r>
              <a:endParaRPr/>
            </a:p>
          </p:txBody>
        </p:sp>
      </p:grpSp>
      <p:sp>
        <p:nvSpPr>
          <p:cNvPr id="517" name="Google Shape;517;p43"/>
          <p:cNvSpPr txBox="1"/>
          <p:nvPr/>
        </p:nvSpPr>
        <p:spPr>
          <a:xfrm>
            <a:off x="3624263" y="152400"/>
            <a:ext cx="5291137" cy="240665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800000"/>
                </a:solidFill>
                <a:latin typeface="Times New Roman"/>
                <a:ea typeface="Times New Roman"/>
                <a:cs typeface="Times New Roman"/>
                <a:sym typeface="Times New Roman"/>
              </a:rPr>
              <a:t>Tọa độ của điểm C</a:t>
            </a:r>
            <a:r>
              <a:rPr b="0" i="0" lang="en-US" sz="2000" u="none" cap="none" strike="noStrike">
                <a:solidFill>
                  <a:schemeClr val="dk1"/>
                </a:solidFill>
                <a:latin typeface="Times New Roman"/>
                <a:ea typeface="Times New Roman"/>
                <a:cs typeface="Times New Roman"/>
                <a:sym typeface="Times New Roman"/>
              </a:rPr>
              <a:t> là nghiệm của hệ phương trình</a:t>
            </a:r>
            <a:endParaRPr/>
          </a:p>
          <a:p>
            <a:pPr indent="0" lvl="0" marL="0" marR="0" rtl="0" algn="l">
              <a:spcBef>
                <a:spcPts val="200"/>
              </a:spcBef>
              <a:spcAft>
                <a:spcPts val="0"/>
              </a:spcAft>
              <a:buNone/>
            </a:pPr>
            <a:r>
              <a:rPr b="0" i="0" lang="en-US" sz="2000" u="none" cap="none" strike="noStrike">
                <a:solidFill>
                  <a:schemeClr val="dk1"/>
                </a:solidFill>
                <a:latin typeface="Times New Roman"/>
                <a:ea typeface="Times New Roman"/>
                <a:cs typeface="Times New Roman"/>
                <a:sym typeface="Times New Roman"/>
              </a:rPr>
              <a:t>	2x</a:t>
            </a:r>
            <a:r>
              <a:rPr b="0" baseline="-25000" i="0" lang="en-US" sz="2000" u="none" cap="none" strike="noStrike">
                <a:solidFill>
                  <a:schemeClr val="dk1"/>
                </a:solidFill>
                <a:latin typeface="Times New Roman"/>
                <a:ea typeface="Times New Roman"/>
                <a:cs typeface="Times New Roman"/>
                <a:sym typeface="Times New Roman"/>
              </a:rPr>
              <a:t>1</a:t>
            </a:r>
            <a:r>
              <a:rPr b="0" i="0" lang="en-US" sz="2000" u="none" cap="none" strike="noStrike">
                <a:solidFill>
                  <a:schemeClr val="dk1"/>
                </a:solidFill>
                <a:latin typeface="Times New Roman"/>
                <a:ea typeface="Times New Roman"/>
                <a:cs typeface="Times New Roman"/>
                <a:sym typeface="Times New Roman"/>
              </a:rPr>
              <a:t> + 3x</a:t>
            </a:r>
            <a:r>
              <a:rPr b="0" baseline="-25000" i="0" lang="en-US" sz="2000" u="none" cap="none" strike="noStrike">
                <a:solidFill>
                  <a:schemeClr val="dk1"/>
                </a:solidFill>
                <a:latin typeface="Times New Roman"/>
                <a:ea typeface="Times New Roman"/>
                <a:cs typeface="Times New Roman"/>
                <a:sym typeface="Times New Roman"/>
              </a:rPr>
              <a:t>2</a:t>
            </a:r>
            <a:r>
              <a:rPr b="0" i="0" lang="en-US" sz="2000" u="none" cap="none" strike="noStrike">
                <a:solidFill>
                  <a:schemeClr val="dk1"/>
                </a:solidFill>
                <a:latin typeface="Times New Roman"/>
                <a:ea typeface="Times New Roman"/>
                <a:cs typeface="Times New Roman"/>
                <a:sym typeface="Times New Roman"/>
              </a:rPr>
              <a:t> = 50		</a:t>
            </a:r>
            <a:r>
              <a:rPr b="0" i="0" lang="en-US" sz="2000" u="none" cap="none" strike="noStrike">
                <a:solidFill>
                  <a:srgbClr val="800000"/>
                </a:solidFill>
                <a:latin typeface="Times New Roman"/>
                <a:ea typeface="Times New Roman"/>
                <a:cs typeface="Times New Roman"/>
                <a:sym typeface="Times New Roman"/>
              </a:rPr>
              <a:t>x</a:t>
            </a:r>
            <a:r>
              <a:rPr b="0" baseline="-25000" i="0" lang="en-US" sz="2000" u="none" cap="none" strike="noStrike">
                <a:solidFill>
                  <a:srgbClr val="800000"/>
                </a:solidFill>
                <a:latin typeface="Times New Roman"/>
                <a:ea typeface="Times New Roman"/>
                <a:cs typeface="Times New Roman"/>
                <a:sym typeface="Times New Roman"/>
              </a:rPr>
              <a:t>1</a:t>
            </a:r>
            <a:r>
              <a:rPr b="0" i="0" lang="en-US" sz="2000" u="none" cap="none" strike="noStrike">
                <a:solidFill>
                  <a:srgbClr val="800000"/>
                </a:solidFill>
                <a:latin typeface="Times New Roman"/>
                <a:ea typeface="Times New Roman"/>
                <a:cs typeface="Times New Roman"/>
                <a:sym typeface="Times New Roman"/>
              </a:rPr>
              <a:t>*</a:t>
            </a:r>
            <a:r>
              <a:rPr b="0" i="0" lang="en-US" sz="2000" u="none" cap="none" strike="noStrike">
                <a:solidFill>
                  <a:schemeClr val="dk1"/>
                </a:solidFill>
                <a:latin typeface="Times New Roman"/>
                <a:ea typeface="Times New Roman"/>
                <a:cs typeface="Times New Roman"/>
                <a:sym typeface="Times New Roman"/>
              </a:rPr>
              <a:t> = 7</a:t>
            </a:r>
            <a:endParaRPr/>
          </a:p>
          <a:p>
            <a:pPr indent="0" lvl="0" marL="0" marR="0" rtl="0" algn="l">
              <a:spcBef>
                <a:spcPts val="200"/>
              </a:spcBef>
              <a:spcAft>
                <a:spcPts val="0"/>
              </a:spcAft>
              <a:buNone/>
            </a:pPr>
            <a:r>
              <a:rPr b="0" i="0" lang="en-US" sz="2000" u="none" cap="none" strike="noStrike">
                <a:solidFill>
                  <a:schemeClr val="dk1"/>
                </a:solidFill>
                <a:latin typeface="Times New Roman"/>
                <a:ea typeface="Times New Roman"/>
                <a:cs typeface="Times New Roman"/>
                <a:sym typeface="Times New Roman"/>
              </a:rPr>
              <a:t>	6x</a:t>
            </a:r>
            <a:r>
              <a:rPr b="0" baseline="-25000" i="0" lang="en-US" sz="2000" u="none" cap="none" strike="noStrike">
                <a:solidFill>
                  <a:schemeClr val="dk1"/>
                </a:solidFill>
                <a:latin typeface="Times New Roman"/>
                <a:ea typeface="Times New Roman"/>
                <a:cs typeface="Times New Roman"/>
                <a:sym typeface="Times New Roman"/>
              </a:rPr>
              <a:t>1</a:t>
            </a:r>
            <a:r>
              <a:rPr b="0" i="0" lang="en-US" sz="2000" u="none" cap="none" strike="noStrike">
                <a:solidFill>
                  <a:schemeClr val="dk1"/>
                </a:solidFill>
                <a:latin typeface="Times New Roman"/>
                <a:ea typeface="Times New Roman"/>
                <a:cs typeface="Times New Roman"/>
                <a:sym typeface="Times New Roman"/>
              </a:rPr>
              <a:t> + 4x</a:t>
            </a:r>
            <a:r>
              <a:rPr b="0" baseline="-25000" i="0" lang="en-US" sz="2000" u="none" cap="none" strike="noStrike">
                <a:solidFill>
                  <a:schemeClr val="dk1"/>
                </a:solidFill>
                <a:latin typeface="Times New Roman"/>
                <a:ea typeface="Times New Roman"/>
                <a:cs typeface="Times New Roman"/>
                <a:sym typeface="Times New Roman"/>
              </a:rPr>
              <a:t>2</a:t>
            </a:r>
            <a:r>
              <a:rPr b="0" i="0" lang="en-US" sz="2000" u="none" cap="none" strike="noStrike">
                <a:solidFill>
                  <a:schemeClr val="dk1"/>
                </a:solidFill>
                <a:latin typeface="Times New Roman"/>
                <a:ea typeface="Times New Roman"/>
                <a:cs typeface="Times New Roman"/>
                <a:sym typeface="Times New Roman"/>
              </a:rPr>
              <a:t> = 90   		</a:t>
            </a:r>
            <a:r>
              <a:rPr b="0" i="0" lang="en-US" sz="2000" u="none" cap="none" strike="noStrike">
                <a:solidFill>
                  <a:srgbClr val="800000"/>
                </a:solidFill>
                <a:latin typeface="Times New Roman"/>
                <a:ea typeface="Times New Roman"/>
                <a:cs typeface="Times New Roman"/>
                <a:sym typeface="Times New Roman"/>
              </a:rPr>
              <a:t>x</a:t>
            </a:r>
            <a:r>
              <a:rPr b="0" baseline="-25000" i="0" lang="en-US" sz="2000" u="none" cap="none" strike="noStrike">
                <a:solidFill>
                  <a:srgbClr val="800000"/>
                </a:solidFill>
                <a:latin typeface="Times New Roman"/>
                <a:ea typeface="Times New Roman"/>
                <a:cs typeface="Times New Roman"/>
                <a:sym typeface="Times New Roman"/>
              </a:rPr>
              <a:t>2</a:t>
            </a:r>
            <a:r>
              <a:rPr b="0" i="0" lang="en-US" sz="2000" u="none" cap="none" strike="noStrike">
                <a:solidFill>
                  <a:srgbClr val="800000"/>
                </a:solidFill>
                <a:latin typeface="Times New Roman"/>
                <a:ea typeface="Times New Roman"/>
                <a:cs typeface="Times New Roman"/>
                <a:sym typeface="Times New Roman"/>
              </a:rPr>
              <a:t>*</a:t>
            </a:r>
            <a:r>
              <a:rPr b="0" i="0" lang="en-US" sz="2000" u="none" cap="none" strike="noStrike">
                <a:solidFill>
                  <a:schemeClr val="dk1"/>
                </a:solidFill>
                <a:latin typeface="Times New Roman"/>
                <a:ea typeface="Times New Roman"/>
                <a:cs typeface="Times New Roman"/>
                <a:sym typeface="Times New Roman"/>
              </a:rPr>
              <a:t> = 12   </a:t>
            </a:r>
            <a:endParaRPr/>
          </a:p>
          <a:p>
            <a:pPr indent="0" lvl="0" marL="0" marR="0" rtl="0" algn="l">
              <a:spcBef>
                <a:spcPts val="200"/>
              </a:spcBef>
              <a:spcAft>
                <a:spcPts val="0"/>
              </a:spcAft>
              <a:buNone/>
            </a:pPr>
            <a:r>
              <a:rPr b="1" i="0" lang="en-US" sz="2000" u="none" cap="none" strike="noStrike">
                <a:solidFill>
                  <a:srgbClr val="000099"/>
                </a:solidFill>
                <a:latin typeface="Times New Roman"/>
                <a:ea typeface="Times New Roman"/>
                <a:cs typeface="Times New Roman"/>
                <a:sym typeface="Times New Roman"/>
              </a:rPr>
              <a:t>Giá trị của hàm mục tiêu:</a:t>
            </a:r>
            <a:endParaRPr/>
          </a:p>
          <a:p>
            <a:pPr indent="0" lvl="0" marL="0" marR="0" rtl="0" algn="l">
              <a:spcBef>
                <a:spcPts val="200"/>
              </a:spcBef>
              <a:spcAft>
                <a:spcPts val="0"/>
              </a:spcAft>
              <a:buNone/>
            </a:pPr>
            <a:r>
              <a:rPr b="0" i="0" lang="en-US" sz="2000" u="none" cap="none" strike="noStrike">
                <a:solidFill>
                  <a:schemeClr val="dk1"/>
                </a:solidFill>
                <a:latin typeface="Times New Roman"/>
                <a:ea typeface="Times New Roman"/>
                <a:cs typeface="Times New Roman"/>
                <a:sym typeface="Times New Roman"/>
              </a:rPr>
              <a:t>	Z  =   </a:t>
            </a:r>
            <a:r>
              <a:rPr b="1" i="0" lang="en-US" sz="2000" u="none" cap="none" strike="noStrike">
                <a:solidFill>
                  <a:schemeClr val="dk1"/>
                </a:solidFill>
                <a:latin typeface="Times New Roman"/>
                <a:ea typeface="Times New Roman"/>
                <a:cs typeface="Times New Roman"/>
                <a:sym typeface="Times New Roman"/>
              </a:rPr>
              <a:t>Z</a:t>
            </a:r>
            <a:r>
              <a:rPr b="1" baseline="-25000" i="0" lang="en-US" sz="2000" u="none" cap="none" strike="noStrike">
                <a:solidFill>
                  <a:schemeClr val="dk1"/>
                </a:solidFill>
                <a:latin typeface="Times New Roman"/>
                <a:ea typeface="Times New Roman"/>
                <a:cs typeface="Times New Roman"/>
                <a:sym typeface="Times New Roman"/>
              </a:rPr>
              <a:t>max</a:t>
            </a:r>
            <a:r>
              <a:rPr b="0" i="0" lang="en-US" sz="2000" u="none" cap="none" strike="noStrike">
                <a:solidFill>
                  <a:schemeClr val="dk1"/>
                </a:solidFill>
                <a:latin typeface="Times New Roman"/>
                <a:ea typeface="Times New Roman"/>
                <a:cs typeface="Times New Roman"/>
                <a:sym typeface="Times New Roman"/>
              </a:rPr>
              <a:t> 	=  18</a:t>
            </a:r>
            <a:r>
              <a:rPr b="0" i="0" lang="en-US" sz="2000" u="none" cap="none" strike="noStrike">
                <a:solidFill>
                  <a:srgbClr val="800000"/>
                </a:solidFill>
                <a:latin typeface="Times New Roman"/>
                <a:ea typeface="Times New Roman"/>
                <a:cs typeface="Times New Roman"/>
                <a:sym typeface="Times New Roman"/>
              </a:rPr>
              <a:t>x</a:t>
            </a:r>
            <a:r>
              <a:rPr b="0" baseline="-25000" i="0" lang="en-US" sz="2000" u="none" cap="none" strike="noStrike">
                <a:solidFill>
                  <a:srgbClr val="800000"/>
                </a:solidFill>
                <a:latin typeface="Times New Roman"/>
                <a:ea typeface="Times New Roman"/>
                <a:cs typeface="Times New Roman"/>
                <a:sym typeface="Times New Roman"/>
              </a:rPr>
              <a:t>1</a:t>
            </a:r>
            <a:r>
              <a:rPr b="0" i="0" lang="en-US" sz="2000" u="none" cap="none" strike="noStrike">
                <a:solidFill>
                  <a:srgbClr val="800000"/>
                </a:solidFill>
                <a:latin typeface="Times New Roman"/>
                <a:ea typeface="Times New Roman"/>
                <a:cs typeface="Times New Roman"/>
                <a:sym typeface="Times New Roman"/>
              </a:rPr>
              <a:t>*</a:t>
            </a:r>
            <a:r>
              <a:rPr b="0" i="0" lang="en-US" sz="2000" u="none" cap="none" strike="noStrike">
                <a:solidFill>
                  <a:schemeClr val="dk1"/>
                </a:solidFill>
                <a:latin typeface="Times New Roman"/>
                <a:ea typeface="Times New Roman"/>
                <a:cs typeface="Times New Roman"/>
                <a:sym typeface="Times New Roman"/>
              </a:rPr>
              <a:t> + 21</a:t>
            </a:r>
            <a:r>
              <a:rPr b="0" i="0" lang="en-US" sz="2000" u="none" cap="none" strike="noStrike">
                <a:solidFill>
                  <a:srgbClr val="800000"/>
                </a:solidFill>
                <a:latin typeface="Times New Roman"/>
                <a:ea typeface="Times New Roman"/>
                <a:cs typeface="Times New Roman"/>
                <a:sym typeface="Times New Roman"/>
              </a:rPr>
              <a:t>x</a:t>
            </a:r>
            <a:r>
              <a:rPr b="0" baseline="-25000" i="0" lang="en-US" sz="2000" u="none" cap="none" strike="noStrike">
                <a:solidFill>
                  <a:srgbClr val="800000"/>
                </a:solidFill>
                <a:latin typeface="Times New Roman"/>
                <a:ea typeface="Times New Roman"/>
                <a:cs typeface="Times New Roman"/>
                <a:sym typeface="Times New Roman"/>
              </a:rPr>
              <a:t>2</a:t>
            </a:r>
            <a:r>
              <a:rPr b="0" i="0" lang="en-US" sz="2000" u="none" cap="none" strike="noStrike">
                <a:solidFill>
                  <a:srgbClr val="800000"/>
                </a:solidFill>
                <a:latin typeface="Times New Roman"/>
                <a:ea typeface="Times New Roman"/>
                <a:cs typeface="Times New Roman"/>
                <a:sym typeface="Times New Roman"/>
              </a:rPr>
              <a:t>*</a:t>
            </a:r>
            <a:endParaRPr/>
          </a:p>
          <a:p>
            <a:pPr indent="0" lvl="0" marL="0" marR="0" rtl="0" algn="l">
              <a:spcBef>
                <a:spcPts val="200"/>
              </a:spcBef>
              <a:spcAft>
                <a:spcPts val="0"/>
              </a:spcAft>
              <a:buNone/>
            </a:pPr>
            <a:r>
              <a:rPr b="0" i="0" lang="en-US" sz="2000" u="none" cap="none" strike="noStrike">
                <a:solidFill>
                  <a:schemeClr val="dk1"/>
                </a:solidFill>
                <a:latin typeface="Times New Roman"/>
                <a:ea typeface="Times New Roman"/>
                <a:cs typeface="Times New Roman"/>
                <a:sym typeface="Times New Roman"/>
              </a:rPr>
              <a:t>			=  18 x7 + 21x12</a:t>
            </a:r>
            <a:endParaRPr/>
          </a:p>
          <a:p>
            <a:pPr indent="0" lvl="0" marL="0" marR="0" rtl="0" algn="l">
              <a:spcBef>
                <a:spcPts val="200"/>
              </a:spcBef>
              <a:spcAft>
                <a:spcPts val="0"/>
              </a:spcAft>
              <a:buNone/>
            </a:pPr>
            <a:r>
              <a:rPr b="0" i="0" lang="en-US" sz="2000" u="none" cap="none" strike="noStrike">
                <a:solidFill>
                  <a:schemeClr val="dk1"/>
                </a:solidFill>
                <a:latin typeface="Times New Roman"/>
                <a:ea typeface="Times New Roman"/>
                <a:cs typeface="Times New Roman"/>
                <a:sym typeface="Times New Roman"/>
              </a:rPr>
              <a:t>	          </a:t>
            </a:r>
            <a:r>
              <a:rPr b="1" i="0" lang="en-US" sz="2000" u="none" cap="none" strike="noStrike">
                <a:solidFill>
                  <a:srgbClr val="800000"/>
                </a:solidFill>
                <a:latin typeface="Times New Roman"/>
                <a:ea typeface="Times New Roman"/>
                <a:cs typeface="Times New Roman"/>
                <a:sym typeface="Times New Roman"/>
              </a:rPr>
              <a:t>Z</a:t>
            </a:r>
            <a:r>
              <a:rPr b="1" baseline="-25000" i="0" lang="en-US" sz="2000" u="none" cap="none" strike="noStrike">
                <a:solidFill>
                  <a:srgbClr val="800000"/>
                </a:solidFill>
                <a:latin typeface="Times New Roman"/>
                <a:ea typeface="Times New Roman"/>
                <a:cs typeface="Times New Roman"/>
                <a:sym typeface="Times New Roman"/>
              </a:rPr>
              <a:t>max</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rgbClr val="990033"/>
                </a:solidFill>
                <a:latin typeface="Times New Roman"/>
                <a:ea typeface="Times New Roman"/>
                <a:cs typeface="Times New Roman"/>
                <a:sym typeface="Times New Roman"/>
              </a:rPr>
              <a:t>=  378</a:t>
            </a:r>
            <a:endParaRPr/>
          </a:p>
        </p:txBody>
      </p:sp>
      <p:sp>
        <p:nvSpPr>
          <p:cNvPr id="518" name="Google Shape;518;p43"/>
          <p:cNvSpPr txBox="1"/>
          <p:nvPr/>
        </p:nvSpPr>
        <p:spPr>
          <a:xfrm>
            <a:off x="1752600" y="6232525"/>
            <a:ext cx="187483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3399"/>
                </a:solidFill>
                <a:latin typeface="Times New Roman"/>
                <a:ea typeface="Times New Roman"/>
                <a:cs typeface="Times New Roman"/>
                <a:sym typeface="Times New Roman"/>
              </a:rPr>
              <a:t>Đường đẳng lợi</a:t>
            </a:r>
            <a:endParaRPr/>
          </a:p>
        </p:txBody>
      </p:sp>
      <p:sp>
        <p:nvSpPr>
          <p:cNvPr id="519" name="Google Shape;519;p43"/>
          <p:cNvSpPr txBox="1"/>
          <p:nvPr/>
        </p:nvSpPr>
        <p:spPr>
          <a:xfrm>
            <a:off x="4724400" y="4114800"/>
            <a:ext cx="2933700" cy="10064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6600CC"/>
                </a:solidFill>
                <a:latin typeface="Times New Roman"/>
                <a:ea typeface="Times New Roman"/>
                <a:cs typeface="Times New Roman"/>
                <a:sym typeface="Times New Roman"/>
              </a:rPr>
              <a:t>Vùng nghiệm khả dĩ </a:t>
            </a:r>
            <a:endParaRPr/>
          </a:p>
          <a:p>
            <a:pPr indent="0" lvl="0" marL="0" marR="0" rtl="0" algn="l">
              <a:spcBef>
                <a:spcPts val="0"/>
              </a:spcBef>
              <a:spcAft>
                <a:spcPts val="0"/>
              </a:spcAft>
              <a:buNone/>
            </a:pPr>
            <a:r>
              <a:rPr b="1" i="1" lang="en-US" sz="2000" u="none" cap="none" strike="noStrike">
                <a:solidFill>
                  <a:srgbClr val="6600CC"/>
                </a:solidFill>
                <a:latin typeface="Times New Roman"/>
                <a:ea typeface="Times New Roman"/>
                <a:cs typeface="Times New Roman"/>
                <a:sym typeface="Times New Roman"/>
              </a:rPr>
              <a:t>(Miền không gian lời giải,</a:t>
            </a:r>
            <a:endParaRPr/>
          </a:p>
          <a:p>
            <a:pPr indent="0" lvl="0" marL="0" marR="0" rtl="0" algn="l">
              <a:spcBef>
                <a:spcPts val="0"/>
              </a:spcBef>
              <a:spcAft>
                <a:spcPts val="0"/>
              </a:spcAft>
              <a:buNone/>
            </a:pPr>
            <a:r>
              <a:rPr b="1" i="1" lang="en-US" sz="2000" u="none" cap="none" strike="noStrike">
                <a:solidFill>
                  <a:srgbClr val="6600CC"/>
                </a:solidFill>
                <a:latin typeface="Times New Roman"/>
                <a:ea typeface="Times New Roman"/>
                <a:cs typeface="Times New Roman"/>
                <a:sym typeface="Times New Roman"/>
              </a:rPr>
              <a:t>                 KG sách lược)</a:t>
            </a:r>
            <a:endParaRPr/>
          </a:p>
        </p:txBody>
      </p:sp>
      <p:cxnSp>
        <p:nvCxnSpPr>
          <p:cNvPr id="520" name="Google Shape;520;p43"/>
          <p:cNvCxnSpPr/>
          <p:nvPr/>
        </p:nvCxnSpPr>
        <p:spPr>
          <a:xfrm flipH="1" rot="10800000">
            <a:off x="3352800" y="4419600"/>
            <a:ext cx="1447800" cy="533400"/>
          </a:xfrm>
          <a:prstGeom prst="straightConnector1">
            <a:avLst/>
          </a:prstGeom>
          <a:noFill/>
          <a:ln cap="flat" cmpd="sng" w="28575">
            <a:solidFill>
              <a:srgbClr val="9900CC"/>
            </a:solidFill>
            <a:prstDash val="solid"/>
            <a:round/>
            <a:headEnd len="med" w="med" type="stealth"/>
            <a:tailEnd len="med" w="med" type="none"/>
          </a:ln>
        </p:spPr>
      </p:cxnSp>
      <p:cxnSp>
        <p:nvCxnSpPr>
          <p:cNvPr id="521" name="Google Shape;521;p43"/>
          <p:cNvCxnSpPr/>
          <p:nvPr/>
        </p:nvCxnSpPr>
        <p:spPr>
          <a:xfrm flipH="1" rot="10800000">
            <a:off x="3048000" y="6019800"/>
            <a:ext cx="152400" cy="304800"/>
          </a:xfrm>
          <a:prstGeom prst="straightConnector1">
            <a:avLst/>
          </a:prstGeom>
          <a:noFill/>
          <a:ln cap="flat" cmpd="sng" w="28575">
            <a:solidFill>
              <a:srgbClr val="FF3399"/>
            </a:solidFill>
            <a:prstDash val="solid"/>
            <a:round/>
            <a:headEnd len="med" w="med" type="none"/>
            <a:tailEnd len="med" w="med" type="stealth"/>
          </a:ln>
        </p:spPr>
      </p:cxnSp>
      <p:cxnSp>
        <p:nvCxnSpPr>
          <p:cNvPr id="522" name="Google Shape;522;p43"/>
          <p:cNvCxnSpPr/>
          <p:nvPr/>
        </p:nvCxnSpPr>
        <p:spPr>
          <a:xfrm flipH="1" rot="10800000">
            <a:off x="3657600" y="5791200"/>
            <a:ext cx="152400" cy="304800"/>
          </a:xfrm>
          <a:prstGeom prst="straightConnector1">
            <a:avLst/>
          </a:prstGeom>
          <a:noFill/>
          <a:ln cap="flat" cmpd="sng" w="28575">
            <a:solidFill>
              <a:srgbClr val="FF3399"/>
            </a:solidFill>
            <a:prstDash val="solid"/>
            <a:round/>
            <a:headEnd len="med" w="med" type="none"/>
            <a:tailEnd len="med" w="med" type="stealth"/>
          </a:ln>
        </p:spPr>
      </p:cxnSp>
      <p:cxnSp>
        <p:nvCxnSpPr>
          <p:cNvPr id="523" name="Google Shape;523;p43"/>
          <p:cNvCxnSpPr/>
          <p:nvPr/>
        </p:nvCxnSpPr>
        <p:spPr>
          <a:xfrm flipH="1" rot="10800000">
            <a:off x="4953000" y="6248400"/>
            <a:ext cx="152400" cy="304800"/>
          </a:xfrm>
          <a:prstGeom prst="straightConnector1">
            <a:avLst/>
          </a:prstGeom>
          <a:noFill/>
          <a:ln cap="flat" cmpd="sng" w="28575">
            <a:solidFill>
              <a:srgbClr val="FF3399"/>
            </a:solidFill>
            <a:prstDash val="solid"/>
            <a:round/>
            <a:headEnd len="med" w="med" type="none"/>
            <a:tailEnd len="med" w="med" type="stealth"/>
          </a:ln>
        </p:spPr>
      </p:cxnSp>
      <p:sp>
        <p:nvSpPr>
          <p:cNvPr id="524" name="Google Shape;524;p43"/>
          <p:cNvSpPr txBox="1"/>
          <p:nvPr/>
        </p:nvSpPr>
        <p:spPr>
          <a:xfrm>
            <a:off x="1625600" y="5013325"/>
            <a:ext cx="812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3399"/>
                </a:solidFill>
                <a:latin typeface="Times New Roman"/>
                <a:ea typeface="Times New Roman"/>
                <a:cs typeface="Times New Roman"/>
                <a:sym typeface="Times New Roman"/>
              </a:rPr>
              <a:t>Z</a:t>
            </a:r>
            <a:r>
              <a:rPr b="1" baseline="-25000" i="0" lang="en-US" sz="2000" u="none" cap="none" strike="noStrike">
                <a:solidFill>
                  <a:srgbClr val="FF3399"/>
                </a:solidFill>
                <a:latin typeface="Times New Roman"/>
                <a:ea typeface="Times New Roman"/>
                <a:cs typeface="Times New Roman"/>
                <a:sym typeface="Times New Roman"/>
              </a:rPr>
              <a:t>0 </a:t>
            </a:r>
            <a:r>
              <a:rPr b="1" i="0" lang="en-US" sz="2000" u="none" cap="none" strike="noStrike">
                <a:solidFill>
                  <a:srgbClr val="FF3399"/>
                </a:solidFill>
                <a:latin typeface="Times New Roman"/>
                <a:ea typeface="Times New Roman"/>
                <a:cs typeface="Times New Roman"/>
                <a:sym typeface="Times New Roman"/>
              </a:rPr>
              <a:t>= 0</a:t>
            </a:r>
            <a:endParaRPr/>
          </a:p>
        </p:txBody>
      </p:sp>
      <p:sp>
        <p:nvSpPr>
          <p:cNvPr id="525" name="Google Shape;525;p43"/>
          <p:cNvSpPr txBox="1"/>
          <p:nvPr/>
        </p:nvSpPr>
        <p:spPr>
          <a:xfrm>
            <a:off x="3702050" y="4814888"/>
            <a:ext cx="349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Arial"/>
                <a:ea typeface="Arial"/>
                <a:cs typeface="Arial"/>
                <a:sym typeface="Arial"/>
              </a:rPr>
              <a:t>B</a:t>
            </a:r>
            <a:endParaRPr/>
          </a:p>
        </p:txBody>
      </p:sp>
      <p:sp>
        <p:nvSpPr>
          <p:cNvPr id="526" name="Google Shape;526;p43"/>
          <p:cNvSpPr txBox="1"/>
          <p:nvPr/>
        </p:nvSpPr>
        <p:spPr>
          <a:xfrm>
            <a:off x="2698750" y="3748088"/>
            <a:ext cx="349250" cy="3667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Arial"/>
                <a:ea typeface="Arial"/>
                <a:cs typeface="Arial"/>
                <a:sym typeface="Arial"/>
              </a:rPr>
              <a:t>D</a:t>
            </a:r>
            <a:endParaRPr/>
          </a:p>
        </p:txBody>
      </p:sp>
      <p:sp>
        <p:nvSpPr>
          <p:cNvPr id="527" name="Google Shape;527;p43"/>
          <p:cNvSpPr txBox="1"/>
          <p:nvPr/>
        </p:nvSpPr>
        <p:spPr>
          <a:xfrm>
            <a:off x="5943600" y="5768975"/>
            <a:ext cx="2778125" cy="7016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Giải bằng PP điểm đỉnh</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a:t>
            </a:r>
            <a:r>
              <a:rPr b="1" i="0" lang="en-US" sz="2000" u="sng" cap="none" strike="noStrike">
                <a:solidFill>
                  <a:schemeClr val="dk1"/>
                </a:solidFill>
                <a:latin typeface="Times New Roman"/>
                <a:ea typeface="Times New Roman"/>
                <a:cs typeface="Times New Roman"/>
                <a:sym typeface="Times New Roman"/>
                <a:hlinkClick action="ppaction://hlinksldjump" r:id="rId3">
                  <a:extLst>
                    <a:ext uri="{A12FA001-AC4F-418D-AE19-62706E023703}">
                      <ahyp:hlinkClr val="tx"/>
                    </a:ext>
                  </a:extLst>
                </a:hlinkClick>
              </a:rPr>
              <a:t>Slide 47</a:t>
            </a:r>
            <a:r>
              <a:rPr b="0" i="0" lang="en-US" sz="2000" u="none" cap="none" strike="noStrike">
                <a:solidFill>
                  <a:schemeClr val="dk1"/>
                </a:solidFill>
                <a:latin typeface="Times New Roman"/>
                <a:ea typeface="Times New Roman"/>
                <a:cs typeface="Times New Roman"/>
                <a:sym typeface="Times New Roman"/>
              </a:rPr>
              <a:t>)</a:t>
            </a:r>
            <a:endParaRPr/>
          </a:p>
        </p:txBody>
      </p:sp>
      <p:sp>
        <p:nvSpPr>
          <p:cNvPr id="528" name="Google Shape;528;p43"/>
          <p:cNvSpPr txBox="1"/>
          <p:nvPr/>
        </p:nvSpPr>
        <p:spPr>
          <a:xfrm>
            <a:off x="0" y="0"/>
            <a:ext cx="2376488"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8000"/>
                </a:solidFill>
                <a:latin typeface="Times New Roman"/>
                <a:ea typeface="Times New Roman"/>
                <a:cs typeface="Times New Roman"/>
                <a:sym typeface="Times New Roman"/>
              </a:rPr>
              <a:t>Giải bằng PP đồ thị </a:t>
            </a:r>
            <a:endParaRPr b="0" i="0" sz="2000" u="none" cap="none" strike="noStrike">
              <a:solidFill>
                <a:srgbClr val="008000"/>
              </a:solidFill>
              <a:latin typeface="Times New Roman"/>
              <a:ea typeface="Times New Roman"/>
              <a:cs typeface="Times New Roman"/>
              <a:sym typeface="Times New Roman"/>
            </a:endParaRPr>
          </a:p>
        </p:txBody>
      </p:sp>
    </p:spTree>
  </p:cSld>
  <p:clrMapOvr>
    <a:masterClrMapping/>
  </p:clrMapOvr>
  <p:transition>
    <p:push dir="r"/>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44"/>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000">
                <a:solidFill>
                  <a:schemeClr val="dk1"/>
                </a:solidFill>
              </a:rPr>
              <a:t>6.2. Quy hoạch tuyến tính</a:t>
            </a:r>
            <a:r>
              <a:rPr i="1" lang="en-US" sz="2000">
                <a:solidFill>
                  <a:schemeClr val="dk1"/>
                </a:solidFill>
              </a:rPr>
              <a:t> (tt)</a:t>
            </a:r>
            <a:br>
              <a:rPr i="1" lang="en-US" sz="2000">
                <a:solidFill>
                  <a:schemeClr val="dk1"/>
                </a:solidFill>
              </a:rPr>
            </a:br>
            <a:r>
              <a:rPr i="1" lang="en-US" sz="2000">
                <a:solidFill>
                  <a:schemeClr val="dk1"/>
                </a:solidFill>
              </a:rPr>
              <a:t> </a:t>
            </a:r>
            <a:r>
              <a:rPr b="0" lang="en-US" sz="2000">
                <a:solidFill>
                  <a:schemeClr val="dk1"/>
                </a:solidFill>
              </a:rPr>
              <a:t>6.2.3. Giải BT QHTT bằng Đồ thị </a:t>
            </a:r>
            <a:r>
              <a:rPr b="0" i="1" lang="en-US" sz="2000">
                <a:solidFill>
                  <a:schemeClr val="dk1"/>
                </a:solidFill>
              </a:rPr>
              <a:t>(tt)</a:t>
            </a:r>
            <a:endParaRPr/>
          </a:p>
        </p:txBody>
      </p:sp>
      <p:sp>
        <p:nvSpPr>
          <p:cNvPr id="534" name="Google Shape;534;p44"/>
          <p:cNvSpPr txBox="1"/>
          <p:nvPr>
            <p:ph idx="4294967295" type="body"/>
          </p:nvPr>
        </p:nvSpPr>
        <p:spPr>
          <a:xfrm>
            <a:off x="762000" y="1905000"/>
            <a:ext cx="7696200" cy="46482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1260"/>
              <a:buFont typeface="Noto Sans Symbols"/>
              <a:buNone/>
            </a:pPr>
            <a:r>
              <a:rPr b="1" i="1" lang="en-US" sz="1800" u="sng"/>
              <a:t>Giải BT cực tiểu ở VD trên:</a:t>
            </a:r>
            <a:r>
              <a:rPr i="1" lang="en-US" sz="1800"/>
              <a:t> (</a:t>
            </a:r>
            <a:r>
              <a:rPr i="1" lang="en-US" sz="1800" u="sng">
                <a:solidFill>
                  <a:schemeClr val="hlink"/>
                </a:solidFill>
                <a:hlinkClick action="ppaction://hlinksldjump" r:id="rId3"/>
              </a:rPr>
              <a:t>Slide 36</a:t>
            </a:r>
            <a:r>
              <a:rPr i="1" lang="en-US" sz="1800"/>
              <a:t>)</a:t>
            </a:r>
            <a:r>
              <a:rPr lang="en-US" sz="1800"/>
              <a:t>		</a:t>
            </a:r>
            <a:r>
              <a:rPr b="1" lang="en-US" sz="1800"/>
              <a:t>Đường đẳng phí</a:t>
            </a:r>
            <a:endParaRPr b="1"/>
          </a:p>
          <a:p>
            <a:pPr indent="-342900" lvl="0" marL="342900" rtl="0" algn="just">
              <a:spcBef>
                <a:spcPts val="360"/>
              </a:spcBef>
              <a:spcAft>
                <a:spcPts val="0"/>
              </a:spcAft>
              <a:buSzPts val="1260"/>
              <a:buFont typeface="Noto Sans Symbols"/>
              <a:buNone/>
            </a:pPr>
            <a:r>
              <a:rPr lang="en-US" sz="1800"/>
              <a:t>Hàm MT:     Min Z = 2x</a:t>
            </a:r>
            <a:r>
              <a:rPr baseline="-25000" lang="en-US" sz="1800"/>
              <a:t>1</a:t>
            </a:r>
            <a:r>
              <a:rPr lang="en-US" sz="1800"/>
              <a:t> + 3x</a:t>
            </a:r>
            <a:r>
              <a:rPr baseline="-25000" lang="en-US" sz="1800"/>
              <a:t>2</a:t>
            </a:r>
            <a:r>
              <a:rPr lang="en-US" sz="1800"/>
              <a:t> </a:t>
            </a:r>
            <a:endParaRPr/>
          </a:p>
          <a:p>
            <a:pPr indent="-342900" lvl="0" marL="342900" rtl="0" algn="just">
              <a:spcBef>
                <a:spcPts val="360"/>
              </a:spcBef>
              <a:spcAft>
                <a:spcPts val="0"/>
              </a:spcAft>
              <a:buSzPts val="1260"/>
              <a:buFont typeface="Noto Sans Symbols"/>
              <a:buNone/>
            </a:pPr>
            <a:r>
              <a:rPr lang="en-US" sz="1800"/>
              <a:t>Ràng buộc:	5x</a:t>
            </a:r>
            <a:r>
              <a:rPr baseline="-25000" lang="en-US" sz="1800"/>
              <a:t>1</a:t>
            </a:r>
            <a:r>
              <a:rPr lang="en-US" sz="1800"/>
              <a:t> 	+ 	10x</a:t>
            </a:r>
            <a:r>
              <a:rPr baseline="-25000" lang="en-US" sz="1800"/>
              <a:t>2</a:t>
            </a:r>
            <a:r>
              <a:rPr lang="en-US" sz="1800"/>
              <a:t> 	≥	90	(1)</a:t>
            </a:r>
            <a:endParaRPr/>
          </a:p>
          <a:p>
            <a:pPr indent="-342900" lvl="0" marL="342900" rtl="0" algn="just">
              <a:spcBef>
                <a:spcPts val="360"/>
              </a:spcBef>
              <a:spcAft>
                <a:spcPts val="0"/>
              </a:spcAft>
              <a:buSzPts val="1260"/>
              <a:buFont typeface="Noto Sans Symbols"/>
              <a:buNone/>
            </a:pPr>
            <a:r>
              <a:rPr lang="en-US" sz="1800"/>
              <a:t>			4x</a:t>
            </a:r>
            <a:r>
              <a:rPr baseline="-25000" lang="en-US" sz="1800"/>
              <a:t>1</a:t>
            </a:r>
            <a:r>
              <a:rPr lang="en-US" sz="1800"/>
              <a:t> 	+	3x</a:t>
            </a:r>
            <a:r>
              <a:rPr baseline="-25000" lang="en-US" sz="1800"/>
              <a:t>2</a:t>
            </a:r>
            <a:r>
              <a:rPr lang="en-US" sz="1800"/>
              <a:t>	≥	48	(2)</a:t>
            </a:r>
            <a:endParaRPr/>
          </a:p>
          <a:p>
            <a:pPr indent="-342900" lvl="0" marL="342900" rtl="0" algn="just">
              <a:spcBef>
                <a:spcPts val="360"/>
              </a:spcBef>
              <a:spcAft>
                <a:spcPts val="0"/>
              </a:spcAft>
              <a:buSzPts val="1260"/>
              <a:buFont typeface="Noto Sans Symbols"/>
              <a:buNone/>
            </a:pPr>
            <a:r>
              <a:rPr lang="en-US" sz="1800"/>
              <a:t>					0.5x</a:t>
            </a:r>
            <a:r>
              <a:rPr baseline="-25000" lang="en-US" sz="1800"/>
              <a:t>1</a:t>
            </a:r>
            <a:r>
              <a:rPr lang="en-US" sz="1800"/>
              <a:t>	≥	1,5	(3)</a:t>
            </a:r>
            <a:endParaRPr/>
          </a:p>
          <a:p>
            <a:pPr indent="-342900" lvl="0" marL="342900" rtl="0" algn="just">
              <a:spcBef>
                <a:spcPts val="360"/>
              </a:spcBef>
              <a:spcAft>
                <a:spcPts val="0"/>
              </a:spcAft>
              <a:buSzPts val="1260"/>
              <a:buFont typeface="Noto Sans Symbols"/>
              <a:buNone/>
            </a:pPr>
            <a:r>
              <a:rPr lang="en-US" sz="1800"/>
              <a:t>					x</a:t>
            </a:r>
            <a:r>
              <a:rPr baseline="-25000" lang="en-US" sz="1800"/>
              <a:t>1</a:t>
            </a:r>
            <a:r>
              <a:rPr lang="en-US" sz="1800"/>
              <a:t>	≥ 	0	(4)</a:t>
            </a:r>
            <a:endParaRPr/>
          </a:p>
          <a:p>
            <a:pPr indent="-342900" lvl="0" marL="342900" rtl="0" algn="just">
              <a:spcBef>
                <a:spcPts val="360"/>
              </a:spcBef>
              <a:spcAft>
                <a:spcPts val="0"/>
              </a:spcAft>
              <a:buSzPts val="1260"/>
              <a:buFont typeface="Noto Sans Symbols"/>
              <a:buNone/>
            </a:pPr>
            <a:r>
              <a:rPr lang="en-US" sz="1800"/>
              <a:t>					x</a:t>
            </a:r>
            <a:r>
              <a:rPr baseline="-25000" lang="en-US" sz="1800"/>
              <a:t>2</a:t>
            </a:r>
            <a:r>
              <a:rPr lang="en-US" sz="1800"/>
              <a:t>	≥ 	0	(5)</a:t>
            </a:r>
            <a:endParaRPr/>
          </a:p>
          <a:p>
            <a:pPr indent="-342900" lvl="0" marL="342900" rtl="0" algn="just">
              <a:spcBef>
                <a:spcPts val="360"/>
              </a:spcBef>
              <a:spcAft>
                <a:spcPts val="0"/>
              </a:spcAft>
              <a:buSzPts val="1260"/>
              <a:buFont typeface="Noto Sans Symbols"/>
              <a:buNone/>
            </a:pPr>
            <a:r>
              <a:rPr b="1" i="1" lang="en-US" sz="1800" u="sng"/>
              <a:t>Giải:</a:t>
            </a:r>
            <a:r>
              <a:rPr lang="en-US" sz="1800"/>
              <a:t>   Trong mặt phẳng tọa độ 0x</a:t>
            </a:r>
            <a:r>
              <a:rPr baseline="-25000" lang="en-US" sz="1800"/>
              <a:t>1</a:t>
            </a:r>
            <a:r>
              <a:rPr lang="en-US" sz="1800"/>
              <a:t>x</a:t>
            </a:r>
            <a:r>
              <a:rPr baseline="-25000" lang="en-US" sz="1800"/>
              <a:t>2</a:t>
            </a:r>
            <a:r>
              <a:rPr lang="en-US" sz="1800"/>
              <a:t> , ta vẽ các đường thẳng:</a:t>
            </a:r>
            <a:endParaRPr/>
          </a:p>
          <a:p>
            <a:pPr indent="-342900" lvl="0" marL="342900" rtl="0" algn="just">
              <a:spcBef>
                <a:spcPts val="360"/>
              </a:spcBef>
              <a:spcAft>
                <a:spcPts val="0"/>
              </a:spcAft>
              <a:buSzPts val="1260"/>
              <a:buFont typeface="Noto Sans Symbols"/>
              <a:buNone/>
            </a:pPr>
            <a:r>
              <a:rPr lang="en-US" sz="1800"/>
              <a:t>		(D1):     5x</a:t>
            </a:r>
            <a:r>
              <a:rPr baseline="-25000" lang="en-US" sz="1800"/>
              <a:t>1</a:t>
            </a:r>
            <a:r>
              <a:rPr lang="en-US" sz="1800"/>
              <a:t>  + 	10x</a:t>
            </a:r>
            <a:r>
              <a:rPr baseline="-25000" lang="en-US" sz="1800"/>
              <a:t>2</a:t>
            </a:r>
            <a:r>
              <a:rPr lang="en-US" sz="1800"/>
              <a:t>	= 	90</a:t>
            </a:r>
            <a:endParaRPr/>
          </a:p>
          <a:p>
            <a:pPr indent="-342900" lvl="0" marL="342900" rtl="0" algn="just">
              <a:spcBef>
                <a:spcPts val="360"/>
              </a:spcBef>
              <a:spcAft>
                <a:spcPts val="0"/>
              </a:spcAft>
              <a:buSzPts val="1260"/>
              <a:buFont typeface="Noto Sans Symbols"/>
              <a:buNone/>
            </a:pPr>
            <a:r>
              <a:rPr lang="en-US" sz="1800"/>
              <a:t>		(D2):     4x</a:t>
            </a:r>
            <a:r>
              <a:rPr baseline="-25000" lang="en-US" sz="1800"/>
              <a:t>1</a:t>
            </a:r>
            <a:r>
              <a:rPr lang="en-US" sz="1800"/>
              <a:t> + 	3x</a:t>
            </a:r>
            <a:r>
              <a:rPr baseline="-25000" lang="en-US" sz="1800"/>
              <a:t>2</a:t>
            </a:r>
            <a:r>
              <a:rPr lang="en-US" sz="1800"/>
              <a:t>	= 	48</a:t>
            </a:r>
            <a:endParaRPr/>
          </a:p>
          <a:p>
            <a:pPr indent="-342900" lvl="0" marL="342900" rtl="0" algn="just">
              <a:spcBef>
                <a:spcPts val="360"/>
              </a:spcBef>
              <a:spcAft>
                <a:spcPts val="0"/>
              </a:spcAft>
              <a:buSzPts val="1260"/>
              <a:buFont typeface="Noto Sans Symbols"/>
              <a:buNone/>
            </a:pPr>
            <a:r>
              <a:rPr lang="en-US" sz="1800"/>
              <a:t>		(D3): 		0.5x</a:t>
            </a:r>
            <a:r>
              <a:rPr baseline="-25000" lang="en-US" sz="1800"/>
              <a:t>1</a:t>
            </a:r>
            <a:r>
              <a:rPr lang="en-US" sz="1800"/>
              <a:t>	= 	1.5</a:t>
            </a:r>
            <a:endParaRPr/>
          </a:p>
          <a:p>
            <a:pPr indent="-342900" lvl="0" marL="342900" rtl="0" algn="just">
              <a:spcBef>
                <a:spcPts val="360"/>
              </a:spcBef>
              <a:spcAft>
                <a:spcPts val="0"/>
              </a:spcAft>
              <a:buSzPts val="1260"/>
              <a:buFont typeface="Noto Sans Symbols"/>
              <a:buNone/>
            </a:pPr>
            <a:r>
              <a:rPr lang="en-US" sz="1800"/>
              <a:t>		(D4):		x</a:t>
            </a:r>
            <a:r>
              <a:rPr baseline="-25000" lang="en-US" sz="1800"/>
              <a:t>1</a:t>
            </a:r>
            <a:r>
              <a:rPr lang="en-US" sz="1800"/>
              <a:t>	= 	0</a:t>
            </a:r>
            <a:endParaRPr/>
          </a:p>
          <a:p>
            <a:pPr indent="-342900" lvl="0" marL="342900" rtl="0" algn="just">
              <a:spcBef>
                <a:spcPts val="360"/>
              </a:spcBef>
              <a:spcAft>
                <a:spcPts val="0"/>
              </a:spcAft>
              <a:buSzPts val="1260"/>
              <a:buFont typeface="Noto Sans Symbols"/>
              <a:buNone/>
            </a:pPr>
            <a:r>
              <a:rPr lang="en-US" sz="1800"/>
              <a:t>		(D5):		x</a:t>
            </a:r>
            <a:r>
              <a:rPr baseline="-25000" lang="en-US" sz="1800"/>
              <a:t>2</a:t>
            </a:r>
            <a:r>
              <a:rPr lang="en-US" sz="1800"/>
              <a:t>	= 	0</a:t>
            </a:r>
            <a:endParaRPr/>
          </a:p>
        </p:txBody>
      </p:sp>
      <p:sp>
        <p:nvSpPr>
          <p:cNvPr id="535" name="Google Shape;535;p44"/>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39" name="Shape 539"/>
        <p:cNvGrpSpPr/>
        <p:nvPr/>
      </p:nvGrpSpPr>
      <p:grpSpPr>
        <a:xfrm>
          <a:off x="0" y="0"/>
          <a:ext cx="0" cy="0"/>
          <a:chOff x="0" y="0"/>
          <a:chExt cx="0" cy="0"/>
        </a:xfrm>
      </p:grpSpPr>
      <p:grpSp>
        <p:nvGrpSpPr>
          <p:cNvPr id="540" name="Google Shape;540;p45"/>
          <p:cNvGrpSpPr/>
          <p:nvPr/>
        </p:nvGrpSpPr>
        <p:grpSpPr>
          <a:xfrm>
            <a:off x="533400" y="533400"/>
            <a:ext cx="8229600" cy="6114800"/>
            <a:chOff x="1041" y="5764"/>
            <a:chExt cx="8597" cy="6901"/>
          </a:xfrm>
        </p:grpSpPr>
        <p:grpSp>
          <p:nvGrpSpPr>
            <p:cNvPr id="541" name="Google Shape;541;p45"/>
            <p:cNvGrpSpPr/>
            <p:nvPr/>
          </p:nvGrpSpPr>
          <p:grpSpPr>
            <a:xfrm>
              <a:off x="1041" y="5764"/>
              <a:ext cx="8597" cy="6450"/>
              <a:chOff x="1041" y="5764"/>
              <a:chExt cx="8597" cy="6450"/>
            </a:xfrm>
          </p:grpSpPr>
          <p:sp>
            <p:nvSpPr>
              <p:cNvPr id="542" name="Google Shape;542;p45"/>
              <p:cNvSpPr/>
              <p:nvPr/>
            </p:nvSpPr>
            <p:spPr>
              <a:xfrm>
                <a:off x="3988" y="5764"/>
                <a:ext cx="1" cy="5669"/>
              </a:xfrm>
              <a:custGeom>
                <a:rect b="b" l="l" r="r" t="t"/>
                <a:pathLst>
                  <a:path extrusionOk="0" h="20000" w="20000">
                    <a:moveTo>
                      <a:pt x="0" y="0"/>
                    </a:moveTo>
                    <a:lnTo>
                      <a:pt x="0" y="19997"/>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43" name="Google Shape;543;p45"/>
              <p:cNvSpPr/>
              <p:nvPr/>
            </p:nvSpPr>
            <p:spPr>
              <a:xfrm>
                <a:off x="3456" y="5764"/>
                <a:ext cx="1" cy="5669"/>
              </a:xfrm>
              <a:custGeom>
                <a:rect b="b" l="l" r="r" t="t"/>
                <a:pathLst>
                  <a:path extrusionOk="0" h="20000" w="20000">
                    <a:moveTo>
                      <a:pt x="0" y="0"/>
                    </a:moveTo>
                    <a:lnTo>
                      <a:pt x="0" y="19997"/>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44" name="Google Shape;544;p45"/>
              <p:cNvSpPr/>
              <p:nvPr/>
            </p:nvSpPr>
            <p:spPr>
              <a:xfrm>
                <a:off x="1701" y="10746"/>
                <a:ext cx="7937" cy="0"/>
              </a:xfrm>
              <a:custGeom>
                <a:rect b="b" l="l" r="r" t="t"/>
                <a:pathLst>
                  <a:path extrusionOk="0" h="20000" w="20000">
                    <a:moveTo>
                      <a:pt x="19998" y="0"/>
                    </a:moveTo>
                    <a:lnTo>
                      <a:pt x="0" y="0"/>
                    </a:lnTo>
                  </a:path>
                </a:pathLst>
              </a:custGeom>
              <a:noFill/>
              <a:ln cap="flat" cmpd="sng" w="9525">
                <a:solidFill>
                  <a:srgbClr val="000000"/>
                </a:solidFill>
                <a:prstDash val="solid"/>
                <a:round/>
                <a:headEnd len="sm" w="sm" type="triangl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45" name="Google Shape;545;p45"/>
              <p:cNvSpPr/>
              <p:nvPr/>
            </p:nvSpPr>
            <p:spPr>
              <a:xfrm>
                <a:off x="1076" y="9270"/>
                <a:ext cx="4481" cy="2804"/>
              </a:xfrm>
              <a:custGeom>
                <a:rect b="b" l="l" r="r" t="t"/>
                <a:pathLst>
                  <a:path extrusionOk="0" h="20000" w="20000">
                    <a:moveTo>
                      <a:pt x="0" y="0"/>
                    </a:moveTo>
                    <a:lnTo>
                      <a:pt x="19996" y="19994"/>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nvGrpSpPr>
              <p:cNvPr id="546" name="Google Shape;546;p45"/>
              <p:cNvGrpSpPr/>
              <p:nvPr/>
            </p:nvGrpSpPr>
            <p:grpSpPr>
              <a:xfrm>
                <a:off x="4184" y="10573"/>
                <a:ext cx="4285" cy="665"/>
                <a:chOff x="-56" y="0"/>
                <a:chExt cx="21425" cy="20000"/>
              </a:xfrm>
            </p:grpSpPr>
            <p:grpSp>
              <p:nvGrpSpPr>
                <p:cNvPr id="547" name="Google Shape;547;p45"/>
                <p:cNvGrpSpPr/>
                <p:nvPr/>
              </p:nvGrpSpPr>
              <p:grpSpPr>
                <a:xfrm>
                  <a:off x="784" y="0"/>
                  <a:ext cx="19605" cy="5261"/>
                  <a:chOff x="0" y="0"/>
                  <a:chExt cx="19605" cy="20000"/>
                </a:xfrm>
              </p:grpSpPr>
              <p:sp>
                <p:nvSpPr>
                  <p:cNvPr id="548" name="Google Shape;548;p45"/>
                  <p:cNvSpPr/>
                  <p:nvPr/>
                </p:nvSpPr>
                <p:spPr>
                  <a:xfrm>
                    <a:off x="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49" name="Google Shape;549;p45"/>
                  <p:cNvSpPr/>
                  <p:nvPr/>
                </p:nvSpPr>
                <p:spPr>
                  <a:xfrm>
                    <a:off x="280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0" name="Google Shape;550;p45"/>
                  <p:cNvSpPr/>
                  <p:nvPr/>
                </p:nvSpPr>
                <p:spPr>
                  <a:xfrm>
                    <a:off x="560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1" name="Google Shape;551;p45"/>
                  <p:cNvSpPr/>
                  <p:nvPr/>
                </p:nvSpPr>
                <p:spPr>
                  <a:xfrm>
                    <a:off x="840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2" name="Google Shape;552;p45"/>
                  <p:cNvSpPr/>
                  <p:nvPr/>
                </p:nvSpPr>
                <p:spPr>
                  <a:xfrm>
                    <a:off x="1120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3" name="Google Shape;553;p45"/>
                  <p:cNvSpPr/>
                  <p:nvPr/>
                </p:nvSpPr>
                <p:spPr>
                  <a:xfrm>
                    <a:off x="1400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4" name="Google Shape;554;p45"/>
                  <p:cNvSpPr/>
                  <p:nvPr/>
                </p:nvSpPr>
                <p:spPr>
                  <a:xfrm>
                    <a:off x="1680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5" name="Google Shape;555;p45"/>
                  <p:cNvSpPr/>
                  <p:nvPr/>
                </p:nvSpPr>
                <p:spPr>
                  <a:xfrm>
                    <a:off x="1960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grpSp>
              <p:nvGrpSpPr>
                <p:cNvPr id="556" name="Google Shape;556;p45"/>
                <p:cNvGrpSpPr/>
                <p:nvPr/>
              </p:nvGrpSpPr>
              <p:grpSpPr>
                <a:xfrm>
                  <a:off x="784" y="2073"/>
                  <a:ext cx="19605" cy="5247"/>
                  <a:chOff x="0" y="0"/>
                  <a:chExt cx="19605" cy="20000"/>
                </a:xfrm>
              </p:grpSpPr>
              <p:sp>
                <p:nvSpPr>
                  <p:cNvPr id="557" name="Google Shape;557;p45"/>
                  <p:cNvSpPr/>
                  <p:nvPr/>
                </p:nvSpPr>
                <p:spPr>
                  <a:xfrm>
                    <a:off x="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8" name="Google Shape;558;p45"/>
                  <p:cNvSpPr/>
                  <p:nvPr/>
                </p:nvSpPr>
                <p:spPr>
                  <a:xfrm>
                    <a:off x="280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59" name="Google Shape;559;p45"/>
                  <p:cNvSpPr/>
                  <p:nvPr/>
                </p:nvSpPr>
                <p:spPr>
                  <a:xfrm>
                    <a:off x="560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60" name="Google Shape;560;p45"/>
                  <p:cNvSpPr/>
                  <p:nvPr/>
                </p:nvSpPr>
                <p:spPr>
                  <a:xfrm>
                    <a:off x="840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61" name="Google Shape;561;p45"/>
                  <p:cNvSpPr/>
                  <p:nvPr/>
                </p:nvSpPr>
                <p:spPr>
                  <a:xfrm>
                    <a:off x="1120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62" name="Google Shape;562;p45"/>
                  <p:cNvSpPr/>
                  <p:nvPr/>
                </p:nvSpPr>
                <p:spPr>
                  <a:xfrm>
                    <a:off x="1400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63" name="Google Shape;563;p45"/>
                  <p:cNvSpPr/>
                  <p:nvPr/>
                </p:nvSpPr>
                <p:spPr>
                  <a:xfrm>
                    <a:off x="1680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64" name="Google Shape;564;p45"/>
                  <p:cNvSpPr/>
                  <p:nvPr/>
                </p:nvSpPr>
                <p:spPr>
                  <a:xfrm>
                    <a:off x="19600" y="0"/>
                    <a:ext cx="5" cy="20000"/>
                  </a:xfrm>
                  <a:custGeom>
                    <a:rect b="b" l="l" r="r" t="t"/>
                    <a:pathLst>
                      <a:path extrusionOk="0" h="20000" w="20000">
                        <a:moveTo>
                          <a:pt x="0" y="0"/>
                        </a:moveTo>
                        <a:lnTo>
                          <a:pt x="0" y="19899"/>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
              <p:nvSpPr>
                <p:cNvPr id="565" name="Google Shape;565;p45"/>
                <p:cNvSpPr/>
                <p:nvPr/>
              </p:nvSpPr>
              <p:spPr>
                <a:xfrm>
                  <a:off x="19684" y="8886"/>
                  <a:ext cx="1685" cy="11114"/>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32</a:t>
                  </a:r>
                  <a:endParaRPr b="0" i="0" sz="1800" u="none" cap="none" strike="noStrike">
                    <a:solidFill>
                      <a:schemeClr val="dk1"/>
                    </a:solidFill>
                    <a:latin typeface="Arial"/>
                    <a:ea typeface="Arial"/>
                    <a:cs typeface="Arial"/>
                    <a:sym typeface="Arial"/>
                  </a:endParaRPr>
                </a:p>
              </p:txBody>
            </p:sp>
            <p:sp>
              <p:nvSpPr>
                <p:cNvPr id="566" name="Google Shape;566;p45"/>
                <p:cNvSpPr/>
                <p:nvPr/>
              </p:nvSpPr>
              <p:spPr>
                <a:xfrm>
                  <a:off x="17024" y="8886"/>
                  <a:ext cx="1685" cy="11114"/>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28</a:t>
                  </a:r>
                  <a:endParaRPr b="0" i="0" sz="1800" u="none" cap="none" strike="noStrike">
                    <a:solidFill>
                      <a:schemeClr val="dk1"/>
                    </a:solidFill>
                    <a:latin typeface="Arial"/>
                    <a:ea typeface="Arial"/>
                    <a:cs typeface="Arial"/>
                    <a:sym typeface="Arial"/>
                  </a:endParaRPr>
                </a:p>
              </p:txBody>
            </p:sp>
            <p:sp>
              <p:nvSpPr>
                <p:cNvPr id="567" name="Google Shape;567;p45"/>
                <p:cNvSpPr/>
                <p:nvPr/>
              </p:nvSpPr>
              <p:spPr>
                <a:xfrm>
                  <a:off x="13804" y="8886"/>
                  <a:ext cx="1685" cy="11114"/>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24</a:t>
                  </a:r>
                  <a:endParaRPr b="0" i="0" sz="1800" u="none" cap="none" strike="noStrike">
                    <a:solidFill>
                      <a:schemeClr val="dk1"/>
                    </a:solidFill>
                    <a:latin typeface="Arial"/>
                    <a:ea typeface="Arial"/>
                    <a:cs typeface="Arial"/>
                    <a:sym typeface="Arial"/>
                  </a:endParaRPr>
                </a:p>
              </p:txBody>
            </p:sp>
            <p:sp>
              <p:nvSpPr>
                <p:cNvPr id="568" name="Google Shape;568;p45"/>
                <p:cNvSpPr/>
                <p:nvPr/>
              </p:nvSpPr>
              <p:spPr>
                <a:xfrm>
                  <a:off x="11284" y="8886"/>
                  <a:ext cx="1685" cy="11114"/>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20</a:t>
                  </a:r>
                  <a:endParaRPr b="0" i="0" sz="1800" u="none" cap="none" strike="noStrike">
                    <a:solidFill>
                      <a:schemeClr val="dk1"/>
                    </a:solidFill>
                    <a:latin typeface="Arial"/>
                    <a:ea typeface="Arial"/>
                    <a:cs typeface="Arial"/>
                    <a:sym typeface="Arial"/>
                  </a:endParaRPr>
                </a:p>
              </p:txBody>
            </p:sp>
            <p:sp>
              <p:nvSpPr>
                <p:cNvPr id="569" name="Google Shape;569;p45"/>
                <p:cNvSpPr/>
                <p:nvPr/>
              </p:nvSpPr>
              <p:spPr>
                <a:xfrm>
                  <a:off x="8344" y="8886"/>
                  <a:ext cx="1685" cy="11114"/>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16</a:t>
                  </a:r>
                  <a:endParaRPr b="0" i="0" sz="1800" u="none" cap="none" strike="noStrike">
                    <a:solidFill>
                      <a:schemeClr val="dk1"/>
                    </a:solidFill>
                    <a:latin typeface="Arial"/>
                    <a:ea typeface="Arial"/>
                    <a:cs typeface="Arial"/>
                    <a:sym typeface="Arial"/>
                  </a:endParaRPr>
                </a:p>
              </p:txBody>
            </p:sp>
            <p:sp>
              <p:nvSpPr>
                <p:cNvPr id="570" name="Google Shape;570;p45"/>
                <p:cNvSpPr/>
                <p:nvPr/>
              </p:nvSpPr>
              <p:spPr>
                <a:xfrm>
                  <a:off x="5404" y="8886"/>
                  <a:ext cx="1685" cy="11114"/>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12</a:t>
                  </a:r>
                  <a:endParaRPr b="0" i="0" sz="1800" u="none" cap="none" strike="noStrike">
                    <a:solidFill>
                      <a:schemeClr val="dk1"/>
                    </a:solidFill>
                    <a:latin typeface="Arial"/>
                    <a:ea typeface="Arial"/>
                    <a:cs typeface="Arial"/>
                    <a:sym typeface="Arial"/>
                  </a:endParaRPr>
                </a:p>
              </p:txBody>
            </p:sp>
            <p:sp>
              <p:nvSpPr>
                <p:cNvPr id="571" name="Google Shape;571;p45"/>
                <p:cNvSpPr/>
                <p:nvPr/>
              </p:nvSpPr>
              <p:spPr>
                <a:xfrm>
                  <a:off x="2744" y="8886"/>
                  <a:ext cx="1685" cy="11114"/>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72" name="Google Shape;572;p45"/>
                <p:cNvSpPr/>
                <p:nvPr/>
              </p:nvSpPr>
              <p:spPr>
                <a:xfrm>
                  <a:off x="-56" y="8858"/>
                  <a:ext cx="1685" cy="11114"/>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grpSp>
            <p:nvGrpSpPr>
              <p:cNvPr id="573" name="Google Shape;573;p45"/>
              <p:cNvGrpSpPr/>
              <p:nvPr/>
            </p:nvGrpSpPr>
            <p:grpSpPr>
              <a:xfrm>
                <a:off x="3426" y="6812"/>
                <a:ext cx="199" cy="3443"/>
                <a:chOff x="0" y="1640"/>
                <a:chExt cx="20000" cy="18360"/>
              </a:xfrm>
            </p:grpSpPr>
            <p:sp>
              <p:nvSpPr>
                <p:cNvPr id="574" name="Google Shape;574;p45"/>
                <p:cNvSpPr/>
                <p:nvPr/>
              </p:nvSpPr>
              <p:spPr>
                <a:xfrm>
                  <a:off x="0" y="19995"/>
                  <a:ext cx="20000" cy="5"/>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75" name="Google Shape;575;p45"/>
                <p:cNvSpPr/>
                <p:nvPr/>
              </p:nvSpPr>
              <p:spPr>
                <a:xfrm>
                  <a:off x="0" y="17372"/>
                  <a:ext cx="20000" cy="5"/>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76" name="Google Shape;576;p45"/>
                <p:cNvSpPr/>
                <p:nvPr/>
              </p:nvSpPr>
              <p:spPr>
                <a:xfrm>
                  <a:off x="0" y="14749"/>
                  <a:ext cx="20000" cy="5"/>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77" name="Google Shape;577;p45"/>
                <p:cNvSpPr/>
                <p:nvPr/>
              </p:nvSpPr>
              <p:spPr>
                <a:xfrm>
                  <a:off x="0" y="12129"/>
                  <a:ext cx="20000" cy="2"/>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78" name="Google Shape;578;p45"/>
                <p:cNvSpPr/>
                <p:nvPr/>
              </p:nvSpPr>
              <p:spPr>
                <a:xfrm>
                  <a:off x="0" y="9506"/>
                  <a:ext cx="20000" cy="5"/>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79" name="Google Shape;579;p45"/>
                <p:cNvSpPr/>
                <p:nvPr/>
              </p:nvSpPr>
              <p:spPr>
                <a:xfrm>
                  <a:off x="0" y="6883"/>
                  <a:ext cx="20000" cy="5"/>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80" name="Google Shape;580;p45"/>
                <p:cNvSpPr/>
                <p:nvPr/>
              </p:nvSpPr>
              <p:spPr>
                <a:xfrm>
                  <a:off x="0" y="4260"/>
                  <a:ext cx="20000" cy="5"/>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81" name="Google Shape;581;p45"/>
                <p:cNvSpPr/>
                <p:nvPr/>
              </p:nvSpPr>
              <p:spPr>
                <a:xfrm>
                  <a:off x="0" y="1640"/>
                  <a:ext cx="20000" cy="5"/>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grpSp>
            <p:nvGrpSpPr>
              <p:cNvPr id="582" name="Google Shape;582;p45"/>
              <p:cNvGrpSpPr/>
              <p:nvPr/>
            </p:nvGrpSpPr>
            <p:grpSpPr>
              <a:xfrm>
                <a:off x="3348" y="6812"/>
                <a:ext cx="199" cy="3443"/>
                <a:chOff x="0" y="1640"/>
                <a:chExt cx="20000" cy="18360"/>
              </a:xfrm>
            </p:grpSpPr>
            <p:sp>
              <p:nvSpPr>
                <p:cNvPr id="583" name="Google Shape;583;p45"/>
                <p:cNvSpPr/>
                <p:nvPr/>
              </p:nvSpPr>
              <p:spPr>
                <a:xfrm>
                  <a:off x="0" y="19995"/>
                  <a:ext cx="20000" cy="5"/>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84" name="Google Shape;584;p45"/>
                <p:cNvSpPr/>
                <p:nvPr/>
              </p:nvSpPr>
              <p:spPr>
                <a:xfrm>
                  <a:off x="0" y="17372"/>
                  <a:ext cx="20000" cy="5"/>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85" name="Google Shape;585;p45"/>
                <p:cNvSpPr/>
                <p:nvPr/>
              </p:nvSpPr>
              <p:spPr>
                <a:xfrm>
                  <a:off x="0" y="14749"/>
                  <a:ext cx="20000" cy="5"/>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86" name="Google Shape;586;p45"/>
                <p:cNvSpPr/>
                <p:nvPr/>
              </p:nvSpPr>
              <p:spPr>
                <a:xfrm>
                  <a:off x="0" y="12129"/>
                  <a:ext cx="20000" cy="2"/>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87" name="Google Shape;587;p45"/>
                <p:cNvSpPr/>
                <p:nvPr/>
              </p:nvSpPr>
              <p:spPr>
                <a:xfrm>
                  <a:off x="0" y="9506"/>
                  <a:ext cx="20000" cy="5"/>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88" name="Google Shape;588;p45"/>
                <p:cNvSpPr/>
                <p:nvPr/>
              </p:nvSpPr>
              <p:spPr>
                <a:xfrm>
                  <a:off x="0" y="6883"/>
                  <a:ext cx="20000" cy="5"/>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89" name="Google Shape;589;p45"/>
                <p:cNvSpPr/>
                <p:nvPr/>
              </p:nvSpPr>
              <p:spPr>
                <a:xfrm>
                  <a:off x="0" y="4260"/>
                  <a:ext cx="20000" cy="5"/>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590" name="Google Shape;590;p45"/>
                <p:cNvSpPr/>
                <p:nvPr/>
              </p:nvSpPr>
              <p:spPr>
                <a:xfrm>
                  <a:off x="0" y="1640"/>
                  <a:ext cx="20000" cy="5"/>
                </a:xfrm>
                <a:custGeom>
                  <a:rect b="b" l="l" r="r" t="t"/>
                  <a:pathLst>
                    <a:path extrusionOk="0" h="20000" w="20000">
                      <a:moveTo>
                        <a:pt x="19899" y="0"/>
                      </a:moveTo>
                      <a:lnTo>
                        <a:pt x="0" y="0"/>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
            <p:nvSpPr>
              <p:cNvPr id="591" name="Google Shape;591;p45"/>
              <p:cNvSpPr/>
              <p:nvPr/>
            </p:nvSpPr>
            <p:spPr>
              <a:xfrm>
                <a:off x="2868" y="6640"/>
                <a:ext cx="421" cy="295"/>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32</a:t>
                </a:r>
                <a:endParaRPr b="0" i="0" sz="1800" u="none" cap="none" strike="noStrike">
                  <a:solidFill>
                    <a:schemeClr val="dk1"/>
                  </a:solidFill>
                  <a:latin typeface="Arial"/>
                  <a:ea typeface="Arial"/>
                  <a:cs typeface="Arial"/>
                  <a:sym typeface="Arial"/>
                </a:endParaRPr>
              </a:p>
            </p:txBody>
          </p:sp>
          <p:sp>
            <p:nvSpPr>
              <p:cNvPr id="592" name="Google Shape;592;p45"/>
              <p:cNvSpPr/>
              <p:nvPr/>
            </p:nvSpPr>
            <p:spPr>
              <a:xfrm>
                <a:off x="2868" y="7107"/>
                <a:ext cx="421" cy="295"/>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28</a:t>
                </a:r>
                <a:endParaRPr b="0" i="0" sz="1800" u="none" cap="none" strike="noStrike">
                  <a:solidFill>
                    <a:schemeClr val="dk1"/>
                  </a:solidFill>
                  <a:latin typeface="Arial"/>
                  <a:ea typeface="Arial"/>
                  <a:cs typeface="Arial"/>
                  <a:sym typeface="Arial"/>
                </a:endParaRPr>
              </a:p>
            </p:txBody>
          </p:sp>
          <p:sp>
            <p:nvSpPr>
              <p:cNvPr id="593" name="Google Shape;593;p45"/>
              <p:cNvSpPr/>
              <p:nvPr/>
            </p:nvSpPr>
            <p:spPr>
              <a:xfrm>
                <a:off x="2868" y="7672"/>
                <a:ext cx="421" cy="29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24</a:t>
                </a:r>
                <a:endParaRPr b="0" i="0" sz="1800" u="none" cap="none" strike="noStrike">
                  <a:solidFill>
                    <a:schemeClr val="dk1"/>
                  </a:solidFill>
                  <a:latin typeface="Arial"/>
                  <a:ea typeface="Arial"/>
                  <a:cs typeface="Arial"/>
                  <a:sym typeface="Arial"/>
                </a:endParaRPr>
              </a:p>
            </p:txBody>
          </p:sp>
          <p:sp>
            <p:nvSpPr>
              <p:cNvPr id="594" name="Google Shape;594;p45"/>
              <p:cNvSpPr/>
              <p:nvPr/>
            </p:nvSpPr>
            <p:spPr>
              <a:xfrm>
                <a:off x="2868" y="8115"/>
                <a:ext cx="421" cy="29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20</a:t>
                </a:r>
                <a:endParaRPr b="0" i="0" sz="1800" u="none" cap="none" strike="noStrike">
                  <a:solidFill>
                    <a:schemeClr val="dk1"/>
                  </a:solidFill>
                  <a:latin typeface="Arial"/>
                  <a:ea typeface="Arial"/>
                  <a:cs typeface="Arial"/>
                  <a:sym typeface="Arial"/>
                </a:endParaRPr>
              </a:p>
            </p:txBody>
          </p:sp>
          <p:sp>
            <p:nvSpPr>
              <p:cNvPr id="595" name="Google Shape;595;p45"/>
              <p:cNvSpPr/>
              <p:nvPr/>
            </p:nvSpPr>
            <p:spPr>
              <a:xfrm>
                <a:off x="2868" y="8631"/>
                <a:ext cx="421" cy="29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16</a:t>
                </a:r>
                <a:endParaRPr b="0" i="0" sz="1800" u="none" cap="none" strike="noStrike">
                  <a:solidFill>
                    <a:schemeClr val="dk1"/>
                  </a:solidFill>
                  <a:latin typeface="Arial"/>
                  <a:ea typeface="Arial"/>
                  <a:cs typeface="Arial"/>
                  <a:sym typeface="Arial"/>
                </a:endParaRPr>
              </a:p>
            </p:txBody>
          </p:sp>
          <p:sp>
            <p:nvSpPr>
              <p:cNvPr id="596" name="Google Shape;596;p45"/>
              <p:cNvSpPr/>
              <p:nvPr/>
            </p:nvSpPr>
            <p:spPr>
              <a:xfrm>
                <a:off x="2868" y="9147"/>
                <a:ext cx="421" cy="29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12</a:t>
                </a:r>
                <a:endParaRPr b="0" i="0" sz="1800" u="none" cap="none" strike="noStrike">
                  <a:solidFill>
                    <a:schemeClr val="dk1"/>
                  </a:solidFill>
                  <a:latin typeface="Arial"/>
                  <a:ea typeface="Arial"/>
                  <a:cs typeface="Arial"/>
                  <a:sym typeface="Arial"/>
                </a:endParaRPr>
              </a:p>
            </p:txBody>
          </p:sp>
          <p:sp>
            <p:nvSpPr>
              <p:cNvPr id="597" name="Google Shape;597;p45"/>
              <p:cNvSpPr/>
              <p:nvPr/>
            </p:nvSpPr>
            <p:spPr>
              <a:xfrm>
                <a:off x="2868" y="9614"/>
                <a:ext cx="421" cy="29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8</a:t>
                </a:r>
                <a:endParaRPr b="0" i="0" sz="1800" u="none" cap="none" strike="noStrike">
                  <a:solidFill>
                    <a:schemeClr val="dk1"/>
                  </a:solidFill>
                  <a:latin typeface="Arial"/>
                  <a:ea typeface="Arial"/>
                  <a:cs typeface="Arial"/>
                  <a:sym typeface="Arial"/>
                </a:endParaRPr>
              </a:p>
            </p:txBody>
          </p:sp>
          <p:sp>
            <p:nvSpPr>
              <p:cNvPr id="598" name="Google Shape;598;p45"/>
              <p:cNvSpPr/>
              <p:nvPr/>
            </p:nvSpPr>
            <p:spPr>
              <a:xfrm>
                <a:off x="2869" y="10106"/>
                <a:ext cx="421" cy="29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Calibri"/>
                    <a:ea typeface="Calibri"/>
                    <a:cs typeface="Calibri"/>
                    <a:sym typeface="Calibri"/>
                  </a:rPr>
                  <a:t>4</a:t>
                </a:r>
                <a:endParaRPr b="0" i="0" sz="1800" u="none" cap="none" strike="noStrike">
                  <a:solidFill>
                    <a:schemeClr val="dk1"/>
                  </a:solidFill>
                  <a:latin typeface="Arial"/>
                  <a:ea typeface="Arial"/>
                  <a:cs typeface="Arial"/>
                  <a:sym typeface="Arial"/>
                </a:endParaRPr>
              </a:p>
            </p:txBody>
          </p:sp>
          <p:sp>
            <p:nvSpPr>
              <p:cNvPr id="599" name="Google Shape;599;p45"/>
              <p:cNvSpPr/>
              <p:nvPr/>
            </p:nvSpPr>
            <p:spPr>
              <a:xfrm>
                <a:off x="2980" y="10893"/>
                <a:ext cx="421" cy="296"/>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1200" u="none" cap="none" strike="noStrike">
                    <a:solidFill>
                      <a:schemeClr val="dk1"/>
                    </a:solidFill>
                    <a:latin typeface="Times New Roman"/>
                    <a:ea typeface="Times New Roman"/>
                    <a:cs typeface="Times New Roman"/>
                    <a:sym typeface="Times New Roman"/>
                  </a:rPr>
                  <a:t>0</a:t>
                </a:r>
                <a:endParaRPr b="0" i="0" sz="1800" u="none" cap="none" strike="noStrike">
                  <a:solidFill>
                    <a:schemeClr val="dk1"/>
                  </a:solidFill>
                  <a:latin typeface="Arial"/>
                  <a:ea typeface="Arial"/>
                  <a:cs typeface="Arial"/>
                  <a:sym typeface="Arial"/>
                </a:endParaRPr>
              </a:p>
            </p:txBody>
          </p:sp>
          <p:sp>
            <p:nvSpPr>
              <p:cNvPr id="600" name="Google Shape;600;p45"/>
              <p:cNvSpPr/>
              <p:nvPr/>
            </p:nvSpPr>
            <p:spPr>
              <a:xfrm>
                <a:off x="1440" y="8852"/>
                <a:ext cx="6777" cy="2509"/>
              </a:xfrm>
              <a:custGeom>
                <a:rect b="b" l="l" r="r" t="t"/>
                <a:pathLst>
                  <a:path extrusionOk="0" h="20000" w="20000">
                    <a:moveTo>
                      <a:pt x="0" y="0"/>
                    </a:moveTo>
                    <a:lnTo>
                      <a:pt x="19997" y="19993"/>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1" name="Google Shape;601;p45"/>
              <p:cNvSpPr/>
              <p:nvPr/>
            </p:nvSpPr>
            <p:spPr>
              <a:xfrm>
                <a:off x="1122" y="7873"/>
                <a:ext cx="6898" cy="4341"/>
              </a:xfrm>
              <a:custGeom>
                <a:rect b="b" l="l" r="r" t="t"/>
                <a:pathLst>
                  <a:path extrusionOk="0" h="4341" w="6898">
                    <a:moveTo>
                      <a:pt x="0" y="0"/>
                    </a:moveTo>
                    <a:lnTo>
                      <a:pt x="6898" y="4341"/>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2" name="Google Shape;602;p45"/>
              <p:cNvSpPr/>
              <p:nvPr/>
            </p:nvSpPr>
            <p:spPr>
              <a:xfrm>
                <a:off x="2056" y="8065"/>
                <a:ext cx="5041" cy="3960"/>
              </a:xfrm>
              <a:custGeom>
                <a:rect b="b" l="l" r="r" t="t"/>
                <a:pathLst>
                  <a:path extrusionOk="0" h="20000" w="20000">
                    <a:moveTo>
                      <a:pt x="0" y="0"/>
                    </a:moveTo>
                    <a:lnTo>
                      <a:pt x="19996" y="19996"/>
                    </a:lnTo>
                  </a:path>
                </a:pathLst>
              </a:custGeom>
              <a:noFill/>
              <a:ln cap="flat" cmpd="sng" w="12700">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3" name="Google Shape;603;p45"/>
              <p:cNvSpPr/>
              <p:nvPr/>
            </p:nvSpPr>
            <p:spPr>
              <a:xfrm>
                <a:off x="4398" y="9895"/>
                <a:ext cx="142" cy="125"/>
              </a:xfrm>
              <a:prstGeom prst="ellipse">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4" name="Google Shape;604;p45"/>
              <p:cNvSpPr/>
              <p:nvPr/>
            </p:nvSpPr>
            <p:spPr>
              <a:xfrm>
                <a:off x="3910" y="9496"/>
                <a:ext cx="142" cy="125"/>
              </a:xfrm>
              <a:prstGeom prst="ellipse">
                <a:avLst/>
              </a:prstGeom>
              <a:solidFill>
                <a:srgbClr val="000000"/>
              </a:solidFill>
              <a:ln cap="flat" cmpd="sng" w="9525">
                <a:solidFill>
                  <a:srgbClr val="000000"/>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05" name="Google Shape;605;p45"/>
              <p:cNvSpPr/>
              <p:nvPr/>
            </p:nvSpPr>
            <p:spPr>
              <a:xfrm>
                <a:off x="1041" y="8216"/>
                <a:ext cx="900" cy="517"/>
              </a:xfrm>
              <a:prstGeom prst="rect">
                <a:avLst/>
              </a:prstGeom>
              <a:noFill/>
              <a:ln>
                <a:noFill/>
              </a:ln>
            </p:spPr>
            <p:txBody>
              <a:bodyPr anchorCtr="0" anchor="t" bIns="12700" lIns="12700" spcFirstLastPara="1" rIns="12700" wrap="square" tIns="12700">
                <a:noAutofit/>
              </a:bodyPr>
              <a:lstStyle/>
              <a:p>
                <a:pPr indent="0" lvl="0" marL="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Min</a:t>
                </a:r>
                <a:endParaRPr b="0" i="0" sz="2000" u="none" cap="none" strike="noStrike">
                  <a:solidFill>
                    <a:schemeClr val="dk1"/>
                  </a:solidFill>
                  <a:latin typeface="Arial"/>
                  <a:ea typeface="Arial"/>
                  <a:cs typeface="Arial"/>
                  <a:sym typeface="Arial"/>
                </a:endParaRPr>
              </a:p>
            </p:txBody>
          </p:sp>
          <p:sp>
            <p:nvSpPr>
              <p:cNvPr id="606" name="Google Shape;606;p45"/>
              <p:cNvSpPr/>
              <p:nvPr/>
            </p:nvSpPr>
            <p:spPr>
              <a:xfrm>
                <a:off x="1104" y="7499"/>
                <a:ext cx="1737" cy="517"/>
              </a:xfrm>
              <a:prstGeom prst="rect">
                <a:avLst/>
              </a:prstGeom>
              <a:noFill/>
              <a:ln>
                <a:noFill/>
              </a:ln>
            </p:spPr>
            <p:txBody>
              <a:bodyPr anchorCtr="0" anchor="t" bIns="12700" lIns="12700" spcFirstLastPara="1" rIns="12700" wrap="square" tIns="12700">
                <a:noAutofit/>
              </a:bodyPr>
              <a:lstStyle/>
              <a:p>
                <a:pPr indent="0" lvl="0" marL="0" marR="0" rtl="0" algn="ctr">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D</a:t>
                </a:r>
                <a:r>
                  <a:rPr b="0" baseline="-25000" i="0" lang="en-US" sz="2000" u="none" cap="none" strike="noStrike">
                    <a:solidFill>
                      <a:schemeClr val="dk1"/>
                    </a:solidFill>
                    <a:latin typeface="Times New Roman"/>
                    <a:ea typeface="Times New Roman"/>
                    <a:cs typeface="Times New Roman"/>
                    <a:sym typeface="Times New Roman"/>
                  </a:rPr>
                  <a:t>2</a:t>
                </a:r>
                <a:endParaRPr b="0" i="0" sz="2000" u="none" cap="none" strike="noStrike">
                  <a:solidFill>
                    <a:schemeClr val="dk1"/>
                  </a:solidFill>
                  <a:latin typeface="Times New Roman"/>
                  <a:ea typeface="Times New Roman"/>
                  <a:cs typeface="Times New Roman"/>
                  <a:sym typeface="Times New Roman"/>
                </a:endParaRPr>
              </a:p>
            </p:txBody>
          </p:sp>
          <p:sp>
            <p:nvSpPr>
              <p:cNvPr id="607" name="Google Shape;607;p45"/>
              <p:cNvSpPr/>
              <p:nvPr/>
            </p:nvSpPr>
            <p:spPr>
              <a:xfrm>
                <a:off x="1534" y="8333"/>
                <a:ext cx="337" cy="148"/>
              </a:xfrm>
              <a:custGeom>
                <a:rect b="b" l="l" r="r" t="t"/>
                <a:pathLst>
                  <a:path extrusionOk="0" h="20000" w="20000">
                    <a:moveTo>
                      <a:pt x="19941" y="0"/>
                    </a:moveTo>
                    <a:lnTo>
                      <a:pt x="0" y="19882"/>
                    </a:lnTo>
                  </a:path>
                </a:pathLst>
              </a:custGeom>
              <a:noFill/>
              <a:ln cap="flat" cmpd="sng" w="9525">
                <a:solidFill>
                  <a:srgbClr val="000000"/>
                </a:solidFill>
                <a:prstDash val="solid"/>
                <a:round/>
                <a:headEnd len="sm" w="sm" type="none"/>
                <a:tailEnd len="sm" w="sm" type="triangl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grpSp>
        <p:sp>
          <p:nvSpPr>
            <p:cNvPr id="608" name="Google Shape;608;p45"/>
            <p:cNvSpPr/>
            <p:nvPr/>
          </p:nvSpPr>
          <p:spPr>
            <a:xfrm rot="1865772">
              <a:off x="4401" y="11973"/>
              <a:ext cx="1440" cy="219"/>
            </a:xfrm>
            <a:prstGeom prst="rect">
              <a:avLst/>
            </a:prstGeom>
          </p:spPr>
          <p:txBody>
            <a:bodyPr>
              <a:prstTxWarp prst="textPlain"/>
            </a:bodyPr>
            <a:lstStyle/>
            <a:p>
              <a:pPr lvl="0" algn="ctr"/>
              <a:r>
                <a:rPr b="0" i="0">
                  <a:ln>
                    <a:noFill/>
                  </a:ln>
                  <a:solidFill>
                    <a:srgbClr val="000000"/>
                  </a:solidFill>
                  <a:latin typeface="Times New Roman"/>
                </a:rPr>
                <a:t>Z = 2x1 + 3x2 = 0</a:t>
              </a:r>
            </a:p>
          </p:txBody>
        </p:sp>
        <p:sp>
          <p:nvSpPr>
            <p:cNvPr id="609" name="Google Shape;609;p45"/>
            <p:cNvSpPr/>
            <p:nvPr/>
          </p:nvSpPr>
          <p:spPr>
            <a:xfrm rot="1865772">
              <a:off x="6746" y="11860"/>
              <a:ext cx="2331" cy="219"/>
            </a:xfrm>
            <a:prstGeom prst="rect">
              <a:avLst/>
            </a:prstGeom>
          </p:spPr>
          <p:txBody>
            <a:bodyPr>
              <a:prstTxWarp prst="textPlain"/>
            </a:bodyPr>
            <a:lstStyle/>
            <a:p>
              <a:pPr lvl="0" algn="ctr"/>
              <a:r>
                <a:rPr b="0" i="0">
                  <a:ln>
                    <a:noFill/>
                  </a:ln>
                  <a:solidFill>
                    <a:srgbClr val="000000"/>
                  </a:solidFill>
                  <a:latin typeface="Arial"/>
                </a:rPr>
                <a:t>Z = Zmin = 2x1* + 3x2* = 31,2</a:t>
              </a:r>
            </a:p>
          </p:txBody>
        </p:sp>
      </p:grpSp>
      <p:sp>
        <p:nvSpPr>
          <p:cNvPr id="610" name="Google Shape;610;p45"/>
          <p:cNvSpPr/>
          <p:nvPr/>
        </p:nvSpPr>
        <p:spPr>
          <a:xfrm>
            <a:off x="3352800" y="533400"/>
            <a:ext cx="5410200" cy="4419600"/>
          </a:xfrm>
          <a:custGeom>
            <a:rect b="b" l="l" r="r" t="t"/>
            <a:pathLst>
              <a:path extrusionOk="0" h="2784" w="3408">
                <a:moveTo>
                  <a:pt x="0" y="0"/>
                </a:moveTo>
                <a:lnTo>
                  <a:pt x="0" y="2112"/>
                </a:lnTo>
                <a:lnTo>
                  <a:pt x="288" y="2352"/>
                </a:lnTo>
                <a:lnTo>
                  <a:pt x="1584" y="2784"/>
                </a:lnTo>
                <a:lnTo>
                  <a:pt x="3408" y="2784"/>
                </a:lnTo>
                <a:lnTo>
                  <a:pt x="3408" y="0"/>
                </a:lnTo>
                <a:lnTo>
                  <a:pt x="0" y="0"/>
                </a:lnTo>
                <a:close/>
              </a:path>
            </a:pathLst>
          </a:custGeom>
          <a:solidFill>
            <a:srgbClr val="97CDCC">
              <a:alpha val="49803"/>
            </a:srgbClr>
          </a:solidFill>
          <a:ln cap="flat" cmpd="sng" w="952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611" name="Google Shape;611;p45"/>
          <p:cNvSpPr txBox="1"/>
          <p:nvPr/>
        </p:nvSpPr>
        <p:spPr>
          <a:xfrm>
            <a:off x="5105400" y="609600"/>
            <a:ext cx="3733800" cy="7016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Miền không gian lời giải</a:t>
            </a:r>
            <a:r>
              <a:rPr b="0" i="0" lang="en-US" sz="2000" u="none" cap="none" strike="noStrike">
                <a:solidFill>
                  <a:schemeClr val="dk1"/>
                </a:solidFill>
                <a:latin typeface="Times New Roman"/>
                <a:ea typeface="Times New Roman"/>
                <a:cs typeface="Times New Roman"/>
                <a:sym typeface="Times New Roman"/>
              </a:rPr>
              <a:t> vô hạn,</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nhưng có cực tiểu.</a:t>
            </a:r>
            <a:endParaRPr/>
          </a:p>
        </p:txBody>
      </p:sp>
      <p:sp>
        <p:nvSpPr>
          <p:cNvPr id="612" name="Google Shape;612;p45"/>
          <p:cNvSpPr txBox="1"/>
          <p:nvPr/>
        </p:nvSpPr>
        <p:spPr>
          <a:xfrm>
            <a:off x="3359150" y="517525"/>
            <a:ext cx="45085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D</a:t>
            </a:r>
            <a:r>
              <a:rPr b="0" baseline="-25000" i="0" lang="en-US" sz="2000" u="none" cap="none" strike="noStrike">
                <a:solidFill>
                  <a:schemeClr val="dk1"/>
                </a:solidFill>
                <a:latin typeface="Times New Roman"/>
                <a:ea typeface="Times New Roman"/>
                <a:cs typeface="Times New Roman"/>
                <a:sym typeface="Times New Roman"/>
              </a:rPr>
              <a:t>3</a:t>
            </a:r>
            <a:endParaRPr/>
          </a:p>
        </p:txBody>
      </p:sp>
      <p:sp>
        <p:nvSpPr>
          <p:cNvPr id="613" name="Google Shape;613;p45"/>
          <p:cNvSpPr txBox="1"/>
          <p:nvPr/>
        </p:nvSpPr>
        <p:spPr>
          <a:xfrm>
            <a:off x="990600" y="3032125"/>
            <a:ext cx="45085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D</a:t>
            </a:r>
            <a:r>
              <a:rPr b="0" baseline="-25000" i="0" lang="en-US" sz="2000" u="none" cap="none" strike="noStrike">
                <a:solidFill>
                  <a:schemeClr val="dk1"/>
                </a:solidFill>
                <a:latin typeface="Times New Roman"/>
                <a:ea typeface="Times New Roman"/>
                <a:cs typeface="Times New Roman"/>
                <a:sym typeface="Times New Roman"/>
              </a:rPr>
              <a:t>1</a:t>
            </a:r>
            <a:endParaRPr/>
          </a:p>
        </p:txBody>
      </p:sp>
      <p:sp>
        <p:nvSpPr>
          <p:cNvPr id="614" name="Google Shape;614;p45"/>
          <p:cNvSpPr txBox="1"/>
          <p:nvPr/>
        </p:nvSpPr>
        <p:spPr>
          <a:xfrm>
            <a:off x="3289300" y="3565525"/>
            <a:ext cx="3683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C</a:t>
            </a:r>
            <a:endParaRPr b="1" baseline="-25000" i="0" sz="2000" u="none" cap="none" strike="noStrike">
              <a:solidFill>
                <a:schemeClr val="dk1"/>
              </a:solidFill>
              <a:latin typeface="Times New Roman"/>
              <a:ea typeface="Times New Roman"/>
              <a:cs typeface="Times New Roman"/>
              <a:sym typeface="Times New Roman"/>
            </a:endParaRPr>
          </a:p>
        </p:txBody>
      </p:sp>
      <p:sp>
        <p:nvSpPr>
          <p:cNvPr id="615" name="Google Shape;615;p45"/>
          <p:cNvSpPr txBox="1"/>
          <p:nvPr/>
        </p:nvSpPr>
        <p:spPr>
          <a:xfrm>
            <a:off x="3684588" y="3870325"/>
            <a:ext cx="354012"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800000"/>
                </a:solidFill>
                <a:latin typeface="Times New Roman"/>
                <a:ea typeface="Times New Roman"/>
                <a:cs typeface="Times New Roman"/>
                <a:sym typeface="Times New Roman"/>
              </a:rPr>
              <a:t>B</a:t>
            </a:r>
            <a:endParaRPr b="1" baseline="-25000" i="0" sz="2000" u="none" cap="none" strike="noStrike">
              <a:solidFill>
                <a:srgbClr val="800000"/>
              </a:solidFill>
              <a:latin typeface="Times New Roman"/>
              <a:ea typeface="Times New Roman"/>
              <a:cs typeface="Times New Roman"/>
              <a:sym typeface="Times New Roman"/>
            </a:endParaRPr>
          </a:p>
        </p:txBody>
      </p:sp>
      <p:sp>
        <p:nvSpPr>
          <p:cNvPr id="616" name="Google Shape;616;p45"/>
          <p:cNvSpPr txBox="1"/>
          <p:nvPr/>
        </p:nvSpPr>
        <p:spPr>
          <a:xfrm>
            <a:off x="5803900" y="4556125"/>
            <a:ext cx="3683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A</a:t>
            </a:r>
            <a:endParaRPr b="1" baseline="-25000" i="0" sz="2000" u="none" cap="none" strike="noStrike">
              <a:solidFill>
                <a:schemeClr val="dk1"/>
              </a:solidFill>
              <a:latin typeface="Times New Roman"/>
              <a:ea typeface="Times New Roman"/>
              <a:cs typeface="Times New Roman"/>
              <a:sym typeface="Times New Roman"/>
            </a:endParaRPr>
          </a:p>
        </p:txBody>
      </p:sp>
      <p:cxnSp>
        <p:nvCxnSpPr>
          <p:cNvPr id="617" name="Google Shape;617;p45"/>
          <p:cNvCxnSpPr/>
          <p:nvPr/>
        </p:nvCxnSpPr>
        <p:spPr>
          <a:xfrm>
            <a:off x="3810000" y="4267200"/>
            <a:ext cx="0" cy="685800"/>
          </a:xfrm>
          <a:prstGeom prst="straightConnector1">
            <a:avLst/>
          </a:prstGeom>
          <a:noFill/>
          <a:ln cap="flat" cmpd="sng" w="28575">
            <a:solidFill>
              <a:srgbClr val="800000"/>
            </a:solidFill>
            <a:prstDash val="dash"/>
            <a:round/>
            <a:headEnd len="med" w="med" type="none"/>
            <a:tailEnd len="med" w="med" type="none"/>
          </a:ln>
        </p:spPr>
      </p:cxnSp>
      <p:cxnSp>
        <p:nvCxnSpPr>
          <p:cNvPr id="618" name="Google Shape;618;p45"/>
          <p:cNvCxnSpPr/>
          <p:nvPr/>
        </p:nvCxnSpPr>
        <p:spPr>
          <a:xfrm rot="10800000">
            <a:off x="2819400" y="4267200"/>
            <a:ext cx="990600" cy="0"/>
          </a:xfrm>
          <a:prstGeom prst="straightConnector1">
            <a:avLst/>
          </a:prstGeom>
          <a:noFill/>
          <a:ln cap="flat" cmpd="sng" w="28575">
            <a:solidFill>
              <a:srgbClr val="800000"/>
            </a:solidFill>
            <a:prstDash val="dash"/>
            <a:round/>
            <a:headEnd len="med" w="med" type="none"/>
            <a:tailEnd len="med" w="med" type="none"/>
          </a:ln>
        </p:spPr>
      </p:cxnSp>
      <p:sp>
        <p:nvSpPr>
          <p:cNvPr id="619" name="Google Shape;619;p45"/>
          <p:cNvSpPr txBox="1"/>
          <p:nvPr/>
        </p:nvSpPr>
        <p:spPr>
          <a:xfrm>
            <a:off x="3336925" y="4964113"/>
            <a:ext cx="268288" cy="2746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3</a:t>
            </a:r>
            <a:endParaRPr/>
          </a:p>
        </p:txBody>
      </p:sp>
      <p:sp>
        <p:nvSpPr>
          <p:cNvPr id="620" name="Google Shape;620;p45"/>
          <p:cNvSpPr txBox="1"/>
          <p:nvPr/>
        </p:nvSpPr>
        <p:spPr>
          <a:xfrm>
            <a:off x="3581400" y="4937125"/>
            <a:ext cx="6096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800000"/>
                </a:solidFill>
                <a:latin typeface="Times New Roman"/>
                <a:ea typeface="Times New Roman"/>
                <a:cs typeface="Times New Roman"/>
                <a:sym typeface="Times New Roman"/>
              </a:rPr>
              <a:t>8.4</a:t>
            </a:r>
            <a:endParaRPr/>
          </a:p>
        </p:txBody>
      </p:sp>
      <p:sp>
        <p:nvSpPr>
          <p:cNvPr id="621" name="Google Shape;621;p45"/>
          <p:cNvSpPr txBox="1"/>
          <p:nvPr/>
        </p:nvSpPr>
        <p:spPr>
          <a:xfrm>
            <a:off x="2362200" y="4098925"/>
            <a:ext cx="6096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800000"/>
                </a:solidFill>
                <a:latin typeface="Times New Roman"/>
                <a:ea typeface="Times New Roman"/>
                <a:cs typeface="Times New Roman"/>
                <a:sym typeface="Times New Roman"/>
              </a:rPr>
              <a:t>4.8</a:t>
            </a:r>
            <a:endParaRPr/>
          </a:p>
        </p:txBody>
      </p:sp>
      <p:sp>
        <p:nvSpPr>
          <p:cNvPr id="622" name="Google Shape;622;p45"/>
          <p:cNvSpPr txBox="1"/>
          <p:nvPr/>
        </p:nvSpPr>
        <p:spPr>
          <a:xfrm>
            <a:off x="2438400" y="381000"/>
            <a:ext cx="3937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x</a:t>
            </a:r>
            <a:r>
              <a:rPr b="0" baseline="-25000" i="0" lang="en-US" sz="2000" u="none" cap="none" strike="noStrike">
                <a:solidFill>
                  <a:schemeClr val="dk1"/>
                </a:solidFill>
                <a:latin typeface="Times New Roman"/>
                <a:ea typeface="Times New Roman"/>
                <a:cs typeface="Times New Roman"/>
                <a:sym typeface="Times New Roman"/>
              </a:rPr>
              <a:t>2</a:t>
            </a:r>
            <a:endParaRPr/>
          </a:p>
        </p:txBody>
      </p:sp>
      <p:sp>
        <p:nvSpPr>
          <p:cNvPr id="623" name="Google Shape;623;p45"/>
          <p:cNvSpPr txBox="1"/>
          <p:nvPr/>
        </p:nvSpPr>
        <p:spPr>
          <a:xfrm>
            <a:off x="8521700" y="4876800"/>
            <a:ext cx="3937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x</a:t>
            </a:r>
            <a:r>
              <a:rPr b="0" baseline="-25000" i="0" lang="en-US" sz="2000" u="none" cap="none" strike="noStrike">
                <a:solidFill>
                  <a:schemeClr val="dk1"/>
                </a:solidFill>
                <a:latin typeface="Times New Roman"/>
                <a:ea typeface="Times New Roman"/>
                <a:cs typeface="Times New Roman"/>
                <a:sym typeface="Times New Roman"/>
              </a:rPr>
              <a:t>1</a:t>
            </a:r>
            <a:endParaRPr/>
          </a:p>
        </p:txBody>
      </p:sp>
      <p:sp>
        <p:nvSpPr>
          <p:cNvPr id="624" name="Google Shape;624;p45"/>
          <p:cNvSpPr txBox="1"/>
          <p:nvPr/>
        </p:nvSpPr>
        <p:spPr>
          <a:xfrm>
            <a:off x="1676400" y="5394325"/>
            <a:ext cx="1946275"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3399"/>
                </a:solidFill>
                <a:latin typeface="Times New Roman"/>
                <a:ea typeface="Times New Roman"/>
                <a:cs typeface="Times New Roman"/>
                <a:sym typeface="Times New Roman"/>
              </a:rPr>
              <a:t>Đường đẳng phí</a:t>
            </a:r>
            <a:endParaRPr/>
          </a:p>
        </p:txBody>
      </p:sp>
      <p:cxnSp>
        <p:nvCxnSpPr>
          <p:cNvPr id="625" name="Google Shape;625;p45"/>
          <p:cNvCxnSpPr/>
          <p:nvPr/>
        </p:nvCxnSpPr>
        <p:spPr>
          <a:xfrm flipH="1" rot="10800000">
            <a:off x="2971800" y="5181600"/>
            <a:ext cx="152400" cy="304800"/>
          </a:xfrm>
          <a:prstGeom prst="straightConnector1">
            <a:avLst/>
          </a:prstGeom>
          <a:noFill/>
          <a:ln cap="flat" cmpd="sng" w="28575">
            <a:solidFill>
              <a:srgbClr val="FF3399"/>
            </a:solidFill>
            <a:prstDash val="solid"/>
            <a:round/>
            <a:headEnd len="med" w="med" type="none"/>
            <a:tailEnd len="med" w="med" type="stealth"/>
          </a:ln>
        </p:spPr>
      </p:cxnSp>
      <p:sp>
        <p:nvSpPr>
          <p:cNvPr id="626" name="Google Shape;626;p45"/>
          <p:cNvSpPr txBox="1"/>
          <p:nvPr/>
        </p:nvSpPr>
        <p:spPr>
          <a:xfrm>
            <a:off x="1066800" y="4191000"/>
            <a:ext cx="8128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FF3399"/>
                </a:solidFill>
                <a:latin typeface="Times New Roman"/>
                <a:ea typeface="Times New Roman"/>
                <a:cs typeface="Times New Roman"/>
                <a:sym typeface="Times New Roman"/>
              </a:rPr>
              <a:t>Z</a:t>
            </a:r>
            <a:r>
              <a:rPr b="1" baseline="-25000" i="0" lang="en-US" sz="2000" u="none" cap="none" strike="noStrike">
                <a:solidFill>
                  <a:srgbClr val="FF3399"/>
                </a:solidFill>
                <a:latin typeface="Times New Roman"/>
                <a:ea typeface="Times New Roman"/>
                <a:cs typeface="Times New Roman"/>
                <a:sym typeface="Times New Roman"/>
              </a:rPr>
              <a:t>0 </a:t>
            </a:r>
            <a:r>
              <a:rPr b="1" i="0" lang="en-US" sz="2000" u="none" cap="none" strike="noStrike">
                <a:solidFill>
                  <a:srgbClr val="FF3399"/>
                </a:solidFill>
                <a:latin typeface="Times New Roman"/>
                <a:ea typeface="Times New Roman"/>
                <a:cs typeface="Times New Roman"/>
                <a:sym typeface="Times New Roman"/>
              </a:rPr>
              <a:t>= 0</a:t>
            </a:r>
            <a:endParaRPr/>
          </a:p>
        </p:txBody>
      </p:sp>
      <p:cxnSp>
        <p:nvCxnSpPr>
          <p:cNvPr id="627" name="Google Shape;627;p45"/>
          <p:cNvCxnSpPr/>
          <p:nvPr/>
        </p:nvCxnSpPr>
        <p:spPr>
          <a:xfrm flipH="1" rot="10800000">
            <a:off x="5486400" y="5334000"/>
            <a:ext cx="152400" cy="304800"/>
          </a:xfrm>
          <a:prstGeom prst="straightConnector1">
            <a:avLst/>
          </a:prstGeom>
          <a:noFill/>
          <a:ln cap="flat" cmpd="sng" w="28575">
            <a:solidFill>
              <a:srgbClr val="FF3399"/>
            </a:solidFill>
            <a:prstDash val="solid"/>
            <a:round/>
            <a:headEnd len="med" w="med" type="none"/>
            <a:tailEnd len="med" w="med" type="stealth"/>
          </a:ln>
        </p:spPr>
      </p:cxnSp>
      <p:sp>
        <p:nvSpPr>
          <p:cNvPr id="628" name="Google Shape;628;p45"/>
          <p:cNvSpPr txBox="1"/>
          <p:nvPr/>
        </p:nvSpPr>
        <p:spPr>
          <a:xfrm>
            <a:off x="3810000" y="1295400"/>
            <a:ext cx="5016500" cy="28352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33CC"/>
                </a:solidFill>
                <a:latin typeface="Times New Roman"/>
                <a:ea typeface="Times New Roman"/>
                <a:cs typeface="Times New Roman"/>
                <a:sym typeface="Times New Roman"/>
              </a:rPr>
              <a:t>Tọa độ điểm B</a:t>
            </a:r>
            <a:r>
              <a:rPr b="0" i="0" lang="en-US" sz="2000" u="none" cap="none" strike="noStrike">
                <a:solidFill>
                  <a:schemeClr val="dk1"/>
                </a:solidFill>
                <a:latin typeface="Times New Roman"/>
                <a:ea typeface="Times New Roman"/>
                <a:cs typeface="Times New Roman"/>
                <a:sym typeface="Times New Roman"/>
              </a:rPr>
              <a:t> là nghiệm của hệ phương trình:</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5x</a:t>
            </a:r>
            <a:r>
              <a:rPr b="0" baseline="-25000" i="0" lang="en-US" sz="2000" u="none" cap="none" strike="noStrike">
                <a:solidFill>
                  <a:schemeClr val="dk1"/>
                </a:solidFill>
                <a:latin typeface="Times New Roman"/>
                <a:ea typeface="Times New Roman"/>
                <a:cs typeface="Times New Roman"/>
                <a:sym typeface="Times New Roman"/>
              </a:rPr>
              <a:t>1</a:t>
            </a:r>
            <a:r>
              <a:rPr b="0" i="0" lang="en-US" sz="2000" u="none" cap="none" strike="noStrike">
                <a:solidFill>
                  <a:schemeClr val="dk1"/>
                </a:solidFill>
                <a:latin typeface="Times New Roman"/>
                <a:ea typeface="Times New Roman"/>
                <a:cs typeface="Times New Roman"/>
                <a:sym typeface="Times New Roman"/>
              </a:rPr>
              <a:t> + 10x</a:t>
            </a:r>
            <a:r>
              <a:rPr b="0" baseline="-25000" i="0" lang="en-US" sz="2000" u="none" cap="none" strike="noStrike">
                <a:solidFill>
                  <a:schemeClr val="dk1"/>
                </a:solidFill>
                <a:latin typeface="Times New Roman"/>
                <a:ea typeface="Times New Roman"/>
                <a:cs typeface="Times New Roman"/>
                <a:sym typeface="Times New Roman"/>
              </a:rPr>
              <a:t>2</a:t>
            </a:r>
            <a:r>
              <a:rPr b="0" i="0" lang="en-US" sz="2000" u="none" cap="none" strike="noStrike">
                <a:solidFill>
                  <a:schemeClr val="dk1"/>
                </a:solidFill>
                <a:latin typeface="Times New Roman"/>
                <a:ea typeface="Times New Roman"/>
                <a:cs typeface="Times New Roman"/>
                <a:sym typeface="Times New Roman"/>
              </a:rPr>
              <a:t> = 90		x</a:t>
            </a:r>
            <a:r>
              <a:rPr b="0" baseline="-25000" i="0" lang="en-US" sz="2000" u="none" cap="none" strike="noStrike">
                <a:solidFill>
                  <a:schemeClr val="dk1"/>
                </a:solidFill>
                <a:latin typeface="Times New Roman"/>
                <a:ea typeface="Times New Roman"/>
                <a:cs typeface="Times New Roman"/>
                <a:sym typeface="Times New Roman"/>
              </a:rPr>
              <a:t>1</a:t>
            </a:r>
            <a:r>
              <a:rPr b="0" i="0" lang="en-US" sz="2000" u="none" cap="none" strike="noStrike">
                <a:solidFill>
                  <a:schemeClr val="dk1"/>
                </a:solidFill>
                <a:latin typeface="Times New Roman"/>
                <a:ea typeface="Times New Roman"/>
                <a:cs typeface="Times New Roman"/>
                <a:sym typeface="Times New Roman"/>
              </a:rPr>
              <a:t>* = 8.4</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4x</a:t>
            </a:r>
            <a:r>
              <a:rPr b="0" baseline="-25000" i="0" lang="en-US" sz="2000" u="none" cap="none" strike="noStrike">
                <a:solidFill>
                  <a:schemeClr val="dk1"/>
                </a:solidFill>
                <a:latin typeface="Times New Roman"/>
                <a:ea typeface="Times New Roman"/>
                <a:cs typeface="Times New Roman"/>
                <a:sym typeface="Times New Roman"/>
              </a:rPr>
              <a:t>1</a:t>
            </a:r>
            <a:r>
              <a:rPr b="0" i="0" lang="en-US" sz="2000" u="none" cap="none" strike="noStrike">
                <a:solidFill>
                  <a:schemeClr val="dk1"/>
                </a:solidFill>
                <a:latin typeface="Times New Roman"/>
                <a:ea typeface="Times New Roman"/>
                <a:cs typeface="Times New Roman"/>
                <a:sym typeface="Times New Roman"/>
              </a:rPr>
              <a:t> + 3x</a:t>
            </a:r>
            <a:r>
              <a:rPr b="0" baseline="-25000" i="0" lang="en-US" sz="2000" u="none" cap="none" strike="noStrike">
                <a:solidFill>
                  <a:schemeClr val="dk1"/>
                </a:solidFill>
                <a:latin typeface="Times New Roman"/>
                <a:ea typeface="Times New Roman"/>
                <a:cs typeface="Times New Roman"/>
                <a:sym typeface="Times New Roman"/>
              </a:rPr>
              <a:t>2</a:t>
            </a:r>
            <a:r>
              <a:rPr b="0" i="0" lang="en-US" sz="2000" u="none" cap="none" strike="noStrike">
                <a:solidFill>
                  <a:schemeClr val="dk1"/>
                </a:solidFill>
                <a:latin typeface="Times New Roman"/>
                <a:ea typeface="Times New Roman"/>
                <a:cs typeface="Times New Roman"/>
                <a:sym typeface="Times New Roman"/>
              </a:rPr>
              <a:t> = 48   		x</a:t>
            </a:r>
            <a:r>
              <a:rPr b="0" baseline="-25000" i="0" lang="en-US" sz="2000" u="none" cap="none" strike="noStrike">
                <a:solidFill>
                  <a:schemeClr val="dk1"/>
                </a:solidFill>
                <a:latin typeface="Times New Roman"/>
                <a:ea typeface="Times New Roman"/>
                <a:cs typeface="Times New Roman"/>
                <a:sym typeface="Times New Roman"/>
              </a:rPr>
              <a:t>2</a:t>
            </a:r>
            <a:r>
              <a:rPr b="0" i="0" lang="en-US" sz="2000" u="none" cap="none" strike="noStrike">
                <a:solidFill>
                  <a:schemeClr val="dk1"/>
                </a:solidFill>
                <a:latin typeface="Times New Roman"/>
                <a:ea typeface="Times New Roman"/>
                <a:cs typeface="Times New Roman"/>
                <a:sym typeface="Times New Roman"/>
              </a:rPr>
              <a:t>* = 4.8</a:t>
            </a:r>
            <a:endParaRPr/>
          </a:p>
          <a:p>
            <a:pPr indent="0" lvl="0" marL="0" marR="0" rtl="0" algn="l">
              <a:spcBef>
                <a:spcPts val="0"/>
              </a:spcBef>
              <a:spcAft>
                <a:spcPts val="0"/>
              </a:spcAft>
              <a:buNone/>
            </a:pPr>
            <a:r>
              <a:rPr b="1" i="0" lang="en-US" sz="2000" u="none" cap="none" strike="noStrike">
                <a:solidFill>
                  <a:srgbClr val="0033CC"/>
                </a:solidFill>
                <a:latin typeface="Times New Roman"/>
                <a:ea typeface="Times New Roman"/>
                <a:cs typeface="Times New Roman"/>
                <a:sym typeface="Times New Roman"/>
              </a:rPr>
              <a:t>Giá trị của Hàm MT:</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Z = Z</a:t>
            </a:r>
            <a:r>
              <a:rPr b="0" baseline="-25000" i="0" lang="en-US" sz="2000" u="none" cap="none" strike="noStrike">
                <a:solidFill>
                  <a:schemeClr val="dk1"/>
                </a:solidFill>
                <a:latin typeface="Times New Roman"/>
                <a:ea typeface="Times New Roman"/>
                <a:cs typeface="Times New Roman"/>
                <a:sym typeface="Times New Roman"/>
              </a:rPr>
              <a:t>min</a:t>
            </a:r>
            <a:r>
              <a:rPr b="0" i="0" lang="en-US" sz="2000" u="none" cap="none" strike="noStrike">
                <a:solidFill>
                  <a:schemeClr val="dk1"/>
                </a:solidFill>
                <a:latin typeface="Times New Roman"/>
                <a:ea typeface="Times New Roman"/>
                <a:cs typeface="Times New Roman"/>
                <a:sym typeface="Times New Roman"/>
              </a:rPr>
              <a:t> = 2x</a:t>
            </a:r>
            <a:r>
              <a:rPr b="0" baseline="-25000" i="0" lang="en-US" sz="2000" u="none" cap="none" strike="noStrike">
                <a:solidFill>
                  <a:schemeClr val="dk1"/>
                </a:solidFill>
                <a:latin typeface="Times New Roman"/>
                <a:ea typeface="Times New Roman"/>
                <a:cs typeface="Times New Roman"/>
                <a:sym typeface="Times New Roman"/>
              </a:rPr>
              <a:t>1</a:t>
            </a:r>
            <a:r>
              <a:rPr b="0" i="0" lang="en-US" sz="2000" u="none" cap="none" strike="noStrike">
                <a:solidFill>
                  <a:schemeClr val="dk1"/>
                </a:solidFill>
                <a:latin typeface="Times New Roman"/>
                <a:ea typeface="Times New Roman"/>
                <a:cs typeface="Times New Roman"/>
                <a:sym typeface="Times New Roman"/>
              </a:rPr>
              <a:t> + 3x</a:t>
            </a:r>
            <a:r>
              <a:rPr b="0" baseline="-25000" i="0" lang="en-US" sz="2000" u="none" cap="none" strike="noStrike">
                <a:solidFill>
                  <a:schemeClr val="dk1"/>
                </a:solidFill>
                <a:latin typeface="Times New Roman"/>
                <a:ea typeface="Times New Roman"/>
                <a:cs typeface="Times New Roman"/>
                <a:sym typeface="Times New Roman"/>
              </a:rPr>
              <a:t>2</a:t>
            </a:r>
            <a:r>
              <a:rPr b="0" i="0" lang="en-US" sz="2000" u="none" cap="none" strike="noStrike">
                <a:solidFill>
                  <a:schemeClr val="dk1"/>
                </a:solidFill>
                <a:latin typeface="Times New Roman"/>
                <a:ea typeface="Times New Roman"/>
                <a:cs typeface="Times New Roman"/>
                <a:sym typeface="Times New Roman"/>
              </a:rPr>
              <a:t> </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 2x 8.4 + 3x 4.8 = 31.2</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Vậy, </a:t>
            </a:r>
            <a:r>
              <a:rPr b="1" i="0" lang="en-US" sz="2000" u="none" cap="none" strike="noStrike">
                <a:solidFill>
                  <a:srgbClr val="0033CC"/>
                </a:solidFill>
                <a:latin typeface="Times New Roman"/>
                <a:ea typeface="Times New Roman"/>
                <a:cs typeface="Times New Roman"/>
                <a:sym typeface="Times New Roman"/>
              </a:rPr>
              <a:t>lời giải tối ưu</a:t>
            </a:r>
            <a:r>
              <a:rPr b="0" i="0" lang="en-US" sz="2000" u="none" cap="none" strike="noStrike">
                <a:solidFill>
                  <a:schemeClr val="dk1"/>
                </a:solidFill>
                <a:latin typeface="Times New Roman"/>
                <a:ea typeface="Times New Roman"/>
                <a:cs typeface="Times New Roman"/>
                <a:sym typeface="Times New Roman"/>
              </a:rPr>
              <a:t> là:</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x</a:t>
            </a:r>
            <a:r>
              <a:rPr b="0" baseline="-25000" i="0" lang="en-US" sz="2000" u="none" cap="none" strike="noStrike">
                <a:solidFill>
                  <a:schemeClr val="dk1"/>
                </a:solidFill>
                <a:latin typeface="Times New Roman"/>
                <a:ea typeface="Times New Roman"/>
                <a:cs typeface="Times New Roman"/>
                <a:sym typeface="Times New Roman"/>
              </a:rPr>
              <a:t>1</a:t>
            </a:r>
            <a:r>
              <a:rPr b="0" i="0" lang="en-US" sz="2000" u="none" cap="none" strike="noStrike">
                <a:solidFill>
                  <a:schemeClr val="dk1"/>
                </a:solidFill>
                <a:latin typeface="Times New Roman"/>
                <a:ea typeface="Times New Roman"/>
                <a:cs typeface="Times New Roman"/>
                <a:sym typeface="Times New Roman"/>
              </a:rPr>
              <a:t>* = 8.4</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x</a:t>
            </a:r>
            <a:r>
              <a:rPr b="0" baseline="-25000" i="0" lang="en-US" sz="2000" u="none" cap="none" strike="noStrike">
                <a:solidFill>
                  <a:schemeClr val="dk1"/>
                </a:solidFill>
                <a:latin typeface="Times New Roman"/>
                <a:ea typeface="Times New Roman"/>
                <a:cs typeface="Times New Roman"/>
                <a:sym typeface="Times New Roman"/>
              </a:rPr>
              <a:t>2</a:t>
            </a:r>
            <a:r>
              <a:rPr b="0" i="0" lang="en-US" sz="2000" u="none" cap="none" strike="noStrike">
                <a:solidFill>
                  <a:schemeClr val="dk1"/>
                </a:solidFill>
                <a:latin typeface="Times New Roman"/>
                <a:ea typeface="Times New Roman"/>
                <a:cs typeface="Times New Roman"/>
                <a:sym typeface="Times New Roman"/>
              </a:rPr>
              <a:t>* = 4.8</a:t>
            </a:r>
            <a:endParaRPr/>
          </a:p>
        </p:txBody>
      </p:sp>
      <p:sp>
        <p:nvSpPr>
          <p:cNvPr id="629" name="Google Shape;629;p45"/>
          <p:cNvSpPr txBox="1"/>
          <p:nvPr/>
        </p:nvSpPr>
        <p:spPr>
          <a:xfrm>
            <a:off x="138113" y="76200"/>
            <a:ext cx="2376487"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8000"/>
                </a:solidFill>
                <a:latin typeface="Times New Roman"/>
                <a:ea typeface="Times New Roman"/>
                <a:cs typeface="Times New Roman"/>
                <a:sym typeface="Times New Roman"/>
              </a:rPr>
              <a:t>Giải bằng PP đồ thị </a:t>
            </a:r>
            <a:endParaRPr b="0" i="0" sz="2000" u="none" cap="none" strike="noStrike">
              <a:solidFill>
                <a:srgbClr val="008000"/>
              </a:solidFill>
              <a:latin typeface="Times New Roman"/>
              <a:ea typeface="Times New Roman"/>
              <a:cs typeface="Times New Roman"/>
              <a:sym typeface="Times New Roman"/>
            </a:endParaRPr>
          </a:p>
        </p:txBody>
      </p:sp>
      <p:sp>
        <p:nvSpPr>
          <p:cNvPr id="630" name="Google Shape;630;p45"/>
          <p:cNvSpPr txBox="1"/>
          <p:nvPr/>
        </p:nvSpPr>
        <p:spPr>
          <a:xfrm>
            <a:off x="76200" y="6096000"/>
            <a:ext cx="2778125" cy="701675"/>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Giải bằng PP điểm đỉnh</a:t>
            </a:r>
            <a:endParaRPr/>
          </a:p>
          <a:p>
            <a:pPr indent="0" lvl="0" marL="0" marR="0" rtl="0" algn="r">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a:t>
            </a:r>
            <a:r>
              <a:rPr b="1" i="0" lang="en-US" sz="2000" u="sng" cap="none" strike="noStrike">
                <a:solidFill>
                  <a:schemeClr val="dk1"/>
                </a:solidFill>
                <a:latin typeface="Times New Roman"/>
                <a:ea typeface="Times New Roman"/>
                <a:cs typeface="Times New Roman"/>
                <a:sym typeface="Times New Roman"/>
                <a:hlinkClick action="ppaction://hlinksldjump" r:id="rId3">
                  <a:extLst>
                    <a:ext uri="{A12FA001-AC4F-418D-AE19-62706E023703}">
                      <ahyp:hlinkClr val="tx"/>
                    </a:ext>
                  </a:extLst>
                </a:hlinkClick>
              </a:rPr>
              <a:t>Slide 48</a:t>
            </a:r>
            <a:r>
              <a:rPr b="0" i="0" lang="en-US" sz="2000" u="none" cap="none" strike="noStrike">
                <a:solidFill>
                  <a:schemeClr val="dk1"/>
                </a:solidFill>
                <a:latin typeface="Times New Roman"/>
                <a:ea typeface="Times New Roman"/>
                <a:cs typeface="Times New Roman"/>
                <a:sym typeface="Times New Roman"/>
              </a:rPr>
              <a:t>)</a:t>
            </a:r>
            <a:endParaRPr/>
          </a:p>
        </p:txBody>
      </p:sp>
    </p:spTree>
  </p:cSld>
  <p:clrMapOvr>
    <a:masterClrMapping/>
  </p:clrMapOvr>
  <p:transition>
    <p:push dir="r"/>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46"/>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000">
                <a:solidFill>
                  <a:schemeClr val="dk1"/>
                </a:solidFill>
              </a:rPr>
              <a:t>6.2. Quy hoạch tuyến tính</a:t>
            </a:r>
            <a:r>
              <a:rPr i="1" lang="en-US" sz="2000">
                <a:solidFill>
                  <a:schemeClr val="dk1"/>
                </a:solidFill>
              </a:rPr>
              <a:t> (tt)</a:t>
            </a:r>
            <a:br>
              <a:rPr i="1" lang="en-US" sz="2000">
                <a:solidFill>
                  <a:schemeClr val="dk1"/>
                </a:solidFill>
              </a:rPr>
            </a:br>
            <a:r>
              <a:rPr i="1" lang="en-US" sz="2000">
                <a:solidFill>
                  <a:schemeClr val="dk1"/>
                </a:solidFill>
              </a:rPr>
              <a:t> </a:t>
            </a:r>
            <a:r>
              <a:rPr b="0" lang="en-US" sz="2000">
                <a:solidFill>
                  <a:schemeClr val="dk1"/>
                </a:solidFill>
              </a:rPr>
              <a:t>6.2.3. Giải BT QHTT bằng Đồ thị </a:t>
            </a:r>
            <a:r>
              <a:rPr b="0" i="1" lang="en-US" sz="2000">
                <a:solidFill>
                  <a:schemeClr val="dk1"/>
                </a:solidFill>
              </a:rPr>
              <a:t>(tt)</a:t>
            </a:r>
            <a:endParaRPr/>
          </a:p>
        </p:txBody>
      </p:sp>
      <p:sp>
        <p:nvSpPr>
          <p:cNvPr id="636" name="Google Shape;636;p46"/>
          <p:cNvSpPr txBox="1"/>
          <p:nvPr>
            <p:ph idx="4294967295" type="body"/>
          </p:nvPr>
        </p:nvSpPr>
        <p:spPr>
          <a:xfrm>
            <a:off x="762000" y="1905000"/>
            <a:ext cx="7696200" cy="4648200"/>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1400"/>
              <a:buFont typeface="Noto Sans Symbols"/>
              <a:buNone/>
            </a:pPr>
            <a:r>
              <a:rPr b="1" lang="en-US" sz="2000">
                <a:solidFill>
                  <a:srgbClr val="0033CC"/>
                </a:solidFill>
              </a:rPr>
              <a:t>b) Phương pháp dùng điểm đỉnh</a:t>
            </a:r>
            <a:r>
              <a:rPr i="1" lang="en-US" sz="2000">
                <a:solidFill>
                  <a:srgbClr val="0033CC"/>
                </a:solidFill>
              </a:rPr>
              <a:t> (corner point, extreme point)</a:t>
            </a:r>
            <a:endParaRPr/>
          </a:p>
          <a:p>
            <a:pPr indent="-285750" lvl="2" marL="746125" rtl="0" algn="just">
              <a:lnSpc>
                <a:spcPct val="120000"/>
              </a:lnSpc>
              <a:spcBef>
                <a:spcPts val="960"/>
              </a:spcBef>
              <a:spcAft>
                <a:spcPts val="0"/>
              </a:spcAft>
              <a:buSzPts val="3600"/>
              <a:buFont typeface="Times New Roman"/>
              <a:buChar char="•"/>
            </a:pPr>
            <a:r>
              <a:rPr b="1" lang="en-US" sz="2400"/>
              <a:t>Các điểm đỉnh</a:t>
            </a:r>
            <a:r>
              <a:rPr lang="en-US" sz="2400"/>
              <a:t> là giao điểm của các ràng buộc nằm trong không gian lời giải gọi là </a:t>
            </a:r>
            <a:r>
              <a:rPr b="1" lang="en-US" sz="2400"/>
              <a:t>các đỉnh của không gian lời giải.</a:t>
            </a:r>
            <a:endParaRPr/>
          </a:p>
          <a:p>
            <a:pPr indent="-285750" lvl="2" marL="746125" rtl="0" algn="just">
              <a:lnSpc>
                <a:spcPct val="120000"/>
              </a:lnSpc>
              <a:spcBef>
                <a:spcPts val="960"/>
              </a:spcBef>
              <a:spcAft>
                <a:spcPts val="0"/>
              </a:spcAft>
              <a:buSzPts val="3600"/>
              <a:buFont typeface="Times New Roman"/>
              <a:buChar char="•"/>
            </a:pPr>
            <a:r>
              <a:rPr lang="en-US" sz="2400"/>
              <a:t>Nếu bài toán QHTT có </a:t>
            </a:r>
            <a:r>
              <a:rPr b="1" lang="en-US" sz="2400"/>
              <a:t>lời giải tối ưu</a:t>
            </a:r>
            <a:r>
              <a:rPr lang="en-US" sz="2400"/>
              <a:t>, thì lời giải sẽ </a:t>
            </a:r>
            <a:r>
              <a:rPr b="1" i="1" lang="en-US" sz="2400"/>
              <a:t>nằm trên</a:t>
            </a:r>
            <a:r>
              <a:rPr lang="en-US" sz="2400"/>
              <a:t> các đỉnh của không gian lời giải.</a:t>
            </a:r>
            <a:endParaRPr/>
          </a:p>
          <a:p>
            <a:pPr indent="-285750" lvl="2" marL="746125" rtl="0" algn="just">
              <a:lnSpc>
                <a:spcPct val="120000"/>
              </a:lnSpc>
              <a:spcBef>
                <a:spcPts val="960"/>
              </a:spcBef>
              <a:spcAft>
                <a:spcPts val="0"/>
              </a:spcAft>
              <a:buSzPts val="3600"/>
              <a:buFont typeface="Times New Roman"/>
              <a:buChar char="•"/>
            </a:pPr>
            <a:r>
              <a:rPr lang="en-US" sz="2400"/>
              <a:t>Áp dụng kết quả này, tìm </a:t>
            </a:r>
            <a:r>
              <a:rPr b="1" lang="en-US" sz="2400"/>
              <a:t>giá trị của Hàm MT</a:t>
            </a:r>
            <a:r>
              <a:rPr lang="en-US" sz="2400"/>
              <a:t> bằng cách so sánh giá trị của các đỉnh của không gian lời giải.</a:t>
            </a:r>
            <a:endParaRPr/>
          </a:p>
        </p:txBody>
      </p:sp>
      <p:sp>
        <p:nvSpPr>
          <p:cNvPr id="637" name="Google Shape;637;p46"/>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sp>
        <p:nvSpPr>
          <p:cNvPr id="642" name="Google Shape;642;p47"/>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000">
                <a:solidFill>
                  <a:schemeClr val="dk1"/>
                </a:solidFill>
              </a:rPr>
              <a:t>6.2. Quy hoạch tuyến tính</a:t>
            </a:r>
            <a:r>
              <a:rPr i="1" lang="en-US" sz="2000">
                <a:solidFill>
                  <a:schemeClr val="dk1"/>
                </a:solidFill>
              </a:rPr>
              <a:t> (tt)</a:t>
            </a:r>
            <a:br>
              <a:rPr i="1" lang="en-US" sz="2000">
                <a:solidFill>
                  <a:schemeClr val="dk1"/>
                </a:solidFill>
              </a:rPr>
            </a:br>
            <a:r>
              <a:rPr i="1" lang="en-US" sz="2000">
                <a:solidFill>
                  <a:schemeClr val="dk1"/>
                </a:solidFill>
              </a:rPr>
              <a:t> </a:t>
            </a:r>
            <a:r>
              <a:rPr b="0" lang="en-US" sz="2000">
                <a:solidFill>
                  <a:schemeClr val="dk1"/>
                </a:solidFill>
              </a:rPr>
              <a:t>6.2.3. Giải BT QHTT bằng Đồ thị </a:t>
            </a:r>
            <a:r>
              <a:rPr b="0" i="1" lang="en-US" sz="2000">
                <a:solidFill>
                  <a:schemeClr val="dk1"/>
                </a:solidFill>
              </a:rPr>
              <a:t>(tt)</a:t>
            </a:r>
            <a:endParaRPr/>
          </a:p>
        </p:txBody>
      </p:sp>
      <p:sp>
        <p:nvSpPr>
          <p:cNvPr id="643" name="Google Shape;643;p47"/>
          <p:cNvSpPr txBox="1"/>
          <p:nvPr>
            <p:ph idx="4294967295" type="body"/>
          </p:nvPr>
        </p:nvSpPr>
        <p:spPr>
          <a:xfrm>
            <a:off x="762000" y="1905000"/>
            <a:ext cx="7696200" cy="46482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1400"/>
              <a:buFont typeface="Noto Sans Symbols"/>
              <a:buNone/>
            </a:pPr>
            <a:r>
              <a:rPr b="1" lang="en-US" sz="2000">
                <a:solidFill>
                  <a:srgbClr val="0033CC"/>
                </a:solidFill>
              </a:rPr>
              <a:t>b) Phương pháp dùng điểm đỉnh</a:t>
            </a:r>
            <a:r>
              <a:rPr i="1" lang="en-US" sz="2000">
                <a:solidFill>
                  <a:srgbClr val="0033CC"/>
                </a:solidFill>
              </a:rPr>
              <a:t> (tt)</a:t>
            </a:r>
            <a:endParaRPr/>
          </a:p>
          <a:p>
            <a:pPr indent="-342900" lvl="0" marL="342900" rtl="0" algn="just">
              <a:spcBef>
                <a:spcPts val="1000"/>
              </a:spcBef>
              <a:spcAft>
                <a:spcPts val="0"/>
              </a:spcAft>
              <a:buSzPts val="1400"/>
              <a:buFont typeface="Noto Sans Symbols"/>
              <a:buNone/>
            </a:pPr>
            <a:r>
              <a:rPr b="1" i="1" lang="en-US" sz="2000" u="sng"/>
              <a:t>Giải bài toán cực đại ở VD trên</a:t>
            </a:r>
            <a:r>
              <a:rPr b="1" lang="en-US" sz="2000"/>
              <a:t>   (</a:t>
            </a:r>
            <a:r>
              <a:rPr b="1" lang="en-US" sz="2000" u="sng">
                <a:solidFill>
                  <a:schemeClr val="hlink"/>
                </a:solidFill>
                <a:hlinkClick action="ppaction://hlinksldjump" r:id="rId3"/>
              </a:rPr>
              <a:t>Slide 43</a:t>
            </a:r>
            <a:r>
              <a:rPr b="1" lang="en-US" sz="2000"/>
              <a:t>)</a:t>
            </a:r>
            <a:endParaRPr b="1" i="1" sz="2000" u="sng"/>
          </a:p>
          <a:p>
            <a:pPr indent="-342900" lvl="0" marL="342900" rtl="0" algn="just">
              <a:spcBef>
                <a:spcPts val="1000"/>
              </a:spcBef>
              <a:spcAft>
                <a:spcPts val="0"/>
              </a:spcAft>
              <a:buSzPts val="1400"/>
              <a:buChar char="●"/>
            </a:pPr>
            <a:r>
              <a:rPr lang="en-US" sz="2000"/>
              <a:t>So sánh giá trị tại 5 đỉnh O, A, B, C, D</a:t>
            </a:r>
            <a:endParaRPr/>
          </a:p>
          <a:p>
            <a:pPr indent="-285750" lvl="2" marL="746125" rtl="0" algn="just">
              <a:spcBef>
                <a:spcPts val="1000"/>
              </a:spcBef>
              <a:spcAft>
                <a:spcPts val="0"/>
              </a:spcAft>
              <a:buSzPts val="3000"/>
              <a:buFont typeface="Times New Roman"/>
              <a:buChar char="•"/>
            </a:pPr>
            <a:r>
              <a:rPr lang="en-US" sz="2000"/>
              <a:t>Đỉnh O (0, 0)	==&gt; Z</a:t>
            </a:r>
            <a:r>
              <a:rPr baseline="-25000" lang="en-US" sz="2000"/>
              <a:t>O</a:t>
            </a:r>
            <a:r>
              <a:rPr lang="en-US" sz="2000"/>
              <a:t>	=</a:t>
            </a:r>
            <a:r>
              <a:rPr b="1" lang="en-US" sz="2000"/>
              <a:t> 0</a:t>
            </a:r>
            <a:endParaRPr/>
          </a:p>
          <a:p>
            <a:pPr indent="-285750" lvl="2" marL="746125" rtl="0" algn="just">
              <a:spcBef>
                <a:spcPts val="1000"/>
              </a:spcBef>
              <a:spcAft>
                <a:spcPts val="0"/>
              </a:spcAft>
              <a:buSzPts val="3000"/>
              <a:buFont typeface="Times New Roman"/>
              <a:buChar char="•"/>
            </a:pPr>
            <a:r>
              <a:rPr lang="en-US" sz="2000"/>
              <a:t>Đỉnh A (12,5)	==&gt; Z</a:t>
            </a:r>
            <a:r>
              <a:rPr baseline="-25000" lang="en-US" sz="2000"/>
              <a:t>A</a:t>
            </a:r>
            <a:r>
              <a:rPr lang="en-US" sz="2000"/>
              <a:t>	= 18 x 15,5 + 21 x  0   =   </a:t>
            </a:r>
            <a:r>
              <a:rPr b="1" lang="en-US" sz="2000"/>
              <a:t>225</a:t>
            </a:r>
            <a:endParaRPr/>
          </a:p>
          <a:p>
            <a:pPr indent="-285750" lvl="2" marL="746125" rtl="0" algn="just">
              <a:spcBef>
                <a:spcPts val="1000"/>
              </a:spcBef>
              <a:spcAft>
                <a:spcPts val="0"/>
              </a:spcAft>
              <a:buSzPts val="3000"/>
              <a:buFont typeface="Times New Roman"/>
              <a:buChar char="•"/>
            </a:pPr>
            <a:r>
              <a:rPr lang="en-US" sz="2000"/>
              <a:t>Đỉnh B (11, 6)	==&gt; Z</a:t>
            </a:r>
            <a:r>
              <a:rPr baseline="-25000" lang="en-US" sz="2000"/>
              <a:t>B</a:t>
            </a:r>
            <a:r>
              <a:rPr lang="en-US" sz="2000"/>
              <a:t>	= 8 x 11 + 21 x 6   =   </a:t>
            </a:r>
            <a:r>
              <a:rPr b="1" lang="en-US" sz="2000"/>
              <a:t>324</a:t>
            </a:r>
            <a:endParaRPr/>
          </a:p>
          <a:p>
            <a:pPr indent="-285750" lvl="2" marL="746125" rtl="0" algn="just">
              <a:spcBef>
                <a:spcPts val="1000"/>
              </a:spcBef>
              <a:spcAft>
                <a:spcPts val="0"/>
              </a:spcAft>
              <a:buSzPts val="3000"/>
              <a:buFont typeface="Times New Roman"/>
              <a:buChar char="•"/>
            </a:pPr>
            <a:r>
              <a:rPr lang="en-US" sz="2000"/>
              <a:t>Đỉnh C (7, 12)	==&gt; Z</a:t>
            </a:r>
            <a:r>
              <a:rPr baseline="-25000" lang="en-US" sz="2000"/>
              <a:t>C</a:t>
            </a:r>
            <a:r>
              <a:rPr lang="en-US" sz="2000"/>
              <a:t>	= 18 x 7 + 21 x 12   =    </a:t>
            </a:r>
            <a:r>
              <a:rPr b="1" lang="en-US" sz="2000"/>
              <a:t>378</a:t>
            </a:r>
            <a:endParaRPr/>
          </a:p>
          <a:p>
            <a:pPr indent="-285750" lvl="2" marL="746125" rtl="0" algn="just">
              <a:spcBef>
                <a:spcPts val="1000"/>
              </a:spcBef>
              <a:spcAft>
                <a:spcPts val="0"/>
              </a:spcAft>
              <a:buSzPts val="3000"/>
              <a:buFont typeface="Times New Roman"/>
              <a:buChar char="•"/>
            </a:pPr>
            <a:r>
              <a:rPr lang="en-US" sz="2000"/>
              <a:t>Đỉnh D (0, 16,67)	==&gt; Z</a:t>
            </a:r>
            <a:r>
              <a:rPr baseline="-25000" lang="en-US" sz="2000"/>
              <a:t>D</a:t>
            </a:r>
            <a:r>
              <a:rPr lang="en-US" sz="2000"/>
              <a:t>	= 18 x 0 + 21 x 16,67   =   </a:t>
            </a:r>
            <a:r>
              <a:rPr b="1" lang="en-US" sz="2000"/>
              <a:t>350,07</a:t>
            </a:r>
            <a:endParaRPr/>
          </a:p>
          <a:p>
            <a:pPr indent="-342900" lvl="0" marL="342900" rtl="0" algn="just">
              <a:spcBef>
                <a:spcPts val="1000"/>
              </a:spcBef>
              <a:spcAft>
                <a:spcPts val="0"/>
              </a:spcAft>
              <a:buSzPts val="1400"/>
              <a:buFont typeface="Noto Sans Symbols"/>
              <a:buNone/>
            </a:pPr>
            <a:r>
              <a:rPr lang="en-US" sz="2000"/>
              <a:t>	==&gt; </a:t>
            </a:r>
            <a:r>
              <a:rPr b="1" lang="en-US" sz="2000">
                <a:solidFill>
                  <a:srgbClr val="800000"/>
                </a:solidFill>
              </a:rPr>
              <a:t>Z</a:t>
            </a:r>
            <a:r>
              <a:rPr b="1" baseline="-25000" lang="en-US" sz="2000">
                <a:solidFill>
                  <a:srgbClr val="800000"/>
                </a:solidFill>
              </a:rPr>
              <a:t>max</a:t>
            </a:r>
            <a:r>
              <a:rPr b="1" lang="en-US" sz="2000">
                <a:solidFill>
                  <a:srgbClr val="800000"/>
                </a:solidFill>
              </a:rPr>
              <a:t> = Z</a:t>
            </a:r>
            <a:r>
              <a:rPr b="1" baseline="-25000" lang="en-US" sz="2000">
                <a:solidFill>
                  <a:srgbClr val="800000"/>
                </a:solidFill>
              </a:rPr>
              <a:t>C</a:t>
            </a:r>
            <a:r>
              <a:rPr b="1" lang="en-US" sz="2000">
                <a:solidFill>
                  <a:srgbClr val="800000"/>
                </a:solidFill>
              </a:rPr>
              <a:t>  = 378</a:t>
            </a:r>
            <a:r>
              <a:rPr lang="en-US" sz="2000"/>
              <a:t>   ==&gt; </a:t>
            </a:r>
            <a:r>
              <a:rPr b="1" lang="en-US" sz="2000"/>
              <a:t>x</a:t>
            </a:r>
            <a:r>
              <a:rPr b="1" baseline="-25000" lang="en-US" sz="2000"/>
              <a:t>1</a:t>
            </a:r>
            <a:r>
              <a:rPr b="1" lang="en-US" sz="2000"/>
              <a:t> = 7</a:t>
            </a:r>
            <a:r>
              <a:rPr lang="en-US" sz="2000"/>
              <a:t> và </a:t>
            </a:r>
            <a:r>
              <a:rPr b="1" lang="en-US" sz="2000"/>
              <a:t>x</a:t>
            </a:r>
            <a:r>
              <a:rPr b="1" baseline="-25000" lang="en-US" sz="2000"/>
              <a:t>2</a:t>
            </a:r>
            <a:r>
              <a:rPr b="1" lang="en-US" sz="2000"/>
              <a:t> = 12</a:t>
            </a:r>
            <a:endParaRPr/>
          </a:p>
        </p:txBody>
      </p:sp>
      <p:sp>
        <p:nvSpPr>
          <p:cNvPr id="644" name="Google Shape;644;p47"/>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645" name="Google Shape;645;p47"/>
          <p:cNvSpPr txBox="1"/>
          <p:nvPr/>
        </p:nvSpPr>
        <p:spPr>
          <a:xfrm>
            <a:off x="5208588" y="3276600"/>
            <a:ext cx="3554412" cy="425450"/>
          </a:xfrm>
          <a:prstGeom prst="rect">
            <a:avLst/>
          </a:prstGeom>
          <a:noFill/>
          <a:ln cap="flat" cmpd="sng" w="28575">
            <a:solidFill>
              <a:schemeClr va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lt2"/>
              </a:buClr>
              <a:buSzPts val="1400"/>
              <a:buFont typeface="Noto Sans Symbols"/>
              <a:buNone/>
            </a:pPr>
            <a:r>
              <a:rPr b="1" i="0" lang="en-US" sz="2000" u="none" cap="none" strike="noStrike">
                <a:solidFill>
                  <a:srgbClr val="800000"/>
                </a:solidFill>
                <a:latin typeface="Times New Roman"/>
                <a:ea typeface="Times New Roman"/>
                <a:cs typeface="Times New Roman"/>
                <a:sym typeface="Times New Roman"/>
              </a:rPr>
              <a:t>Hàm MT:</a:t>
            </a:r>
            <a:r>
              <a:rPr b="0" i="0" lang="en-US" sz="2000" u="none" cap="none" strike="noStrike">
                <a:solidFill>
                  <a:srgbClr val="800000"/>
                </a:solidFill>
                <a:latin typeface="Times New Roman"/>
                <a:ea typeface="Times New Roman"/>
                <a:cs typeface="Times New Roman"/>
                <a:sym typeface="Times New Roman"/>
              </a:rPr>
              <a:t>   Max   = 18x</a:t>
            </a:r>
            <a:r>
              <a:rPr b="0" baseline="-25000" i="0" lang="en-US" sz="2000" u="none" cap="none" strike="noStrike">
                <a:solidFill>
                  <a:srgbClr val="800000"/>
                </a:solidFill>
                <a:latin typeface="Times New Roman"/>
                <a:ea typeface="Times New Roman"/>
                <a:cs typeface="Times New Roman"/>
                <a:sym typeface="Times New Roman"/>
              </a:rPr>
              <a:t>1</a:t>
            </a:r>
            <a:r>
              <a:rPr b="0" i="0" lang="en-US" sz="2000" u="none" cap="none" strike="noStrike">
                <a:solidFill>
                  <a:srgbClr val="800000"/>
                </a:solidFill>
                <a:latin typeface="Times New Roman"/>
                <a:ea typeface="Times New Roman"/>
                <a:cs typeface="Times New Roman"/>
                <a:sym typeface="Times New Roman"/>
              </a:rPr>
              <a:t> + 21x</a:t>
            </a:r>
            <a:r>
              <a:rPr b="0" baseline="-25000" i="0" lang="en-US" sz="2000" u="none" cap="none" strike="noStrike">
                <a:solidFill>
                  <a:srgbClr val="800000"/>
                </a:solidFill>
                <a:latin typeface="Times New Roman"/>
                <a:ea typeface="Times New Roman"/>
                <a:cs typeface="Times New Roman"/>
                <a:sym typeface="Times New Roman"/>
              </a:rPr>
              <a:t>2</a:t>
            </a:r>
            <a:endParaRPr/>
          </a:p>
        </p:txBody>
      </p:sp>
      <p:sp>
        <p:nvSpPr>
          <p:cNvPr id="646" name="Google Shape;646;p47"/>
          <p:cNvSpPr/>
          <p:nvPr/>
        </p:nvSpPr>
        <p:spPr>
          <a:xfrm>
            <a:off x="6705600" y="4587875"/>
            <a:ext cx="914400" cy="457200"/>
          </a:xfrm>
          <a:prstGeom prst="ellipse">
            <a:avLst/>
          </a:prstGeom>
          <a:noFill/>
          <a:ln cap="flat" cmpd="sng" w="2857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hlink"/>
              </a:solidFill>
              <a:latin typeface="Arial"/>
              <a:ea typeface="Arial"/>
              <a:cs typeface="Arial"/>
              <a:sym typeface="Arial"/>
            </a:endParaRPr>
          </a:p>
        </p:txBody>
      </p:sp>
      <p:sp>
        <p:nvSpPr>
          <p:cNvPr id="647" name="Google Shape;647;p47"/>
          <p:cNvSpPr txBox="1"/>
          <p:nvPr/>
        </p:nvSpPr>
        <p:spPr>
          <a:xfrm>
            <a:off x="7366000" y="4343400"/>
            <a:ext cx="677863"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33CC"/>
                </a:solidFill>
                <a:latin typeface="Times New Roman"/>
                <a:ea typeface="Times New Roman"/>
                <a:cs typeface="Times New Roman"/>
                <a:sym typeface="Times New Roman"/>
              </a:rPr>
              <a:t>Max</a:t>
            </a:r>
            <a:endParaRPr/>
          </a:p>
        </p:txBody>
      </p:sp>
    </p:spTree>
  </p:cSld>
  <p:clrMapOvr>
    <a:masterClrMapping/>
  </p:clrMapOvr>
  <p:transition>
    <p:push dir="r"/>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48"/>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000">
                <a:solidFill>
                  <a:schemeClr val="dk1"/>
                </a:solidFill>
              </a:rPr>
              <a:t>6.2. Quy hoạch tuyến tính</a:t>
            </a:r>
            <a:r>
              <a:rPr i="1" lang="en-US" sz="2000">
                <a:solidFill>
                  <a:schemeClr val="dk1"/>
                </a:solidFill>
              </a:rPr>
              <a:t> (tt)</a:t>
            </a:r>
            <a:br>
              <a:rPr i="1" lang="en-US" sz="2000">
                <a:solidFill>
                  <a:schemeClr val="dk1"/>
                </a:solidFill>
              </a:rPr>
            </a:br>
            <a:r>
              <a:rPr i="1" lang="en-US" sz="2000">
                <a:solidFill>
                  <a:schemeClr val="dk1"/>
                </a:solidFill>
              </a:rPr>
              <a:t> </a:t>
            </a:r>
            <a:r>
              <a:rPr b="0" lang="en-US" sz="2000">
                <a:solidFill>
                  <a:schemeClr val="dk1"/>
                </a:solidFill>
              </a:rPr>
              <a:t>6.2.3. Giải BT QHTT bằng Đồ thị </a:t>
            </a:r>
            <a:r>
              <a:rPr b="0" i="1" lang="en-US" sz="2000">
                <a:solidFill>
                  <a:schemeClr val="dk1"/>
                </a:solidFill>
              </a:rPr>
              <a:t>(tt)</a:t>
            </a:r>
            <a:endParaRPr/>
          </a:p>
        </p:txBody>
      </p:sp>
      <p:sp>
        <p:nvSpPr>
          <p:cNvPr id="653" name="Google Shape;653;p48"/>
          <p:cNvSpPr txBox="1"/>
          <p:nvPr>
            <p:ph idx="4294967295"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1400"/>
              <a:buFont typeface="Noto Sans Symbols"/>
              <a:buNone/>
            </a:pPr>
            <a:r>
              <a:rPr b="1" lang="en-US" sz="2000">
                <a:solidFill>
                  <a:srgbClr val="0033CC"/>
                </a:solidFill>
              </a:rPr>
              <a:t>b) Phương pháp dùng điểm đỉnh</a:t>
            </a:r>
            <a:r>
              <a:rPr i="1" lang="en-US" sz="2000">
                <a:solidFill>
                  <a:srgbClr val="0033CC"/>
                </a:solidFill>
              </a:rPr>
              <a:t> (tt)</a:t>
            </a:r>
            <a:endParaRPr/>
          </a:p>
          <a:p>
            <a:pPr indent="-342900" lvl="0" marL="342900" rtl="0" algn="just">
              <a:spcBef>
                <a:spcPts val="1200"/>
              </a:spcBef>
              <a:spcAft>
                <a:spcPts val="0"/>
              </a:spcAft>
              <a:buSzPts val="1400"/>
              <a:buFont typeface="Noto Sans Symbols"/>
              <a:buNone/>
            </a:pPr>
            <a:r>
              <a:rPr b="1" i="1" lang="en-US" sz="2000" u="sng"/>
              <a:t>Giải bài toán cực tiểu ở VD trên</a:t>
            </a:r>
            <a:r>
              <a:rPr b="1" lang="en-US" sz="2000"/>
              <a:t>   (</a:t>
            </a:r>
            <a:r>
              <a:rPr b="1" lang="en-US" sz="2000" u="sng">
                <a:solidFill>
                  <a:schemeClr val="hlink"/>
                </a:solidFill>
                <a:hlinkClick action="ppaction://hlinksldjump" r:id="rId3"/>
              </a:rPr>
              <a:t>Slide 45</a:t>
            </a:r>
            <a:r>
              <a:rPr b="1" lang="en-US" sz="2000"/>
              <a:t>)</a:t>
            </a:r>
            <a:endParaRPr/>
          </a:p>
          <a:p>
            <a:pPr indent="-342900" lvl="0" marL="342900" rtl="0" algn="just">
              <a:spcBef>
                <a:spcPts val="1320"/>
              </a:spcBef>
              <a:spcAft>
                <a:spcPts val="0"/>
              </a:spcAft>
              <a:buSzPts val="1540"/>
              <a:buFont typeface="Noto Sans Symbols"/>
              <a:buNone/>
            </a:pPr>
            <a:r>
              <a:rPr lang="en-US" sz="2200"/>
              <a:t>So sánh giá trị tại 3 đỉnh A, B, C:</a:t>
            </a:r>
            <a:endParaRPr/>
          </a:p>
          <a:p>
            <a:pPr indent="-285750" lvl="2" marL="746125" rtl="0" algn="just">
              <a:spcBef>
                <a:spcPts val="1320"/>
              </a:spcBef>
              <a:spcAft>
                <a:spcPts val="0"/>
              </a:spcAft>
              <a:buSzPts val="3300"/>
              <a:buFont typeface="Times New Roman"/>
              <a:buChar char="•"/>
            </a:pPr>
            <a:r>
              <a:rPr lang="en-US"/>
              <a:t>Đỉnh A (18, 0)	  ==&gt;   Z</a:t>
            </a:r>
            <a:r>
              <a:rPr baseline="-25000" lang="en-US"/>
              <a:t>A</a:t>
            </a:r>
            <a:r>
              <a:rPr lang="en-US"/>
              <a:t> = 2 x 18 + 3 x 0	=    </a:t>
            </a:r>
            <a:r>
              <a:rPr b="1" lang="en-US"/>
              <a:t>36</a:t>
            </a:r>
            <a:endParaRPr/>
          </a:p>
          <a:p>
            <a:pPr indent="-285750" lvl="2" marL="746125" rtl="0" algn="just">
              <a:spcBef>
                <a:spcPts val="1320"/>
              </a:spcBef>
              <a:spcAft>
                <a:spcPts val="0"/>
              </a:spcAft>
              <a:buSzPts val="3300"/>
              <a:buFont typeface="Times New Roman"/>
              <a:buChar char="•"/>
            </a:pPr>
            <a:r>
              <a:rPr lang="en-US"/>
              <a:t>Đỉnh B (8.4 , 4.8)	  ==&gt;   Z</a:t>
            </a:r>
            <a:r>
              <a:rPr baseline="-25000" lang="en-US"/>
              <a:t>B  </a:t>
            </a:r>
            <a:r>
              <a:rPr lang="en-US"/>
              <a:t>= 2 x 8.4 + 3 x 4.8	=    </a:t>
            </a:r>
            <a:r>
              <a:rPr b="1" lang="en-US"/>
              <a:t>31.2</a:t>
            </a:r>
            <a:endParaRPr/>
          </a:p>
          <a:p>
            <a:pPr indent="-285750" lvl="2" marL="746125" rtl="0" algn="just">
              <a:spcBef>
                <a:spcPts val="1320"/>
              </a:spcBef>
              <a:spcAft>
                <a:spcPts val="0"/>
              </a:spcAft>
              <a:buSzPts val="3300"/>
              <a:buFont typeface="Times New Roman"/>
              <a:buChar char="•"/>
            </a:pPr>
            <a:r>
              <a:rPr lang="en-US"/>
              <a:t>Đỉnh C (3, 12)	  ==&gt;   Z</a:t>
            </a:r>
            <a:r>
              <a:rPr baseline="-25000" lang="en-US"/>
              <a:t>C  </a:t>
            </a:r>
            <a:r>
              <a:rPr lang="en-US"/>
              <a:t>= 2 x 3 + 3 x 12 	=    </a:t>
            </a:r>
            <a:r>
              <a:rPr b="1" lang="en-US"/>
              <a:t>42</a:t>
            </a:r>
            <a:endParaRPr/>
          </a:p>
          <a:p>
            <a:pPr indent="-342900" lvl="0" marL="342900" rtl="0" algn="just">
              <a:spcBef>
                <a:spcPts val="1320"/>
              </a:spcBef>
              <a:spcAft>
                <a:spcPts val="0"/>
              </a:spcAft>
              <a:buSzPts val="1540"/>
              <a:buFont typeface="Noto Sans Symbols"/>
              <a:buNone/>
            </a:pPr>
            <a:r>
              <a:rPr lang="en-US" sz="2200"/>
              <a:t>	==&gt; </a:t>
            </a:r>
            <a:r>
              <a:rPr b="1" lang="en-US" sz="2200">
                <a:solidFill>
                  <a:srgbClr val="990033"/>
                </a:solidFill>
              </a:rPr>
              <a:t>Z</a:t>
            </a:r>
            <a:r>
              <a:rPr b="1" baseline="-25000" lang="en-US" sz="2200">
                <a:solidFill>
                  <a:srgbClr val="990033"/>
                </a:solidFill>
              </a:rPr>
              <a:t>min</a:t>
            </a:r>
            <a:r>
              <a:rPr b="1" lang="en-US" sz="2200">
                <a:solidFill>
                  <a:srgbClr val="990033"/>
                </a:solidFill>
              </a:rPr>
              <a:t> = Z</a:t>
            </a:r>
            <a:r>
              <a:rPr b="1" baseline="-25000" lang="en-US" sz="2200">
                <a:solidFill>
                  <a:srgbClr val="990033"/>
                </a:solidFill>
              </a:rPr>
              <a:t>C</a:t>
            </a:r>
            <a:r>
              <a:rPr b="1" lang="en-US" sz="2200">
                <a:solidFill>
                  <a:srgbClr val="990033"/>
                </a:solidFill>
              </a:rPr>
              <a:t>  = 31.2</a:t>
            </a:r>
            <a:r>
              <a:rPr lang="en-US" sz="2200"/>
              <a:t>  ==&gt;  </a:t>
            </a:r>
            <a:r>
              <a:rPr lang="en-US" sz="2200">
                <a:solidFill>
                  <a:srgbClr val="990033"/>
                </a:solidFill>
              </a:rPr>
              <a:t>x</a:t>
            </a:r>
            <a:r>
              <a:rPr baseline="-25000" lang="en-US" sz="2200">
                <a:solidFill>
                  <a:srgbClr val="990033"/>
                </a:solidFill>
              </a:rPr>
              <a:t>1</a:t>
            </a:r>
            <a:r>
              <a:rPr lang="en-US" sz="2200">
                <a:solidFill>
                  <a:srgbClr val="990033"/>
                </a:solidFill>
              </a:rPr>
              <a:t> = 8.4 và x</a:t>
            </a:r>
            <a:r>
              <a:rPr baseline="-25000" lang="en-US" sz="2200">
                <a:solidFill>
                  <a:srgbClr val="990033"/>
                </a:solidFill>
              </a:rPr>
              <a:t>2</a:t>
            </a:r>
            <a:r>
              <a:rPr lang="en-US" sz="2200">
                <a:solidFill>
                  <a:srgbClr val="990033"/>
                </a:solidFill>
              </a:rPr>
              <a:t> = 4.8</a:t>
            </a:r>
            <a:endParaRPr/>
          </a:p>
        </p:txBody>
      </p:sp>
      <p:sp>
        <p:nvSpPr>
          <p:cNvPr id="654" name="Google Shape;654;p48"/>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655" name="Google Shape;655;p48"/>
          <p:cNvSpPr/>
          <p:nvPr/>
        </p:nvSpPr>
        <p:spPr>
          <a:xfrm>
            <a:off x="7543800" y="3962400"/>
            <a:ext cx="914400" cy="457200"/>
          </a:xfrm>
          <a:prstGeom prst="ellipse">
            <a:avLst/>
          </a:prstGeom>
          <a:noFill/>
          <a:ln cap="flat" cmpd="sng" w="2857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hlink"/>
              </a:solidFill>
              <a:latin typeface="Arial"/>
              <a:ea typeface="Arial"/>
              <a:cs typeface="Arial"/>
              <a:sym typeface="Arial"/>
            </a:endParaRPr>
          </a:p>
        </p:txBody>
      </p:sp>
      <p:sp>
        <p:nvSpPr>
          <p:cNvPr id="656" name="Google Shape;656;p48"/>
          <p:cNvSpPr txBox="1"/>
          <p:nvPr/>
        </p:nvSpPr>
        <p:spPr>
          <a:xfrm>
            <a:off x="8204200" y="3717925"/>
            <a:ext cx="635000" cy="3968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0033CC"/>
                </a:solidFill>
                <a:latin typeface="Times New Roman"/>
                <a:ea typeface="Times New Roman"/>
                <a:cs typeface="Times New Roman"/>
                <a:sym typeface="Times New Roman"/>
              </a:rPr>
              <a:t>Min</a:t>
            </a:r>
            <a:endParaRPr/>
          </a:p>
        </p:txBody>
      </p:sp>
      <p:sp>
        <p:nvSpPr>
          <p:cNvPr id="657" name="Google Shape;657;p48"/>
          <p:cNvSpPr txBox="1"/>
          <p:nvPr/>
        </p:nvSpPr>
        <p:spPr>
          <a:xfrm>
            <a:off x="5105400" y="2971800"/>
            <a:ext cx="3586163" cy="425450"/>
          </a:xfrm>
          <a:prstGeom prst="rect">
            <a:avLst/>
          </a:prstGeom>
          <a:noFill/>
          <a:ln cap="flat" cmpd="sng" w="28575">
            <a:solidFill>
              <a:schemeClr va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Clr>
                <a:schemeClr val="lt2"/>
              </a:buClr>
              <a:buSzPts val="1400"/>
              <a:buFont typeface="Noto Sans Symbols"/>
              <a:buNone/>
            </a:pPr>
            <a:r>
              <a:rPr b="1" i="0" lang="en-US" sz="2000" u="none" cap="none" strike="noStrike">
                <a:solidFill>
                  <a:srgbClr val="990033"/>
                </a:solidFill>
                <a:latin typeface="Times New Roman"/>
                <a:ea typeface="Times New Roman"/>
                <a:cs typeface="Times New Roman"/>
                <a:sym typeface="Times New Roman"/>
              </a:rPr>
              <a:t>Hàm MT:     Min Z = 2x</a:t>
            </a:r>
            <a:r>
              <a:rPr b="1" baseline="-25000" i="0" lang="en-US" sz="2000" u="none" cap="none" strike="noStrike">
                <a:solidFill>
                  <a:srgbClr val="990033"/>
                </a:solidFill>
                <a:latin typeface="Times New Roman"/>
                <a:ea typeface="Times New Roman"/>
                <a:cs typeface="Times New Roman"/>
                <a:sym typeface="Times New Roman"/>
              </a:rPr>
              <a:t>1</a:t>
            </a:r>
            <a:r>
              <a:rPr b="1" i="0" lang="en-US" sz="2000" u="none" cap="none" strike="noStrike">
                <a:solidFill>
                  <a:srgbClr val="990033"/>
                </a:solidFill>
                <a:latin typeface="Times New Roman"/>
                <a:ea typeface="Times New Roman"/>
                <a:cs typeface="Times New Roman"/>
                <a:sym typeface="Times New Roman"/>
              </a:rPr>
              <a:t> + 3x</a:t>
            </a:r>
            <a:r>
              <a:rPr b="1" baseline="-25000" i="0" lang="en-US" sz="2000" u="none" cap="none" strike="noStrike">
                <a:solidFill>
                  <a:srgbClr val="990033"/>
                </a:solidFill>
                <a:latin typeface="Times New Roman"/>
                <a:ea typeface="Times New Roman"/>
                <a:cs typeface="Times New Roman"/>
                <a:sym typeface="Times New Roman"/>
              </a:rPr>
              <a:t>2</a:t>
            </a:r>
            <a:r>
              <a:rPr b="1" i="0" lang="en-US" sz="2000" u="none" cap="none" strike="noStrike">
                <a:solidFill>
                  <a:srgbClr val="990033"/>
                </a:solidFill>
                <a:latin typeface="Times New Roman"/>
                <a:ea typeface="Times New Roman"/>
                <a:cs typeface="Times New Roman"/>
                <a:sym typeface="Times New Roman"/>
              </a:rPr>
              <a:t> </a:t>
            </a:r>
            <a:endParaRPr/>
          </a:p>
        </p:txBody>
      </p:sp>
    </p:spTree>
  </p:cSld>
  <p:clrMapOvr>
    <a:masterClrMapping/>
  </p:clrMapOvr>
  <p:transition>
    <p:push dir="r"/>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49"/>
          <p:cNvSpPr txBox="1"/>
          <p:nvPr>
            <p:ph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6. RQĐ theo mô hình toán trong PPĐL </a:t>
            </a:r>
            <a:r>
              <a:rPr b="0" i="1" lang="en-US"/>
              <a:t>(tt)</a:t>
            </a:r>
            <a:endParaRPr/>
          </a:p>
        </p:txBody>
      </p:sp>
      <p:sp>
        <p:nvSpPr>
          <p:cNvPr id="663" name="Google Shape;663;p49"/>
          <p:cNvSpPr txBox="1"/>
          <p:nvPr>
            <p:ph idx="1" type="body"/>
          </p:nvPr>
        </p:nvSpPr>
        <p:spPr>
          <a:xfrm>
            <a:off x="762000" y="1905000"/>
            <a:ext cx="7696200" cy="46482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Clr>
                <a:schemeClr val="dk2"/>
              </a:buClr>
              <a:buSzPts val="4200"/>
              <a:buFont typeface="Times New Roman"/>
              <a:buNone/>
            </a:pPr>
            <a:r>
              <a:rPr b="1" lang="en-US" sz="2800"/>
              <a:t>6.3. RQĐ đa yếu tố</a:t>
            </a:r>
            <a:endParaRPr/>
          </a:p>
          <a:p>
            <a:pPr indent="-342900" lvl="0" marL="342900" rtl="0" algn="just">
              <a:lnSpc>
                <a:spcPct val="115000"/>
              </a:lnSpc>
              <a:spcBef>
                <a:spcPts val="1300"/>
              </a:spcBef>
              <a:spcAft>
                <a:spcPts val="0"/>
              </a:spcAft>
              <a:buSzPts val="1400"/>
              <a:buFont typeface="Noto Sans Symbols"/>
              <a:buNone/>
            </a:pPr>
            <a:r>
              <a:rPr lang="en-US" sz="2000"/>
              <a:t>Để giải quyết bài toán RQĐ đa yếu tố, làm theo cách sau</a:t>
            </a:r>
            <a:endParaRPr/>
          </a:p>
          <a:p>
            <a:pPr indent="-342900" lvl="0" marL="342900" rtl="0" algn="just">
              <a:lnSpc>
                <a:spcPct val="115000"/>
              </a:lnSpc>
              <a:spcBef>
                <a:spcPts val="700"/>
              </a:spcBef>
              <a:spcAft>
                <a:spcPts val="0"/>
              </a:spcAft>
              <a:buSzPts val="1400"/>
              <a:buFont typeface="Noto Sans Symbols"/>
              <a:buNone/>
            </a:pPr>
            <a:r>
              <a:rPr lang="en-US" sz="2000"/>
              <a:t>	- Nhiều người xem xét các yếu tố khác nhau này </a:t>
            </a:r>
            <a:r>
              <a:rPr b="1" lang="en-US" sz="2000"/>
              <a:t>một cách chủ quan và trực giác</a:t>
            </a:r>
            <a:r>
              <a:rPr lang="en-US" sz="2000"/>
              <a:t>.</a:t>
            </a:r>
            <a:endParaRPr/>
          </a:p>
          <a:p>
            <a:pPr indent="-342900" lvl="0" marL="342900" rtl="0" algn="just">
              <a:lnSpc>
                <a:spcPct val="115000"/>
              </a:lnSpc>
              <a:spcBef>
                <a:spcPts val="700"/>
              </a:spcBef>
              <a:spcAft>
                <a:spcPts val="0"/>
              </a:spcAft>
              <a:buSzPts val="1400"/>
              <a:buFont typeface="Noto Sans Symbols"/>
              <a:buNone/>
            </a:pPr>
            <a:r>
              <a:rPr lang="en-US" sz="2000"/>
              <a:t>	- Dùng PP đánh giá yếu tố MFEP </a:t>
            </a:r>
            <a:r>
              <a:rPr i="1" lang="en-US" sz="2000"/>
              <a:t>(Multi Factor Evaluation Process).</a:t>
            </a:r>
            <a:endParaRPr/>
          </a:p>
          <a:p>
            <a:pPr indent="-342900" lvl="0" marL="342900" rtl="0" algn="just">
              <a:lnSpc>
                <a:spcPct val="115000"/>
              </a:lnSpc>
              <a:spcBef>
                <a:spcPts val="700"/>
              </a:spcBef>
              <a:spcAft>
                <a:spcPts val="0"/>
              </a:spcAft>
              <a:buSzPts val="1400"/>
              <a:buFont typeface="Noto Sans Symbols"/>
              <a:buNone/>
            </a:pPr>
            <a:r>
              <a:rPr b="1" lang="en-US" sz="2000"/>
              <a:t>Phương pháp MFEP</a:t>
            </a:r>
            <a:r>
              <a:rPr lang="en-US" sz="2000"/>
              <a:t>:</a:t>
            </a:r>
            <a:endParaRPr/>
          </a:p>
          <a:p>
            <a:pPr indent="-342900" lvl="0" marL="342900" rtl="0" algn="just">
              <a:lnSpc>
                <a:spcPct val="115000"/>
              </a:lnSpc>
              <a:spcBef>
                <a:spcPts val="700"/>
              </a:spcBef>
              <a:spcAft>
                <a:spcPts val="0"/>
              </a:spcAft>
              <a:buSzPts val="1400"/>
              <a:buFont typeface="Noto Sans Symbols"/>
              <a:buNone/>
            </a:pPr>
            <a:r>
              <a:rPr lang="en-US" sz="2000"/>
              <a:t>	- Trong phương pháp MFEP, mỗi yếu  tố quan trọng ảnh hưởng đến QĐ sẽ được gán </a:t>
            </a:r>
            <a:r>
              <a:rPr b="1" lang="en-US" sz="2000"/>
              <a:t>1 hệ số nói lên tầm quan trọng</a:t>
            </a:r>
            <a:r>
              <a:rPr lang="en-US" sz="2000"/>
              <a:t> tương đối giữa các yếu tố với nhau. Sau đó, đánh giá PA theo các hệ số này.</a:t>
            </a:r>
            <a:endParaRPr/>
          </a:p>
        </p:txBody>
      </p:sp>
      <p:sp>
        <p:nvSpPr>
          <p:cNvPr id="664" name="Google Shape;664;p49"/>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50"/>
          <p:cNvSpPr txBox="1"/>
          <p:nvPr>
            <p:ph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6. RQĐ theo mô hình toán trong PPĐL </a:t>
            </a:r>
            <a:r>
              <a:rPr b="0" i="1" lang="en-US"/>
              <a:t>(tt)</a:t>
            </a:r>
            <a:br>
              <a:rPr b="0" i="1" lang="en-US"/>
            </a:br>
            <a:r>
              <a:rPr lang="en-US" sz="2400">
                <a:solidFill>
                  <a:schemeClr val="dk1"/>
                </a:solidFill>
              </a:rPr>
              <a:t>6.3. RQĐ đa yếu tố</a:t>
            </a:r>
            <a:r>
              <a:rPr i="1" lang="en-US" sz="2400">
                <a:solidFill>
                  <a:schemeClr val="dk1"/>
                </a:solidFill>
              </a:rPr>
              <a:t> (tt)</a:t>
            </a:r>
            <a:endParaRPr/>
          </a:p>
        </p:txBody>
      </p:sp>
      <p:sp>
        <p:nvSpPr>
          <p:cNvPr id="670" name="Google Shape;670;p50"/>
          <p:cNvSpPr txBox="1"/>
          <p:nvPr>
            <p:ph idx="1" type="body"/>
          </p:nvPr>
        </p:nvSpPr>
        <p:spPr>
          <a:xfrm>
            <a:off x="762000" y="1905000"/>
            <a:ext cx="7696200" cy="4648200"/>
          </a:xfrm>
          <a:prstGeom prst="rect">
            <a:avLst/>
          </a:prstGeom>
          <a:noFill/>
          <a:ln>
            <a:noFill/>
          </a:ln>
        </p:spPr>
        <p:txBody>
          <a:bodyPr anchorCtr="0" anchor="t" bIns="45700" lIns="91425" spcFirstLastPara="1" rIns="91425" wrap="square" tIns="45700">
            <a:noAutofit/>
          </a:bodyPr>
          <a:lstStyle/>
          <a:p>
            <a:pPr indent="-342900" lvl="0" marL="342900" rtl="0" algn="just">
              <a:lnSpc>
                <a:spcPct val="110000"/>
              </a:lnSpc>
              <a:spcBef>
                <a:spcPts val="0"/>
              </a:spcBef>
              <a:spcAft>
                <a:spcPts val="0"/>
              </a:spcAft>
              <a:buSzPts val="1400"/>
              <a:buFont typeface="Noto Sans Symbols"/>
              <a:buNone/>
            </a:pPr>
            <a:r>
              <a:rPr b="1" lang="en-US" sz="2000"/>
              <a:t>Các bước thực hiện phương pháp MEFP:</a:t>
            </a:r>
            <a:endParaRPr/>
          </a:p>
          <a:p>
            <a:pPr indent="-342900" lvl="0" marL="342900" rtl="0" algn="just">
              <a:lnSpc>
                <a:spcPct val="110000"/>
              </a:lnSpc>
              <a:spcBef>
                <a:spcPts val="700"/>
              </a:spcBef>
              <a:spcAft>
                <a:spcPts val="0"/>
              </a:spcAft>
              <a:buSzPts val="1400"/>
              <a:buFont typeface="Noto Sans Symbols"/>
              <a:buNone/>
            </a:pPr>
            <a:r>
              <a:rPr b="1" lang="en-US" sz="2000" u="sng">
                <a:solidFill>
                  <a:srgbClr val="000099"/>
                </a:solidFill>
              </a:rPr>
              <a:t>B1:</a:t>
            </a:r>
            <a:r>
              <a:rPr lang="en-US" sz="2000"/>
              <a:t> Liệt kê tất cả các yếu tố và gán cho yếu tố thứ i một trọng số FW</a:t>
            </a:r>
            <a:r>
              <a:rPr baseline="-25000" lang="en-US" sz="2000"/>
              <a:t>i</a:t>
            </a:r>
            <a:r>
              <a:rPr lang="en-US" sz="2000"/>
              <a:t> </a:t>
            </a:r>
            <a:r>
              <a:rPr i="1" lang="en-US" sz="2000"/>
              <a:t>(Factor weight)</a:t>
            </a:r>
            <a:r>
              <a:rPr lang="en-US" sz="2000"/>
              <a:t>, 0 &lt; FW</a:t>
            </a:r>
            <a:r>
              <a:rPr baseline="-25000" lang="en-US" sz="2000"/>
              <a:t>i</a:t>
            </a:r>
            <a:r>
              <a:rPr lang="en-US" sz="2000"/>
              <a:t> &lt; 1.</a:t>
            </a:r>
            <a:endParaRPr/>
          </a:p>
          <a:p>
            <a:pPr indent="-342900" lvl="0" marL="342900" rtl="0" algn="just">
              <a:lnSpc>
                <a:spcPct val="110000"/>
              </a:lnSpc>
              <a:spcBef>
                <a:spcPts val="700"/>
              </a:spcBef>
              <a:spcAft>
                <a:spcPts val="0"/>
              </a:spcAft>
              <a:buSzPts val="1400"/>
              <a:buFont typeface="Noto Sans Symbols"/>
              <a:buNone/>
            </a:pPr>
            <a:r>
              <a:rPr b="1" lang="en-US" sz="2000"/>
              <a:t>	FW</a:t>
            </a:r>
            <a:r>
              <a:rPr b="1" baseline="-25000" lang="en-US" sz="2000"/>
              <a:t>i</a:t>
            </a:r>
            <a:r>
              <a:rPr lang="en-US" sz="2000"/>
              <a:t>: Tầm quan trọng của mỗi yếu tố một cách tương đối,  FW</a:t>
            </a:r>
            <a:r>
              <a:rPr baseline="-25000" lang="en-US" sz="2000"/>
              <a:t>i</a:t>
            </a:r>
            <a:r>
              <a:rPr lang="en-US" sz="2000"/>
              <a:t> = 1</a:t>
            </a:r>
            <a:endParaRPr/>
          </a:p>
          <a:p>
            <a:pPr indent="-342900" lvl="0" marL="342900" rtl="0" algn="just">
              <a:lnSpc>
                <a:spcPct val="110000"/>
              </a:lnSpc>
              <a:spcBef>
                <a:spcPts val="700"/>
              </a:spcBef>
              <a:spcAft>
                <a:spcPts val="0"/>
              </a:spcAft>
              <a:buSzPts val="1400"/>
              <a:buFont typeface="Noto Sans Symbols"/>
              <a:buNone/>
            </a:pPr>
            <a:r>
              <a:rPr b="1" lang="en-US" sz="2000" u="sng">
                <a:solidFill>
                  <a:schemeClr val="dk2"/>
                </a:solidFill>
              </a:rPr>
              <a:t>B2:</a:t>
            </a:r>
            <a:r>
              <a:rPr lang="en-US" sz="2000"/>
              <a:t> Lượng giá theo yếu tố. Với mỗi yếu tố i, ta đánh giá PA j bằng cách gán một hệ số </a:t>
            </a:r>
            <a:r>
              <a:rPr b="1" lang="en-US" sz="2000"/>
              <a:t>FE</a:t>
            </a:r>
            <a:r>
              <a:rPr b="1" baseline="-25000" lang="en-US" sz="2000"/>
              <a:t>ij</a:t>
            </a:r>
            <a:r>
              <a:rPr lang="en-US" sz="2000"/>
              <a:t>: Lượng giá của PA j đối với yếu tố i. (FE, </a:t>
            </a:r>
            <a:r>
              <a:rPr i="1" lang="en-US" sz="2000"/>
              <a:t>Factor Evaluation)</a:t>
            </a:r>
            <a:endParaRPr/>
          </a:p>
          <a:p>
            <a:pPr indent="-342900" lvl="0" marL="342900" rtl="0" algn="just">
              <a:lnSpc>
                <a:spcPct val="110000"/>
              </a:lnSpc>
              <a:spcBef>
                <a:spcPts val="700"/>
              </a:spcBef>
              <a:spcAft>
                <a:spcPts val="0"/>
              </a:spcAft>
              <a:buSzPts val="1400"/>
              <a:buFont typeface="Noto Sans Symbols"/>
              <a:buNone/>
            </a:pPr>
            <a:r>
              <a:rPr b="1" lang="en-US" sz="2000" u="sng">
                <a:solidFill>
                  <a:srgbClr val="000099"/>
                </a:solidFill>
              </a:rPr>
              <a:t>B3:</a:t>
            </a:r>
            <a:r>
              <a:rPr lang="en-US" sz="2000"/>
              <a:t> Tính tổng lượng giá trọng số của từng PA j </a:t>
            </a:r>
            <a:r>
              <a:rPr i="1" lang="en-US" sz="2000"/>
              <a:t>(Total Weighted evaluation)</a:t>
            </a:r>
            <a:endParaRPr/>
          </a:p>
          <a:p>
            <a:pPr indent="-342900" lvl="0" marL="342900" rtl="0" algn="just">
              <a:lnSpc>
                <a:spcPct val="110000"/>
              </a:lnSpc>
              <a:spcBef>
                <a:spcPts val="700"/>
              </a:spcBef>
              <a:spcAft>
                <a:spcPts val="0"/>
              </a:spcAft>
              <a:buSzPts val="1400"/>
              <a:buFont typeface="Noto Sans Symbols"/>
              <a:buNone/>
            </a:pPr>
            <a:r>
              <a:rPr lang="en-US" sz="2000"/>
              <a:t>	  	</a:t>
            </a:r>
            <a:endParaRPr/>
          </a:p>
          <a:p>
            <a:pPr indent="-342900" lvl="0" marL="342900" rtl="0" algn="just">
              <a:lnSpc>
                <a:spcPct val="110000"/>
              </a:lnSpc>
              <a:spcBef>
                <a:spcPts val="700"/>
              </a:spcBef>
              <a:spcAft>
                <a:spcPts val="0"/>
              </a:spcAft>
              <a:buSzPts val="1400"/>
              <a:buFont typeface="Noto Sans Symbols"/>
              <a:buNone/>
            </a:pPr>
            <a:r>
              <a:rPr lang="en-US" sz="2000"/>
              <a:t>	Chọn PA j</a:t>
            </a:r>
            <a:r>
              <a:rPr baseline="-25000" lang="en-US" sz="2000"/>
              <a:t>0</a:t>
            </a:r>
            <a:r>
              <a:rPr lang="en-US" sz="2000"/>
              <a:t> ứng với </a:t>
            </a:r>
            <a:r>
              <a:rPr b="1" lang="en-US" sz="2000">
                <a:solidFill>
                  <a:srgbClr val="000099"/>
                </a:solidFill>
              </a:rPr>
              <a:t>Max TWE</a:t>
            </a:r>
            <a:r>
              <a:rPr b="1" baseline="-25000" lang="en-US" sz="2000">
                <a:solidFill>
                  <a:srgbClr val="000099"/>
                </a:solidFill>
              </a:rPr>
              <a:t>j</a:t>
            </a:r>
            <a:endParaRPr/>
          </a:p>
        </p:txBody>
      </p:sp>
      <p:sp>
        <p:nvSpPr>
          <p:cNvPr id="671" name="Google Shape;671;p50"/>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672" name="Google Shape;672;p50"/>
          <p:cNvSpPr txBox="1"/>
          <p:nvPr/>
        </p:nvSpPr>
        <p:spPr>
          <a:xfrm>
            <a:off x="6400800" y="5197475"/>
            <a:ext cx="1466850" cy="669925"/>
          </a:xfrm>
          <a:prstGeom prst="rect">
            <a:avLst/>
          </a:prstGeom>
          <a:noFill/>
          <a:ln cap="flat" cmpd="sng" w="28575">
            <a:solidFill>
              <a:schemeClr val="hlink"/>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i: </a:t>
            </a:r>
            <a:r>
              <a:rPr b="0" i="0" lang="en-US" sz="1800" u="none" cap="none" strike="noStrike">
                <a:solidFill>
                  <a:schemeClr val="dk1"/>
                </a:solidFill>
                <a:latin typeface="Times New Roman"/>
                <a:ea typeface="Times New Roman"/>
                <a:cs typeface="Times New Roman"/>
                <a:sym typeface="Times New Roman"/>
              </a:rPr>
              <a:t> Yếu tố</a:t>
            </a:r>
            <a:endParaRPr/>
          </a:p>
          <a:p>
            <a:pPr indent="0" lvl="0" marL="0" marR="0" rtl="0" algn="l">
              <a:spcBef>
                <a:spcPts val="0"/>
              </a:spcBef>
              <a:spcAft>
                <a:spcPts val="0"/>
              </a:spcAft>
              <a:buNone/>
            </a:pPr>
            <a:r>
              <a:rPr b="1" i="0" lang="en-US" sz="1800" u="none" cap="none" strike="noStrike">
                <a:solidFill>
                  <a:schemeClr val="dk1"/>
                </a:solidFill>
                <a:latin typeface="Times New Roman"/>
                <a:ea typeface="Times New Roman"/>
                <a:cs typeface="Times New Roman"/>
                <a:sym typeface="Times New Roman"/>
              </a:rPr>
              <a:t>j:</a:t>
            </a:r>
            <a:r>
              <a:rPr b="0" i="0" lang="en-US" sz="1800" u="none" cap="none" strike="noStrike">
                <a:solidFill>
                  <a:schemeClr val="dk1"/>
                </a:solidFill>
                <a:latin typeface="Times New Roman"/>
                <a:ea typeface="Times New Roman"/>
                <a:cs typeface="Times New Roman"/>
                <a:sym typeface="Times New Roman"/>
              </a:rPr>
              <a:t>  Phương án</a:t>
            </a:r>
            <a:endParaRPr/>
          </a:p>
        </p:txBody>
      </p:sp>
      <p:pic>
        <p:nvPicPr>
          <p:cNvPr id="673" name="Google Shape;673;p50"/>
          <p:cNvPicPr preferRelativeResize="0"/>
          <p:nvPr/>
        </p:nvPicPr>
        <p:blipFill rotWithShape="1">
          <a:blip r:embed="rId3">
            <a:alphaModFix/>
          </a:blip>
          <a:srcRect b="0" l="0" r="0" t="0"/>
          <a:stretch/>
        </p:blipFill>
        <p:spPr>
          <a:xfrm>
            <a:off x="2895600" y="5257800"/>
            <a:ext cx="2895600" cy="600075"/>
          </a:xfrm>
          <a:prstGeom prst="rect">
            <a:avLst/>
          </a:prstGeom>
          <a:noFill/>
          <a:ln cap="flat" cmpd="sng" w="28575">
            <a:solidFill>
              <a:schemeClr val="hlink"/>
            </a:solidFill>
            <a:prstDash val="solid"/>
            <a:miter lim="800000"/>
            <a:headEnd len="sm" w="sm" type="none"/>
            <a:tailEnd len="sm" w="sm" type="none"/>
          </a:ln>
        </p:spPr>
      </p:pic>
    </p:spTree>
  </p:cSld>
  <p:clrMapOvr>
    <a:masterClrMapping/>
  </p:clrMapOvr>
  <p:transition>
    <p:push dir="r"/>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51"/>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6. RQĐ theo mô hình toán trong PPĐL </a:t>
            </a:r>
            <a:r>
              <a:rPr b="0" i="1" lang="en-US"/>
              <a:t>(tt)</a:t>
            </a:r>
            <a:endParaRPr/>
          </a:p>
        </p:txBody>
      </p:sp>
      <p:sp>
        <p:nvSpPr>
          <p:cNvPr id="679" name="Google Shape;679;p51"/>
          <p:cNvSpPr txBox="1"/>
          <p:nvPr>
            <p:ph idx="4294967295" type="body"/>
          </p:nvPr>
        </p:nvSpPr>
        <p:spPr>
          <a:xfrm>
            <a:off x="762000" y="1905000"/>
            <a:ext cx="7696200" cy="46482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Clr>
                <a:schemeClr val="dk2"/>
              </a:buClr>
              <a:buSzPts val="4200"/>
              <a:buFont typeface="Times New Roman"/>
              <a:buNone/>
            </a:pPr>
            <a:r>
              <a:rPr b="1" lang="en-US" sz="2800"/>
              <a:t>6.3. RQĐ đa yếu tố</a:t>
            </a:r>
            <a:r>
              <a:rPr i="1" lang="en-US" sz="2800"/>
              <a:t> (tt)</a:t>
            </a:r>
            <a:endParaRPr/>
          </a:p>
          <a:p>
            <a:pPr indent="-342900" lvl="0" marL="342900" rtl="0" algn="just">
              <a:lnSpc>
                <a:spcPct val="105000"/>
              </a:lnSpc>
              <a:spcBef>
                <a:spcPts val="500"/>
              </a:spcBef>
              <a:spcAft>
                <a:spcPts val="0"/>
              </a:spcAft>
              <a:buSzPts val="1400"/>
              <a:buFont typeface="Noto Sans Symbols"/>
              <a:buNone/>
            </a:pPr>
            <a:r>
              <a:rPr b="1" i="1" lang="en-US" sz="2000" u="sng"/>
              <a:t>VD:</a:t>
            </a:r>
            <a:r>
              <a:rPr lang="en-US" sz="2000"/>
              <a:t>  </a:t>
            </a:r>
            <a:r>
              <a:rPr i="1" lang="en-US" sz="2000"/>
              <a:t>Bài toán tìm việc làm của sinh viên</a:t>
            </a:r>
            <a:endParaRPr/>
          </a:p>
          <a:p>
            <a:pPr indent="-342900" lvl="0" marL="342900" rtl="0" algn="just">
              <a:lnSpc>
                <a:spcPct val="105000"/>
              </a:lnSpc>
              <a:spcBef>
                <a:spcPts val="500"/>
              </a:spcBef>
              <a:spcAft>
                <a:spcPts val="0"/>
              </a:spcAft>
              <a:buSzPts val="1400"/>
              <a:buFont typeface="Noto Sans Symbols"/>
              <a:buNone/>
            </a:pPr>
            <a:r>
              <a:rPr b="1" lang="en-US" sz="2000" u="sng">
                <a:solidFill>
                  <a:srgbClr val="000099"/>
                </a:solidFill>
              </a:rPr>
              <a:t>B1:</a:t>
            </a:r>
            <a:r>
              <a:rPr lang="en-US" sz="2000">
                <a:solidFill>
                  <a:srgbClr val="000099"/>
                </a:solidFill>
              </a:rPr>
              <a:t>   Xác định FW</a:t>
            </a:r>
            <a:r>
              <a:rPr baseline="-25000" lang="en-US" sz="2000">
                <a:solidFill>
                  <a:srgbClr val="000099"/>
                </a:solidFill>
              </a:rPr>
              <a:t>i</a:t>
            </a:r>
            <a:endParaRPr/>
          </a:p>
          <a:p>
            <a:pPr indent="-342900" lvl="0" marL="342900" rtl="0" algn="just">
              <a:lnSpc>
                <a:spcPct val="105000"/>
              </a:lnSpc>
              <a:spcBef>
                <a:spcPts val="500"/>
              </a:spcBef>
              <a:spcAft>
                <a:spcPts val="0"/>
              </a:spcAft>
              <a:buSzPts val="1400"/>
              <a:buFont typeface="Noto Sans Symbols"/>
              <a:buNone/>
            </a:pPr>
            <a:r>
              <a:rPr lang="en-US" sz="2000"/>
              <a:t>Sau khi nghiên cứu, bàn bạc với thầy, bạn bè, gia đình... sinh viên S nhận thấy </a:t>
            </a:r>
            <a:r>
              <a:rPr b="1" i="1" lang="en-US" sz="2000"/>
              <a:t>3 yếu tố</a:t>
            </a:r>
            <a:r>
              <a:rPr lang="en-US" sz="2000"/>
              <a:t> quan trọng nhất đối với việc chọn sở làm là:</a:t>
            </a:r>
            <a:endParaRPr/>
          </a:p>
          <a:p>
            <a:pPr indent="-342900" lvl="0" marL="342900" rtl="0" algn="just">
              <a:lnSpc>
                <a:spcPct val="105000"/>
              </a:lnSpc>
              <a:spcBef>
                <a:spcPts val="500"/>
              </a:spcBef>
              <a:spcAft>
                <a:spcPts val="0"/>
              </a:spcAft>
              <a:buSzPts val="1400"/>
              <a:buFont typeface="Noto Sans Symbols"/>
              <a:buNone/>
            </a:pPr>
            <a:r>
              <a:rPr lang="en-US" sz="2000"/>
              <a:t>		- Lương		- Cơ hội thăng tiến	- Vị trí nơi làm việc</a:t>
            </a:r>
            <a:endParaRPr/>
          </a:p>
          <a:p>
            <a:pPr indent="-342900" lvl="0" marL="342900" rtl="0" algn="just">
              <a:lnSpc>
                <a:spcPct val="105000"/>
              </a:lnSpc>
              <a:spcBef>
                <a:spcPts val="500"/>
              </a:spcBef>
              <a:spcAft>
                <a:spcPts val="0"/>
              </a:spcAft>
              <a:buSzPts val="1400"/>
              <a:buFont typeface="Noto Sans Symbols"/>
              <a:buNone/>
            </a:pPr>
            <a:r>
              <a:rPr lang="en-US" sz="2000"/>
              <a:t>Sinh viên S gán cho các yếu tố các trọng số sau:</a:t>
            </a:r>
            <a:endParaRPr/>
          </a:p>
          <a:p>
            <a:pPr indent="-342900" lvl="0" marL="342900" rtl="0" algn="just">
              <a:lnSpc>
                <a:spcPct val="105000"/>
              </a:lnSpc>
              <a:spcBef>
                <a:spcPts val="500"/>
              </a:spcBef>
              <a:spcAft>
                <a:spcPts val="0"/>
              </a:spcAft>
              <a:buSzPts val="1400"/>
              <a:buFont typeface="Noto Sans Symbols"/>
              <a:buNone/>
            </a:pPr>
            <a:r>
              <a:rPr lang="en-US" sz="2000"/>
              <a:t>		</a:t>
            </a:r>
            <a:r>
              <a:rPr b="1" lang="en-US" sz="2000"/>
              <a:t>Các yếu tố  i	Trọng số FW</a:t>
            </a:r>
            <a:r>
              <a:rPr b="1" baseline="-25000" lang="en-US" sz="2000"/>
              <a:t>i</a:t>
            </a:r>
            <a:endParaRPr/>
          </a:p>
          <a:p>
            <a:pPr indent="-342900" lvl="0" marL="342900" rtl="0" algn="just">
              <a:lnSpc>
                <a:spcPct val="105000"/>
              </a:lnSpc>
              <a:spcBef>
                <a:spcPts val="500"/>
              </a:spcBef>
              <a:spcAft>
                <a:spcPts val="0"/>
              </a:spcAft>
              <a:buSzPts val="1400"/>
              <a:buFont typeface="Noto Sans Symbols"/>
              <a:buNone/>
            </a:pPr>
            <a:r>
              <a:rPr lang="en-US" sz="2000"/>
              <a:t>		- Lương			0.3</a:t>
            </a:r>
            <a:endParaRPr/>
          </a:p>
          <a:p>
            <a:pPr indent="-342900" lvl="0" marL="342900" rtl="0" algn="just">
              <a:lnSpc>
                <a:spcPct val="105000"/>
              </a:lnSpc>
              <a:spcBef>
                <a:spcPts val="500"/>
              </a:spcBef>
              <a:spcAft>
                <a:spcPts val="0"/>
              </a:spcAft>
              <a:buSzPts val="1400"/>
              <a:buFont typeface="Noto Sans Symbols"/>
              <a:buNone/>
            </a:pPr>
            <a:r>
              <a:rPr lang="en-US" sz="2000"/>
              <a:t>		- Cơ hội thăng tiến	0.6</a:t>
            </a:r>
            <a:endParaRPr/>
          </a:p>
          <a:p>
            <a:pPr indent="-342900" lvl="0" marL="342900" rtl="0" algn="just">
              <a:lnSpc>
                <a:spcPct val="105000"/>
              </a:lnSpc>
              <a:spcBef>
                <a:spcPts val="500"/>
              </a:spcBef>
              <a:spcAft>
                <a:spcPts val="0"/>
              </a:spcAft>
              <a:buSzPts val="1400"/>
              <a:buFont typeface="Noto Sans Symbols"/>
              <a:buNone/>
            </a:pPr>
            <a:r>
              <a:rPr lang="en-US" sz="2000"/>
              <a:t>		- Vị trí nơi làm việc	0.1</a:t>
            </a:r>
            <a:endParaRPr/>
          </a:p>
        </p:txBody>
      </p:sp>
      <p:sp>
        <p:nvSpPr>
          <p:cNvPr id="680" name="Google Shape;680;p51"/>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4" name="Shape 684"/>
        <p:cNvGrpSpPr/>
        <p:nvPr/>
      </p:nvGrpSpPr>
      <p:grpSpPr>
        <a:xfrm>
          <a:off x="0" y="0"/>
          <a:ext cx="0" cy="0"/>
          <a:chOff x="0" y="0"/>
          <a:chExt cx="0" cy="0"/>
        </a:xfrm>
      </p:grpSpPr>
      <p:sp>
        <p:nvSpPr>
          <p:cNvPr id="685" name="Google Shape;685;p52"/>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6. RQĐ theo mô hình toán trong PPĐL </a:t>
            </a:r>
            <a:r>
              <a:rPr b="0" i="1" lang="en-US"/>
              <a:t>(tt)</a:t>
            </a:r>
            <a:endParaRPr/>
          </a:p>
        </p:txBody>
      </p:sp>
      <p:sp>
        <p:nvSpPr>
          <p:cNvPr id="686" name="Google Shape;686;p52"/>
          <p:cNvSpPr txBox="1"/>
          <p:nvPr>
            <p:ph idx="4294967295" type="body"/>
          </p:nvPr>
        </p:nvSpPr>
        <p:spPr>
          <a:xfrm>
            <a:off x="762000" y="1905000"/>
            <a:ext cx="7696200" cy="46482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Clr>
                <a:schemeClr val="dk2"/>
              </a:buClr>
              <a:buSzPts val="4200"/>
              <a:buFont typeface="Times New Roman"/>
              <a:buNone/>
            </a:pPr>
            <a:r>
              <a:rPr b="1" lang="en-US" sz="2800"/>
              <a:t>6.3. RQĐ đa yếu tố</a:t>
            </a:r>
            <a:r>
              <a:rPr i="1" lang="en-US" sz="2800"/>
              <a:t> (tt)</a:t>
            </a:r>
            <a:endParaRPr/>
          </a:p>
          <a:p>
            <a:pPr indent="-342900" lvl="0" marL="342900" rtl="0" algn="just">
              <a:lnSpc>
                <a:spcPct val="110000"/>
              </a:lnSpc>
              <a:spcBef>
                <a:spcPts val="700"/>
              </a:spcBef>
              <a:spcAft>
                <a:spcPts val="0"/>
              </a:spcAft>
              <a:buSzPts val="1400"/>
              <a:buFont typeface="Noto Sans Symbols"/>
              <a:buNone/>
            </a:pPr>
            <a:r>
              <a:rPr b="1" lang="en-US" sz="2000" u="sng">
                <a:solidFill>
                  <a:schemeClr val="dk2"/>
                </a:solidFill>
              </a:rPr>
              <a:t>B2:</a:t>
            </a:r>
            <a:r>
              <a:rPr lang="en-US" sz="2000">
                <a:solidFill>
                  <a:schemeClr val="dk2"/>
                </a:solidFill>
              </a:rPr>
              <a:t> Xác định FE</a:t>
            </a:r>
            <a:r>
              <a:rPr baseline="-25000" lang="en-US" sz="2000">
                <a:solidFill>
                  <a:schemeClr val="dk2"/>
                </a:solidFill>
              </a:rPr>
              <a:t>ij</a:t>
            </a:r>
            <a:endParaRPr/>
          </a:p>
          <a:p>
            <a:pPr indent="-342900" lvl="0" marL="342900" rtl="0" algn="just">
              <a:lnSpc>
                <a:spcPct val="110000"/>
              </a:lnSpc>
              <a:spcBef>
                <a:spcPts val="700"/>
              </a:spcBef>
              <a:spcAft>
                <a:spcPts val="0"/>
              </a:spcAft>
              <a:buSzPts val="1400"/>
              <a:buChar char="●"/>
            </a:pPr>
            <a:r>
              <a:rPr lang="en-US" sz="2000"/>
              <a:t>Sinh viên S nghĩ rằng có 3 công ty A, B, C sẽ nhận mình vào làm việc. Đối với mỗi công ty, sinh viên S đánh giá theo 3 yếu tố trên và có bảng lượng giá như sau:</a:t>
            </a:r>
            <a:endParaRPr/>
          </a:p>
          <a:p>
            <a:pPr indent="-254000" lvl="0" marL="342900" rtl="0" algn="just">
              <a:spcBef>
                <a:spcPts val="400"/>
              </a:spcBef>
              <a:spcAft>
                <a:spcPts val="0"/>
              </a:spcAft>
              <a:buSzPts val="1400"/>
              <a:buNone/>
            </a:pPr>
            <a:r>
              <a:t/>
            </a:r>
            <a:endParaRPr sz="2000"/>
          </a:p>
          <a:p>
            <a:pPr indent="-254000" lvl="0" marL="342900" rtl="0" algn="just">
              <a:spcBef>
                <a:spcPts val="400"/>
              </a:spcBef>
              <a:spcAft>
                <a:spcPts val="0"/>
              </a:spcAft>
              <a:buSzPts val="1400"/>
              <a:buNone/>
            </a:pPr>
            <a:r>
              <a:t/>
            </a:r>
            <a:endParaRPr sz="2000"/>
          </a:p>
          <a:p>
            <a:pPr indent="-307340" lvl="0" marL="342900" rtl="0" algn="just">
              <a:spcBef>
                <a:spcPts val="160"/>
              </a:spcBef>
              <a:spcAft>
                <a:spcPts val="0"/>
              </a:spcAft>
              <a:buSzPts val="560"/>
              <a:buNone/>
            </a:pPr>
            <a:r>
              <a:t/>
            </a:r>
            <a:endParaRPr sz="800"/>
          </a:p>
          <a:p>
            <a:pPr indent="-254000" lvl="0" marL="342900" rtl="0" algn="just">
              <a:spcBef>
                <a:spcPts val="400"/>
              </a:spcBef>
              <a:spcAft>
                <a:spcPts val="0"/>
              </a:spcAft>
              <a:buSzPts val="1400"/>
              <a:buNone/>
            </a:pPr>
            <a:r>
              <a:t/>
            </a:r>
            <a:endParaRPr sz="2000"/>
          </a:p>
          <a:p>
            <a:pPr indent="-254000" lvl="0" marL="342900" rtl="0" algn="just">
              <a:spcBef>
                <a:spcPts val="400"/>
              </a:spcBef>
              <a:spcAft>
                <a:spcPts val="0"/>
              </a:spcAft>
              <a:buSzPts val="1400"/>
              <a:buNone/>
            </a:pPr>
            <a:r>
              <a:t/>
            </a:r>
            <a:endParaRPr sz="2000"/>
          </a:p>
          <a:p>
            <a:pPr indent="-254000" lvl="0" marL="342900" rtl="0" algn="just">
              <a:spcBef>
                <a:spcPts val="400"/>
              </a:spcBef>
              <a:spcAft>
                <a:spcPts val="0"/>
              </a:spcAft>
              <a:buSzPts val="1400"/>
              <a:buNone/>
            </a:pPr>
            <a:r>
              <a:t/>
            </a:r>
            <a:endParaRPr sz="2000"/>
          </a:p>
          <a:p>
            <a:pPr indent="-342900" lvl="0" marL="342900" rtl="0" algn="just">
              <a:spcBef>
                <a:spcPts val="400"/>
              </a:spcBef>
              <a:spcAft>
                <a:spcPts val="0"/>
              </a:spcAft>
              <a:buSzPts val="1400"/>
              <a:buChar char="●"/>
            </a:pPr>
            <a:r>
              <a:rPr lang="en-US" sz="2000"/>
              <a:t>Làm sao xác định giá trị trong bảng này?</a:t>
            </a:r>
            <a:endParaRPr/>
          </a:p>
        </p:txBody>
      </p:sp>
      <p:sp>
        <p:nvSpPr>
          <p:cNvPr id="687" name="Google Shape;687;p52"/>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688" name="Google Shape;688;p52"/>
          <p:cNvPicPr preferRelativeResize="0"/>
          <p:nvPr/>
        </p:nvPicPr>
        <p:blipFill rotWithShape="1">
          <a:blip r:embed="rId3">
            <a:alphaModFix/>
          </a:blip>
          <a:srcRect b="0" l="0" r="0" t="0"/>
          <a:stretch/>
        </p:blipFill>
        <p:spPr>
          <a:xfrm>
            <a:off x="1828800" y="3886200"/>
            <a:ext cx="5943600" cy="1981200"/>
          </a:xfrm>
          <a:prstGeom prst="rect">
            <a:avLst/>
          </a:prstGeom>
          <a:noFill/>
          <a:ln>
            <a:noFill/>
          </a:ln>
        </p:spPr>
      </p:pic>
    </p:spTree>
  </p:cSld>
  <p:clrMapOvr>
    <a:masterClrMapping/>
  </p:clrMapOvr>
  <p:transition>
    <p:push dir="r"/>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sp>
        <p:nvSpPr>
          <p:cNvPr id="693" name="Google Shape;693;p53"/>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6. RQĐ theo mô hình toán trong PPĐL </a:t>
            </a:r>
            <a:r>
              <a:rPr b="0" i="1" lang="en-US"/>
              <a:t>(tt)</a:t>
            </a:r>
            <a:endParaRPr/>
          </a:p>
        </p:txBody>
      </p:sp>
      <p:sp>
        <p:nvSpPr>
          <p:cNvPr id="694" name="Google Shape;694;p53"/>
          <p:cNvSpPr txBox="1"/>
          <p:nvPr>
            <p:ph idx="4294967295"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1" marL="346075" rtl="0" algn="just">
              <a:lnSpc>
                <a:spcPct val="105000"/>
              </a:lnSpc>
              <a:spcBef>
                <a:spcPts val="0"/>
              </a:spcBef>
              <a:spcAft>
                <a:spcPts val="0"/>
              </a:spcAft>
              <a:buClr>
                <a:schemeClr val="dk2"/>
              </a:buClr>
              <a:buSzPts val="4200"/>
              <a:buFont typeface="Times New Roman"/>
              <a:buNone/>
            </a:pPr>
            <a:r>
              <a:rPr b="1" lang="en-US" sz="2800"/>
              <a:t>6.3. RQĐ đa yếu tố</a:t>
            </a:r>
            <a:r>
              <a:rPr i="1" lang="en-US" sz="2800"/>
              <a:t> (tt)</a:t>
            </a:r>
            <a:endParaRPr/>
          </a:p>
          <a:p>
            <a:pPr indent="-342900" lvl="0" marL="342900" rtl="0" algn="just">
              <a:lnSpc>
                <a:spcPct val="105000"/>
              </a:lnSpc>
              <a:spcBef>
                <a:spcPts val="1300"/>
              </a:spcBef>
              <a:spcAft>
                <a:spcPts val="0"/>
              </a:spcAft>
              <a:buSzPts val="1400"/>
              <a:buFont typeface="Noto Sans Symbols"/>
              <a:buNone/>
            </a:pPr>
            <a:r>
              <a:rPr lang="en-US" sz="2000"/>
              <a:t>Đối với </a:t>
            </a:r>
            <a:r>
              <a:rPr b="1" lang="en-US" sz="2000"/>
              <a:t>Lương</a:t>
            </a:r>
            <a:r>
              <a:rPr lang="en-US" sz="2000"/>
              <a:t>, Anh S mong rằng lương sẽ là 1.000.000. Nhưng thực tế công ty A trả 700.000, công ty B trả 800.000, công ty C trả 900.000.</a:t>
            </a:r>
            <a:endParaRPr/>
          </a:p>
          <a:p>
            <a:pPr indent="-342900" lvl="0" marL="342900" rtl="0" algn="just">
              <a:lnSpc>
                <a:spcPct val="105000"/>
              </a:lnSpc>
              <a:spcBef>
                <a:spcPts val="700"/>
              </a:spcBef>
              <a:spcAft>
                <a:spcPts val="0"/>
              </a:spcAft>
              <a:buSzPts val="1400"/>
              <a:buFont typeface="Noto Sans Symbols"/>
              <a:buNone/>
            </a:pPr>
            <a:r>
              <a:t/>
            </a:r>
            <a:endParaRPr sz="2000"/>
          </a:p>
          <a:p>
            <a:pPr indent="-342900" lvl="0" marL="342900" rtl="0" algn="just">
              <a:lnSpc>
                <a:spcPct val="105000"/>
              </a:lnSpc>
              <a:spcBef>
                <a:spcPts val="700"/>
              </a:spcBef>
              <a:spcAft>
                <a:spcPts val="0"/>
              </a:spcAft>
              <a:buSzPts val="1400"/>
              <a:buFont typeface="Noto Sans Symbols"/>
              <a:buNone/>
            </a:pPr>
            <a:r>
              <a:t/>
            </a:r>
            <a:endParaRPr sz="2000"/>
          </a:p>
          <a:p>
            <a:pPr indent="-342900" lvl="0" marL="342900" rtl="0" algn="just">
              <a:lnSpc>
                <a:spcPct val="105000"/>
              </a:lnSpc>
              <a:spcBef>
                <a:spcPts val="700"/>
              </a:spcBef>
              <a:spcAft>
                <a:spcPts val="0"/>
              </a:spcAft>
              <a:buSzPts val="1400"/>
              <a:buFont typeface="Noto Sans Symbols"/>
              <a:buNone/>
            </a:pPr>
            <a:r>
              <a:rPr b="1" lang="en-US" sz="2000" u="sng">
                <a:solidFill>
                  <a:srgbClr val="000099"/>
                </a:solidFill>
              </a:rPr>
              <a:t>B3:</a:t>
            </a:r>
            <a:r>
              <a:rPr lang="en-US" sz="2000">
                <a:solidFill>
                  <a:srgbClr val="000099"/>
                </a:solidFill>
              </a:rPr>
              <a:t>  Tính các tổng lượng giá trọng số TWE</a:t>
            </a:r>
            <a:r>
              <a:rPr baseline="-25000" lang="en-US" sz="2000">
                <a:solidFill>
                  <a:srgbClr val="000099"/>
                </a:solidFill>
              </a:rPr>
              <a:t>j</a:t>
            </a:r>
            <a:endParaRPr/>
          </a:p>
          <a:p>
            <a:pPr indent="-342900" lvl="0" marL="342900" rtl="0" algn="just">
              <a:lnSpc>
                <a:spcPct val="105000"/>
              </a:lnSpc>
              <a:spcBef>
                <a:spcPts val="700"/>
              </a:spcBef>
              <a:spcAft>
                <a:spcPts val="0"/>
              </a:spcAft>
              <a:buSzPts val="1400"/>
              <a:buFont typeface="Noto Sans Symbols"/>
              <a:buNone/>
            </a:pPr>
            <a:r>
              <a:rPr lang="en-US" sz="2000"/>
              <a:t>		TWE(A)	= 0.3 x 0.7 + 0.6 x 0.9 + 0.1 x 0.6 = 0.81</a:t>
            </a:r>
            <a:endParaRPr/>
          </a:p>
          <a:p>
            <a:pPr indent="-342900" lvl="0" marL="342900" rtl="0" algn="just">
              <a:lnSpc>
                <a:spcPct val="105000"/>
              </a:lnSpc>
              <a:spcBef>
                <a:spcPts val="700"/>
              </a:spcBef>
              <a:spcAft>
                <a:spcPts val="0"/>
              </a:spcAft>
              <a:buSzPts val="1400"/>
              <a:buFont typeface="Noto Sans Symbols"/>
              <a:buNone/>
            </a:pPr>
            <a:r>
              <a:rPr lang="en-US" sz="2000"/>
              <a:t>		TWE(B)	= 0.3 x 0.8 + 0.6 x 0.7 + 0.1 x 0.8 = 0.74</a:t>
            </a:r>
            <a:endParaRPr/>
          </a:p>
          <a:p>
            <a:pPr indent="-342900" lvl="0" marL="342900" rtl="0" algn="just">
              <a:lnSpc>
                <a:spcPct val="105000"/>
              </a:lnSpc>
              <a:spcBef>
                <a:spcPts val="700"/>
              </a:spcBef>
              <a:spcAft>
                <a:spcPts val="0"/>
              </a:spcAft>
              <a:buSzPts val="1400"/>
              <a:buFont typeface="Noto Sans Symbols"/>
              <a:buNone/>
            </a:pPr>
            <a:r>
              <a:rPr lang="en-US" sz="2000"/>
              <a:t>		TWE(C)	= 0.3 x 0.9 + 0.6 x 0.6 + 0.1 x 0.9 = 0.72</a:t>
            </a:r>
            <a:endParaRPr/>
          </a:p>
          <a:p>
            <a:pPr indent="-342900" lvl="0" marL="342900" rtl="0" algn="just">
              <a:lnSpc>
                <a:spcPct val="105000"/>
              </a:lnSpc>
              <a:spcBef>
                <a:spcPts val="700"/>
              </a:spcBef>
              <a:spcAft>
                <a:spcPts val="0"/>
              </a:spcAft>
              <a:buSzPts val="1400"/>
              <a:buFont typeface="Noto Sans Symbols"/>
              <a:buNone/>
            </a:pPr>
            <a:r>
              <a:rPr b="1" lang="en-US" sz="2000" u="sng"/>
              <a:t>Kết luận:</a:t>
            </a:r>
            <a:r>
              <a:rPr lang="en-US" sz="2000"/>
              <a:t> Sinh viên S chọn </a:t>
            </a:r>
            <a:r>
              <a:rPr lang="en-US" sz="2000">
                <a:solidFill>
                  <a:srgbClr val="000099"/>
                </a:solidFill>
              </a:rPr>
              <a:t>công ty A</a:t>
            </a:r>
            <a:endParaRPr/>
          </a:p>
        </p:txBody>
      </p:sp>
      <p:sp>
        <p:nvSpPr>
          <p:cNvPr id="695" name="Google Shape;695;p53"/>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696" name="Google Shape;696;p53"/>
          <p:cNvPicPr preferRelativeResize="0"/>
          <p:nvPr/>
        </p:nvPicPr>
        <p:blipFill rotWithShape="1">
          <a:blip r:embed="rId3">
            <a:alphaModFix/>
          </a:blip>
          <a:srcRect b="0" l="0" r="0" t="0"/>
          <a:stretch/>
        </p:blipFill>
        <p:spPr>
          <a:xfrm>
            <a:off x="1219200" y="3352800"/>
            <a:ext cx="6781800" cy="654050"/>
          </a:xfrm>
          <a:prstGeom prst="rect">
            <a:avLst/>
          </a:prstGeom>
          <a:noFill/>
          <a:ln>
            <a:noFill/>
          </a:ln>
        </p:spPr>
      </p:pic>
      <p:pic>
        <p:nvPicPr>
          <p:cNvPr id="697" name="Google Shape;697;p53"/>
          <p:cNvPicPr preferRelativeResize="0"/>
          <p:nvPr/>
        </p:nvPicPr>
        <p:blipFill rotWithShape="1">
          <a:blip r:embed="rId4">
            <a:alphaModFix/>
          </a:blip>
          <a:srcRect b="0" l="0" r="0" t="0"/>
          <a:stretch/>
        </p:blipFill>
        <p:spPr>
          <a:xfrm>
            <a:off x="0" y="152400"/>
            <a:ext cx="3200400" cy="1600200"/>
          </a:xfrm>
          <a:prstGeom prst="rect">
            <a:avLst/>
          </a:prstGeom>
          <a:noFill/>
          <a:ln>
            <a:noFill/>
          </a:ln>
        </p:spPr>
      </p:pic>
      <p:pic>
        <p:nvPicPr>
          <p:cNvPr id="698" name="Google Shape;698;p53"/>
          <p:cNvPicPr preferRelativeResize="0"/>
          <p:nvPr/>
        </p:nvPicPr>
        <p:blipFill rotWithShape="1">
          <a:blip r:embed="rId5">
            <a:alphaModFix/>
          </a:blip>
          <a:srcRect b="0" l="0" r="0" t="0"/>
          <a:stretch/>
        </p:blipFill>
        <p:spPr>
          <a:xfrm>
            <a:off x="3124200" y="0"/>
            <a:ext cx="5943600" cy="1981200"/>
          </a:xfrm>
          <a:prstGeom prst="rect">
            <a:avLst/>
          </a:prstGeom>
          <a:noFill/>
          <a:ln>
            <a:noFill/>
          </a:ln>
        </p:spPr>
      </p:pic>
      <p:sp>
        <p:nvSpPr>
          <p:cNvPr id="699" name="Google Shape;699;p53"/>
          <p:cNvSpPr/>
          <p:nvPr/>
        </p:nvSpPr>
        <p:spPr>
          <a:xfrm>
            <a:off x="7848600" y="914400"/>
            <a:ext cx="1219200" cy="304800"/>
          </a:xfrm>
          <a:prstGeom prst="ellipse">
            <a:avLst/>
          </a:prstGeom>
          <a:noFill/>
          <a:ln cap="flat" cmpd="sng" w="2857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00" name="Google Shape;700;p53"/>
          <p:cNvSpPr/>
          <p:nvPr/>
        </p:nvSpPr>
        <p:spPr>
          <a:xfrm>
            <a:off x="5867400" y="3352800"/>
            <a:ext cx="2286000" cy="685800"/>
          </a:xfrm>
          <a:prstGeom prst="ellipse">
            <a:avLst/>
          </a:prstGeom>
          <a:noFill/>
          <a:ln cap="flat" cmpd="sng" w="28575">
            <a:solidFill>
              <a:schemeClr val="hlink"/>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01" name="Google Shape;701;p53"/>
          <p:cNvSpPr/>
          <p:nvPr/>
        </p:nvSpPr>
        <p:spPr>
          <a:xfrm>
            <a:off x="5943600" y="762000"/>
            <a:ext cx="457200" cy="457200"/>
          </a:xfrm>
          <a:prstGeom prst="rect">
            <a:avLst/>
          </a:prstGeom>
          <a:noFill/>
          <a:ln cap="flat" cmpd="sng" w="28575">
            <a:solidFill>
              <a:srgbClr val="FF66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
        <p:nvSpPr>
          <p:cNvPr id="702" name="Google Shape;702;p53"/>
          <p:cNvSpPr/>
          <p:nvPr/>
        </p:nvSpPr>
        <p:spPr>
          <a:xfrm>
            <a:off x="1600200" y="3276600"/>
            <a:ext cx="1981200" cy="685800"/>
          </a:xfrm>
          <a:prstGeom prst="rect">
            <a:avLst/>
          </a:prstGeom>
          <a:noFill/>
          <a:ln cap="flat" cmpd="sng" w="28575">
            <a:solidFill>
              <a:srgbClr val="FF66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sp>
        <p:nvSpPr>
          <p:cNvPr id="707" name="Google Shape;707;p54"/>
          <p:cNvSpPr txBox="1"/>
          <p:nvPr>
            <p:ph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6. RQĐ theo mô hình toán trong PPĐL </a:t>
            </a:r>
            <a:r>
              <a:rPr b="0" i="1" lang="en-US"/>
              <a:t>(tt)</a:t>
            </a:r>
            <a:endParaRPr/>
          </a:p>
        </p:txBody>
      </p:sp>
      <p:sp>
        <p:nvSpPr>
          <p:cNvPr id="708" name="Google Shape;708;p54"/>
          <p:cNvSpPr txBox="1"/>
          <p:nvPr>
            <p:ph idx="1"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Clr>
                <a:schemeClr val="dk2"/>
              </a:buClr>
              <a:buSzPts val="4200"/>
              <a:buFont typeface="Times New Roman"/>
              <a:buNone/>
            </a:pPr>
            <a:r>
              <a:rPr b="1" lang="en-US" sz="2800"/>
              <a:t>6.4. RQĐ theo Lý thuyết độ hữu ích</a:t>
            </a:r>
            <a:endParaRPr/>
          </a:p>
          <a:p>
            <a:pPr indent="-342900" lvl="0" marL="342900" rtl="0" algn="just">
              <a:lnSpc>
                <a:spcPct val="120000"/>
              </a:lnSpc>
              <a:spcBef>
                <a:spcPts val="1080"/>
              </a:spcBef>
              <a:spcAft>
                <a:spcPts val="0"/>
              </a:spcAft>
              <a:buSzPts val="1680"/>
              <a:buChar char="●"/>
            </a:pPr>
            <a:r>
              <a:rPr b="1" lang="en-US" sz="2400">
                <a:solidFill>
                  <a:srgbClr val="000099"/>
                </a:solidFill>
              </a:rPr>
              <a:t>Khái niệm về Độ hữu ích</a:t>
            </a:r>
            <a:endParaRPr/>
          </a:p>
          <a:p>
            <a:pPr indent="-279400" lvl="2" marL="739775" rtl="0" algn="just">
              <a:lnSpc>
                <a:spcPct val="120000"/>
              </a:lnSpc>
              <a:spcBef>
                <a:spcPts val="480"/>
              </a:spcBef>
              <a:spcAft>
                <a:spcPts val="0"/>
              </a:spcAft>
              <a:buSzPts val="3600"/>
              <a:buFont typeface="Times New Roman"/>
              <a:buChar char="•"/>
            </a:pPr>
            <a:r>
              <a:rPr b="1" lang="en-US" sz="2400"/>
              <a:t>Độ hữu ích</a:t>
            </a:r>
            <a:r>
              <a:rPr lang="en-US" sz="2400"/>
              <a:t> là độ đo mức ưu tiên của người RQĐ đối với lợi nhuận.</a:t>
            </a:r>
            <a:endParaRPr/>
          </a:p>
          <a:p>
            <a:pPr indent="-279400" lvl="2" marL="739775" rtl="0" algn="just">
              <a:lnSpc>
                <a:spcPct val="120000"/>
              </a:lnSpc>
              <a:spcBef>
                <a:spcPts val="480"/>
              </a:spcBef>
              <a:spcAft>
                <a:spcPts val="0"/>
              </a:spcAft>
              <a:buSzPts val="3600"/>
              <a:buFont typeface="Times New Roman"/>
              <a:buChar char="•"/>
            </a:pPr>
            <a:r>
              <a:rPr b="1" lang="en-US" sz="2400"/>
              <a:t>Lý thuyết độ hữu ích</a:t>
            </a:r>
            <a:r>
              <a:rPr lang="en-US" sz="2400"/>
              <a:t> là LT nghiên cứu cách kết hợp mức độ ưu tiên về độ may rủi của người RQĐ đối với các yếu tố khác trong quá trình RQĐ.</a:t>
            </a:r>
            <a:endParaRPr/>
          </a:p>
          <a:p>
            <a:pPr indent="-342900" lvl="0" marL="342900" rtl="0" algn="just">
              <a:lnSpc>
                <a:spcPct val="120000"/>
              </a:lnSpc>
              <a:spcBef>
                <a:spcPts val="480"/>
              </a:spcBef>
              <a:spcAft>
                <a:spcPts val="0"/>
              </a:spcAft>
              <a:buSzPts val="1680"/>
              <a:buChar char="●"/>
            </a:pPr>
            <a:r>
              <a:rPr b="1" lang="en-US" sz="2400">
                <a:solidFill>
                  <a:srgbClr val="000099"/>
                </a:solidFill>
              </a:rPr>
              <a:t>Cách tính Độ hữu ích</a:t>
            </a:r>
            <a:endParaRPr/>
          </a:p>
          <a:p>
            <a:pPr indent="-342900" lvl="0" marL="342900" rtl="0" algn="just">
              <a:lnSpc>
                <a:spcPct val="120000"/>
              </a:lnSpc>
              <a:spcBef>
                <a:spcPts val="480"/>
              </a:spcBef>
              <a:spcAft>
                <a:spcPts val="0"/>
              </a:spcAft>
              <a:buSzPts val="1680"/>
              <a:buChar char="●"/>
            </a:pPr>
            <a:r>
              <a:rPr b="1" lang="en-US" sz="2400">
                <a:solidFill>
                  <a:srgbClr val="000099"/>
                </a:solidFill>
              </a:rPr>
              <a:t>Đánh giá PA bằng Độ hữu ích</a:t>
            </a:r>
            <a:endParaRPr/>
          </a:p>
        </p:txBody>
      </p:sp>
      <p:sp>
        <p:nvSpPr>
          <p:cNvPr id="709" name="Google Shape;709;p54"/>
          <p:cNvSpPr txBox="1"/>
          <p:nvPr>
            <p:ph idx="12" type="sldNum"/>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55"/>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b="0" i="1" lang="en-US" sz="2900"/>
              <a:t> </a:t>
            </a:r>
            <a:r>
              <a:rPr lang="en-US" sz="2400">
                <a:solidFill>
                  <a:schemeClr val="dk1"/>
                </a:solidFill>
              </a:rPr>
              <a:t>6.4. RQĐ theo Lý thuyết độ hữu ích</a:t>
            </a:r>
            <a:r>
              <a:rPr i="1" lang="en-US" sz="2400">
                <a:solidFill>
                  <a:schemeClr val="dk1"/>
                </a:solidFill>
              </a:rPr>
              <a:t> (tt)</a:t>
            </a:r>
            <a:br>
              <a:rPr lang="en-US" sz="2400">
                <a:solidFill>
                  <a:schemeClr val="dk1"/>
                </a:solidFill>
              </a:rPr>
            </a:br>
            <a:r>
              <a:rPr lang="en-US" sz="2800">
                <a:solidFill>
                  <a:schemeClr val="dk1"/>
                </a:solidFill>
              </a:rPr>
              <a:t>      </a:t>
            </a:r>
            <a:r>
              <a:rPr b="0" lang="en-US" sz="2200">
                <a:solidFill>
                  <a:srgbClr val="000099"/>
                </a:solidFill>
              </a:rPr>
              <a:t>Khái niệm về Độ hữu ích</a:t>
            </a:r>
            <a:r>
              <a:rPr i="1" lang="en-US" sz="2200">
                <a:solidFill>
                  <a:srgbClr val="000099"/>
                </a:solidFill>
              </a:rPr>
              <a:t> (tt)</a:t>
            </a:r>
            <a:endParaRPr/>
          </a:p>
        </p:txBody>
      </p:sp>
      <p:sp>
        <p:nvSpPr>
          <p:cNvPr id="715" name="Google Shape;715;p55"/>
          <p:cNvSpPr txBox="1"/>
          <p:nvPr>
            <p:ph idx="4294967295" type="body"/>
          </p:nvPr>
        </p:nvSpPr>
        <p:spPr>
          <a:xfrm>
            <a:off x="609600" y="1752600"/>
            <a:ext cx="7696200" cy="4572000"/>
          </a:xfrm>
          <a:prstGeom prst="rect">
            <a:avLst/>
          </a:prstGeom>
          <a:noFill/>
          <a:ln>
            <a:noFill/>
          </a:ln>
        </p:spPr>
        <p:txBody>
          <a:bodyPr anchorCtr="0" anchor="t" bIns="45700" lIns="91425" spcFirstLastPara="1" rIns="91425" wrap="square" tIns="45700">
            <a:noAutofit/>
          </a:bodyPr>
          <a:lstStyle/>
          <a:p>
            <a:pPr indent="-342900" lvl="0" marL="342900" rtl="0" algn="just">
              <a:lnSpc>
                <a:spcPct val="110000"/>
              </a:lnSpc>
              <a:spcBef>
                <a:spcPts val="0"/>
              </a:spcBef>
              <a:spcAft>
                <a:spcPts val="0"/>
              </a:spcAft>
              <a:buSzPts val="1400"/>
              <a:buFont typeface="Noto Sans Symbols"/>
              <a:buNone/>
            </a:pPr>
            <a:r>
              <a:rPr b="1" i="1" lang="en-US" sz="2000" u="sng"/>
              <a:t>VD:</a:t>
            </a:r>
            <a:r>
              <a:rPr lang="en-US" sz="2000"/>
              <a:t> </a:t>
            </a:r>
            <a:r>
              <a:rPr i="1" lang="en-US" sz="2000"/>
              <a:t>Giả sử bạn có một tấm vé số đặc biệt mà khi thảy đồng xu lên nếu mặt ngửa xuất hiện thì bạn trúng thưởng 5.000.000đ, nếu mặt sấp xuất hiện thì bạn không được gì hết.</a:t>
            </a:r>
            <a:endParaRPr/>
          </a:p>
          <a:p>
            <a:pPr indent="-342900" lvl="0" marL="342900" rtl="0" algn="just">
              <a:spcBef>
                <a:spcPts val="400"/>
              </a:spcBef>
              <a:spcAft>
                <a:spcPts val="0"/>
              </a:spcAft>
              <a:buSzPts val="1400"/>
              <a:buFont typeface="Noto Sans Symbols"/>
              <a:buNone/>
            </a:pPr>
            <a:r>
              <a:rPr i="1" lang="en-US" sz="2000"/>
              <a:t>	VĐ đặt ra: Nếu có người nào đó đề nghị mua lại tấm vé số của bạn trước khi tung đồng xu với giá 2.000.000đ thì bạn có bán hay không?</a:t>
            </a:r>
            <a:endParaRPr/>
          </a:p>
          <a:p>
            <a:pPr indent="-342900" lvl="0" marL="342900" rtl="0" algn="just">
              <a:spcBef>
                <a:spcPts val="400"/>
              </a:spcBef>
              <a:spcAft>
                <a:spcPts val="0"/>
              </a:spcAft>
              <a:buSzPts val="1400"/>
              <a:buFont typeface="Noto Sans Symbols"/>
              <a:buNone/>
            </a:pPr>
            <a:r>
              <a:rPr b="1" i="1" lang="en-US" sz="2000" u="sng"/>
              <a:t>Giải:</a:t>
            </a:r>
            <a:endParaRPr/>
          </a:p>
        </p:txBody>
      </p:sp>
      <p:sp>
        <p:nvSpPr>
          <p:cNvPr id="716" name="Google Shape;716;p55"/>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717" name="Google Shape;717;p55"/>
          <p:cNvPicPr preferRelativeResize="0"/>
          <p:nvPr/>
        </p:nvPicPr>
        <p:blipFill rotWithShape="1">
          <a:blip r:embed="rId3">
            <a:alphaModFix/>
          </a:blip>
          <a:srcRect b="0" l="0" r="0" t="0"/>
          <a:stretch/>
        </p:blipFill>
        <p:spPr>
          <a:xfrm>
            <a:off x="4724400" y="3810000"/>
            <a:ext cx="4419600" cy="2205038"/>
          </a:xfrm>
          <a:prstGeom prst="rect">
            <a:avLst/>
          </a:prstGeom>
          <a:noFill/>
          <a:ln>
            <a:noFill/>
          </a:ln>
        </p:spPr>
      </p:pic>
      <p:sp>
        <p:nvSpPr>
          <p:cNvPr id="718" name="Google Shape;718;p55"/>
          <p:cNvSpPr txBox="1"/>
          <p:nvPr/>
        </p:nvSpPr>
        <p:spPr>
          <a:xfrm>
            <a:off x="685800" y="3886200"/>
            <a:ext cx="4113213" cy="2017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1" lang="en-US" sz="1800" u="none" cap="none" strike="noStrike">
                <a:solidFill>
                  <a:schemeClr val="dk1"/>
                </a:solidFill>
                <a:latin typeface="Times New Roman"/>
                <a:ea typeface="Times New Roman"/>
                <a:cs typeface="Times New Roman"/>
                <a:sym typeface="Times New Roman"/>
              </a:rPr>
              <a:t>Nếu xét theo tiêu chuẩn EMV</a:t>
            </a:r>
            <a:endParaRPr/>
          </a:p>
          <a:p>
            <a:pPr indent="0" lvl="0" marL="0" marR="0" rtl="0" algn="l">
              <a:spcBef>
                <a:spcPts val="360"/>
              </a:spcBef>
              <a:spcAft>
                <a:spcPts val="0"/>
              </a:spcAft>
              <a:buNone/>
            </a:pPr>
            <a:r>
              <a:rPr b="0" i="0" lang="en-US" sz="1800" u="none" cap="none" strike="noStrike">
                <a:solidFill>
                  <a:schemeClr val="dk1"/>
                </a:solidFill>
                <a:latin typeface="Times New Roman"/>
                <a:ea typeface="Times New Roman"/>
                <a:cs typeface="Times New Roman"/>
                <a:sym typeface="Times New Roman"/>
              </a:rPr>
              <a:t>EMV (không bán) = EMV(1) = </a:t>
            </a:r>
            <a:endParaRPr/>
          </a:p>
          <a:p>
            <a:pPr indent="0" lvl="0" marL="0" marR="0" rtl="0" algn="l">
              <a:spcBef>
                <a:spcPts val="360"/>
              </a:spcBef>
              <a:spcAft>
                <a:spcPts val="0"/>
              </a:spcAft>
              <a:buNone/>
            </a:pPr>
            <a:r>
              <a:rPr b="0" i="0" lang="en-US" sz="1800" u="none" cap="none" strike="noStrike">
                <a:solidFill>
                  <a:schemeClr val="dk1"/>
                </a:solidFill>
                <a:latin typeface="Times New Roman"/>
                <a:ea typeface="Times New Roman"/>
                <a:cs typeface="Times New Roman"/>
                <a:sym typeface="Times New Roman"/>
              </a:rPr>
              <a:t>     = 5.000.000 x 0.5 + 0 x 0.5 = 2.500.000</a:t>
            </a:r>
            <a:endParaRPr/>
          </a:p>
          <a:p>
            <a:pPr indent="0" lvl="0" marL="0" marR="0" rtl="0" algn="l">
              <a:spcBef>
                <a:spcPts val="360"/>
              </a:spcBef>
              <a:spcAft>
                <a:spcPts val="0"/>
              </a:spcAft>
              <a:buNone/>
            </a:pPr>
            <a:r>
              <a:rPr b="0" i="0" lang="en-US" sz="1800" u="none" cap="none" strike="noStrike">
                <a:solidFill>
                  <a:schemeClr val="dk1"/>
                </a:solidFill>
                <a:latin typeface="Times New Roman"/>
                <a:ea typeface="Times New Roman"/>
                <a:cs typeface="Times New Roman"/>
                <a:sym typeface="Times New Roman"/>
              </a:rPr>
              <a:t>EMV (bán)       =  EMV(2)   =   2.000.000</a:t>
            </a:r>
            <a:endParaRPr/>
          </a:p>
          <a:p>
            <a:pPr indent="0" lvl="0" marL="0" marR="0" rtl="0" algn="l">
              <a:spcBef>
                <a:spcPts val="360"/>
              </a:spcBef>
              <a:spcAft>
                <a:spcPts val="0"/>
              </a:spcAft>
              <a:buNone/>
            </a:pPr>
            <a:r>
              <a:rPr b="0" i="0" lang="en-US" sz="1800" u="none" cap="none" strike="noStrike">
                <a:solidFill>
                  <a:schemeClr val="dk1"/>
                </a:solidFill>
                <a:latin typeface="Times New Roman"/>
                <a:ea typeface="Times New Roman"/>
                <a:cs typeface="Times New Roman"/>
                <a:sym typeface="Times New Roman"/>
              </a:rPr>
              <a:t>==&gt;  EMV (không bán) &gt; EMV (bán)</a:t>
            </a:r>
            <a:endParaRPr/>
          </a:p>
          <a:p>
            <a:pPr indent="0" lvl="0" marL="0" marR="0" rtl="0" algn="l">
              <a:spcBef>
                <a:spcPts val="360"/>
              </a:spcBef>
              <a:spcAft>
                <a:spcPts val="0"/>
              </a:spcAft>
              <a:buNone/>
            </a:pPr>
            <a:r>
              <a:rPr b="0" i="1" lang="en-US" sz="1800" u="sng" cap="none" strike="noStrike">
                <a:solidFill>
                  <a:schemeClr val="dk1"/>
                </a:solidFill>
                <a:latin typeface="Times New Roman"/>
                <a:ea typeface="Times New Roman"/>
                <a:cs typeface="Times New Roman"/>
                <a:sym typeface="Times New Roman"/>
              </a:rPr>
              <a:t>Kết luận:</a:t>
            </a:r>
            <a:r>
              <a:rPr b="0" i="0" lang="en-US" sz="1800" u="none" cap="none" strike="noStrike">
                <a:solidFill>
                  <a:schemeClr val="dk1"/>
                </a:solidFill>
                <a:latin typeface="Times New Roman"/>
                <a:ea typeface="Times New Roman"/>
                <a:cs typeface="Times New Roman"/>
                <a:sym typeface="Times New Roman"/>
              </a:rPr>
              <a:t> Không bán tấm vé số</a:t>
            </a:r>
            <a:endParaRPr/>
          </a:p>
        </p:txBody>
      </p:sp>
      <p:sp>
        <p:nvSpPr>
          <p:cNvPr id="719" name="Google Shape;719;p55"/>
          <p:cNvSpPr txBox="1"/>
          <p:nvPr/>
        </p:nvSpPr>
        <p:spPr>
          <a:xfrm>
            <a:off x="669925" y="5876925"/>
            <a:ext cx="7028100" cy="702000"/>
          </a:xfrm>
          <a:prstGeom prst="rect">
            <a:avLst/>
          </a:prstGeom>
          <a:noFill/>
          <a:ln>
            <a:noFill/>
          </a:ln>
        </p:spPr>
        <p:txBody>
          <a:bodyPr anchorCtr="0" anchor="t" bIns="45700" lIns="91425" spcFirstLastPara="1" rIns="91425" wrap="square" tIns="45700">
            <a:spAutoFit/>
          </a:bodyPr>
          <a:lstStyle/>
          <a:p>
            <a:pPr indent="0" lvl="0" marL="0" marR="0" rtl="0" algn="l">
              <a:lnSpc>
                <a:spcPct val="120000"/>
              </a:lnSpc>
              <a:spcBef>
                <a:spcPts val="0"/>
              </a:spcBef>
              <a:spcAft>
                <a:spcPts val="0"/>
              </a:spcAft>
              <a:buNone/>
            </a:pPr>
            <a:r>
              <a:rPr b="1" i="1" lang="en-US" sz="1800" u="none" cap="none" strike="noStrike">
                <a:solidFill>
                  <a:schemeClr val="dk1"/>
                </a:solidFill>
                <a:latin typeface="Times New Roman"/>
                <a:ea typeface="Times New Roman"/>
                <a:cs typeface="Times New Roman"/>
                <a:sym typeface="Times New Roman"/>
              </a:rPr>
              <a:t>Nếu xét trên quan điểm thực tế</a:t>
            </a:r>
            <a:r>
              <a:rPr b="0" i="0" lang="en-US" sz="1800" u="none" cap="none" strike="noStrike">
                <a:solidFill>
                  <a:schemeClr val="dk1"/>
                </a:solidFill>
                <a:latin typeface="Times New Roman"/>
                <a:ea typeface="Times New Roman"/>
                <a:cs typeface="Times New Roman"/>
                <a:sym typeface="Times New Roman"/>
              </a:rPr>
              <a:t>, thì đa số mọi người sẽ bán </a:t>
            </a:r>
            <a:r>
              <a:rPr b="1" i="0" lang="en-US" sz="1800" u="none" cap="none" strike="noStrike">
                <a:solidFill>
                  <a:schemeClr val="dk1"/>
                </a:solidFill>
                <a:latin typeface="Times New Roman"/>
                <a:ea typeface="Times New Roman"/>
                <a:cs typeface="Times New Roman"/>
                <a:sym typeface="Times New Roman"/>
              </a:rPr>
              <a:t>vì</a:t>
            </a:r>
            <a:r>
              <a:rPr b="0" i="0" lang="en-US" sz="1800" u="none" cap="none" strike="noStrike">
                <a:solidFill>
                  <a:schemeClr val="dk1"/>
                </a:solidFill>
                <a:latin typeface="Times New Roman"/>
                <a:ea typeface="Times New Roman"/>
                <a:cs typeface="Times New Roman"/>
                <a:sym typeface="Times New Roman"/>
              </a:rPr>
              <a:t> ít ai thích may rủi trừ những người tỉ phú thích may rủi.</a:t>
            </a:r>
            <a:endParaRPr/>
          </a:p>
        </p:txBody>
      </p:sp>
    </p:spTree>
  </p:cSld>
  <p:clrMapOvr>
    <a:masterClrMapping/>
  </p:clrMapOvr>
  <p:transition>
    <p:push dir="r"/>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56"/>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6. RQĐ theo mô hình toán trong PPĐL </a:t>
            </a:r>
            <a:r>
              <a:rPr b="0" i="1" lang="en-US"/>
              <a:t>(tt)</a:t>
            </a:r>
            <a:endParaRPr/>
          </a:p>
        </p:txBody>
      </p:sp>
      <p:sp>
        <p:nvSpPr>
          <p:cNvPr id="725" name="Google Shape;725;p56"/>
          <p:cNvSpPr txBox="1"/>
          <p:nvPr>
            <p:ph idx="4294967295"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Clr>
                <a:schemeClr val="dk2"/>
              </a:buClr>
              <a:buSzPts val="4200"/>
              <a:buFont typeface="Times New Roman"/>
              <a:buNone/>
            </a:pPr>
            <a:r>
              <a:rPr b="1" lang="en-US" sz="2800"/>
              <a:t>6.4. RQĐ theo Lý thuyết độ hữu ích</a:t>
            </a:r>
            <a:endParaRPr/>
          </a:p>
          <a:p>
            <a:pPr indent="-342900" lvl="0" marL="342900" rtl="0" algn="just">
              <a:lnSpc>
                <a:spcPct val="120000"/>
              </a:lnSpc>
              <a:spcBef>
                <a:spcPts val="480"/>
              </a:spcBef>
              <a:spcAft>
                <a:spcPts val="0"/>
              </a:spcAft>
              <a:buSzPts val="1680"/>
              <a:buChar char="●"/>
            </a:pPr>
            <a:r>
              <a:rPr b="1" lang="en-US" sz="2400">
                <a:solidFill>
                  <a:srgbClr val="000099"/>
                </a:solidFill>
              </a:rPr>
              <a:t>Cách tính Độ hữu ích</a:t>
            </a:r>
            <a:endParaRPr/>
          </a:p>
          <a:p>
            <a:pPr indent="-342900" lvl="0" marL="342900" rtl="0" algn="just">
              <a:spcBef>
                <a:spcPts val="1000"/>
              </a:spcBef>
              <a:spcAft>
                <a:spcPts val="0"/>
              </a:spcAft>
              <a:buSzPts val="1400"/>
              <a:buFont typeface="Noto Sans Symbols"/>
              <a:buNone/>
            </a:pPr>
            <a:r>
              <a:rPr b="1" lang="en-US" sz="2000"/>
              <a:t>a. Độ hữu ích</a:t>
            </a:r>
            <a:r>
              <a:rPr lang="en-US" sz="2000"/>
              <a:t> được ước tính như sau:</a:t>
            </a:r>
            <a:endParaRPr/>
          </a:p>
          <a:p>
            <a:pPr indent="-279400" lvl="2" marL="739775" rtl="0" algn="just">
              <a:spcBef>
                <a:spcPts val="400"/>
              </a:spcBef>
              <a:spcAft>
                <a:spcPts val="0"/>
              </a:spcAft>
              <a:buSzPts val="3000"/>
              <a:buFont typeface="Times New Roman"/>
              <a:buChar char="•"/>
            </a:pPr>
            <a:r>
              <a:rPr b="1" lang="en-US" sz="2000">
                <a:solidFill>
                  <a:schemeClr val="dk2"/>
                </a:solidFill>
              </a:rPr>
              <a:t>Kết quả tốt nhất</a:t>
            </a:r>
            <a:r>
              <a:rPr lang="en-US" sz="2000"/>
              <a:t> sẽ có độ hữu ích là 1   ==&gt; U (tốt nhất)   = 1</a:t>
            </a:r>
            <a:endParaRPr/>
          </a:p>
          <a:p>
            <a:pPr indent="-279400" lvl="2" marL="739775" rtl="0" algn="just">
              <a:spcBef>
                <a:spcPts val="400"/>
              </a:spcBef>
              <a:spcAft>
                <a:spcPts val="0"/>
              </a:spcAft>
              <a:buSzPts val="3000"/>
              <a:buFont typeface="Times New Roman"/>
              <a:buChar char="•"/>
            </a:pPr>
            <a:r>
              <a:rPr b="1" lang="en-US" sz="2000">
                <a:solidFill>
                  <a:schemeClr val="dk2"/>
                </a:solidFill>
              </a:rPr>
              <a:t>Kết quả xấu nhất</a:t>
            </a:r>
            <a:r>
              <a:rPr lang="en-US" sz="2000"/>
              <a:t> sẽ có độ hữu ích là 0   ==&gt; U (xấu nhất) = 0</a:t>
            </a:r>
            <a:endParaRPr/>
          </a:p>
          <a:p>
            <a:pPr indent="-279400" lvl="2" marL="739775" rtl="0" algn="just">
              <a:spcBef>
                <a:spcPts val="400"/>
              </a:spcBef>
              <a:spcAft>
                <a:spcPts val="0"/>
              </a:spcAft>
              <a:buSzPts val="3000"/>
              <a:buFont typeface="Times New Roman"/>
              <a:buChar char="•"/>
            </a:pPr>
            <a:r>
              <a:rPr b="1" lang="en-US" sz="2000">
                <a:solidFill>
                  <a:schemeClr val="dk2"/>
                </a:solidFill>
              </a:rPr>
              <a:t>Kết quả khác</a:t>
            </a:r>
            <a:r>
              <a:rPr lang="en-US" sz="2000"/>
              <a:t> sẽ có độ hữu ích   (0,1)   ==&gt; 0 &lt; U (khác) &lt; 1</a:t>
            </a:r>
            <a:endParaRPr/>
          </a:p>
          <a:p>
            <a:pPr indent="-342900" lvl="0" marL="342900" rtl="0" algn="just">
              <a:spcBef>
                <a:spcPts val="1000"/>
              </a:spcBef>
              <a:spcAft>
                <a:spcPts val="0"/>
              </a:spcAft>
              <a:buSzPts val="1400"/>
              <a:buFont typeface="Noto Sans Symbols"/>
              <a:buNone/>
            </a:pPr>
            <a:r>
              <a:rPr b="1" lang="en-US" sz="2000"/>
              <a:t>b. Cách tính độ hữu ích của kết quả khác:</a:t>
            </a:r>
            <a:endParaRPr/>
          </a:p>
          <a:p>
            <a:pPr indent="-279400" lvl="2" marL="739775" rtl="0" algn="just">
              <a:spcBef>
                <a:spcPts val="400"/>
              </a:spcBef>
              <a:spcAft>
                <a:spcPts val="0"/>
              </a:spcAft>
              <a:buSzPts val="3000"/>
              <a:buFont typeface="Times New Roman"/>
              <a:buChar char="•"/>
            </a:pPr>
            <a:r>
              <a:rPr b="1" lang="en-US" sz="2000"/>
              <a:t>Độ hữu ích của kết quả khác</a:t>
            </a:r>
            <a:r>
              <a:rPr lang="en-US" sz="2000"/>
              <a:t> được tính dựa trên sự xem xét một trò chơi chuẩn gồm 2 kết quả:</a:t>
            </a:r>
            <a:endParaRPr/>
          </a:p>
          <a:p>
            <a:pPr indent="-342900" lvl="0" marL="342900" rtl="0" algn="just">
              <a:spcBef>
                <a:spcPts val="400"/>
              </a:spcBef>
              <a:spcAft>
                <a:spcPts val="0"/>
              </a:spcAft>
              <a:buSzPts val="1400"/>
              <a:buFont typeface="Noto Sans Symbols"/>
              <a:buNone/>
            </a:pPr>
            <a:r>
              <a:rPr lang="en-US" sz="2000"/>
              <a:t>		</a:t>
            </a:r>
            <a:r>
              <a:rPr b="1" lang="en-US" sz="2000"/>
              <a:t>+ </a:t>
            </a:r>
            <a:r>
              <a:rPr b="1" lang="en-US" sz="2000">
                <a:solidFill>
                  <a:schemeClr val="dk2"/>
                </a:solidFill>
              </a:rPr>
              <a:t>Kết quả tốt nhất</a:t>
            </a:r>
            <a:r>
              <a:rPr lang="en-US" sz="2000"/>
              <a:t> có xác suất là P</a:t>
            </a:r>
            <a:endParaRPr/>
          </a:p>
          <a:p>
            <a:pPr indent="-342900" lvl="0" marL="342900" rtl="0" algn="just">
              <a:spcBef>
                <a:spcPts val="400"/>
              </a:spcBef>
              <a:spcAft>
                <a:spcPts val="0"/>
              </a:spcAft>
              <a:buSzPts val="1400"/>
              <a:buFont typeface="Noto Sans Symbols"/>
              <a:buNone/>
            </a:pPr>
            <a:r>
              <a:rPr lang="en-US" sz="2000"/>
              <a:t>		</a:t>
            </a:r>
            <a:r>
              <a:rPr b="1" lang="en-US" sz="2000"/>
              <a:t>+ </a:t>
            </a:r>
            <a:r>
              <a:rPr b="1" lang="en-US" sz="2000">
                <a:solidFill>
                  <a:schemeClr val="dk2"/>
                </a:solidFill>
              </a:rPr>
              <a:t>Kết quả xấu nhất</a:t>
            </a:r>
            <a:r>
              <a:rPr lang="en-US" sz="2000"/>
              <a:t> có xác suất là (1 - P)</a:t>
            </a:r>
            <a:endParaRPr/>
          </a:p>
        </p:txBody>
      </p:sp>
      <p:sp>
        <p:nvSpPr>
          <p:cNvPr id="726" name="Google Shape;726;p56"/>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57"/>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400">
                <a:solidFill>
                  <a:schemeClr val="dk1"/>
                </a:solidFill>
              </a:rPr>
              <a:t>6.4. RQĐ theo Lý thuyết độ hữu ích</a:t>
            </a:r>
            <a:br>
              <a:rPr lang="en-US" sz="2400">
                <a:solidFill>
                  <a:schemeClr val="dk1"/>
                </a:solidFill>
              </a:rPr>
            </a:br>
            <a:r>
              <a:rPr b="0" lang="en-US" sz="2200">
                <a:solidFill>
                  <a:srgbClr val="000099"/>
                </a:solidFill>
              </a:rPr>
              <a:t>Cách tính Độ hữu ích</a:t>
            </a:r>
            <a:r>
              <a:rPr i="1" lang="en-US" sz="2200">
                <a:solidFill>
                  <a:srgbClr val="000099"/>
                </a:solidFill>
              </a:rPr>
              <a:t> (tt)</a:t>
            </a:r>
            <a:endParaRPr b="0" sz="2200">
              <a:solidFill>
                <a:srgbClr val="000099"/>
              </a:solidFill>
            </a:endParaRPr>
          </a:p>
        </p:txBody>
      </p:sp>
      <p:sp>
        <p:nvSpPr>
          <p:cNvPr id="732" name="Google Shape;732;p57"/>
          <p:cNvSpPr txBox="1"/>
          <p:nvPr>
            <p:ph idx="4294967295"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SzPts val="1400"/>
              <a:buFont typeface="Noto Sans Symbols"/>
              <a:buNone/>
            </a:pPr>
            <a:r>
              <a:rPr b="1" lang="en-US" sz="2000"/>
              <a:t>b. Cách tính độ hữu ích của kết quả khác:</a:t>
            </a:r>
            <a:endParaRPr/>
          </a:p>
          <a:p>
            <a:pPr indent="-342900" lvl="0" marL="342900" rtl="0" algn="just">
              <a:spcBef>
                <a:spcPts val="400"/>
              </a:spcBef>
              <a:spcAft>
                <a:spcPts val="0"/>
              </a:spcAft>
              <a:buSzPts val="1400"/>
              <a:buFont typeface="Noto Sans Symbols"/>
              <a:buNone/>
            </a:pPr>
            <a:r>
              <a:rPr b="1" lang="en-US" sz="2000"/>
              <a:t>Độ hữu ích của kết quả khác</a:t>
            </a:r>
            <a:r>
              <a:rPr lang="en-US" sz="2000"/>
              <a:t> được tính dựa trên sự xem xét một trò chơi chuẩn gồm 2 kết quả:</a:t>
            </a:r>
            <a:endParaRPr/>
          </a:p>
          <a:p>
            <a:pPr indent="-342900" lvl="0" marL="342900" rtl="0" algn="just">
              <a:spcBef>
                <a:spcPts val="400"/>
              </a:spcBef>
              <a:spcAft>
                <a:spcPts val="0"/>
              </a:spcAft>
              <a:buSzPts val="1400"/>
              <a:buFont typeface="Noto Sans Symbols"/>
              <a:buNone/>
            </a:pPr>
            <a:r>
              <a:rPr lang="en-US" sz="2000"/>
              <a:t>		</a:t>
            </a:r>
            <a:r>
              <a:rPr b="1" lang="en-US" sz="2000">
                <a:solidFill>
                  <a:schemeClr val="dk2"/>
                </a:solidFill>
              </a:rPr>
              <a:t>+ Kết quả tốt nhất</a:t>
            </a:r>
            <a:r>
              <a:rPr lang="en-US" sz="2000"/>
              <a:t> có xác suất là P</a:t>
            </a:r>
            <a:endParaRPr/>
          </a:p>
          <a:p>
            <a:pPr indent="-342900" lvl="0" marL="342900" rtl="0" algn="just">
              <a:spcBef>
                <a:spcPts val="400"/>
              </a:spcBef>
              <a:spcAft>
                <a:spcPts val="0"/>
              </a:spcAft>
              <a:buSzPts val="1400"/>
              <a:buFont typeface="Noto Sans Symbols"/>
              <a:buNone/>
            </a:pPr>
            <a:r>
              <a:rPr lang="en-US" sz="2000"/>
              <a:t>		</a:t>
            </a:r>
            <a:r>
              <a:rPr b="1" lang="en-US" sz="2000">
                <a:solidFill>
                  <a:schemeClr val="dk2"/>
                </a:solidFill>
              </a:rPr>
              <a:t>+ Kết quả xấu nhất</a:t>
            </a:r>
            <a:r>
              <a:rPr lang="en-US" sz="2000"/>
              <a:t> có xác suất là (1 - P)</a:t>
            </a:r>
            <a:endParaRPr/>
          </a:p>
          <a:p>
            <a:pPr indent="-342900" lvl="0" marL="342900" rtl="0" algn="just">
              <a:spcBef>
                <a:spcPts val="1400"/>
              </a:spcBef>
              <a:spcAft>
                <a:spcPts val="0"/>
              </a:spcAft>
              <a:buSzPts val="1400"/>
              <a:buFont typeface="Noto Sans Symbols"/>
              <a:buNone/>
            </a:pPr>
            <a:r>
              <a:rPr lang="en-US" sz="2000"/>
              <a:t>Ta có 2 PA:</a:t>
            </a:r>
            <a:endParaRPr/>
          </a:p>
          <a:p>
            <a:pPr indent="-342900" lvl="0" marL="342900" rtl="0" algn="just">
              <a:spcBef>
                <a:spcPts val="400"/>
              </a:spcBef>
              <a:spcAft>
                <a:spcPts val="0"/>
              </a:spcAft>
              <a:buSzPts val="1400"/>
              <a:buFont typeface="Noto Sans Symbols"/>
              <a:buNone/>
            </a:pPr>
            <a:r>
              <a:rPr lang="en-US" sz="2000"/>
              <a:t>	+ PA 1: Chấp nhận trò chơi, ta sẽ được kết quả tốt nhất hay được kết quả xấu nhất.</a:t>
            </a:r>
            <a:endParaRPr/>
          </a:p>
          <a:p>
            <a:pPr indent="-342900" lvl="0" marL="342900" rtl="0" algn="just">
              <a:spcBef>
                <a:spcPts val="400"/>
              </a:spcBef>
              <a:spcAft>
                <a:spcPts val="0"/>
              </a:spcAft>
              <a:buSzPts val="1400"/>
              <a:buFont typeface="Noto Sans Symbols"/>
              <a:buNone/>
            </a:pPr>
            <a:r>
              <a:rPr lang="en-US" sz="2000"/>
              <a:t>	+ PA 2: Không chấp nhận trò chơi, để được một kết quả chắc chắn tránh được rủi ro.</a:t>
            </a:r>
            <a:endParaRPr/>
          </a:p>
          <a:p>
            <a:pPr indent="-342900" lvl="0" marL="342900" rtl="0" algn="just">
              <a:spcBef>
                <a:spcPts val="1100"/>
              </a:spcBef>
              <a:spcAft>
                <a:spcPts val="0"/>
              </a:spcAft>
              <a:buSzPts val="1400"/>
              <a:buFont typeface="Noto Sans Symbols"/>
              <a:buNone/>
            </a:pPr>
            <a:r>
              <a:rPr b="1" i="1" lang="en-US" sz="2000" u="sng"/>
              <a:t>VĐ:</a:t>
            </a:r>
            <a:r>
              <a:rPr lang="en-US" sz="2000"/>
              <a:t> Xác định xác suất p, để 2 PA này được xem là tương đương đối với người RQĐ</a:t>
            </a:r>
            <a:endParaRPr/>
          </a:p>
        </p:txBody>
      </p:sp>
      <p:sp>
        <p:nvSpPr>
          <p:cNvPr id="733" name="Google Shape;733;p57"/>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transition>
    <p:push dir="r"/>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7" name="Shape 737"/>
        <p:cNvGrpSpPr/>
        <p:nvPr/>
      </p:nvGrpSpPr>
      <p:grpSpPr>
        <a:xfrm>
          <a:off x="0" y="0"/>
          <a:ext cx="0" cy="0"/>
          <a:chOff x="0" y="0"/>
          <a:chExt cx="0" cy="0"/>
        </a:xfrm>
      </p:grpSpPr>
      <p:sp>
        <p:nvSpPr>
          <p:cNvPr id="738" name="Google Shape;738;p58"/>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i="1" lang="en-US" sz="2400"/>
              <a:t> </a:t>
            </a:r>
            <a:r>
              <a:rPr lang="en-US" sz="2400"/>
              <a:t>6.4. RQĐ theo Lý thuyết độ hữu ích</a:t>
            </a:r>
            <a:br>
              <a:rPr b="0" lang="en-US" sz="3100"/>
            </a:br>
            <a:r>
              <a:rPr b="0" lang="en-US" sz="2200">
                <a:solidFill>
                  <a:srgbClr val="000099"/>
                </a:solidFill>
              </a:rPr>
              <a:t>Cách tính Độ hữu ích</a:t>
            </a:r>
            <a:r>
              <a:rPr i="1" lang="en-US" sz="2200">
                <a:solidFill>
                  <a:srgbClr val="000099"/>
                </a:solidFill>
              </a:rPr>
              <a:t> (tt)</a:t>
            </a:r>
            <a:endParaRPr/>
          </a:p>
        </p:txBody>
      </p:sp>
      <p:sp>
        <p:nvSpPr>
          <p:cNvPr id="739" name="Google Shape;739;p58"/>
          <p:cNvSpPr txBox="1"/>
          <p:nvPr>
            <p:ph idx="4294967295"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1" marL="346075" rtl="0" algn="just">
              <a:spcBef>
                <a:spcPts val="0"/>
              </a:spcBef>
              <a:spcAft>
                <a:spcPts val="0"/>
              </a:spcAft>
              <a:buSzPts val="3000"/>
              <a:buFont typeface="Times New Roman"/>
              <a:buNone/>
            </a:pPr>
            <a:r>
              <a:rPr lang="en-US" sz="2000"/>
              <a:t>Đối với người RQĐ, </a:t>
            </a:r>
            <a:r>
              <a:rPr b="1" lang="en-US" sz="2000">
                <a:solidFill>
                  <a:schemeClr val="dk2"/>
                </a:solidFill>
              </a:rPr>
              <a:t>2 PA được xem là tương đương nhau</a:t>
            </a:r>
            <a:r>
              <a:rPr lang="en-US" sz="2000"/>
              <a:t> nếu kỳ vọng độ hữu ích của 2 PA bằng nhau:</a:t>
            </a:r>
            <a:endParaRPr/>
          </a:p>
          <a:p>
            <a:pPr indent="-346075" lvl="1" marL="346075" rtl="0" algn="just">
              <a:spcBef>
                <a:spcPts val="900"/>
              </a:spcBef>
              <a:spcAft>
                <a:spcPts val="0"/>
              </a:spcAft>
              <a:buSzPts val="3000"/>
              <a:buFont typeface="Times New Roman"/>
              <a:buNone/>
            </a:pPr>
            <a:r>
              <a:rPr lang="en-US" sz="2000"/>
              <a:t>Gọi </a:t>
            </a:r>
            <a:r>
              <a:rPr b="1" lang="en-US" sz="2000"/>
              <a:t>EU</a:t>
            </a:r>
            <a:r>
              <a:rPr lang="en-US" sz="2000"/>
              <a:t> là </a:t>
            </a:r>
            <a:r>
              <a:rPr b="1" lang="en-US" sz="2000"/>
              <a:t>kỳ vọng của độ hữu ích</a:t>
            </a:r>
            <a:r>
              <a:rPr lang="en-US" sz="2000"/>
              <a:t> </a:t>
            </a:r>
            <a:r>
              <a:rPr i="1" lang="en-US" sz="2000"/>
              <a:t>(Expected Utility)</a:t>
            </a:r>
            <a:endParaRPr/>
          </a:p>
          <a:p>
            <a:pPr indent="-346075" lvl="1" marL="346075" rtl="0" algn="just">
              <a:spcBef>
                <a:spcPts val="400"/>
              </a:spcBef>
              <a:spcAft>
                <a:spcPts val="0"/>
              </a:spcAft>
              <a:buSzPts val="3000"/>
              <a:buFont typeface="Times New Roman"/>
              <a:buNone/>
            </a:pPr>
            <a:r>
              <a:rPr lang="en-US" sz="2000"/>
              <a:t>	EU (kết quả khác) =   EU (không chơi)</a:t>
            </a:r>
            <a:endParaRPr/>
          </a:p>
          <a:p>
            <a:pPr indent="-346075" lvl="1" marL="346075" rtl="0" algn="just">
              <a:spcBef>
                <a:spcPts val="400"/>
              </a:spcBef>
              <a:spcAft>
                <a:spcPts val="0"/>
              </a:spcAft>
              <a:buSzPts val="3000"/>
              <a:buFont typeface="Times New Roman"/>
              <a:buNone/>
            </a:pPr>
            <a:r>
              <a:rPr lang="en-US" sz="2000"/>
              <a:t>	EU (không chơi)   =   EU(chơi)   =    p x U(T) + (1 - p) x U(X)</a:t>
            </a:r>
            <a:endParaRPr/>
          </a:p>
          <a:p>
            <a:pPr indent="-346075" lvl="1" marL="346075" rtl="0" algn="just">
              <a:spcBef>
                <a:spcPts val="400"/>
              </a:spcBef>
              <a:spcAft>
                <a:spcPts val="0"/>
              </a:spcAft>
              <a:buSzPts val="3000"/>
              <a:buFont typeface="Times New Roman"/>
              <a:buNone/>
            </a:pPr>
            <a:r>
              <a:rPr lang="en-US" sz="2000"/>
              <a:t>		                     =   p x 1 + (1 - p) x 0   =   p</a:t>
            </a:r>
            <a:endParaRPr/>
          </a:p>
          <a:p>
            <a:pPr indent="-346075" lvl="1" marL="346075" rtl="0" algn="just">
              <a:spcBef>
                <a:spcPts val="400"/>
              </a:spcBef>
              <a:spcAft>
                <a:spcPts val="0"/>
              </a:spcAft>
              <a:buSzPts val="3000"/>
              <a:buFont typeface="Times New Roman"/>
              <a:buNone/>
            </a:pPr>
            <a:r>
              <a:rPr lang="en-US" sz="2000"/>
              <a:t>	EU (kết quả khác) =  p</a:t>
            </a:r>
            <a:endParaRPr/>
          </a:p>
          <a:p>
            <a:pPr indent="-346075" lvl="1" marL="346075" rtl="0" algn="just">
              <a:spcBef>
                <a:spcPts val="800"/>
              </a:spcBef>
              <a:spcAft>
                <a:spcPts val="0"/>
              </a:spcAft>
              <a:buSzPts val="3000"/>
              <a:buFont typeface="Times New Roman"/>
              <a:buNone/>
            </a:pPr>
            <a:r>
              <a:rPr b="1" lang="en-US" sz="2000" u="sng"/>
              <a:t>Kết luận:</a:t>
            </a:r>
            <a:endParaRPr/>
          </a:p>
          <a:p>
            <a:pPr indent="-346075" lvl="1" marL="346075" rtl="0" algn="just">
              <a:spcBef>
                <a:spcPts val="400"/>
              </a:spcBef>
              <a:spcAft>
                <a:spcPts val="0"/>
              </a:spcAft>
              <a:buSzPts val="3000"/>
              <a:buFont typeface="Times New Roman"/>
              <a:buChar char="•"/>
            </a:pPr>
            <a:r>
              <a:rPr lang="en-US" sz="2000"/>
              <a:t>p chính là kỳ vọng của độ hữu ích để làm cho 2 PA tương đương nhau đối với người RQĐ.</a:t>
            </a:r>
            <a:endParaRPr/>
          </a:p>
          <a:p>
            <a:pPr indent="-346075" lvl="1" marL="346075" rtl="0" algn="just">
              <a:spcBef>
                <a:spcPts val="400"/>
              </a:spcBef>
              <a:spcAft>
                <a:spcPts val="0"/>
              </a:spcAft>
              <a:buSzPts val="3000"/>
              <a:buFont typeface="Times New Roman"/>
              <a:buChar char="•"/>
            </a:pPr>
            <a:r>
              <a:rPr lang="en-US" sz="2000"/>
              <a:t>Như vậy, độ hữu ích hoàn toàn chủ quan, tùy thuộc vào mức độ cảm nhận về rủi ro của người RQĐ.</a:t>
            </a:r>
            <a:endParaRPr sz="2000">
              <a:solidFill>
                <a:srgbClr val="000099"/>
              </a:solidFill>
            </a:endParaRPr>
          </a:p>
        </p:txBody>
      </p:sp>
      <p:sp>
        <p:nvSpPr>
          <p:cNvPr id="740" name="Google Shape;740;p58"/>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741" name="Google Shape;741;p58"/>
          <p:cNvPicPr preferRelativeResize="0"/>
          <p:nvPr/>
        </p:nvPicPr>
        <p:blipFill rotWithShape="1">
          <a:blip r:embed="rId3">
            <a:alphaModFix/>
          </a:blip>
          <a:srcRect b="0" l="0" r="0" t="0"/>
          <a:stretch/>
        </p:blipFill>
        <p:spPr>
          <a:xfrm>
            <a:off x="3733800" y="0"/>
            <a:ext cx="5334000" cy="2000250"/>
          </a:xfrm>
          <a:prstGeom prst="rect">
            <a:avLst/>
          </a:prstGeom>
          <a:noFill/>
          <a:ln>
            <a:noFill/>
          </a:ln>
        </p:spPr>
      </p:pic>
    </p:spTree>
  </p:cSld>
  <p:clrMapOvr>
    <a:masterClrMapping/>
  </p:clrMapOvr>
  <p:transition>
    <p:push dir="r"/>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59"/>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400">
                <a:solidFill>
                  <a:schemeClr val="dk1"/>
                </a:solidFill>
              </a:rPr>
              <a:t>6.4. RQĐ theo Lý thuyết độ hữu ích</a:t>
            </a:r>
            <a:br>
              <a:rPr lang="en-US" sz="2400">
                <a:solidFill>
                  <a:schemeClr val="dk1"/>
                </a:solidFill>
              </a:rPr>
            </a:br>
            <a:r>
              <a:rPr b="0" lang="en-US" sz="2200">
                <a:solidFill>
                  <a:srgbClr val="000099"/>
                </a:solidFill>
              </a:rPr>
              <a:t>Cách tính Độ hữu ích</a:t>
            </a:r>
            <a:r>
              <a:rPr i="1" lang="en-US" sz="2200">
                <a:solidFill>
                  <a:srgbClr val="000099"/>
                </a:solidFill>
              </a:rPr>
              <a:t> (tt)</a:t>
            </a:r>
            <a:endParaRPr b="0" sz="2200">
              <a:solidFill>
                <a:srgbClr val="000099"/>
              </a:solidFill>
            </a:endParaRPr>
          </a:p>
        </p:txBody>
      </p:sp>
      <p:sp>
        <p:nvSpPr>
          <p:cNvPr id="747" name="Google Shape;747;p59"/>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748" name="Google Shape;748;p59"/>
          <p:cNvSpPr/>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6075" lvl="1" marL="346075" marR="0" rtl="0" algn="just">
              <a:lnSpc>
                <a:spcPct val="115000"/>
              </a:lnSpc>
              <a:spcBef>
                <a:spcPts val="0"/>
              </a:spcBef>
              <a:spcAft>
                <a:spcPts val="0"/>
              </a:spcAft>
              <a:buNone/>
            </a:pPr>
            <a:r>
              <a:rPr b="1" i="1" lang="en-US" sz="2000" u="sng" cap="none" strike="noStrike">
                <a:solidFill>
                  <a:schemeClr val="dk1"/>
                </a:solidFill>
                <a:latin typeface="Times New Roman"/>
                <a:ea typeface="Times New Roman"/>
                <a:cs typeface="Times New Roman"/>
                <a:sym typeface="Times New Roman"/>
              </a:rPr>
              <a:t>VD:</a:t>
            </a:r>
            <a:r>
              <a:rPr b="0" i="0" lang="en-US" sz="2000" u="none" cap="none" strike="noStrike">
                <a:solidFill>
                  <a:schemeClr val="dk1"/>
                </a:solidFill>
                <a:latin typeface="Times New Roman"/>
                <a:ea typeface="Times New Roman"/>
                <a:cs typeface="Times New Roman"/>
                <a:sym typeface="Times New Roman"/>
              </a:rPr>
              <a:t>  Cô X muốn vẽ đường độ hữu ích đối với tiền, từ 0 đến 10.000 </a:t>
            </a:r>
            <a:endParaRPr/>
          </a:p>
          <a:p>
            <a:pPr indent="-346075" lvl="1" marL="346075" marR="0" rtl="0" algn="just">
              <a:lnSpc>
                <a:spcPct val="115000"/>
              </a:lnSpc>
              <a:spcBef>
                <a:spcPts val="700"/>
              </a:spcBef>
              <a:spcAft>
                <a:spcPts val="0"/>
              </a:spcAft>
              <a:buNone/>
            </a:pPr>
            <a:r>
              <a:rPr b="0" i="0" lang="en-US" sz="2000" u="none" cap="none" strike="noStrike">
                <a:solidFill>
                  <a:schemeClr val="dk1"/>
                </a:solidFill>
                <a:latin typeface="Times New Roman"/>
                <a:ea typeface="Times New Roman"/>
                <a:cs typeface="Times New Roman"/>
                <a:sym typeface="Times New Roman"/>
              </a:rPr>
              <a:t>			với U(10.000) = 1	 và	U (0) = 0</a:t>
            </a:r>
            <a:endParaRPr/>
          </a:p>
          <a:p>
            <a:pPr indent="-346075" lvl="1" marL="346075" marR="0" rtl="0" algn="just">
              <a:lnSpc>
                <a:spcPct val="115000"/>
              </a:lnSpc>
              <a:spcBef>
                <a:spcPts val="700"/>
              </a:spcBef>
              <a:spcAft>
                <a:spcPts val="0"/>
              </a:spcAft>
              <a:buNone/>
            </a:pPr>
            <a:r>
              <a:rPr b="0" i="0" lang="en-US" sz="2000" u="none" cap="none" strike="noStrike">
                <a:solidFill>
                  <a:schemeClr val="dk1"/>
                </a:solidFill>
                <a:latin typeface="Times New Roman"/>
                <a:ea typeface="Times New Roman"/>
                <a:cs typeface="Times New Roman"/>
                <a:sym typeface="Times New Roman"/>
              </a:rPr>
              <a:t>	Cô X có một số tiền, cô có thể mua bất động sản hoặc bỏ vào quỹ tiết kiệm của ngân hàng. Nếu cô X đầu tư vào bất động sản thì sau 3 năm cô thu được 10.000 hoặc là bị mất trắng. Nếu cô X gửi tiết kiệm thì sau 3 năm sẽ chắc chắn thu được 5.000đ.</a:t>
            </a:r>
            <a:endParaRPr/>
          </a:p>
          <a:p>
            <a:pPr indent="-346075" lvl="1" marL="346075" marR="0" rtl="0" algn="just">
              <a:lnSpc>
                <a:spcPct val="115000"/>
              </a:lnSpc>
              <a:spcBef>
                <a:spcPts val="700"/>
              </a:spcBef>
              <a:spcAft>
                <a:spcPts val="0"/>
              </a:spcAft>
              <a:buNone/>
            </a:pPr>
            <a:r>
              <a:rPr b="0" i="0" lang="en-US" sz="2000" u="none" cap="none" strike="noStrike">
                <a:solidFill>
                  <a:schemeClr val="dk1"/>
                </a:solidFill>
                <a:latin typeface="Times New Roman"/>
                <a:ea typeface="Times New Roman"/>
                <a:cs typeface="Times New Roman"/>
                <a:sym typeface="Times New Roman"/>
              </a:rPr>
              <a:t>	Về mặt chủ quan, cô X cho rằng nếu 80% có cơ may thu được 10.000đ sau 3 năm thì cô X mới đầu tư vào bất động sản nếu không cô X sẽ gửi tiết kiệm.</a:t>
            </a:r>
            <a:endParaRPr/>
          </a:p>
          <a:p>
            <a:pPr indent="-346075" lvl="1" marL="346075" marR="0" rtl="0" algn="just">
              <a:lnSpc>
                <a:spcPct val="115000"/>
              </a:lnSpc>
              <a:spcBef>
                <a:spcPts val="700"/>
              </a:spcBef>
              <a:spcAft>
                <a:spcPts val="0"/>
              </a:spcAft>
              <a:buNone/>
            </a:pPr>
            <a:r>
              <a:rPr b="0" i="0" lang="en-US" sz="2000" u="none" cap="none" strike="noStrike">
                <a:solidFill>
                  <a:schemeClr val="dk1"/>
                </a:solidFill>
                <a:latin typeface="Times New Roman"/>
                <a:ea typeface="Times New Roman"/>
                <a:cs typeface="Times New Roman"/>
                <a:sym typeface="Times New Roman"/>
              </a:rPr>
              <a:t>	Như vậy với xác suất p = 0.8 để mua bất động sản thành công thì 2 PA mua bất động sản và gửi tiền tiết kiệm là như nhau.</a:t>
            </a:r>
            <a:endParaRPr/>
          </a:p>
        </p:txBody>
      </p:sp>
    </p:spTree>
  </p:cSld>
  <p:clrMapOvr>
    <a:masterClrMapping/>
  </p:clrMapOvr>
  <p:transition>
    <p:push dir="r"/>
  </p:transition>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60"/>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400">
                <a:solidFill>
                  <a:schemeClr val="dk1"/>
                </a:solidFill>
              </a:rPr>
              <a:t>6.4. RQĐ theo Lý thuyết độ hữu ích</a:t>
            </a:r>
            <a:br>
              <a:rPr lang="en-US" sz="2400">
                <a:solidFill>
                  <a:schemeClr val="dk1"/>
                </a:solidFill>
              </a:rPr>
            </a:br>
            <a:r>
              <a:rPr b="0" lang="en-US" sz="2200">
                <a:solidFill>
                  <a:srgbClr val="000099"/>
                </a:solidFill>
              </a:rPr>
              <a:t>Cách tính Độ hữu ích</a:t>
            </a:r>
            <a:r>
              <a:rPr i="1" lang="en-US" sz="2200">
                <a:solidFill>
                  <a:srgbClr val="000099"/>
                </a:solidFill>
              </a:rPr>
              <a:t> (tt)</a:t>
            </a:r>
            <a:endParaRPr b="0" sz="2200">
              <a:solidFill>
                <a:srgbClr val="000099"/>
              </a:solidFill>
            </a:endParaRPr>
          </a:p>
        </p:txBody>
      </p:sp>
      <p:sp>
        <p:nvSpPr>
          <p:cNvPr id="754" name="Google Shape;754;p60"/>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755" name="Google Shape;755;p60"/>
          <p:cNvSpPr/>
          <p:nvPr/>
        </p:nvSpPr>
        <p:spPr>
          <a:xfrm>
            <a:off x="762000" y="1752600"/>
            <a:ext cx="7696200" cy="4572000"/>
          </a:xfrm>
          <a:prstGeom prst="rect">
            <a:avLst/>
          </a:prstGeom>
          <a:noFill/>
          <a:ln>
            <a:noFill/>
          </a:ln>
        </p:spPr>
        <p:txBody>
          <a:bodyPr anchorCtr="0" anchor="t" bIns="45700" lIns="91425" spcFirstLastPara="1" rIns="91425" wrap="square" tIns="45700">
            <a:noAutofit/>
          </a:bodyPr>
          <a:lstStyle/>
          <a:p>
            <a:pPr indent="-346075" lvl="1" marL="346075" marR="0" rtl="0" algn="just">
              <a:spcBef>
                <a:spcPts val="0"/>
              </a:spcBef>
              <a:spcAft>
                <a:spcPts val="0"/>
              </a:spcAft>
              <a:buNone/>
            </a:pPr>
            <a:r>
              <a:rPr b="1" i="1" lang="en-US" sz="2000" u="sng" cap="none" strike="noStrike">
                <a:solidFill>
                  <a:schemeClr val="dk1"/>
                </a:solidFill>
                <a:latin typeface="Times New Roman"/>
                <a:ea typeface="Times New Roman"/>
                <a:cs typeface="Times New Roman"/>
                <a:sym typeface="Times New Roman"/>
              </a:rPr>
              <a:t>VD:</a:t>
            </a:r>
            <a:endParaRPr/>
          </a:p>
          <a:p>
            <a:pPr indent="-346075" lvl="1" marL="346075" marR="0" rtl="0" algn="just">
              <a:spcBef>
                <a:spcPts val="400"/>
              </a:spcBef>
              <a:spcAft>
                <a:spcPts val="0"/>
              </a:spcAft>
              <a:buNone/>
            </a:pPr>
            <a:r>
              <a:t/>
            </a:r>
            <a:endParaRPr b="1" i="1" sz="2000" u="sng" cap="none" strike="noStrike">
              <a:solidFill>
                <a:schemeClr val="dk1"/>
              </a:solidFill>
              <a:latin typeface="Times New Roman"/>
              <a:ea typeface="Times New Roman"/>
              <a:cs typeface="Times New Roman"/>
              <a:sym typeface="Times New Roman"/>
            </a:endParaRPr>
          </a:p>
        </p:txBody>
      </p:sp>
      <p:pic>
        <p:nvPicPr>
          <p:cNvPr id="756" name="Google Shape;756;p60"/>
          <p:cNvPicPr preferRelativeResize="0"/>
          <p:nvPr/>
        </p:nvPicPr>
        <p:blipFill rotWithShape="1">
          <a:blip r:embed="rId3">
            <a:alphaModFix/>
          </a:blip>
          <a:srcRect b="0" l="0" r="0" t="0"/>
          <a:stretch/>
        </p:blipFill>
        <p:spPr>
          <a:xfrm>
            <a:off x="1981200" y="4278313"/>
            <a:ext cx="7162800" cy="2427287"/>
          </a:xfrm>
          <a:prstGeom prst="rect">
            <a:avLst/>
          </a:prstGeom>
          <a:noFill/>
          <a:ln>
            <a:noFill/>
          </a:ln>
        </p:spPr>
      </p:pic>
      <p:pic>
        <p:nvPicPr>
          <p:cNvPr id="757" name="Google Shape;757;p60"/>
          <p:cNvPicPr preferRelativeResize="0"/>
          <p:nvPr/>
        </p:nvPicPr>
        <p:blipFill rotWithShape="1">
          <a:blip r:embed="rId4">
            <a:alphaModFix/>
          </a:blip>
          <a:srcRect b="0" l="0" r="0" t="0"/>
          <a:stretch/>
        </p:blipFill>
        <p:spPr>
          <a:xfrm>
            <a:off x="5105400" y="0"/>
            <a:ext cx="4038600" cy="3733800"/>
          </a:xfrm>
          <a:prstGeom prst="rect">
            <a:avLst/>
          </a:prstGeom>
          <a:noFill/>
          <a:ln>
            <a:noFill/>
          </a:ln>
        </p:spPr>
      </p:pic>
      <p:sp>
        <p:nvSpPr>
          <p:cNvPr id="758" name="Google Shape;758;p60"/>
          <p:cNvSpPr txBox="1"/>
          <p:nvPr/>
        </p:nvSpPr>
        <p:spPr>
          <a:xfrm>
            <a:off x="762000" y="2060575"/>
            <a:ext cx="4648200" cy="25511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Times New Roman"/>
                <a:ea typeface="Times New Roman"/>
                <a:cs typeface="Times New Roman"/>
                <a:sym typeface="Times New Roman"/>
              </a:rPr>
              <a:t>Ta có:   U(5.000) = p = 0.8 đối với cô X.</a:t>
            </a:r>
            <a:endParaRPr/>
          </a:p>
          <a:p>
            <a:pPr indent="0" lvl="0" marL="0" marR="0" rtl="0" algn="l">
              <a:spcBef>
                <a:spcPts val="540"/>
              </a:spcBef>
              <a:spcAft>
                <a:spcPts val="0"/>
              </a:spcAft>
              <a:buNone/>
            </a:pPr>
            <a:r>
              <a:rPr b="0" i="0" lang="en-US" sz="1800" u="none" cap="none" strike="noStrike">
                <a:solidFill>
                  <a:schemeClr val="dk1"/>
                </a:solidFill>
                <a:latin typeface="Times New Roman"/>
                <a:ea typeface="Times New Roman"/>
                <a:cs typeface="Times New Roman"/>
                <a:sym typeface="Times New Roman"/>
              </a:rPr>
              <a:t>Tương tự, nếu gửi tiết kiệm vào ngân hàng sau 3 năm cô X thu được 7.000 đ thì p=? Nếu là 3.000 thì p=?</a:t>
            </a:r>
            <a:endParaRPr/>
          </a:p>
          <a:p>
            <a:pPr indent="0" lvl="0" marL="0" marR="0" rtl="0" algn="l">
              <a:spcBef>
                <a:spcPts val="540"/>
              </a:spcBef>
              <a:spcAft>
                <a:spcPts val="0"/>
              </a:spcAft>
              <a:buNone/>
            </a:pPr>
            <a:r>
              <a:rPr b="0" i="0" lang="en-US" sz="1800" u="none" cap="none" strike="noStrike">
                <a:solidFill>
                  <a:schemeClr val="dk1"/>
                </a:solidFill>
                <a:latin typeface="Times New Roman"/>
                <a:ea typeface="Times New Roman"/>
                <a:cs typeface="Times New Roman"/>
                <a:sym typeface="Times New Roman"/>
              </a:rPr>
              <a:t>Giả sử đối với cô X	U(7.000) = 90% = 0.9</a:t>
            </a:r>
            <a:endParaRPr/>
          </a:p>
          <a:p>
            <a:pPr indent="0" lvl="0" marL="0" marR="0" rtl="0" algn="l">
              <a:spcBef>
                <a:spcPts val="90"/>
              </a:spcBef>
              <a:spcAft>
                <a:spcPts val="0"/>
              </a:spcAft>
              <a:buNone/>
            </a:pPr>
            <a:r>
              <a:rPr b="0" i="0" lang="en-US" sz="1800" u="none" cap="none" strike="noStrike">
                <a:solidFill>
                  <a:schemeClr val="dk1"/>
                </a:solidFill>
                <a:latin typeface="Times New Roman"/>
                <a:ea typeface="Times New Roman"/>
                <a:cs typeface="Times New Roman"/>
                <a:sym typeface="Times New Roman"/>
              </a:rPr>
              <a:t>U(3.000) = 50% = 0.5</a:t>
            </a:r>
            <a:endParaRPr/>
          </a:p>
          <a:p>
            <a:pPr indent="0" lvl="0" marL="0" marR="0" rtl="0" algn="l">
              <a:spcBef>
                <a:spcPts val="540"/>
              </a:spcBef>
              <a:spcAft>
                <a:spcPts val="0"/>
              </a:spcAft>
              <a:buNone/>
            </a:pPr>
            <a:r>
              <a:rPr b="0" i="0" lang="en-US" sz="1800" u="none" cap="none" strike="noStrike">
                <a:solidFill>
                  <a:schemeClr val="dk1"/>
                </a:solidFill>
                <a:latin typeface="Times New Roman"/>
                <a:ea typeface="Times New Roman"/>
                <a:cs typeface="Times New Roman"/>
                <a:sym typeface="Times New Roman"/>
              </a:rPr>
              <a:t>Dựa vào các số liệu trên, ta vẽ ra </a:t>
            </a:r>
            <a:r>
              <a:rPr b="1" i="0" lang="en-US" sz="1800" u="none" cap="none" strike="noStrike">
                <a:solidFill>
                  <a:schemeClr val="dk1"/>
                </a:solidFill>
                <a:latin typeface="Times New Roman"/>
                <a:ea typeface="Times New Roman"/>
                <a:cs typeface="Times New Roman"/>
                <a:sym typeface="Times New Roman"/>
              </a:rPr>
              <a:t>đường cong độ hữu ích đối với tiền của cô X</a:t>
            </a:r>
            <a:endParaRPr/>
          </a:p>
        </p:txBody>
      </p:sp>
    </p:spTree>
  </p:cSld>
  <p:clrMapOvr>
    <a:masterClrMapping/>
  </p:clrMapOvr>
  <p:transition>
    <p:push dir="r"/>
  </p:transition>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61"/>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400">
                <a:solidFill>
                  <a:schemeClr val="dk1"/>
                </a:solidFill>
              </a:rPr>
              <a:t>6.4. RQĐ theo Lý thuyết độ hữu ích</a:t>
            </a:r>
            <a:br>
              <a:rPr lang="en-US" sz="3100"/>
            </a:br>
            <a:r>
              <a:rPr b="0" lang="en-US" sz="2200">
                <a:solidFill>
                  <a:srgbClr val="000099"/>
                </a:solidFill>
              </a:rPr>
              <a:t>Cách tính Độ hữu ích</a:t>
            </a:r>
            <a:r>
              <a:rPr i="1" lang="en-US" sz="2200">
                <a:solidFill>
                  <a:srgbClr val="000099"/>
                </a:solidFill>
              </a:rPr>
              <a:t> (tt)</a:t>
            </a:r>
            <a:endParaRPr b="0" sz="2200">
              <a:solidFill>
                <a:srgbClr val="000099"/>
              </a:solidFill>
            </a:endParaRPr>
          </a:p>
        </p:txBody>
      </p:sp>
      <p:sp>
        <p:nvSpPr>
          <p:cNvPr id="764" name="Google Shape;764;p61"/>
          <p:cNvSpPr txBox="1"/>
          <p:nvPr>
            <p:ph idx="4294967295" type="body"/>
          </p:nvPr>
        </p:nvSpPr>
        <p:spPr>
          <a:xfrm>
            <a:off x="762000" y="1905000"/>
            <a:ext cx="7696200" cy="4572000"/>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1960"/>
              <a:buChar char="●"/>
            </a:pPr>
            <a:r>
              <a:rPr b="1" lang="en-US" sz="2800"/>
              <a:t>Các dạng đường cong  hữu ích</a:t>
            </a:r>
            <a:endParaRPr/>
          </a:p>
        </p:txBody>
      </p:sp>
      <p:sp>
        <p:nvSpPr>
          <p:cNvPr id="765" name="Google Shape;765;p61"/>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766" name="Google Shape;766;p61"/>
          <p:cNvPicPr preferRelativeResize="0"/>
          <p:nvPr/>
        </p:nvPicPr>
        <p:blipFill rotWithShape="1">
          <a:blip r:embed="rId3">
            <a:alphaModFix/>
          </a:blip>
          <a:srcRect b="0" l="0" r="0" t="0"/>
          <a:stretch/>
        </p:blipFill>
        <p:spPr>
          <a:xfrm>
            <a:off x="304800" y="2667000"/>
            <a:ext cx="3603625" cy="3133725"/>
          </a:xfrm>
          <a:prstGeom prst="rect">
            <a:avLst/>
          </a:prstGeom>
          <a:noFill/>
          <a:ln>
            <a:noFill/>
          </a:ln>
        </p:spPr>
      </p:pic>
      <p:pic>
        <p:nvPicPr>
          <p:cNvPr id="767" name="Google Shape;767;p61"/>
          <p:cNvPicPr preferRelativeResize="0"/>
          <p:nvPr/>
        </p:nvPicPr>
        <p:blipFill rotWithShape="1">
          <a:blip r:embed="rId4">
            <a:alphaModFix/>
          </a:blip>
          <a:srcRect b="0" l="0" r="0" t="0"/>
          <a:stretch/>
        </p:blipFill>
        <p:spPr>
          <a:xfrm>
            <a:off x="3406775" y="2828925"/>
            <a:ext cx="2994025" cy="2962275"/>
          </a:xfrm>
          <a:prstGeom prst="rect">
            <a:avLst/>
          </a:prstGeom>
          <a:noFill/>
          <a:ln>
            <a:noFill/>
          </a:ln>
        </p:spPr>
      </p:pic>
      <p:pic>
        <p:nvPicPr>
          <p:cNvPr id="768" name="Google Shape;768;p61"/>
          <p:cNvPicPr preferRelativeResize="0"/>
          <p:nvPr/>
        </p:nvPicPr>
        <p:blipFill rotWithShape="1">
          <a:blip r:embed="rId5">
            <a:alphaModFix/>
          </a:blip>
          <a:srcRect b="0" l="0" r="0" t="0"/>
          <a:stretch/>
        </p:blipFill>
        <p:spPr>
          <a:xfrm>
            <a:off x="5867400" y="2971800"/>
            <a:ext cx="2944813" cy="2921000"/>
          </a:xfrm>
          <a:prstGeom prst="rect">
            <a:avLst/>
          </a:prstGeom>
          <a:noFill/>
          <a:ln>
            <a:noFill/>
          </a:ln>
        </p:spPr>
      </p:pic>
    </p:spTree>
  </p:cSld>
  <p:clrMapOvr>
    <a:masterClrMapping/>
  </p:clrMapOvr>
  <p:transition>
    <p:push dir="r"/>
  </p:transition>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2"/>
          <p:cNvSpPr txBox="1"/>
          <p:nvPr>
            <p:ph idx="4294967295" type="title"/>
          </p:nvPr>
        </p:nvSpPr>
        <p:spPr>
          <a:xfrm>
            <a:off x="762000" y="533400"/>
            <a:ext cx="8229600" cy="1143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lang="en-US" sz="2400">
                <a:solidFill>
                  <a:schemeClr val="dk1"/>
                </a:solidFill>
              </a:rPr>
              <a:t>6.4. RQĐ theo Lý thuyết độ hữu ích</a:t>
            </a:r>
            <a:br>
              <a:rPr lang="en-US" sz="2400">
                <a:solidFill>
                  <a:schemeClr val="dk1"/>
                </a:solidFill>
              </a:rPr>
            </a:br>
            <a:r>
              <a:rPr lang="en-US" sz="2400">
                <a:solidFill>
                  <a:schemeClr val="dk1"/>
                </a:solidFill>
              </a:rPr>
              <a:t>    </a:t>
            </a:r>
            <a:r>
              <a:rPr lang="en-US" sz="2200">
                <a:solidFill>
                  <a:srgbClr val="000099"/>
                </a:solidFill>
              </a:rPr>
              <a:t>Đánh giá PA bằng Độ hữu ích</a:t>
            </a:r>
            <a:r>
              <a:rPr b="0" lang="en-US" sz="2200">
                <a:solidFill>
                  <a:schemeClr val="dk1"/>
                </a:solidFill>
              </a:rPr>
              <a:t> </a:t>
            </a:r>
            <a:endParaRPr/>
          </a:p>
        </p:txBody>
      </p:sp>
      <p:sp>
        <p:nvSpPr>
          <p:cNvPr id="774" name="Google Shape;774;p62"/>
          <p:cNvSpPr txBox="1"/>
          <p:nvPr>
            <p:ph idx="4294967295" type="body"/>
          </p:nvPr>
        </p:nvSpPr>
        <p:spPr>
          <a:xfrm>
            <a:off x="762000" y="1905000"/>
            <a:ext cx="7620000" cy="4572000"/>
          </a:xfrm>
          <a:prstGeom prst="rect">
            <a:avLst/>
          </a:prstGeom>
          <a:noFill/>
          <a:ln>
            <a:noFill/>
          </a:ln>
        </p:spPr>
        <p:txBody>
          <a:bodyPr anchorCtr="0" anchor="t" bIns="45700" lIns="91425" spcFirstLastPara="1" rIns="91425" wrap="square" tIns="45700">
            <a:noAutofit/>
          </a:bodyPr>
          <a:lstStyle/>
          <a:p>
            <a:pPr indent="-342900" lvl="0" marL="342900" rtl="0" algn="just">
              <a:lnSpc>
                <a:spcPct val="120000"/>
              </a:lnSpc>
              <a:spcBef>
                <a:spcPts val="0"/>
              </a:spcBef>
              <a:spcAft>
                <a:spcPts val="0"/>
              </a:spcAft>
              <a:buSzPts val="1400"/>
              <a:buFont typeface="Noto Sans Symbols"/>
              <a:buNone/>
            </a:pPr>
            <a:r>
              <a:rPr b="1" i="1" lang="en-US" sz="2000" u="sng"/>
              <a:t>VD:</a:t>
            </a:r>
            <a:r>
              <a:rPr lang="en-US" sz="2000"/>
              <a:t>  </a:t>
            </a:r>
            <a:r>
              <a:rPr i="1" lang="en-US" sz="2000"/>
              <a:t>Ông B xem xét có nên tham gia đầu tư vào một dự án hay không. Nếu dự án thành công Ông B thu được 10.000 trái lại mất 10.000. Theo Ông B dự án có 45% cơ may thành công. Ngoài ra đường độ hữu ích của Ông B có dạng sau</a:t>
            </a:r>
            <a:endParaRPr/>
          </a:p>
          <a:p>
            <a:pPr indent="-342900" lvl="0" marL="342900" rtl="0" algn="just">
              <a:spcBef>
                <a:spcPts val="400"/>
              </a:spcBef>
              <a:spcAft>
                <a:spcPts val="0"/>
              </a:spcAft>
              <a:buSzPts val="1400"/>
              <a:buFont typeface="Noto Sans Symbols"/>
              <a:buNone/>
            </a:pPr>
            <a:r>
              <a:rPr b="1" i="1" lang="en-US" sz="2000" u="sng"/>
              <a:t>VĐ:</a:t>
            </a:r>
            <a:r>
              <a:rPr lang="en-US" sz="2000"/>
              <a:t> Ông B có tham gia đầu tư vào dự án này không?</a:t>
            </a:r>
            <a:endParaRPr/>
          </a:p>
        </p:txBody>
      </p:sp>
      <p:sp>
        <p:nvSpPr>
          <p:cNvPr id="775" name="Google Shape;775;p62"/>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776" name="Google Shape;776;p62"/>
          <p:cNvPicPr preferRelativeResize="0"/>
          <p:nvPr/>
        </p:nvPicPr>
        <p:blipFill rotWithShape="1">
          <a:blip r:embed="rId3">
            <a:alphaModFix/>
          </a:blip>
          <a:srcRect b="0" l="0" r="0" t="0"/>
          <a:stretch/>
        </p:blipFill>
        <p:spPr>
          <a:xfrm>
            <a:off x="2209800" y="3810000"/>
            <a:ext cx="3810000" cy="2514600"/>
          </a:xfrm>
          <a:prstGeom prst="rect">
            <a:avLst/>
          </a:prstGeom>
          <a:noFill/>
          <a:ln>
            <a:noFill/>
          </a:ln>
        </p:spPr>
      </p:pic>
    </p:spTree>
  </p:cSld>
  <p:clrMapOvr>
    <a:masterClrMapping/>
  </p:clrMapOvr>
  <p:transition>
    <p:push dir="r"/>
  </p:transition>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p63"/>
          <p:cNvSpPr txBox="1"/>
          <p:nvPr>
            <p:ph idx="4294967295" type="title"/>
          </p:nvPr>
        </p:nvSpPr>
        <p:spPr>
          <a:xfrm>
            <a:off x="762000" y="152400"/>
            <a:ext cx="8229600" cy="15240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sz="2900"/>
              <a:t>6. RQĐ theo mô hình toán trong PPĐL </a:t>
            </a:r>
            <a:r>
              <a:rPr b="0" i="1" lang="en-US" sz="2900"/>
              <a:t>(tt)</a:t>
            </a:r>
            <a:br>
              <a:rPr b="0" i="1" lang="en-US" sz="2900"/>
            </a:br>
            <a:r>
              <a:rPr i="1" lang="en-US" sz="2800">
                <a:solidFill>
                  <a:schemeClr val="dk1"/>
                </a:solidFill>
              </a:rPr>
              <a:t> </a:t>
            </a:r>
            <a:r>
              <a:rPr lang="en-US" sz="2800">
                <a:solidFill>
                  <a:schemeClr val="dk1"/>
                </a:solidFill>
              </a:rPr>
              <a:t>6.4. RQĐ theo Lý thuyết độ hữu ích</a:t>
            </a:r>
            <a:br>
              <a:rPr b="0" lang="en-US" sz="3100">
                <a:solidFill>
                  <a:srgbClr val="000099"/>
                </a:solidFill>
              </a:rPr>
            </a:br>
            <a:r>
              <a:rPr b="0" lang="en-US" sz="3100">
                <a:solidFill>
                  <a:srgbClr val="000099"/>
                </a:solidFill>
              </a:rPr>
              <a:t>     </a:t>
            </a:r>
            <a:r>
              <a:rPr lang="en-US" sz="2200">
                <a:solidFill>
                  <a:srgbClr val="000099"/>
                </a:solidFill>
              </a:rPr>
              <a:t>Đánh giá PA bằng Độ hữu ích </a:t>
            </a:r>
            <a:r>
              <a:rPr i="1" lang="en-US" sz="2200">
                <a:solidFill>
                  <a:srgbClr val="000099"/>
                </a:solidFill>
              </a:rPr>
              <a:t>(tt)</a:t>
            </a:r>
            <a:endParaRPr/>
          </a:p>
        </p:txBody>
      </p:sp>
      <p:sp>
        <p:nvSpPr>
          <p:cNvPr id="782" name="Google Shape;782;p63"/>
          <p:cNvSpPr txBox="1"/>
          <p:nvPr/>
        </p:nvSpPr>
        <p:spPr>
          <a:xfrm>
            <a:off x="6858000" y="6400800"/>
            <a:ext cx="1600200" cy="4572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pic>
        <p:nvPicPr>
          <p:cNvPr id="783" name="Google Shape;783;p63"/>
          <p:cNvPicPr preferRelativeResize="0"/>
          <p:nvPr/>
        </p:nvPicPr>
        <p:blipFill rotWithShape="1">
          <a:blip r:embed="rId3">
            <a:alphaModFix/>
          </a:blip>
          <a:srcRect b="0" l="0" r="0" t="0"/>
          <a:stretch/>
        </p:blipFill>
        <p:spPr>
          <a:xfrm>
            <a:off x="1219200" y="1752600"/>
            <a:ext cx="6486525" cy="2087563"/>
          </a:xfrm>
          <a:prstGeom prst="rect">
            <a:avLst/>
          </a:prstGeom>
          <a:noFill/>
          <a:ln>
            <a:noFill/>
          </a:ln>
        </p:spPr>
      </p:pic>
      <p:sp>
        <p:nvSpPr>
          <p:cNvPr id="784" name="Google Shape;784;p63"/>
          <p:cNvSpPr txBox="1"/>
          <p:nvPr/>
        </p:nvSpPr>
        <p:spPr>
          <a:xfrm>
            <a:off x="914400" y="3962400"/>
            <a:ext cx="6969125" cy="24082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EU (tham gia) = 0.45   0.3 + 0.55   0.05 = 0.1625</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EU (không tham gia) = 0,15 &lt; 0.1625</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a:t>
            </a:r>
            <a:r>
              <a:rPr b="1" i="1" lang="en-US" sz="2000" u="sng" cap="none" strike="noStrike">
                <a:solidFill>
                  <a:schemeClr val="dk1"/>
                </a:solidFill>
                <a:latin typeface="Times New Roman"/>
                <a:ea typeface="Times New Roman"/>
                <a:cs typeface="Times New Roman"/>
                <a:sym typeface="Times New Roman"/>
              </a:rPr>
              <a:t>Kết luận:</a:t>
            </a:r>
            <a:r>
              <a:rPr b="0" i="0" lang="en-US" sz="2000" u="none" cap="none" strike="noStrike">
                <a:solidFill>
                  <a:schemeClr val="dk1"/>
                </a:solidFill>
                <a:latin typeface="Times New Roman"/>
                <a:ea typeface="Times New Roman"/>
                <a:cs typeface="Times New Roman"/>
                <a:sym typeface="Times New Roman"/>
              </a:rPr>
              <a:t> </a:t>
            </a:r>
            <a:r>
              <a:rPr b="0" i="0" lang="en-US" sz="2000" u="none" cap="none" strike="noStrike">
                <a:solidFill>
                  <a:srgbClr val="000099"/>
                </a:solidFill>
                <a:latin typeface="Times New Roman"/>
                <a:ea typeface="Times New Roman"/>
                <a:cs typeface="Times New Roman"/>
                <a:sym typeface="Times New Roman"/>
              </a:rPr>
              <a:t>Ông B tham gia đầu tư vào dự án.</a:t>
            </a:r>
            <a:endParaRPr/>
          </a:p>
          <a:p>
            <a:pPr indent="0" lvl="0" marL="0" marR="0" rtl="0" algn="l">
              <a:spcBef>
                <a:spcPts val="1200"/>
              </a:spcBef>
              <a:spcAft>
                <a:spcPts val="0"/>
              </a:spcAft>
              <a:buNone/>
            </a:pPr>
            <a:r>
              <a:rPr b="1" i="1" lang="en-US" sz="2000" u="none" cap="none" strike="noStrike">
                <a:solidFill>
                  <a:schemeClr val="dk1"/>
                </a:solidFill>
                <a:latin typeface="Times New Roman"/>
                <a:ea typeface="Times New Roman"/>
                <a:cs typeface="Times New Roman"/>
                <a:sym typeface="Times New Roman"/>
              </a:rPr>
              <a:t>Nếu dùng EMV:</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EMV (tham gia) = 0.45 x 10.000 + 0.55(-10.000) = -1000</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EMV (không tham gia) = 0 &gt; - 1000</a:t>
            </a:r>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	Nếu theo EMV thì  </a:t>
            </a:r>
            <a:r>
              <a:rPr b="0" i="0" lang="en-US" sz="2000" u="none" cap="none" strike="noStrike">
                <a:solidFill>
                  <a:srgbClr val="000099"/>
                </a:solidFill>
                <a:latin typeface="Times New Roman"/>
                <a:ea typeface="Times New Roman"/>
                <a:cs typeface="Times New Roman"/>
                <a:sym typeface="Times New Roman"/>
              </a:rPr>
              <a:t>Ông B không tham gia.</a:t>
            </a:r>
            <a:endParaRPr/>
          </a:p>
        </p:txBody>
      </p:sp>
    </p:spTree>
  </p:cSld>
  <p:clrMapOvr>
    <a:masterClrMapping/>
  </p:clrMapOvr>
  <p:transition>
    <p:push dir="r"/>
  </p:transition>
</p:sld>
</file>

<file path=ppt/theme/theme1.xml><?xml version="1.0" encoding="utf-8"?>
<a:theme xmlns:a="http://schemas.openxmlformats.org/drawingml/2006/main" xmlns:r="http://schemas.openxmlformats.org/officeDocument/2006/relationships" name="Studio">
  <a:themeElements>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2009-02-09T11:31:30Z</dcterms:created>
  <dc:creator>Tung Le</dc:creator>
</cp:coreProperties>
</file>