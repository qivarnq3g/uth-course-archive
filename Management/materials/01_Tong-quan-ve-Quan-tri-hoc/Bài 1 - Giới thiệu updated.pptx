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58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42129" y="1938020"/>
            <a:ext cx="4123690" cy="318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13" Type="http://schemas.openxmlformats.org/officeDocument/2006/relationships/image" Target="../media/image14.jp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12" Type="http://schemas.openxmlformats.org/officeDocument/2006/relationships/image" Target="../media/image13.jp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11" Type="http://schemas.openxmlformats.org/officeDocument/2006/relationships/image" Target="../media/image12.jpg" /><Relationship Id="rId5" Type="http://schemas.openxmlformats.org/officeDocument/2006/relationships/image" Target="../media/image6.png" /><Relationship Id="rId10" Type="http://schemas.openxmlformats.org/officeDocument/2006/relationships/image" Target="../media/image11.png" /><Relationship Id="rId4" Type="http://schemas.openxmlformats.org/officeDocument/2006/relationships/image" Target="../media/image5.png" /><Relationship Id="rId9" Type="http://schemas.openxmlformats.org/officeDocument/2006/relationships/image" Target="../media/image10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CHAPTER</a:t>
            </a:r>
            <a:r>
              <a:rPr lang="en-US" sz="2500" kern="1200" spc="-7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spc="-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1:</a:t>
            </a: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MANAGEMENT</a:t>
            </a:r>
            <a:r>
              <a:rPr lang="en-US" sz="2500" b="1" kern="1200" spc="-1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2500" b="1" kern="1200" spc="-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ORGANIZATION</a:t>
            </a: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Risk management&quot; – 337.010 Ảnh, vector, đối tượng 3D và hình chụp có sẵn |  Shutterstock">
            <a:extLst>
              <a:ext uri="{FF2B5EF4-FFF2-40B4-BE49-F238E27FC236}">
                <a16:creationId xmlns:a16="http://schemas.microsoft.com/office/drawing/2014/main" id="{E93455DF-37F5-4972-E855-4E85DB0922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" t="2655" r="5216" b="5488"/>
          <a:stretch/>
        </p:blipFill>
        <p:spPr bwMode="auto">
          <a:xfrm>
            <a:off x="0" y="1966293"/>
            <a:ext cx="9143999" cy="443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0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LEARNING</a:t>
            </a:r>
            <a:r>
              <a:rPr sz="3200" spc="-135" dirty="0"/>
              <a:t> </a:t>
            </a:r>
            <a:r>
              <a:rPr sz="3200" spc="-10" dirty="0"/>
              <a:t>OUTCOMES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68597" y="1391610"/>
            <a:ext cx="278765" cy="461645"/>
            <a:chOff x="168597" y="1391610"/>
            <a:chExt cx="278765" cy="461645"/>
          </a:xfrm>
        </p:grpSpPr>
        <p:sp>
          <p:nvSpPr>
            <p:cNvPr id="4" name="object 4"/>
            <p:cNvSpPr/>
            <p:nvPr/>
          </p:nvSpPr>
          <p:spPr>
            <a:xfrm>
              <a:off x="168592" y="1391614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8602" y="1407707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10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6123" y="1417985"/>
            <a:ext cx="8453755" cy="333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Explain</a:t>
            </a:r>
            <a:r>
              <a:rPr sz="24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key</a:t>
            </a:r>
            <a:r>
              <a:rPr sz="2400" spc="-5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concepts</a:t>
            </a:r>
            <a:r>
              <a:rPr sz="2400" spc="-5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in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555555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35"/>
              </a:spcBef>
            </a:pPr>
            <a:endParaRPr sz="2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Distinguish</a:t>
            </a:r>
            <a:r>
              <a:rPr sz="24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roles</a:t>
            </a:r>
            <a:r>
              <a:rPr sz="2400" spc="-5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and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functions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manager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in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an</a:t>
            </a:r>
            <a:r>
              <a:rPr sz="2400" spc="-5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555555"/>
                </a:solidFill>
                <a:latin typeface="Arial"/>
                <a:cs typeface="Arial"/>
              </a:rPr>
              <a:t>organization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Distinguish</a:t>
            </a:r>
            <a:r>
              <a:rPr sz="2400" b="1" spc="-1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managerial</a:t>
            </a:r>
            <a:r>
              <a:rPr sz="2400" spc="-10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555555"/>
                </a:solidFill>
                <a:latin typeface="Arial"/>
                <a:cs typeface="Arial"/>
              </a:rPr>
              <a:t>levels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Explain</a:t>
            </a:r>
            <a:r>
              <a:rPr sz="2400" b="1" spc="-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keys</a:t>
            </a:r>
            <a:r>
              <a:rPr sz="2400" spc="-8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55555"/>
                </a:solidFill>
                <a:latin typeface="Arial"/>
                <a:cs typeface="Arial"/>
              </a:rPr>
              <a:t>managerial</a:t>
            </a:r>
            <a:r>
              <a:rPr sz="2400" spc="-7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555555"/>
                </a:solidFill>
                <a:latin typeface="Arial"/>
                <a:cs typeface="Arial"/>
              </a:rPr>
              <a:t>skills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6850" y="2354691"/>
            <a:ext cx="278765" cy="461645"/>
            <a:chOff x="216850" y="2354691"/>
            <a:chExt cx="278765" cy="461645"/>
          </a:xfrm>
        </p:grpSpPr>
        <p:sp>
          <p:nvSpPr>
            <p:cNvPr id="8" name="object 8"/>
            <p:cNvSpPr/>
            <p:nvPr/>
          </p:nvSpPr>
          <p:spPr>
            <a:xfrm>
              <a:off x="216839" y="2354694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90" y="0"/>
                  </a:lnTo>
                  <a:lnTo>
                    <a:pt x="0" y="230555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77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6855" y="2370790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10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16846" y="3430828"/>
            <a:ext cx="278765" cy="461645"/>
            <a:chOff x="216846" y="3430828"/>
            <a:chExt cx="278765" cy="461645"/>
          </a:xfrm>
        </p:grpSpPr>
        <p:sp>
          <p:nvSpPr>
            <p:cNvPr id="11" name="object 11"/>
            <p:cNvSpPr/>
            <p:nvPr/>
          </p:nvSpPr>
          <p:spPr>
            <a:xfrm>
              <a:off x="216839" y="3430828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6850" y="3446926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10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08845" y="4382151"/>
            <a:ext cx="278765" cy="461645"/>
            <a:chOff x="208845" y="4382151"/>
            <a:chExt cx="278765" cy="461645"/>
          </a:xfrm>
        </p:grpSpPr>
        <p:sp>
          <p:nvSpPr>
            <p:cNvPr id="14" name="object 14"/>
            <p:cNvSpPr/>
            <p:nvPr/>
          </p:nvSpPr>
          <p:spPr>
            <a:xfrm>
              <a:off x="208838" y="4382160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8849" y="4398248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10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0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CONTENTS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54573" y="1391610"/>
            <a:ext cx="278765" cy="461645"/>
            <a:chOff x="354573" y="1391610"/>
            <a:chExt cx="278765" cy="461645"/>
          </a:xfrm>
        </p:grpSpPr>
        <p:sp>
          <p:nvSpPr>
            <p:cNvPr id="4" name="object 4"/>
            <p:cNvSpPr/>
            <p:nvPr/>
          </p:nvSpPr>
          <p:spPr>
            <a:xfrm>
              <a:off x="354571" y="1391614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42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42" y="461086"/>
                  </a:lnTo>
                  <a:lnTo>
                    <a:pt x="149364" y="230543"/>
                  </a:lnTo>
                  <a:lnTo>
                    <a:pt x="278142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577" y="1407707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2099" y="1417985"/>
            <a:ext cx="7486015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lvl="1" indent="-5067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05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Some</a:t>
            </a:r>
            <a:r>
              <a:rPr sz="24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Basic</a:t>
            </a:r>
            <a:r>
              <a:rPr sz="2400" b="1" spc="-5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Concepts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335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27050" lvl="1" indent="-506730">
              <a:lnSpc>
                <a:spcPct val="100000"/>
              </a:lnSpc>
              <a:buClr>
                <a:srgbClr val="434343"/>
              </a:buClr>
              <a:buAutoNum type="arabicPeriod"/>
              <a:tabLst>
                <a:tab pos="527050" algn="l"/>
              </a:tabLst>
            </a:pP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Roles</a:t>
            </a:r>
            <a:r>
              <a:rPr sz="2400" b="1" spc="-3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of</a:t>
            </a:r>
            <a:r>
              <a:rPr sz="2400" b="1" spc="-3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a</a:t>
            </a:r>
            <a:r>
              <a:rPr sz="2400" b="1" spc="-3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manager</a:t>
            </a:r>
            <a:r>
              <a:rPr sz="2400" b="1" spc="-3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in</a:t>
            </a:r>
            <a:r>
              <a:rPr sz="2400" b="1" spc="-3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55555"/>
                </a:solidFill>
                <a:latin typeface="Arial"/>
                <a:cs typeface="Arial"/>
              </a:rPr>
              <a:t>an</a:t>
            </a:r>
            <a:r>
              <a:rPr sz="2400" b="1" spc="-3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55555"/>
                </a:solidFill>
                <a:latin typeface="Arial"/>
                <a:cs typeface="Arial"/>
              </a:rPr>
              <a:t>organization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60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27050" lvl="1" indent="-50673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Basic</a:t>
            </a:r>
            <a:r>
              <a:rPr sz="24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functions</a:t>
            </a:r>
            <a:r>
              <a:rPr sz="24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24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sz="24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manager</a:t>
            </a:r>
            <a:r>
              <a:rPr sz="24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in</a:t>
            </a:r>
            <a:r>
              <a:rPr sz="2400" b="1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an</a:t>
            </a:r>
            <a:r>
              <a:rPr sz="2400" b="1" spc="-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organization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19430" lvl="1" indent="-506730">
              <a:lnSpc>
                <a:spcPct val="100000"/>
              </a:lnSpc>
              <a:buAutoNum type="arabicPeriod"/>
              <a:tabLst>
                <a:tab pos="51943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Management</a:t>
            </a:r>
            <a:r>
              <a:rPr sz="2400" b="1" spc="-1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levels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725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605155" lvl="1" indent="-506730">
              <a:lnSpc>
                <a:spcPct val="100000"/>
              </a:lnSpc>
              <a:buAutoNum type="arabicPeriod"/>
              <a:tabLst>
                <a:tab pos="605155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Necessary</a:t>
            </a:r>
            <a:r>
              <a:rPr sz="2400" b="1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Skills</a:t>
            </a:r>
            <a:r>
              <a:rPr sz="2400" b="1" spc="-5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2400" b="1" spc="-6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sz="2400" b="1" spc="-5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manager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826" y="2354691"/>
            <a:ext cx="278765" cy="461645"/>
            <a:chOff x="402826" y="2354691"/>
            <a:chExt cx="278765" cy="461645"/>
          </a:xfrm>
        </p:grpSpPr>
        <p:sp>
          <p:nvSpPr>
            <p:cNvPr id="8" name="object 8"/>
            <p:cNvSpPr/>
            <p:nvPr/>
          </p:nvSpPr>
          <p:spPr>
            <a:xfrm>
              <a:off x="402818" y="2354694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90" y="0"/>
                  </a:lnTo>
                  <a:lnTo>
                    <a:pt x="0" y="230555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2830" y="2370790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2822" y="3430828"/>
            <a:ext cx="278765" cy="461645"/>
            <a:chOff x="402822" y="3430828"/>
            <a:chExt cx="278765" cy="461645"/>
          </a:xfrm>
        </p:grpSpPr>
        <p:sp>
          <p:nvSpPr>
            <p:cNvPr id="11" name="object 11"/>
            <p:cNvSpPr/>
            <p:nvPr/>
          </p:nvSpPr>
          <p:spPr>
            <a:xfrm>
              <a:off x="402818" y="3430828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826" y="3446926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94821" y="4382151"/>
            <a:ext cx="278765" cy="461645"/>
            <a:chOff x="394821" y="4382151"/>
            <a:chExt cx="278765" cy="461645"/>
          </a:xfrm>
        </p:grpSpPr>
        <p:sp>
          <p:nvSpPr>
            <p:cNvPr id="14" name="object 14"/>
            <p:cNvSpPr/>
            <p:nvPr/>
          </p:nvSpPr>
          <p:spPr>
            <a:xfrm>
              <a:off x="394817" y="4382160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4825" y="4398248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80993" y="5317554"/>
            <a:ext cx="278765" cy="461645"/>
            <a:chOff x="480993" y="5317554"/>
            <a:chExt cx="278765" cy="461645"/>
          </a:xfrm>
        </p:grpSpPr>
        <p:sp>
          <p:nvSpPr>
            <p:cNvPr id="17" name="object 17"/>
            <p:cNvSpPr/>
            <p:nvPr/>
          </p:nvSpPr>
          <p:spPr>
            <a:xfrm>
              <a:off x="480987" y="5317566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997" y="5333653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5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021" y="3202863"/>
            <a:ext cx="60001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376092"/>
                </a:solidFill>
              </a:rPr>
              <a:t>1.1</a:t>
            </a:r>
            <a:r>
              <a:rPr sz="3400" spc="-20" dirty="0">
                <a:solidFill>
                  <a:srgbClr val="376092"/>
                </a:solidFill>
              </a:rPr>
              <a:t> </a:t>
            </a:r>
            <a:r>
              <a:rPr sz="3400" dirty="0">
                <a:solidFill>
                  <a:srgbClr val="376092"/>
                </a:solidFill>
              </a:rPr>
              <a:t>SOME</a:t>
            </a:r>
            <a:r>
              <a:rPr sz="3400" spc="-20" dirty="0">
                <a:solidFill>
                  <a:srgbClr val="376092"/>
                </a:solidFill>
              </a:rPr>
              <a:t> </a:t>
            </a:r>
            <a:r>
              <a:rPr sz="3400" dirty="0">
                <a:solidFill>
                  <a:srgbClr val="376092"/>
                </a:solidFill>
              </a:rPr>
              <a:t>BASIC</a:t>
            </a:r>
            <a:r>
              <a:rPr sz="3400" spc="-20" dirty="0">
                <a:solidFill>
                  <a:srgbClr val="376092"/>
                </a:solidFill>
              </a:rPr>
              <a:t> </a:t>
            </a:r>
            <a:r>
              <a:rPr sz="3400" spc="-10" dirty="0">
                <a:solidFill>
                  <a:srgbClr val="376092"/>
                </a:solidFill>
              </a:rPr>
              <a:t>CONCEPTS</a:t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Organization?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98989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38" y="1163177"/>
            <a:ext cx="8100695" cy="30708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b="1" dirty="0">
                <a:latin typeface="Arial"/>
                <a:cs typeface="Arial"/>
              </a:rPr>
              <a:t>Organization</a:t>
            </a:r>
            <a:r>
              <a:rPr sz="2600" b="1" spc="-11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-180" dirty="0"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558ED5"/>
                </a:solidFill>
                <a:latin typeface="Arial"/>
                <a:cs typeface="Arial"/>
              </a:rPr>
              <a:t>deliberate</a:t>
            </a:r>
            <a:r>
              <a:rPr sz="2600" b="1" spc="-70" dirty="0">
                <a:solidFill>
                  <a:srgbClr val="558ED5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558ED5"/>
                </a:solidFill>
                <a:latin typeface="Arial"/>
                <a:cs typeface="Arial"/>
              </a:rPr>
              <a:t>arrangement</a:t>
            </a:r>
            <a:r>
              <a:rPr sz="2600" b="1" spc="-75" dirty="0">
                <a:solidFill>
                  <a:srgbClr val="558ED5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4F81BD"/>
                </a:solidFill>
                <a:latin typeface="Arial"/>
                <a:cs typeface="Arial"/>
              </a:rPr>
              <a:t>people </a:t>
            </a:r>
            <a:r>
              <a:rPr sz="2600" dirty="0">
                <a:latin typeface="Arial"/>
                <a:cs typeface="Arial"/>
              </a:rPr>
              <a:t>assembled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accomplish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some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4F81BD"/>
                </a:solidFill>
                <a:latin typeface="Arial"/>
                <a:cs typeface="Arial"/>
              </a:rPr>
              <a:t>specific</a:t>
            </a:r>
            <a:r>
              <a:rPr sz="2600" b="1" spc="-8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4F81BD"/>
                </a:solidFill>
                <a:latin typeface="Arial"/>
                <a:cs typeface="Arial"/>
              </a:rPr>
              <a:t>purpose</a:t>
            </a:r>
            <a:r>
              <a:rPr sz="2600" b="1" spc="-9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(that </a:t>
            </a:r>
            <a:r>
              <a:rPr sz="2600" dirty="0">
                <a:latin typeface="Arial"/>
                <a:cs typeface="Arial"/>
              </a:rPr>
              <a:t>individuals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independently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could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not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accomplish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alone).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400" dirty="0">
                <a:latin typeface="Arial"/>
                <a:cs typeface="Arial"/>
              </a:rPr>
              <a:t>Common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characteristics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Organizations:</a:t>
            </a:r>
            <a:endParaRPr sz="2400">
              <a:latin typeface="Arial"/>
              <a:cs typeface="Arial"/>
            </a:endParaRPr>
          </a:p>
          <a:p>
            <a:pPr marL="926465" indent="-457200">
              <a:lnSpc>
                <a:spcPct val="100000"/>
              </a:lnSpc>
              <a:spcBef>
                <a:spcPts val="20"/>
              </a:spcBef>
              <a:buClr>
                <a:srgbClr val="282828"/>
              </a:buClr>
              <a:buChar char="►"/>
              <a:tabLst>
                <a:tab pos="926465" algn="l"/>
              </a:tabLst>
            </a:pP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Have</a:t>
            </a:r>
            <a:r>
              <a:rPr sz="2400" spc="-55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distinct</a:t>
            </a:r>
            <a:r>
              <a:rPr sz="2400" spc="-6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purpose</a:t>
            </a:r>
            <a:r>
              <a:rPr sz="2400" spc="-5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53535"/>
                </a:solidFill>
                <a:latin typeface="Arial"/>
                <a:cs typeface="Arial"/>
              </a:rPr>
              <a:t>(goal)</a:t>
            </a:r>
            <a:endParaRPr sz="2400">
              <a:latin typeface="Arial"/>
              <a:cs typeface="Arial"/>
            </a:endParaRPr>
          </a:p>
          <a:p>
            <a:pPr marL="926465" indent="-457200">
              <a:lnSpc>
                <a:spcPct val="100000"/>
              </a:lnSpc>
              <a:spcBef>
                <a:spcPts val="20"/>
              </a:spcBef>
              <a:buClr>
                <a:srgbClr val="282828"/>
              </a:buClr>
              <a:buChar char="►"/>
              <a:tabLst>
                <a:tab pos="926465" algn="l"/>
              </a:tabLst>
            </a:pP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Are</a:t>
            </a:r>
            <a:r>
              <a:rPr sz="2400" spc="-65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composed</a:t>
            </a:r>
            <a:r>
              <a:rPr sz="2400" spc="-6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53535"/>
                </a:solidFill>
                <a:latin typeface="Arial"/>
                <a:cs typeface="Arial"/>
              </a:rPr>
              <a:t>people</a:t>
            </a:r>
            <a:endParaRPr sz="2400">
              <a:latin typeface="Arial"/>
              <a:cs typeface="Arial"/>
            </a:endParaRPr>
          </a:p>
          <a:p>
            <a:pPr marL="926465" indent="-457200">
              <a:lnSpc>
                <a:spcPct val="100000"/>
              </a:lnSpc>
              <a:spcBef>
                <a:spcPts val="20"/>
              </a:spcBef>
              <a:buClr>
                <a:srgbClr val="282828"/>
              </a:buClr>
              <a:buChar char="►"/>
              <a:tabLst>
                <a:tab pos="926465" algn="l"/>
              </a:tabLst>
            </a:pP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Have</a:t>
            </a:r>
            <a:r>
              <a:rPr sz="2400" spc="-65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53535"/>
                </a:solidFill>
                <a:latin typeface="Arial"/>
                <a:cs typeface="Arial"/>
              </a:rPr>
              <a:t>deliberate</a:t>
            </a:r>
            <a:r>
              <a:rPr sz="2400" spc="-60" dirty="0">
                <a:solidFill>
                  <a:srgbClr val="35353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53535"/>
                </a:solidFill>
                <a:latin typeface="Arial"/>
                <a:cs typeface="Arial"/>
              </a:rPr>
              <a:t>structure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9206" y="4159869"/>
            <a:ext cx="5044791" cy="2561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Organization?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98989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90" y="1434565"/>
            <a:ext cx="4852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6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2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organization</a:t>
            </a:r>
            <a:r>
              <a:rPr sz="2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you</a:t>
            </a:r>
            <a:r>
              <a:rPr sz="26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Arial"/>
                <a:cs typeface="Arial"/>
              </a:rPr>
              <a:t>like?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Enterprise?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98989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354" y="4551899"/>
            <a:ext cx="63557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600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	Distinguish</a:t>
            </a:r>
            <a:r>
              <a:rPr sz="26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Enterprise</a:t>
            </a:r>
            <a:r>
              <a:rPr sz="26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vs.</a:t>
            </a:r>
            <a:r>
              <a:rPr sz="26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Arial"/>
                <a:cs typeface="Arial"/>
              </a:rPr>
              <a:t>Organization?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0861" y="1982586"/>
            <a:ext cx="2190750" cy="752475"/>
            <a:chOff x="660861" y="1982586"/>
            <a:chExt cx="2190750" cy="752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861" y="1982586"/>
              <a:ext cx="2190403" cy="7523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348" y="2103119"/>
              <a:ext cx="831272" cy="52370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09929" y="2008800"/>
            <a:ext cx="2091689" cy="651510"/>
          </a:xfrm>
          <a:prstGeom prst="rect">
            <a:avLst/>
          </a:prstGeom>
          <a:ln w="9524">
            <a:solidFill>
              <a:srgbClr val="5B92C7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125"/>
              </a:spcBef>
            </a:pPr>
            <a:r>
              <a:rPr sz="2400" spc="-10" dirty="0">
                <a:latin typeface="Arial"/>
                <a:cs typeface="Arial"/>
              </a:rPr>
              <a:t>Input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03814" y="1982586"/>
            <a:ext cx="2194560" cy="752475"/>
            <a:chOff x="3503814" y="1982586"/>
            <a:chExt cx="2194560" cy="7524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3814" y="1982586"/>
              <a:ext cx="2194560" cy="752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1796" y="2103119"/>
              <a:ext cx="1234439" cy="5237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56000" y="2008800"/>
            <a:ext cx="2091689" cy="651510"/>
          </a:xfrm>
          <a:prstGeom prst="rect">
            <a:avLst/>
          </a:prstGeom>
          <a:ln w="9524">
            <a:solidFill>
              <a:srgbClr val="5B92C7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125"/>
              </a:spcBef>
            </a:pPr>
            <a:r>
              <a:rPr sz="2400" spc="-10" dirty="0"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34545" y="1982586"/>
            <a:ext cx="2194560" cy="752475"/>
            <a:chOff x="6234545" y="1982586"/>
            <a:chExt cx="2194560" cy="75247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4545" y="1982586"/>
              <a:ext cx="2194560" cy="7523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3966" y="2103119"/>
              <a:ext cx="1068185" cy="5237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86498" y="2008800"/>
            <a:ext cx="2091689" cy="651510"/>
          </a:xfrm>
          <a:prstGeom prst="rect">
            <a:avLst/>
          </a:prstGeom>
          <a:ln w="9524">
            <a:solidFill>
              <a:srgbClr val="5B92C7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591185">
              <a:lnSpc>
                <a:spcPct val="100000"/>
              </a:lnSpc>
              <a:spcBef>
                <a:spcPts val="1125"/>
              </a:spcBef>
            </a:pPr>
            <a:r>
              <a:rPr sz="2400" spc="-10" dirty="0"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42705" y="2182090"/>
            <a:ext cx="502920" cy="332740"/>
            <a:chOff x="2942705" y="2182090"/>
            <a:chExt cx="502920" cy="33274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2705" y="2182090"/>
              <a:ext cx="502919" cy="3325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94659" y="2217419"/>
              <a:ext cx="400050" cy="2171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994659" y="2217420"/>
              <a:ext cx="400050" cy="217170"/>
            </a:xfrm>
            <a:custGeom>
              <a:avLst/>
              <a:gdLst/>
              <a:ahLst/>
              <a:cxnLst/>
              <a:rect l="l" t="t" r="r" b="b"/>
              <a:pathLst>
                <a:path w="400050" h="217169">
                  <a:moveTo>
                    <a:pt x="0" y="54292"/>
                  </a:moveTo>
                  <a:lnTo>
                    <a:pt x="291464" y="54292"/>
                  </a:lnTo>
                  <a:lnTo>
                    <a:pt x="291464" y="0"/>
                  </a:lnTo>
                  <a:lnTo>
                    <a:pt x="400049" y="108584"/>
                  </a:lnTo>
                  <a:lnTo>
                    <a:pt x="291464" y="217170"/>
                  </a:lnTo>
                  <a:lnTo>
                    <a:pt x="291464" y="162878"/>
                  </a:lnTo>
                  <a:lnTo>
                    <a:pt x="0" y="162878"/>
                  </a:lnTo>
                  <a:lnTo>
                    <a:pt x="0" y="54292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756563" y="2182090"/>
            <a:ext cx="502920" cy="332740"/>
            <a:chOff x="5756563" y="2182090"/>
            <a:chExt cx="502920" cy="33274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56563" y="2182090"/>
              <a:ext cx="502920" cy="3325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08978" y="2217419"/>
              <a:ext cx="400050" cy="21717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08978" y="2217420"/>
              <a:ext cx="400050" cy="217170"/>
            </a:xfrm>
            <a:custGeom>
              <a:avLst/>
              <a:gdLst/>
              <a:ahLst/>
              <a:cxnLst/>
              <a:rect l="l" t="t" r="r" b="b"/>
              <a:pathLst>
                <a:path w="400050" h="217169">
                  <a:moveTo>
                    <a:pt x="0" y="54292"/>
                  </a:moveTo>
                  <a:lnTo>
                    <a:pt x="291464" y="54292"/>
                  </a:lnTo>
                  <a:lnTo>
                    <a:pt x="291464" y="0"/>
                  </a:lnTo>
                  <a:lnTo>
                    <a:pt x="400049" y="108584"/>
                  </a:lnTo>
                  <a:lnTo>
                    <a:pt x="291464" y="217170"/>
                  </a:lnTo>
                  <a:lnTo>
                    <a:pt x="291464" y="162878"/>
                  </a:lnTo>
                  <a:lnTo>
                    <a:pt x="0" y="162878"/>
                  </a:lnTo>
                  <a:lnTo>
                    <a:pt x="0" y="54292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55711" y="3207830"/>
            <a:ext cx="1000124" cy="81915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87506" y="3198305"/>
            <a:ext cx="857250" cy="84772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91360" y="3286181"/>
            <a:ext cx="97155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Who</a:t>
            </a:r>
            <a:r>
              <a:rPr spc="-5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manager?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98989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90" y="1434565"/>
            <a:ext cx="8211820" cy="12090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b="1" dirty="0">
                <a:latin typeface="Arial"/>
                <a:cs typeface="Arial"/>
              </a:rPr>
              <a:t>Manager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-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Someone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who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coordinates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oversees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work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other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people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so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70C0"/>
                </a:solidFill>
                <a:latin typeface="Arial"/>
                <a:cs typeface="Arial"/>
              </a:rPr>
              <a:t>organizational</a:t>
            </a:r>
            <a:r>
              <a:rPr sz="2600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70C0"/>
                </a:solidFill>
                <a:latin typeface="Arial"/>
                <a:cs typeface="Arial"/>
              </a:rPr>
              <a:t>goals</a:t>
            </a:r>
            <a:r>
              <a:rPr sz="2600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be </a:t>
            </a:r>
            <a:r>
              <a:rPr sz="2600" spc="-10" dirty="0">
                <a:latin typeface="Arial"/>
                <a:cs typeface="Arial"/>
              </a:rPr>
              <a:t>accomplished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0382" y="3035155"/>
            <a:ext cx="4829931" cy="26007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98989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90" y="1244470"/>
            <a:ext cx="8119745" cy="207454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b="1" dirty="0">
                <a:latin typeface="Arial"/>
                <a:cs typeface="Arial"/>
              </a:rPr>
              <a:t>Management</a:t>
            </a:r>
            <a:r>
              <a:rPr sz="2600" b="1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involves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coordinating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overseeing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work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activities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others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that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their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activities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are </a:t>
            </a:r>
            <a:r>
              <a:rPr sz="2600" dirty="0">
                <a:latin typeface="Arial"/>
                <a:cs typeface="Arial"/>
              </a:rPr>
              <a:t>completed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3366FF"/>
                </a:solidFill>
                <a:latin typeface="Arial"/>
                <a:cs typeface="Arial"/>
              </a:rPr>
              <a:t>efficiently</a:t>
            </a:r>
            <a:r>
              <a:rPr sz="2600" b="1" i="1" spc="-110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b="1" i="1" spc="-10" dirty="0">
                <a:solidFill>
                  <a:srgbClr val="3366FF"/>
                </a:solidFill>
                <a:latin typeface="Arial"/>
                <a:cs typeface="Arial"/>
              </a:rPr>
              <a:t>effectively</a:t>
            </a:r>
            <a:r>
              <a:rPr sz="2600" i="1" spc="-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600">
              <a:latin typeface="Arial"/>
              <a:cs typeface="Arial"/>
            </a:endParaRPr>
          </a:p>
          <a:p>
            <a:pPr marL="556895">
              <a:lnSpc>
                <a:spcPct val="100000"/>
              </a:lnSpc>
              <a:tabLst>
                <a:tab pos="5149215" algn="l"/>
              </a:tabLst>
            </a:pPr>
            <a:r>
              <a:rPr sz="3000" b="1" spc="-10" dirty="0">
                <a:latin typeface="Arial"/>
                <a:cs typeface="Arial"/>
              </a:rPr>
              <a:t>Efficiency</a:t>
            </a:r>
            <a:r>
              <a:rPr sz="3000" b="1" dirty="0">
                <a:latin typeface="Arial"/>
                <a:cs typeface="Arial"/>
              </a:rPr>
              <a:t>	</a:t>
            </a:r>
            <a:r>
              <a:rPr sz="3000" b="1" spc="-10" dirty="0">
                <a:latin typeface="Arial"/>
                <a:cs typeface="Arial"/>
              </a:rPr>
              <a:t>Effectiveness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3651468"/>
            <a:ext cx="2822575" cy="2712085"/>
          </a:xfrm>
          <a:custGeom>
            <a:avLst/>
            <a:gdLst/>
            <a:ahLst/>
            <a:cxnLst/>
            <a:rect l="l" t="t" r="r" b="b"/>
            <a:pathLst>
              <a:path w="2822575" h="2712085">
                <a:moveTo>
                  <a:pt x="0" y="451953"/>
                </a:moveTo>
                <a:lnTo>
                  <a:pt x="2652" y="402708"/>
                </a:lnTo>
                <a:lnTo>
                  <a:pt x="10424" y="354999"/>
                </a:lnTo>
                <a:lnTo>
                  <a:pt x="23040" y="309101"/>
                </a:lnTo>
                <a:lnTo>
                  <a:pt x="40226" y="265291"/>
                </a:lnTo>
                <a:lnTo>
                  <a:pt x="61704" y="223844"/>
                </a:lnTo>
                <a:lnTo>
                  <a:pt x="87200" y="185035"/>
                </a:lnTo>
                <a:lnTo>
                  <a:pt x="116438" y="149142"/>
                </a:lnTo>
                <a:lnTo>
                  <a:pt x="149142" y="116438"/>
                </a:lnTo>
                <a:lnTo>
                  <a:pt x="185035" y="87200"/>
                </a:lnTo>
                <a:lnTo>
                  <a:pt x="223844" y="61704"/>
                </a:lnTo>
                <a:lnTo>
                  <a:pt x="265291" y="40226"/>
                </a:lnTo>
                <a:lnTo>
                  <a:pt x="309101" y="23040"/>
                </a:lnTo>
                <a:lnTo>
                  <a:pt x="354999" y="10424"/>
                </a:lnTo>
                <a:lnTo>
                  <a:pt x="402708" y="2652"/>
                </a:lnTo>
                <a:lnTo>
                  <a:pt x="451953" y="0"/>
                </a:lnTo>
                <a:lnTo>
                  <a:pt x="2370073" y="0"/>
                </a:lnTo>
                <a:lnTo>
                  <a:pt x="2419318" y="2652"/>
                </a:lnTo>
                <a:lnTo>
                  <a:pt x="2467028" y="10424"/>
                </a:lnTo>
                <a:lnTo>
                  <a:pt x="2512925" y="23040"/>
                </a:lnTo>
                <a:lnTo>
                  <a:pt x="2556735" y="40226"/>
                </a:lnTo>
                <a:lnTo>
                  <a:pt x="2598183" y="61704"/>
                </a:lnTo>
                <a:lnTo>
                  <a:pt x="2636991" y="87200"/>
                </a:lnTo>
                <a:lnTo>
                  <a:pt x="2672885" y="116438"/>
                </a:lnTo>
                <a:lnTo>
                  <a:pt x="2705588" y="149142"/>
                </a:lnTo>
                <a:lnTo>
                  <a:pt x="2734826" y="185035"/>
                </a:lnTo>
                <a:lnTo>
                  <a:pt x="2760322" y="223844"/>
                </a:lnTo>
                <a:lnTo>
                  <a:pt x="2781800" y="265291"/>
                </a:lnTo>
                <a:lnTo>
                  <a:pt x="2798986" y="309101"/>
                </a:lnTo>
                <a:lnTo>
                  <a:pt x="2811603" y="354999"/>
                </a:lnTo>
                <a:lnTo>
                  <a:pt x="2819375" y="402708"/>
                </a:lnTo>
                <a:lnTo>
                  <a:pt x="2822027" y="451953"/>
                </a:lnTo>
                <a:lnTo>
                  <a:pt x="2822027" y="2259714"/>
                </a:lnTo>
                <a:lnTo>
                  <a:pt x="2819375" y="2308959"/>
                </a:lnTo>
                <a:lnTo>
                  <a:pt x="2811603" y="2356669"/>
                </a:lnTo>
                <a:lnTo>
                  <a:pt x="2798986" y="2402566"/>
                </a:lnTo>
                <a:lnTo>
                  <a:pt x="2781800" y="2446376"/>
                </a:lnTo>
                <a:lnTo>
                  <a:pt x="2760322" y="2487824"/>
                </a:lnTo>
                <a:lnTo>
                  <a:pt x="2734826" y="2526632"/>
                </a:lnTo>
                <a:lnTo>
                  <a:pt x="2705588" y="2562526"/>
                </a:lnTo>
                <a:lnTo>
                  <a:pt x="2672885" y="2595229"/>
                </a:lnTo>
                <a:lnTo>
                  <a:pt x="2636991" y="2624467"/>
                </a:lnTo>
                <a:lnTo>
                  <a:pt x="2598183" y="2649963"/>
                </a:lnTo>
                <a:lnTo>
                  <a:pt x="2556735" y="2671441"/>
                </a:lnTo>
                <a:lnTo>
                  <a:pt x="2512925" y="2688627"/>
                </a:lnTo>
                <a:lnTo>
                  <a:pt x="2467028" y="2701244"/>
                </a:lnTo>
                <a:lnTo>
                  <a:pt x="2419318" y="2709016"/>
                </a:lnTo>
                <a:lnTo>
                  <a:pt x="2370073" y="2711668"/>
                </a:lnTo>
                <a:lnTo>
                  <a:pt x="451953" y="2711668"/>
                </a:lnTo>
                <a:lnTo>
                  <a:pt x="402708" y="2709016"/>
                </a:lnTo>
                <a:lnTo>
                  <a:pt x="354999" y="2701244"/>
                </a:lnTo>
                <a:lnTo>
                  <a:pt x="309101" y="2688627"/>
                </a:lnTo>
                <a:lnTo>
                  <a:pt x="265291" y="2671441"/>
                </a:lnTo>
                <a:lnTo>
                  <a:pt x="223844" y="2649963"/>
                </a:lnTo>
                <a:lnTo>
                  <a:pt x="185035" y="2624467"/>
                </a:lnTo>
                <a:lnTo>
                  <a:pt x="149142" y="2595229"/>
                </a:lnTo>
                <a:lnTo>
                  <a:pt x="116438" y="2562526"/>
                </a:lnTo>
                <a:lnTo>
                  <a:pt x="87200" y="2526632"/>
                </a:lnTo>
                <a:lnTo>
                  <a:pt x="61704" y="2487824"/>
                </a:lnTo>
                <a:lnTo>
                  <a:pt x="40226" y="2446376"/>
                </a:lnTo>
                <a:lnTo>
                  <a:pt x="23040" y="2402566"/>
                </a:lnTo>
                <a:lnTo>
                  <a:pt x="10424" y="2356669"/>
                </a:lnTo>
                <a:lnTo>
                  <a:pt x="2652" y="2308959"/>
                </a:lnTo>
                <a:lnTo>
                  <a:pt x="0" y="2259714"/>
                </a:lnTo>
                <a:lnTo>
                  <a:pt x="0" y="451953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8312" y="4123382"/>
            <a:ext cx="2347595" cy="1772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16255" indent="185420">
              <a:lnSpc>
                <a:spcPts val="2700"/>
              </a:lnSpc>
              <a:spcBef>
                <a:spcPts val="240"/>
              </a:spcBef>
              <a:buSzPct val="104347"/>
              <a:buChar char="-"/>
              <a:tabLst>
                <a:tab pos="198120" algn="l"/>
              </a:tabLst>
            </a:pPr>
            <a:r>
              <a:rPr sz="2300" dirty="0">
                <a:latin typeface="Arial"/>
                <a:cs typeface="Arial"/>
              </a:rPr>
              <a:t>Doing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things right</a:t>
            </a:r>
            <a:endParaRPr sz="2300">
              <a:latin typeface="Arial"/>
              <a:cs typeface="Arial"/>
            </a:endParaRPr>
          </a:p>
          <a:p>
            <a:pPr marL="12700" marR="5080" indent="177165">
              <a:lnSpc>
                <a:spcPts val="2700"/>
              </a:lnSpc>
              <a:spcBef>
                <a:spcPts val="100"/>
              </a:spcBef>
              <a:buChar char="-"/>
              <a:tabLst>
                <a:tab pos="189865" algn="l"/>
              </a:tabLst>
            </a:pPr>
            <a:r>
              <a:rPr sz="2300" dirty="0">
                <a:latin typeface="Arial"/>
                <a:cs typeface="Arial"/>
              </a:rPr>
              <a:t>Getting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most </a:t>
            </a:r>
            <a:r>
              <a:rPr sz="2300" dirty="0">
                <a:latin typeface="Arial"/>
                <a:cs typeface="Arial"/>
              </a:rPr>
              <a:t>output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from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the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ts val="2720"/>
              </a:lnSpc>
            </a:pPr>
            <a:r>
              <a:rPr sz="2300" dirty="0">
                <a:latin typeface="Arial"/>
                <a:cs typeface="Arial"/>
              </a:rPr>
              <a:t>least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inputs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0467" y="4279200"/>
            <a:ext cx="121920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Which</a:t>
            </a:r>
            <a:r>
              <a:rPr sz="18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one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more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important?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2680" y="3538265"/>
            <a:ext cx="2822575" cy="2712085"/>
          </a:xfrm>
          <a:custGeom>
            <a:avLst/>
            <a:gdLst/>
            <a:ahLst/>
            <a:cxnLst/>
            <a:rect l="l" t="t" r="r" b="b"/>
            <a:pathLst>
              <a:path w="2822575" h="2712085">
                <a:moveTo>
                  <a:pt x="0" y="451953"/>
                </a:moveTo>
                <a:lnTo>
                  <a:pt x="2652" y="402708"/>
                </a:lnTo>
                <a:lnTo>
                  <a:pt x="10424" y="354999"/>
                </a:lnTo>
                <a:lnTo>
                  <a:pt x="23040" y="309101"/>
                </a:lnTo>
                <a:lnTo>
                  <a:pt x="40226" y="265291"/>
                </a:lnTo>
                <a:lnTo>
                  <a:pt x="61704" y="223844"/>
                </a:lnTo>
                <a:lnTo>
                  <a:pt x="87200" y="185035"/>
                </a:lnTo>
                <a:lnTo>
                  <a:pt x="116438" y="149142"/>
                </a:lnTo>
                <a:lnTo>
                  <a:pt x="149141" y="116438"/>
                </a:lnTo>
                <a:lnTo>
                  <a:pt x="185035" y="87200"/>
                </a:lnTo>
                <a:lnTo>
                  <a:pt x="223844" y="61704"/>
                </a:lnTo>
                <a:lnTo>
                  <a:pt x="265291" y="40226"/>
                </a:lnTo>
                <a:lnTo>
                  <a:pt x="309101" y="23040"/>
                </a:lnTo>
                <a:lnTo>
                  <a:pt x="354999" y="10424"/>
                </a:lnTo>
                <a:lnTo>
                  <a:pt x="402708" y="2652"/>
                </a:lnTo>
                <a:lnTo>
                  <a:pt x="451953" y="0"/>
                </a:lnTo>
                <a:lnTo>
                  <a:pt x="2370073" y="0"/>
                </a:lnTo>
                <a:lnTo>
                  <a:pt x="2419318" y="2652"/>
                </a:lnTo>
                <a:lnTo>
                  <a:pt x="2467027" y="10424"/>
                </a:lnTo>
                <a:lnTo>
                  <a:pt x="2512925" y="23040"/>
                </a:lnTo>
                <a:lnTo>
                  <a:pt x="2556735" y="40226"/>
                </a:lnTo>
                <a:lnTo>
                  <a:pt x="2598182" y="61704"/>
                </a:lnTo>
                <a:lnTo>
                  <a:pt x="2636991" y="87200"/>
                </a:lnTo>
                <a:lnTo>
                  <a:pt x="2672885" y="116438"/>
                </a:lnTo>
                <a:lnTo>
                  <a:pt x="2705588" y="149142"/>
                </a:lnTo>
                <a:lnTo>
                  <a:pt x="2734826" y="185035"/>
                </a:lnTo>
                <a:lnTo>
                  <a:pt x="2760322" y="223844"/>
                </a:lnTo>
                <a:lnTo>
                  <a:pt x="2781800" y="265291"/>
                </a:lnTo>
                <a:lnTo>
                  <a:pt x="2798986" y="309101"/>
                </a:lnTo>
                <a:lnTo>
                  <a:pt x="2811602" y="354999"/>
                </a:lnTo>
                <a:lnTo>
                  <a:pt x="2819375" y="402708"/>
                </a:lnTo>
                <a:lnTo>
                  <a:pt x="2822027" y="451953"/>
                </a:lnTo>
                <a:lnTo>
                  <a:pt x="2822027" y="2259714"/>
                </a:lnTo>
                <a:lnTo>
                  <a:pt x="2819375" y="2308959"/>
                </a:lnTo>
                <a:lnTo>
                  <a:pt x="2811602" y="2356669"/>
                </a:lnTo>
                <a:lnTo>
                  <a:pt x="2798986" y="2402566"/>
                </a:lnTo>
                <a:lnTo>
                  <a:pt x="2781800" y="2446376"/>
                </a:lnTo>
                <a:lnTo>
                  <a:pt x="2760322" y="2487824"/>
                </a:lnTo>
                <a:lnTo>
                  <a:pt x="2734826" y="2526632"/>
                </a:lnTo>
                <a:lnTo>
                  <a:pt x="2705588" y="2562526"/>
                </a:lnTo>
                <a:lnTo>
                  <a:pt x="2672885" y="2595229"/>
                </a:lnTo>
                <a:lnTo>
                  <a:pt x="2636991" y="2624467"/>
                </a:lnTo>
                <a:lnTo>
                  <a:pt x="2598182" y="2649963"/>
                </a:lnTo>
                <a:lnTo>
                  <a:pt x="2556735" y="2671441"/>
                </a:lnTo>
                <a:lnTo>
                  <a:pt x="2512925" y="2688627"/>
                </a:lnTo>
                <a:lnTo>
                  <a:pt x="2467027" y="2701244"/>
                </a:lnTo>
                <a:lnTo>
                  <a:pt x="2419318" y="2709016"/>
                </a:lnTo>
                <a:lnTo>
                  <a:pt x="2370073" y="2711668"/>
                </a:lnTo>
                <a:lnTo>
                  <a:pt x="451953" y="2711668"/>
                </a:lnTo>
                <a:lnTo>
                  <a:pt x="402708" y="2709016"/>
                </a:lnTo>
                <a:lnTo>
                  <a:pt x="354999" y="2701244"/>
                </a:lnTo>
                <a:lnTo>
                  <a:pt x="309101" y="2688627"/>
                </a:lnTo>
                <a:lnTo>
                  <a:pt x="265291" y="2671441"/>
                </a:lnTo>
                <a:lnTo>
                  <a:pt x="223844" y="2649963"/>
                </a:lnTo>
                <a:lnTo>
                  <a:pt x="185035" y="2624467"/>
                </a:lnTo>
                <a:lnTo>
                  <a:pt x="149141" y="2595229"/>
                </a:lnTo>
                <a:lnTo>
                  <a:pt x="116438" y="2562526"/>
                </a:lnTo>
                <a:lnTo>
                  <a:pt x="87200" y="2526632"/>
                </a:lnTo>
                <a:lnTo>
                  <a:pt x="61704" y="2487824"/>
                </a:lnTo>
                <a:lnTo>
                  <a:pt x="40226" y="2446376"/>
                </a:lnTo>
                <a:lnTo>
                  <a:pt x="23040" y="2402566"/>
                </a:lnTo>
                <a:lnTo>
                  <a:pt x="10424" y="2356669"/>
                </a:lnTo>
                <a:lnTo>
                  <a:pt x="2652" y="2308959"/>
                </a:lnTo>
                <a:lnTo>
                  <a:pt x="0" y="2259714"/>
                </a:lnTo>
                <a:lnTo>
                  <a:pt x="0" y="451953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33793" y="3784120"/>
            <a:ext cx="2194560" cy="22199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184785">
              <a:lnSpc>
                <a:spcPts val="2800"/>
              </a:lnSpc>
              <a:spcBef>
                <a:spcPts val="259"/>
              </a:spcBef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Doing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right </a:t>
            </a:r>
            <a:r>
              <a:rPr sz="2400" spc="-10" dirty="0">
                <a:latin typeface="Arial"/>
                <a:cs typeface="Arial"/>
              </a:rPr>
              <a:t>things</a:t>
            </a:r>
            <a:endParaRPr sz="2400">
              <a:latin typeface="Arial"/>
              <a:cs typeface="Arial"/>
            </a:endParaRPr>
          </a:p>
          <a:p>
            <a:pPr marL="12700" marR="5080" indent="270510">
              <a:lnSpc>
                <a:spcPts val="2900"/>
              </a:lnSpc>
              <a:spcBef>
                <a:spcPts val="20"/>
              </a:spcBef>
              <a:buChar char="-"/>
              <a:tabLst>
                <a:tab pos="283210" algn="l"/>
              </a:tabLst>
            </a:pPr>
            <a:r>
              <a:rPr sz="2400" dirty="0">
                <a:latin typeface="Arial"/>
                <a:cs typeface="Arial"/>
              </a:rPr>
              <a:t>Doing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those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activities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achieving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goals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Efficiency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Effectiveness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98989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317" y="1584382"/>
            <a:ext cx="7678248" cy="31797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24194" y="5883768"/>
            <a:ext cx="2152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Time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watching!!!!!!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30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/>
              <a:t>Efficiency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Effectiveness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632" y="6434772"/>
            <a:ext cx="178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898989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898" y="940522"/>
            <a:ext cx="7953899" cy="58888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122853"/>
            <a:ext cx="8573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1.2</a:t>
            </a:r>
            <a:r>
              <a:rPr sz="2800" spc="-4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ROLES</a:t>
            </a:r>
            <a:r>
              <a:rPr sz="2800" spc="-4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OF</a:t>
            </a:r>
            <a:r>
              <a:rPr sz="2800" spc="-14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A</a:t>
            </a:r>
            <a:r>
              <a:rPr sz="2800" spc="-140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MANAGER</a:t>
            </a:r>
            <a:r>
              <a:rPr sz="2800" spc="-4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IN</a:t>
            </a:r>
            <a:r>
              <a:rPr sz="2800" spc="-14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AN</a:t>
            </a:r>
            <a:r>
              <a:rPr sz="2800" spc="-4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ORGANIZATION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480312"/>
            <a:ext cx="7211695" cy="37369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Arial"/>
                <a:cs typeface="Arial"/>
              </a:rPr>
              <a:t>According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Mintzerg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al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(1973):</a:t>
            </a: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</a:tabLst>
            </a:pPr>
            <a:r>
              <a:rPr sz="2600" b="1" dirty="0">
                <a:latin typeface="Arial"/>
                <a:cs typeface="Arial"/>
              </a:rPr>
              <a:t>Interpersonal</a:t>
            </a:r>
            <a:r>
              <a:rPr sz="2600" b="1" spc="-140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roles</a:t>
            </a:r>
            <a:endParaRPr sz="2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5650" algn="l"/>
              </a:tabLst>
            </a:pPr>
            <a:r>
              <a:rPr sz="2600" dirty="0">
                <a:latin typeface="Arial"/>
                <a:cs typeface="Arial"/>
              </a:rPr>
              <a:t>Figurehead,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leader,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liaison</a:t>
            </a: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354965" algn="l"/>
              </a:tabLst>
            </a:pPr>
            <a:r>
              <a:rPr sz="2600" b="1" dirty="0">
                <a:latin typeface="Arial"/>
                <a:cs typeface="Arial"/>
              </a:rPr>
              <a:t>Informational</a:t>
            </a:r>
            <a:r>
              <a:rPr sz="2600" b="1" spc="-114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roles</a:t>
            </a:r>
            <a:endParaRPr sz="2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5650" algn="l"/>
              </a:tabLst>
            </a:pPr>
            <a:r>
              <a:rPr sz="2600" spc="-10" dirty="0">
                <a:latin typeface="Arial"/>
                <a:cs typeface="Arial"/>
              </a:rPr>
              <a:t>Monitor,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disseminator,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spokesperson</a:t>
            </a: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600" b="1" dirty="0">
                <a:latin typeface="Arial"/>
                <a:cs typeface="Arial"/>
              </a:rPr>
              <a:t>Decisional</a:t>
            </a:r>
            <a:r>
              <a:rPr sz="2600" b="1" spc="-13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roles</a:t>
            </a:r>
            <a:endParaRPr sz="2600">
              <a:latin typeface="Arial"/>
              <a:cs typeface="Arial"/>
            </a:endParaRPr>
          </a:p>
          <a:p>
            <a:pPr marL="749300" marR="5080" lvl="1" indent="-279400">
              <a:lnSpc>
                <a:spcPts val="3080"/>
              </a:lnSpc>
              <a:spcBef>
                <a:spcPts val="815"/>
              </a:spcBef>
              <a:buChar char="–"/>
              <a:tabLst>
                <a:tab pos="749300" algn="l"/>
                <a:tab pos="755650" algn="l"/>
              </a:tabLst>
            </a:pPr>
            <a:r>
              <a:rPr sz="2600" dirty="0">
                <a:latin typeface="Arial"/>
                <a:cs typeface="Arial"/>
              </a:rPr>
              <a:t>	</a:t>
            </a:r>
            <a:r>
              <a:rPr sz="2600" spc="-20" dirty="0">
                <a:latin typeface="Arial"/>
                <a:cs typeface="Arial"/>
              </a:rPr>
              <a:t>Entrepreneur,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disturbance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handler,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resource allocator,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negotiator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646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5656" y="1768587"/>
            <a:ext cx="4813912" cy="45068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9839" y="1106199"/>
            <a:ext cx="4299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021"/>
                </a:solidFill>
                <a:latin typeface="Arial"/>
                <a:cs typeface="Arial"/>
              </a:rPr>
              <a:t>Mintzberg’s</a:t>
            </a:r>
            <a:r>
              <a:rPr sz="2400" b="1" spc="-13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42021"/>
                </a:solidFill>
                <a:latin typeface="Arial"/>
                <a:cs typeface="Arial"/>
              </a:rPr>
              <a:t>Managerial</a:t>
            </a:r>
            <a:r>
              <a:rPr sz="2400" b="1" spc="-13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42021"/>
                </a:solidFill>
                <a:latin typeface="Arial"/>
                <a:cs typeface="Arial"/>
              </a:rPr>
              <a:t>Roles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93289" y="6437229"/>
            <a:ext cx="583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Source: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Mintzberg,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nature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managerial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work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(1983)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30157"/>
            <a:ext cx="9144000" cy="5728335"/>
            <a:chOff x="0" y="1130157"/>
            <a:chExt cx="9144000" cy="5728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30157"/>
              <a:ext cx="9143998" cy="53461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3821" y="5140191"/>
              <a:ext cx="2023177" cy="171780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role</a:t>
            </a:r>
            <a:r>
              <a:rPr spc="-4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Manager</a:t>
            </a:r>
            <a:r>
              <a:rPr spc="-45" dirty="0"/>
              <a:t> </a:t>
            </a:r>
            <a:r>
              <a:rPr spc="-20" dirty="0"/>
              <a:t>play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4" y="1208026"/>
            <a:ext cx="8954889" cy="52728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201000"/>
            <a:ext cx="6755765" cy="87121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05155" marR="5080" indent="-593090">
              <a:lnSpc>
                <a:spcPts val="3300"/>
              </a:lnSpc>
              <a:spcBef>
                <a:spcPts val="260"/>
              </a:spcBef>
            </a:pPr>
            <a:r>
              <a:rPr sz="2800" dirty="0">
                <a:solidFill>
                  <a:srgbClr val="376092"/>
                </a:solidFill>
              </a:rPr>
              <a:t>1.3</a:t>
            </a:r>
            <a:r>
              <a:rPr sz="2800" spc="-60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BASIC</a:t>
            </a:r>
            <a:r>
              <a:rPr sz="2800" spc="-60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FUNCTIONS</a:t>
            </a:r>
            <a:r>
              <a:rPr sz="2800" spc="-60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OF</a:t>
            </a:r>
            <a:r>
              <a:rPr sz="2800" spc="-15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A</a:t>
            </a:r>
            <a:r>
              <a:rPr sz="2800" spc="-15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MANAGER </a:t>
            </a:r>
            <a:r>
              <a:rPr sz="2800" dirty="0">
                <a:solidFill>
                  <a:srgbClr val="376092"/>
                </a:solidFill>
              </a:rPr>
              <a:t>IN</a:t>
            </a:r>
            <a:r>
              <a:rPr sz="2800" spc="-130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AN</a:t>
            </a:r>
            <a:r>
              <a:rPr sz="2800" spc="-3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ORGANIZATION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spc="-80" dirty="0"/>
              <a:t> </a:t>
            </a:r>
            <a:r>
              <a:rPr dirty="0"/>
              <a:t>functions</a:t>
            </a:r>
            <a:r>
              <a:rPr spc="-7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934" y="1277985"/>
            <a:ext cx="8395335" cy="27838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2425" marR="913765" indent="-340360" algn="just">
              <a:lnSpc>
                <a:spcPct val="79600"/>
              </a:lnSpc>
              <a:spcBef>
                <a:spcPts val="73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Planning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goals,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establishing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strategies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	</a:t>
            </a:r>
            <a:r>
              <a:rPr sz="2400" dirty="0">
                <a:latin typeface="Arial"/>
                <a:cs typeface="Arial"/>
              </a:rPr>
              <a:t>achieve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goals,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developing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integrate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	</a:t>
            </a:r>
            <a:r>
              <a:rPr sz="2400" dirty="0">
                <a:latin typeface="Arial"/>
                <a:cs typeface="Arial"/>
              </a:rPr>
              <a:t>coordinate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activities</a:t>
            </a:r>
            <a:endParaRPr sz="2400">
              <a:latin typeface="Arial"/>
              <a:cs typeface="Arial"/>
            </a:endParaRPr>
          </a:p>
          <a:p>
            <a:pPr marL="354965" marR="5080" indent="-342900">
              <a:lnSpc>
                <a:spcPct val="82700"/>
              </a:lnSpc>
              <a:spcBef>
                <a:spcPts val="54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Organizing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–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Arranging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structuring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accomplish </a:t>
            </a:r>
            <a:r>
              <a:rPr sz="2400" dirty="0">
                <a:latin typeface="Arial"/>
                <a:cs typeface="Arial"/>
              </a:rPr>
              <a:t>organizational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goals.</a:t>
            </a:r>
            <a:endParaRPr sz="2400">
              <a:latin typeface="Arial"/>
              <a:cs typeface="Arial"/>
            </a:endParaRPr>
          </a:p>
          <a:p>
            <a:pPr marL="354965" marR="111125" indent="-342900">
              <a:lnSpc>
                <a:spcPct val="793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Leading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through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accomplish goals.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Controlling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Monitoring,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comparing,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work.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0759" y="4480700"/>
            <a:ext cx="6508533" cy="19976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managers</a:t>
            </a:r>
            <a:r>
              <a:rPr spc="-35" dirty="0"/>
              <a:t> </a:t>
            </a:r>
            <a:r>
              <a:rPr spc="-10" dirty="0"/>
              <a:t>important?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796" y="1456541"/>
            <a:ext cx="7124065" cy="403860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0"/>
              </a:spcBef>
              <a:buChar char="►"/>
              <a:tabLst>
                <a:tab pos="354965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Inspire</a:t>
            </a:r>
            <a:r>
              <a:rPr sz="2200" spc="-7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professionally</a:t>
            </a:r>
            <a:r>
              <a:rPr sz="2200" spc="-7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and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personally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ts val="4000"/>
              </a:lnSpc>
              <a:spcBef>
                <a:spcPts val="260"/>
              </a:spcBef>
              <a:buChar char="►"/>
              <a:tabLst>
                <a:tab pos="355600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Energize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and</a:t>
            </a:r>
            <a:r>
              <a:rPr sz="2200" spc="-6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your</a:t>
            </a:r>
            <a:r>
              <a:rPr sz="2200" spc="-7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coworkers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to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accomplish</a:t>
            </a:r>
            <a:r>
              <a:rPr sz="2200" spc="-6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things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together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that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4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couldn’t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get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done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by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yourself</a:t>
            </a:r>
            <a:endParaRPr sz="2200">
              <a:latin typeface="Arial"/>
              <a:cs typeface="Arial"/>
            </a:endParaRPr>
          </a:p>
          <a:p>
            <a:pPr marL="433070" indent="-420370">
              <a:lnSpc>
                <a:spcPct val="100000"/>
              </a:lnSpc>
              <a:spcBef>
                <a:spcPts val="900"/>
              </a:spcBef>
              <a:buChar char="►"/>
              <a:tabLst>
                <a:tab pos="433070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Provide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coaching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and</a:t>
            </a:r>
            <a:r>
              <a:rPr sz="2200" spc="-6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guidance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with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problems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60"/>
              </a:spcBef>
              <a:buChar char="►"/>
              <a:tabLst>
                <a:tab pos="354965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Provide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feedback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on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how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you’re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doing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60"/>
              </a:spcBef>
              <a:buChar char="►"/>
              <a:tabLst>
                <a:tab pos="354965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Help</a:t>
            </a:r>
            <a:r>
              <a:rPr sz="2200" spc="-4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4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improve</a:t>
            </a:r>
            <a:r>
              <a:rPr sz="2200" spc="-4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your</a:t>
            </a:r>
            <a:r>
              <a:rPr sz="2200" spc="-4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performance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Char char="►"/>
              <a:tabLst>
                <a:tab pos="354965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Keep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informed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of</a:t>
            </a:r>
            <a:r>
              <a:rPr sz="2200" spc="-7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organizational</a:t>
            </a:r>
            <a:r>
              <a:rPr sz="2200" spc="-6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42021"/>
                </a:solidFill>
                <a:latin typeface="Arial"/>
                <a:cs typeface="Arial"/>
              </a:rPr>
              <a:t>changes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60"/>
              </a:spcBef>
              <a:buChar char="►"/>
              <a:tabLst>
                <a:tab pos="354965" algn="l"/>
              </a:tabLst>
            </a:pP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Change</a:t>
            </a:r>
            <a:r>
              <a:rPr sz="2200" spc="-5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"/>
                <a:cs typeface="Arial"/>
              </a:rPr>
              <a:t>your</a:t>
            </a:r>
            <a:r>
              <a:rPr sz="2200" spc="-60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42021"/>
                </a:solidFill>
                <a:latin typeface="Arial"/>
                <a:cs typeface="Arial"/>
              </a:rPr>
              <a:t>life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168617"/>
            <a:ext cx="4688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1.4</a:t>
            </a:r>
            <a:r>
              <a:rPr sz="2800" spc="-8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MANAGEMENT</a:t>
            </a:r>
            <a:r>
              <a:rPr sz="2800" spc="-8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LEVELS</a:t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Level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62" y="1833653"/>
            <a:ext cx="4077174" cy="40536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73660" indent="-342900">
              <a:lnSpc>
                <a:spcPct val="89600"/>
              </a:lnSpc>
              <a:spcBef>
                <a:spcPts val="350"/>
              </a:spcBef>
              <a:buFont typeface="Arial"/>
              <a:buChar char="•"/>
              <a:tabLst>
                <a:tab pos="355600" algn="l"/>
              </a:tabLst>
            </a:pPr>
            <a:r>
              <a:rPr b="1" spc="-35" dirty="0">
                <a:latin typeface="Arial"/>
                <a:cs typeface="Arial"/>
              </a:rPr>
              <a:t>Top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Managers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Individuals</a:t>
            </a:r>
            <a:r>
              <a:rPr spc="-70" dirty="0"/>
              <a:t> </a:t>
            </a:r>
            <a:r>
              <a:rPr spc="-25" dirty="0"/>
              <a:t>who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responsible</a:t>
            </a:r>
            <a:r>
              <a:rPr spc="-4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making organization-</a:t>
            </a:r>
            <a:r>
              <a:rPr dirty="0"/>
              <a:t>wide</a:t>
            </a:r>
            <a:r>
              <a:rPr spc="-60" dirty="0"/>
              <a:t> </a:t>
            </a:r>
            <a:r>
              <a:rPr dirty="0"/>
              <a:t>decisions</a:t>
            </a:r>
            <a:r>
              <a:rPr spc="-65" dirty="0"/>
              <a:t> </a:t>
            </a:r>
            <a:r>
              <a:rPr spc="-25" dirty="0"/>
              <a:t>and </a:t>
            </a:r>
            <a:r>
              <a:rPr dirty="0"/>
              <a:t>establishing</a:t>
            </a:r>
            <a:r>
              <a:rPr spc="-60" dirty="0"/>
              <a:t> </a:t>
            </a:r>
            <a:r>
              <a:rPr dirty="0"/>
              <a:t>plans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goals</a:t>
            </a:r>
            <a:r>
              <a:rPr spc="-65" dirty="0"/>
              <a:t> </a:t>
            </a:r>
            <a:r>
              <a:rPr spc="-20" dirty="0"/>
              <a:t>that </a:t>
            </a:r>
            <a:r>
              <a:rPr dirty="0"/>
              <a:t>affect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entire</a:t>
            </a:r>
            <a:r>
              <a:rPr spc="-35" dirty="0"/>
              <a:t> </a:t>
            </a:r>
            <a:r>
              <a:rPr spc="-10" dirty="0"/>
              <a:t>organization.</a:t>
            </a:r>
          </a:p>
          <a:p>
            <a:pPr marL="355600" marR="32384" indent="-342900">
              <a:lnSpc>
                <a:spcPct val="92100"/>
              </a:lnSpc>
              <a:spcBef>
                <a:spcPts val="370"/>
              </a:spcBef>
              <a:buFont typeface="Arial"/>
              <a:buChar char="•"/>
              <a:tabLst>
                <a:tab pos="355600" algn="l"/>
              </a:tabLst>
            </a:pPr>
            <a:r>
              <a:rPr b="1" dirty="0">
                <a:latin typeface="Arial"/>
                <a:cs typeface="Arial"/>
              </a:rPr>
              <a:t>Middle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Managers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Individuals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manage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work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first-</a:t>
            </a:r>
            <a:r>
              <a:rPr spc="-20" dirty="0"/>
              <a:t>line </a:t>
            </a:r>
            <a:r>
              <a:rPr spc="-10" dirty="0"/>
              <a:t>managers.</a:t>
            </a:r>
          </a:p>
          <a:p>
            <a:pPr marL="355600" marR="5080" indent="-342900">
              <a:lnSpc>
                <a:spcPct val="90000"/>
              </a:lnSpc>
              <a:spcBef>
                <a:spcPts val="420"/>
              </a:spcBef>
              <a:buFont typeface="Arial"/>
              <a:buChar char="•"/>
              <a:tabLst>
                <a:tab pos="355600" algn="l"/>
              </a:tabLst>
            </a:pPr>
            <a:r>
              <a:rPr b="1" spc="-10" dirty="0">
                <a:latin typeface="Arial"/>
                <a:cs typeface="Arial"/>
              </a:rPr>
              <a:t>First-</a:t>
            </a:r>
            <a:r>
              <a:rPr b="1" dirty="0">
                <a:latin typeface="Arial"/>
                <a:cs typeface="Arial"/>
              </a:rPr>
              <a:t>line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Managers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10" dirty="0"/>
              <a:t>Individuals </a:t>
            </a:r>
            <a:r>
              <a:rPr dirty="0"/>
              <a:t>who</a:t>
            </a:r>
            <a:r>
              <a:rPr spc="-30" dirty="0"/>
              <a:t> </a:t>
            </a:r>
            <a:r>
              <a:rPr dirty="0"/>
              <a:t>manage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work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0" dirty="0"/>
              <a:t>non- </a:t>
            </a:r>
            <a:r>
              <a:rPr dirty="0"/>
              <a:t>managerial</a:t>
            </a:r>
            <a:r>
              <a:rPr spc="-90" dirty="0"/>
              <a:t> </a:t>
            </a:r>
            <a:r>
              <a:rPr spc="-10" dirty="0"/>
              <a:t>employees.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Level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657" y="1713781"/>
            <a:ext cx="3494404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indent="-201295">
              <a:lnSpc>
                <a:spcPts val="3110"/>
              </a:lnSpc>
              <a:spcBef>
                <a:spcPts val="100"/>
              </a:spcBef>
              <a:buChar char="-"/>
              <a:tabLst>
                <a:tab pos="213995" algn="l"/>
              </a:tabLst>
            </a:pPr>
            <a:r>
              <a:rPr sz="2600" dirty="0">
                <a:latin typeface="Arial"/>
                <a:cs typeface="Arial"/>
              </a:rPr>
              <a:t>Strategic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managers</a:t>
            </a:r>
            <a:endParaRPr sz="2600">
              <a:latin typeface="Arial"/>
              <a:cs typeface="Arial"/>
            </a:endParaRPr>
          </a:p>
          <a:p>
            <a:pPr marL="208279" indent="-195580">
              <a:lnSpc>
                <a:spcPts val="3100"/>
              </a:lnSpc>
              <a:buChar char="-"/>
              <a:tabLst>
                <a:tab pos="208279" algn="l"/>
              </a:tabLst>
            </a:pPr>
            <a:r>
              <a:rPr sz="2600" spc="-30" dirty="0">
                <a:latin typeface="Arial"/>
                <a:cs typeface="Arial"/>
              </a:rPr>
              <a:t>Tactical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managers</a:t>
            </a:r>
            <a:endParaRPr sz="2600">
              <a:latin typeface="Arial"/>
              <a:cs typeface="Arial"/>
            </a:endParaRPr>
          </a:p>
          <a:p>
            <a:pPr marL="213995" indent="-201295">
              <a:lnSpc>
                <a:spcPts val="3110"/>
              </a:lnSpc>
              <a:buChar char="-"/>
              <a:tabLst>
                <a:tab pos="213995" algn="l"/>
              </a:tabLst>
            </a:pPr>
            <a:r>
              <a:rPr sz="2600" dirty="0">
                <a:latin typeface="Arial"/>
                <a:cs typeface="Arial"/>
              </a:rPr>
              <a:t>Operational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managers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051" y="1303373"/>
            <a:ext cx="4738747" cy="4154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Time</a:t>
            </a:r>
            <a:r>
              <a:rPr spc="-65" dirty="0"/>
              <a:t> </a:t>
            </a:r>
            <a:r>
              <a:rPr dirty="0"/>
              <a:t>managers</a:t>
            </a:r>
            <a:r>
              <a:rPr spc="-65" dirty="0"/>
              <a:t> </a:t>
            </a:r>
            <a:r>
              <a:rPr dirty="0"/>
              <a:t>spend</a:t>
            </a:r>
            <a:r>
              <a:rPr spc="-70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dirty="0"/>
              <a:t>different</a:t>
            </a:r>
            <a:r>
              <a:rPr spc="-70" dirty="0"/>
              <a:t> </a:t>
            </a:r>
            <a:r>
              <a:rPr spc="-10" dirty="0"/>
              <a:t>functions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different</a:t>
            </a:r>
            <a:r>
              <a:rPr spc="-50" dirty="0"/>
              <a:t> </a:t>
            </a:r>
            <a:r>
              <a:rPr spc="-10" dirty="0"/>
              <a:t>levels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235" y="1800225"/>
            <a:ext cx="7012116" cy="33499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6108" y="5637274"/>
            <a:ext cx="6226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Source: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Robbins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al.,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Fundamentals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management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(2005)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168617"/>
            <a:ext cx="7032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1.4</a:t>
            </a:r>
            <a:r>
              <a:rPr sz="2800" spc="-55" dirty="0"/>
              <a:t> </a:t>
            </a:r>
            <a:r>
              <a:rPr sz="2800" spc="-10" dirty="0">
                <a:solidFill>
                  <a:srgbClr val="0085CC"/>
                </a:solidFill>
              </a:rPr>
              <a:t>NECESSARY</a:t>
            </a:r>
            <a:r>
              <a:rPr sz="2800" spc="-95" dirty="0">
                <a:solidFill>
                  <a:srgbClr val="0085CC"/>
                </a:solidFill>
              </a:rPr>
              <a:t> </a:t>
            </a:r>
            <a:r>
              <a:rPr sz="2800" dirty="0">
                <a:solidFill>
                  <a:srgbClr val="0085CC"/>
                </a:solidFill>
              </a:rPr>
              <a:t>SKILLS</a:t>
            </a:r>
            <a:r>
              <a:rPr sz="2800" spc="-45" dirty="0">
                <a:solidFill>
                  <a:srgbClr val="0085CC"/>
                </a:solidFill>
              </a:rPr>
              <a:t> </a:t>
            </a:r>
            <a:r>
              <a:rPr sz="2800" dirty="0">
                <a:solidFill>
                  <a:srgbClr val="0085CC"/>
                </a:solidFill>
              </a:rPr>
              <a:t>OF</a:t>
            </a:r>
            <a:r>
              <a:rPr sz="2800" spc="-145" dirty="0">
                <a:solidFill>
                  <a:srgbClr val="0085CC"/>
                </a:solidFill>
              </a:rPr>
              <a:t> </a:t>
            </a:r>
            <a:r>
              <a:rPr sz="2800" dirty="0">
                <a:solidFill>
                  <a:srgbClr val="0085CC"/>
                </a:solidFill>
              </a:rPr>
              <a:t>A</a:t>
            </a:r>
            <a:r>
              <a:rPr sz="2800" spc="-145" dirty="0">
                <a:solidFill>
                  <a:srgbClr val="0085CC"/>
                </a:solidFill>
              </a:rPr>
              <a:t> </a:t>
            </a:r>
            <a:r>
              <a:rPr sz="2800" spc="-10" dirty="0">
                <a:solidFill>
                  <a:srgbClr val="0085CC"/>
                </a:solidFill>
              </a:rPr>
              <a:t>MANAGER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spc="-30" dirty="0"/>
              <a:t> </a:t>
            </a:r>
            <a:r>
              <a:rPr dirty="0"/>
              <a:t>main</a:t>
            </a:r>
            <a:r>
              <a:rPr spc="-30" dirty="0"/>
              <a:t> </a:t>
            </a:r>
            <a:r>
              <a:rPr dirty="0"/>
              <a:t>skills</a:t>
            </a:r>
            <a:r>
              <a:rPr spc="-30" dirty="0"/>
              <a:t> </a:t>
            </a:r>
            <a:r>
              <a:rPr dirty="0"/>
              <a:t>managers</a:t>
            </a:r>
            <a:r>
              <a:rPr spc="-25" dirty="0"/>
              <a:t> </a:t>
            </a:r>
            <a:r>
              <a:rPr spc="-20" dirty="0"/>
              <a:t>need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175766"/>
            <a:ext cx="7783830" cy="32238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25" dirty="0">
                <a:latin typeface="Arial"/>
                <a:cs typeface="Arial"/>
              </a:rPr>
              <a:t>Technical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skills</a:t>
            </a:r>
            <a:endParaRPr sz="28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515"/>
              </a:spcBef>
              <a:buChar char="–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proficiency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field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Human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skills</a:t>
            </a:r>
            <a:endParaRPr sz="28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545"/>
              </a:spcBef>
              <a:buChar char="–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ability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people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Conceptual</a:t>
            </a:r>
            <a:r>
              <a:rPr sz="2800" b="1" spc="-1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skills</a:t>
            </a:r>
            <a:endParaRPr sz="2800">
              <a:latin typeface="Arial"/>
              <a:cs typeface="Arial"/>
            </a:endParaRPr>
          </a:p>
          <a:p>
            <a:pPr marL="749300" marR="5080" lvl="1" indent="-279400">
              <a:lnSpc>
                <a:spcPts val="2820"/>
              </a:lnSpc>
              <a:spcBef>
                <a:spcPts val="690"/>
              </a:spcBef>
              <a:buChar char="–"/>
              <a:tabLst>
                <a:tab pos="749300" algn="l"/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	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ability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conceptualize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abstract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complex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situations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concerning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organization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/>
              <a:t>Skills</a:t>
            </a:r>
            <a:r>
              <a:rPr spc="-55" dirty="0"/>
              <a:t> </a:t>
            </a:r>
            <a:r>
              <a:rPr dirty="0"/>
              <a:t>needed</a:t>
            </a:r>
            <a:r>
              <a:rPr spc="-60" dirty="0"/>
              <a:t> </a:t>
            </a:r>
            <a:r>
              <a:rPr dirty="0"/>
              <a:t>at</a:t>
            </a:r>
            <a:r>
              <a:rPr spc="-60" dirty="0"/>
              <a:t> </a:t>
            </a:r>
            <a:r>
              <a:rPr dirty="0"/>
              <a:t>different</a:t>
            </a:r>
            <a:r>
              <a:rPr spc="-60" dirty="0"/>
              <a:t> </a:t>
            </a:r>
            <a:r>
              <a:rPr dirty="0"/>
              <a:t>managerial</a:t>
            </a:r>
            <a:r>
              <a:rPr spc="-55" dirty="0"/>
              <a:t> </a:t>
            </a:r>
            <a:r>
              <a:rPr spc="-10" dirty="0"/>
              <a:t>levels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35" y="1883832"/>
            <a:ext cx="8493124" cy="24985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Managers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Fast-</a:t>
            </a:r>
            <a:r>
              <a:rPr dirty="0"/>
              <a:t>Changing</a:t>
            </a:r>
            <a:r>
              <a:rPr spc="-70" dirty="0"/>
              <a:t> </a:t>
            </a:r>
            <a:r>
              <a:rPr spc="-10" dirty="0"/>
              <a:t>World?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702" y="1467737"/>
            <a:ext cx="8556625" cy="28829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1600"/>
              </a:spcBef>
              <a:buChar char="•"/>
              <a:tabLst>
                <a:tab pos="212090" algn="l"/>
              </a:tabLst>
            </a:pPr>
            <a:r>
              <a:rPr sz="2500" dirty="0">
                <a:latin typeface="Arial"/>
                <a:cs typeface="Arial"/>
              </a:rPr>
              <a:t>Management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no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longer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constrained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by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national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borders</a:t>
            </a:r>
            <a:endParaRPr sz="25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500"/>
              </a:spcBef>
              <a:buChar char="•"/>
              <a:tabLst>
                <a:tab pos="212090" algn="l"/>
              </a:tabLst>
            </a:pPr>
            <a:r>
              <a:rPr sz="2500" dirty="0">
                <a:latin typeface="Arial"/>
                <a:cs typeface="Arial"/>
              </a:rPr>
              <a:t>Managers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need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understand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what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going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the</a:t>
            </a:r>
            <a:r>
              <a:rPr sz="2500" spc="-10" dirty="0">
                <a:latin typeface="Arial"/>
                <a:cs typeface="Arial"/>
              </a:rPr>
              <a:t> world</a:t>
            </a:r>
            <a:endParaRPr sz="2500">
              <a:latin typeface="Arial"/>
              <a:cs typeface="Arial"/>
            </a:endParaRPr>
          </a:p>
          <a:p>
            <a:pPr marL="12700" marR="964565" indent="199390">
              <a:lnSpc>
                <a:spcPct val="150000"/>
              </a:lnSpc>
              <a:buChar char="•"/>
              <a:tabLst>
                <a:tab pos="212090" algn="l"/>
              </a:tabLst>
            </a:pPr>
            <a:r>
              <a:rPr sz="2500" dirty="0">
                <a:latin typeface="Arial"/>
                <a:cs typeface="Arial"/>
              </a:rPr>
              <a:t>Managers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need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take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into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consideration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different </a:t>
            </a:r>
            <a:r>
              <a:rPr sz="2500" dirty="0">
                <a:latin typeface="Arial"/>
                <a:cs typeface="Arial"/>
              </a:rPr>
              <a:t>economic,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political,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legal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cultural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systems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other countries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8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33255" y="6434772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601</Words>
  <Application>Microsoft Office PowerPoint</Application>
  <PresentationFormat>On-screen Show (4:3)</PresentationFormat>
  <Paragraphs>109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LEARNING OUTCOMES</vt:lpstr>
      <vt:lpstr>CONTENTS</vt:lpstr>
      <vt:lpstr>1.1 SOME BASIC CONCEPTS</vt:lpstr>
      <vt:lpstr>What is Organization?</vt:lpstr>
      <vt:lpstr>What is Organization?</vt:lpstr>
      <vt:lpstr>What is Enterprise?</vt:lpstr>
      <vt:lpstr>Who is manager?</vt:lpstr>
      <vt:lpstr>What is management?</vt:lpstr>
      <vt:lpstr>Efficiency and Effectiveness</vt:lpstr>
      <vt:lpstr>Efficiency and Effectiveness</vt:lpstr>
      <vt:lpstr>1.2 ROLES OF A MANAGER IN AN ORGANIZATION</vt:lpstr>
      <vt:lpstr>Three types of roles</vt:lpstr>
      <vt:lpstr>Three types of roles</vt:lpstr>
      <vt:lpstr>Three types of roles</vt:lpstr>
      <vt:lpstr>The role that Manager play</vt:lpstr>
      <vt:lpstr>1.3 BASIC FUNCTIONS OF A MANAGER IN AN ORGANIZATION</vt:lpstr>
      <vt:lpstr>Four functions of management</vt:lpstr>
      <vt:lpstr>Why are managers important?</vt:lpstr>
      <vt:lpstr>1.4 MANAGEMENT LEVELS</vt:lpstr>
      <vt:lpstr>Level of management</vt:lpstr>
      <vt:lpstr>Level of management</vt:lpstr>
      <vt:lpstr>Time managers spend on different functions at different levels</vt:lpstr>
      <vt:lpstr>1.4 NECESSARY SKILLS OF A MANAGER</vt:lpstr>
      <vt:lpstr>Three main skills managers need</vt:lpstr>
      <vt:lpstr>Skills needed at different managerial levels</vt:lpstr>
      <vt:lpstr>Managers with the Fast-Changing World?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Tung Le</dc:creator>
  <cp:lastModifiedBy>Vũ Hà</cp:lastModifiedBy>
  <cp:revision>4</cp:revision>
  <dcterms:created xsi:type="dcterms:W3CDTF">2024-06-23T14:43:47Z</dcterms:created>
  <dcterms:modified xsi:type="dcterms:W3CDTF">2024-06-27T13:44:58Z</dcterms:modified>
</cp:coreProperties>
</file>