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j37OVWICCvc1dpZBPGfLnvnJB+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Liaison: liên lạc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Disseminator: người phổ biến / truyền bá</a:t>
            </a:r>
            <a:endParaRPr/>
          </a:p>
        </p:txBody>
      </p:sp>
      <p:sp>
        <p:nvSpPr>
          <p:cNvPr id="175" name="Google Shape;175;p13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" type="body"/>
          </p:nvPr>
        </p:nvSpPr>
        <p:spPr>
          <a:xfrm>
            <a:off x="4342129" y="1938020"/>
            <a:ext cx="4123690" cy="31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1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2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/>
          <p:nvPr>
            <p:ph type="ctrTitle"/>
          </p:nvPr>
        </p:nvSpPr>
        <p:spPr>
          <a:xfrm>
            <a:off x="535924" y="461097"/>
            <a:ext cx="40474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4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4342129" y="1938020"/>
            <a:ext cx="4123690" cy="31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5.png"/><Relationship Id="rId13" Type="http://schemas.openxmlformats.org/officeDocument/2006/relationships/image" Target="../media/image17.jpg"/><Relationship Id="rId1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2.png"/><Relationship Id="rId14" Type="http://schemas.openxmlformats.org/officeDocument/2006/relationships/image" Target="../media/image26.jp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8" name="Google Shape;48;p1"/>
          <p:cNvSpPr/>
          <p:nvPr/>
        </p:nvSpPr>
        <p:spPr>
          <a:xfrm flipH="1" rot="10800000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rgbClr val="4F81BD">
                  <a:alpha val="40784"/>
                </a:srgbClr>
              </a:gs>
              <a:gs pos="74000">
                <a:srgbClr val="93B3D7">
                  <a:alpha val="0"/>
                </a:srgbClr>
              </a:gs>
              <a:gs pos="100000">
                <a:srgbClr val="93B3D7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0" name="Google Shape;50;p1"/>
          <p:cNvSpPr/>
          <p:nvPr/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78000">
                <a:srgbClr val="4F81BD">
                  <a:alpha val="14901"/>
                </a:srgbClr>
              </a:gs>
              <a:gs pos="100000">
                <a:srgbClr val="4F81BD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24784" y="248038"/>
            <a:ext cx="5297791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 1:</a:t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MANAGEMENT AND ORGANIZATION</a:t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isk management&quot; – 337.010 Ảnh, vector, đối tượng 3D và hình chụp có sẵn |  Shutterstock" id="52" name="Google Shape;52;p1"/>
          <p:cNvPicPr preferRelativeResize="0"/>
          <p:nvPr/>
        </p:nvPicPr>
        <p:blipFill rotWithShape="1">
          <a:blip r:embed="rId3">
            <a:alphaModFix/>
          </a:blip>
          <a:srcRect b="5488" l="3057" r="5215" t="2655"/>
          <a:stretch/>
        </p:blipFill>
        <p:spPr>
          <a:xfrm>
            <a:off x="0" y="1966293"/>
            <a:ext cx="9143999" cy="443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5"/>
          <p:cNvGrpSpPr/>
          <p:nvPr/>
        </p:nvGrpSpPr>
        <p:grpSpPr>
          <a:xfrm>
            <a:off x="0" y="1130157"/>
            <a:ext cx="9143998" cy="5727841"/>
            <a:chOff x="0" y="1130157"/>
            <a:chExt cx="9143998" cy="5727841"/>
          </a:xfrm>
        </p:grpSpPr>
        <p:pic>
          <p:nvPicPr>
            <p:cNvPr id="58" name="Google Shape;5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30157"/>
              <a:ext cx="9143998" cy="5346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3821" y="5140191"/>
              <a:ext cx="2023177" cy="17178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15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types of roles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900">
            <a:spAutoFit/>
          </a:bodyPr>
          <a:lstStyle/>
          <a:p>
            <a:pPr indent="0" lvl="0" marL="5060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CONTENTS</a:t>
            </a:r>
            <a:endParaRPr sz="3200"/>
          </a:p>
        </p:txBody>
      </p:sp>
      <p:grpSp>
        <p:nvGrpSpPr>
          <p:cNvPr id="66" name="Google Shape;66;p3"/>
          <p:cNvGrpSpPr/>
          <p:nvPr/>
        </p:nvGrpSpPr>
        <p:grpSpPr>
          <a:xfrm>
            <a:off x="354571" y="1391614"/>
            <a:ext cx="278765" cy="461645"/>
            <a:chOff x="354571" y="1391614"/>
            <a:chExt cx="278765" cy="461645"/>
          </a:xfrm>
        </p:grpSpPr>
        <p:sp>
          <p:nvSpPr>
            <p:cNvPr id="67" name="Google Shape;67;p3"/>
            <p:cNvSpPr/>
            <p:nvPr/>
          </p:nvSpPr>
          <p:spPr>
            <a:xfrm>
              <a:off x="354571" y="1391614"/>
              <a:ext cx="278765" cy="461645"/>
            </a:xfrm>
            <a:custGeom>
              <a:rect b="b" l="l" r="r" t="t"/>
              <a:pathLst>
                <a:path extrusionOk="0" h="461644" w="278765">
                  <a:moveTo>
                    <a:pt x="278142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42" y="461086"/>
                  </a:lnTo>
                  <a:lnTo>
                    <a:pt x="149364" y="230543"/>
                  </a:lnTo>
                  <a:lnTo>
                    <a:pt x="278142" y="0"/>
                  </a:lnTo>
                  <a:close/>
                </a:path>
              </a:pathLst>
            </a:custGeom>
            <a:solidFill>
              <a:srgbClr val="7098C6">
                <a:alpha val="9058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354577" y="1407707"/>
              <a:ext cx="156210" cy="428625"/>
            </a:xfrm>
            <a:custGeom>
              <a:rect b="b" l="l" r="r" t="t"/>
              <a:pathLst>
                <a:path extrusionOk="0" h="428625" w="156209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9" name="Google Shape;69;p3"/>
          <p:cNvSpPr txBox="1"/>
          <p:nvPr/>
        </p:nvSpPr>
        <p:spPr>
          <a:xfrm>
            <a:off x="912099" y="1417985"/>
            <a:ext cx="7486015" cy="426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06730" lvl="1" marL="527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Some Basic Concepts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2335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506730" lvl="1" marL="527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Roles of a manager in an organization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206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506730" lvl="1" marL="527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Basic functions of a manager in an organization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85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506730" lvl="1" marL="519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Management levels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506730" lvl="1" marL="6051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Necessary Skills of a manager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"/>
          <p:cNvGrpSpPr/>
          <p:nvPr/>
        </p:nvGrpSpPr>
        <p:grpSpPr>
          <a:xfrm>
            <a:off x="402818" y="2354694"/>
            <a:ext cx="278765" cy="461645"/>
            <a:chOff x="402818" y="2354694"/>
            <a:chExt cx="278765" cy="461645"/>
          </a:xfrm>
        </p:grpSpPr>
        <p:sp>
          <p:nvSpPr>
            <p:cNvPr id="71" name="Google Shape;71;p3"/>
            <p:cNvSpPr/>
            <p:nvPr/>
          </p:nvSpPr>
          <p:spPr>
            <a:xfrm>
              <a:off x="402818" y="2354694"/>
              <a:ext cx="278765" cy="461645"/>
            </a:xfrm>
            <a:custGeom>
              <a:rect b="b" l="l" r="r" t="t"/>
              <a:pathLst>
                <a:path extrusionOk="0" h="461644" w="278765">
                  <a:moveTo>
                    <a:pt x="278155" y="0"/>
                  </a:moveTo>
                  <a:lnTo>
                    <a:pt x="128790" y="0"/>
                  </a:lnTo>
                  <a:lnTo>
                    <a:pt x="0" y="230555"/>
                  </a:lnTo>
                  <a:lnTo>
                    <a:pt x="128790" y="461098"/>
                  </a:lnTo>
                  <a:lnTo>
                    <a:pt x="278155" y="461098"/>
                  </a:lnTo>
                  <a:lnTo>
                    <a:pt x="149364" y="230555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58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402830" y="2370790"/>
              <a:ext cx="156210" cy="428625"/>
            </a:xfrm>
            <a:custGeom>
              <a:rect b="b" l="l" r="r" t="t"/>
              <a:pathLst>
                <a:path extrusionOk="0" h="428625" w="156209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402818" y="3430828"/>
            <a:ext cx="278765" cy="461645"/>
            <a:chOff x="402818" y="3430828"/>
            <a:chExt cx="278765" cy="461645"/>
          </a:xfrm>
        </p:grpSpPr>
        <p:sp>
          <p:nvSpPr>
            <p:cNvPr id="74" name="Google Shape;74;p3"/>
            <p:cNvSpPr/>
            <p:nvPr/>
          </p:nvSpPr>
          <p:spPr>
            <a:xfrm>
              <a:off x="402818" y="3430828"/>
              <a:ext cx="278765" cy="461645"/>
            </a:xfrm>
            <a:custGeom>
              <a:rect b="b" l="l" r="r" t="t"/>
              <a:pathLst>
                <a:path extrusionOk="0" h="461645" w="278765">
                  <a:moveTo>
                    <a:pt x="278155" y="0"/>
                  </a:moveTo>
                  <a:lnTo>
                    <a:pt x="128778" y="0"/>
                  </a:lnTo>
                  <a:lnTo>
                    <a:pt x="0" y="230555"/>
                  </a:lnTo>
                  <a:lnTo>
                    <a:pt x="128778" y="461098"/>
                  </a:lnTo>
                  <a:lnTo>
                    <a:pt x="278155" y="461098"/>
                  </a:lnTo>
                  <a:lnTo>
                    <a:pt x="149364" y="230555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58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02826" y="3446926"/>
              <a:ext cx="156210" cy="428625"/>
            </a:xfrm>
            <a:custGeom>
              <a:rect b="b" l="l" r="r" t="t"/>
              <a:pathLst>
                <a:path extrusionOk="0" h="428625" w="156209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6" name="Google Shape;76;p3"/>
          <p:cNvGrpSpPr/>
          <p:nvPr/>
        </p:nvGrpSpPr>
        <p:grpSpPr>
          <a:xfrm>
            <a:off x="394817" y="4382160"/>
            <a:ext cx="278765" cy="461645"/>
            <a:chOff x="394817" y="4382160"/>
            <a:chExt cx="278765" cy="461645"/>
          </a:xfrm>
        </p:grpSpPr>
        <p:sp>
          <p:nvSpPr>
            <p:cNvPr id="77" name="Google Shape;77;p3"/>
            <p:cNvSpPr/>
            <p:nvPr/>
          </p:nvSpPr>
          <p:spPr>
            <a:xfrm>
              <a:off x="394817" y="4382160"/>
              <a:ext cx="278765" cy="461645"/>
            </a:xfrm>
            <a:custGeom>
              <a:rect b="b" l="l" r="r" t="t"/>
              <a:pathLst>
                <a:path extrusionOk="0" h="461645" w="278765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58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394825" y="4398248"/>
              <a:ext cx="156210" cy="428625"/>
            </a:xfrm>
            <a:custGeom>
              <a:rect b="b" l="l" r="r" t="t"/>
              <a:pathLst>
                <a:path extrusionOk="0" h="428625" w="156209">
                  <a:moveTo>
                    <a:pt x="0" y="0"/>
                  </a:moveTo>
                  <a:lnTo>
                    <a:pt x="0" y="428199"/>
                  </a:lnTo>
                  <a:lnTo>
                    <a:pt x="155674" y="214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9" name="Google Shape;79;p3"/>
          <p:cNvGrpSpPr/>
          <p:nvPr/>
        </p:nvGrpSpPr>
        <p:grpSpPr>
          <a:xfrm>
            <a:off x="480987" y="5317566"/>
            <a:ext cx="278765" cy="461645"/>
            <a:chOff x="480987" y="5317566"/>
            <a:chExt cx="278765" cy="461645"/>
          </a:xfrm>
        </p:grpSpPr>
        <p:sp>
          <p:nvSpPr>
            <p:cNvPr id="80" name="Google Shape;80;p3"/>
            <p:cNvSpPr/>
            <p:nvPr/>
          </p:nvSpPr>
          <p:spPr>
            <a:xfrm>
              <a:off x="480987" y="5317566"/>
              <a:ext cx="278765" cy="461645"/>
            </a:xfrm>
            <a:custGeom>
              <a:rect b="b" l="l" r="r" t="t"/>
              <a:pathLst>
                <a:path extrusionOk="0" h="461645" w="278765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58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480997" y="5333653"/>
              <a:ext cx="156210" cy="428625"/>
            </a:xfrm>
            <a:custGeom>
              <a:rect b="b" l="l" r="r" t="t"/>
              <a:pathLst>
                <a:path extrusionOk="0" h="428625" w="156209">
                  <a:moveTo>
                    <a:pt x="0" y="0"/>
                  </a:moveTo>
                  <a:lnTo>
                    <a:pt x="0" y="428198"/>
                  </a:lnTo>
                  <a:lnTo>
                    <a:pt x="155675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type="title"/>
          </p:nvPr>
        </p:nvSpPr>
        <p:spPr>
          <a:xfrm>
            <a:off x="888021" y="3202863"/>
            <a:ext cx="600011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76092"/>
                </a:solidFill>
              </a:rPr>
              <a:t>1.1 SOME BASIC CONCEPTS</a:t>
            </a:r>
            <a:endParaRPr sz="3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535924" y="461097"/>
            <a:ext cx="40474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Organization?</a:t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383538" y="1163177"/>
            <a:ext cx="8100695" cy="307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5080" rtl="0" algn="l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Organization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A </a:t>
            </a:r>
            <a:r>
              <a:rPr b="1" lang="en-US" sz="2600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deliberate arrangement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US" sz="2600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people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assembled to accomplish some </a:t>
            </a:r>
            <a:r>
              <a:rPr b="1" lang="en-US" sz="2600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specific purpose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(that individuals independently could not accomplish alone).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98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Common characteristics of Organizations: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199" lvl="0" marL="926464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282828"/>
              </a:buClr>
              <a:buSzPts val="2400"/>
              <a:buFont typeface="Arial"/>
              <a:buChar char="►"/>
            </a:pPr>
            <a:r>
              <a:rPr lang="en-US" sz="2400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Have a distinct purpose (goal)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199" lvl="0" marL="926464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282828"/>
              </a:buClr>
              <a:buSzPts val="2400"/>
              <a:buFont typeface="Arial"/>
              <a:buChar char="►"/>
            </a:pPr>
            <a:r>
              <a:rPr lang="en-US" sz="2400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Are composed of people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199" lvl="0" marL="926464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282828"/>
              </a:buClr>
              <a:buSzPts val="2400"/>
              <a:buFont typeface="Arial"/>
              <a:buChar char="►"/>
            </a:pPr>
            <a:r>
              <a:rPr lang="en-US" sz="2400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Have a deliberate structure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9206" y="4159869"/>
            <a:ext cx="5044791" cy="2561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ctrTitle"/>
          </p:nvPr>
        </p:nvSpPr>
        <p:spPr>
          <a:xfrm>
            <a:off x="535924" y="461097"/>
            <a:ext cx="40474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Organization?</a:t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364490" y="1434565"/>
            <a:ext cx="4852670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 Name an organization you like?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Enterprise?</a:t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935354" y="4551899"/>
            <a:ext cx="635571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	Distinguish Enterprise vs. Organization?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7"/>
          <p:cNvGrpSpPr/>
          <p:nvPr/>
        </p:nvGrpSpPr>
        <p:grpSpPr>
          <a:xfrm>
            <a:off x="660861" y="1982586"/>
            <a:ext cx="2190403" cy="752301"/>
            <a:chOff x="660861" y="1982586"/>
            <a:chExt cx="2190403" cy="752301"/>
          </a:xfrm>
        </p:grpSpPr>
        <p:pic>
          <p:nvPicPr>
            <p:cNvPr id="110" name="Google Shape;11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0861" y="1982586"/>
              <a:ext cx="2190403" cy="75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38348" y="2103119"/>
              <a:ext cx="831272" cy="523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7"/>
          <p:cNvSpPr txBox="1"/>
          <p:nvPr/>
        </p:nvSpPr>
        <p:spPr>
          <a:xfrm>
            <a:off x="709929" y="2008800"/>
            <a:ext cx="2091689" cy="651510"/>
          </a:xfrm>
          <a:prstGeom prst="rect">
            <a:avLst/>
          </a:prstGeom>
          <a:noFill/>
          <a:ln cap="flat" cmpd="sng" w="9525">
            <a:solidFill>
              <a:srgbClr val="5B9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42875">
            <a:spAutoFit/>
          </a:bodyPr>
          <a:lstStyle/>
          <a:p>
            <a:pPr indent="0" lvl="0" marL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Input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7"/>
          <p:cNvGrpSpPr/>
          <p:nvPr/>
        </p:nvGrpSpPr>
        <p:grpSpPr>
          <a:xfrm>
            <a:off x="3503814" y="1982586"/>
            <a:ext cx="2194560" cy="752301"/>
            <a:chOff x="3503814" y="1982586"/>
            <a:chExt cx="2194560" cy="752301"/>
          </a:xfrm>
        </p:grpSpPr>
        <p:pic>
          <p:nvPicPr>
            <p:cNvPr id="114" name="Google Shape;114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03814" y="1982586"/>
              <a:ext cx="2194560" cy="75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81796" y="2103119"/>
              <a:ext cx="1234439" cy="523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7"/>
          <p:cNvSpPr txBox="1"/>
          <p:nvPr/>
        </p:nvSpPr>
        <p:spPr>
          <a:xfrm>
            <a:off x="3556000" y="2008800"/>
            <a:ext cx="2091689" cy="651510"/>
          </a:xfrm>
          <a:prstGeom prst="rect">
            <a:avLst/>
          </a:prstGeom>
          <a:noFill/>
          <a:ln cap="flat" cmpd="sng" w="9525">
            <a:solidFill>
              <a:srgbClr val="5B9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42875">
            <a:spAutoFit/>
          </a:bodyPr>
          <a:lstStyle/>
          <a:p>
            <a:pPr indent="0" lvl="0" marL="4978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Process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7"/>
          <p:cNvGrpSpPr/>
          <p:nvPr/>
        </p:nvGrpSpPr>
        <p:grpSpPr>
          <a:xfrm>
            <a:off x="6234545" y="1982586"/>
            <a:ext cx="2194560" cy="752301"/>
            <a:chOff x="6234545" y="1982586"/>
            <a:chExt cx="2194560" cy="752301"/>
          </a:xfrm>
        </p:grpSpPr>
        <p:pic>
          <p:nvPicPr>
            <p:cNvPr id="118" name="Google Shape;118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34545" y="1982586"/>
              <a:ext cx="2194560" cy="75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803966" y="2103119"/>
              <a:ext cx="1068185" cy="523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7"/>
          <p:cNvSpPr txBox="1"/>
          <p:nvPr/>
        </p:nvSpPr>
        <p:spPr>
          <a:xfrm>
            <a:off x="6286498" y="2008800"/>
            <a:ext cx="2091689" cy="651510"/>
          </a:xfrm>
          <a:prstGeom prst="rect">
            <a:avLst/>
          </a:prstGeom>
          <a:noFill/>
          <a:ln cap="flat" cmpd="sng" w="9525">
            <a:solidFill>
              <a:srgbClr val="5B9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42875">
            <a:spAutoFit/>
          </a:bodyPr>
          <a:lstStyle/>
          <a:p>
            <a:pPr indent="0" lvl="0" marL="5911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Output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7"/>
          <p:cNvGrpSpPr/>
          <p:nvPr/>
        </p:nvGrpSpPr>
        <p:grpSpPr>
          <a:xfrm>
            <a:off x="2942705" y="2182090"/>
            <a:ext cx="502919" cy="332509"/>
            <a:chOff x="2942705" y="2182090"/>
            <a:chExt cx="502919" cy="332509"/>
          </a:xfrm>
        </p:grpSpPr>
        <p:pic>
          <p:nvPicPr>
            <p:cNvPr id="122" name="Google Shape;122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942705" y="2182090"/>
              <a:ext cx="502919" cy="3325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994659" y="2217419"/>
              <a:ext cx="400050" cy="2171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7"/>
            <p:cNvSpPr/>
            <p:nvPr/>
          </p:nvSpPr>
          <p:spPr>
            <a:xfrm>
              <a:off x="2994659" y="2217420"/>
              <a:ext cx="400050" cy="217170"/>
            </a:xfrm>
            <a:custGeom>
              <a:rect b="b" l="l" r="r" t="t"/>
              <a:pathLst>
                <a:path extrusionOk="0" h="217169" w="400050">
                  <a:moveTo>
                    <a:pt x="0" y="54292"/>
                  </a:moveTo>
                  <a:lnTo>
                    <a:pt x="291464" y="54292"/>
                  </a:lnTo>
                  <a:lnTo>
                    <a:pt x="291464" y="0"/>
                  </a:lnTo>
                  <a:lnTo>
                    <a:pt x="400049" y="108584"/>
                  </a:lnTo>
                  <a:lnTo>
                    <a:pt x="291464" y="217170"/>
                  </a:lnTo>
                  <a:lnTo>
                    <a:pt x="291464" y="162878"/>
                  </a:lnTo>
                  <a:lnTo>
                    <a:pt x="0" y="162878"/>
                  </a:lnTo>
                  <a:lnTo>
                    <a:pt x="0" y="54292"/>
                  </a:lnTo>
                  <a:close/>
                </a:path>
              </a:pathLst>
            </a:custGeom>
            <a:noFill/>
            <a:ln cap="flat" cmpd="sng" w="9525">
              <a:solidFill>
                <a:srgbClr val="5B92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25" name="Google Shape;125;p7"/>
          <p:cNvGrpSpPr/>
          <p:nvPr/>
        </p:nvGrpSpPr>
        <p:grpSpPr>
          <a:xfrm>
            <a:off x="5756563" y="2182090"/>
            <a:ext cx="502920" cy="332509"/>
            <a:chOff x="5756563" y="2182090"/>
            <a:chExt cx="502920" cy="332509"/>
          </a:xfrm>
        </p:grpSpPr>
        <p:pic>
          <p:nvPicPr>
            <p:cNvPr id="126" name="Google Shape;126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756563" y="2182090"/>
              <a:ext cx="502920" cy="3325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808978" y="2217419"/>
              <a:ext cx="400050" cy="2171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7"/>
            <p:cNvSpPr/>
            <p:nvPr/>
          </p:nvSpPr>
          <p:spPr>
            <a:xfrm>
              <a:off x="5808978" y="2217420"/>
              <a:ext cx="400050" cy="217170"/>
            </a:xfrm>
            <a:custGeom>
              <a:rect b="b" l="l" r="r" t="t"/>
              <a:pathLst>
                <a:path extrusionOk="0" h="217169" w="400050">
                  <a:moveTo>
                    <a:pt x="0" y="54292"/>
                  </a:moveTo>
                  <a:lnTo>
                    <a:pt x="291464" y="54292"/>
                  </a:lnTo>
                  <a:lnTo>
                    <a:pt x="291464" y="0"/>
                  </a:lnTo>
                  <a:lnTo>
                    <a:pt x="400049" y="108584"/>
                  </a:lnTo>
                  <a:lnTo>
                    <a:pt x="291464" y="217170"/>
                  </a:lnTo>
                  <a:lnTo>
                    <a:pt x="291464" y="162878"/>
                  </a:lnTo>
                  <a:lnTo>
                    <a:pt x="0" y="162878"/>
                  </a:lnTo>
                  <a:lnTo>
                    <a:pt x="0" y="54292"/>
                  </a:lnTo>
                  <a:close/>
                </a:path>
              </a:pathLst>
            </a:custGeom>
            <a:noFill/>
            <a:ln cap="flat" cmpd="sng" w="9525">
              <a:solidFill>
                <a:srgbClr val="5B92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29" name="Google Shape;129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55711" y="3207830"/>
            <a:ext cx="1000124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187506" y="3198305"/>
            <a:ext cx="85725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091360" y="3286181"/>
            <a:ext cx="971550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ctrTitle"/>
          </p:nvPr>
        </p:nvSpPr>
        <p:spPr>
          <a:xfrm>
            <a:off x="535924" y="461097"/>
            <a:ext cx="40474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Who is manager?</a:t>
            </a: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364490" y="1434565"/>
            <a:ext cx="8211820" cy="120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5080" rtl="0" algn="l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Manager -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Someone who coordinates and oversees the work of other people so </a:t>
            </a:r>
            <a:r>
              <a:rPr lang="en-US" sz="26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organizational goals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can be accomplished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0382" y="3035155"/>
            <a:ext cx="4829931" cy="2600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management?</a:t>
            </a:r>
            <a:endParaRPr/>
          </a:p>
        </p:txBody>
      </p:sp>
      <p:sp>
        <p:nvSpPr>
          <p:cNvPr id="145" name="Google Shape;145;p9"/>
          <p:cNvSpPr txBox="1"/>
          <p:nvPr/>
        </p:nvSpPr>
        <p:spPr>
          <a:xfrm>
            <a:off x="8502981" y="6434772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364490" y="1244470"/>
            <a:ext cx="8119745" cy="207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5080" rtl="0" algn="l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Management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involves coordinating and overseeing the work activities of others so that their activities are completed </a:t>
            </a:r>
            <a:r>
              <a:rPr b="1" i="1" lang="en-US" sz="26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efficiently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1" lang="en-US" sz="26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effectively</a:t>
            </a:r>
            <a:r>
              <a:rPr i="1" lang="en-US" sz="2600">
                <a:latin typeface="Arial"/>
                <a:ea typeface="Arial"/>
                <a:cs typeface="Arial"/>
                <a:sym typeface="Arial"/>
              </a:rPr>
              <a:t>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5568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Efficiency	Effectiveness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57200" y="3651468"/>
            <a:ext cx="2822575" cy="2712085"/>
          </a:xfrm>
          <a:custGeom>
            <a:rect b="b" l="l" r="r" t="t"/>
            <a:pathLst>
              <a:path extrusionOk="0" h="2712085" w="2822575">
                <a:moveTo>
                  <a:pt x="0" y="451953"/>
                </a:moveTo>
                <a:lnTo>
                  <a:pt x="2652" y="402708"/>
                </a:lnTo>
                <a:lnTo>
                  <a:pt x="10424" y="354999"/>
                </a:lnTo>
                <a:lnTo>
                  <a:pt x="23040" y="309101"/>
                </a:lnTo>
                <a:lnTo>
                  <a:pt x="40226" y="265291"/>
                </a:lnTo>
                <a:lnTo>
                  <a:pt x="61704" y="223844"/>
                </a:lnTo>
                <a:lnTo>
                  <a:pt x="87200" y="185035"/>
                </a:lnTo>
                <a:lnTo>
                  <a:pt x="116438" y="149142"/>
                </a:lnTo>
                <a:lnTo>
                  <a:pt x="149142" y="116438"/>
                </a:lnTo>
                <a:lnTo>
                  <a:pt x="185035" y="87200"/>
                </a:lnTo>
                <a:lnTo>
                  <a:pt x="223844" y="61704"/>
                </a:lnTo>
                <a:lnTo>
                  <a:pt x="265291" y="40226"/>
                </a:lnTo>
                <a:lnTo>
                  <a:pt x="309101" y="23040"/>
                </a:lnTo>
                <a:lnTo>
                  <a:pt x="354999" y="10424"/>
                </a:lnTo>
                <a:lnTo>
                  <a:pt x="402708" y="2652"/>
                </a:lnTo>
                <a:lnTo>
                  <a:pt x="451953" y="0"/>
                </a:lnTo>
                <a:lnTo>
                  <a:pt x="2370073" y="0"/>
                </a:lnTo>
                <a:lnTo>
                  <a:pt x="2419318" y="2652"/>
                </a:lnTo>
                <a:lnTo>
                  <a:pt x="2467028" y="10424"/>
                </a:lnTo>
                <a:lnTo>
                  <a:pt x="2512925" y="23040"/>
                </a:lnTo>
                <a:lnTo>
                  <a:pt x="2556735" y="40226"/>
                </a:lnTo>
                <a:lnTo>
                  <a:pt x="2598183" y="61704"/>
                </a:lnTo>
                <a:lnTo>
                  <a:pt x="2636991" y="87200"/>
                </a:lnTo>
                <a:lnTo>
                  <a:pt x="2672885" y="116438"/>
                </a:lnTo>
                <a:lnTo>
                  <a:pt x="2705588" y="149142"/>
                </a:lnTo>
                <a:lnTo>
                  <a:pt x="2734826" y="185035"/>
                </a:lnTo>
                <a:lnTo>
                  <a:pt x="2760322" y="223844"/>
                </a:lnTo>
                <a:lnTo>
                  <a:pt x="2781800" y="265291"/>
                </a:lnTo>
                <a:lnTo>
                  <a:pt x="2798986" y="309101"/>
                </a:lnTo>
                <a:lnTo>
                  <a:pt x="2811603" y="354999"/>
                </a:lnTo>
                <a:lnTo>
                  <a:pt x="2819375" y="402708"/>
                </a:lnTo>
                <a:lnTo>
                  <a:pt x="2822027" y="451953"/>
                </a:lnTo>
                <a:lnTo>
                  <a:pt x="2822027" y="2259714"/>
                </a:lnTo>
                <a:lnTo>
                  <a:pt x="2819375" y="2308959"/>
                </a:lnTo>
                <a:lnTo>
                  <a:pt x="2811603" y="2356669"/>
                </a:lnTo>
                <a:lnTo>
                  <a:pt x="2798986" y="2402566"/>
                </a:lnTo>
                <a:lnTo>
                  <a:pt x="2781800" y="2446376"/>
                </a:lnTo>
                <a:lnTo>
                  <a:pt x="2760322" y="2487824"/>
                </a:lnTo>
                <a:lnTo>
                  <a:pt x="2734826" y="2526632"/>
                </a:lnTo>
                <a:lnTo>
                  <a:pt x="2705588" y="2562526"/>
                </a:lnTo>
                <a:lnTo>
                  <a:pt x="2672885" y="2595229"/>
                </a:lnTo>
                <a:lnTo>
                  <a:pt x="2636991" y="2624467"/>
                </a:lnTo>
                <a:lnTo>
                  <a:pt x="2598183" y="2649963"/>
                </a:lnTo>
                <a:lnTo>
                  <a:pt x="2556735" y="2671441"/>
                </a:lnTo>
                <a:lnTo>
                  <a:pt x="2512925" y="2688627"/>
                </a:lnTo>
                <a:lnTo>
                  <a:pt x="2467028" y="2701244"/>
                </a:lnTo>
                <a:lnTo>
                  <a:pt x="2419318" y="2709016"/>
                </a:lnTo>
                <a:lnTo>
                  <a:pt x="2370073" y="2711668"/>
                </a:lnTo>
                <a:lnTo>
                  <a:pt x="451953" y="2711668"/>
                </a:lnTo>
                <a:lnTo>
                  <a:pt x="402708" y="2709016"/>
                </a:lnTo>
                <a:lnTo>
                  <a:pt x="354999" y="2701244"/>
                </a:lnTo>
                <a:lnTo>
                  <a:pt x="309101" y="2688627"/>
                </a:lnTo>
                <a:lnTo>
                  <a:pt x="265291" y="2671441"/>
                </a:lnTo>
                <a:lnTo>
                  <a:pt x="223844" y="2649963"/>
                </a:lnTo>
                <a:lnTo>
                  <a:pt x="185035" y="2624467"/>
                </a:lnTo>
                <a:lnTo>
                  <a:pt x="149142" y="2595229"/>
                </a:lnTo>
                <a:lnTo>
                  <a:pt x="116438" y="2562526"/>
                </a:lnTo>
                <a:lnTo>
                  <a:pt x="87200" y="2526632"/>
                </a:lnTo>
                <a:lnTo>
                  <a:pt x="61704" y="2487824"/>
                </a:lnTo>
                <a:lnTo>
                  <a:pt x="40226" y="2446376"/>
                </a:lnTo>
                <a:lnTo>
                  <a:pt x="23040" y="2402566"/>
                </a:lnTo>
                <a:lnTo>
                  <a:pt x="10424" y="2356669"/>
                </a:lnTo>
                <a:lnTo>
                  <a:pt x="2652" y="2308959"/>
                </a:lnTo>
                <a:lnTo>
                  <a:pt x="0" y="2259714"/>
                </a:lnTo>
                <a:lnTo>
                  <a:pt x="0" y="451953"/>
                </a:lnTo>
                <a:close/>
              </a:path>
            </a:pathLst>
          </a:custGeom>
          <a:noFill/>
          <a:ln cap="flat" cmpd="sng" w="9525">
            <a:solidFill>
              <a:srgbClr val="5B9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8" name="Google Shape;148;p9"/>
          <p:cNvSpPr txBox="1"/>
          <p:nvPr/>
        </p:nvSpPr>
        <p:spPr>
          <a:xfrm>
            <a:off x="668312" y="4123382"/>
            <a:ext cx="2347595" cy="177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spAutoFit/>
          </a:bodyPr>
          <a:lstStyle/>
          <a:p>
            <a:pPr indent="-185420" lvl="0" marL="198120" marR="516255" rtl="0" algn="l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-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Doing things right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marR="5080" rtl="0" algn="l">
              <a:lnSpc>
                <a:spcPct val="117391"/>
              </a:lnSpc>
              <a:spcBef>
                <a:spcPts val="10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Getting the most output from the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8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least inputs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3530467" y="4279200"/>
            <a:ext cx="1219200" cy="845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5080" rtl="0" algn="l">
              <a:lnSpc>
                <a:spcPct val="9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Which one is more important?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422680" y="3538265"/>
            <a:ext cx="2822575" cy="2712085"/>
          </a:xfrm>
          <a:custGeom>
            <a:rect b="b" l="l" r="r" t="t"/>
            <a:pathLst>
              <a:path extrusionOk="0" h="2712085" w="2822575">
                <a:moveTo>
                  <a:pt x="0" y="451953"/>
                </a:moveTo>
                <a:lnTo>
                  <a:pt x="2652" y="402708"/>
                </a:lnTo>
                <a:lnTo>
                  <a:pt x="10424" y="354999"/>
                </a:lnTo>
                <a:lnTo>
                  <a:pt x="23040" y="309101"/>
                </a:lnTo>
                <a:lnTo>
                  <a:pt x="40226" y="265291"/>
                </a:lnTo>
                <a:lnTo>
                  <a:pt x="61704" y="223844"/>
                </a:lnTo>
                <a:lnTo>
                  <a:pt x="87200" y="185035"/>
                </a:lnTo>
                <a:lnTo>
                  <a:pt x="116438" y="149142"/>
                </a:lnTo>
                <a:lnTo>
                  <a:pt x="149141" y="116438"/>
                </a:lnTo>
                <a:lnTo>
                  <a:pt x="185035" y="87200"/>
                </a:lnTo>
                <a:lnTo>
                  <a:pt x="223844" y="61704"/>
                </a:lnTo>
                <a:lnTo>
                  <a:pt x="265291" y="40226"/>
                </a:lnTo>
                <a:lnTo>
                  <a:pt x="309101" y="23040"/>
                </a:lnTo>
                <a:lnTo>
                  <a:pt x="354999" y="10424"/>
                </a:lnTo>
                <a:lnTo>
                  <a:pt x="402708" y="2652"/>
                </a:lnTo>
                <a:lnTo>
                  <a:pt x="451953" y="0"/>
                </a:lnTo>
                <a:lnTo>
                  <a:pt x="2370073" y="0"/>
                </a:lnTo>
                <a:lnTo>
                  <a:pt x="2419318" y="2652"/>
                </a:lnTo>
                <a:lnTo>
                  <a:pt x="2467027" y="10424"/>
                </a:lnTo>
                <a:lnTo>
                  <a:pt x="2512925" y="23040"/>
                </a:lnTo>
                <a:lnTo>
                  <a:pt x="2556735" y="40226"/>
                </a:lnTo>
                <a:lnTo>
                  <a:pt x="2598182" y="61704"/>
                </a:lnTo>
                <a:lnTo>
                  <a:pt x="2636991" y="87200"/>
                </a:lnTo>
                <a:lnTo>
                  <a:pt x="2672885" y="116438"/>
                </a:lnTo>
                <a:lnTo>
                  <a:pt x="2705588" y="149142"/>
                </a:lnTo>
                <a:lnTo>
                  <a:pt x="2734826" y="185035"/>
                </a:lnTo>
                <a:lnTo>
                  <a:pt x="2760322" y="223844"/>
                </a:lnTo>
                <a:lnTo>
                  <a:pt x="2781800" y="265291"/>
                </a:lnTo>
                <a:lnTo>
                  <a:pt x="2798986" y="309101"/>
                </a:lnTo>
                <a:lnTo>
                  <a:pt x="2811602" y="354999"/>
                </a:lnTo>
                <a:lnTo>
                  <a:pt x="2819375" y="402708"/>
                </a:lnTo>
                <a:lnTo>
                  <a:pt x="2822027" y="451953"/>
                </a:lnTo>
                <a:lnTo>
                  <a:pt x="2822027" y="2259714"/>
                </a:lnTo>
                <a:lnTo>
                  <a:pt x="2819375" y="2308959"/>
                </a:lnTo>
                <a:lnTo>
                  <a:pt x="2811602" y="2356669"/>
                </a:lnTo>
                <a:lnTo>
                  <a:pt x="2798986" y="2402566"/>
                </a:lnTo>
                <a:lnTo>
                  <a:pt x="2781800" y="2446376"/>
                </a:lnTo>
                <a:lnTo>
                  <a:pt x="2760322" y="2487824"/>
                </a:lnTo>
                <a:lnTo>
                  <a:pt x="2734826" y="2526632"/>
                </a:lnTo>
                <a:lnTo>
                  <a:pt x="2705588" y="2562526"/>
                </a:lnTo>
                <a:lnTo>
                  <a:pt x="2672885" y="2595229"/>
                </a:lnTo>
                <a:lnTo>
                  <a:pt x="2636991" y="2624467"/>
                </a:lnTo>
                <a:lnTo>
                  <a:pt x="2598182" y="2649963"/>
                </a:lnTo>
                <a:lnTo>
                  <a:pt x="2556735" y="2671441"/>
                </a:lnTo>
                <a:lnTo>
                  <a:pt x="2512925" y="2688627"/>
                </a:lnTo>
                <a:lnTo>
                  <a:pt x="2467027" y="2701244"/>
                </a:lnTo>
                <a:lnTo>
                  <a:pt x="2419318" y="2709016"/>
                </a:lnTo>
                <a:lnTo>
                  <a:pt x="2370073" y="2711668"/>
                </a:lnTo>
                <a:lnTo>
                  <a:pt x="451953" y="2711668"/>
                </a:lnTo>
                <a:lnTo>
                  <a:pt x="402708" y="2709016"/>
                </a:lnTo>
                <a:lnTo>
                  <a:pt x="354999" y="2701244"/>
                </a:lnTo>
                <a:lnTo>
                  <a:pt x="309101" y="2688627"/>
                </a:lnTo>
                <a:lnTo>
                  <a:pt x="265291" y="2671441"/>
                </a:lnTo>
                <a:lnTo>
                  <a:pt x="223844" y="2649963"/>
                </a:lnTo>
                <a:lnTo>
                  <a:pt x="185035" y="2624467"/>
                </a:lnTo>
                <a:lnTo>
                  <a:pt x="149141" y="2595229"/>
                </a:lnTo>
                <a:lnTo>
                  <a:pt x="116438" y="2562526"/>
                </a:lnTo>
                <a:lnTo>
                  <a:pt x="87200" y="2526632"/>
                </a:lnTo>
                <a:lnTo>
                  <a:pt x="61704" y="2487824"/>
                </a:lnTo>
                <a:lnTo>
                  <a:pt x="40226" y="2446376"/>
                </a:lnTo>
                <a:lnTo>
                  <a:pt x="23040" y="2402566"/>
                </a:lnTo>
                <a:lnTo>
                  <a:pt x="10424" y="2356669"/>
                </a:lnTo>
                <a:lnTo>
                  <a:pt x="2652" y="2308959"/>
                </a:lnTo>
                <a:lnTo>
                  <a:pt x="0" y="2259714"/>
                </a:lnTo>
                <a:lnTo>
                  <a:pt x="0" y="451953"/>
                </a:lnTo>
                <a:close/>
              </a:path>
            </a:pathLst>
          </a:custGeom>
          <a:noFill/>
          <a:ln cap="flat" cmpd="sng" w="9525">
            <a:solidFill>
              <a:srgbClr val="5B9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" name="Google Shape;151;p9"/>
          <p:cNvSpPr txBox="1"/>
          <p:nvPr/>
        </p:nvSpPr>
        <p:spPr>
          <a:xfrm>
            <a:off x="5633793" y="3784120"/>
            <a:ext cx="2194560" cy="221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-184785" lvl="0" marL="197485" marR="508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-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Doing the right things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70510" lvl="0" marL="283210" marR="5080" rtl="0" algn="l">
              <a:lnSpc>
                <a:spcPct val="120833"/>
              </a:lnSpc>
              <a:spcBef>
                <a:spcPts val="20"/>
              </a:spcBef>
              <a:spcAft>
                <a:spcPts val="0"/>
              </a:spcAft>
              <a:buSzPts val="2400"/>
              <a:buFont typeface="Arial"/>
              <a:buChar char="-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Doing those work activities that will result in achieving goals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Efficiency and Effectiveness</a:t>
            </a:r>
            <a:endParaRPr/>
          </a:p>
        </p:txBody>
      </p:sp>
      <p:sp>
        <p:nvSpPr>
          <p:cNvPr id="157" name="Google Shape;157;p10"/>
          <p:cNvSpPr txBox="1"/>
          <p:nvPr/>
        </p:nvSpPr>
        <p:spPr>
          <a:xfrm>
            <a:off x="8418222" y="6434772"/>
            <a:ext cx="19494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317" y="1584382"/>
            <a:ext cx="7678248" cy="317971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 txBox="1"/>
          <p:nvPr/>
        </p:nvSpPr>
        <p:spPr>
          <a:xfrm>
            <a:off x="3048000" y="5883768"/>
            <a:ext cx="5257800" cy="579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Time for watching!!!!!!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https://www.youtube.com/watch?v=q2vqA4rqNMI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300">
            <a:sp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Efficiency and Effectiveness</a:t>
            </a:r>
            <a:endParaRPr/>
          </a:p>
        </p:txBody>
      </p:sp>
      <p:sp>
        <p:nvSpPr>
          <p:cNvPr id="165" name="Google Shape;165;p11"/>
          <p:cNvSpPr txBox="1"/>
          <p:nvPr/>
        </p:nvSpPr>
        <p:spPr>
          <a:xfrm>
            <a:off x="8426632" y="6434772"/>
            <a:ext cx="17843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898" y="940522"/>
            <a:ext cx="7953899" cy="5888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type="title"/>
          </p:nvPr>
        </p:nvSpPr>
        <p:spPr>
          <a:xfrm>
            <a:off x="221600" y="3122853"/>
            <a:ext cx="857313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76092"/>
                </a:solidFill>
              </a:rPr>
              <a:t>1.2 ROLES OF A MANAGER IN AN ORGANIZATION</a:t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types of roles</a:t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535939" y="1480312"/>
            <a:ext cx="7211695" cy="373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According Mintzerg et al (1973):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Interpersonal roles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Figurehead, leader, liaison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Informational roles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Monitor, disseminator, spokesperson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Decisional roles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279400" lvl="1" marL="749300" marR="5080" rtl="0" algn="l">
              <a:lnSpc>
                <a:spcPct val="118461"/>
              </a:lnSpc>
              <a:spcBef>
                <a:spcPts val="81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	Entrepreneur, disturbance handler, resource allocator, negotiator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type="title"/>
          </p:nvPr>
        </p:nvSpPr>
        <p:spPr>
          <a:xfrm>
            <a:off x="535924" y="461097"/>
            <a:ext cx="364617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types of roles</a:t>
            </a:r>
            <a:endParaRPr/>
          </a:p>
        </p:txBody>
      </p:sp>
      <p:pic>
        <p:nvPicPr>
          <p:cNvPr id="184" name="Google Shape;1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5656" y="1768587"/>
            <a:ext cx="4813912" cy="450685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 txBox="1"/>
          <p:nvPr/>
        </p:nvSpPr>
        <p:spPr>
          <a:xfrm>
            <a:off x="2529839" y="1106199"/>
            <a:ext cx="429958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  <a:t>Mintzberg’s Managerial Roles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2193289" y="6437229"/>
            <a:ext cx="58324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Source: Mintzberg, The nature of managerial work (1983)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role that Manager play</a:t>
            </a:r>
            <a:endParaRPr/>
          </a:p>
        </p:txBody>
      </p:sp>
      <p:pic>
        <p:nvPicPr>
          <p:cNvPr id="192" name="Google Shape;1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44" y="1208026"/>
            <a:ext cx="8954889" cy="5272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type="title"/>
          </p:nvPr>
        </p:nvSpPr>
        <p:spPr>
          <a:xfrm>
            <a:off x="221600" y="3201000"/>
            <a:ext cx="6755765" cy="871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-593090" lvl="0" marL="605155" marR="508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76092"/>
                </a:solidFill>
              </a:rPr>
              <a:t>1.3 BASIC FUNCTIONS OF A MANAGER IN AN ORGANIZATION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functions of management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95934" y="1277985"/>
            <a:ext cx="8395335" cy="278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325">
            <a:spAutoFit/>
          </a:bodyPr>
          <a:lstStyle/>
          <a:p>
            <a:pPr indent="-340360" lvl="0" marL="352425" marR="913764" rtl="0" algn="just">
              <a:lnSpc>
                <a:spcPct val="796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Planning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Defining goals, establishing strategies to 	achieve goals, and developing plans to integrate and 	coordinate activities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54965" marR="5080" rtl="0" algn="l">
              <a:lnSpc>
                <a:spcPct val="82700"/>
              </a:lnSpc>
              <a:spcBef>
                <a:spcPts val="54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Organizing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Arranging and structuring work to accomplish organizational goals.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54965" marR="111125" rtl="0" algn="l">
              <a:lnSpc>
                <a:spcPct val="793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Leading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Working with and through people to accomplish goals.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Controlling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Monitoring, comparing, and correcting work.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0759" y="4480700"/>
            <a:ext cx="6508533" cy="199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are managers important?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44796" y="1456541"/>
            <a:ext cx="7124065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021"/>
              </a:buClr>
              <a:buSzPts val="2200"/>
              <a:buFont typeface="Arial"/>
              <a:buChar char="►"/>
            </a:pPr>
            <a:r>
              <a:rPr lang="en-US" sz="22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  <a:t>Inspire you professionally and personally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5080" rtl="0" algn="l">
              <a:lnSpc>
                <a:spcPct val="181818"/>
              </a:lnSpc>
              <a:spcBef>
                <a:spcPts val="260"/>
              </a:spcBef>
              <a:spcAft>
                <a:spcPts val="0"/>
              </a:spcAft>
              <a:buClr>
                <a:srgbClr val="242021"/>
              </a:buClr>
              <a:buSzPts val="2200"/>
              <a:buFont typeface="Arial"/>
              <a:buChar char="►"/>
            </a:pPr>
            <a:r>
              <a:rPr lang="en-US" sz="22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  <a:t>Energize you and your coworkers to accomplish things together that you couldn’t get done by yourself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20369" lvl="0" marL="433069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42021"/>
              </a:buClr>
              <a:buSzPts val="2200"/>
              <a:buFont typeface="Arial"/>
              <a:buChar char="►"/>
            </a:pPr>
            <a:r>
              <a:rPr lang="en-US" sz="22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  <a:t>Provide coaching and guidance with problems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242021"/>
              </a:buClr>
              <a:buSzPts val="2200"/>
              <a:buFont typeface="Arial"/>
              <a:buChar char="►"/>
            </a:pPr>
            <a:r>
              <a:rPr lang="en-US" sz="22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  <a:t>Provide you feedback on how you’re doing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242021"/>
              </a:buClr>
              <a:buSzPts val="2200"/>
              <a:buFont typeface="Arial"/>
              <a:buChar char="►"/>
            </a:pPr>
            <a:r>
              <a:rPr lang="en-US" sz="22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  <a:t>Help you to improve your performance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rgbClr val="242021"/>
              </a:buClr>
              <a:buSzPts val="2200"/>
              <a:buFont typeface="Arial"/>
              <a:buChar char="►"/>
            </a:pPr>
            <a:r>
              <a:rPr lang="en-US" sz="22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  <a:t>Keep you informed of organizational changes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242021"/>
              </a:buClr>
              <a:buSzPts val="2200"/>
              <a:buFont typeface="Arial"/>
              <a:buChar char="►"/>
            </a:pPr>
            <a:r>
              <a:rPr lang="en-US" sz="22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  <a:t>Change your life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221600" y="3168617"/>
            <a:ext cx="468884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76092"/>
                </a:solidFill>
              </a:rPr>
              <a:t>1.4 MANAGEMENT LEVELS</a:t>
            </a:r>
            <a:endParaRPr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of management</a:t>
            </a:r>
            <a:endParaRPr/>
          </a:p>
        </p:txBody>
      </p:sp>
      <p:pic>
        <p:nvPicPr>
          <p:cNvPr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262" y="1833653"/>
            <a:ext cx="4077174" cy="405364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>
            <p:ph idx="1" type="body"/>
          </p:nvPr>
        </p:nvSpPr>
        <p:spPr>
          <a:xfrm>
            <a:off x="4342129" y="1938020"/>
            <a:ext cx="4123690" cy="31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450">
            <a:spAutoFit/>
          </a:bodyPr>
          <a:lstStyle/>
          <a:p>
            <a:pPr indent="-342900" lvl="0" marL="355600" marR="73660" rtl="0" algn="l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Top Managers </a:t>
            </a:r>
            <a:r>
              <a:rPr lang="en-US"/>
              <a:t>- Individuals who are responsible for making organization-wide decisions and establishing plans and goals that affect the entire organization.</a:t>
            </a:r>
            <a:endParaRPr/>
          </a:p>
          <a:p>
            <a:pPr indent="-342900" lvl="0" marL="355600" marR="32384" rtl="0" algn="l">
              <a:lnSpc>
                <a:spcPct val="921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Middle Managers </a:t>
            </a:r>
            <a:r>
              <a:rPr lang="en-US"/>
              <a:t>- Individuals who manage the work of first-line managers.</a:t>
            </a:r>
            <a:endParaRPr/>
          </a:p>
          <a:p>
            <a:pPr indent="-342900" lvl="0" marL="355600" marR="508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First-line Managers </a:t>
            </a:r>
            <a:r>
              <a:rPr lang="en-US"/>
              <a:t>- Individuals who manage the work of non- managerial employees.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of management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217657" y="1713781"/>
            <a:ext cx="3494404" cy="120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01295" lvl="0" marL="213995" rtl="0" algn="l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-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Strategic managers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195580" lvl="0" marL="208279" rtl="0" algn="l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-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Tactical managers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201295" lvl="0" marL="213995" rtl="0" algn="l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-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Operational managers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7051" y="1303373"/>
            <a:ext cx="4738747" cy="415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900">
            <a:spAutoFit/>
          </a:bodyPr>
          <a:lstStyle/>
          <a:p>
            <a:pPr indent="0" lvl="0" marL="5060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LEARNING OUTCOMES</a:t>
            </a:r>
            <a:endParaRPr sz="3200"/>
          </a:p>
        </p:txBody>
      </p:sp>
      <p:grpSp>
        <p:nvGrpSpPr>
          <p:cNvPr id="235" name="Google Shape;235;p2"/>
          <p:cNvGrpSpPr/>
          <p:nvPr/>
        </p:nvGrpSpPr>
        <p:grpSpPr>
          <a:xfrm>
            <a:off x="168592" y="1391614"/>
            <a:ext cx="278765" cy="461645"/>
            <a:chOff x="168592" y="1391614"/>
            <a:chExt cx="278765" cy="461645"/>
          </a:xfrm>
        </p:grpSpPr>
        <p:sp>
          <p:nvSpPr>
            <p:cNvPr id="236" name="Google Shape;236;p2"/>
            <p:cNvSpPr/>
            <p:nvPr/>
          </p:nvSpPr>
          <p:spPr>
            <a:xfrm>
              <a:off x="168592" y="1391614"/>
              <a:ext cx="278765" cy="461645"/>
            </a:xfrm>
            <a:custGeom>
              <a:rect b="b" l="l" r="r" t="t"/>
              <a:pathLst>
                <a:path extrusionOk="0" h="461644" w="278765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58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68602" y="1407707"/>
              <a:ext cx="156210" cy="428625"/>
            </a:xfrm>
            <a:custGeom>
              <a:rect b="b" l="l" r="r" t="t"/>
              <a:pathLst>
                <a:path extrusionOk="0" h="428625" w="156210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8" name="Google Shape;238;p2"/>
          <p:cNvSpPr txBox="1"/>
          <p:nvPr/>
        </p:nvSpPr>
        <p:spPr>
          <a:xfrm>
            <a:off x="726123" y="1417985"/>
            <a:ext cx="8453755" cy="333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Explain </a:t>
            </a:r>
            <a:r>
              <a:rPr lang="en-US" sz="24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key concepts in management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33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Distinguish </a:t>
            </a:r>
            <a:r>
              <a:rPr lang="en-US" sz="24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roles and functions of manager in an organization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06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Distinguish </a:t>
            </a:r>
            <a:r>
              <a:rPr lang="en-US" sz="24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managerial levels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5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Explain </a:t>
            </a:r>
            <a:r>
              <a:rPr lang="en-US" sz="24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keys managerial skills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" name="Google Shape;239;p2"/>
          <p:cNvGrpSpPr/>
          <p:nvPr/>
        </p:nvGrpSpPr>
        <p:grpSpPr>
          <a:xfrm>
            <a:off x="216839" y="2354694"/>
            <a:ext cx="278765" cy="461645"/>
            <a:chOff x="216839" y="2354694"/>
            <a:chExt cx="278765" cy="461645"/>
          </a:xfrm>
        </p:grpSpPr>
        <p:sp>
          <p:nvSpPr>
            <p:cNvPr id="240" name="Google Shape;240;p2"/>
            <p:cNvSpPr/>
            <p:nvPr/>
          </p:nvSpPr>
          <p:spPr>
            <a:xfrm>
              <a:off x="216839" y="2354694"/>
              <a:ext cx="278765" cy="461645"/>
            </a:xfrm>
            <a:custGeom>
              <a:rect b="b" l="l" r="r" t="t"/>
              <a:pathLst>
                <a:path extrusionOk="0" h="461644" w="278765">
                  <a:moveTo>
                    <a:pt x="278155" y="0"/>
                  </a:moveTo>
                  <a:lnTo>
                    <a:pt x="128790" y="0"/>
                  </a:lnTo>
                  <a:lnTo>
                    <a:pt x="0" y="230555"/>
                  </a:lnTo>
                  <a:lnTo>
                    <a:pt x="128790" y="461098"/>
                  </a:lnTo>
                  <a:lnTo>
                    <a:pt x="278155" y="461098"/>
                  </a:lnTo>
                  <a:lnTo>
                    <a:pt x="149377" y="230555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58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216855" y="2370790"/>
              <a:ext cx="156210" cy="428625"/>
            </a:xfrm>
            <a:custGeom>
              <a:rect b="b" l="l" r="r" t="t"/>
              <a:pathLst>
                <a:path extrusionOk="0" h="428625" w="156210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42" name="Google Shape;242;p2"/>
          <p:cNvGrpSpPr/>
          <p:nvPr/>
        </p:nvGrpSpPr>
        <p:grpSpPr>
          <a:xfrm>
            <a:off x="216839" y="3430828"/>
            <a:ext cx="278765" cy="461645"/>
            <a:chOff x="216839" y="3430828"/>
            <a:chExt cx="278765" cy="461645"/>
          </a:xfrm>
        </p:grpSpPr>
        <p:sp>
          <p:nvSpPr>
            <p:cNvPr id="243" name="Google Shape;243;p2"/>
            <p:cNvSpPr/>
            <p:nvPr/>
          </p:nvSpPr>
          <p:spPr>
            <a:xfrm>
              <a:off x="216839" y="3430828"/>
              <a:ext cx="278765" cy="461645"/>
            </a:xfrm>
            <a:custGeom>
              <a:rect b="b" l="l" r="r" t="t"/>
              <a:pathLst>
                <a:path extrusionOk="0" h="461645" w="278765">
                  <a:moveTo>
                    <a:pt x="278155" y="0"/>
                  </a:moveTo>
                  <a:lnTo>
                    <a:pt x="128778" y="0"/>
                  </a:lnTo>
                  <a:lnTo>
                    <a:pt x="0" y="230555"/>
                  </a:lnTo>
                  <a:lnTo>
                    <a:pt x="128778" y="461098"/>
                  </a:lnTo>
                  <a:lnTo>
                    <a:pt x="278155" y="461098"/>
                  </a:lnTo>
                  <a:lnTo>
                    <a:pt x="149364" y="230555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58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216850" y="3446926"/>
              <a:ext cx="156210" cy="428625"/>
            </a:xfrm>
            <a:custGeom>
              <a:rect b="b" l="l" r="r" t="t"/>
              <a:pathLst>
                <a:path extrusionOk="0" h="428625" w="156210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45" name="Google Shape;245;p2"/>
          <p:cNvGrpSpPr/>
          <p:nvPr/>
        </p:nvGrpSpPr>
        <p:grpSpPr>
          <a:xfrm>
            <a:off x="208838" y="4382160"/>
            <a:ext cx="278765" cy="461645"/>
            <a:chOff x="208838" y="4382160"/>
            <a:chExt cx="278765" cy="461645"/>
          </a:xfrm>
        </p:grpSpPr>
        <p:sp>
          <p:nvSpPr>
            <p:cNvPr id="246" name="Google Shape;246;p2"/>
            <p:cNvSpPr/>
            <p:nvPr/>
          </p:nvSpPr>
          <p:spPr>
            <a:xfrm>
              <a:off x="208838" y="4382160"/>
              <a:ext cx="278765" cy="461645"/>
            </a:xfrm>
            <a:custGeom>
              <a:rect b="b" l="l" r="r" t="t"/>
              <a:pathLst>
                <a:path extrusionOk="0" h="461645" w="278765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58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8849" y="4398248"/>
              <a:ext cx="156210" cy="428625"/>
            </a:xfrm>
            <a:custGeom>
              <a:rect b="b" l="l" r="r" t="t"/>
              <a:pathLst>
                <a:path extrusionOk="0" h="428625" w="156210">
                  <a:moveTo>
                    <a:pt x="0" y="0"/>
                  </a:moveTo>
                  <a:lnTo>
                    <a:pt x="0" y="428199"/>
                  </a:lnTo>
                  <a:lnTo>
                    <a:pt x="155674" y="214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692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 managers spend on different functions at different levels</a:t>
            </a:r>
            <a:endParaRPr/>
          </a:p>
        </p:txBody>
      </p:sp>
      <p:pic>
        <p:nvPicPr>
          <p:cNvPr id="253" name="Google Shape;2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235" y="1800225"/>
            <a:ext cx="7012116" cy="334991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1896108" y="5637274"/>
            <a:ext cx="62268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Source: Robbins et al., Fundamentals of management (2005)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 txBox="1"/>
          <p:nvPr>
            <p:ph type="title"/>
          </p:nvPr>
        </p:nvSpPr>
        <p:spPr>
          <a:xfrm>
            <a:off x="221600" y="3168617"/>
            <a:ext cx="703262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1.4 </a:t>
            </a:r>
            <a:r>
              <a:rPr lang="en-US" sz="2800">
                <a:solidFill>
                  <a:srgbClr val="0085CC"/>
                </a:solidFill>
              </a:rPr>
              <a:t>NECESSARY SKILLS OF A MANAGER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main skills managers need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535939" y="1175766"/>
            <a:ext cx="7783830" cy="3223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Technical skills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Knowledge and proficiency in a specific field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Human skills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The ability to work well with other people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Conceptual skills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79400" lvl="1" marL="749300" marR="5080" rtl="0" algn="l">
              <a:lnSpc>
                <a:spcPct val="117499"/>
              </a:lnSpc>
              <a:spcBef>
                <a:spcPts val="69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	The ability to think and conceptualize about abstract and complex situations concerning the organization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Skills needed at different managerial levels</a:t>
            </a:r>
            <a:endParaRPr/>
          </a:p>
        </p:txBody>
      </p: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35" y="1932332"/>
            <a:ext cx="8493124" cy="2498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/>
          <p:nvPr>
            <p:ph type="title"/>
          </p:nvPr>
        </p:nvSpPr>
        <p:spPr>
          <a:xfrm>
            <a:off x="78724" y="232497"/>
            <a:ext cx="8520429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Managers with the Fast-Changing World?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199702" y="1467737"/>
            <a:ext cx="8556625" cy="2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200">
            <a:spAutoFit/>
          </a:bodyPr>
          <a:lstStyle/>
          <a:p>
            <a:pPr indent="-199390" lvl="0" marL="2120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Management is no longer constrained by national borders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199390" lvl="0" marL="21209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Managers need to understand what is going on in the world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199390" lvl="0" marL="212090" marR="96456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Managers need to take into consideration different economic, political, legal and cultural systems in other countries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3998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8433255" y="6434772"/>
            <a:ext cx="18034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2024-06-23T14:43:47Z</dcterms:created>
  <dc:creator>Tung Le</dc:creator>
</cp:coreProperties>
</file>