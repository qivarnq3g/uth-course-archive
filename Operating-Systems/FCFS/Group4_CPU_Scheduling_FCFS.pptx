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x="18288000" cy="10287000"/>
  <p:notesSz cx="6858000" cy="9144000"/>
  <p:embeddedFontLst>
    <p:embeddedFont>
      <p:font typeface="Inter Semi-Bold" charset="1" panose="02000503000000020004"/>
      <p:regular r:id="rId41"/>
    </p:embeddedFont>
    <p:embeddedFont>
      <p:font typeface="Inter" charset="1" panose="020B0502030000000004"/>
      <p:regular r:id="rId42"/>
    </p:embeddedFont>
    <p:embeddedFont>
      <p:font typeface="Inter Light" charset="1" panose="02000503000000020004"/>
      <p:regular r:id="rId43"/>
    </p:embeddedFont>
    <p:embeddedFont>
      <p:font typeface="Inter Bold" charset="1" panose="020B0802030000000004"/>
      <p:regular r:id="rId44"/>
    </p:embeddedFont>
    <p:embeddedFont>
      <p:font typeface="Mukti" charset="1" panose="00000000000000000000"/>
      <p:regular r:id="rId45"/>
    </p:embeddedFont>
    <p:embeddedFont>
      <p:font typeface="Arial Nova Bold" charset="1" panose="020B0804020202020204"/>
      <p:regular r:id="rId46"/>
    </p:embeddedFont>
    <p:embeddedFont>
      <p:font typeface="Inter Italics" charset="1" panose="020B0502030000000004"/>
      <p:regular r:id="rId47"/>
    </p:embeddedFont>
    <p:embeddedFont>
      <p:font typeface="Arial Nova" charset="1" panose="020B0504020202020204"/>
      <p:regular r:id="rId48"/>
    </p:embeddedFont>
    <p:embeddedFont>
      <p:font typeface="Helvetica World" charset="1" panose="020B0500040000020004"/>
      <p:regular r:id="rId49"/>
    </p:embeddedFont>
    <p:embeddedFont>
      <p:font typeface="Noto Serif Display" charset="1" panose="02020502080505020204"/>
      <p:regular r:id="rId50"/>
    </p:embeddedFont>
    <p:embeddedFont>
      <p:font typeface="Muli Light" charset="1" panose="00000400000000000000"/>
      <p:regular r:id="rId51"/>
    </p:embeddedFont>
    <p:embeddedFont>
      <p:font typeface="Arimo" charset="1" panose="020B0604020202020204"/>
      <p:regular r:id="rId52"/>
    </p:embeddedFont>
    <p:embeddedFont>
      <p:font typeface="Noto Sans" charset="1" panose="020B0502040504020204"/>
      <p:regular r:id="rId53"/>
    </p:embeddedFont>
    <p:embeddedFont>
      <p:font typeface="Arimo Bold" charset="1" panose="020B0704020202020204"/>
      <p:regular r:id="rId54"/>
    </p:embeddedFont>
    <p:embeddedFont>
      <p:font typeface="Noto Sans Bold" charset="1" panose="020B0802040504020204"/>
      <p:regular r:id="rId55"/>
    </p:embeddedFont>
    <p:embeddedFont>
      <p:font typeface="DejaVu Serif Bold" charset="1" panose="02060803050605020204"/>
      <p:regular r:id="rId5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54" Target="fonts/font54.fntdata" Type="http://schemas.openxmlformats.org/officeDocument/2006/relationships/font"/><Relationship Id="rId55" Target="fonts/font55.fntdata" Type="http://schemas.openxmlformats.org/officeDocument/2006/relationships/font"/><Relationship Id="rId56" Target="fonts/font56.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 Id="rId7" Target="../media/image1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11.png" Type="http://schemas.openxmlformats.org/officeDocument/2006/relationships/image"/><Relationship Id="rId6" Target="../media/image12.png" Type="http://schemas.openxmlformats.org/officeDocument/2006/relationships/image"/><Relationship Id="rId7" Target="../media/image1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media/image23.png" Type="http://schemas.openxmlformats.org/officeDocument/2006/relationships/image"/><Relationship Id="rId7" Target="../media/image24.png" Type="http://schemas.openxmlformats.org/officeDocument/2006/relationships/image"/><Relationship Id="rId8" Target="../media/image25.png" Type="http://schemas.openxmlformats.org/officeDocument/2006/relationships/image"/><Relationship Id="rId9" Target="../media/image26.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FEEEC"/>
        </a:solidFill>
      </p:bgPr>
    </p:bg>
    <p:spTree>
      <p:nvGrpSpPr>
        <p:cNvPr id="1" name=""/>
        <p:cNvGrpSpPr/>
        <p:nvPr/>
      </p:nvGrpSpPr>
      <p:grpSpPr>
        <a:xfrm>
          <a:off x="0" y="0"/>
          <a:ext cx="0" cy="0"/>
          <a:chOff x="0" y="0"/>
          <a:chExt cx="0" cy="0"/>
        </a:xfrm>
      </p:grpSpPr>
      <p:grpSp>
        <p:nvGrpSpPr>
          <p:cNvPr name="Group 2" id="2"/>
          <p:cNvGrpSpPr/>
          <p:nvPr/>
        </p:nvGrpSpPr>
        <p:grpSpPr>
          <a:xfrm rot="5400000">
            <a:off x="12432431" y="4605338"/>
            <a:ext cx="10730064" cy="1076325"/>
            <a:chOff x="0" y="0"/>
            <a:chExt cx="3845413" cy="385731"/>
          </a:xfrm>
        </p:grpSpPr>
        <p:sp>
          <p:nvSpPr>
            <p:cNvPr name="Freeform 3" id="3"/>
            <p:cNvSpPr/>
            <p:nvPr/>
          </p:nvSpPr>
          <p:spPr>
            <a:xfrm flipH="false" flipV="false" rot="0">
              <a:off x="0" y="0"/>
              <a:ext cx="3845413" cy="385731"/>
            </a:xfrm>
            <a:custGeom>
              <a:avLst/>
              <a:gdLst/>
              <a:ahLst/>
              <a:cxnLst/>
              <a:rect r="r" b="b" t="t" l="l"/>
              <a:pathLst>
                <a:path h="385731" w="3845413">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sp>
        <p:sp>
          <p:nvSpPr>
            <p:cNvPr name="TextBox 4" id="4"/>
            <p:cNvSpPr txBox="true"/>
            <p:nvPr/>
          </p:nvSpPr>
          <p:spPr>
            <a:xfrm>
              <a:off x="0" y="-47625"/>
              <a:ext cx="3845413" cy="433356"/>
            </a:xfrm>
            <a:prstGeom prst="rect">
              <a:avLst/>
            </a:prstGeom>
          </p:spPr>
          <p:txBody>
            <a:bodyPr anchor="ctr" rtlCol="false" tIns="50800" lIns="50800" bIns="50800" rIns="50800"/>
            <a:lstStyle/>
            <a:p>
              <a:pPr algn="ctr">
                <a:lnSpc>
                  <a:spcPts val="1960"/>
                </a:lnSpc>
              </a:pPr>
            </a:p>
          </p:txBody>
        </p:sp>
      </p:grpSp>
      <p:grpSp>
        <p:nvGrpSpPr>
          <p:cNvPr name="Group 5" id="5"/>
          <p:cNvGrpSpPr/>
          <p:nvPr/>
        </p:nvGrpSpPr>
        <p:grpSpPr>
          <a:xfrm rot="5400000">
            <a:off x="-2633335" y="2165776"/>
            <a:ext cx="10730064" cy="5955448"/>
            <a:chOff x="0" y="0"/>
            <a:chExt cx="3845413" cy="2134298"/>
          </a:xfrm>
        </p:grpSpPr>
        <p:sp>
          <p:nvSpPr>
            <p:cNvPr name="Freeform 6" id="6"/>
            <p:cNvSpPr/>
            <p:nvPr/>
          </p:nvSpPr>
          <p:spPr>
            <a:xfrm flipH="false" flipV="false" rot="0">
              <a:off x="0" y="0"/>
              <a:ext cx="3845413" cy="2134298"/>
            </a:xfrm>
            <a:custGeom>
              <a:avLst/>
              <a:gdLst/>
              <a:ahLst/>
              <a:cxnLst/>
              <a:rect r="r" b="b" t="t" l="l"/>
              <a:pathLst>
                <a:path h="2134298" w="3845413">
                  <a:moveTo>
                    <a:pt x="0" y="0"/>
                  </a:moveTo>
                  <a:lnTo>
                    <a:pt x="3845413" y="0"/>
                  </a:lnTo>
                  <a:lnTo>
                    <a:pt x="3845413" y="2134298"/>
                  </a:lnTo>
                  <a:lnTo>
                    <a:pt x="0" y="2134298"/>
                  </a:lnTo>
                  <a:close/>
                </a:path>
              </a:pathLst>
            </a:custGeom>
            <a:solidFill>
              <a:srgbClr val="F6F5F3"/>
            </a:solidFill>
            <a:ln w="9525" cap="sq">
              <a:solidFill>
                <a:srgbClr val="403E3E"/>
              </a:solidFill>
              <a:prstDash val="solid"/>
              <a:miter/>
            </a:ln>
          </p:spPr>
        </p:sp>
        <p:sp>
          <p:nvSpPr>
            <p:cNvPr name="TextBox 7" id="7"/>
            <p:cNvSpPr txBox="true"/>
            <p:nvPr/>
          </p:nvSpPr>
          <p:spPr>
            <a:xfrm>
              <a:off x="0" y="-47625"/>
              <a:ext cx="3845413" cy="2181923"/>
            </a:xfrm>
            <a:prstGeom prst="rect">
              <a:avLst/>
            </a:prstGeom>
          </p:spPr>
          <p:txBody>
            <a:bodyPr anchor="ctr" rtlCol="false" tIns="50800" lIns="50800" bIns="50800" rIns="50800"/>
            <a:lstStyle/>
            <a:p>
              <a:pPr algn="ctr">
                <a:lnSpc>
                  <a:spcPts val="1960"/>
                </a:lnSpc>
              </a:pPr>
            </a:p>
          </p:txBody>
        </p:sp>
      </p:grpSp>
      <p:sp>
        <p:nvSpPr>
          <p:cNvPr name="Freeform 8" id="8"/>
          <p:cNvSpPr/>
          <p:nvPr/>
        </p:nvSpPr>
        <p:spPr>
          <a:xfrm flipH="false" flipV="false" rot="0">
            <a:off x="5235230" y="1031452"/>
            <a:ext cx="948381" cy="1520727"/>
          </a:xfrm>
          <a:custGeom>
            <a:avLst/>
            <a:gdLst/>
            <a:ahLst/>
            <a:cxnLst/>
            <a:rect r="r" b="b" t="t" l="l"/>
            <a:pathLst>
              <a:path h="1520727" w="948381">
                <a:moveTo>
                  <a:pt x="0" y="0"/>
                </a:moveTo>
                <a:lnTo>
                  <a:pt x="948381" y="0"/>
                </a:lnTo>
                <a:lnTo>
                  <a:pt x="948381" y="1520727"/>
                </a:lnTo>
                <a:lnTo>
                  <a:pt x="0" y="15207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03592" y="1527415"/>
            <a:ext cx="2476770" cy="1024764"/>
          </a:xfrm>
          <a:custGeom>
            <a:avLst/>
            <a:gdLst/>
            <a:ahLst/>
            <a:cxnLst/>
            <a:rect r="r" b="b" t="t" l="l"/>
            <a:pathLst>
              <a:path h="1024764" w="2476770">
                <a:moveTo>
                  <a:pt x="0" y="0"/>
                </a:moveTo>
                <a:lnTo>
                  <a:pt x="2476770" y="0"/>
                </a:lnTo>
                <a:lnTo>
                  <a:pt x="2476770" y="1024764"/>
                </a:lnTo>
                <a:lnTo>
                  <a:pt x="0" y="1024764"/>
                </a:lnTo>
                <a:lnTo>
                  <a:pt x="0" y="0"/>
                </a:lnTo>
                <a:close/>
              </a:path>
            </a:pathLst>
          </a:custGeom>
          <a:blipFill>
            <a:blip r:embed="rId4"/>
            <a:stretch>
              <a:fillRect l="0" t="0" r="0" b="0"/>
            </a:stretch>
          </a:blipFill>
        </p:spPr>
      </p:sp>
      <p:sp>
        <p:nvSpPr>
          <p:cNvPr name="TextBox 10" id="10"/>
          <p:cNvSpPr txBox="true"/>
          <p:nvPr/>
        </p:nvSpPr>
        <p:spPr>
          <a:xfrm rot="0">
            <a:off x="6416161" y="4299875"/>
            <a:ext cx="8693638" cy="1440145"/>
          </a:xfrm>
          <a:prstGeom prst="rect">
            <a:avLst/>
          </a:prstGeom>
        </p:spPr>
        <p:txBody>
          <a:bodyPr anchor="t" rtlCol="false" tIns="0" lIns="0" bIns="0" rIns="0">
            <a:spAutoFit/>
          </a:bodyPr>
          <a:lstStyle/>
          <a:p>
            <a:pPr algn="l">
              <a:lnSpc>
                <a:spcPts val="5339"/>
              </a:lnSpc>
            </a:pPr>
            <a:r>
              <a:rPr lang="en-US" b="true" sz="6281" spc="-471">
                <a:solidFill>
                  <a:srgbClr val="403E3E"/>
                </a:solidFill>
                <a:latin typeface="Inter Semi-Bold"/>
                <a:ea typeface="Inter Semi-Bold"/>
                <a:cs typeface="Inter Semi-Bold"/>
                <a:sym typeface="Inter Semi-Bold"/>
              </a:rPr>
              <a:t>FIRST COME, FIRST            SERVED            (FCFS)  </a:t>
            </a:r>
          </a:p>
        </p:txBody>
      </p:sp>
      <p:sp>
        <p:nvSpPr>
          <p:cNvPr name="TextBox 11" id="11"/>
          <p:cNvSpPr txBox="true"/>
          <p:nvPr/>
        </p:nvSpPr>
        <p:spPr>
          <a:xfrm rot="0">
            <a:off x="520811" y="8835390"/>
            <a:ext cx="5895351" cy="306705"/>
          </a:xfrm>
          <a:prstGeom prst="rect">
            <a:avLst/>
          </a:prstGeom>
        </p:spPr>
        <p:txBody>
          <a:bodyPr anchor="t" rtlCol="false" tIns="0" lIns="0" bIns="0" rIns="0">
            <a:spAutoFit/>
          </a:bodyPr>
          <a:lstStyle/>
          <a:p>
            <a:pPr algn="l" marL="0" indent="0" lvl="0">
              <a:lnSpc>
                <a:spcPts val="2520"/>
              </a:lnSpc>
              <a:spcBef>
                <a:spcPct val="0"/>
              </a:spcBef>
            </a:pPr>
            <a:r>
              <a:rPr lang="en-US" sz="1800" spc="-72">
                <a:solidFill>
                  <a:srgbClr val="403E3E"/>
                </a:solidFill>
                <a:latin typeface="Inter"/>
                <a:ea typeface="Inter"/>
                <a:cs typeface="Inter"/>
                <a:sym typeface="Inter"/>
              </a:rPr>
              <a:t>HO CHI MINH CITY UNIVERSITY OF TRANSPORT</a:t>
            </a:r>
          </a:p>
        </p:txBody>
      </p:sp>
      <p:sp>
        <p:nvSpPr>
          <p:cNvPr name="TextBox 12" id="12"/>
          <p:cNvSpPr txBox="true"/>
          <p:nvPr/>
        </p:nvSpPr>
        <p:spPr>
          <a:xfrm rot="0">
            <a:off x="15506330" y="8951595"/>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1</a:t>
            </a:r>
          </a:p>
        </p:txBody>
      </p:sp>
      <p:sp>
        <p:nvSpPr>
          <p:cNvPr name="TextBox 13" id="13"/>
          <p:cNvSpPr txBox="true"/>
          <p:nvPr/>
        </p:nvSpPr>
        <p:spPr>
          <a:xfrm rot="0">
            <a:off x="453556" y="929484"/>
            <a:ext cx="3426807" cy="370573"/>
          </a:xfrm>
          <a:prstGeom prst="rect">
            <a:avLst/>
          </a:prstGeom>
        </p:spPr>
        <p:txBody>
          <a:bodyPr anchor="t" rtlCol="false" tIns="0" lIns="0" bIns="0" rIns="0">
            <a:spAutoFit/>
          </a:bodyPr>
          <a:lstStyle/>
          <a:p>
            <a:pPr algn="l" marL="0" indent="0" lvl="0">
              <a:lnSpc>
                <a:spcPts val="3029"/>
              </a:lnSpc>
              <a:spcBef>
                <a:spcPct val="0"/>
              </a:spcBef>
            </a:pPr>
            <a:r>
              <a:rPr lang="en-US" sz="2164" spc="-86">
                <a:solidFill>
                  <a:srgbClr val="403E3E"/>
                </a:solidFill>
                <a:latin typeface="Inter"/>
                <a:ea typeface="Inter"/>
                <a:cs typeface="Inter"/>
                <a:sym typeface="Inter"/>
              </a:rPr>
              <a:t>TEAM 4</a:t>
            </a:r>
          </a:p>
        </p:txBody>
      </p:sp>
      <p:sp>
        <p:nvSpPr>
          <p:cNvPr name="TextBox 14" id="14"/>
          <p:cNvSpPr txBox="true"/>
          <p:nvPr/>
        </p:nvSpPr>
        <p:spPr>
          <a:xfrm rot="0">
            <a:off x="13402382" y="993352"/>
            <a:ext cx="2850172" cy="306705"/>
          </a:xfrm>
          <a:prstGeom prst="rect">
            <a:avLst/>
          </a:prstGeom>
        </p:spPr>
        <p:txBody>
          <a:bodyPr anchor="t" rtlCol="false" tIns="0" lIns="0" bIns="0" rIns="0">
            <a:spAutoFit/>
          </a:bodyPr>
          <a:lstStyle/>
          <a:p>
            <a:pPr algn="r" marL="0" indent="0" lvl="0">
              <a:lnSpc>
                <a:spcPts val="2520"/>
              </a:lnSpc>
              <a:spcBef>
                <a:spcPct val="0"/>
              </a:spcBef>
            </a:pPr>
            <a:r>
              <a:rPr lang="en-US" sz="1800" spc="-72">
                <a:solidFill>
                  <a:srgbClr val="403E3E"/>
                </a:solidFill>
                <a:latin typeface="Inter"/>
                <a:ea typeface="Inter"/>
                <a:cs typeface="Inter"/>
                <a:sym typeface="Inter"/>
              </a:rPr>
              <a:t>NOV 2025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6F5F3"/>
        </a:solidFill>
      </p:bgPr>
    </p:bg>
    <p:spTree>
      <p:nvGrpSpPr>
        <p:cNvPr id="1" name=""/>
        <p:cNvGrpSpPr/>
        <p:nvPr/>
      </p:nvGrpSpPr>
      <p:grpSpPr>
        <a:xfrm>
          <a:off x="0" y="0"/>
          <a:ext cx="0" cy="0"/>
          <a:chOff x="0" y="0"/>
          <a:chExt cx="0" cy="0"/>
        </a:xfrm>
      </p:grpSpPr>
      <p:grpSp>
        <p:nvGrpSpPr>
          <p:cNvPr name="Group 2" id="2"/>
          <p:cNvGrpSpPr/>
          <p:nvPr/>
        </p:nvGrpSpPr>
        <p:grpSpPr>
          <a:xfrm rot="5400000">
            <a:off x="6667400" y="-6899948"/>
            <a:ext cx="4044591" cy="17622955"/>
            <a:chOff x="0" y="0"/>
            <a:chExt cx="1449490" cy="6315669"/>
          </a:xfrm>
        </p:grpSpPr>
        <p:sp>
          <p:nvSpPr>
            <p:cNvPr name="Freeform 3" id="3"/>
            <p:cNvSpPr/>
            <p:nvPr/>
          </p:nvSpPr>
          <p:spPr>
            <a:xfrm flipH="false" flipV="false" rot="0">
              <a:off x="0" y="0"/>
              <a:ext cx="1449490" cy="6315670"/>
            </a:xfrm>
            <a:custGeom>
              <a:avLst/>
              <a:gdLst/>
              <a:ahLst/>
              <a:cxnLst/>
              <a:rect r="r" b="b" t="t" l="l"/>
              <a:pathLst>
                <a:path h="6315670" w="1449490">
                  <a:moveTo>
                    <a:pt x="0" y="0"/>
                  </a:moveTo>
                  <a:lnTo>
                    <a:pt x="1449490" y="0"/>
                  </a:lnTo>
                  <a:lnTo>
                    <a:pt x="1449490" y="6315670"/>
                  </a:lnTo>
                  <a:lnTo>
                    <a:pt x="0" y="6315670"/>
                  </a:lnTo>
                  <a:close/>
                </a:path>
              </a:pathLst>
            </a:custGeom>
            <a:solidFill>
              <a:srgbClr val="EFEEEC"/>
            </a:solidFill>
            <a:ln w="9525" cap="sq">
              <a:solidFill>
                <a:srgbClr val="403E3E"/>
              </a:solidFill>
              <a:prstDash val="solid"/>
              <a:miter/>
            </a:ln>
          </p:spPr>
        </p:sp>
        <p:sp>
          <p:nvSpPr>
            <p:cNvPr name="TextBox 4" id="4"/>
            <p:cNvSpPr txBox="true"/>
            <p:nvPr/>
          </p:nvSpPr>
          <p:spPr>
            <a:xfrm>
              <a:off x="0" y="-47625"/>
              <a:ext cx="1449490" cy="6363294"/>
            </a:xfrm>
            <a:prstGeom prst="rect">
              <a:avLst/>
            </a:prstGeom>
          </p:spPr>
          <p:txBody>
            <a:bodyPr anchor="ctr" rtlCol="false" tIns="50800" lIns="50800" bIns="50800" rIns="50800"/>
            <a:lstStyle/>
            <a:p>
              <a:pPr algn="ctr">
                <a:lnSpc>
                  <a:spcPts val="1960"/>
                </a:lnSpc>
              </a:pPr>
            </a:p>
          </p:txBody>
        </p:sp>
      </p:grpSp>
      <p:grpSp>
        <p:nvGrpSpPr>
          <p:cNvPr name="Group 5" id="5"/>
          <p:cNvGrpSpPr/>
          <p:nvPr/>
        </p:nvGrpSpPr>
        <p:grpSpPr>
          <a:xfrm rot="5400000">
            <a:off x="12432431" y="4605338"/>
            <a:ext cx="10730064" cy="1076325"/>
            <a:chOff x="0" y="0"/>
            <a:chExt cx="3845413" cy="385731"/>
          </a:xfrm>
        </p:grpSpPr>
        <p:sp>
          <p:nvSpPr>
            <p:cNvPr name="Freeform 6" id="6"/>
            <p:cNvSpPr/>
            <p:nvPr/>
          </p:nvSpPr>
          <p:spPr>
            <a:xfrm flipH="false" flipV="false" rot="0">
              <a:off x="0" y="0"/>
              <a:ext cx="3845413" cy="385731"/>
            </a:xfrm>
            <a:custGeom>
              <a:avLst/>
              <a:gdLst/>
              <a:ahLst/>
              <a:cxnLst/>
              <a:rect r="r" b="b" t="t" l="l"/>
              <a:pathLst>
                <a:path h="385731" w="3845413">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sp>
        <p:sp>
          <p:nvSpPr>
            <p:cNvPr name="TextBox 7" id="7"/>
            <p:cNvSpPr txBox="true"/>
            <p:nvPr/>
          </p:nvSpPr>
          <p:spPr>
            <a:xfrm>
              <a:off x="0" y="-47625"/>
              <a:ext cx="3845413" cy="433356"/>
            </a:xfrm>
            <a:prstGeom prst="rect">
              <a:avLst/>
            </a:prstGeom>
          </p:spPr>
          <p:txBody>
            <a:bodyPr anchor="ctr" rtlCol="false" tIns="50800" lIns="50800" bIns="50800" rIns="50800"/>
            <a:lstStyle/>
            <a:p>
              <a:pPr algn="ctr">
                <a:lnSpc>
                  <a:spcPts val="1960"/>
                </a:lnSpc>
              </a:pPr>
            </a:p>
          </p:txBody>
        </p:sp>
      </p:grpSp>
      <p:sp>
        <p:nvSpPr>
          <p:cNvPr name="AutoShape 8" id="8"/>
          <p:cNvSpPr/>
          <p:nvPr/>
        </p:nvSpPr>
        <p:spPr>
          <a:xfrm flipV="true">
            <a:off x="1028700" y="6026749"/>
            <a:ext cx="15313002" cy="0"/>
          </a:xfrm>
          <a:prstGeom prst="line">
            <a:avLst/>
          </a:prstGeom>
          <a:ln cap="flat" w="9525">
            <a:solidFill>
              <a:srgbClr val="000000"/>
            </a:solidFill>
            <a:prstDash val="sysDot"/>
            <a:headEnd type="none" len="sm" w="sm"/>
            <a:tailEnd type="none" len="sm" w="sm"/>
          </a:ln>
        </p:spPr>
      </p:sp>
      <p:sp>
        <p:nvSpPr>
          <p:cNvPr name="Freeform 9" id="9"/>
          <p:cNvSpPr/>
          <p:nvPr/>
        </p:nvSpPr>
        <p:spPr>
          <a:xfrm flipH="false" flipV="false" rot="5400000">
            <a:off x="15018000" y="3173461"/>
            <a:ext cx="948381" cy="1520727"/>
          </a:xfrm>
          <a:custGeom>
            <a:avLst/>
            <a:gdLst/>
            <a:ahLst/>
            <a:cxnLst/>
            <a:rect r="r" b="b" t="t" l="l"/>
            <a:pathLst>
              <a:path h="1520727" w="948381">
                <a:moveTo>
                  <a:pt x="0" y="0"/>
                </a:moveTo>
                <a:lnTo>
                  <a:pt x="948381" y="0"/>
                </a:lnTo>
                <a:lnTo>
                  <a:pt x="948381" y="1520728"/>
                </a:lnTo>
                <a:lnTo>
                  <a:pt x="0" y="15207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964625" y="9103995"/>
            <a:ext cx="5767083" cy="306705"/>
          </a:xfrm>
          <a:prstGeom prst="rect">
            <a:avLst/>
          </a:prstGeom>
        </p:spPr>
        <p:txBody>
          <a:bodyPr anchor="t" rtlCol="false" tIns="0" lIns="0" bIns="0" rIns="0">
            <a:spAutoFit/>
          </a:bodyPr>
          <a:lstStyle/>
          <a:p>
            <a:pPr algn="l" marL="0" indent="0" lvl="0">
              <a:lnSpc>
                <a:spcPts val="2520"/>
              </a:lnSpc>
              <a:spcBef>
                <a:spcPct val="0"/>
              </a:spcBef>
            </a:pPr>
            <a:r>
              <a:rPr lang="en-US" sz="1800" spc="-72">
                <a:solidFill>
                  <a:srgbClr val="403E3E"/>
                </a:solidFill>
                <a:latin typeface="Inter"/>
                <a:ea typeface="Inter"/>
                <a:cs typeface="Inter"/>
                <a:sym typeface="Inter"/>
              </a:rPr>
              <a:t>HO CHI MINH CITY UNIVERSITY OF TRANSPORT</a:t>
            </a:r>
          </a:p>
        </p:txBody>
      </p:sp>
      <p:sp>
        <p:nvSpPr>
          <p:cNvPr name="TextBox 11" id="11"/>
          <p:cNvSpPr txBox="true"/>
          <p:nvPr/>
        </p:nvSpPr>
        <p:spPr>
          <a:xfrm rot="0">
            <a:off x="15506330" y="8951595"/>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2</a:t>
            </a:r>
          </a:p>
        </p:txBody>
      </p:sp>
      <p:sp>
        <p:nvSpPr>
          <p:cNvPr name="TextBox 12" id="12"/>
          <p:cNvSpPr txBox="true"/>
          <p:nvPr/>
        </p:nvSpPr>
        <p:spPr>
          <a:xfrm rot="0">
            <a:off x="1028700" y="2666365"/>
            <a:ext cx="9594056" cy="668020"/>
          </a:xfrm>
          <a:prstGeom prst="rect">
            <a:avLst/>
          </a:prstGeom>
        </p:spPr>
        <p:txBody>
          <a:bodyPr anchor="t" rtlCol="false" tIns="0" lIns="0" bIns="0" rIns="0">
            <a:spAutoFit/>
          </a:bodyPr>
          <a:lstStyle/>
          <a:p>
            <a:pPr algn="l" marL="0" indent="0" lvl="0">
              <a:lnSpc>
                <a:spcPts val="4760"/>
              </a:lnSpc>
              <a:spcBef>
                <a:spcPct val="0"/>
              </a:spcBef>
            </a:pPr>
            <a:r>
              <a:rPr lang="en-US" sz="5600" spc="-420">
                <a:solidFill>
                  <a:srgbClr val="403E3E"/>
                </a:solidFill>
                <a:latin typeface="Inter"/>
                <a:ea typeface="Inter"/>
                <a:cs typeface="Inter"/>
                <a:sym typeface="Inter"/>
              </a:rPr>
              <a:t>member</a:t>
            </a:r>
          </a:p>
        </p:txBody>
      </p:sp>
      <p:sp>
        <p:nvSpPr>
          <p:cNvPr name="TextBox 13" id="13"/>
          <p:cNvSpPr txBox="true"/>
          <p:nvPr/>
        </p:nvSpPr>
        <p:spPr>
          <a:xfrm rot="0">
            <a:off x="1028700" y="5210175"/>
            <a:ext cx="3588512" cy="490855"/>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403E3E"/>
                </a:solidFill>
                <a:latin typeface="Inter Light"/>
                <a:ea typeface="Inter Light"/>
                <a:cs typeface="Inter Light"/>
                <a:sym typeface="Inter Light"/>
              </a:rPr>
              <a:t>NGUYỄN TẤN LỘC</a:t>
            </a:r>
          </a:p>
        </p:txBody>
      </p:sp>
      <p:sp>
        <p:nvSpPr>
          <p:cNvPr name="TextBox 14" id="14"/>
          <p:cNvSpPr txBox="true"/>
          <p:nvPr/>
        </p:nvSpPr>
        <p:spPr>
          <a:xfrm rot="0">
            <a:off x="6286687" y="5210175"/>
            <a:ext cx="3588512" cy="490855"/>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403E3E"/>
                </a:solidFill>
                <a:latin typeface="Inter Light"/>
                <a:ea typeface="Inter Light"/>
                <a:cs typeface="Inter Light"/>
                <a:sym typeface="Inter Light"/>
              </a:rPr>
              <a:t>ĐÀM TRIỆU VỸ</a:t>
            </a:r>
          </a:p>
        </p:txBody>
      </p:sp>
      <p:sp>
        <p:nvSpPr>
          <p:cNvPr name="TextBox 15" id="15"/>
          <p:cNvSpPr txBox="true"/>
          <p:nvPr/>
        </p:nvSpPr>
        <p:spPr>
          <a:xfrm rot="0">
            <a:off x="11544674" y="5210175"/>
            <a:ext cx="3588512" cy="490855"/>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403E3E"/>
                </a:solidFill>
                <a:latin typeface="Inter Light"/>
                <a:ea typeface="Inter Light"/>
                <a:cs typeface="Inter Light"/>
                <a:sym typeface="Inter Light"/>
              </a:rPr>
              <a:t>NGUYỄN VĂN HIỆP</a:t>
            </a:r>
          </a:p>
        </p:txBody>
      </p:sp>
      <p:sp>
        <p:nvSpPr>
          <p:cNvPr name="TextBox 16" id="16"/>
          <p:cNvSpPr txBox="true"/>
          <p:nvPr/>
        </p:nvSpPr>
        <p:spPr>
          <a:xfrm rot="0">
            <a:off x="13402382" y="993352"/>
            <a:ext cx="2850172" cy="621030"/>
          </a:xfrm>
          <a:prstGeom prst="rect">
            <a:avLst/>
          </a:prstGeom>
        </p:spPr>
        <p:txBody>
          <a:bodyPr anchor="t" rtlCol="false" tIns="0" lIns="0" bIns="0" rIns="0">
            <a:spAutoFit/>
          </a:bodyPr>
          <a:lstStyle/>
          <a:p>
            <a:pPr algn="r" marL="0" indent="0" lvl="0">
              <a:lnSpc>
                <a:spcPts val="2520"/>
              </a:lnSpc>
              <a:spcBef>
                <a:spcPct val="0"/>
              </a:spcBef>
            </a:pPr>
            <a:r>
              <a:rPr lang="en-US" sz="1800" spc="-72">
                <a:solidFill>
                  <a:srgbClr val="403E3E"/>
                </a:solidFill>
                <a:latin typeface="Inter"/>
                <a:ea typeface="Inter"/>
                <a:cs typeface="Inter"/>
                <a:sym typeface="Inter"/>
              </a:rPr>
              <a:t>NOV 2025</a:t>
            </a:r>
          </a:p>
          <a:p>
            <a:pPr algn="r" marL="0" indent="0" lvl="0">
              <a:lnSpc>
                <a:spcPts val="2520"/>
              </a:lnSpc>
              <a:spcBef>
                <a:spcPct val="0"/>
              </a:spcBef>
            </a:pPr>
          </a:p>
        </p:txBody>
      </p:sp>
      <p:sp>
        <p:nvSpPr>
          <p:cNvPr name="TextBox 17" id="17"/>
          <p:cNvSpPr txBox="true"/>
          <p:nvPr/>
        </p:nvSpPr>
        <p:spPr>
          <a:xfrm rot="0">
            <a:off x="6286687" y="8113473"/>
            <a:ext cx="3588512" cy="490855"/>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403E3E"/>
                </a:solidFill>
                <a:latin typeface="Inter Light"/>
                <a:ea typeface="Inter Light"/>
                <a:cs typeface="Inter Light"/>
                <a:sym typeface="Inter Light"/>
              </a:rPr>
              <a:t>HOÀNG VIỆT QUANG</a:t>
            </a:r>
          </a:p>
        </p:txBody>
      </p:sp>
      <p:sp>
        <p:nvSpPr>
          <p:cNvPr name="TextBox 18" id="18"/>
          <p:cNvSpPr txBox="true"/>
          <p:nvPr/>
        </p:nvSpPr>
        <p:spPr>
          <a:xfrm rot="0">
            <a:off x="6286687" y="6660593"/>
            <a:ext cx="3588512" cy="490855"/>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403E3E"/>
                </a:solidFill>
                <a:latin typeface="Inter Light"/>
                <a:ea typeface="Inter Light"/>
                <a:cs typeface="Inter Light"/>
                <a:sym typeface="Inter Light"/>
              </a:rPr>
              <a:t>HỒ VĂN PHÁT</a:t>
            </a:r>
          </a:p>
        </p:txBody>
      </p:sp>
      <p:sp>
        <p:nvSpPr>
          <p:cNvPr name="TextBox 19" id="19"/>
          <p:cNvSpPr txBox="true"/>
          <p:nvPr/>
        </p:nvSpPr>
        <p:spPr>
          <a:xfrm rot="0">
            <a:off x="11608126" y="6726390"/>
            <a:ext cx="4644428" cy="490855"/>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403E3E"/>
                </a:solidFill>
                <a:latin typeface="Inter Light"/>
                <a:ea typeface="Inter Light"/>
                <a:cs typeface="Inter Light"/>
                <a:sym typeface="Inter Light"/>
              </a:rPr>
              <a:t>NGUYỄN NHẬT TRƯỜNG</a:t>
            </a:r>
          </a:p>
        </p:txBody>
      </p:sp>
      <p:sp>
        <p:nvSpPr>
          <p:cNvPr name="TextBox 20" id="20"/>
          <p:cNvSpPr txBox="true"/>
          <p:nvPr/>
        </p:nvSpPr>
        <p:spPr>
          <a:xfrm rot="0">
            <a:off x="964625" y="6660593"/>
            <a:ext cx="4343256" cy="490855"/>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403E3E"/>
                </a:solidFill>
                <a:latin typeface="Inter Light"/>
                <a:ea typeface="Inter Light"/>
                <a:cs typeface="Inter Light"/>
                <a:sym typeface="Inter Light"/>
              </a:rPr>
              <a:t>NGUYỄN VĂN KHƯƠNG</a:t>
            </a:r>
          </a:p>
        </p:txBody>
      </p:sp>
      <p:sp>
        <p:nvSpPr>
          <p:cNvPr name="Freeform 21" id="21"/>
          <p:cNvSpPr/>
          <p:nvPr/>
        </p:nvSpPr>
        <p:spPr>
          <a:xfrm flipH="false" flipV="false" rot="0">
            <a:off x="1028700" y="1165754"/>
            <a:ext cx="2476770" cy="1024764"/>
          </a:xfrm>
          <a:custGeom>
            <a:avLst/>
            <a:gdLst/>
            <a:ahLst/>
            <a:cxnLst/>
            <a:rect r="r" b="b" t="t" l="l"/>
            <a:pathLst>
              <a:path h="1024764" w="2476770">
                <a:moveTo>
                  <a:pt x="0" y="0"/>
                </a:moveTo>
                <a:lnTo>
                  <a:pt x="2476770" y="0"/>
                </a:lnTo>
                <a:lnTo>
                  <a:pt x="2476770" y="1024764"/>
                </a:lnTo>
                <a:lnTo>
                  <a:pt x="0" y="1024764"/>
                </a:lnTo>
                <a:lnTo>
                  <a:pt x="0" y="0"/>
                </a:lnTo>
                <a:close/>
              </a:path>
            </a:pathLst>
          </a:custGeom>
          <a:blipFill>
            <a:blip r:embed="rId4"/>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FEEEC"/>
        </a:solidFill>
      </p:bgPr>
    </p:bg>
    <p:spTree>
      <p:nvGrpSpPr>
        <p:cNvPr id="1" name=""/>
        <p:cNvGrpSpPr/>
        <p:nvPr/>
      </p:nvGrpSpPr>
      <p:grpSpPr>
        <a:xfrm>
          <a:off x="0" y="0"/>
          <a:ext cx="0" cy="0"/>
          <a:chOff x="0" y="0"/>
          <a:chExt cx="0" cy="0"/>
        </a:xfrm>
      </p:grpSpPr>
      <p:grpSp>
        <p:nvGrpSpPr>
          <p:cNvPr name="Group 2" id="2"/>
          <p:cNvGrpSpPr/>
          <p:nvPr/>
        </p:nvGrpSpPr>
        <p:grpSpPr>
          <a:xfrm rot="5400000">
            <a:off x="12432431" y="4605338"/>
            <a:ext cx="10730064" cy="1076325"/>
            <a:chOff x="0" y="0"/>
            <a:chExt cx="3845413" cy="385731"/>
          </a:xfrm>
        </p:grpSpPr>
        <p:sp>
          <p:nvSpPr>
            <p:cNvPr name="Freeform 3" id="3"/>
            <p:cNvSpPr/>
            <p:nvPr/>
          </p:nvSpPr>
          <p:spPr>
            <a:xfrm flipH="false" flipV="false" rot="0">
              <a:off x="0" y="0"/>
              <a:ext cx="3845413" cy="385731"/>
            </a:xfrm>
            <a:custGeom>
              <a:avLst/>
              <a:gdLst/>
              <a:ahLst/>
              <a:cxnLst/>
              <a:rect r="r" b="b" t="t" l="l"/>
              <a:pathLst>
                <a:path h="385731" w="3845413">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sp>
        <p:sp>
          <p:nvSpPr>
            <p:cNvPr name="TextBox 4" id="4"/>
            <p:cNvSpPr txBox="true"/>
            <p:nvPr/>
          </p:nvSpPr>
          <p:spPr>
            <a:xfrm>
              <a:off x="0" y="-47625"/>
              <a:ext cx="3845413" cy="433356"/>
            </a:xfrm>
            <a:prstGeom prst="rect">
              <a:avLst/>
            </a:prstGeom>
          </p:spPr>
          <p:txBody>
            <a:bodyPr anchor="ctr" rtlCol="false" tIns="50800" lIns="50800" bIns="50800" rIns="50800"/>
            <a:lstStyle/>
            <a:p>
              <a:pPr algn="ctr">
                <a:lnSpc>
                  <a:spcPts val="1960"/>
                </a:lnSpc>
              </a:pPr>
            </a:p>
          </p:txBody>
        </p:sp>
      </p:grpSp>
      <p:sp>
        <p:nvSpPr>
          <p:cNvPr name="AutoShape 5" id="5"/>
          <p:cNvSpPr/>
          <p:nvPr/>
        </p:nvSpPr>
        <p:spPr>
          <a:xfrm flipV="true">
            <a:off x="5198590" y="4442066"/>
            <a:ext cx="11289034" cy="0"/>
          </a:xfrm>
          <a:prstGeom prst="line">
            <a:avLst/>
          </a:prstGeom>
          <a:ln cap="flat" w="9525">
            <a:solidFill>
              <a:srgbClr val="000000"/>
            </a:solidFill>
            <a:prstDash val="sysDot"/>
            <a:headEnd type="none" len="sm" w="sm"/>
            <a:tailEnd type="none" len="sm" w="sm"/>
          </a:ln>
        </p:spPr>
      </p:sp>
      <p:sp>
        <p:nvSpPr>
          <p:cNvPr name="TextBox 6" id="6"/>
          <p:cNvSpPr txBox="true"/>
          <p:nvPr/>
        </p:nvSpPr>
        <p:spPr>
          <a:xfrm rot="0">
            <a:off x="5608706" y="2352675"/>
            <a:ext cx="7327344" cy="1481455"/>
          </a:xfrm>
          <a:prstGeom prst="rect">
            <a:avLst/>
          </a:prstGeom>
        </p:spPr>
        <p:txBody>
          <a:bodyPr anchor="t" rtlCol="false" tIns="0" lIns="0" bIns="0" rIns="0">
            <a:spAutoFit/>
          </a:bodyPr>
          <a:lstStyle/>
          <a:p>
            <a:pPr algn="l">
              <a:lnSpc>
                <a:spcPts val="3919"/>
              </a:lnSpc>
            </a:pPr>
            <a:r>
              <a:rPr lang="en-US" sz="2799" spc="-209">
                <a:solidFill>
                  <a:srgbClr val="403E3E"/>
                </a:solidFill>
                <a:latin typeface="Inter Light"/>
                <a:ea typeface="Inter Light"/>
                <a:cs typeface="Inter Light"/>
                <a:sym typeface="Inter Light"/>
              </a:rPr>
              <a:t>1.1 THE CONTEXT AND IMPORTANCE OF CPU SCHEDULING</a:t>
            </a:r>
          </a:p>
          <a:p>
            <a:pPr algn="l" marL="0" indent="0" lvl="0">
              <a:lnSpc>
                <a:spcPts val="3919"/>
              </a:lnSpc>
              <a:spcBef>
                <a:spcPct val="0"/>
              </a:spcBef>
            </a:pPr>
          </a:p>
        </p:txBody>
      </p:sp>
      <p:sp>
        <p:nvSpPr>
          <p:cNvPr name="TextBox 7" id="7"/>
          <p:cNvSpPr txBox="true"/>
          <p:nvPr/>
        </p:nvSpPr>
        <p:spPr>
          <a:xfrm rot="0">
            <a:off x="15506330" y="8951595"/>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3</a:t>
            </a:r>
          </a:p>
        </p:txBody>
      </p:sp>
      <p:sp>
        <p:nvSpPr>
          <p:cNvPr name="TextBox 8" id="8"/>
          <p:cNvSpPr txBox="true"/>
          <p:nvPr/>
        </p:nvSpPr>
        <p:spPr>
          <a:xfrm rot="0">
            <a:off x="5507323" y="4789729"/>
            <a:ext cx="3945410" cy="1809949"/>
          </a:xfrm>
          <a:prstGeom prst="rect">
            <a:avLst/>
          </a:prstGeom>
        </p:spPr>
        <p:txBody>
          <a:bodyPr anchor="t" rtlCol="false" tIns="0" lIns="0" bIns="0" rIns="0">
            <a:spAutoFit/>
          </a:bodyPr>
          <a:lstStyle/>
          <a:p>
            <a:pPr algn="just" marL="0" indent="0" lvl="0">
              <a:lnSpc>
                <a:spcPts val="2944"/>
              </a:lnSpc>
              <a:spcBef>
                <a:spcPct val="0"/>
              </a:spcBef>
            </a:pPr>
            <a:r>
              <a:rPr lang="en-US" sz="2103" spc="-46">
                <a:solidFill>
                  <a:srgbClr val="403E3E"/>
                </a:solidFill>
                <a:latin typeface="Inter"/>
                <a:ea typeface="Inter"/>
                <a:cs typeface="Inter"/>
                <a:sym typeface="Inter"/>
              </a:rPr>
              <a:t>In modern multiprogramming operating systems, it is common for multiple processes to reside in memory simultaneously, ready for execution</a:t>
            </a:r>
          </a:p>
        </p:txBody>
      </p:sp>
      <p:sp>
        <p:nvSpPr>
          <p:cNvPr name="TextBox 9" id="9"/>
          <p:cNvSpPr txBox="true"/>
          <p:nvPr/>
        </p:nvSpPr>
        <p:spPr>
          <a:xfrm rot="0">
            <a:off x="11152941" y="5991225"/>
            <a:ext cx="5334684" cy="2166162"/>
          </a:xfrm>
          <a:prstGeom prst="rect">
            <a:avLst/>
          </a:prstGeom>
        </p:spPr>
        <p:txBody>
          <a:bodyPr anchor="t" rtlCol="false" tIns="0" lIns="0" bIns="0" rIns="0">
            <a:spAutoFit/>
          </a:bodyPr>
          <a:lstStyle/>
          <a:p>
            <a:pPr algn="just" marL="0" indent="0" lvl="0">
              <a:lnSpc>
                <a:spcPts val="2935"/>
              </a:lnSpc>
              <a:spcBef>
                <a:spcPct val="0"/>
              </a:spcBef>
            </a:pPr>
            <a:r>
              <a:rPr lang="en-US" sz="2096" spc="-46">
                <a:solidFill>
                  <a:srgbClr val="403E3E"/>
                </a:solidFill>
                <a:latin typeface="Inter"/>
                <a:ea typeface="Inter"/>
                <a:cs typeface="Inter"/>
                <a:sym typeface="Inter"/>
              </a:rPr>
              <a:t>The primary objective of CPU scheduling is to optimize system performance by balancing factors such as throughput, waiting time, turnaround time, and response time, while also ensuring fairness to all processes</a:t>
            </a:r>
          </a:p>
        </p:txBody>
      </p:sp>
      <p:sp>
        <p:nvSpPr>
          <p:cNvPr name="TextBox 10" id="10"/>
          <p:cNvSpPr txBox="true"/>
          <p:nvPr/>
        </p:nvSpPr>
        <p:spPr>
          <a:xfrm rot="0">
            <a:off x="13402382" y="993352"/>
            <a:ext cx="2850172" cy="621030"/>
          </a:xfrm>
          <a:prstGeom prst="rect">
            <a:avLst/>
          </a:prstGeom>
        </p:spPr>
        <p:txBody>
          <a:bodyPr anchor="t" rtlCol="false" tIns="0" lIns="0" bIns="0" rIns="0">
            <a:spAutoFit/>
          </a:bodyPr>
          <a:lstStyle/>
          <a:p>
            <a:pPr algn="r">
              <a:lnSpc>
                <a:spcPts val="2520"/>
              </a:lnSpc>
            </a:pPr>
            <a:r>
              <a:rPr lang="en-US" sz="1800" spc="-72">
                <a:solidFill>
                  <a:srgbClr val="403E3E"/>
                </a:solidFill>
                <a:latin typeface="Inter"/>
                <a:ea typeface="Inter"/>
                <a:cs typeface="Inter"/>
                <a:sym typeface="Inter"/>
              </a:rPr>
              <a:t>NOV 2025</a:t>
            </a:r>
          </a:p>
          <a:p>
            <a:pPr algn="r" marL="0" indent="0" lvl="0">
              <a:lnSpc>
                <a:spcPts val="2520"/>
              </a:lnSpc>
              <a:spcBef>
                <a:spcPct val="0"/>
              </a:spcBef>
            </a:pPr>
          </a:p>
        </p:txBody>
      </p:sp>
      <p:sp>
        <p:nvSpPr>
          <p:cNvPr name="TextBox 11" id="11"/>
          <p:cNvSpPr txBox="true"/>
          <p:nvPr/>
        </p:nvSpPr>
        <p:spPr>
          <a:xfrm rot="0">
            <a:off x="5608706" y="1481032"/>
            <a:ext cx="7959169" cy="1268095"/>
          </a:xfrm>
          <a:prstGeom prst="rect">
            <a:avLst/>
          </a:prstGeom>
        </p:spPr>
        <p:txBody>
          <a:bodyPr anchor="t" rtlCol="false" tIns="0" lIns="0" bIns="0" rIns="0">
            <a:spAutoFit/>
          </a:bodyPr>
          <a:lstStyle/>
          <a:p>
            <a:pPr algn="l">
              <a:lnSpc>
                <a:spcPts val="4760"/>
              </a:lnSpc>
            </a:pPr>
            <a:r>
              <a:rPr lang="en-US" sz="5600" spc="-420" b="true">
                <a:solidFill>
                  <a:srgbClr val="403E3E"/>
                </a:solidFill>
                <a:latin typeface="Inter Bold"/>
                <a:ea typeface="Inter Bold"/>
                <a:cs typeface="Inter Bold"/>
                <a:sym typeface="Inter Bold"/>
              </a:rPr>
              <a:t>1. Introduction</a:t>
            </a:r>
          </a:p>
          <a:p>
            <a:pPr algn="l">
              <a:lnSpc>
                <a:spcPts val="4760"/>
              </a:lnSpc>
            </a:pPr>
          </a:p>
        </p:txBody>
      </p:sp>
      <p:grpSp>
        <p:nvGrpSpPr>
          <p:cNvPr name="Group 12" id="12"/>
          <p:cNvGrpSpPr/>
          <p:nvPr/>
        </p:nvGrpSpPr>
        <p:grpSpPr>
          <a:xfrm rot="5400000">
            <a:off x="-3195310" y="2949283"/>
            <a:ext cx="10730064" cy="4831498"/>
            <a:chOff x="0" y="0"/>
            <a:chExt cx="3845413" cy="1731500"/>
          </a:xfrm>
        </p:grpSpPr>
        <p:sp>
          <p:nvSpPr>
            <p:cNvPr name="Freeform 13" id="13"/>
            <p:cNvSpPr/>
            <p:nvPr/>
          </p:nvSpPr>
          <p:spPr>
            <a:xfrm flipH="false" flipV="false" rot="0">
              <a:off x="0" y="0"/>
              <a:ext cx="3845413" cy="1731500"/>
            </a:xfrm>
            <a:custGeom>
              <a:avLst/>
              <a:gdLst/>
              <a:ahLst/>
              <a:cxnLst/>
              <a:rect r="r" b="b" t="t" l="l"/>
              <a:pathLst>
                <a:path h="1731500" w="3845413">
                  <a:moveTo>
                    <a:pt x="0" y="0"/>
                  </a:moveTo>
                  <a:lnTo>
                    <a:pt x="3845413" y="0"/>
                  </a:lnTo>
                  <a:lnTo>
                    <a:pt x="3845413" y="1731500"/>
                  </a:lnTo>
                  <a:lnTo>
                    <a:pt x="0" y="1731500"/>
                  </a:lnTo>
                  <a:close/>
                </a:path>
              </a:pathLst>
            </a:custGeom>
            <a:solidFill>
              <a:srgbClr val="F6F5F3"/>
            </a:solidFill>
            <a:ln w="9525" cap="sq">
              <a:solidFill>
                <a:srgbClr val="403E3E"/>
              </a:solidFill>
              <a:prstDash val="solid"/>
              <a:miter/>
            </a:ln>
          </p:spPr>
        </p:sp>
        <p:sp>
          <p:nvSpPr>
            <p:cNvPr name="TextBox 14" id="14"/>
            <p:cNvSpPr txBox="true"/>
            <p:nvPr/>
          </p:nvSpPr>
          <p:spPr>
            <a:xfrm>
              <a:off x="0" y="-47625"/>
              <a:ext cx="3845413" cy="1779125"/>
            </a:xfrm>
            <a:prstGeom prst="rect">
              <a:avLst/>
            </a:prstGeom>
          </p:spPr>
          <p:txBody>
            <a:bodyPr anchor="ctr" rtlCol="false" tIns="50800" lIns="50800" bIns="50800" rIns="50800"/>
            <a:lstStyle/>
            <a:p>
              <a:pPr algn="ctr">
                <a:lnSpc>
                  <a:spcPts val="1960"/>
                </a:lnSpc>
              </a:pPr>
            </a:p>
          </p:txBody>
        </p:sp>
      </p:grpSp>
      <p:sp>
        <p:nvSpPr>
          <p:cNvPr name="TextBox 15" id="15"/>
          <p:cNvSpPr txBox="true"/>
          <p:nvPr/>
        </p:nvSpPr>
        <p:spPr>
          <a:xfrm rot="0">
            <a:off x="524565" y="8812530"/>
            <a:ext cx="4535096" cy="935355"/>
          </a:xfrm>
          <a:prstGeom prst="rect">
            <a:avLst/>
          </a:prstGeom>
        </p:spPr>
        <p:txBody>
          <a:bodyPr anchor="t" rtlCol="false" tIns="0" lIns="0" bIns="0" rIns="0">
            <a:spAutoFit/>
          </a:bodyPr>
          <a:lstStyle/>
          <a:p>
            <a:pPr algn="l">
              <a:lnSpc>
                <a:spcPts val="2520"/>
              </a:lnSpc>
            </a:pPr>
          </a:p>
          <a:p>
            <a:pPr algn="l" marL="0" indent="0" lvl="0">
              <a:lnSpc>
                <a:spcPts val="2520"/>
              </a:lnSpc>
              <a:spcBef>
                <a:spcPct val="0"/>
              </a:spcBef>
            </a:pPr>
            <a:r>
              <a:rPr lang="en-US" sz="1800" spc="-72">
                <a:solidFill>
                  <a:srgbClr val="403E3E"/>
                </a:solidFill>
                <a:latin typeface="Inter"/>
                <a:ea typeface="Inter"/>
                <a:cs typeface="Inter"/>
                <a:sym typeface="Inter"/>
              </a:rPr>
              <a:t>HO CHI MINH CITY UNIVERSITY OF TRANSPORT</a:t>
            </a:r>
          </a:p>
        </p:txBody>
      </p:sp>
      <p:sp>
        <p:nvSpPr>
          <p:cNvPr name="TextBox 16" id="16"/>
          <p:cNvSpPr txBox="true"/>
          <p:nvPr/>
        </p:nvSpPr>
        <p:spPr>
          <a:xfrm rot="0">
            <a:off x="1039715" y="993352"/>
            <a:ext cx="2850172" cy="306705"/>
          </a:xfrm>
          <a:prstGeom prst="rect">
            <a:avLst/>
          </a:prstGeom>
        </p:spPr>
        <p:txBody>
          <a:bodyPr anchor="t" rtlCol="false" tIns="0" lIns="0" bIns="0" rIns="0">
            <a:spAutoFit/>
          </a:bodyPr>
          <a:lstStyle/>
          <a:p>
            <a:pPr algn="l" marL="0" indent="0" lvl="0">
              <a:lnSpc>
                <a:spcPts val="2520"/>
              </a:lnSpc>
              <a:spcBef>
                <a:spcPct val="0"/>
              </a:spcBef>
            </a:pPr>
            <a:r>
              <a:rPr lang="en-US" sz="1800" spc="-72">
                <a:solidFill>
                  <a:srgbClr val="403E3E"/>
                </a:solidFill>
                <a:latin typeface="Inter"/>
                <a:ea typeface="Inter"/>
                <a:cs typeface="Inter"/>
                <a:sym typeface="Inter"/>
              </a:rPr>
              <a:t>TEAM 4</a:t>
            </a:r>
          </a:p>
        </p:txBody>
      </p:sp>
      <p:sp>
        <p:nvSpPr>
          <p:cNvPr name="Freeform 17" id="17"/>
          <p:cNvSpPr/>
          <p:nvPr/>
        </p:nvSpPr>
        <p:spPr>
          <a:xfrm flipH="false" flipV="false" rot="0">
            <a:off x="4111280" y="1028700"/>
            <a:ext cx="948381" cy="1520727"/>
          </a:xfrm>
          <a:custGeom>
            <a:avLst/>
            <a:gdLst/>
            <a:ahLst/>
            <a:cxnLst/>
            <a:rect r="r" b="b" t="t" l="l"/>
            <a:pathLst>
              <a:path h="1520727" w="948381">
                <a:moveTo>
                  <a:pt x="0" y="0"/>
                </a:moveTo>
                <a:lnTo>
                  <a:pt x="948381" y="0"/>
                </a:lnTo>
                <a:lnTo>
                  <a:pt x="948381" y="1520727"/>
                </a:lnTo>
                <a:lnTo>
                  <a:pt x="0" y="15207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18" id="18"/>
          <p:cNvSpPr/>
          <p:nvPr/>
        </p:nvSpPr>
        <p:spPr>
          <a:xfrm flipV="true">
            <a:off x="5318896" y="8571724"/>
            <a:ext cx="11289034" cy="0"/>
          </a:xfrm>
          <a:prstGeom prst="line">
            <a:avLst/>
          </a:prstGeom>
          <a:ln cap="flat" w="9525">
            <a:solidFill>
              <a:srgbClr val="000000"/>
            </a:solidFill>
            <a:prstDash val="sysDot"/>
            <a:headEnd type="none" len="sm" w="sm"/>
            <a:tailEnd type="none" len="sm" w="sm"/>
          </a:ln>
        </p:spPr>
      </p:sp>
      <p:sp>
        <p:nvSpPr>
          <p:cNvPr name="AutoShape 19" id="19"/>
          <p:cNvSpPr/>
          <p:nvPr/>
        </p:nvSpPr>
        <p:spPr>
          <a:xfrm flipV="true">
            <a:off x="10381421" y="4442066"/>
            <a:ext cx="0" cy="4129658"/>
          </a:xfrm>
          <a:prstGeom prst="line">
            <a:avLst/>
          </a:prstGeom>
          <a:ln cap="flat" w="9525">
            <a:solidFill>
              <a:srgbClr val="000000"/>
            </a:solidFill>
            <a:prstDash val="sysDot"/>
            <a:headEnd type="none" len="sm" w="sm"/>
            <a:tailEnd type="none" len="sm" w="sm"/>
          </a:ln>
        </p:spPr>
      </p:sp>
      <p:sp>
        <p:nvSpPr>
          <p:cNvPr name="Freeform 20" id="20"/>
          <p:cNvSpPr/>
          <p:nvPr/>
        </p:nvSpPr>
        <p:spPr>
          <a:xfrm flipH="false" flipV="false" rot="0">
            <a:off x="931336" y="1724363"/>
            <a:ext cx="2476770" cy="1024764"/>
          </a:xfrm>
          <a:custGeom>
            <a:avLst/>
            <a:gdLst/>
            <a:ahLst/>
            <a:cxnLst/>
            <a:rect r="r" b="b" t="t" l="l"/>
            <a:pathLst>
              <a:path h="1024764" w="2476770">
                <a:moveTo>
                  <a:pt x="0" y="0"/>
                </a:moveTo>
                <a:lnTo>
                  <a:pt x="2476771" y="0"/>
                </a:lnTo>
                <a:lnTo>
                  <a:pt x="2476771" y="1024764"/>
                </a:lnTo>
                <a:lnTo>
                  <a:pt x="0" y="1024764"/>
                </a:lnTo>
                <a:lnTo>
                  <a:pt x="0" y="0"/>
                </a:lnTo>
                <a:close/>
              </a:path>
            </a:pathLst>
          </a:custGeom>
          <a:blipFill>
            <a:blip r:embed="rId4"/>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6F5F3"/>
        </a:solidFill>
      </p:bgPr>
    </p:bg>
    <p:spTree>
      <p:nvGrpSpPr>
        <p:cNvPr id="1" name=""/>
        <p:cNvGrpSpPr/>
        <p:nvPr/>
      </p:nvGrpSpPr>
      <p:grpSpPr>
        <a:xfrm>
          <a:off x="0" y="0"/>
          <a:ext cx="0" cy="0"/>
          <a:chOff x="0" y="0"/>
          <a:chExt cx="0" cy="0"/>
        </a:xfrm>
      </p:grpSpPr>
      <p:grpSp>
        <p:nvGrpSpPr>
          <p:cNvPr name="Group 2" id="2"/>
          <p:cNvGrpSpPr/>
          <p:nvPr/>
        </p:nvGrpSpPr>
        <p:grpSpPr>
          <a:xfrm rot="5400000">
            <a:off x="6667400" y="-6899948"/>
            <a:ext cx="4044591" cy="17622955"/>
            <a:chOff x="0" y="0"/>
            <a:chExt cx="1449490" cy="6315669"/>
          </a:xfrm>
        </p:grpSpPr>
        <p:sp>
          <p:nvSpPr>
            <p:cNvPr name="Freeform 3" id="3"/>
            <p:cNvSpPr/>
            <p:nvPr/>
          </p:nvSpPr>
          <p:spPr>
            <a:xfrm flipH="false" flipV="false" rot="0">
              <a:off x="0" y="0"/>
              <a:ext cx="1449490" cy="6315670"/>
            </a:xfrm>
            <a:custGeom>
              <a:avLst/>
              <a:gdLst/>
              <a:ahLst/>
              <a:cxnLst/>
              <a:rect r="r" b="b" t="t" l="l"/>
              <a:pathLst>
                <a:path h="6315670" w="1449490">
                  <a:moveTo>
                    <a:pt x="0" y="0"/>
                  </a:moveTo>
                  <a:lnTo>
                    <a:pt x="1449490" y="0"/>
                  </a:lnTo>
                  <a:lnTo>
                    <a:pt x="1449490" y="6315670"/>
                  </a:lnTo>
                  <a:lnTo>
                    <a:pt x="0" y="6315670"/>
                  </a:lnTo>
                  <a:close/>
                </a:path>
              </a:pathLst>
            </a:custGeom>
            <a:solidFill>
              <a:srgbClr val="EFEEEC"/>
            </a:solidFill>
            <a:ln w="9525" cap="sq">
              <a:solidFill>
                <a:srgbClr val="403E3E"/>
              </a:solidFill>
              <a:prstDash val="solid"/>
              <a:miter/>
            </a:ln>
          </p:spPr>
        </p:sp>
        <p:sp>
          <p:nvSpPr>
            <p:cNvPr name="TextBox 4" id="4"/>
            <p:cNvSpPr txBox="true"/>
            <p:nvPr/>
          </p:nvSpPr>
          <p:spPr>
            <a:xfrm>
              <a:off x="0" y="-47625"/>
              <a:ext cx="1449490" cy="6363294"/>
            </a:xfrm>
            <a:prstGeom prst="rect">
              <a:avLst/>
            </a:prstGeom>
          </p:spPr>
          <p:txBody>
            <a:bodyPr anchor="ctr" rtlCol="false" tIns="50800" lIns="50800" bIns="50800" rIns="50800"/>
            <a:lstStyle/>
            <a:p>
              <a:pPr algn="ctr">
                <a:lnSpc>
                  <a:spcPts val="1960"/>
                </a:lnSpc>
              </a:pPr>
            </a:p>
          </p:txBody>
        </p:sp>
      </p:grpSp>
      <p:grpSp>
        <p:nvGrpSpPr>
          <p:cNvPr name="Group 5" id="5"/>
          <p:cNvGrpSpPr/>
          <p:nvPr/>
        </p:nvGrpSpPr>
        <p:grpSpPr>
          <a:xfrm rot="5400000">
            <a:off x="12432431" y="4605338"/>
            <a:ext cx="10730064" cy="1076325"/>
            <a:chOff x="0" y="0"/>
            <a:chExt cx="3845413" cy="385731"/>
          </a:xfrm>
        </p:grpSpPr>
        <p:sp>
          <p:nvSpPr>
            <p:cNvPr name="Freeform 6" id="6"/>
            <p:cNvSpPr/>
            <p:nvPr/>
          </p:nvSpPr>
          <p:spPr>
            <a:xfrm flipH="false" flipV="false" rot="0">
              <a:off x="0" y="0"/>
              <a:ext cx="3845413" cy="385731"/>
            </a:xfrm>
            <a:custGeom>
              <a:avLst/>
              <a:gdLst/>
              <a:ahLst/>
              <a:cxnLst/>
              <a:rect r="r" b="b" t="t" l="l"/>
              <a:pathLst>
                <a:path h="385731" w="3845413">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sp>
        <p:sp>
          <p:nvSpPr>
            <p:cNvPr name="TextBox 7" id="7"/>
            <p:cNvSpPr txBox="true"/>
            <p:nvPr/>
          </p:nvSpPr>
          <p:spPr>
            <a:xfrm>
              <a:off x="0" y="-47625"/>
              <a:ext cx="3845413" cy="433356"/>
            </a:xfrm>
            <a:prstGeom prst="rect">
              <a:avLst/>
            </a:prstGeom>
          </p:spPr>
          <p:txBody>
            <a:bodyPr anchor="ctr" rtlCol="false" tIns="50800" lIns="50800" bIns="50800" rIns="50800"/>
            <a:lstStyle/>
            <a:p>
              <a:pPr algn="ctr">
                <a:lnSpc>
                  <a:spcPts val="1960"/>
                </a:lnSpc>
              </a:pPr>
            </a:p>
          </p:txBody>
        </p:sp>
      </p:grpSp>
      <p:sp>
        <p:nvSpPr>
          <p:cNvPr name="TextBox 8" id="8"/>
          <p:cNvSpPr txBox="true"/>
          <p:nvPr/>
        </p:nvSpPr>
        <p:spPr>
          <a:xfrm rot="0">
            <a:off x="15506330" y="8951595"/>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4</a:t>
            </a:r>
          </a:p>
        </p:txBody>
      </p:sp>
      <p:sp>
        <p:nvSpPr>
          <p:cNvPr name="TextBox 9" id="9"/>
          <p:cNvSpPr txBox="true"/>
          <p:nvPr/>
        </p:nvSpPr>
        <p:spPr>
          <a:xfrm rot="0">
            <a:off x="1028700" y="2666365"/>
            <a:ext cx="12264852" cy="1868170"/>
          </a:xfrm>
          <a:prstGeom prst="rect">
            <a:avLst/>
          </a:prstGeom>
        </p:spPr>
        <p:txBody>
          <a:bodyPr anchor="t" rtlCol="false" tIns="0" lIns="0" bIns="0" rIns="0">
            <a:spAutoFit/>
          </a:bodyPr>
          <a:lstStyle/>
          <a:p>
            <a:pPr algn="l">
              <a:lnSpc>
                <a:spcPts val="4760"/>
              </a:lnSpc>
            </a:pPr>
            <a:r>
              <a:rPr lang="en-US" sz="5600" spc="-420" b="true">
                <a:solidFill>
                  <a:srgbClr val="403E3E"/>
                </a:solidFill>
                <a:latin typeface="Inter Bold"/>
                <a:ea typeface="Inter Bold"/>
                <a:cs typeface="Inter Bold"/>
                <a:sym typeface="Inter Bold"/>
              </a:rPr>
              <a:t>1.2 The First-Come, First-Served (FCFS) Algorithm</a:t>
            </a:r>
          </a:p>
          <a:p>
            <a:pPr algn="l" marL="0" indent="0" lvl="0">
              <a:lnSpc>
                <a:spcPts val="4760"/>
              </a:lnSpc>
              <a:spcBef>
                <a:spcPct val="0"/>
              </a:spcBef>
            </a:pPr>
          </a:p>
        </p:txBody>
      </p:sp>
      <p:sp>
        <p:nvSpPr>
          <p:cNvPr name="TextBox 10" id="10"/>
          <p:cNvSpPr txBox="true"/>
          <p:nvPr/>
        </p:nvSpPr>
        <p:spPr>
          <a:xfrm rot="0">
            <a:off x="664481" y="5095875"/>
            <a:ext cx="4279181" cy="2873930"/>
          </a:xfrm>
          <a:prstGeom prst="rect">
            <a:avLst/>
          </a:prstGeom>
        </p:spPr>
        <p:txBody>
          <a:bodyPr anchor="t" rtlCol="false" tIns="0" lIns="0" bIns="0" rIns="0">
            <a:spAutoFit/>
          </a:bodyPr>
          <a:lstStyle/>
          <a:p>
            <a:pPr algn="just" marL="0" indent="0" lvl="0">
              <a:lnSpc>
                <a:spcPts val="2918"/>
              </a:lnSpc>
              <a:spcBef>
                <a:spcPct val="0"/>
              </a:spcBef>
            </a:pPr>
            <a:r>
              <a:rPr lang="en-US" sz="2084" spc="-45">
                <a:solidFill>
                  <a:srgbClr val="403E3E"/>
                </a:solidFill>
                <a:latin typeface="Inter"/>
                <a:ea typeface="Inter"/>
                <a:cs typeface="Inter"/>
                <a:sym typeface="Inter"/>
              </a:rPr>
              <a:t>Among the foundational scheduling algorithms, First-Come, First-Served (FCFS) is the most basic and intuitive. As its name implies, FCFS operates exactly like a real-world queue: the process that requests the CPU first is allocated the CPU first.</a:t>
            </a:r>
          </a:p>
        </p:txBody>
      </p:sp>
      <p:sp>
        <p:nvSpPr>
          <p:cNvPr name="TextBox 11" id="11"/>
          <p:cNvSpPr txBox="true"/>
          <p:nvPr/>
        </p:nvSpPr>
        <p:spPr>
          <a:xfrm rot="0">
            <a:off x="6294205" y="5086350"/>
            <a:ext cx="4336069" cy="2512600"/>
          </a:xfrm>
          <a:prstGeom prst="rect">
            <a:avLst/>
          </a:prstGeom>
        </p:spPr>
        <p:txBody>
          <a:bodyPr anchor="t" rtlCol="false" tIns="0" lIns="0" bIns="0" rIns="0">
            <a:spAutoFit/>
          </a:bodyPr>
          <a:lstStyle/>
          <a:p>
            <a:pPr algn="just" marL="0" indent="0" lvl="0">
              <a:lnSpc>
                <a:spcPts val="2905"/>
              </a:lnSpc>
              <a:spcBef>
                <a:spcPct val="0"/>
              </a:spcBef>
            </a:pPr>
            <a:r>
              <a:rPr lang="en-US" sz="2075" spc="-45">
                <a:solidFill>
                  <a:srgbClr val="403E3E"/>
                </a:solidFill>
                <a:latin typeface="Inter"/>
                <a:ea typeface="Inter"/>
                <a:cs typeface="Inter"/>
                <a:sym typeface="Inter"/>
              </a:rPr>
              <a:t>The core advantage of FCFS lies in its simplicity; it is very easy to understand and straightforward to implement using a basic FIFO (First-In, First-Out) queue. Furthermore, FCFS is considered perfectly fair according to arrival order, </a:t>
            </a:r>
          </a:p>
        </p:txBody>
      </p:sp>
      <p:sp>
        <p:nvSpPr>
          <p:cNvPr name="TextBox 12" id="12"/>
          <p:cNvSpPr txBox="true"/>
          <p:nvPr/>
        </p:nvSpPr>
        <p:spPr>
          <a:xfrm rot="0">
            <a:off x="11546273" y="5095875"/>
            <a:ext cx="4797028" cy="1436374"/>
          </a:xfrm>
          <a:prstGeom prst="rect">
            <a:avLst/>
          </a:prstGeom>
        </p:spPr>
        <p:txBody>
          <a:bodyPr anchor="t" rtlCol="false" tIns="0" lIns="0" bIns="0" rIns="0">
            <a:spAutoFit/>
          </a:bodyPr>
          <a:lstStyle/>
          <a:p>
            <a:pPr algn="just" marL="0" indent="0" lvl="0">
              <a:lnSpc>
                <a:spcPts val="2922"/>
              </a:lnSpc>
              <a:spcBef>
                <a:spcPct val="0"/>
              </a:spcBef>
            </a:pPr>
            <a:r>
              <a:rPr lang="en-US" sz="2087" spc="-45">
                <a:solidFill>
                  <a:srgbClr val="403E3E"/>
                </a:solidFill>
                <a:latin typeface="Inter"/>
                <a:ea typeface="Inter"/>
                <a:cs typeface="Inter"/>
                <a:sym typeface="Inter"/>
              </a:rPr>
              <a:t>However, this simplicity comes at a significant performance cost. The algorithm's greatest weakness is its poor average response time</a:t>
            </a:r>
          </a:p>
        </p:txBody>
      </p:sp>
      <p:sp>
        <p:nvSpPr>
          <p:cNvPr name="TextBox 13" id="13"/>
          <p:cNvSpPr txBox="true"/>
          <p:nvPr/>
        </p:nvSpPr>
        <p:spPr>
          <a:xfrm rot="0">
            <a:off x="13402382" y="993352"/>
            <a:ext cx="2850172" cy="621030"/>
          </a:xfrm>
          <a:prstGeom prst="rect">
            <a:avLst/>
          </a:prstGeom>
        </p:spPr>
        <p:txBody>
          <a:bodyPr anchor="t" rtlCol="false" tIns="0" lIns="0" bIns="0" rIns="0">
            <a:spAutoFit/>
          </a:bodyPr>
          <a:lstStyle/>
          <a:p>
            <a:pPr algn="r">
              <a:lnSpc>
                <a:spcPts val="2520"/>
              </a:lnSpc>
            </a:pPr>
            <a:r>
              <a:rPr lang="en-US" sz="1800" spc="-72">
                <a:solidFill>
                  <a:srgbClr val="403E3E"/>
                </a:solidFill>
                <a:latin typeface="Inter"/>
                <a:ea typeface="Inter"/>
                <a:cs typeface="Inter"/>
                <a:sym typeface="Inter"/>
              </a:rPr>
              <a:t>NOV 2025</a:t>
            </a:r>
          </a:p>
          <a:p>
            <a:pPr algn="r" marL="0" indent="0" lvl="0">
              <a:lnSpc>
                <a:spcPts val="2520"/>
              </a:lnSpc>
              <a:spcBef>
                <a:spcPct val="0"/>
              </a:spcBef>
            </a:pPr>
          </a:p>
        </p:txBody>
      </p:sp>
      <p:sp>
        <p:nvSpPr>
          <p:cNvPr name="AutoShape 14" id="14"/>
          <p:cNvSpPr/>
          <p:nvPr/>
        </p:nvSpPr>
        <p:spPr>
          <a:xfrm flipV="true">
            <a:off x="179188" y="4403253"/>
            <a:ext cx="15313002" cy="0"/>
          </a:xfrm>
          <a:prstGeom prst="line">
            <a:avLst/>
          </a:prstGeom>
          <a:ln cap="flat" w="9525">
            <a:solidFill>
              <a:srgbClr val="000000"/>
            </a:solidFill>
            <a:prstDash val="sysDot"/>
            <a:headEnd type="none" len="sm" w="sm"/>
            <a:tailEnd type="none" len="sm" w="sm"/>
          </a:ln>
        </p:spPr>
      </p:sp>
      <p:sp>
        <p:nvSpPr>
          <p:cNvPr name="Freeform 15" id="15"/>
          <p:cNvSpPr/>
          <p:nvPr/>
        </p:nvSpPr>
        <p:spPr>
          <a:xfrm flipH="false" flipV="false" rot="5400000">
            <a:off x="15018000" y="3173461"/>
            <a:ext cx="948381" cy="1520727"/>
          </a:xfrm>
          <a:custGeom>
            <a:avLst/>
            <a:gdLst/>
            <a:ahLst/>
            <a:cxnLst/>
            <a:rect r="r" b="b" t="t" l="l"/>
            <a:pathLst>
              <a:path h="1520727" w="948381">
                <a:moveTo>
                  <a:pt x="0" y="0"/>
                </a:moveTo>
                <a:lnTo>
                  <a:pt x="948381" y="0"/>
                </a:lnTo>
                <a:lnTo>
                  <a:pt x="948381" y="1520728"/>
                </a:lnTo>
                <a:lnTo>
                  <a:pt x="0" y="15207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1028700" y="1031452"/>
            <a:ext cx="2476770" cy="1024764"/>
          </a:xfrm>
          <a:custGeom>
            <a:avLst/>
            <a:gdLst/>
            <a:ahLst/>
            <a:cxnLst/>
            <a:rect r="r" b="b" t="t" l="l"/>
            <a:pathLst>
              <a:path h="1024764" w="2476770">
                <a:moveTo>
                  <a:pt x="0" y="0"/>
                </a:moveTo>
                <a:lnTo>
                  <a:pt x="2476770" y="0"/>
                </a:lnTo>
                <a:lnTo>
                  <a:pt x="2476770" y="1024764"/>
                </a:lnTo>
                <a:lnTo>
                  <a:pt x="0" y="1024764"/>
                </a:lnTo>
                <a:lnTo>
                  <a:pt x="0" y="0"/>
                </a:lnTo>
                <a:close/>
              </a:path>
            </a:pathLst>
          </a:custGeom>
          <a:blipFill>
            <a:blip r:embed="rId4"/>
            <a:stretch>
              <a:fillRect l="0" t="0" r="0" b="0"/>
            </a:stretch>
          </a:blipFill>
        </p:spPr>
      </p:sp>
      <p:sp>
        <p:nvSpPr>
          <p:cNvPr name="TextBox 17" id="17"/>
          <p:cNvSpPr txBox="true"/>
          <p:nvPr/>
        </p:nvSpPr>
        <p:spPr>
          <a:xfrm rot="0">
            <a:off x="664481" y="9027795"/>
            <a:ext cx="5084862" cy="323215"/>
          </a:xfrm>
          <a:prstGeom prst="rect">
            <a:avLst/>
          </a:prstGeom>
        </p:spPr>
        <p:txBody>
          <a:bodyPr anchor="t" rtlCol="false" tIns="0" lIns="0" bIns="0" rIns="0">
            <a:spAutoFit/>
          </a:bodyPr>
          <a:lstStyle/>
          <a:p>
            <a:pPr algn="ctr">
              <a:lnSpc>
                <a:spcPts val="2660"/>
              </a:lnSpc>
              <a:spcBef>
                <a:spcPct val="0"/>
              </a:spcBef>
            </a:pPr>
            <a:r>
              <a:rPr lang="en-US" b="true" sz="1900" spc="-104">
                <a:solidFill>
                  <a:srgbClr val="403E3E"/>
                </a:solidFill>
                <a:latin typeface="Mukti"/>
                <a:ea typeface="Mukti"/>
                <a:cs typeface="Mukti"/>
                <a:sym typeface="Mukti"/>
              </a:rPr>
              <a:t>HO CHI MINH CITY UNIVERSITY OF TRANSPORT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6F5F3"/>
        </a:solidFill>
      </p:bgPr>
    </p:bg>
    <p:spTree>
      <p:nvGrpSpPr>
        <p:cNvPr id="1" name=""/>
        <p:cNvGrpSpPr/>
        <p:nvPr/>
      </p:nvGrpSpPr>
      <p:grpSpPr>
        <a:xfrm>
          <a:off x="0" y="0"/>
          <a:ext cx="0" cy="0"/>
          <a:chOff x="0" y="0"/>
          <a:chExt cx="0" cy="0"/>
        </a:xfrm>
      </p:grpSpPr>
      <p:grpSp>
        <p:nvGrpSpPr>
          <p:cNvPr name="Group 2" id="2"/>
          <p:cNvGrpSpPr/>
          <p:nvPr/>
        </p:nvGrpSpPr>
        <p:grpSpPr>
          <a:xfrm rot="5400000">
            <a:off x="6789182" y="-6789182"/>
            <a:ext cx="4044591" cy="17622955"/>
            <a:chOff x="0" y="0"/>
            <a:chExt cx="1449490" cy="6315669"/>
          </a:xfrm>
        </p:grpSpPr>
        <p:sp>
          <p:nvSpPr>
            <p:cNvPr name="Freeform 3" id="3"/>
            <p:cNvSpPr/>
            <p:nvPr/>
          </p:nvSpPr>
          <p:spPr>
            <a:xfrm flipH="false" flipV="false" rot="0">
              <a:off x="0" y="0"/>
              <a:ext cx="1449490" cy="6315670"/>
            </a:xfrm>
            <a:custGeom>
              <a:avLst/>
              <a:gdLst/>
              <a:ahLst/>
              <a:cxnLst/>
              <a:rect r="r" b="b" t="t" l="l"/>
              <a:pathLst>
                <a:path h="6315670" w="1449490">
                  <a:moveTo>
                    <a:pt x="0" y="0"/>
                  </a:moveTo>
                  <a:lnTo>
                    <a:pt x="1449490" y="0"/>
                  </a:lnTo>
                  <a:lnTo>
                    <a:pt x="1449490" y="6315670"/>
                  </a:lnTo>
                  <a:lnTo>
                    <a:pt x="0" y="6315670"/>
                  </a:lnTo>
                  <a:close/>
                </a:path>
              </a:pathLst>
            </a:custGeom>
            <a:solidFill>
              <a:srgbClr val="EFEEEC"/>
            </a:solidFill>
            <a:ln w="9525" cap="sq">
              <a:solidFill>
                <a:srgbClr val="403E3E"/>
              </a:solidFill>
              <a:prstDash val="solid"/>
              <a:miter/>
            </a:ln>
          </p:spPr>
        </p:sp>
        <p:sp>
          <p:nvSpPr>
            <p:cNvPr name="TextBox 4" id="4"/>
            <p:cNvSpPr txBox="true"/>
            <p:nvPr/>
          </p:nvSpPr>
          <p:spPr>
            <a:xfrm>
              <a:off x="0" y="-47625"/>
              <a:ext cx="1449490" cy="6363294"/>
            </a:xfrm>
            <a:prstGeom prst="rect">
              <a:avLst/>
            </a:prstGeom>
          </p:spPr>
          <p:txBody>
            <a:bodyPr anchor="ctr" rtlCol="false" tIns="50800" lIns="50800" bIns="50800" rIns="50800"/>
            <a:lstStyle/>
            <a:p>
              <a:pPr algn="ctr">
                <a:lnSpc>
                  <a:spcPts val="1960"/>
                </a:lnSpc>
              </a:pPr>
            </a:p>
          </p:txBody>
        </p:sp>
      </p:grpSp>
      <p:grpSp>
        <p:nvGrpSpPr>
          <p:cNvPr name="Group 5" id="5"/>
          <p:cNvGrpSpPr/>
          <p:nvPr/>
        </p:nvGrpSpPr>
        <p:grpSpPr>
          <a:xfrm rot="5400000">
            <a:off x="12457808" y="4605338"/>
            <a:ext cx="10730064" cy="1076325"/>
            <a:chOff x="0" y="0"/>
            <a:chExt cx="3845413" cy="385731"/>
          </a:xfrm>
        </p:grpSpPr>
        <p:sp>
          <p:nvSpPr>
            <p:cNvPr name="Freeform 6" id="6"/>
            <p:cNvSpPr/>
            <p:nvPr/>
          </p:nvSpPr>
          <p:spPr>
            <a:xfrm flipH="false" flipV="false" rot="0">
              <a:off x="0" y="0"/>
              <a:ext cx="3845413" cy="385731"/>
            </a:xfrm>
            <a:custGeom>
              <a:avLst/>
              <a:gdLst/>
              <a:ahLst/>
              <a:cxnLst/>
              <a:rect r="r" b="b" t="t" l="l"/>
              <a:pathLst>
                <a:path h="385731" w="3845413">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sp>
        <p:sp>
          <p:nvSpPr>
            <p:cNvPr name="TextBox 7" id="7"/>
            <p:cNvSpPr txBox="true"/>
            <p:nvPr/>
          </p:nvSpPr>
          <p:spPr>
            <a:xfrm>
              <a:off x="0" y="-47625"/>
              <a:ext cx="3845413" cy="433356"/>
            </a:xfrm>
            <a:prstGeom prst="rect">
              <a:avLst/>
            </a:prstGeom>
          </p:spPr>
          <p:txBody>
            <a:bodyPr anchor="ctr" rtlCol="false" tIns="50800" lIns="50800" bIns="50800" rIns="50800"/>
            <a:lstStyle/>
            <a:p>
              <a:pPr algn="ctr">
                <a:lnSpc>
                  <a:spcPts val="1960"/>
                </a:lnSpc>
              </a:pPr>
            </a:p>
          </p:txBody>
        </p:sp>
      </p:grpSp>
      <p:sp>
        <p:nvSpPr>
          <p:cNvPr name="TextBox 8" id="8"/>
          <p:cNvSpPr txBox="true"/>
          <p:nvPr/>
        </p:nvSpPr>
        <p:spPr>
          <a:xfrm rot="0">
            <a:off x="1028700" y="8951595"/>
            <a:ext cx="7052243" cy="306705"/>
          </a:xfrm>
          <a:prstGeom prst="rect">
            <a:avLst/>
          </a:prstGeom>
        </p:spPr>
        <p:txBody>
          <a:bodyPr anchor="t" rtlCol="false" tIns="0" lIns="0" bIns="0" rIns="0">
            <a:spAutoFit/>
          </a:bodyPr>
          <a:lstStyle/>
          <a:p>
            <a:pPr algn="l" marL="0" indent="0" lvl="0">
              <a:lnSpc>
                <a:spcPts val="2520"/>
              </a:lnSpc>
              <a:spcBef>
                <a:spcPct val="0"/>
              </a:spcBef>
            </a:pPr>
            <a:r>
              <a:rPr lang="en-US" sz="1800" spc="-72">
                <a:solidFill>
                  <a:srgbClr val="403E3E"/>
                </a:solidFill>
                <a:latin typeface="Inter"/>
                <a:ea typeface="Inter"/>
                <a:cs typeface="Inter"/>
                <a:sym typeface="Inter"/>
              </a:rPr>
              <a:t>HO CHI MINH CITY UNIVERSITY OF TRANSPORT</a:t>
            </a:r>
          </a:p>
        </p:txBody>
      </p:sp>
      <p:sp>
        <p:nvSpPr>
          <p:cNvPr name="TextBox 9" id="9"/>
          <p:cNvSpPr txBox="true"/>
          <p:nvPr/>
        </p:nvSpPr>
        <p:spPr>
          <a:xfrm rot="0">
            <a:off x="15506330" y="8951595"/>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5</a:t>
            </a:r>
          </a:p>
        </p:txBody>
      </p:sp>
      <p:sp>
        <p:nvSpPr>
          <p:cNvPr name="TextBox 10" id="10"/>
          <p:cNvSpPr txBox="true"/>
          <p:nvPr/>
        </p:nvSpPr>
        <p:spPr>
          <a:xfrm rot="0">
            <a:off x="1028700" y="2666365"/>
            <a:ext cx="9594056" cy="668020"/>
          </a:xfrm>
          <a:prstGeom prst="rect">
            <a:avLst/>
          </a:prstGeom>
        </p:spPr>
        <p:txBody>
          <a:bodyPr anchor="t" rtlCol="false" tIns="0" lIns="0" bIns="0" rIns="0">
            <a:spAutoFit/>
          </a:bodyPr>
          <a:lstStyle/>
          <a:p>
            <a:pPr algn="l" marL="0" indent="0" lvl="0">
              <a:lnSpc>
                <a:spcPts val="4760"/>
              </a:lnSpc>
              <a:spcBef>
                <a:spcPct val="0"/>
              </a:spcBef>
            </a:pPr>
            <a:r>
              <a:rPr lang="en-US" b="true" sz="5600" spc="-420">
                <a:solidFill>
                  <a:srgbClr val="403E3E"/>
                </a:solidFill>
                <a:latin typeface="Inter Bold"/>
                <a:ea typeface="Inter Bold"/>
                <a:cs typeface="Inter Bold"/>
                <a:sym typeface="Inter Bold"/>
              </a:rPr>
              <a:t>1.3 Report Objectives</a:t>
            </a:r>
          </a:p>
        </p:txBody>
      </p:sp>
      <p:sp>
        <p:nvSpPr>
          <p:cNvPr name="TextBox 11" id="11"/>
          <p:cNvSpPr txBox="true"/>
          <p:nvPr/>
        </p:nvSpPr>
        <p:spPr>
          <a:xfrm rot="0">
            <a:off x="1028700" y="5210175"/>
            <a:ext cx="3588512" cy="490855"/>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403E3E"/>
                </a:solidFill>
                <a:latin typeface="Inter Light"/>
                <a:ea typeface="Inter Light"/>
                <a:cs typeface="Inter Light"/>
                <a:sym typeface="Inter Light"/>
              </a:rPr>
              <a:t>IMPLEMENTATION</a:t>
            </a:r>
          </a:p>
        </p:txBody>
      </p:sp>
      <p:sp>
        <p:nvSpPr>
          <p:cNvPr name="TextBox 12" id="12"/>
          <p:cNvSpPr txBox="true"/>
          <p:nvPr/>
        </p:nvSpPr>
        <p:spPr>
          <a:xfrm rot="0">
            <a:off x="1028700" y="6359145"/>
            <a:ext cx="4279181" cy="1074394"/>
          </a:xfrm>
          <a:prstGeom prst="rect">
            <a:avLst/>
          </a:prstGeom>
        </p:spPr>
        <p:txBody>
          <a:bodyPr anchor="t" rtlCol="false" tIns="0" lIns="0" bIns="0" rIns="0">
            <a:spAutoFit/>
          </a:bodyPr>
          <a:lstStyle/>
          <a:p>
            <a:pPr algn="just" marL="0" indent="0" lvl="0">
              <a:lnSpc>
                <a:spcPts val="2918"/>
              </a:lnSpc>
              <a:spcBef>
                <a:spcPct val="0"/>
              </a:spcBef>
            </a:pPr>
            <a:r>
              <a:rPr lang="en-US" sz="2084" spc="-45">
                <a:solidFill>
                  <a:srgbClr val="403E3E"/>
                </a:solidFill>
                <a:latin typeface="Inter"/>
                <a:ea typeface="Inter"/>
                <a:cs typeface="Inter"/>
                <a:sym typeface="Inter"/>
              </a:rPr>
              <a:t>To build a simulator that correctly implements the FCFS scheduling algorithm</a:t>
            </a:r>
          </a:p>
        </p:txBody>
      </p:sp>
      <p:sp>
        <p:nvSpPr>
          <p:cNvPr name="TextBox 13" id="13"/>
          <p:cNvSpPr txBox="true"/>
          <p:nvPr/>
        </p:nvSpPr>
        <p:spPr>
          <a:xfrm rot="0">
            <a:off x="6286687" y="5210175"/>
            <a:ext cx="3588512" cy="490855"/>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403E3E"/>
                </a:solidFill>
                <a:latin typeface="Inter Light"/>
                <a:ea typeface="Inter Light"/>
                <a:cs typeface="Inter Light"/>
                <a:sym typeface="Inter Light"/>
              </a:rPr>
              <a:t>ILLUSTRATION</a:t>
            </a:r>
          </a:p>
        </p:txBody>
      </p:sp>
      <p:sp>
        <p:nvSpPr>
          <p:cNvPr name="TextBox 14" id="14"/>
          <p:cNvSpPr txBox="true"/>
          <p:nvPr/>
        </p:nvSpPr>
        <p:spPr>
          <a:xfrm rot="0">
            <a:off x="6286687" y="6349620"/>
            <a:ext cx="4336069" cy="2512600"/>
          </a:xfrm>
          <a:prstGeom prst="rect">
            <a:avLst/>
          </a:prstGeom>
        </p:spPr>
        <p:txBody>
          <a:bodyPr anchor="t" rtlCol="false" tIns="0" lIns="0" bIns="0" rIns="0">
            <a:spAutoFit/>
          </a:bodyPr>
          <a:lstStyle/>
          <a:p>
            <a:pPr algn="just">
              <a:lnSpc>
                <a:spcPts val="2905"/>
              </a:lnSpc>
            </a:pPr>
            <a:r>
              <a:rPr lang="en-US" sz="2075" spc="-45">
                <a:solidFill>
                  <a:srgbClr val="403E3E"/>
                </a:solidFill>
                <a:latin typeface="Inter"/>
                <a:ea typeface="Inter"/>
                <a:cs typeface="Inter"/>
                <a:sym typeface="Inter"/>
              </a:rPr>
              <a:t>to use specific examples and scenarios to clearly demonstrate how FCFS operates, paying special attention to illustrating the convoy effect in the presence of long jobs.</a:t>
            </a:r>
          </a:p>
          <a:p>
            <a:pPr algn="just">
              <a:lnSpc>
                <a:spcPts val="2905"/>
              </a:lnSpc>
            </a:pPr>
          </a:p>
          <a:p>
            <a:pPr algn="just" marL="0" indent="0" lvl="0">
              <a:lnSpc>
                <a:spcPts val="2905"/>
              </a:lnSpc>
              <a:spcBef>
                <a:spcPct val="0"/>
              </a:spcBef>
            </a:pPr>
          </a:p>
        </p:txBody>
      </p:sp>
      <p:sp>
        <p:nvSpPr>
          <p:cNvPr name="TextBox 15" id="15"/>
          <p:cNvSpPr txBox="true"/>
          <p:nvPr/>
        </p:nvSpPr>
        <p:spPr>
          <a:xfrm rot="0">
            <a:off x="11544674" y="5210175"/>
            <a:ext cx="3588512" cy="490855"/>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403E3E"/>
                </a:solidFill>
                <a:latin typeface="Inter Light"/>
                <a:ea typeface="Inter Light"/>
                <a:cs typeface="Inter Light"/>
                <a:sym typeface="Inter Light"/>
              </a:rPr>
              <a:t>COMPARISON</a:t>
            </a:r>
          </a:p>
        </p:txBody>
      </p:sp>
      <p:sp>
        <p:nvSpPr>
          <p:cNvPr name="TextBox 16" id="16"/>
          <p:cNvSpPr txBox="true"/>
          <p:nvPr/>
        </p:nvSpPr>
        <p:spPr>
          <a:xfrm rot="0">
            <a:off x="11544674" y="6359145"/>
            <a:ext cx="4797028" cy="1436374"/>
          </a:xfrm>
          <a:prstGeom prst="rect">
            <a:avLst/>
          </a:prstGeom>
        </p:spPr>
        <p:txBody>
          <a:bodyPr anchor="t" rtlCol="false" tIns="0" lIns="0" bIns="0" rIns="0">
            <a:spAutoFit/>
          </a:bodyPr>
          <a:lstStyle/>
          <a:p>
            <a:pPr algn="just" marL="0" indent="0" lvl="0">
              <a:lnSpc>
                <a:spcPts val="2922"/>
              </a:lnSpc>
              <a:spcBef>
                <a:spcPct val="0"/>
              </a:spcBef>
            </a:pPr>
            <a:r>
              <a:rPr lang="en-US" sz="2087" spc="-45">
                <a:solidFill>
                  <a:srgbClr val="403E3E"/>
                </a:solidFill>
                <a:latin typeface="Inter"/>
                <a:ea typeface="Inter"/>
                <a:cs typeface="Inter"/>
                <a:sym typeface="Inter"/>
              </a:rPr>
              <a:t>To conduct a quick comparison of FCFS against more advanced scheduling algorithms, such as Round Robin (RR) and Shortest Job First (SJF/SRTF),</a:t>
            </a:r>
          </a:p>
        </p:txBody>
      </p:sp>
      <p:sp>
        <p:nvSpPr>
          <p:cNvPr name="TextBox 17" id="17"/>
          <p:cNvSpPr txBox="true"/>
          <p:nvPr/>
        </p:nvSpPr>
        <p:spPr>
          <a:xfrm rot="0">
            <a:off x="13402382" y="993352"/>
            <a:ext cx="2850172" cy="621030"/>
          </a:xfrm>
          <a:prstGeom prst="rect">
            <a:avLst/>
          </a:prstGeom>
        </p:spPr>
        <p:txBody>
          <a:bodyPr anchor="t" rtlCol="false" tIns="0" lIns="0" bIns="0" rIns="0">
            <a:spAutoFit/>
          </a:bodyPr>
          <a:lstStyle/>
          <a:p>
            <a:pPr algn="r">
              <a:lnSpc>
                <a:spcPts val="2520"/>
              </a:lnSpc>
            </a:pPr>
            <a:r>
              <a:rPr lang="en-US" sz="1800" spc="-72">
                <a:solidFill>
                  <a:srgbClr val="403E3E"/>
                </a:solidFill>
                <a:latin typeface="Inter"/>
                <a:ea typeface="Inter"/>
                <a:cs typeface="Inter"/>
                <a:sym typeface="Inter"/>
              </a:rPr>
              <a:t>NOV 2025</a:t>
            </a:r>
          </a:p>
          <a:p>
            <a:pPr algn="r" marL="0" indent="0" lvl="0">
              <a:lnSpc>
                <a:spcPts val="2520"/>
              </a:lnSpc>
              <a:spcBef>
                <a:spcPct val="0"/>
              </a:spcBef>
            </a:pPr>
          </a:p>
        </p:txBody>
      </p:sp>
      <p:sp>
        <p:nvSpPr>
          <p:cNvPr name="AutoShape 18" id="18"/>
          <p:cNvSpPr/>
          <p:nvPr/>
        </p:nvSpPr>
        <p:spPr>
          <a:xfrm flipV="true">
            <a:off x="1028700" y="6026749"/>
            <a:ext cx="15313002" cy="0"/>
          </a:xfrm>
          <a:prstGeom prst="line">
            <a:avLst/>
          </a:prstGeom>
          <a:ln cap="flat" w="9525">
            <a:solidFill>
              <a:srgbClr val="000000"/>
            </a:solidFill>
            <a:prstDash val="sysDot"/>
            <a:headEnd type="none" len="sm" w="sm"/>
            <a:tailEnd type="none" len="sm" w="sm"/>
          </a:ln>
        </p:spPr>
      </p:sp>
      <p:sp>
        <p:nvSpPr>
          <p:cNvPr name="Freeform 19" id="19"/>
          <p:cNvSpPr/>
          <p:nvPr/>
        </p:nvSpPr>
        <p:spPr>
          <a:xfrm flipH="false" flipV="false" rot="5400000">
            <a:off x="15018000" y="3173461"/>
            <a:ext cx="948381" cy="1520727"/>
          </a:xfrm>
          <a:custGeom>
            <a:avLst/>
            <a:gdLst/>
            <a:ahLst/>
            <a:cxnLst/>
            <a:rect r="r" b="b" t="t" l="l"/>
            <a:pathLst>
              <a:path h="1520727" w="948381">
                <a:moveTo>
                  <a:pt x="0" y="0"/>
                </a:moveTo>
                <a:lnTo>
                  <a:pt x="948381" y="0"/>
                </a:lnTo>
                <a:lnTo>
                  <a:pt x="948381" y="1520728"/>
                </a:lnTo>
                <a:lnTo>
                  <a:pt x="0" y="15207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0">
            <a:off x="1028700" y="787675"/>
            <a:ext cx="2476770" cy="1024764"/>
          </a:xfrm>
          <a:custGeom>
            <a:avLst/>
            <a:gdLst/>
            <a:ahLst/>
            <a:cxnLst/>
            <a:rect r="r" b="b" t="t" l="l"/>
            <a:pathLst>
              <a:path h="1024764" w="2476770">
                <a:moveTo>
                  <a:pt x="0" y="0"/>
                </a:moveTo>
                <a:lnTo>
                  <a:pt x="2476770" y="0"/>
                </a:lnTo>
                <a:lnTo>
                  <a:pt x="2476770" y="1024764"/>
                </a:lnTo>
                <a:lnTo>
                  <a:pt x="0" y="1024764"/>
                </a:lnTo>
                <a:lnTo>
                  <a:pt x="0" y="0"/>
                </a:lnTo>
                <a:close/>
              </a:path>
            </a:pathLst>
          </a:custGeom>
          <a:blipFill>
            <a:blip r:embed="rId4"/>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AF6"/>
        </a:solidFill>
      </p:bgPr>
    </p:bg>
    <p:spTree>
      <p:nvGrpSpPr>
        <p:cNvPr id="1" name=""/>
        <p:cNvGrpSpPr/>
        <p:nvPr/>
      </p:nvGrpSpPr>
      <p:grpSpPr>
        <a:xfrm>
          <a:off x="0" y="0"/>
          <a:ext cx="0" cy="0"/>
          <a:chOff x="0" y="0"/>
          <a:chExt cx="0" cy="0"/>
        </a:xfrm>
      </p:grpSpPr>
      <p:sp>
        <p:nvSpPr>
          <p:cNvPr name="AutoShape 2" id="2"/>
          <p:cNvSpPr/>
          <p:nvPr/>
        </p:nvSpPr>
        <p:spPr>
          <a:xfrm>
            <a:off x="-612992" y="9253537"/>
            <a:ext cx="12396242" cy="0"/>
          </a:xfrm>
          <a:prstGeom prst="line">
            <a:avLst/>
          </a:prstGeom>
          <a:ln cap="flat" w="9525">
            <a:solidFill>
              <a:srgbClr val="403E3E"/>
            </a:solidFill>
            <a:prstDash val="solid"/>
            <a:headEnd type="none" len="sm" w="sm"/>
            <a:tailEnd type="none" len="sm" w="sm"/>
          </a:ln>
        </p:spPr>
      </p:sp>
      <p:sp>
        <p:nvSpPr>
          <p:cNvPr name="AutoShape 3" id="3"/>
          <p:cNvSpPr/>
          <p:nvPr/>
        </p:nvSpPr>
        <p:spPr>
          <a:xfrm flipV="true">
            <a:off x="-462152" y="1033462"/>
            <a:ext cx="19212305" cy="0"/>
          </a:xfrm>
          <a:prstGeom prst="line">
            <a:avLst/>
          </a:prstGeom>
          <a:ln cap="flat" w="9525">
            <a:solidFill>
              <a:srgbClr val="403E3E"/>
            </a:solidFill>
            <a:prstDash val="solid"/>
            <a:headEnd type="none" len="sm" w="sm"/>
            <a:tailEnd type="none" len="sm" w="sm"/>
          </a:ln>
        </p:spPr>
      </p:sp>
      <p:sp>
        <p:nvSpPr>
          <p:cNvPr name="AutoShape 4" id="4"/>
          <p:cNvSpPr/>
          <p:nvPr/>
        </p:nvSpPr>
        <p:spPr>
          <a:xfrm>
            <a:off x="-462152" y="2924738"/>
            <a:ext cx="12245402" cy="0"/>
          </a:xfrm>
          <a:prstGeom prst="line">
            <a:avLst/>
          </a:prstGeom>
          <a:ln cap="flat" w="9525">
            <a:solidFill>
              <a:srgbClr val="403E3E"/>
            </a:solidFill>
            <a:prstDash val="solid"/>
            <a:headEnd type="none" len="sm" w="sm"/>
            <a:tailEnd type="none" len="sm" w="sm"/>
          </a:ln>
        </p:spPr>
      </p:sp>
      <p:sp>
        <p:nvSpPr>
          <p:cNvPr name="Freeform 5" id="5"/>
          <p:cNvSpPr/>
          <p:nvPr/>
        </p:nvSpPr>
        <p:spPr>
          <a:xfrm flipH="false" flipV="false" rot="0">
            <a:off x="12352301" y="3307326"/>
            <a:ext cx="4222276" cy="4114800"/>
          </a:xfrm>
          <a:custGeom>
            <a:avLst/>
            <a:gdLst/>
            <a:ahLst/>
            <a:cxnLst/>
            <a:rect r="r" b="b" t="t" l="l"/>
            <a:pathLst>
              <a:path h="4114800" w="4222276">
                <a:moveTo>
                  <a:pt x="0" y="0"/>
                </a:moveTo>
                <a:lnTo>
                  <a:pt x="4222277" y="0"/>
                </a:lnTo>
                <a:lnTo>
                  <a:pt x="422227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757560" y="1414305"/>
            <a:ext cx="12860382" cy="483311"/>
          </a:xfrm>
          <a:prstGeom prst="rect">
            <a:avLst/>
          </a:prstGeom>
        </p:spPr>
        <p:txBody>
          <a:bodyPr anchor="t" rtlCol="false" tIns="0" lIns="0" bIns="0" rIns="0">
            <a:spAutoFit/>
          </a:bodyPr>
          <a:lstStyle/>
          <a:p>
            <a:pPr algn="ctr" marL="0" indent="0" lvl="0">
              <a:lnSpc>
                <a:spcPts val="3334"/>
              </a:lnSpc>
              <a:spcBef>
                <a:spcPct val="0"/>
              </a:spcBef>
            </a:pPr>
            <a:r>
              <a:rPr lang="en-US" b="true" sz="4387" spc="-96">
                <a:solidFill>
                  <a:srgbClr val="403E3E"/>
                </a:solidFill>
                <a:latin typeface="Arial Nova Bold"/>
                <a:ea typeface="Arial Nova Bold"/>
                <a:cs typeface="Arial Nova Bold"/>
                <a:sym typeface="Arial Nova Bold"/>
              </a:rPr>
              <a:t>2. THEORETICAL BACKGROUND</a:t>
            </a:r>
          </a:p>
        </p:txBody>
      </p:sp>
      <p:sp>
        <p:nvSpPr>
          <p:cNvPr name="TextBox 7" id="7"/>
          <p:cNvSpPr txBox="true"/>
          <p:nvPr/>
        </p:nvSpPr>
        <p:spPr>
          <a:xfrm rot="0">
            <a:off x="1326352" y="9596713"/>
            <a:ext cx="4237173" cy="656590"/>
          </a:xfrm>
          <a:prstGeom prst="rect">
            <a:avLst/>
          </a:prstGeom>
        </p:spPr>
        <p:txBody>
          <a:bodyPr anchor="t" rtlCol="false" tIns="0" lIns="0" bIns="0" rIns="0">
            <a:spAutoFit/>
          </a:bodyPr>
          <a:lstStyle/>
          <a:p>
            <a:pPr algn="l">
              <a:lnSpc>
                <a:spcPts val="2660"/>
              </a:lnSpc>
            </a:pPr>
            <a:r>
              <a:rPr lang="en-US" sz="1900" spc="-104">
                <a:solidFill>
                  <a:srgbClr val="403E3E"/>
                </a:solidFill>
                <a:latin typeface="Mukti"/>
                <a:ea typeface="Mukti"/>
                <a:cs typeface="Mukti"/>
                <a:sym typeface="Mukti"/>
              </a:rPr>
              <a:t>NOV 2025</a:t>
            </a:r>
          </a:p>
          <a:p>
            <a:pPr algn="l">
              <a:lnSpc>
                <a:spcPts val="2660"/>
              </a:lnSpc>
            </a:pPr>
          </a:p>
        </p:txBody>
      </p:sp>
      <p:sp>
        <p:nvSpPr>
          <p:cNvPr name="TextBox 8" id="8"/>
          <p:cNvSpPr txBox="true"/>
          <p:nvPr/>
        </p:nvSpPr>
        <p:spPr>
          <a:xfrm rot="0">
            <a:off x="10523550" y="9469010"/>
            <a:ext cx="7597780" cy="656590"/>
          </a:xfrm>
          <a:prstGeom prst="rect">
            <a:avLst/>
          </a:prstGeom>
        </p:spPr>
        <p:txBody>
          <a:bodyPr anchor="t" rtlCol="false" tIns="0" lIns="0" bIns="0" rIns="0">
            <a:spAutoFit/>
          </a:bodyPr>
          <a:lstStyle/>
          <a:p>
            <a:pPr algn="r">
              <a:lnSpc>
                <a:spcPts val="2660"/>
              </a:lnSpc>
            </a:pPr>
            <a:r>
              <a:rPr lang="en-US" sz="1900" spc="-104">
                <a:solidFill>
                  <a:srgbClr val="403E3E"/>
                </a:solidFill>
                <a:latin typeface="Mukti"/>
                <a:ea typeface="Mukti"/>
                <a:cs typeface="Mukti"/>
                <a:sym typeface="Mukti"/>
              </a:rPr>
              <a:t>HO CHI MINH CITY UNIVERSITY OF TRANSPORT</a:t>
            </a:r>
          </a:p>
          <a:p>
            <a:pPr algn="r">
              <a:lnSpc>
                <a:spcPts val="2660"/>
              </a:lnSpc>
            </a:pPr>
          </a:p>
        </p:txBody>
      </p:sp>
      <p:sp>
        <p:nvSpPr>
          <p:cNvPr name="TextBox 9" id="9"/>
          <p:cNvSpPr txBox="true"/>
          <p:nvPr/>
        </p:nvSpPr>
        <p:spPr>
          <a:xfrm rot="0">
            <a:off x="1505875" y="3148576"/>
            <a:ext cx="8115300" cy="346075"/>
          </a:xfrm>
          <a:prstGeom prst="rect">
            <a:avLst/>
          </a:prstGeom>
        </p:spPr>
        <p:txBody>
          <a:bodyPr anchor="t" rtlCol="false" tIns="0" lIns="0" bIns="0" rIns="0">
            <a:spAutoFit/>
          </a:bodyPr>
          <a:lstStyle/>
          <a:p>
            <a:pPr algn="just" marL="0" indent="0" lvl="0">
              <a:lnSpc>
                <a:spcPts val="2749"/>
              </a:lnSpc>
              <a:spcBef>
                <a:spcPct val="0"/>
              </a:spcBef>
            </a:pPr>
            <a:r>
              <a:rPr lang="en-US" sz="2499" spc="-137">
                <a:solidFill>
                  <a:srgbClr val="403E3E"/>
                </a:solidFill>
                <a:latin typeface="Mukti"/>
                <a:ea typeface="Mukti"/>
                <a:cs typeface="Mukti"/>
                <a:sym typeface="Mukti"/>
              </a:rPr>
              <a:t>2.1 First-Come, First-Served (FCFS) Scheduling</a:t>
            </a:r>
          </a:p>
        </p:txBody>
      </p:sp>
      <p:sp>
        <p:nvSpPr>
          <p:cNvPr name="TextBox 10" id="10"/>
          <p:cNvSpPr txBox="true"/>
          <p:nvPr/>
        </p:nvSpPr>
        <p:spPr>
          <a:xfrm rot="0">
            <a:off x="13499355" y="314960"/>
            <a:ext cx="4237173" cy="656590"/>
          </a:xfrm>
          <a:prstGeom prst="rect">
            <a:avLst/>
          </a:prstGeom>
        </p:spPr>
        <p:txBody>
          <a:bodyPr anchor="t" rtlCol="false" tIns="0" lIns="0" bIns="0" rIns="0">
            <a:spAutoFit/>
          </a:bodyPr>
          <a:lstStyle/>
          <a:p>
            <a:pPr algn="r">
              <a:lnSpc>
                <a:spcPts val="2660"/>
              </a:lnSpc>
            </a:pPr>
            <a:r>
              <a:rPr lang="en-US" sz="1900" spc="-104">
                <a:solidFill>
                  <a:srgbClr val="403E3E"/>
                </a:solidFill>
                <a:latin typeface="Mukti"/>
                <a:ea typeface="Mukti"/>
                <a:cs typeface="Mukti"/>
                <a:sym typeface="Mukti"/>
              </a:rPr>
              <a:t>NOV 2025</a:t>
            </a:r>
          </a:p>
          <a:p>
            <a:pPr algn="r">
              <a:lnSpc>
                <a:spcPts val="2660"/>
              </a:lnSpc>
            </a:pPr>
          </a:p>
        </p:txBody>
      </p:sp>
      <p:sp>
        <p:nvSpPr>
          <p:cNvPr name="TextBox 11" id="11"/>
          <p:cNvSpPr txBox="true"/>
          <p:nvPr/>
        </p:nvSpPr>
        <p:spPr>
          <a:xfrm rot="0">
            <a:off x="16990695" y="8951595"/>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6</a:t>
            </a:r>
          </a:p>
        </p:txBody>
      </p:sp>
      <p:sp>
        <p:nvSpPr>
          <p:cNvPr name="TextBox 12" id="12"/>
          <p:cNvSpPr txBox="true"/>
          <p:nvPr/>
        </p:nvSpPr>
        <p:spPr>
          <a:xfrm rot="0">
            <a:off x="1505875" y="3920748"/>
            <a:ext cx="8115300" cy="2060575"/>
          </a:xfrm>
          <a:prstGeom prst="rect">
            <a:avLst/>
          </a:prstGeom>
        </p:spPr>
        <p:txBody>
          <a:bodyPr anchor="t" rtlCol="false" tIns="0" lIns="0" bIns="0" rIns="0">
            <a:spAutoFit/>
          </a:bodyPr>
          <a:lstStyle/>
          <a:p>
            <a:pPr algn="just" marL="0" indent="0" lvl="0">
              <a:lnSpc>
                <a:spcPts val="2749"/>
              </a:lnSpc>
              <a:spcBef>
                <a:spcPct val="0"/>
              </a:spcBef>
            </a:pPr>
            <a:r>
              <a:rPr lang="en-US" sz="2499" spc="-137">
                <a:solidFill>
                  <a:srgbClr val="403E3E"/>
                </a:solidFill>
                <a:latin typeface="Mukti"/>
                <a:ea typeface="Mukti"/>
                <a:cs typeface="Mukti"/>
                <a:sym typeface="Mukti"/>
              </a:rPr>
              <a:t>First-Come, First-Served (FCFS) is the most straightforward CPU scheduling policy: processes are placed in a FIFO (first-in, first-out) queue and are dispatched in the order they arrive. FCFS is non-preemptive — once a process starts it runs to completion — which makes the algorithm easy to reason about and simple to implement</a:t>
            </a:r>
          </a:p>
        </p:txBody>
      </p:sp>
      <p:sp>
        <p:nvSpPr>
          <p:cNvPr name="Freeform 13" id="13"/>
          <p:cNvSpPr/>
          <p:nvPr/>
        </p:nvSpPr>
        <p:spPr>
          <a:xfrm flipH="false" flipV="false" rot="0">
            <a:off x="793528" y="1233330"/>
            <a:ext cx="2476770" cy="1024764"/>
          </a:xfrm>
          <a:custGeom>
            <a:avLst/>
            <a:gdLst/>
            <a:ahLst/>
            <a:cxnLst/>
            <a:rect r="r" b="b" t="t" l="l"/>
            <a:pathLst>
              <a:path h="1024764" w="2476770">
                <a:moveTo>
                  <a:pt x="0" y="0"/>
                </a:moveTo>
                <a:lnTo>
                  <a:pt x="2476771" y="0"/>
                </a:lnTo>
                <a:lnTo>
                  <a:pt x="2476771" y="1024764"/>
                </a:lnTo>
                <a:lnTo>
                  <a:pt x="0" y="1024764"/>
                </a:lnTo>
                <a:lnTo>
                  <a:pt x="0" y="0"/>
                </a:lnTo>
                <a:close/>
              </a:path>
            </a:pathLst>
          </a:custGeom>
          <a:blipFill>
            <a:blip r:embed="rId4"/>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AF6"/>
        </a:solidFill>
      </p:bgPr>
    </p:bg>
    <p:spTree>
      <p:nvGrpSpPr>
        <p:cNvPr id="1" name=""/>
        <p:cNvGrpSpPr/>
        <p:nvPr/>
      </p:nvGrpSpPr>
      <p:grpSpPr>
        <a:xfrm>
          <a:off x="0" y="0"/>
          <a:ext cx="0" cy="0"/>
          <a:chOff x="0" y="0"/>
          <a:chExt cx="0" cy="0"/>
        </a:xfrm>
      </p:grpSpPr>
      <p:sp>
        <p:nvSpPr>
          <p:cNvPr name="AutoShape 2" id="2"/>
          <p:cNvSpPr/>
          <p:nvPr/>
        </p:nvSpPr>
        <p:spPr>
          <a:xfrm>
            <a:off x="-612992" y="9253537"/>
            <a:ext cx="12396242" cy="0"/>
          </a:xfrm>
          <a:prstGeom prst="line">
            <a:avLst/>
          </a:prstGeom>
          <a:ln cap="flat" w="9525">
            <a:solidFill>
              <a:srgbClr val="403E3E"/>
            </a:solidFill>
            <a:prstDash val="solid"/>
            <a:headEnd type="none" len="sm" w="sm"/>
            <a:tailEnd type="none" len="sm" w="sm"/>
          </a:ln>
        </p:spPr>
      </p:sp>
      <p:sp>
        <p:nvSpPr>
          <p:cNvPr name="AutoShape 3" id="3"/>
          <p:cNvSpPr/>
          <p:nvPr/>
        </p:nvSpPr>
        <p:spPr>
          <a:xfrm flipV="true">
            <a:off x="-462152" y="1033462"/>
            <a:ext cx="19212305" cy="0"/>
          </a:xfrm>
          <a:prstGeom prst="line">
            <a:avLst/>
          </a:prstGeom>
          <a:ln cap="flat" w="9525">
            <a:solidFill>
              <a:srgbClr val="403E3E"/>
            </a:solidFill>
            <a:prstDash val="solid"/>
            <a:headEnd type="none" len="sm" w="sm"/>
            <a:tailEnd type="none" len="sm" w="sm"/>
          </a:ln>
        </p:spPr>
      </p:sp>
      <p:sp>
        <p:nvSpPr>
          <p:cNvPr name="AutoShape 4" id="4"/>
          <p:cNvSpPr/>
          <p:nvPr/>
        </p:nvSpPr>
        <p:spPr>
          <a:xfrm>
            <a:off x="-462152" y="2924738"/>
            <a:ext cx="12245402" cy="0"/>
          </a:xfrm>
          <a:prstGeom prst="line">
            <a:avLst/>
          </a:prstGeom>
          <a:ln cap="flat" w="9525">
            <a:solidFill>
              <a:srgbClr val="403E3E"/>
            </a:solidFill>
            <a:prstDash val="solid"/>
            <a:headEnd type="none" len="sm" w="sm"/>
            <a:tailEnd type="none" len="sm" w="sm"/>
          </a:ln>
        </p:spPr>
      </p:sp>
      <p:sp>
        <p:nvSpPr>
          <p:cNvPr name="Freeform 5" id="5"/>
          <p:cNvSpPr/>
          <p:nvPr/>
        </p:nvSpPr>
        <p:spPr>
          <a:xfrm flipH="false" flipV="false" rot="0">
            <a:off x="12465260" y="3517388"/>
            <a:ext cx="4183253" cy="4114800"/>
          </a:xfrm>
          <a:custGeom>
            <a:avLst/>
            <a:gdLst/>
            <a:ahLst/>
            <a:cxnLst/>
            <a:rect r="r" b="b" t="t" l="l"/>
            <a:pathLst>
              <a:path h="4114800" w="4183253">
                <a:moveTo>
                  <a:pt x="0" y="0"/>
                </a:moveTo>
                <a:lnTo>
                  <a:pt x="4183253" y="0"/>
                </a:lnTo>
                <a:lnTo>
                  <a:pt x="418325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757560" y="1414305"/>
            <a:ext cx="12860382" cy="902411"/>
          </a:xfrm>
          <a:prstGeom prst="rect">
            <a:avLst/>
          </a:prstGeom>
        </p:spPr>
        <p:txBody>
          <a:bodyPr anchor="t" rtlCol="false" tIns="0" lIns="0" bIns="0" rIns="0">
            <a:spAutoFit/>
          </a:bodyPr>
          <a:lstStyle/>
          <a:p>
            <a:pPr algn="ctr">
              <a:lnSpc>
                <a:spcPts val="3334"/>
              </a:lnSpc>
            </a:pPr>
            <a:r>
              <a:rPr lang="en-US" b="true" sz="4387" spc="-96">
                <a:solidFill>
                  <a:srgbClr val="403E3E"/>
                </a:solidFill>
                <a:latin typeface="Arial Nova Bold"/>
                <a:ea typeface="Arial Nova Bold"/>
                <a:cs typeface="Arial Nova Bold"/>
                <a:sym typeface="Arial Nova Bold"/>
              </a:rPr>
              <a:t>2.2 KEY METRICS AND FORMULAE</a:t>
            </a:r>
          </a:p>
          <a:p>
            <a:pPr algn="ctr" marL="0" indent="0" lvl="0">
              <a:lnSpc>
                <a:spcPts val="3334"/>
              </a:lnSpc>
              <a:spcBef>
                <a:spcPct val="0"/>
              </a:spcBef>
            </a:pPr>
          </a:p>
        </p:txBody>
      </p:sp>
      <p:sp>
        <p:nvSpPr>
          <p:cNvPr name="TextBox 7" id="7"/>
          <p:cNvSpPr txBox="true"/>
          <p:nvPr/>
        </p:nvSpPr>
        <p:spPr>
          <a:xfrm rot="0">
            <a:off x="1326352" y="9596713"/>
            <a:ext cx="4237173" cy="656590"/>
          </a:xfrm>
          <a:prstGeom prst="rect">
            <a:avLst/>
          </a:prstGeom>
        </p:spPr>
        <p:txBody>
          <a:bodyPr anchor="t" rtlCol="false" tIns="0" lIns="0" bIns="0" rIns="0">
            <a:spAutoFit/>
          </a:bodyPr>
          <a:lstStyle/>
          <a:p>
            <a:pPr algn="l">
              <a:lnSpc>
                <a:spcPts val="2660"/>
              </a:lnSpc>
            </a:pPr>
            <a:r>
              <a:rPr lang="en-US" sz="1900" spc="-104">
                <a:solidFill>
                  <a:srgbClr val="403E3E"/>
                </a:solidFill>
                <a:latin typeface="Mukti"/>
                <a:ea typeface="Mukti"/>
                <a:cs typeface="Mukti"/>
                <a:sym typeface="Mukti"/>
              </a:rPr>
              <a:t>NOV 2025</a:t>
            </a:r>
          </a:p>
          <a:p>
            <a:pPr algn="l">
              <a:lnSpc>
                <a:spcPts val="2660"/>
              </a:lnSpc>
            </a:pPr>
          </a:p>
        </p:txBody>
      </p:sp>
      <p:sp>
        <p:nvSpPr>
          <p:cNvPr name="TextBox 8" id="8"/>
          <p:cNvSpPr txBox="true"/>
          <p:nvPr/>
        </p:nvSpPr>
        <p:spPr>
          <a:xfrm rot="0">
            <a:off x="10292668" y="9596713"/>
            <a:ext cx="7443859" cy="656590"/>
          </a:xfrm>
          <a:prstGeom prst="rect">
            <a:avLst/>
          </a:prstGeom>
        </p:spPr>
        <p:txBody>
          <a:bodyPr anchor="t" rtlCol="false" tIns="0" lIns="0" bIns="0" rIns="0">
            <a:spAutoFit/>
          </a:bodyPr>
          <a:lstStyle/>
          <a:p>
            <a:pPr algn="r">
              <a:lnSpc>
                <a:spcPts val="2660"/>
              </a:lnSpc>
            </a:pPr>
            <a:r>
              <a:rPr lang="en-US" sz="1900" spc="-104">
                <a:solidFill>
                  <a:srgbClr val="403E3E"/>
                </a:solidFill>
                <a:latin typeface="Mukti"/>
                <a:ea typeface="Mukti"/>
                <a:cs typeface="Mukti"/>
                <a:sym typeface="Mukti"/>
              </a:rPr>
              <a:t>HO CHI MINH CITY UNIVERSITY OF TRANSPORT</a:t>
            </a:r>
          </a:p>
          <a:p>
            <a:pPr algn="r">
              <a:lnSpc>
                <a:spcPts val="2660"/>
              </a:lnSpc>
            </a:pPr>
          </a:p>
        </p:txBody>
      </p:sp>
      <p:sp>
        <p:nvSpPr>
          <p:cNvPr name="TextBox 9" id="9"/>
          <p:cNvSpPr txBox="true"/>
          <p:nvPr/>
        </p:nvSpPr>
        <p:spPr>
          <a:xfrm rot="0">
            <a:off x="2757560" y="4387338"/>
            <a:ext cx="8756637" cy="2403475"/>
          </a:xfrm>
          <a:prstGeom prst="rect">
            <a:avLst/>
          </a:prstGeom>
        </p:spPr>
        <p:txBody>
          <a:bodyPr anchor="t" rtlCol="false" tIns="0" lIns="0" bIns="0" rIns="0">
            <a:spAutoFit/>
          </a:bodyPr>
          <a:lstStyle/>
          <a:p>
            <a:pPr algn="just">
              <a:lnSpc>
                <a:spcPts val="2749"/>
              </a:lnSpc>
            </a:pPr>
            <a:r>
              <a:rPr lang="en-US" sz="2499" spc="-137">
                <a:solidFill>
                  <a:srgbClr val="403E3E"/>
                </a:solidFill>
                <a:latin typeface="Mukti"/>
                <a:ea typeface="Mukti"/>
                <a:cs typeface="Mukti"/>
                <a:sym typeface="Mukti"/>
              </a:rPr>
              <a:t>To compare scheduling algorithms we rely on a small set of standard metrics that capture latency and service fairness. These are typically expressed as:</a:t>
            </a:r>
          </a:p>
          <a:p>
            <a:pPr algn="just">
              <a:lnSpc>
                <a:spcPts val="2749"/>
              </a:lnSpc>
            </a:pPr>
            <a:r>
              <a:rPr lang="en-US" sz="2499" spc="-137">
                <a:solidFill>
                  <a:srgbClr val="403E3E"/>
                </a:solidFill>
                <a:latin typeface="Mukti"/>
                <a:ea typeface="Mukti"/>
                <a:cs typeface="Mukti"/>
                <a:sym typeface="Mukti"/>
              </a:rPr>
              <a:t>Waiting time (WT) = Turnaround Time (TAT) - Burst time (BT)</a:t>
            </a:r>
          </a:p>
          <a:p>
            <a:pPr algn="just">
              <a:lnSpc>
                <a:spcPts val="2749"/>
              </a:lnSpc>
            </a:pPr>
            <a:r>
              <a:rPr lang="en-US" sz="2499" spc="-137">
                <a:solidFill>
                  <a:srgbClr val="403E3E"/>
                </a:solidFill>
                <a:latin typeface="Mukti"/>
                <a:ea typeface="Mukti"/>
                <a:cs typeface="Mukti"/>
                <a:sym typeface="Mukti"/>
              </a:rPr>
              <a:t>Turnaround Time (TAT) = Completion Time (CT) - Arrival Time (AT)</a:t>
            </a:r>
          </a:p>
          <a:p>
            <a:pPr algn="just">
              <a:lnSpc>
                <a:spcPts val="2749"/>
              </a:lnSpc>
            </a:pPr>
            <a:r>
              <a:rPr lang="en-US" sz="2499" spc="-137">
                <a:solidFill>
                  <a:srgbClr val="403E3E"/>
                </a:solidFill>
                <a:latin typeface="Mukti"/>
                <a:ea typeface="Mukti"/>
                <a:cs typeface="Mukti"/>
                <a:sym typeface="Mukti"/>
              </a:rPr>
              <a:t>Response Time = Start of First Run  - Arrival Time (AT)</a:t>
            </a:r>
          </a:p>
          <a:p>
            <a:pPr algn="just" marL="0" indent="0" lvl="0">
              <a:lnSpc>
                <a:spcPts val="2749"/>
              </a:lnSpc>
              <a:spcBef>
                <a:spcPct val="0"/>
              </a:spcBef>
            </a:pPr>
          </a:p>
        </p:txBody>
      </p:sp>
      <p:sp>
        <p:nvSpPr>
          <p:cNvPr name="TextBox 10" id="10"/>
          <p:cNvSpPr txBox="true"/>
          <p:nvPr/>
        </p:nvSpPr>
        <p:spPr>
          <a:xfrm rot="0">
            <a:off x="13499355" y="314960"/>
            <a:ext cx="4237173" cy="656590"/>
          </a:xfrm>
          <a:prstGeom prst="rect">
            <a:avLst/>
          </a:prstGeom>
        </p:spPr>
        <p:txBody>
          <a:bodyPr anchor="t" rtlCol="false" tIns="0" lIns="0" bIns="0" rIns="0">
            <a:spAutoFit/>
          </a:bodyPr>
          <a:lstStyle/>
          <a:p>
            <a:pPr algn="r">
              <a:lnSpc>
                <a:spcPts val="2660"/>
              </a:lnSpc>
            </a:pPr>
            <a:r>
              <a:rPr lang="en-US" sz="1900" spc="-104">
                <a:solidFill>
                  <a:srgbClr val="403E3E"/>
                </a:solidFill>
                <a:latin typeface="Mukti"/>
                <a:ea typeface="Mukti"/>
                <a:cs typeface="Mukti"/>
                <a:sym typeface="Mukti"/>
              </a:rPr>
              <a:t>NOV 2025</a:t>
            </a:r>
          </a:p>
          <a:p>
            <a:pPr algn="r">
              <a:lnSpc>
                <a:spcPts val="2660"/>
              </a:lnSpc>
            </a:pPr>
          </a:p>
        </p:txBody>
      </p:sp>
      <p:sp>
        <p:nvSpPr>
          <p:cNvPr name="TextBox 11" id="11"/>
          <p:cNvSpPr txBox="true"/>
          <p:nvPr/>
        </p:nvSpPr>
        <p:spPr>
          <a:xfrm rot="0">
            <a:off x="16990695" y="8951595"/>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7</a:t>
            </a:r>
          </a:p>
        </p:txBody>
      </p:sp>
      <p:sp>
        <p:nvSpPr>
          <p:cNvPr name="Freeform 12" id="12"/>
          <p:cNvSpPr/>
          <p:nvPr/>
        </p:nvSpPr>
        <p:spPr>
          <a:xfrm flipH="false" flipV="false" rot="0">
            <a:off x="793528" y="1233330"/>
            <a:ext cx="2476770" cy="1024764"/>
          </a:xfrm>
          <a:custGeom>
            <a:avLst/>
            <a:gdLst/>
            <a:ahLst/>
            <a:cxnLst/>
            <a:rect r="r" b="b" t="t" l="l"/>
            <a:pathLst>
              <a:path h="1024764" w="2476770">
                <a:moveTo>
                  <a:pt x="0" y="0"/>
                </a:moveTo>
                <a:lnTo>
                  <a:pt x="2476771" y="0"/>
                </a:lnTo>
                <a:lnTo>
                  <a:pt x="2476771" y="1024764"/>
                </a:lnTo>
                <a:lnTo>
                  <a:pt x="0" y="1024764"/>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6F5F3"/>
        </a:solidFill>
      </p:bgPr>
    </p:bg>
    <p:spTree>
      <p:nvGrpSpPr>
        <p:cNvPr id="1" name=""/>
        <p:cNvGrpSpPr/>
        <p:nvPr/>
      </p:nvGrpSpPr>
      <p:grpSpPr>
        <a:xfrm>
          <a:off x="0" y="0"/>
          <a:ext cx="0" cy="0"/>
          <a:chOff x="0" y="0"/>
          <a:chExt cx="0" cy="0"/>
        </a:xfrm>
      </p:grpSpPr>
      <p:grpSp>
        <p:nvGrpSpPr>
          <p:cNvPr name="Group 2" id="2"/>
          <p:cNvGrpSpPr/>
          <p:nvPr/>
        </p:nvGrpSpPr>
        <p:grpSpPr>
          <a:xfrm rot="5400000">
            <a:off x="6667400" y="-6899948"/>
            <a:ext cx="4044591" cy="17622955"/>
            <a:chOff x="0" y="0"/>
            <a:chExt cx="1449490" cy="6315669"/>
          </a:xfrm>
        </p:grpSpPr>
        <p:sp>
          <p:nvSpPr>
            <p:cNvPr name="Freeform 3" id="3"/>
            <p:cNvSpPr/>
            <p:nvPr/>
          </p:nvSpPr>
          <p:spPr>
            <a:xfrm flipH="false" flipV="false" rot="0">
              <a:off x="0" y="0"/>
              <a:ext cx="1449490" cy="6315670"/>
            </a:xfrm>
            <a:custGeom>
              <a:avLst/>
              <a:gdLst/>
              <a:ahLst/>
              <a:cxnLst/>
              <a:rect r="r" b="b" t="t" l="l"/>
              <a:pathLst>
                <a:path h="6315670" w="1449490">
                  <a:moveTo>
                    <a:pt x="0" y="0"/>
                  </a:moveTo>
                  <a:lnTo>
                    <a:pt x="1449490" y="0"/>
                  </a:lnTo>
                  <a:lnTo>
                    <a:pt x="1449490" y="6315670"/>
                  </a:lnTo>
                  <a:lnTo>
                    <a:pt x="0" y="6315670"/>
                  </a:lnTo>
                  <a:close/>
                </a:path>
              </a:pathLst>
            </a:custGeom>
            <a:solidFill>
              <a:srgbClr val="EFEEEC"/>
            </a:solidFill>
            <a:ln w="9525" cap="sq">
              <a:solidFill>
                <a:srgbClr val="403E3E"/>
              </a:solidFill>
              <a:prstDash val="solid"/>
              <a:miter/>
            </a:ln>
          </p:spPr>
        </p:sp>
        <p:sp>
          <p:nvSpPr>
            <p:cNvPr name="TextBox 4" id="4"/>
            <p:cNvSpPr txBox="true"/>
            <p:nvPr/>
          </p:nvSpPr>
          <p:spPr>
            <a:xfrm>
              <a:off x="0" y="-47625"/>
              <a:ext cx="1449490" cy="6363294"/>
            </a:xfrm>
            <a:prstGeom prst="rect">
              <a:avLst/>
            </a:prstGeom>
          </p:spPr>
          <p:txBody>
            <a:bodyPr anchor="ctr" rtlCol="false" tIns="50800" lIns="50800" bIns="50800" rIns="50800"/>
            <a:lstStyle/>
            <a:p>
              <a:pPr algn="ctr">
                <a:lnSpc>
                  <a:spcPts val="1960"/>
                </a:lnSpc>
              </a:pPr>
            </a:p>
          </p:txBody>
        </p:sp>
      </p:grpSp>
      <p:grpSp>
        <p:nvGrpSpPr>
          <p:cNvPr name="Group 5" id="5"/>
          <p:cNvGrpSpPr/>
          <p:nvPr/>
        </p:nvGrpSpPr>
        <p:grpSpPr>
          <a:xfrm rot="5400000">
            <a:off x="12432431" y="4605338"/>
            <a:ext cx="10730064" cy="1076325"/>
            <a:chOff x="0" y="0"/>
            <a:chExt cx="3845413" cy="385731"/>
          </a:xfrm>
        </p:grpSpPr>
        <p:sp>
          <p:nvSpPr>
            <p:cNvPr name="Freeform 6" id="6"/>
            <p:cNvSpPr/>
            <p:nvPr/>
          </p:nvSpPr>
          <p:spPr>
            <a:xfrm flipH="false" flipV="false" rot="0">
              <a:off x="0" y="0"/>
              <a:ext cx="3845413" cy="385731"/>
            </a:xfrm>
            <a:custGeom>
              <a:avLst/>
              <a:gdLst/>
              <a:ahLst/>
              <a:cxnLst/>
              <a:rect r="r" b="b" t="t" l="l"/>
              <a:pathLst>
                <a:path h="385731" w="3845413">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sp>
        <p:sp>
          <p:nvSpPr>
            <p:cNvPr name="TextBox 7" id="7"/>
            <p:cNvSpPr txBox="true"/>
            <p:nvPr/>
          </p:nvSpPr>
          <p:spPr>
            <a:xfrm>
              <a:off x="0" y="-47625"/>
              <a:ext cx="3845413" cy="433356"/>
            </a:xfrm>
            <a:prstGeom prst="rect">
              <a:avLst/>
            </a:prstGeom>
          </p:spPr>
          <p:txBody>
            <a:bodyPr anchor="ctr" rtlCol="false" tIns="50800" lIns="50800" bIns="50800" rIns="50800"/>
            <a:lstStyle/>
            <a:p>
              <a:pPr algn="ctr">
                <a:lnSpc>
                  <a:spcPts val="1960"/>
                </a:lnSpc>
              </a:pPr>
            </a:p>
          </p:txBody>
        </p:sp>
      </p:grpSp>
      <p:sp>
        <p:nvSpPr>
          <p:cNvPr name="TextBox 8" id="8"/>
          <p:cNvSpPr txBox="true"/>
          <p:nvPr/>
        </p:nvSpPr>
        <p:spPr>
          <a:xfrm rot="0">
            <a:off x="1028700" y="8951595"/>
            <a:ext cx="5792737" cy="306705"/>
          </a:xfrm>
          <a:prstGeom prst="rect">
            <a:avLst/>
          </a:prstGeom>
        </p:spPr>
        <p:txBody>
          <a:bodyPr anchor="t" rtlCol="false" tIns="0" lIns="0" bIns="0" rIns="0">
            <a:spAutoFit/>
          </a:bodyPr>
          <a:lstStyle/>
          <a:p>
            <a:pPr algn="l" marL="0" indent="0" lvl="0">
              <a:lnSpc>
                <a:spcPts val="2520"/>
              </a:lnSpc>
              <a:spcBef>
                <a:spcPct val="0"/>
              </a:spcBef>
            </a:pPr>
            <a:r>
              <a:rPr lang="en-US" sz="1800" spc="-72">
                <a:solidFill>
                  <a:srgbClr val="403E3E"/>
                </a:solidFill>
                <a:latin typeface="Inter"/>
                <a:ea typeface="Inter"/>
                <a:cs typeface="Inter"/>
                <a:sym typeface="Inter"/>
              </a:rPr>
              <a:t>HO CHI MINH CITY UNIVERSITY OF TRANSPORT</a:t>
            </a:r>
          </a:p>
        </p:txBody>
      </p:sp>
      <p:sp>
        <p:nvSpPr>
          <p:cNvPr name="TextBox 9" id="9"/>
          <p:cNvSpPr txBox="true"/>
          <p:nvPr/>
        </p:nvSpPr>
        <p:spPr>
          <a:xfrm rot="0">
            <a:off x="15506330" y="8951595"/>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8</a:t>
            </a:r>
          </a:p>
        </p:txBody>
      </p:sp>
      <p:sp>
        <p:nvSpPr>
          <p:cNvPr name="TextBox 10" id="10"/>
          <p:cNvSpPr txBox="true"/>
          <p:nvPr/>
        </p:nvSpPr>
        <p:spPr>
          <a:xfrm rot="0">
            <a:off x="1028700" y="2666365"/>
            <a:ext cx="9594056" cy="1868170"/>
          </a:xfrm>
          <a:prstGeom prst="rect">
            <a:avLst/>
          </a:prstGeom>
        </p:spPr>
        <p:txBody>
          <a:bodyPr anchor="t" rtlCol="false" tIns="0" lIns="0" bIns="0" rIns="0">
            <a:spAutoFit/>
          </a:bodyPr>
          <a:lstStyle/>
          <a:p>
            <a:pPr algn="l">
              <a:lnSpc>
                <a:spcPts val="4760"/>
              </a:lnSpc>
            </a:pPr>
            <a:r>
              <a:rPr lang="en-US" sz="5600" spc="-420">
                <a:solidFill>
                  <a:srgbClr val="403E3E"/>
                </a:solidFill>
                <a:latin typeface="Inter"/>
                <a:ea typeface="Inter"/>
                <a:cs typeface="Inter"/>
                <a:sym typeface="Inter"/>
              </a:rPr>
              <a:t>2.3 Short Comparisons and Practical Trade-offs</a:t>
            </a:r>
          </a:p>
          <a:p>
            <a:pPr algn="l" marL="0" indent="0" lvl="0">
              <a:lnSpc>
                <a:spcPts val="4760"/>
              </a:lnSpc>
              <a:spcBef>
                <a:spcPct val="0"/>
              </a:spcBef>
            </a:pPr>
          </a:p>
        </p:txBody>
      </p:sp>
      <p:sp>
        <p:nvSpPr>
          <p:cNvPr name="TextBox 11" id="11"/>
          <p:cNvSpPr txBox="true"/>
          <p:nvPr/>
        </p:nvSpPr>
        <p:spPr>
          <a:xfrm rot="0">
            <a:off x="1028700" y="3954145"/>
            <a:ext cx="14269082" cy="1189355"/>
          </a:xfrm>
          <a:prstGeom prst="rect">
            <a:avLst/>
          </a:prstGeom>
        </p:spPr>
        <p:txBody>
          <a:bodyPr anchor="t" rtlCol="false" tIns="0" lIns="0" bIns="0" rIns="0">
            <a:spAutoFit/>
          </a:bodyPr>
          <a:lstStyle/>
          <a:p>
            <a:pPr algn="l">
              <a:lnSpc>
                <a:spcPts val="3220"/>
              </a:lnSpc>
            </a:pPr>
            <a:r>
              <a:rPr lang="en-US" sz="2300" spc="-172">
                <a:solidFill>
                  <a:srgbClr val="403E3E"/>
                </a:solidFill>
                <a:latin typeface="Inter Light"/>
                <a:ea typeface="Inter Light"/>
                <a:cs typeface="Inter Light"/>
                <a:sym typeface="Inter Light"/>
              </a:rPr>
              <a:t>IT IS USEFUL TO POSITION FCFS AGAINST A COUPLE OF OTHER COMMON POLICIES TO UNDERSTAND ITS PRACTICAL TRADE-OFFS:</a:t>
            </a:r>
          </a:p>
          <a:p>
            <a:pPr algn="l" marL="0" indent="0" lvl="0">
              <a:lnSpc>
                <a:spcPts val="3220"/>
              </a:lnSpc>
              <a:spcBef>
                <a:spcPct val="0"/>
              </a:spcBef>
            </a:pPr>
          </a:p>
        </p:txBody>
      </p:sp>
      <p:sp>
        <p:nvSpPr>
          <p:cNvPr name="TextBox 12" id="12"/>
          <p:cNvSpPr txBox="true"/>
          <p:nvPr/>
        </p:nvSpPr>
        <p:spPr>
          <a:xfrm rot="0">
            <a:off x="1459573" y="5695950"/>
            <a:ext cx="4279181" cy="1804423"/>
          </a:xfrm>
          <a:prstGeom prst="rect">
            <a:avLst/>
          </a:prstGeom>
        </p:spPr>
        <p:txBody>
          <a:bodyPr anchor="t" rtlCol="false" tIns="0" lIns="0" bIns="0" rIns="0">
            <a:spAutoFit/>
          </a:bodyPr>
          <a:lstStyle/>
          <a:p>
            <a:pPr algn="just" marL="0" indent="0" lvl="0">
              <a:lnSpc>
                <a:spcPts val="2918"/>
              </a:lnSpc>
              <a:spcBef>
                <a:spcPct val="0"/>
              </a:spcBef>
            </a:pPr>
            <a:r>
              <a:rPr lang="en-US" sz="2084" spc="-45">
                <a:solidFill>
                  <a:srgbClr val="403E3E"/>
                </a:solidFill>
                <a:latin typeface="Inter"/>
                <a:ea typeface="Inter"/>
                <a:cs typeface="Inter"/>
                <a:sym typeface="Inter"/>
              </a:rPr>
              <a:t>SJF / SRTF (Shortest Job First / Shortest Remaining Time First): By preferring shorter jobs, these policies can minimize average waiting time in idealized scenarios.</a:t>
            </a:r>
          </a:p>
        </p:txBody>
      </p:sp>
      <p:sp>
        <p:nvSpPr>
          <p:cNvPr name="TextBox 13" id="13"/>
          <p:cNvSpPr txBox="true"/>
          <p:nvPr/>
        </p:nvSpPr>
        <p:spPr>
          <a:xfrm rot="0">
            <a:off x="8739128" y="5686425"/>
            <a:ext cx="5516130" cy="3261983"/>
          </a:xfrm>
          <a:prstGeom prst="rect">
            <a:avLst/>
          </a:prstGeom>
        </p:spPr>
        <p:txBody>
          <a:bodyPr anchor="t" rtlCol="false" tIns="0" lIns="0" bIns="0" rIns="0">
            <a:spAutoFit/>
          </a:bodyPr>
          <a:lstStyle/>
          <a:p>
            <a:pPr algn="just">
              <a:lnSpc>
                <a:spcPts val="2905"/>
              </a:lnSpc>
            </a:pPr>
            <a:r>
              <a:rPr lang="en-US" sz="2075" spc="-45">
                <a:solidFill>
                  <a:srgbClr val="403E3E"/>
                </a:solidFill>
                <a:latin typeface="Inter"/>
                <a:ea typeface="Inter"/>
                <a:cs typeface="Inter"/>
                <a:sym typeface="Inter"/>
              </a:rPr>
              <a:t>Round Robin (RR): RR introduces a fixed time quantum so that each runnable process receives CPU time in turn. If the quantum is very large, RR tends toward FCFS behavior; if it is very small, context switching overhead rises and overall throughput may fall, though responsiveness improves for interactive tasks.</a:t>
            </a:r>
          </a:p>
          <a:p>
            <a:pPr algn="just" marL="0" indent="0" lvl="0">
              <a:lnSpc>
                <a:spcPts val="2905"/>
              </a:lnSpc>
              <a:spcBef>
                <a:spcPct val="0"/>
              </a:spcBef>
            </a:pPr>
          </a:p>
        </p:txBody>
      </p:sp>
      <p:sp>
        <p:nvSpPr>
          <p:cNvPr name="TextBox 14" id="14"/>
          <p:cNvSpPr txBox="true"/>
          <p:nvPr/>
        </p:nvSpPr>
        <p:spPr>
          <a:xfrm rot="0">
            <a:off x="13402382" y="993352"/>
            <a:ext cx="2850172" cy="621030"/>
          </a:xfrm>
          <a:prstGeom prst="rect">
            <a:avLst/>
          </a:prstGeom>
        </p:spPr>
        <p:txBody>
          <a:bodyPr anchor="t" rtlCol="false" tIns="0" lIns="0" bIns="0" rIns="0">
            <a:spAutoFit/>
          </a:bodyPr>
          <a:lstStyle/>
          <a:p>
            <a:pPr algn="r">
              <a:lnSpc>
                <a:spcPts val="2520"/>
              </a:lnSpc>
            </a:pPr>
            <a:r>
              <a:rPr lang="en-US" sz="1800" spc="-72">
                <a:solidFill>
                  <a:srgbClr val="403E3E"/>
                </a:solidFill>
                <a:latin typeface="Inter"/>
                <a:ea typeface="Inter"/>
                <a:cs typeface="Inter"/>
                <a:sym typeface="Inter"/>
              </a:rPr>
              <a:t>NOV 2025</a:t>
            </a:r>
          </a:p>
          <a:p>
            <a:pPr algn="r" marL="0" indent="0" lvl="0">
              <a:lnSpc>
                <a:spcPts val="2520"/>
              </a:lnSpc>
              <a:spcBef>
                <a:spcPct val="0"/>
              </a:spcBef>
            </a:pPr>
          </a:p>
        </p:txBody>
      </p:sp>
      <p:sp>
        <p:nvSpPr>
          <p:cNvPr name="AutoShape 15" id="15"/>
          <p:cNvSpPr/>
          <p:nvPr/>
        </p:nvSpPr>
        <p:spPr>
          <a:xfrm flipV="true">
            <a:off x="949970" y="5138738"/>
            <a:ext cx="15313002" cy="0"/>
          </a:xfrm>
          <a:prstGeom prst="line">
            <a:avLst/>
          </a:prstGeom>
          <a:ln cap="flat" w="9525">
            <a:solidFill>
              <a:srgbClr val="000000"/>
            </a:solidFill>
            <a:prstDash val="sysDot"/>
            <a:headEnd type="none" len="sm" w="sm"/>
            <a:tailEnd type="none" len="sm" w="sm"/>
          </a:ln>
        </p:spPr>
      </p:sp>
      <p:sp>
        <p:nvSpPr>
          <p:cNvPr name="Freeform 16" id="16"/>
          <p:cNvSpPr/>
          <p:nvPr/>
        </p:nvSpPr>
        <p:spPr>
          <a:xfrm flipH="false" flipV="false" rot="5400000">
            <a:off x="15018000" y="3173461"/>
            <a:ext cx="948381" cy="1520727"/>
          </a:xfrm>
          <a:custGeom>
            <a:avLst/>
            <a:gdLst/>
            <a:ahLst/>
            <a:cxnLst/>
            <a:rect r="r" b="b" t="t" l="l"/>
            <a:pathLst>
              <a:path h="1520727" w="948381">
                <a:moveTo>
                  <a:pt x="0" y="0"/>
                </a:moveTo>
                <a:lnTo>
                  <a:pt x="948381" y="0"/>
                </a:lnTo>
                <a:lnTo>
                  <a:pt x="948381" y="1520728"/>
                </a:lnTo>
                <a:lnTo>
                  <a:pt x="0" y="15207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17" id="17"/>
          <p:cNvSpPr/>
          <p:nvPr/>
        </p:nvSpPr>
        <p:spPr>
          <a:xfrm flipH="true" flipV="true">
            <a:off x="7734241" y="5138738"/>
            <a:ext cx="0" cy="3576073"/>
          </a:xfrm>
          <a:prstGeom prst="line">
            <a:avLst/>
          </a:prstGeom>
          <a:ln cap="flat" w="9525">
            <a:solidFill>
              <a:srgbClr val="000000"/>
            </a:solidFill>
            <a:prstDash val="sysDot"/>
            <a:headEnd type="none" len="sm" w="sm"/>
            <a:tailEnd type="none" len="sm" w="sm"/>
          </a:ln>
        </p:spPr>
      </p:sp>
      <p:sp>
        <p:nvSpPr>
          <p:cNvPr name="AutoShape 18" id="18"/>
          <p:cNvSpPr/>
          <p:nvPr/>
        </p:nvSpPr>
        <p:spPr>
          <a:xfrm flipV="true">
            <a:off x="1028700" y="8714811"/>
            <a:ext cx="15313002" cy="0"/>
          </a:xfrm>
          <a:prstGeom prst="line">
            <a:avLst/>
          </a:prstGeom>
          <a:ln cap="flat" w="9525">
            <a:solidFill>
              <a:srgbClr val="000000"/>
            </a:solidFill>
            <a:prstDash val="sysDot"/>
            <a:headEnd type="none" len="sm" w="sm"/>
            <a:tailEnd type="none" len="sm" w="sm"/>
          </a:ln>
        </p:spPr>
      </p:sp>
      <p:sp>
        <p:nvSpPr>
          <p:cNvPr name="Freeform 19" id="19"/>
          <p:cNvSpPr/>
          <p:nvPr/>
        </p:nvSpPr>
        <p:spPr>
          <a:xfrm flipH="false" flipV="false" rot="0">
            <a:off x="949970" y="1028700"/>
            <a:ext cx="2476770" cy="1024764"/>
          </a:xfrm>
          <a:custGeom>
            <a:avLst/>
            <a:gdLst/>
            <a:ahLst/>
            <a:cxnLst/>
            <a:rect r="r" b="b" t="t" l="l"/>
            <a:pathLst>
              <a:path h="1024764" w="2476770">
                <a:moveTo>
                  <a:pt x="0" y="0"/>
                </a:moveTo>
                <a:lnTo>
                  <a:pt x="2476770" y="0"/>
                </a:lnTo>
                <a:lnTo>
                  <a:pt x="2476770" y="1024764"/>
                </a:lnTo>
                <a:lnTo>
                  <a:pt x="0" y="1024764"/>
                </a:lnTo>
                <a:lnTo>
                  <a:pt x="0" y="0"/>
                </a:lnTo>
                <a:close/>
              </a:path>
            </a:pathLst>
          </a:custGeom>
          <a:blipFill>
            <a:blip r:embed="rId4"/>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6F5F3"/>
        </a:solidFill>
      </p:bgPr>
    </p:bg>
    <p:spTree>
      <p:nvGrpSpPr>
        <p:cNvPr id="1" name=""/>
        <p:cNvGrpSpPr/>
        <p:nvPr/>
      </p:nvGrpSpPr>
      <p:grpSpPr>
        <a:xfrm>
          <a:off x="0" y="0"/>
          <a:ext cx="0" cy="0"/>
          <a:chOff x="0" y="0"/>
          <a:chExt cx="0" cy="0"/>
        </a:xfrm>
      </p:grpSpPr>
      <p:grpSp>
        <p:nvGrpSpPr>
          <p:cNvPr name="Group 2" id="2"/>
          <p:cNvGrpSpPr/>
          <p:nvPr/>
        </p:nvGrpSpPr>
        <p:grpSpPr>
          <a:xfrm rot="5400000">
            <a:off x="6667400" y="-6899948"/>
            <a:ext cx="4044591" cy="17622955"/>
            <a:chOff x="0" y="0"/>
            <a:chExt cx="1449490" cy="6315669"/>
          </a:xfrm>
        </p:grpSpPr>
        <p:sp>
          <p:nvSpPr>
            <p:cNvPr name="Freeform 3" id="3"/>
            <p:cNvSpPr/>
            <p:nvPr/>
          </p:nvSpPr>
          <p:spPr>
            <a:xfrm flipH="false" flipV="false" rot="0">
              <a:off x="0" y="0"/>
              <a:ext cx="1449490" cy="6315670"/>
            </a:xfrm>
            <a:custGeom>
              <a:avLst/>
              <a:gdLst/>
              <a:ahLst/>
              <a:cxnLst/>
              <a:rect r="r" b="b" t="t" l="l"/>
              <a:pathLst>
                <a:path h="6315670" w="1449490">
                  <a:moveTo>
                    <a:pt x="0" y="0"/>
                  </a:moveTo>
                  <a:lnTo>
                    <a:pt x="1449490" y="0"/>
                  </a:lnTo>
                  <a:lnTo>
                    <a:pt x="1449490" y="6315670"/>
                  </a:lnTo>
                  <a:lnTo>
                    <a:pt x="0" y="6315670"/>
                  </a:lnTo>
                  <a:close/>
                </a:path>
              </a:pathLst>
            </a:custGeom>
            <a:solidFill>
              <a:srgbClr val="EFEEEC"/>
            </a:solidFill>
            <a:ln w="9525" cap="sq">
              <a:solidFill>
                <a:srgbClr val="403E3E"/>
              </a:solidFill>
              <a:prstDash val="solid"/>
              <a:miter/>
            </a:ln>
          </p:spPr>
        </p:sp>
        <p:sp>
          <p:nvSpPr>
            <p:cNvPr name="TextBox 4" id="4"/>
            <p:cNvSpPr txBox="true"/>
            <p:nvPr/>
          </p:nvSpPr>
          <p:spPr>
            <a:xfrm>
              <a:off x="0" y="-47625"/>
              <a:ext cx="1449490" cy="6363294"/>
            </a:xfrm>
            <a:prstGeom prst="rect">
              <a:avLst/>
            </a:prstGeom>
          </p:spPr>
          <p:txBody>
            <a:bodyPr anchor="ctr" rtlCol="false" tIns="50800" lIns="50800" bIns="50800" rIns="50800"/>
            <a:lstStyle/>
            <a:p>
              <a:pPr algn="ctr">
                <a:lnSpc>
                  <a:spcPts val="1960"/>
                </a:lnSpc>
              </a:pPr>
            </a:p>
          </p:txBody>
        </p:sp>
      </p:grpSp>
      <p:grpSp>
        <p:nvGrpSpPr>
          <p:cNvPr name="Group 5" id="5"/>
          <p:cNvGrpSpPr/>
          <p:nvPr/>
        </p:nvGrpSpPr>
        <p:grpSpPr>
          <a:xfrm rot="5400000">
            <a:off x="12432431" y="4605338"/>
            <a:ext cx="10730064" cy="1076325"/>
            <a:chOff x="0" y="0"/>
            <a:chExt cx="3845413" cy="385731"/>
          </a:xfrm>
        </p:grpSpPr>
        <p:sp>
          <p:nvSpPr>
            <p:cNvPr name="Freeform 6" id="6"/>
            <p:cNvSpPr/>
            <p:nvPr/>
          </p:nvSpPr>
          <p:spPr>
            <a:xfrm flipH="false" flipV="false" rot="0">
              <a:off x="0" y="0"/>
              <a:ext cx="3845413" cy="385731"/>
            </a:xfrm>
            <a:custGeom>
              <a:avLst/>
              <a:gdLst/>
              <a:ahLst/>
              <a:cxnLst/>
              <a:rect r="r" b="b" t="t" l="l"/>
              <a:pathLst>
                <a:path h="385731" w="3845413">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sp>
        <p:sp>
          <p:nvSpPr>
            <p:cNvPr name="TextBox 7" id="7"/>
            <p:cNvSpPr txBox="true"/>
            <p:nvPr/>
          </p:nvSpPr>
          <p:spPr>
            <a:xfrm>
              <a:off x="0" y="-47625"/>
              <a:ext cx="3845413" cy="433356"/>
            </a:xfrm>
            <a:prstGeom prst="rect">
              <a:avLst/>
            </a:prstGeom>
          </p:spPr>
          <p:txBody>
            <a:bodyPr anchor="ctr" rtlCol="false" tIns="50800" lIns="50800" bIns="50800" rIns="50800"/>
            <a:lstStyle/>
            <a:p>
              <a:pPr algn="ctr">
                <a:lnSpc>
                  <a:spcPts val="1960"/>
                </a:lnSpc>
              </a:pPr>
            </a:p>
          </p:txBody>
        </p:sp>
      </p:grpSp>
      <p:sp>
        <p:nvSpPr>
          <p:cNvPr name="TextBox 8" id="8"/>
          <p:cNvSpPr txBox="true"/>
          <p:nvPr/>
        </p:nvSpPr>
        <p:spPr>
          <a:xfrm rot="0">
            <a:off x="1028700" y="8951595"/>
            <a:ext cx="5257987" cy="306705"/>
          </a:xfrm>
          <a:prstGeom prst="rect">
            <a:avLst/>
          </a:prstGeom>
        </p:spPr>
        <p:txBody>
          <a:bodyPr anchor="t" rtlCol="false" tIns="0" lIns="0" bIns="0" rIns="0">
            <a:spAutoFit/>
          </a:bodyPr>
          <a:lstStyle/>
          <a:p>
            <a:pPr algn="l" marL="0" indent="0" lvl="0">
              <a:lnSpc>
                <a:spcPts val="2520"/>
              </a:lnSpc>
              <a:spcBef>
                <a:spcPct val="0"/>
              </a:spcBef>
            </a:pPr>
            <a:r>
              <a:rPr lang="en-US" sz="1800" spc="-72">
                <a:solidFill>
                  <a:srgbClr val="403E3E"/>
                </a:solidFill>
                <a:latin typeface="Inter"/>
                <a:ea typeface="Inter"/>
                <a:cs typeface="Inter"/>
                <a:sym typeface="Inter"/>
              </a:rPr>
              <a:t>HO CHI MINH CITY UNIVERSITY OF TRANSPORT</a:t>
            </a:r>
          </a:p>
        </p:txBody>
      </p:sp>
      <p:sp>
        <p:nvSpPr>
          <p:cNvPr name="TextBox 9" id="9"/>
          <p:cNvSpPr txBox="true"/>
          <p:nvPr/>
        </p:nvSpPr>
        <p:spPr>
          <a:xfrm rot="0">
            <a:off x="15506330" y="8951595"/>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9</a:t>
            </a:r>
          </a:p>
        </p:txBody>
      </p:sp>
      <p:sp>
        <p:nvSpPr>
          <p:cNvPr name="TextBox 10" id="10"/>
          <p:cNvSpPr txBox="true"/>
          <p:nvPr/>
        </p:nvSpPr>
        <p:spPr>
          <a:xfrm rot="0">
            <a:off x="1028700" y="2666365"/>
            <a:ext cx="9594056" cy="1268095"/>
          </a:xfrm>
          <a:prstGeom prst="rect">
            <a:avLst/>
          </a:prstGeom>
        </p:spPr>
        <p:txBody>
          <a:bodyPr anchor="t" rtlCol="false" tIns="0" lIns="0" bIns="0" rIns="0">
            <a:spAutoFit/>
          </a:bodyPr>
          <a:lstStyle/>
          <a:p>
            <a:pPr algn="l">
              <a:lnSpc>
                <a:spcPts val="4760"/>
              </a:lnSpc>
            </a:pPr>
            <a:r>
              <a:rPr lang="en-US" sz="5600" spc="-420" b="true">
                <a:solidFill>
                  <a:srgbClr val="403E3E"/>
                </a:solidFill>
                <a:latin typeface="Inter Bold"/>
                <a:ea typeface="Inter Bold"/>
                <a:cs typeface="Inter Bold"/>
                <a:sym typeface="Inter Bold"/>
              </a:rPr>
              <a:t>3. Algorithm &amp; Implementation</a:t>
            </a:r>
          </a:p>
          <a:p>
            <a:pPr algn="l" marL="0" indent="0" lvl="0">
              <a:lnSpc>
                <a:spcPts val="4760"/>
              </a:lnSpc>
              <a:spcBef>
                <a:spcPct val="0"/>
              </a:spcBef>
            </a:pPr>
          </a:p>
        </p:txBody>
      </p:sp>
      <p:sp>
        <p:nvSpPr>
          <p:cNvPr name="TextBox 11" id="11"/>
          <p:cNvSpPr txBox="true"/>
          <p:nvPr/>
        </p:nvSpPr>
        <p:spPr>
          <a:xfrm rot="0">
            <a:off x="5100535" y="4157345"/>
            <a:ext cx="6708372" cy="986155"/>
          </a:xfrm>
          <a:prstGeom prst="rect">
            <a:avLst/>
          </a:prstGeom>
        </p:spPr>
        <p:txBody>
          <a:bodyPr anchor="t" rtlCol="false" tIns="0" lIns="0" bIns="0" rIns="0">
            <a:spAutoFit/>
          </a:bodyPr>
          <a:lstStyle/>
          <a:p>
            <a:pPr algn="l">
              <a:lnSpc>
                <a:spcPts val="3919"/>
              </a:lnSpc>
            </a:pPr>
            <a:r>
              <a:rPr lang="en-US" sz="2799" spc="-209">
                <a:solidFill>
                  <a:srgbClr val="403E3E"/>
                </a:solidFill>
                <a:latin typeface="Inter Light"/>
                <a:ea typeface="Inter Light"/>
                <a:cs typeface="Inter Light"/>
                <a:sym typeface="Inter Light"/>
              </a:rPr>
              <a:t>3.1 ALGORITHM DESCRIPTION</a:t>
            </a:r>
          </a:p>
          <a:p>
            <a:pPr algn="l" marL="0" indent="0" lvl="0">
              <a:lnSpc>
                <a:spcPts val="3919"/>
              </a:lnSpc>
              <a:spcBef>
                <a:spcPct val="0"/>
              </a:spcBef>
            </a:pPr>
          </a:p>
        </p:txBody>
      </p:sp>
      <p:sp>
        <p:nvSpPr>
          <p:cNvPr name="TextBox 12" id="12"/>
          <p:cNvSpPr txBox="true"/>
          <p:nvPr/>
        </p:nvSpPr>
        <p:spPr>
          <a:xfrm rot="0">
            <a:off x="1028700" y="6359145"/>
            <a:ext cx="4279181" cy="2166373"/>
          </a:xfrm>
          <a:prstGeom prst="rect">
            <a:avLst/>
          </a:prstGeom>
        </p:spPr>
        <p:txBody>
          <a:bodyPr anchor="t" rtlCol="false" tIns="0" lIns="0" bIns="0" rIns="0">
            <a:spAutoFit/>
          </a:bodyPr>
          <a:lstStyle/>
          <a:p>
            <a:pPr algn="just">
              <a:lnSpc>
                <a:spcPts val="2918"/>
              </a:lnSpc>
            </a:pPr>
            <a:r>
              <a:rPr lang="en-US" sz="2084" spc="-45">
                <a:solidFill>
                  <a:srgbClr val="403E3E"/>
                </a:solidFill>
                <a:latin typeface="Inter"/>
                <a:ea typeface="Inter"/>
                <a:cs typeface="Inter"/>
                <a:sym typeface="Inter"/>
              </a:rPr>
              <a:t>The </a:t>
            </a:r>
            <a:r>
              <a:rPr lang="en-US" sz="2084" spc="-45">
                <a:solidFill>
                  <a:srgbClr val="403E3E"/>
                </a:solidFill>
                <a:latin typeface="Inter"/>
                <a:ea typeface="Inter"/>
                <a:cs typeface="Inter"/>
                <a:sym typeface="Inter"/>
              </a:rPr>
              <a:t>First Come First Serve (FCFS</a:t>
            </a:r>
            <a:r>
              <a:rPr lang="en-US" b="true" sz="2084" spc="-45">
                <a:solidFill>
                  <a:srgbClr val="403E3E"/>
                </a:solidFill>
                <a:latin typeface="Inter Bold"/>
                <a:ea typeface="Inter Bold"/>
                <a:cs typeface="Inter Bold"/>
                <a:sym typeface="Inter Bold"/>
              </a:rPr>
              <a:t>)</a:t>
            </a:r>
            <a:r>
              <a:rPr lang="en-US" sz="2084" spc="-45">
                <a:solidFill>
                  <a:srgbClr val="403E3E"/>
                </a:solidFill>
                <a:latin typeface="Inter"/>
                <a:ea typeface="Inter"/>
                <a:cs typeface="Inter"/>
                <a:sym typeface="Inter"/>
              </a:rPr>
              <a:t> scheduling algorithm is one of the simplest CPU scheduling techniques, operating on the principle of “first in, first out” (FIFO).</a:t>
            </a:r>
          </a:p>
          <a:p>
            <a:pPr algn="just" marL="0" indent="0" lvl="0">
              <a:lnSpc>
                <a:spcPts val="2918"/>
              </a:lnSpc>
              <a:spcBef>
                <a:spcPct val="0"/>
              </a:spcBef>
            </a:pPr>
          </a:p>
        </p:txBody>
      </p:sp>
      <p:sp>
        <p:nvSpPr>
          <p:cNvPr name="TextBox 13" id="13"/>
          <p:cNvSpPr txBox="true"/>
          <p:nvPr/>
        </p:nvSpPr>
        <p:spPr>
          <a:xfrm rot="0">
            <a:off x="6286687" y="6349620"/>
            <a:ext cx="4336069" cy="1452233"/>
          </a:xfrm>
          <a:prstGeom prst="rect">
            <a:avLst/>
          </a:prstGeom>
        </p:spPr>
        <p:txBody>
          <a:bodyPr anchor="t" rtlCol="false" tIns="0" lIns="0" bIns="0" rIns="0">
            <a:spAutoFit/>
          </a:bodyPr>
          <a:lstStyle/>
          <a:p>
            <a:pPr algn="just" marL="0" indent="0" lvl="0">
              <a:lnSpc>
                <a:spcPts val="2905"/>
              </a:lnSpc>
              <a:spcBef>
                <a:spcPct val="0"/>
              </a:spcBef>
            </a:pPr>
            <a:r>
              <a:rPr lang="en-US" sz="2075" spc="-45">
                <a:solidFill>
                  <a:srgbClr val="403E3E"/>
                </a:solidFill>
                <a:latin typeface="Inter"/>
                <a:ea typeface="Inter"/>
                <a:cs typeface="Inter"/>
                <a:sym typeface="Inter"/>
              </a:rPr>
              <a:t>Processes are executed in the order of their </a:t>
            </a:r>
            <a:r>
              <a:rPr lang="en-US" sz="2075" spc="-45">
                <a:solidFill>
                  <a:srgbClr val="403E3E"/>
                </a:solidFill>
                <a:latin typeface="Inter"/>
                <a:ea typeface="Inter"/>
                <a:cs typeface="Inter"/>
                <a:sym typeface="Inter"/>
              </a:rPr>
              <a:t>arrival time (AT) — the process that arrives first is allocated the CPU first.</a:t>
            </a:r>
          </a:p>
        </p:txBody>
      </p:sp>
      <p:sp>
        <p:nvSpPr>
          <p:cNvPr name="TextBox 14" id="14"/>
          <p:cNvSpPr txBox="true"/>
          <p:nvPr/>
        </p:nvSpPr>
        <p:spPr>
          <a:xfrm rot="0">
            <a:off x="11544674" y="6359145"/>
            <a:ext cx="4797028" cy="1442394"/>
          </a:xfrm>
          <a:prstGeom prst="rect">
            <a:avLst/>
          </a:prstGeom>
        </p:spPr>
        <p:txBody>
          <a:bodyPr anchor="t" rtlCol="false" tIns="0" lIns="0" bIns="0" rIns="0">
            <a:spAutoFit/>
          </a:bodyPr>
          <a:lstStyle/>
          <a:p>
            <a:pPr algn="just" marL="0" indent="0" lvl="0">
              <a:lnSpc>
                <a:spcPts val="2922"/>
              </a:lnSpc>
              <a:spcBef>
                <a:spcPct val="0"/>
              </a:spcBef>
            </a:pPr>
            <a:r>
              <a:rPr lang="en-US" sz="2087" spc="-45">
                <a:solidFill>
                  <a:srgbClr val="403E3E"/>
                </a:solidFill>
                <a:latin typeface="Inter"/>
                <a:ea typeface="Inter"/>
                <a:cs typeface="Inter"/>
                <a:sym typeface="Inter"/>
              </a:rPr>
              <a:t>FCFS is a </a:t>
            </a:r>
            <a:r>
              <a:rPr lang="en-US" sz="2087" spc="-45">
                <a:solidFill>
                  <a:srgbClr val="403E3E"/>
                </a:solidFill>
                <a:latin typeface="Inter"/>
                <a:ea typeface="Inter"/>
                <a:cs typeface="Inter"/>
                <a:sym typeface="Inter"/>
              </a:rPr>
              <a:t>non-preemptive algorithm, meaning once a process starts execution, it runs until completion without interruption.</a:t>
            </a:r>
          </a:p>
        </p:txBody>
      </p:sp>
      <p:sp>
        <p:nvSpPr>
          <p:cNvPr name="TextBox 15" id="15"/>
          <p:cNvSpPr txBox="true"/>
          <p:nvPr/>
        </p:nvSpPr>
        <p:spPr>
          <a:xfrm rot="0">
            <a:off x="13402382" y="993352"/>
            <a:ext cx="2850172" cy="621030"/>
          </a:xfrm>
          <a:prstGeom prst="rect">
            <a:avLst/>
          </a:prstGeom>
        </p:spPr>
        <p:txBody>
          <a:bodyPr anchor="t" rtlCol="false" tIns="0" lIns="0" bIns="0" rIns="0">
            <a:spAutoFit/>
          </a:bodyPr>
          <a:lstStyle/>
          <a:p>
            <a:pPr algn="r">
              <a:lnSpc>
                <a:spcPts val="2520"/>
              </a:lnSpc>
            </a:pPr>
            <a:r>
              <a:rPr lang="en-US" sz="1800" spc="-72">
                <a:solidFill>
                  <a:srgbClr val="403E3E"/>
                </a:solidFill>
                <a:latin typeface="Inter"/>
                <a:ea typeface="Inter"/>
                <a:cs typeface="Inter"/>
                <a:sym typeface="Inter"/>
              </a:rPr>
              <a:t>NOV 2025</a:t>
            </a:r>
          </a:p>
          <a:p>
            <a:pPr algn="r" marL="0" indent="0" lvl="0">
              <a:lnSpc>
                <a:spcPts val="2520"/>
              </a:lnSpc>
              <a:spcBef>
                <a:spcPct val="0"/>
              </a:spcBef>
            </a:pPr>
          </a:p>
        </p:txBody>
      </p:sp>
      <p:sp>
        <p:nvSpPr>
          <p:cNvPr name="AutoShape 16" id="16"/>
          <p:cNvSpPr/>
          <p:nvPr/>
        </p:nvSpPr>
        <p:spPr>
          <a:xfrm flipV="true">
            <a:off x="1028700" y="6026749"/>
            <a:ext cx="15313002" cy="0"/>
          </a:xfrm>
          <a:prstGeom prst="line">
            <a:avLst/>
          </a:prstGeom>
          <a:ln cap="flat" w="9525">
            <a:solidFill>
              <a:srgbClr val="000000"/>
            </a:solidFill>
            <a:prstDash val="sysDot"/>
            <a:headEnd type="none" len="sm" w="sm"/>
            <a:tailEnd type="none" len="sm" w="sm"/>
          </a:ln>
        </p:spPr>
      </p:sp>
      <p:sp>
        <p:nvSpPr>
          <p:cNvPr name="Freeform 17" id="17"/>
          <p:cNvSpPr/>
          <p:nvPr/>
        </p:nvSpPr>
        <p:spPr>
          <a:xfrm flipH="false" flipV="false" rot="5400000">
            <a:off x="15018000" y="3173461"/>
            <a:ext cx="948381" cy="1520727"/>
          </a:xfrm>
          <a:custGeom>
            <a:avLst/>
            <a:gdLst/>
            <a:ahLst/>
            <a:cxnLst/>
            <a:rect r="r" b="b" t="t" l="l"/>
            <a:pathLst>
              <a:path h="1520727" w="948381">
                <a:moveTo>
                  <a:pt x="0" y="0"/>
                </a:moveTo>
                <a:lnTo>
                  <a:pt x="948381" y="0"/>
                </a:lnTo>
                <a:lnTo>
                  <a:pt x="948381" y="1520728"/>
                </a:lnTo>
                <a:lnTo>
                  <a:pt x="0" y="15207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1028700" y="787675"/>
            <a:ext cx="2476770" cy="1024764"/>
          </a:xfrm>
          <a:custGeom>
            <a:avLst/>
            <a:gdLst/>
            <a:ahLst/>
            <a:cxnLst/>
            <a:rect r="r" b="b" t="t" l="l"/>
            <a:pathLst>
              <a:path h="1024764" w="2476770">
                <a:moveTo>
                  <a:pt x="0" y="0"/>
                </a:moveTo>
                <a:lnTo>
                  <a:pt x="2476770" y="0"/>
                </a:lnTo>
                <a:lnTo>
                  <a:pt x="2476770" y="1024764"/>
                </a:lnTo>
                <a:lnTo>
                  <a:pt x="0" y="1024764"/>
                </a:lnTo>
                <a:lnTo>
                  <a:pt x="0" y="0"/>
                </a:lnTo>
                <a:close/>
              </a:path>
            </a:pathLst>
          </a:custGeom>
          <a:blipFill>
            <a:blip r:embed="rId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AF6"/>
        </a:solidFill>
      </p:bgPr>
    </p:bg>
    <p:spTree>
      <p:nvGrpSpPr>
        <p:cNvPr id="1" name=""/>
        <p:cNvGrpSpPr/>
        <p:nvPr/>
      </p:nvGrpSpPr>
      <p:grpSpPr>
        <a:xfrm>
          <a:off x="0" y="0"/>
          <a:ext cx="0" cy="0"/>
          <a:chOff x="0" y="0"/>
          <a:chExt cx="0" cy="0"/>
        </a:xfrm>
      </p:grpSpPr>
      <p:sp>
        <p:nvSpPr>
          <p:cNvPr name="AutoShape 2" id="2"/>
          <p:cNvSpPr/>
          <p:nvPr/>
        </p:nvSpPr>
        <p:spPr>
          <a:xfrm>
            <a:off x="-612992" y="9253537"/>
            <a:ext cx="12396242" cy="0"/>
          </a:xfrm>
          <a:prstGeom prst="line">
            <a:avLst/>
          </a:prstGeom>
          <a:ln cap="flat" w="9525">
            <a:solidFill>
              <a:srgbClr val="403E3E"/>
            </a:solidFill>
            <a:prstDash val="solid"/>
            <a:headEnd type="none" len="sm" w="sm"/>
            <a:tailEnd type="none" len="sm" w="sm"/>
          </a:ln>
        </p:spPr>
      </p:sp>
      <p:sp>
        <p:nvSpPr>
          <p:cNvPr name="AutoShape 3" id="3"/>
          <p:cNvSpPr/>
          <p:nvPr/>
        </p:nvSpPr>
        <p:spPr>
          <a:xfrm flipV="true">
            <a:off x="-462152" y="1033462"/>
            <a:ext cx="19212305" cy="0"/>
          </a:xfrm>
          <a:prstGeom prst="line">
            <a:avLst/>
          </a:prstGeom>
          <a:ln cap="flat" w="9525">
            <a:solidFill>
              <a:srgbClr val="403E3E"/>
            </a:solidFill>
            <a:prstDash val="solid"/>
            <a:headEnd type="none" len="sm" w="sm"/>
            <a:tailEnd type="none" len="sm" w="sm"/>
          </a:ln>
        </p:spPr>
      </p:sp>
      <p:sp>
        <p:nvSpPr>
          <p:cNvPr name="AutoShape 4" id="4"/>
          <p:cNvSpPr/>
          <p:nvPr/>
        </p:nvSpPr>
        <p:spPr>
          <a:xfrm>
            <a:off x="-462152" y="2924738"/>
            <a:ext cx="12245402" cy="0"/>
          </a:xfrm>
          <a:prstGeom prst="line">
            <a:avLst/>
          </a:prstGeom>
          <a:ln cap="flat" w="9525">
            <a:solidFill>
              <a:srgbClr val="403E3E"/>
            </a:solidFill>
            <a:prstDash val="solid"/>
            <a:headEnd type="none" len="sm" w="sm"/>
            <a:tailEnd type="none" len="sm" w="sm"/>
          </a:ln>
        </p:spPr>
      </p:sp>
      <p:sp>
        <p:nvSpPr>
          <p:cNvPr name="TextBox 5" id="5"/>
          <p:cNvSpPr txBox="true"/>
          <p:nvPr/>
        </p:nvSpPr>
        <p:spPr>
          <a:xfrm rot="0">
            <a:off x="2757560" y="1414305"/>
            <a:ext cx="12860382" cy="902411"/>
          </a:xfrm>
          <a:prstGeom prst="rect">
            <a:avLst/>
          </a:prstGeom>
        </p:spPr>
        <p:txBody>
          <a:bodyPr anchor="t" rtlCol="false" tIns="0" lIns="0" bIns="0" rIns="0">
            <a:spAutoFit/>
          </a:bodyPr>
          <a:lstStyle/>
          <a:p>
            <a:pPr algn="ctr">
              <a:lnSpc>
                <a:spcPts val="3334"/>
              </a:lnSpc>
            </a:pPr>
            <a:r>
              <a:rPr lang="en-US" b="true" sz="4387" spc="-96">
                <a:solidFill>
                  <a:srgbClr val="403E3E"/>
                </a:solidFill>
                <a:latin typeface="Arial Nova Bold"/>
                <a:ea typeface="Arial Nova Bold"/>
                <a:cs typeface="Arial Nova Bold"/>
                <a:sym typeface="Arial Nova Bold"/>
              </a:rPr>
              <a:t>3.2 PSEUDOCODE</a:t>
            </a:r>
          </a:p>
          <a:p>
            <a:pPr algn="ctr" marL="0" indent="0" lvl="0">
              <a:lnSpc>
                <a:spcPts val="3334"/>
              </a:lnSpc>
              <a:spcBef>
                <a:spcPct val="0"/>
              </a:spcBef>
            </a:pPr>
          </a:p>
        </p:txBody>
      </p:sp>
      <p:sp>
        <p:nvSpPr>
          <p:cNvPr name="TextBox 6" id="6"/>
          <p:cNvSpPr txBox="true"/>
          <p:nvPr/>
        </p:nvSpPr>
        <p:spPr>
          <a:xfrm rot="0">
            <a:off x="1326352" y="9596713"/>
            <a:ext cx="4237173" cy="656590"/>
          </a:xfrm>
          <a:prstGeom prst="rect">
            <a:avLst/>
          </a:prstGeom>
        </p:spPr>
        <p:txBody>
          <a:bodyPr anchor="t" rtlCol="false" tIns="0" lIns="0" bIns="0" rIns="0">
            <a:spAutoFit/>
          </a:bodyPr>
          <a:lstStyle/>
          <a:p>
            <a:pPr algn="l">
              <a:lnSpc>
                <a:spcPts val="2660"/>
              </a:lnSpc>
            </a:pPr>
            <a:r>
              <a:rPr lang="en-US" sz="1900" spc="-104">
                <a:solidFill>
                  <a:srgbClr val="403E3E"/>
                </a:solidFill>
                <a:latin typeface="Mukti"/>
                <a:ea typeface="Mukti"/>
                <a:cs typeface="Mukti"/>
                <a:sym typeface="Mukti"/>
              </a:rPr>
              <a:t>NOV 2025</a:t>
            </a:r>
          </a:p>
          <a:p>
            <a:pPr algn="l">
              <a:lnSpc>
                <a:spcPts val="2660"/>
              </a:lnSpc>
            </a:pPr>
          </a:p>
        </p:txBody>
      </p:sp>
      <p:sp>
        <p:nvSpPr>
          <p:cNvPr name="TextBox 7" id="7"/>
          <p:cNvSpPr txBox="true"/>
          <p:nvPr/>
        </p:nvSpPr>
        <p:spPr>
          <a:xfrm rot="0">
            <a:off x="10872860" y="9596713"/>
            <a:ext cx="6863668" cy="656590"/>
          </a:xfrm>
          <a:prstGeom prst="rect">
            <a:avLst/>
          </a:prstGeom>
        </p:spPr>
        <p:txBody>
          <a:bodyPr anchor="t" rtlCol="false" tIns="0" lIns="0" bIns="0" rIns="0">
            <a:spAutoFit/>
          </a:bodyPr>
          <a:lstStyle/>
          <a:p>
            <a:pPr algn="r">
              <a:lnSpc>
                <a:spcPts val="2660"/>
              </a:lnSpc>
            </a:pPr>
            <a:r>
              <a:rPr lang="en-US" sz="1900" spc="-104">
                <a:solidFill>
                  <a:srgbClr val="403E3E"/>
                </a:solidFill>
                <a:latin typeface="Mukti"/>
                <a:ea typeface="Mukti"/>
                <a:cs typeface="Mukti"/>
                <a:sym typeface="Mukti"/>
              </a:rPr>
              <a:t>HO CHI MINH CITY UNIVERSITY OF TRANSPORT</a:t>
            </a:r>
          </a:p>
          <a:p>
            <a:pPr algn="r">
              <a:lnSpc>
                <a:spcPts val="2660"/>
              </a:lnSpc>
            </a:pPr>
          </a:p>
        </p:txBody>
      </p:sp>
      <p:sp>
        <p:nvSpPr>
          <p:cNvPr name="TextBox 8" id="8"/>
          <p:cNvSpPr txBox="true"/>
          <p:nvPr/>
        </p:nvSpPr>
        <p:spPr>
          <a:xfrm rot="0">
            <a:off x="2757560" y="4387338"/>
            <a:ext cx="8115300" cy="3432175"/>
          </a:xfrm>
          <a:prstGeom prst="rect">
            <a:avLst/>
          </a:prstGeom>
        </p:spPr>
        <p:txBody>
          <a:bodyPr anchor="t" rtlCol="false" tIns="0" lIns="0" bIns="0" rIns="0">
            <a:spAutoFit/>
          </a:bodyPr>
          <a:lstStyle/>
          <a:p>
            <a:pPr algn="just">
              <a:lnSpc>
                <a:spcPts val="2749"/>
              </a:lnSpc>
            </a:pPr>
            <a:r>
              <a:rPr lang="en-US" sz="2499" spc="-137">
                <a:solidFill>
                  <a:srgbClr val="403E3E"/>
                </a:solidFill>
                <a:latin typeface="Mukti"/>
                <a:ea typeface="Mukti"/>
                <a:cs typeface="Mukti"/>
                <a:sym typeface="Mukti"/>
              </a:rPr>
              <a:t>Start</a:t>
            </a:r>
          </a:p>
          <a:p>
            <a:pPr algn="just">
              <a:lnSpc>
                <a:spcPts val="2749"/>
              </a:lnSpc>
            </a:pPr>
            <a:r>
              <a:rPr lang="en-US" sz="2499" spc="-137">
                <a:solidFill>
                  <a:srgbClr val="403E3E"/>
                </a:solidFill>
                <a:latin typeface="Mukti"/>
                <a:ea typeface="Mukti"/>
                <a:cs typeface="Mukti"/>
                <a:sym typeface="Mukti"/>
              </a:rPr>
              <a:t>   Sort all processes by Arrival_Time</a:t>
            </a:r>
          </a:p>
          <a:p>
            <a:pPr algn="just">
              <a:lnSpc>
                <a:spcPts val="2749"/>
              </a:lnSpc>
            </a:pPr>
            <a:r>
              <a:rPr lang="en-US" sz="2499" spc="-137">
                <a:solidFill>
                  <a:srgbClr val="403E3E"/>
                </a:solidFill>
                <a:latin typeface="Mukti"/>
                <a:ea typeface="Mukti"/>
                <a:cs typeface="Mukti"/>
                <a:sym typeface="Mukti"/>
              </a:rPr>
              <a:t>   Time = 0</a:t>
            </a:r>
          </a:p>
          <a:p>
            <a:pPr algn="just">
              <a:lnSpc>
                <a:spcPts val="2749"/>
              </a:lnSpc>
            </a:pPr>
            <a:r>
              <a:rPr lang="en-US" sz="2499" spc="-137">
                <a:solidFill>
                  <a:srgbClr val="403E3E"/>
                </a:solidFill>
                <a:latin typeface="Mukti"/>
                <a:ea typeface="Mukti"/>
                <a:cs typeface="Mukti"/>
                <a:sym typeface="Mukti"/>
              </a:rPr>
              <a:t>   For each process P in sorted order:</a:t>
            </a:r>
          </a:p>
          <a:p>
            <a:pPr algn="just">
              <a:lnSpc>
                <a:spcPts val="2749"/>
              </a:lnSpc>
            </a:pPr>
            <a:r>
              <a:rPr lang="en-US" sz="2499" spc="-137">
                <a:solidFill>
                  <a:srgbClr val="403E3E"/>
                </a:solidFill>
                <a:latin typeface="Mukti"/>
                <a:ea typeface="Mukti"/>
                <a:cs typeface="Mukti"/>
                <a:sym typeface="Mukti"/>
              </a:rPr>
              <a:t>    If Time &lt; P.Arrival_Time → Time = P.Arrival_Time</a:t>
            </a:r>
          </a:p>
          <a:p>
            <a:pPr algn="just">
              <a:lnSpc>
                <a:spcPts val="2749"/>
              </a:lnSpc>
            </a:pPr>
            <a:r>
              <a:rPr lang="en-US" sz="2499" spc="-137">
                <a:solidFill>
                  <a:srgbClr val="403E3E"/>
                </a:solidFill>
                <a:latin typeface="Mukti"/>
                <a:ea typeface="Mukti"/>
                <a:cs typeface="Mukti"/>
                <a:sym typeface="Mukti"/>
              </a:rPr>
              <a:t>    P.Start = Time</a:t>
            </a:r>
          </a:p>
          <a:p>
            <a:pPr algn="just">
              <a:lnSpc>
                <a:spcPts val="2749"/>
              </a:lnSpc>
            </a:pPr>
            <a:r>
              <a:rPr lang="en-US" sz="2499" spc="-137">
                <a:solidFill>
                  <a:srgbClr val="403E3E"/>
                </a:solidFill>
                <a:latin typeface="Mukti"/>
                <a:ea typeface="Mukti"/>
                <a:cs typeface="Mukti"/>
                <a:sym typeface="Mukti"/>
              </a:rPr>
              <a:t>    P.Completion = Time + P.Burst</a:t>
            </a:r>
          </a:p>
          <a:p>
            <a:pPr algn="just">
              <a:lnSpc>
                <a:spcPts val="2749"/>
              </a:lnSpc>
            </a:pPr>
            <a:r>
              <a:rPr lang="en-US" sz="2499" spc="-137">
                <a:solidFill>
                  <a:srgbClr val="403E3E"/>
                </a:solidFill>
                <a:latin typeface="Mukti"/>
                <a:ea typeface="Mukti"/>
                <a:cs typeface="Mukti"/>
                <a:sym typeface="Mukti"/>
              </a:rPr>
              <a:t>    Time = P.Completion</a:t>
            </a:r>
          </a:p>
          <a:p>
            <a:pPr algn="just">
              <a:lnSpc>
                <a:spcPts val="2749"/>
              </a:lnSpc>
            </a:pPr>
            <a:r>
              <a:rPr lang="en-US" sz="2499" spc="-137">
                <a:solidFill>
                  <a:srgbClr val="403E3E"/>
                </a:solidFill>
                <a:latin typeface="Mukti"/>
                <a:ea typeface="Mukti"/>
                <a:cs typeface="Mukti"/>
                <a:sym typeface="Mukti"/>
              </a:rPr>
              <a:t>End</a:t>
            </a:r>
          </a:p>
          <a:p>
            <a:pPr algn="just" marL="0" indent="0" lvl="0">
              <a:lnSpc>
                <a:spcPts val="2749"/>
              </a:lnSpc>
              <a:spcBef>
                <a:spcPct val="0"/>
              </a:spcBef>
            </a:pPr>
          </a:p>
        </p:txBody>
      </p:sp>
      <p:sp>
        <p:nvSpPr>
          <p:cNvPr name="TextBox 9" id="9"/>
          <p:cNvSpPr txBox="true"/>
          <p:nvPr/>
        </p:nvSpPr>
        <p:spPr>
          <a:xfrm rot="0">
            <a:off x="13499355" y="314960"/>
            <a:ext cx="4237173" cy="656590"/>
          </a:xfrm>
          <a:prstGeom prst="rect">
            <a:avLst/>
          </a:prstGeom>
        </p:spPr>
        <p:txBody>
          <a:bodyPr anchor="t" rtlCol="false" tIns="0" lIns="0" bIns="0" rIns="0">
            <a:spAutoFit/>
          </a:bodyPr>
          <a:lstStyle/>
          <a:p>
            <a:pPr algn="r">
              <a:lnSpc>
                <a:spcPts val="2660"/>
              </a:lnSpc>
            </a:pPr>
            <a:r>
              <a:rPr lang="en-US" sz="1900" spc="-104">
                <a:solidFill>
                  <a:srgbClr val="403E3E"/>
                </a:solidFill>
                <a:latin typeface="Mukti"/>
                <a:ea typeface="Mukti"/>
                <a:cs typeface="Mukti"/>
                <a:sym typeface="Mukti"/>
              </a:rPr>
              <a:t>NOV 2025</a:t>
            </a:r>
          </a:p>
          <a:p>
            <a:pPr algn="r">
              <a:lnSpc>
                <a:spcPts val="2660"/>
              </a:lnSpc>
            </a:pPr>
          </a:p>
        </p:txBody>
      </p:sp>
      <p:sp>
        <p:nvSpPr>
          <p:cNvPr name="TextBox 10" id="10"/>
          <p:cNvSpPr txBox="true"/>
          <p:nvPr/>
        </p:nvSpPr>
        <p:spPr>
          <a:xfrm rot="0">
            <a:off x="16990695" y="8951595"/>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10</a:t>
            </a:r>
          </a:p>
        </p:txBody>
      </p:sp>
      <p:sp>
        <p:nvSpPr>
          <p:cNvPr name="Freeform 11" id="11"/>
          <p:cNvSpPr/>
          <p:nvPr/>
        </p:nvSpPr>
        <p:spPr>
          <a:xfrm flipH="false" flipV="false" rot="0">
            <a:off x="541532" y="1233330"/>
            <a:ext cx="2476770" cy="1024764"/>
          </a:xfrm>
          <a:custGeom>
            <a:avLst/>
            <a:gdLst/>
            <a:ahLst/>
            <a:cxnLst/>
            <a:rect r="r" b="b" t="t" l="l"/>
            <a:pathLst>
              <a:path h="1024764" w="2476770">
                <a:moveTo>
                  <a:pt x="0" y="0"/>
                </a:moveTo>
                <a:lnTo>
                  <a:pt x="2476770" y="0"/>
                </a:lnTo>
                <a:lnTo>
                  <a:pt x="2476770" y="1024764"/>
                </a:lnTo>
                <a:lnTo>
                  <a:pt x="0" y="1024764"/>
                </a:lnTo>
                <a:lnTo>
                  <a:pt x="0" y="0"/>
                </a:lnTo>
                <a:close/>
              </a:path>
            </a:pathLst>
          </a:custGeom>
          <a:blipFill>
            <a:blip r:embed="rId2"/>
            <a:stretch>
              <a:fillRect l="0" t="0" r="0" b="0"/>
            </a:stretch>
          </a:blipFill>
        </p:spPr>
      </p:sp>
      <p:sp>
        <p:nvSpPr>
          <p:cNvPr name="Freeform 12" id="12"/>
          <p:cNvSpPr/>
          <p:nvPr/>
        </p:nvSpPr>
        <p:spPr>
          <a:xfrm flipH="false" flipV="false" rot="0">
            <a:off x="12567874" y="3704713"/>
            <a:ext cx="4183253" cy="4114800"/>
          </a:xfrm>
          <a:custGeom>
            <a:avLst/>
            <a:gdLst/>
            <a:ahLst/>
            <a:cxnLst/>
            <a:rect r="r" b="b" t="t" l="l"/>
            <a:pathLst>
              <a:path h="4114800" w="4183253">
                <a:moveTo>
                  <a:pt x="0" y="0"/>
                </a:moveTo>
                <a:lnTo>
                  <a:pt x="4183253" y="0"/>
                </a:lnTo>
                <a:lnTo>
                  <a:pt x="4183253"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AFAF6"/>
        </a:solidFill>
      </p:bgPr>
    </p:bg>
    <p:spTree>
      <p:nvGrpSpPr>
        <p:cNvPr id="1" name=""/>
        <p:cNvGrpSpPr/>
        <p:nvPr/>
      </p:nvGrpSpPr>
      <p:grpSpPr>
        <a:xfrm>
          <a:off x="0" y="0"/>
          <a:ext cx="0" cy="0"/>
          <a:chOff x="0" y="0"/>
          <a:chExt cx="0" cy="0"/>
        </a:xfrm>
      </p:grpSpPr>
      <p:sp>
        <p:nvSpPr>
          <p:cNvPr name="AutoShape 2" id="2"/>
          <p:cNvSpPr/>
          <p:nvPr/>
        </p:nvSpPr>
        <p:spPr>
          <a:xfrm>
            <a:off x="-612992" y="9253537"/>
            <a:ext cx="12396242" cy="0"/>
          </a:xfrm>
          <a:prstGeom prst="line">
            <a:avLst/>
          </a:prstGeom>
          <a:ln cap="flat" w="9525">
            <a:solidFill>
              <a:srgbClr val="403E3E"/>
            </a:solidFill>
            <a:prstDash val="solid"/>
            <a:headEnd type="none" len="sm" w="sm"/>
            <a:tailEnd type="none" len="sm" w="sm"/>
          </a:ln>
        </p:spPr>
      </p:sp>
      <p:sp>
        <p:nvSpPr>
          <p:cNvPr name="AutoShape 3" id="3"/>
          <p:cNvSpPr/>
          <p:nvPr/>
        </p:nvSpPr>
        <p:spPr>
          <a:xfrm flipV="true">
            <a:off x="-462152" y="1033462"/>
            <a:ext cx="19212305" cy="0"/>
          </a:xfrm>
          <a:prstGeom prst="line">
            <a:avLst/>
          </a:prstGeom>
          <a:ln cap="flat" w="9525">
            <a:solidFill>
              <a:srgbClr val="403E3E"/>
            </a:solidFill>
            <a:prstDash val="solid"/>
            <a:headEnd type="none" len="sm" w="sm"/>
            <a:tailEnd type="none" len="sm" w="sm"/>
          </a:ln>
        </p:spPr>
      </p:sp>
      <p:sp>
        <p:nvSpPr>
          <p:cNvPr name="AutoShape 4" id="4"/>
          <p:cNvSpPr/>
          <p:nvPr/>
        </p:nvSpPr>
        <p:spPr>
          <a:xfrm>
            <a:off x="-462152" y="2924738"/>
            <a:ext cx="12245402" cy="0"/>
          </a:xfrm>
          <a:prstGeom prst="line">
            <a:avLst/>
          </a:prstGeom>
          <a:ln cap="flat" w="9525">
            <a:solidFill>
              <a:srgbClr val="403E3E"/>
            </a:solidFill>
            <a:prstDash val="solid"/>
            <a:headEnd type="none" len="sm" w="sm"/>
            <a:tailEnd type="none" len="sm" w="sm"/>
          </a:ln>
        </p:spPr>
      </p:sp>
      <p:sp>
        <p:nvSpPr>
          <p:cNvPr name="TextBox 5" id="5"/>
          <p:cNvSpPr txBox="true"/>
          <p:nvPr/>
        </p:nvSpPr>
        <p:spPr>
          <a:xfrm rot="0">
            <a:off x="16990695" y="8951595"/>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11</a:t>
            </a:r>
          </a:p>
        </p:txBody>
      </p:sp>
      <p:sp>
        <p:nvSpPr>
          <p:cNvPr name="TextBox 6" id="6"/>
          <p:cNvSpPr txBox="true"/>
          <p:nvPr/>
        </p:nvSpPr>
        <p:spPr>
          <a:xfrm rot="0">
            <a:off x="2757560" y="1414305"/>
            <a:ext cx="12860382" cy="910516"/>
          </a:xfrm>
          <a:prstGeom prst="rect">
            <a:avLst/>
          </a:prstGeom>
        </p:spPr>
        <p:txBody>
          <a:bodyPr anchor="t" rtlCol="false" tIns="0" lIns="0" bIns="0" rIns="0">
            <a:spAutoFit/>
          </a:bodyPr>
          <a:lstStyle/>
          <a:p>
            <a:pPr algn="ctr">
              <a:lnSpc>
                <a:spcPts val="3334"/>
              </a:lnSpc>
            </a:pPr>
            <a:r>
              <a:rPr lang="en-US" b="true" sz="4387" spc="-96">
                <a:solidFill>
                  <a:srgbClr val="403E3E"/>
                </a:solidFill>
                <a:latin typeface="Arial Nova Bold"/>
                <a:ea typeface="Arial Nova Bold"/>
                <a:cs typeface="Arial Nova Bold"/>
                <a:sym typeface="Arial Nova Bold"/>
              </a:rPr>
              <a:t>3.2.1 EXPLANATION</a:t>
            </a:r>
          </a:p>
          <a:p>
            <a:pPr algn="ctr" marL="0" indent="0" lvl="0">
              <a:lnSpc>
                <a:spcPts val="3334"/>
              </a:lnSpc>
              <a:spcBef>
                <a:spcPct val="0"/>
              </a:spcBef>
            </a:pPr>
          </a:p>
        </p:txBody>
      </p:sp>
      <p:sp>
        <p:nvSpPr>
          <p:cNvPr name="TextBox 7" id="7"/>
          <p:cNvSpPr txBox="true"/>
          <p:nvPr/>
        </p:nvSpPr>
        <p:spPr>
          <a:xfrm rot="0">
            <a:off x="1326352" y="9596713"/>
            <a:ext cx="4237173" cy="656590"/>
          </a:xfrm>
          <a:prstGeom prst="rect">
            <a:avLst/>
          </a:prstGeom>
        </p:spPr>
        <p:txBody>
          <a:bodyPr anchor="t" rtlCol="false" tIns="0" lIns="0" bIns="0" rIns="0">
            <a:spAutoFit/>
          </a:bodyPr>
          <a:lstStyle/>
          <a:p>
            <a:pPr algn="l">
              <a:lnSpc>
                <a:spcPts val="2660"/>
              </a:lnSpc>
            </a:pPr>
            <a:r>
              <a:rPr lang="en-US" sz="1900" spc="-104">
                <a:solidFill>
                  <a:srgbClr val="403E3E"/>
                </a:solidFill>
                <a:latin typeface="Mukti"/>
                <a:ea typeface="Mukti"/>
                <a:cs typeface="Mukti"/>
                <a:sym typeface="Mukti"/>
              </a:rPr>
              <a:t>NOV 2025</a:t>
            </a:r>
          </a:p>
          <a:p>
            <a:pPr algn="l">
              <a:lnSpc>
                <a:spcPts val="2660"/>
              </a:lnSpc>
            </a:pPr>
          </a:p>
        </p:txBody>
      </p:sp>
      <p:sp>
        <p:nvSpPr>
          <p:cNvPr name="TextBox 8" id="8"/>
          <p:cNvSpPr txBox="true"/>
          <p:nvPr/>
        </p:nvSpPr>
        <p:spPr>
          <a:xfrm rot="0">
            <a:off x="11216194" y="9596713"/>
            <a:ext cx="6520334" cy="656590"/>
          </a:xfrm>
          <a:prstGeom prst="rect">
            <a:avLst/>
          </a:prstGeom>
        </p:spPr>
        <p:txBody>
          <a:bodyPr anchor="t" rtlCol="false" tIns="0" lIns="0" bIns="0" rIns="0">
            <a:spAutoFit/>
          </a:bodyPr>
          <a:lstStyle/>
          <a:p>
            <a:pPr algn="r">
              <a:lnSpc>
                <a:spcPts val="2660"/>
              </a:lnSpc>
            </a:pPr>
            <a:r>
              <a:rPr lang="en-US" sz="1900" spc="-104">
                <a:solidFill>
                  <a:srgbClr val="403E3E"/>
                </a:solidFill>
                <a:latin typeface="Mukti"/>
                <a:ea typeface="Mukti"/>
                <a:cs typeface="Mukti"/>
                <a:sym typeface="Mukti"/>
              </a:rPr>
              <a:t>HO CHI MINH CITY UNIVERSITY OF TRANSPORT</a:t>
            </a:r>
          </a:p>
          <a:p>
            <a:pPr algn="r">
              <a:lnSpc>
                <a:spcPts val="2660"/>
              </a:lnSpc>
            </a:pPr>
          </a:p>
        </p:txBody>
      </p:sp>
      <p:sp>
        <p:nvSpPr>
          <p:cNvPr name="TextBox 9" id="9"/>
          <p:cNvSpPr txBox="true"/>
          <p:nvPr/>
        </p:nvSpPr>
        <p:spPr>
          <a:xfrm rot="0">
            <a:off x="2757560" y="4387338"/>
            <a:ext cx="8115300" cy="3432175"/>
          </a:xfrm>
          <a:prstGeom prst="rect">
            <a:avLst/>
          </a:prstGeom>
        </p:spPr>
        <p:txBody>
          <a:bodyPr anchor="t" rtlCol="false" tIns="0" lIns="0" bIns="0" rIns="0">
            <a:spAutoFit/>
          </a:bodyPr>
          <a:lstStyle/>
          <a:p>
            <a:pPr algn="just">
              <a:lnSpc>
                <a:spcPts val="2749"/>
              </a:lnSpc>
            </a:pPr>
            <a:r>
              <a:rPr lang="en-US" sz="2499" spc="-137">
                <a:solidFill>
                  <a:srgbClr val="403E3E"/>
                </a:solidFill>
                <a:latin typeface="Mukti"/>
                <a:ea typeface="Mukti"/>
                <a:cs typeface="Mukti"/>
                <a:sym typeface="Mukti"/>
              </a:rPr>
              <a:t>Processes are sorted by arrival time.</a:t>
            </a:r>
          </a:p>
          <a:p>
            <a:pPr algn="just">
              <a:lnSpc>
                <a:spcPts val="2749"/>
              </a:lnSpc>
            </a:pPr>
            <a:r>
              <a:rPr lang="en-US" sz="2499" spc="-137">
                <a:solidFill>
                  <a:srgbClr val="403E3E"/>
                </a:solidFill>
                <a:latin typeface="Mukti"/>
                <a:ea typeface="Mukti"/>
                <a:cs typeface="Mukti"/>
                <a:sym typeface="Mukti"/>
              </a:rPr>
              <a:t>If the CPU is idle (Time &lt; Arrival Time), an IDLE period is inserted.</a:t>
            </a:r>
          </a:p>
          <a:p>
            <a:pPr algn="just">
              <a:lnSpc>
                <a:spcPts val="2749"/>
              </a:lnSpc>
            </a:pPr>
            <a:r>
              <a:rPr lang="en-US" sz="2499" spc="-137">
                <a:solidFill>
                  <a:srgbClr val="403E3E"/>
                </a:solidFill>
                <a:latin typeface="Mukti"/>
                <a:ea typeface="Mukti"/>
                <a:cs typeface="Mukti"/>
                <a:sym typeface="Mukti"/>
              </a:rPr>
              <a:t>Start time (ST) and completion time (CT) are assigned for each process.</a:t>
            </a:r>
          </a:p>
          <a:p>
            <a:pPr algn="just">
              <a:lnSpc>
                <a:spcPts val="2749"/>
              </a:lnSpc>
            </a:pPr>
            <a:r>
              <a:rPr lang="en-US" sz="2499" spc="-137">
                <a:solidFill>
                  <a:srgbClr val="403E3E"/>
                </a:solidFill>
                <a:latin typeface="Mukti"/>
                <a:ea typeface="Mukti"/>
                <a:cs typeface="Mukti"/>
                <a:sym typeface="Mukti"/>
              </a:rPr>
              <a:t>The following performance metrics are calculated:</a:t>
            </a:r>
          </a:p>
          <a:p>
            <a:pPr algn="just">
              <a:lnSpc>
                <a:spcPts val="2749"/>
              </a:lnSpc>
            </a:pPr>
            <a:r>
              <a:rPr lang="en-US" b="true" sz="2499" spc="-137">
                <a:solidFill>
                  <a:srgbClr val="403E3E"/>
                </a:solidFill>
                <a:latin typeface="Mukti"/>
                <a:ea typeface="Mukti"/>
                <a:cs typeface="Mukti"/>
                <a:sym typeface="Mukti"/>
              </a:rPr>
              <a:t>Turnaround Time (TAT) = CT – AT</a:t>
            </a:r>
          </a:p>
          <a:p>
            <a:pPr algn="just">
              <a:lnSpc>
                <a:spcPts val="2749"/>
              </a:lnSpc>
            </a:pPr>
            <a:r>
              <a:rPr lang="en-US" b="true" sz="2499" spc="-137">
                <a:solidFill>
                  <a:srgbClr val="403E3E"/>
                </a:solidFill>
                <a:latin typeface="Mukti"/>
                <a:ea typeface="Mukti"/>
                <a:cs typeface="Mukti"/>
                <a:sym typeface="Mukti"/>
              </a:rPr>
              <a:t>Waiting Time (WT) = TAT – BT</a:t>
            </a:r>
          </a:p>
          <a:p>
            <a:pPr algn="just">
              <a:lnSpc>
                <a:spcPts val="2749"/>
              </a:lnSpc>
            </a:pPr>
            <a:r>
              <a:rPr lang="en-US" b="true" sz="2499" spc="-137">
                <a:solidFill>
                  <a:srgbClr val="403E3E"/>
                </a:solidFill>
                <a:latin typeface="Mukti"/>
                <a:ea typeface="Mukti"/>
                <a:cs typeface="Mukti"/>
                <a:sym typeface="Mukti"/>
              </a:rPr>
              <a:t>Response Time = ST – AT</a:t>
            </a:r>
          </a:p>
          <a:p>
            <a:pPr algn="just" marL="0" indent="0" lvl="0">
              <a:lnSpc>
                <a:spcPts val="2749"/>
              </a:lnSpc>
              <a:spcBef>
                <a:spcPct val="0"/>
              </a:spcBef>
            </a:pPr>
          </a:p>
        </p:txBody>
      </p:sp>
      <p:sp>
        <p:nvSpPr>
          <p:cNvPr name="TextBox 10" id="10"/>
          <p:cNvSpPr txBox="true"/>
          <p:nvPr/>
        </p:nvSpPr>
        <p:spPr>
          <a:xfrm rot="0">
            <a:off x="13499355" y="314960"/>
            <a:ext cx="4237173" cy="656590"/>
          </a:xfrm>
          <a:prstGeom prst="rect">
            <a:avLst/>
          </a:prstGeom>
        </p:spPr>
        <p:txBody>
          <a:bodyPr anchor="t" rtlCol="false" tIns="0" lIns="0" bIns="0" rIns="0">
            <a:spAutoFit/>
          </a:bodyPr>
          <a:lstStyle/>
          <a:p>
            <a:pPr algn="r">
              <a:lnSpc>
                <a:spcPts val="2660"/>
              </a:lnSpc>
            </a:pPr>
            <a:r>
              <a:rPr lang="en-US" sz="1900" spc="-104">
                <a:solidFill>
                  <a:srgbClr val="403E3E"/>
                </a:solidFill>
                <a:latin typeface="Mukti"/>
                <a:ea typeface="Mukti"/>
                <a:cs typeface="Mukti"/>
                <a:sym typeface="Mukti"/>
              </a:rPr>
              <a:t>NOV 2025</a:t>
            </a:r>
          </a:p>
          <a:p>
            <a:pPr algn="r">
              <a:lnSpc>
                <a:spcPts val="2660"/>
              </a:lnSpc>
            </a:pPr>
          </a:p>
        </p:txBody>
      </p:sp>
      <p:sp>
        <p:nvSpPr>
          <p:cNvPr name="Freeform 11" id="11"/>
          <p:cNvSpPr/>
          <p:nvPr/>
        </p:nvSpPr>
        <p:spPr>
          <a:xfrm flipH="false" flipV="false" rot="0">
            <a:off x="1028700" y="1233330"/>
            <a:ext cx="2476770" cy="1024764"/>
          </a:xfrm>
          <a:custGeom>
            <a:avLst/>
            <a:gdLst/>
            <a:ahLst/>
            <a:cxnLst/>
            <a:rect r="r" b="b" t="t" l="l"/>
            <a:pathLst>
              <a:path h="1024764" w="2476770">
                <a:moveTo>
                  <a:pt x="0" y="0"/>
                </a:moveTo>
                <a:lnTo>
                  <a:pt x="2476770" y="0"/>
                </a:lnTo>
                <a:lnTo>
                  <a:pt x="2476770" y="1024764"/>
                </a:lnTo>
                <a:lnTo>
                  <a:pt x="0" y="1024764"/>
                </a:lnTo>
                <a:lnTo>
                  <a:pt x="0" y="0"/>
                </a:lnTo>
                <a:close/>
              </a:path>
            </a:pathLst>
          </a:custGeom>
          <a:blipFill>
            <a:blip r:embed="rId2"/>
            <a:stretch>
              <a:fillRect l="0" t="0" r="0" b="0"/>
            </a:stretch>
          </a:blipFill>
        </p:spPr>
      </p:sp>
      <p:sp>
        <p:nvSpPr>
          <p:cNvPr name="Freeform 12" id="12"/>
          <p:cNvSpPr/>
          <p:nvPr/>
        </p:nvSpPr>
        <p:spPr>
          <a:xfrm flipH="false" flipV="false" rot="0">
            <a:off x="12557529" y="3704713"/>
            <a:ext cx="4222276" cy="4114800"/>
          </a:xfrm>
          <a:custGeom>
            <a:avLst/>
            <a:gdLst/>
            <a:ahLst/>
            <a:cxnLst/>
            <a:rect r="r" b="b" t="t" l="l"/>
            <a:pathLst>
              <a:path h="4114800" w="4222276">
                <a:moveTo>
                  <a:pt x="0" y="0"/>
                </a:moveTo>
                <a:lnTo>
                  <a:pt x="4222276" y="0"/>
                </a:lnTo>
                <a:lnTo>
                  <a:pt x="4222276"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6F5F3"/>
        </a:solidFill>
      </p:bgPr>
    </p:bg>
    <p:spTree>
      <p:nvGrpSpPr>
        <p:cNvPr id="1" name=""/>
        <p:cNvGrpSpPr/>
        <p:nvPr/>
      </p:nvGrpSpPr>
      <p:grpSpPr>
        <a:xfrm>
          <a:off x="0" y="0"/>
          <a:ext cx="0" cy="0"/>
          <a:chOff x="0" y="0"/>
          <a:chExt cx="0" cy="0"/>
        </a:xfrm>
      </p:grpSpPr>
      <p:grpSp>
        <p:nvGrpSpPr>
          <p:cNvPr name="Group 2" id="2"/>
          <p:cNvGrpSpPr/>
          <p:nvPr/>
        </p:nvGrpSpPr>
        <p:grpSpPr>
          <a:xfrm rot="5400000">
            <a:off x="12432431" y="4605338"/>
            <a:ext cx="10730064" cy="1076325"/>
            <a:chOff x="0" y="0"/>
            <a:chExt cx="3845413" cy="385731"/>
          </a:xfrm>
        </p:grpSpPr>
        <p:sp>
          <p:nvSpPr>
            <p:cNvPr name="Freeform 3" id="3"/>
            <p:cNvSpPr/>
            <p:nvPr/>
          </p:nvSpPr>
          <p:spPr>
            <a:xfrm flipH="false" flipV="false" rot="0">
              <a:off x="0" y="0"/>
              <a:ext cx="3845413" cy="385731"/>
            </a:xfrm>
            <a:custGeom>
              <a:avLst/>
              <a:gdLst/>
              <a:ahLst/>
              <a:cxnLst/>
              <a:rect r="r" b="b" t="t" l="l"/>
              <a:pathLst>
                <a:path h="385731" w="3845413">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sp>
        <p:sp>
          <p:nvSpPr>
            <p:cNvPr name="TextBox 4" id="4"/>
            <p:cNvSpPr txBox="true"/>
            <p:nvPr/>
          </p:nvSpPr>
          <p:spPr>
            <a:xfrm>
              <a:off x="0" y="-47625"/>
              <a:ext cx="3845413" cy="433356"/>
            </a:xfrm>
            <a:prstGeom prst="rect">
              <a:avLst/>
            </a:prstGeom>
          </p:spPr>
          <p:txBody>
            <a:bodyPr anchor="ctr" rtlCol="false" tIns="50800" lIns="50800" bIns="50800" rIns="50800"/>
            <a:lstStyle/>
            <a:p>
              <a:pPr algn="ctr">
                <a:lnSpc>
                  <a:spcPts val="1960"/>
                </a:lnSpc>
              </a:pPr>
            </a:p>
          </p:txBody>
        </p:sp>
      </p:grpSp>
      <p:sp>
        <p:nvSpPr>
          <p:cNvPr name="TextBox 5" id="5"/>
          <p:cNvSpPr txBox="true"/>
          <p:nvPr/>
        </p:nvSpPr>
        <p:spPr>
          <a:xfrm rot="0">
            <a:off x="15502158" y="8951595"/>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12</a:t>
            </a:r>
          </a:p>
        </p:txBody>
      </p:sp>
      <p:sp>
        <p:nvSpPr>
          <p:cNvPr name="TextBox 6" id="6"/>
          <p:cNvSpPr txBox="true"/>
          <p:nvPr/>
        </p:nvSpPr>
        <p:spPr>
          <a:xfrm rot="0">
            <a:off x="6747646" y="1759474"/>
            <a:ext cx="9500737" cy="1268095"/>
          </a:xfrm>
          <a:prstGeom prst="rect">
            <a:avLst/>
          </a:prstGeom>
        </p:spPr>
        <p:txBody>
          <a:bodyPr anchor="t" rtlCol="false" tIns="0" lIns="0" bIns="0" rIns="0">
            <a:spAutoFit/>
          </a:bodyPr>
          <a:lstStyle/>
          <a:p>
            <a:pPr algn="l">
              <a:lnSpc>
                <a:spcPts val="4760"/>
              </a:lnSpc>
            </a:pPr>
            <a:r>
              <a:rPr lang="en-US" sz="5600" spc="-420" b="true">
                <a:solidFill>
                  <a:srgbClr val="403E3E"/>
                </a:solidFill>
                <a:latin typeface="Inter Bold"/>
                <a:ea typeface="Inter Bold"/>
                <a:cs typeface="Inter Bold"/>
                <a:sym typeface="Inter Bold"/>
              </a:rPr>
              <a:t>3.3 Process Flow (5 Steps)</a:t>
            </a:r>
          </a:p>
          <a:p>
            <a:pPr algn="l" marL="0" indent="0" lvl="0">
              <a:lnSpc>
                <a:spcPts val="4760"/>
              </a:lnSpc>
              <a:spcBef>
                <a:spcPct val="0"/>
              </a:spcBef>
            </a:pPr>
          </a:p>
        </p:txBody>
      </p:sp>
      <p:sp>
        <p:nvSpPr>
          <p:cNvPr name="TextBox 7" id="7"/>
          <p:cNvSpPr txBox="true"/>
          <p:nvPr/>
        </p:nvSpPr>
        <p:spPr>
          <a:xfrm rot="0">
            <a:off x="6743474" y="2960894"/>
            <a:ext cx="3919853" cy="491536"/>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403E3E"/>
                </a:solidFill>
                <a:latin typeface="Inter Light"/>
                <a:ea typeface="Inter Light"/>
                <a:cs typeface="Inter Light"/>
                <a:sym typeface="Inter Light"/>
              </a:rPr>
              <a:t>INPUT DATA</a:t>
            </a:r>
          </a:p>
        </p:txBody>
      </p:sp>
      <p:sp>
        <p:nvSpPr>
          <p:cNvPr name="TextBox 8" id="8"/>
          <p:cNvSpPr txBox="true"/>
          <p:nvPr/>
        </p:nvSpPr>
        <p:spPr>
          <a:xfrm rot="0">
            <a:off x="6743474" y="5076825"/>
            <a:ext cx="3919853" cy="491536"/>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403E3E"/>
                </a:solidFill>
                <a:latin typeface="Inter Light"/>
                <a:ea typeface="Inter Light"/>
                <a:cs typeface="Inter Light"/>
                <a:sym typeface="Inter Light"/>
              </a:rPr>
              <a:t>TIME SIMULATION</a:t>
            </a:r>
          </a:p>
        </p:txBody>
      </p:sp>
      <p:sp>
        <p:nvSpPr>
          <p:cNvPr name="TextBox 9" id="9"/>
          <p:cNvSpPr txBox="true"/>
          <p:nvPr/>
        </p:nvSpPr>
        <p:spPr>
          <a:xfrm rot="0">
            <a:off x="11133807" y="3567942"/>
            <a:ext cx="3919853" cy="930928"/>
          </a:xfrm>
          <a:prstGeom prst="rect">
            <a:avLst/>
          </a:prstGeom>
        </p:spPr>
        <p:txBody>
          <a:bodyPr anchor="t" rtlCol="false" tIns="0" lIns="0" bIns="0" rIns="0">
            <a:spAutoFit/>
          </a:bodyPr>
          <a:lstStyle/>
          <a:p>
            <a:pPr algn="l">
              <a:lnSpc>
                <a:spcPts val="2519"/>
              </a:lnSpc>
            </a:pPr>
            <a:r>
              <a:rPr lang="en-US" sz="1799" spc="-71">
                <a:solidFill>
                  <a:srgbClr val="403E3E"/>
                </a:solidFill>
                <a:latin typeface="Inter"/>
                <a:ea typeface="Inter"/>
                <a:cs typeface="Inter"/>
                <a:sym typeface="Inter"/>
              </a:rPr>
              <a:t>ARRANGE PROCESSES IN ORDER OF ARRIVAL.</a:t>
            </a:r>
          </a:p>
          <a:p>
            <a:pPr algn="l" marL="0" indent="0" lvl="0">
              <a:lnSpc>
                <a:spcPts val="2519"/>
              </a:lnSpc>
              <a:spcBef>
                <a:spcPct val="0"/>
              </a:spcBef>
            </a:pPr>
          </a:p>
        </p:txBody>
      </p:sp>
      <p:sp>
        <p:nvSpPr>
          <p:cNvPr name="TextBox 10" id="10"/>
          <p:cNvSpPr txBox="true"/>
          <p:nvPr/>
        </p:nvSpPr>
        <p:spPr>
          <a:xfrm rot="0">
            <a:off x="11133807" y="2956820"/>
            <a:ext cx="3919853" cy="491536"/>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403E3E"/>
                </a:solidFill>
                <a:latin typeface="Inter Light"/>
                <a:ea typeface="Inter Light"/>
                <a:cs typeface="Inter Light"/>
                <a:sym typeface="Inter Light"/>
              </a:rPr>
              <a:t>SORT BY ARRIVAL TIME</a:t>
            </a:r>
          </a:p>
        </p:txBody>
      </p:sp>
      <p:sp>
        <p:nvSpPr>
          <p:cNvPr name="TextBox 11" id="11"/>
          <p:cNvSpPr txBox="true"/>
          <p:nvPr/>
        </p:nvSpPr>
        <p:spPr>
          <a:xfrm rot="0">
            <a:off x="6743474" y="3556823"/>
            <a:ext cx="3919853" cy="1243777"/>
          </a:xfrm>
          <a:prstGeom prst="rect">
            <a:avLst/>
          </a:prstGeom>
        </p:spPr>
        <p:txBody>
          <a:bodyPr anchor="t" rtlCol="false" tIns="0" lIns="0" bIns="0" rIns="0">
            <a:spAutoFit/>
          </a:bodyPr>
          <a:lstStyle/>
          <a:p>
            <a:pPr algn="l">
              <a:lnSpc>
                <a:spcPts val="2519"/>
              </a:lnSpc>
            </a:pPr>
            <a:r>
              <a:rPr lang="en-US" sz="1799" spc="-71">
                <a:solidFill>
                  <a:srgbClr val="403E3E"/>
                </a:solidFill>
                <a:latin typeface="Inter"/>
                <a:ea typeface="Inter"/>
                <a:cs typeface="Inter"/>
                <a:sym typeface="Inter"/>
              </a:rPr>
              <a:t>ENTER THE NUMBER OF PROCESSES AND THEIR ARRIVAL TIME (AT) AND BURST TIME (BT).</a:t>
            </a:r>
          </a:p>
          <a:p>
            <a:pPr algn="l" marL="0" indent="0" lvl="0">
              <a:lnSpc>
                <a:spcPts val="2519"/>
              </a:lnSpc>
              <a:spcBef>
                <a:spcPct val="0"/>
              </a:spcBef>
            </a:pPr>
          </a:p>
        </p:txBody>
      </p:sp>
      <p:sp>
        <p:nvSpPr>
          <p:cNvPr name="TextBox 12" id="12"/>
          <p:cNvSpPr txBox="true"/>
          <p:nvPr/>
        </p:nvSpPr>
        <p:spPr>
          <a:xfrm rot="0">
            <a:off x="11133807" y="5076825"/>
            <a:ext cx="3919853" cy="491536"/>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403E3E"/>
                </a:solidFill>
                <a:latin typeface="Inter Light"/>
                <a:ea typeface="Inter Light"/>
                <a:cs typeface="Inter Light"/>
                <a:sym typeface="Inter Light"/>
              </a:rPr>
              <a:t>COMPUTE RESULTS</a:t>
            </a:r>
          </a:p>
        </p:txBody>
      </p:sp>
      <p:sp>
        <p:nvSpPr>
          <p:cNvPr name="TextBox 13" id="13"/>
          <p:cNvSpPr txBox="true"/>
          <p:nvPr/>
        </p:nvSpPr>
        <p:spPr>
          <a:xfrm rot="0">
            <a:off x="11133807" y="5832154"/>
            <a:ext cx="3919853" cy="1243777"/>
          </a:xfrm>
          <a:prstGeom prst="rect">
            <a:avLst/>
          </a:prstGeom>
        </p:spPr>
        <p:txBody>
          <a:bodyPr anchor="t" rtlCol="false" tIns="0" lIns="0" bIns="0" rIns="0">
            <a:spAutoFit/>
          </a:bodyPr>
          <a:lstStyle/>
          <a:p>
            <a:pPr algn="l">
              <a:lnSpc>
                <a:spcPts val="2519"/>
              </a:lnSpc>
            </a:pPr>
            <a:r>
              <a:rPr lang="en-US" sz="1799" spc="-71">
                <a:solidFill>
                  <a:srgbClr val="403E3E"/>
                </a:solidFill>
                <a:latin typeface="Inter"/>
                <a:ea typeface="Inter"/>
                <a:cs typeface="Inter"/>
                <a:sym typeface="Inter"/>
              </a:rPr>
              <a:t>CALCULATE CT, TAT, WT, AND RESPONSE TIME FOR EACH PROCESS.</a:t>
            </a:r>
          </a:p>
          <a:p>
            <a:pPr algn="l" marL="0" indent="0" lvl="0">
              <a:lnSpc>
                <a:spcPts val="2519"/>
              </a:lnSpc>
              <a:spcBef>
                <a:spcPct val="0"/>
              </a:spcBef>
            </a:pPr>
          </a:p>
        </p:txBody>
      </p:sp>
      <p:sp>
        <p:nvSpPr>
          <p:cNvPr name="TextBox 14" id="14"/>
          <p:cNvSpPr txBox="true"/>
          <p:nvPr/>
        </p:nvSpPr>
        <p:spPr>
          <a:xfrm rot="0">
            <a:off x="13398210" y="993352"/>
            <a:ext cx="2850172" cy="621030"/>
          </a:xfrm>
          <a:prstGeom prst="rect">
            <a:avLst/>
          </a:prstGeom>
        </p:spPr>
        <p:txBody>
          <a:bodyPr anchor="t" rtlCol="false" tIns="0" lIns="0" bIns="0" rIns="0">
            <a:spAutoFit/>
          </a:bodyPr>
          <a:lstStyle/>
          <a:p>
            <a:pPr algn="r">
              <a:lnSpc>
                <a:spcPts val="2520"/>
              </a:lnSpc>
            </a:pPr>
            <a:r>
              <a:rPr lang="en-US" sz="1800" spc="-72">
                <a:solidFill>
                  <a:srgbClr val="403E3E"/>
                </a:solidFill>
                <a:latin typeface="Inter"/>
                <a:ea typeface="Inter"/>
                <a:cs typeface="Inter"/>
                <a:sym typeface="Inter"/>
              </a:rPr>
              <a:t>NOV 2025</a:t>
            </a:r>
          </a:p>
          <a:p>
            <a:pPr algn="r" marL="0" indent="0" lvl="0">
              <a:lnSpc>
                <a:spcPts val="2520"/>
              </a:lnSpc>
              <a:spcBef>
                <a:spcPct val="0"/>
              </a:spcBef>
            </a:pPr>
          </a:p>
        </p:txBody>
      </p:sp>
      <p:sp>
        <p:nvSpPr>
          <p:cNvPr name="AutoShape 15" id="15"/>
          <p:cNvSpPr/>
          <p:nvPr/>
        </p:nvSpPr>
        <p:spPr>
          <a:xfrm>
            <a:off x="6743474" y="8994457"/>
            <a:ext cx="9504908" cy="0"/>
          </a:xfrm>
          <a:prstGeom prst="line">
            <a:avLst/>
          </a:prstGeom>
          <a:ln cap="flat" w="9525">
            <a:solidFill>
              <a:srgbClr val="000000"/>
            </a:solidFill>
            <a:prstDash val="sysDot"/>
            <a:headEnd type="none" len="sm" w="sm"/>
            <a:tailEnd type="none" len="sm" w="sm"/>
          </a:ln>
        </p:spPr>
      </p:sp>
      <p:sp>
        <p:nvSpPr>
          <p:cNvPr name="AutoShape 16" id="16"/>
          <p:cNvSpPr/>
          <p:nvPr/>
        </p:nvSpPr>
        <p:spPr>
          <a:xfrm>
            <a:off x="6552031" y="2836169"/>
            <a:ext cx="9504908" cy="0"/>
          </a:xfrm>
          <a:prstGeom prst="line">
            <a:avLst/>
          </a:prstGeom>
          <a:ln cap="flat" w="9525">
            <a:solidFill>
              <a:srgbClr val="000000"/>
            </a:solidFill>
            <a:prstDash val="sysDot"/>
            <a:headEnd type="none" len="sm" w="sm"/>
            <a:tailEnd type="none" len="sm" w="sm"/>
          </a:ln>
        </p:spPr>
      </p:sp>
      <p:grpSp>
        <p:nvGrpSpPr>
          <p:cNvPr name="Group 17" id="17"/>
          <p:cNvGrpSpPr/>
          <p:nvPr/>
        </p:nvGrpSpPr>
        <p:grpSpPr>
          <a:xfrm rot="5400000">
            <a:off x="-2621133" y="2153574"/>
            <a:ext cx="10730064" cy="5979852"/>
            <a:chOff x="0" y="0"/>
            <a:chExt cx="3845413" cy="2143044"/>
          </a:xfrm>
        </p:grpSpPr>
        <p:sp>
          <p:nvSpPr>
            <p:cNvPr name="Freeform 18" id="18"/>
            <p:cNvSpPr/>
            <p:nvPr/>
          </p:nvSpPr>
          <p:spPr>
            <a:xfrm flipH="false" flipV="false" rot="0">
              <a:off x="0" y="0"/>
              <a:ext cx="3845413" cy="2143044"/>
            </a:xfrm>
            <a:custGeom>
              <a:avLst/>
              <a:gdLst/>
              <a:ahLst/>
              <a:cxnLst/>
              <a:rect r="r" b="b" t="t" l="l"/>
              <a:pathLst>
                <a:path h="2143044" w="3845413">
                  <a:moveTo>
                    <a:pt x="0" y="0"/>
                  </a:moveTo>
                  <a:lnTo>
                    <a:pt x="3845413" y="0"/>
                  </a:lnTo>
                  <a:lnTo>
                    <a:pt x="3845413" y="2143044"/>
                  </a:lnTo>
                  <a:lnTo>
                    <a:pt x="0" y="2143044"/>
                  </a:lnTo>
                  <a:close/>
                </a:path>
              </a:pathLst>
            </a:custGeom>
            <a:solidFill>
              <a:srgbClr val="EFEEEC"/>
            </a:solidFill>
            <a:ln w="9525" cap="sq">
              <a:solidFill>
                <a:srgbClr val="403E3E"/>
              </a:solidFill>
              <a:prstDash val="solid"/>
              <a:miter/>
            </a:ln>
          </p:spPr>
        </p:sp>
        <p:sp>
          <p:nvSpPr>
            <p:cNvPr name="TextBox 19" id="19"/>
            <p:cNvSpPr txBox="true"/>
            <p:nvPr/>
          </p:nvSpPr>
          <p:spPr>
            <a:xfrm>
              <a:off x="0" y="-47625"/>
              <a:ext cx="3845413" cy="2190669"/>
            </a:xfrm>
            <a:prstGeom prst="rect">
              <a:avLst/>
            </a:prstGeom>
          </p:spPr>
          <p:txBody>
            <a:bodyPr anchor="ctr" rtlCol="false" tIns="50800" lIns="50800" bIns="50800" rIns="50800"/>
            <a:lstStyle/>
            <a:p>
              <a:pPr algn="ctr">
                <a:lnSpc>
                  <a:spcPts val="1960"/>
                </a:lnSpc>
              </a:pPr>
            </a:p>
          </p:txBody>
        </p:sp>
      </p:grpSp>
      <p:sp>
        <p:nvSpPr>
          <p:cNvPr name="TextBox 20" id="20"/>
          <p:cNvSpPr txBox="true"/>
          <p:nvPr/>
        </p:nvSpPr>
        <p:spPr>
          <a:xfrm rot="0">
            <a:off x="475680" y="9220200"/>
            <a:ext cx="5707931" cy="306705"/>
          </a:xfrm>
          <a:prstGeom prst="rect">
            <a:avLst/>
          </a:prstGeom>
        </p:spPr>
        <p:txBody>
          <a:bodyPr anchor="t" rtlCol="false" tIns="0" lIns="0" bIns="0" rIns="0">
            <a:spAutoFit/>
          </a:bodyPr>
          <a:lstStyle/>
          <a:p>
            <a:pPr algn="l" marL="0" indent="0" lvl="0">
              <a:lnSpc>
                <a:spcPts val="2520"/>
              </a:lnSpc>
              <a:spcBef>
                <a:spcPct val="0"/>
              </a:spcBef>
            </a:pPr>
            <a:r>
              <a:rPr lang="en-US" sz="1800" spc="-72">
                <a:solidFill>
                  <a:srgbClr val="403E3E"/>
                </a:solidFill>
                <a:latin typeface="Inter"/>
                <a:ea typeface="Inter"/>
                <a:cs typeface="Inter"/>
                <a:sym typeface="Inter"/>
              </a:rPr>
              <a:t>HO CHI MINH CITY UNIVERSITY OF TRANSPORT</a:t>
            </a:r>
          </a:p>
        </p:txBody>
      </p:sp>
      <p:sp>
        <p:nvSpPr>
          <p:cNvPr name="Freeform 21" id="21"/>
          <p:cNvSpPr/>
          <p:nvPr/>
        </p:nvSpPr>
        <p:spPr>
          <a:xfrm flipH="false" flipV="false" rot="0">
            <a:off x="5235230" y="1031452"/>
            <a:ext cx="948381" cy="1520727"/>
          </a:xfrm>
          <a:custGeom>
            <a:avLst/>
            <a:gdLst/>
            <a:ahLst/>
            <a:cxnLst/>
            <a:rect r="r" b="b" t="t" l="l"/>
            <a:pathLst>
              <a:path h="1520727" w="948381">
                <a:moveTo>
                  <a:pt x="0" y="0"/>
                </a:moveTo>
                <a:lnTo>
                  <a:pt x="948381" y="0"/>
                </a:lnTo>
                <a:lnTo>
                  <a:pt x="948381" y="1520727"/>
                </a:lnTo>
                <a:lnTo>
                  <a:pt x="0" y="15207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2" id="22"/>
          <p:cNvSpPr txBox="true"/>
          <p:nvPr/>
        </p:nvSpPr>
        <p:spPr>
          <a:xfrm rot="0">
            <a:off x="6743474" y="5821791"/>
            <a:ext cx="3919853" cy="618079"/>
          </a:xfrm>
          <a:prstGeom prst="rect">
            <a:avLst/>
          </a:prstGeom>
        </p:spPr>
        <p:txBody>
          <a:bodyPr anchor="t" rtlCol="false" tIns="0" lIns="0" bIns="0" rIns="0">
            <a:spAutoFit/>
          </a:bodyPr>
          <a:lstStyle/>
          <a:p>
            <a:pPr algn="l" marL="0" indent="0" lvl="0">
              <a:lnSpc>
                <a:spcPts val="2519"/>
              </a:lnSpc>
              <a:spcBef>
                <a:spcPct val="0"/>
              </a:spcBef>
            </a:pPr>
            <a:r>
              <a:rPr lang="en-US" sz="1799" spc="-71">
                <a:solidFill>
                  <a:srgbClr val="403E3E"/>
                </a:solidFill>
                <a:latin typeface="Inter"/>
                <a:ea typeface="Inter"/>
                <a:cs typeface="Inter"/>
                <a:sym typeface="Inter"/>
              </a:rPr>
              <a:t>RUN EACH PROCESS SEQUENTIALLY; INSERT </a:t>
            </a:r>
            <a:r>
              <a:rPr lang="en-US" sz="1799" i="true" spc="-71">
                <a:solidFill>
                  <a:srgbClr val="403E3E"/>
                </a:solidFill>
                <a:latin typeface="Inter Italics"/>
                <a:ea typeface="Inter Italics"/>
                <a:cs typeface="Inter Italics"/>
                <a:sym typeface="Inter Italics"/>
              </a:rPr>
              <a:t>IDLE</a:t>
            </a:r>
            <a:r>
              <a:rPr lang="en-US" sz="1799" spc="-71">
                <a:solidFill>
                  <a:srgbClr val="403E3E"/>
                </a:solidFill>
                <a:latin typeface="Inter"/>
                <a:ea typeface="Inter"/>
                <a:cs typeface="Inter"/>
                <a:sym typeface="Inter"/>
              </a:rPr>
              <a:t> if the CPU is free.</a:t>
            </a:r>
          </a:p>
        </p:txBody>
      </p:sp>
      <p:sp>
        <p:nvSpPr>
          <p:cNvPr name="TextBox 23" id="23"/>
          <p:cNvSpPr txBox="true"/>
          <p:nvPr/>
        </p:nvSpPr>
        <p:spPr>
          <a:xfrm rot="0">
            <a:off x="6747646" y="6939701"/>
            <a:ext cx="3919853" cy="491536"/>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403E3E"/>
                </a:solidFill>
                <a:latin typeface="Inter Light"/>
                <a:ea typeface="Inter Light"/>
                <a:cs typeface="Inter Light"/>
                <a:sym typeface="Inter Light"/>
              </a:rPr>
              <a:t>OUTPUT RESULTS</a:t>
            </a:r>
          </a:p>
        </p:txBody>
      </p:sp>
      <p:sp>
        <p:nvSpPr>
          <p:cNvPr name="TextBox 24" id="24"/>
          <p:cNvSpPr txBox="true"/>
          <p:nvPr/>
        </p:nvSpPr>
        <p:spPr>
          <a:xfrm rot="0">
            <a:off x="6747646" y="7461060"/>
            <a:ext cx="3919853" cy="1243777"/>
          </a:xfrm>
          <a:prstGeom prst="rect">
            <a:avLst/>
          </a:prstGeom>
        </p:spPr>
        <p:txBody>
          <a:bodyPr anchor="t" rtlCol="false" tIns="0" lIns="0" bIns="0" rIns="0">
            <a:spAutoFit/>
          </a:bodyPr>
          <a:lstStyle/>
          <a:p>
            <a:pPr algn="l">
              <a:lnSpc>
                <a:spcPts val="2519"/>
              </a:lnSpc>
            </a:pPr>
            <a:r>
              <a:rPr lang="en-US" sz="1799" spc="-71">
                <a:solidFill>
                  <a:srgbClr val="403E3E"/>
                </a:solidFill>
                <a:latin typeface="Inter"/>
                <a:ea typeface="Inter"/>
                <a:cs typeface="Inter"/>
                <a:sym typeface="Inter"/>
              </a:rPr>
              <a:t>DISPLAY PROCESS TABLE AND GANTT CHART (DETAILS SHOWN IN </a:t>
            </a:r>
            <a:r>
              <a:rPr lang="en-US" sz="1799" i="true" spc="-71">
                <a:solidFill>
                  <a:srgbClr val="403E3E"/>
                </a:solidFill>
                <a:latin typeface="Inter Italics"/>
                <a:ea typeface="Inter Italics"/>
                <a:cs typeface="Inter Italics"/>
                <a:sym typeface="Inter Italics"/>
              </a:rPr>
              <a:t>Experiment &amp; Results</a:t>
            </a:r>
            <a:r>
              <a:rPr lang="en-US" sz="1799" spc="-71">
                <a:solidFill>
                  <a:srgbClr val="403E3E"/>
                </a:solidFill>
                <a:latin typeface="Inter"/>
                <a:ea typeface="Inter"/>
                <a:cs typeface="Inter"/>
                <a:sym typeface="Inter"/>
              </a:rPr>
              <a:t> section).</a:t>
            </a:r>
          </a:p>
          <a:p>
            <a:pPr algn="l" marL="0" indent="0" lvl="0">
              <a:lnSpc>
                <a:spcPts val="2519"/>
              </a:lnSpc>
              <a:spcBef>
                <a:spcPct val="0"/>
              </a:spcBef>
            </a:pPr>
          </a:p>
        </p:txBody>
      </p:sp>
      <p:sp>
        <p:nvSpPr>
          <p:cNvPr name="Freeform 25" id="25"/>
          <p:cNvSpPr/>
          <p:nvPr/>
        </p:nvSpPr>
        <p:spPr>
          <a:xfrm flipH="false" flipV="false" rot="0">
            <a:off x="1320185" y="1300057"/>
            <a:ext cx="2476770" cy="1024764"/>
          </a:xfrm>
          <a:custGeom>
            <a:avLst/>
            <a:gdLst/>
            <a:ahLst/>
            <a:cxnLst/>
            <a:rect r="r" b="b" t="t" l="l"/>
            <a:pathLst>
              <a:path h="1024764" w="2476770">
                <a:moveTo>
                  <a:pt x="0" y="0"/>
                </a:moveTo>
                <a:lnTo>
                  <a:pt x="2476770" y="0"/>
                </a:lnTo>
                <a:lnTo>
                  <a:pt x="2476770" y="1024764"/>
                </a:lnTo>
                <a:lnTo>
                  <a:pt x="0" y="1024764"/>
                </a:lnTo>
                <a:lnTo>
                  <a:pt x="0" y="0"/>
                </a:lnTo>
                <a:close/>
              </a:path>
            </a:pathLst>
          </a:custGeom>
          <a:blipFill>
            <a:blip r:embed="rId4"/>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6F5F3"/>
        </a:solidFill>
      </p:bgPr>
    </p:bg>
    <p:spTree>
      <p:nvGrpSpPr>
        <p:cNvPr id="1" name=""/>
        <p:cNvGrpSpPr/>
        <p:nvPr/>
      </p:nvGrpSpPr>
      <p:grpSpPr>
        <a:xfrm>
          <a:off x="0" y="0"/>
          <a:ext cx="0" cy="0"/>
          <a:chOff x="0" y="0"/>
          <a:chExt cx="0" cy="0"/>
        </a:xfrm>
      </p:grpSpPr>
      <p:grpSp>
        <p:nvGrpSpPr>
          <p:cNvPr name="Group 2" id="2"/>
          <p:cNvGrpSpPr/>
          <p:nvPr/>
        </p:nvGrpSpPr>
        <p:grpSpPr>
          <a:xfrm rot="5400000">
            <a:off x="6789182" y="-7645723"/>
            <a:ext cx="4044591" cy="17622955"/>
            <a:chOff x="0" y="0"/>
            <a:chExt cx="1449490" cy="6315669"/>
          </a:xfrm>
        </p:grpSpPr>
        <p:sp>
          <p:nvSpPr>
            <p:cNvPr name="Freeform 3" id="3"/>
            <p:cNvSpPr/>
            <p:nvPr/>
          </p:nvSpPr>
          <p:spPr>
            <a:xfrm flipH="false" flipV="false" rot="0">
              <a:off x="0" y="0"/>
              <a:ext cx="1449490" cy="6315670"/>
            </a:xfrm>
            <a:custGeom>
              <a:avLst/>
              <a:gdLst/>
              <a:ahLst/>
              <a:cxnLst/>
              <a:rect r="r" b="b" t="t" l="l"/>
              <a:pathLst>
                <a:path h="6315670" w="1449490">
                  <a:moveTo>
                    <a:pt x="0" y="0"/>
                  </a:moveTo>
                  <a:lnTo>
                    <a:pt x="1449490" y="0"/>
                  </a:lnTo>
                  <a:lnTo>
                    <a:pt x="1449490" y="6315670"/>
                  </a:lnTo>
                  <a:lnTo>
                    <a:pt x="0" y="6315670"/>
                  </a:lnTo>
                  <a:close/>
                </a:path>
              </a:pathLst>
            </a:custGeom>
            <a:solidFill>
              <a:srgbClr val="EFEEEC"/>
            </a:solidFill>
            <a:ln w="9525" cap="sq">
              <a:solidFill>
                <a:srgbClr val="403E3E"/>
              </a:solidFill>
              <a:prstDash val="solid"/>
              <a:miter/>
            </a:ln>
          </p:spPr>
        </p:sp>
        <p:sp>
          <p:nvSpPr>
            <p:cNvPr name="TextBox 4" id="4"/>
            <p:cNvSpPr txBox="true"/>
            <p:nvPr/>
          </p:nvSpPr>
          <p:spPr>
            <a:xfrm>
              <a:off x="0" y="-47625"/>
              <a:ext cx="1449490" cy="6363294"/>
            </a:xfrm>
            <a:prstGeom prst="rect">
              <a:avLst/>
            </a:prstGeom>
          </p:spPr>
          <p:txBody>
            <a:bodyPr anchor="ctr" rtlCol="false" tIns="50800" lIns="50800" bIns="50800" rIns="50800"/>
            <a:lstStyle/>
            <a:p>
              <a:pPr algn="ctr">
                <a:lnSpc>
                  <a:spcPts val="1960"/>
                </a:lnSpc>
              </a:pPr>
            </a:p>
          </p:txBody>
        </p:sp>
      </p:grpSp>
      <p:grpSp>
        <p:nvGrpSpPr>
          <p:cNvPr name="Group 5" id="5"/>
          <p:cNvGrpSpPr/>
          <p:nvPr/>
        </p:nvGrpSpPr>
        <p:grpSpPr>
          <a:xfrm rot="5400000">
            <a:off x="12432431" y="4605338"/>
            <a:ext cx="10730064" cy="1076325"/>
            <a:chOff x="0" y="0"/>
            <a:chExt cx="3845413" cy="385731"/>
          </a:xfrm>
        </p:grpSpPr>
        <p:sp>
          <p:nvSpPr>
            <p:cNvPr name="Freeform 6" id="6"/>
            <p:cNvSpPr/>
            <p:nvPr/>
          </p:nvSpPr>
          <p:spPr>
            <a:xfrm flipH="false" flipV="false" rot="0">
              <a:off x="0" y="0"/>
              <a:ext cx="3845413" cy="385731"/>
            </a:xfrm>
            <a:custGeom>
              <a:avLst/>
              <a:gdLst/>
              <a:ahLst/>
              <a:cxnLst/>
              <a:rect r="r" b="b" t="t" l="l"/>
              <a:pathLst>
                <a:path h="385731" w="3845413">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sp>
        <p:sp>
          <p:nvSpPr>
            <p:cNvPr name="TextBox 7" id="7"/>
            <p:cNvSpPr txBox="true"/>
            <p:nvPr/>
          </p:nvSpPr>
          <p:spPr>
            <a:xfrm>
              <a:off x="0" y="-47625"/>
              <a:ext cx="3845413" cy="433356"/>
            </a:xfrm>
            <a:prstGeom prst="rect">
              <a:avLst/>
            </a:prstGeom>
          </p:spPr>
          <p:txBody>
            <a:bodyPr anchor="ctr" rtlCol="false" tIns="50800" lIns="50800" bIns="50800" rIns="50800"/>
            <a:lstStyle/>
            <a:p>
              <a:pPr algn="ctr">
                <a:lnSpc>
                  <a:spcPts val="1960"/>
                </a:lnSpc>
              </a:pPr>
            </a:p>
          </p:txBody>
        </p:sp>
      </p:grpSp>
      <p:sp>
        <p:nvSpPr>
          <p:cNvPr name="TextBox 8" id="8"/>
          <p:cNvSpPr txBox="true"/>
          <p:nvPr/>
        </p:nvSpPr>
        <p:spPr>
          <a:xfrm rot="0">
            <a:off x="15506330" y="8951595"/>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13</a:t>
            </a:r>
          </a:p>
        </p:txBody>
      </p:sp>
      <p:sp>
        <p:nvSpPr>
          <p:cNvPr name="TextBox 9" id="9"/>
          <p:cNvSpPr txBox="true"/>
          <p:nvPr/>
        </p:nvSpPr>
        <p:spPr>
          <a:xfrm rot="0">
            <a:off x="1137530" y="2191540"/>
            <a:ext cx="12264852" cy="1268095"/>
          </a:xfrm>
          <a:prstGeom prst="rect">
            <a:avLst/>
          </a:prstGeom>
        </p:spPr>
        <p:txBody>
          <a:bodyPr anchor="t" rtlCol="false" tIns="0" lIns="0" bIns="0" rIns="0">
            <a:spAutoFit/>
          </a:bodyPr>
          <a:lstStyle/>
          <a:p>
            <a:pPr algn="l">
              <a:lnSpc>
                <a:spcPts val="4760"/>
              </a:lnSpc>
            </a:pPr>
            <a:r>
              <a:rPr lang="en-US" sz="5600" spc="-420" b="true">
                <a:solidFill>
                  <a:srgbClr val="403E3E"/>
                </a:solidFill>
                <a:latin typeface="Inter Bold"/>
                <a:ea typeface="Inter Bold"/>
                <a:cs typeface="Inter Bold"/>
                <a:sym typeface="Inter Bold"/>
              </a:rPr>
              <a:t>3.4 Discussion</a:t>
            </a:r>
          </a:p>
          <a:p>
            <a:pPr algn="l" marL="0" indent="0" lvl="0">
              <a:lnSpc>
                <a:spcPts val="4760"/>
              </a:lnSpc>
              <a:spcBef>
                <a:spcPct val="0"/>
              </a:spcBef>
            </a:pPr>
          </a:p>
        </p:txBody>
      </p:sp>
      <p:sp>
        <p:nvSpPr>
          <p:cNvPr name="TextBox 10" id="10"/>
          <p:cNvSpPr txBox="true"/>
          <p:nvPr/>
        </p:nvSpPr>
        <p:spPr>
          <a:xfrm rot="0">
            <a:off x="880988" y="3412010"/>
            <a:ext cx="14408042" cy="718573"/>
          </a:xfrm>
          <a:prstGeom prst="rect">
            <a:avLst/>
          </a:prstGeom>
        </p:spPr>
        <p:txBody>
          <a:bodyPr anchor="t" rtlCol="false" tIns="0" lIns="0" bIns="0" rIns="0">
            <a:spAutoFit/>
          </a:bodyPr>
          <a:lstStyle/>
          <a:p>
            <a:pPr algn="just" marL="0" indent="0" lvl="0">
              <a:lnSpc>
                <a:spcPts val="2918"/>
              </a:lnSpc>
              <a:spcBef>
                <a:spcPct val="0"/>
              </a:spcBef>
            </a:pPr>
            <a:r>
              <a:rPr lang="en-US" sz="2084" spc="-45">
                <a:solidFill>
                  <a:srgbClr val="403E3E"/>
                </a:solidFill>
                <a:latin typeface="Inter"/>
                <a:ea typeface="Inter"/>
                <a:cs typeface="Inter"/>
                <a:sym typeface="Inter"/>
              </a:rPr>
              <a:t>The FCFS algorithm is simple, intuitive, and easy to implement. However, it suffers from the </a:t>
            </a:r>
            <a:r>
              <a:rPr lang="en-US" sz="2084" spc="-45">
                <a:solidFill>
                  <a:srgbClr val="403E3E"/>
                </a:solidFill>
                <a:latin typeface="Inter"/>
                <a:ea typeface="Inter"/>
                <a:cs typeface="Inter"/>
                <a:sym typeface="Inter"/>
              </a:rPr>
              <a:t>convoy effect, where a long-running process delays all subsequent ones.</a:t>
            </a:r>
          </a:p>
        </p:txBody>
      </p:sp>
      <p:sp>
        <p:nvSpPr>
          <p:cNvPr name="TextBox 11" id="11"/>
          <p:cNvSpPr txBox="true"/>
          <p:nvPr/>
        </p:nvSpPr>
        <p:spPr>
          <a:xfrm rot="0">
            <a:off x="13402382" y="993352"/>
            <a:ext cx="2850172" cy="306705"/>
          </a:xfrm>
          <a:prstGeom prst="rect">
            <a:avLst/>
          </a:prstGeom>
        </p:spPr>
        <p:txBody>
          <a:bodyPr anchor="t" rtlCol="false" tIns="0" lIns="0" bIns="0" rIns="0">
            <a:spAutoFit/>
          </a:bodyPr>
          <a:lstStyle/>
          <a:p>
            <a:pPr algn="r" marL="0" indent="0" lvl="0">
              <a:lnSpc>
                <a:spcPts val="2520"/>
              </a:lnSpc>
              <a:spcBef>
                <a:spcPct val="0"/>
              </a:spcBef>
            </a:pPr>
            <a:r>
              <a:rPr lang="en-US" sz="1800" spc="-72">
                <a:solidFill>
                  <a:srgbClr val="403E3E"/>
                </a:solidFill>
                <a:latin typeface="Inter"/>
                <a:ea typeface="Inter"/>
                <a:cs typeface="Inter"/>
                <a:sym typeface="Inter"/>
              </a:rPr>
              <a:t>NOV 2025</a:t>
            </a:r>
          </a:p>
        </p:txBody>
      </p:sp>
      <p:sp>
        <p:nvSpPr>
          <p:cNvPr name="AutoShape 12" id="12"/>
          <p:cNvSpPr/>
          <p:nvPr/>
        </p:nvSpPr>
        <p:spPr>
          <a:xfrm>
            <a:off x="428508" y="4367576"/>
            <a:ext cx="15313002" cy="0"/>
          </a:xfrm>
          <a:prstGeom prst="line">
            <a:avLst/>
          </a:prstGeom>
          <a:ln cap="flat" w="9525">
            <a:solidFill>
              <a:srgbClr val="000000"/>
            </a:solidFill>
            <a:prstDash val="sysDot"/>
            <a:headEnd type="none" len="sm" w="sm"/>
            <a:tailEnd type="none" len="sm" w="sm"/>
          </a:ln>
        </p:spPr>
      </p:sp>
      <p:sp>
        <p:nvSpPr>
          <p:cNvPr name="Freeform 13" id="13"/>
          <p:cNvSpPr/>
          <p:nvPr/>
        </p:nvSpPr>
        <p:spPr>
          <a:xfrm flipH="false" flipV="false" rot="5400000">
            <a:off x="15032139" y="2448926"/>
            <a:ext cx="948381" cy="1520727"/>
          </a:xfrm>
          <a:custGeom>
            <a:avLst/>
            <a:gdLst/>
            <a:ahLst/>
            <a:cxnLst/>
            <a:rect r="r" b="b" t="t" l="l"/>
            <a:pathLst>
              <a:path h="1520727" w="948381">
                <a:moveTo>
                  <a:pt x="0" y="0"/>
                </a:moveTo>
                <a:lnTo>
                  <a:pt x="948381" y="0"/>
                </a:lnTo>
                <a:lnTo>
                  <a:pt x="948381" y="1520727"/>
                </a:lnTo>
                <a:lnTo>
                  <a:pt x="0" y="15207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4" id="14"/>
          <p:cNvSpPr txBox="true"/>
          <p:nvPr/>
        </p:nvSpPr>
        <p:spPr>
          <a:xfrm rot="0">
            <a:off x="727656" y="4752693"/>
            <a:ext cx="15051883" cy="718573"/>
          </a:xfrm>
          <a:prstGeom prst="rect">
            <a:avLst/>
          </a:prstGeom>
        </p:spPr>
        <p:txBody>
          <a:bodyPr anchor="t" rtlCol="false" tIns="0" lIns="0" bIns="0" rIns="0">
            <a:spAutoFit/>
          </a:bodyPr>
          <a:lstStyle/>
          <a:p>
            <a:pPr algn="just">
              <a:lnSpc>
                <a:spcPts val="2918"/>
              </a:lnSpc>
            </a:pPr>
            <a:r>
              <a:rPr lang="en-US" sz="2084" spc="-45">
                <a:solidFill>
                  <a:srgbClr val="403E3E"/>
                </a:solidFill>
                <a:latin typeface="Inter"/>
                <a:ea typeface="Inter"/>
                <a:cs typeface="Inter"/>
                <a:sym typeface="Inter"/>
              </a:rPr>
              <a:t> [1] R. H.</a:t>
            </a:r>
            <a:r>
              <a:rPr lang="en-US" sz="2084" spc="-45">
                <a:solidFill>
                  <a:srgbClr val="403E3E"/>
                </a:solidFill>
                <a:latin typeface="Inter"/>
                <a:ea typeface="Inter"/>
                <a:cs typeface="Inter"/>
                <a:sym typeface="Inter"/>
              </a:rPr>
              <a:t> </a:t>
            </a:r>
            <a:r>
              <a:rPr lang="en-US" sz="2084" spc="-45">
                <a:solidFill>
                  <a:srgbClr val="403E3E"/>
                </a:solidFill>
                <a:latin typeface="Inter"/>
                <a:ea typeface="Inter"/>
                <a:cs typeface="Inter"/>
                <a:sym typeface="Inter"/>
              </a:rPr>
              <a:t>Arpa</a:t>
            </a:r>
            <a:r>
              <a:rPr lang="en-US" sz="2084" spc="-45">
                <a:solidFill>
                  <a:srgbClr val="403E3E"/>
                </a:solidFill>
                <a:latin typeface="Inter"/>
                <a:ea typeface="Inter"/>
                <a:cs typeface="Inter"/>
                <a:sym typeface="Inter"/>
              </a:rPr>
              <a:t>c</a:t>
            </a:r>
            <a:r>
              <a:rPr lang="en-US" sz="2084" spc="-45">
                <a:solidFill>
                  <a:srgbClr val="403E3E"/>
                </a:solidFill>
                <a:latin typeface="Inter"/>
                <a:ea typeface="Inter"/>
                <a:cs typeface="Inter"/>
                <a:sym typeface="Inter"/>
              </a:rPr>
              <a:t>i-Duss</a:t>
            </a:r>
            <a:r>
              <a:rPr lang="en-US" sz="2084" spc="-45">
                <a:solidFill>
                  <a:srgbClr val="403E3E"/>
                </a:solidFill>
                <a:latin typeface="Inter"/>
                <a:ea typeface="Inter"/>
                <a:cs typeface="Inter"/>
                <a:sym typeface="Inter"/>
              </a:rPr>
              <a:t>e</a:t>
            </a:r>
            <a:r>
              <a:rPr lang="en-US" sz="2084" spc="-45">
                <a:solidFill>
                  <a:srgbClr val="403E3E"/>
                </a:solidFill>
                <a:latin typeface="Inter"/>
                <a:ea typeface="Inter"/>
                <a:cs typeface="Inter"/>
                <a:sym typeface="Inter"/>
              </a:rPr>
              <a:t>a</a:t>
            </a:r>
            <a:r>
              <a:rPr lang="en-US" sz="2084" spc="-45">
                <a:solidFill>
                  <a:srgbClr val="403E3E"/>
                </a:solidFill>
                <a:latin typeface="Inter"/>
                <a:ea typeface="Inter"/>
                <a:cs typeface="Inter"/>
                <a:sym typeface="Inter"/>
              </a:rPr>
              <a:t>u</a:t>
            </a:r>
            <a:r>
              <a:rPr lang="en-US" sz="2084" spc="-45">
                <a:solidFill>
                  <a:srgbClr val="403E3E"/>
                </a:solidFill>
                <a:latin typeface="Inter"/>
                <a:ea typeface="Inter"/>
                <a:cs typeface="Inter"/>
                <a:sym typeface="Inter"/>
              </a:rPr>
              <a:t> a</a:t>
            </a:r>
            <a:r>
              <a:rPr lang="en-US" sz="2084" spc="-45">
                <a:solidFill>
                  <a:srgbClr val="403E3E"/>
                </a:solidFill>
                <a:latin typeface="Inter"/>
                <a:ea typeface="Inter"/>
                <a:cs typeface="Inter"/>
                <a:sym typeface="Inter"/>
              </a:rPr>
              <a:t>n</a:t>
            </a:r>
            <a:r>
              <a:rPr lang="en-US" sz="2084" spc="-45">
                <a:solidFill>
                  <a:srgbClr val="403E3E"/>
                </a:solidFill>
                <a:latin typeface="Inter"/>
                <a:ea typeface="Inter"/>
                <a:cs typeface="Inter"/>
                <a:sym typeface="Inter"/>
              </a:rPr>
              <a:t>d</a:t>
            </a:r>
            <a:r>
              <a:rPr lang="en-US" sz="2084" spc="-45">
                <a:solidFill>
                  <a:srgbClr val="403E3E"/>
                </a:solidFill>
                <a:latin typeface="Inter"/>
                <a:ea typeface="Inter"/>
                <a:cs typeface="Inter"/>
                <a:sym typeface="Inter"/>
              </a:rPr>
              <a:t> A</a:t>
            </a:r>
            <a:r>
              <a:rPr lang="en-US" sz="2084" spc="-45">
                <a:solidFill>
                  <a:srgbClr val="403E3E"/>
                </a:solidFill>
                <a:latin typeface="Inter"/>
                <a:ea typeface="Inter"/>
                <a:cs typeface="Inter"/>
                <a:sym typeface="Inter"/>
              </a:rPr>
              <a:t>. C. A</a:t>
            </a:r>
            <a:r>
              <a:rPr lang="en-US" sz="2084" spc="-45">
                <a:solidFill>
                  <a:srgbClr val="403E3E"/>
                </a:solidFill>
                <a:latin typeface="Inter"/>
                <a:ea typeface="Inter"/>
                <a:cs typeface="Inter"/>
                <a:sym typeface="Inter"/>
              </a:rPr>
              <a:t>r</a:t>
            </a:r>
            <a:r>
              <a:rPr lang="en-US" sz="2084" spc="-45">
                <a:solidFill>
                  <a:srgbClr val="403E3E"/>
                </a:solidFill>
                <a:latin typeface="Inter"/>
                <a:ea typeface="Inter"/>
                <a:cs typeface="Inter"/>
                <a:sym typeface="Inter"/>
              </a:rPr>
              <a:t>pac</a:t>
            </a:r>
            <a:r>
              <a:rPr lang="en-US" sz="2084" spc="-45">
                <a:solidFill>
                  <a:srgbClr val="403E3E"/>
                </a:solidFill>
                <a:latin typeface="Inter"/>
                <a:ea typeface="Inter"/>
                <a:cs typeface="Inter"/>
                <a:sym typeface="Inter"/>
              </a:rPr>
              <a:t>i</a:t>
            </a:r>
            <a:r>
              <a:rPr lang="en-US" sz="2084" spc="-45">
                <a:solidFill>
                  <a:srgbClr val="403E3E"/>
                </a:solidFill>
                <a:latin typeface="Inter"/>
                <a:ea typeface="Inter"/>
                <a:cs typeface="Inter"/>
                <a:sym typeface="Inter"/>
              </a:rPr>
              <a:t>-Dusseau,</a:t>
            </a:r>
            <a:r>
              <a:rPr lang="en-US" sz="2084" spc="-45">
                <a:solidFill>
                  <a:srgbClr val="403E3E"/>
                </a:solidFill>
                <a:latin typeface="Inter"/>
                <a:ea typeface="Inter"/>
                <a:cs typeface="Inter"/>
                <a:sym typeface="Inter"/>
              </a:rPr>
              <a:t> Operating System</a:t>
            </a:r>
            <a:r>
              <a:rPr lang="en-US" sz="2084" spc="-45">
                <a:solidFill>
                  <a:srgbClr val="403E3E"/>
                </a:solidFill>
                <a:latin typeface="Inter"/>
                <a:ea typeface="Inter"/>
                <a:cs typeface="Inter"/>
                <a:sym typeface="Inter"/>
              </a:rPr>
              <a:t>s: Three Easy Pieces. Arpaci-Dusseau Books</a:t>
            </a:r>
            <a:r>
              <a:rPr lang="en-US" sz="2084" spc="-45">
                <a:solidFill>
                  <a:srgbClr val="403E3E"/>
                </a:solidFill>
                <a:latin typeface="Inter"/>
                <a:ea typeface="Inter"/>
                <a:cs typeface="Inter"/>
                <a:sym typeface="Inter"/>
              </a:rPr>
              <a:t>,</a:t>
            </a:r>
            <a:r>
              <a:rPr lang="en-US" sz="2084" spc="-45">
                <a:solidFill>
                  <a:srgbClr val="403E3E"/>
                </a:solidFill>
                <a:latin typeface="Inter"/>
                <a:ea typeface="Inter"/>
                <a:cs typeface="Inter"/>
                <a:sym typeface="Inter"/>
              </a:rPr>
              <a:t> 2018. </a:t>
            </a:r>
          </a:p>
          <a:p>
            <a:pPr algn="just">
              <a:lnSpc>
                <a:spcPts val="2918"/>
              </a:lnSpc>
            </a:pPr>
            <a:r>
              <a:rPr lang="en-US" sz="2084" spc="-45">
                <a:solidFill>
                  <a:srgbClr val="403E3E"/>
                </a:solidFill>
                <a:latin typeface="Inter"/>
                <a:ea typeface="Inter"/>
                <a:cs typeface="Inter"/>
                <a:sym typeface="Inter"/>
              </a:rPr>
              <a:t> </a:t>
            </a:r>
          </a:p>
        </p:txBody>
      </p:sp>
      <p:sp>
        <p:nvSpPr>
          <p:cNvPr name="TextBox 15" id="15"/>
          <p:cNvSpPr txBox="true"/>
          <p:nvPr/>
        </p:nvSpPr>
        <p:spPr>
          <a:xfrm rot="0">
            <a:off x="785543" y="5114643"/>
            <a:ext cx="15631757" cy="356623"/>
          </a:xfrm>
          <a:prstGeom prst="rect">
            <a:avLst/>
          </a:prstGeom>
        </p:spPr>
        <p:txBody>
          <a:bodyPr anchor="t" rtlCol="false" tIns="0" lIns="0" bIns="0" rIns="0">
            <a:spAutoFit/>
          </a:bodyPr>
          <a:lstStyle/>
          <a:p>
            <a:pPr algn="just">
              <a:lnSpc>
                <a:spcPts val="2918"/>
              </a:lnSpc>
            </a:pPr>
            <a:r>
              <a:rPr lang="en-US" sz="2084" spc="-45">
                <a:solidFill>
                  <a:srgbClr val="403E3E"/>
                </a:solidFill>
                <a:latin typeface="Inter"/>
                <a:ea typeface="Inter"/>
                <a:cs typeface="Inter"/>
                <a:sym typeface="Inter"/>
              </a:rPr>
              <a:t>[2] A. Silberschatz, P. B. Galvin, and G. Gagne, </a:t>
            </a:r>
            <a:r>
              <a:rPr lang="en-US" sz="2084" spc="-45">
                <a:solidFill>
                  <a:srgbClr val="403E3E"/>
                </a:solidFill>
                <a:latin typeface="Inter"/>
                <a:ea typeface="Inter"/>
                <a:cs typeface="Inter"/>
                <a:sym typeface="Inter"/>
              </a:rPr>
              <a:t>Operating System Concepts</a:t>
            </a:r>
            <a:r>
              <a:rPr lang="en-US" sz="2084" spc="-45">
                <a:solidFill>
                  <a:srgbClr val="403E3E"/>
                </a:solidFill>
                <a:latin typeface="Inter"/>
                <a:ea typeface="Inter"/>
                <a:cs typeface="Inter"/>
                <a:sym typeface="Inter"/>
              </a:rPr>
              <a:t>, 10th ed. Hoboken, NJ: John Wiley &amp; Sons, 2018.</a:t>
            </a:r>
          </a:p>
        </p:txBody>
      </p:sp>
      <p:sp>
        <p:nvSpPr>
          <p:cNvPr name="TextBox 16" id="16"/>
          <p:cNvSpPr txBox="true"/>
          <p:nvPr/>
        </p:nvSpPr>
        <p:spPr>
          <a:xfrm rot="0">
            <a:off x="727656" y="5579582"/>
            <a:ext cx="14860994" cy="1020068"/>
          </a:xfrm>
          <a:prstGeom prst="rect">
            <a:avLst/>
          </a:prstGeom>
        </p:spPr>
        <p:txBody>
          <a:bodyPr anchor="t" rtlCol="false" tIns="0" lIns="0" bIns="0" rIns="0">
            <a:spAutoFit/>
          </a:bodyPr>
          <a:lstStyle/>
          <a:p>
            <a:pPr algn="just">
              <a:lnSpc>
                <a:spcPts val="2774"/>
              </a:lnSpc>
            </a:pPr>
            <a:r>
              <a:rPr lang="en-US" sz="1981" spc="-43">
                <a:solidFill>
                  <a:srgbClr val="403E3E"/>
                </a:solidFill>
                <a:latin typeface="Inter"/>
                <a:ea typeface="Inter"/>
                <a:cs typeface="Inter"/>
                <a:sym typeface="Inter"/>
              </a:rPr>
              <a:t> [3] H. K. Omar and Z. Jumamil, "Comparative analysis of the essential </a:t>
            </a:r>
            <a:r>
              <a:rPr lang="en-US" sz="1981" spc="-43">
                <a:solidFill>
                  <a:srgbClr val="403E3E"/>
                </a:solidFill>
                <a:latin typeface="Inter"/>
                <a:ea typeface="Inter"/>
                <a:cs typeface="Inter"/>
                <a:sym typeface="Inter"/>
              </a:rPr>
              <a:t>CPU </a:t>
            </a:r>
            <a:r>
              <a:rPr lang="en-US" sz="1981" spc="-43">
                <a:solidFill>
                  <a:srgbClr val="403E3E"/>
                </a:solidFill>
                <a:latin typeface="Inter"/>
                <a:ea typeface="Inter"/>
                <a:cs typeface="Inter"/>
                <a:sym typeface="Inter"/>
              </a:rPr>
              <a:t>s</a:t>
            </a:r>
            <a:r>
              <a:rPr lang="en-US" sz="1981" spc="-43">
                <a:solidFill>
                  <a:srgbClr val="403E3E"/>
                </a:solidFill>
                <a:latin typeface="Inter"/>
                <a:ea typeface="Inter"/>
                <a:cs typeface="Inter"/>
                <a:sym typeface="Inter"/>
              </a:rPr>
              <a:t>cheduling </a:t>
            </a:r>
            <a:r>
              <a:rPr lang="en-US" sz="1981" spc="-43">
                <a:solidFill>
                  <a:srgbClr val="403E3E"/>
                </a:solidFill>
                <a:latin typeface="Inter"/>
                <a:ea typeface="Inter"/>
                <a:cs typeface="Inter"/>
                <a:sym typeface="Inter"/>
              </a:rPr>
              <a:t>a</a:t>
            </a:r>
            <a:r>
              <a:rPr lang="en-US" sz="1981" spc="-43">
                <a:solidFill>
                  <a:srgbClr val="403E3E"/>
                </a:solidFill>
                <a:latin typeface="Inter"/>
                <a:ea typeface="Inter"/>
                <a:cs typeface="Inter"/>
                <a:sym typeface="Inter"/>
              </a:rPr>
              <a:t>lgorithms</a:t>
            </a:r>
            <a:r>
              <a:rPr lang="en-US" sz="1981" spc="-43">
                <a:solidFill>
                  <a:srgbClr val="403E3E"/>
                </a:solidFill>
                <a:latin typeface="Inter"/>
                <a:ea typeface="Inter"/>
                <a:cs typeface="Inter"/>
                <a:sym typeface="Inter"/>
              </a:rPr>
              <a:t>,"</a:t>
            </a:r>
            <a:r>
              <a:rPr lang="en-US" sz="1981" spc="-43">
                <a:solidFill>
                  <a:srgbClr val="403E3E"/>
                </a:solidFill>
                <a:latin typeface="Inter"/>
                <a:ea typeface="Inter"/>
                <a:cs typeface="Inter"/>
                <a:sym typeface="Inter"/>
              </a:rPr>
              <a:t> </a:t>
            </a:r>
            <a:r>
              <a:rPr lang="en-US" sz="1981" spc="-43">
                <a:solidFill>
                  <a:srgbClr val="403E3E"/>
                </a:solidFill>
                <a:latin typeface="Inter"/>
                <a:ea typeface="Inter"/>
                <a:cs typeface="Inter"/>
                <a:sym typeface="Inter"/>
              </a:rPr>
              <a:t>in Proc. Int. Conf. Adv. Sci. </a:t>
            </a:r>
            <a:r>
              <a:rPr lang="en-US" sz="1981" spc="-43">
                <a:solidFill>
                  <a:srgbClr val="403E3E"/>
                </a:solidFill>
                <a:latin typeface="Inter"/>
                <a:ea typeface="Inter"/>
                <a:cs typeface="Inter"/>
                <a:sym typeface="Inter"/>
              </a:rPr>
              <a:t>         </a:t>
            </a:r>
            <a:r>
              <a:rPr lang="en-US" sz="1981" spc="-43">
                <a:solidFill>
                  <a:srgbClr val="403E3E"/>
                </a:solidFill>
                <a:latin typeface="Inter"/>
                <a:ea typeface="Inter"/>
                <a:cs typeface="Inter"/>
                <a:sym typeface="Inter"/>
              </a:rPr>
              <a:t>      Eng. (I</a:t>
            </a:r>
            <a:r>
              <a:rPr lang="en-US" sz="1981" spc="-43">
                <a:solidFill>
                  <a:srgbClr val="403E3E"/>
                </a:solidFill>
                <a:latin typeface="Inter"/>
                <a:ea typeface="Inter"/>
                <a:cs typeface="Inter"/>
                <a:sym typeface="Inter"/>
              </a:rPr>
              <a:t>C</a:t>
            </a:r>
            <a:r>
              <a:rPr lang="en-US" sz="1981" spc="-43">
                <a:solidFill>
                  <a:srgbClr val="403E3E"/>
                </a:solidFill>
                <a:latin typeface="Inter"/>
                <a:ea typeface="Inter"/>
                <a:cs typeface="Inter"/>
                <a:sym typeface="Inter"/>
              </a:rPr>
              <a:t>OA</a:t>
            </a:r>
            <a:r>
              <a:rPr lang="en-US" sz="1981" spc="-43">
                <a:solidFill>
                  <a:srgbClr val="403E3E"/>
                </a:solidFill>
                <a:latin typeface="Inter"/>
                <a:ea typeface="Inter"/>
                <a:cs typeface="Inter"/>
                <a:sym typeface="Inter"/>
              </a:rPr>
              <a:t>S</a:t>
            </a:r>
            <a:r>
              <a:rPr lang="en-US" sz="1981" spc="-43">
                <a:solidFill>
                  <a:srgbClr val="403E3E"/>
                </a:solidFill>
                <a:latin typeface="Inter"/>
                <a:ea typeface="Inter"/>
                <a:cs typeface="Inter"/>
                <a:sym typeface="Inter"/>
              </a:rPr>
              <a:t>E)</a:t>
            </a:r>
            <a:r>
              <a:rPr lang="en-US" sz="1981" spc="-43">
                <a:solidFill>
                  <a:srgbClr val="403E3E"/>
                </a:solidFill>
                <a:latin typeface="Inter"/>
                <a:ea typeface="Inter"/>
                <a:cs typeface="Inter"/>
                <a:sym typeface="Inter"/>
              </a:rPr>
              <a:t>,</a:t>
            </a:r>
            <a:r>
              <a:rPr lang="en-US" sz="1981" spc="-43">
                <a:solidFill>
                  <a:srgbClr val="403E3E"/>
                </a:solidFill>
                <a:latin typeface="Inter"/>
                <a:ea typeface="Inter"/>
                <a:cs typeface="Inter"/>
                <a:sym typeface="Inter"/>
              </a:rPr>
              <a:t> 2018, pp. 125-130.</a:t>
            </a:r>
          </a:p>
          <a:p>
            <a:pPr algn="just">
              <a:lnSpc>
                <a:spcPts val="2774"/>
              </a:lnSpc>
            </a:pPr>
          </a:p>
        </p:txBody>
      </p:sp>
      <p:sp>
        <p:nvSpPr>
          <p:cNvPr name="TextBox 17" id="17"/>
          <p:cNvSpPr txBox="true"/>
          <p:nvPr/>
        </p:nvSpPr>
        <p:spPr>
          <a:xfrm rot="0">
            <a:off x="785543" y="6452341"/>
            <a:ext cx="15147328" cy="718573"/>
          </a:xfrm>
          <a:prstGeom prst="rect">
            <a:avLst/>
          </a:prstGeom>
        </p:spPr>
        <p:txBody>
          <a:bodyPr anchor="t" rtlCol="false" tIns="0" lIns="0" bIns="0" rIns="0">
            <a:spAutoFit/>
          </a:bodyPr>
          <a:lstStyle/>
          <a:p>
            <a:pPr algn="just">
              <a:lnSpc>
                <a:spcPts val="2918"/>
              </a:lnSpc>
            </a:pPr>
            <a:r>
              <a:rPr lang="en-US" sz="2084" spc="-45">
                <a:solidFill>
                  <a:srgbClr val="403E3E"/>
                </a:solidFill>
                <a:latin typeface="Inter"/>
                <a:ea typeface="Inter"/>
                <a:cs typeface="Inter"/>
                <a:sym typeface="Inter"/>
              </a:rPr>
              <a:t>[4] A. P. U. Siahaan, "</a:t>
            </a:r>
            <a:r>
              <a:rPr lang="en-US" sz="2084" spc="-45">
                <a:solidFill>
                  <a:srgbClr val="403E3E"/>
                </a:solidFill>
                <a:latin typeface="Inter"/>
                <a:ea typeface="Inter"/>
                <a:cs typeface="Inter"/>
                <a:sym typeface="Inter"/>
              </a:rPr>
              <a:t>C</a:t>
            </a:r>
            <a:r>
              <a:rPr lang="en-US" sz="2084" spc="-45">
                <a:solidFill>
                  <a:srgbClr val="403E3E"/>
                </a:solidFill>
                <a:latin typeface="Inter"/>
                <a:ea typeface="Inter"/>
                <a:cs typeface="Inter"/>
                <a:sym typeface="Inter"/>
              </a:rPr>
              <a:t>omparison</a:t>
            </a:r>
            <a:r>
              <a:rPr lang="en-US" sz="2084" spc="-45">
                <a:solidFill>
                  <a:srgbClr val="403E3E"/>
                </a:solidFill>
                <a:latin typeface="Inter"/>
                <a:ea typeface="Inter"/>
                <a:cs typeface="Inter"/>
                <a:sym typeface="Inter"/>
              </a:rPr>
              <a:t> </a:t>
            </a:r>
            <a:r>
              <a:rPr lang="en-US" sz="2084" spc="-45">
                <a:solidFill>
                  <a:srgbClr val="403E3E"/>
                </a:solidFill>
                <a:latin typeface="Inter"/>
                <a:ea typeface="Inter"/>
                <a:cs typeface="Inter"/>
                <a:sym typeface="Inter"/>
              </a:rPr>
              <a:t>analysis of CPU s</a:t>
            </a:r>
            <a:r>
              <a:rPr lang="en-US" sz="2084" spc="-45">
                <a:solidFill>
                  <a:srgbClr val="403E3E"/>
                </a:solidFill>
                <a:latin typeface="Inter"/>
                <a:ea typeface="Inter"/>
                <a:cs typeface="Inter"/>
                <a:sym typeface="Inter"/>
              </a:rPr>
              <a:t>cheduling</a:t>
            </a:r>
            <a:r>
              <a:rPr lang="en-US" sz="2084" spc="-45">
                <a:solidFill>
                  <a:srgbClr val="403E3E"/>
                </a:solidFill>
                <a:latin typeface="Inter"/>
                <a:ea typeface="Inter"/>
                <a:cs typeface="Inter"/>
                <a:sym typeface="Inter"/>
              </a:rPr>
              <a:t>:</a:t>
            </a:r>
            <a:r>
              <a:rPr lang="en-US" sz="2084" spc="-45">
                <a:solidFill>
                  <a:srgbClr val="403E3E"/>
                </a:solidFill>
                <a:latin typeface="Inter"/>
                <a:ea typeface="Inter"/>
                <a:cs typeface="Inter"/>
                <a:sym typeface="Inter"/>
              </a:rPr>
              <a:t> </a:t>
            </a:r>
            <a:r>
              <a:rPr lang="en-US" sz="2084" spc="-45">
                <a:solidFill>
                  <a:srgbClr val="403E3E"/>
                </a:solidFill>
                <a:latin typeface="Inter"/>
                <a:ea typeface="Inter"/>
                <a:cs typeface="Inter"/>
                <a:sym typeface="Inter"/>
              </a:rPr>
              <a:t>FCFS, SJF and r</a:t>
            </a:r>
            <a:r>
              <a:rPr lang="en-US" sz="2084" spc="-45">
                <a:solidFill>
                  <a:srgbClr val="403E3E"/>
                </a:solidFill>
                <a:latin typeface="Inter"/>
                <a:ea typeface="Inter"/>
                <a:cs typeface="Inter"/>
                <a:sym typeface="Inter"/>
              </a:rPr>
              <a:t>o</a:t>
            </a:r>
            <a:r>
              <a:rPr lang="en-US" sz="2084" spc="-45">
                <a:solidFill>
                  <a:srgbClr val="403E3E"/>
                </a:solidFill>
                <a:latin typeface="Inter"/>
                <a:ea typeface="Inter"/>
                <a:cs typeface="Inter"/>
                <a:sym typeface="Inter"/>
              </a:rPr>
              <a:t>und </a:t>
            </a:r>
            <a:r>
              <a:rPr lang="en-US" sz="2084" spc="-45">
                <a:solidFill>
                  <a:srgbClr val="403E3E"/>
                </a:solidFill>
                <a:latin typeface="Inter"/>
                <a:ea typeface="Inter"/>
                <a:cs typeface="Inter"/>
                <a:sym typeface="Inter"/>
              </a:rPr>
              <a:t>r</a:t>
            </a:r>
            <a:r>
              <a:rPr lang="en-US" sz="2084" spc="-45">
                <a:solidFill>
                  <a:srgbClr val="403E3E"/>
                </a:solidFill>
                <a:latin typeface="Inter"/>
                <a:ea typeface="Inter"/>
                <a:cs typeface="Inter"/>
                <a:sym typeface="Inter"/>
              </a:rPr>
              <a:t>ob</a:t>
            </a:r>
            <a:r>
              <a:rPr lang="en-US" sz="2084" spc="-45">
                <a:solidFill>
                  <a:srgbClr val="403E3E"/>
                </a:solidFill>
                <a:latin typeface="Inter"/>
                <a:ea typeface="Inter"/>
                <a:cs typeface="Inter"/>
                <a:sym typeface="Inter"/>
              </a:rPr>
              <a:t>i</a:t>
            </a:r>
            <a:r>
              <a:rPr lang="en-US" sz="2084" spc="-45">
                <a:solidFill>
                  <a:srgbClr val="403E3E"/>
                </a:solidFill>
                <a:latin typeface="Inter"/>
                <a:ea typeface="Inter"/>
                <a:cs typeface="Inter"/>
                <a:sym typeface="Inter"/>
              </a:rPr>
              <a:t>n," In</a:t>
            </a:r>
            <a:r>
              <a:rPr lang="en-US" sz="2084" spc="-45">
                <a:solidFill>
                  <a:srgbClr val="403E3E"/>
                </a:solidFill>
                <a:latin typeface="Inter"/>
                <a:ea typeface="Inter"/>
                <a:cs typeface="Inter"/>
                <a:sym typeface="Inter"/>
              </a:rPr>
              <a:t>t</a:t>
            </a:r>
            <a:r>
              <a:rPr lang="en-US" sz="2084" spc="-45">
                <a:solidFill>
                  <a:srgbClr val="403E3E"/>
                </a:solidFill>
                <a:latin typeface="Inter"/>
                <a:ea typeface="Inter"/>
                <a:cs typeface="Inter"/>
                <a:sym typeface="Inter"/>
              </a:rPr>
              <a:t>. J.</a:t>
            </a:r>
            <a:r>
              <a:rPr lang="en-US" sz="2084" spc="-45">
                <a:solidFill>
                  <a:srgbClr val="403E3E"/>
                </a:solidFill>
                <a:latin typeface="Inter"/>
                <a:ea typeface="Inter"/>
                <a:cs typeface="Inter"/>
                <a:sym typeface="Inter"/>
              </a:rPr>
              <a:t> E</a:t>
            </a:r>
            <a:r>
              <a:rPr lang="en-US" sz="2084" spc="-45">
                <a:solidFill>
                  <a:srgbClr val="403E3E"/>
                </a:solidFill>
                <a:latin typeface="Inter"/>
                <a:ea typeface="Inter"/>
                <a:cs typeface="Inter"/>
                <a:sym typeface="Inter"/>
              </a:rPr>
              <a:t>ng. Dev. Res., vo</a:t>
            </a:r>
            <a:r>
              <a:rPr lang="en-US" sz="2084" spc="-45">
                <a:solidFill>
                  <a:srgbClr val="403E3E"/>
                </a:solidFill>
                <a:latin typeface="Inter"/>
                <a:ea typeface="Inter"/>
                <a:cs typeface="Inter"/>
                <a:sym typeface="Inter"/>
              </a:rPr>
              <a:t>l</a:t>
            </a:r>
            <a:r>
              <a:rPr lang="en-US" sz="2084" spc="-45">
                <a:solidFill>
                  <a:srgbClr val="403E3E"/>
                </a:solidFill>
                <a:latin typeface="Inter"/>
                <a:ea typeface="Inter"/>
                <a:cs typeface="Inter"/>
                <a:sym typeface="Inter"/>
              </a:rPr>
              <a:t>. 4, </a:t>
            </a:r>
            <a:r>
              <a:rPr lang="en-US" sz="2084" spc="-45">
                <a:solidFill>
                  <a:srgbClr val="403E3E"/>
                </a:solidFill>
                <a:latin typeface="Inter"/>
                <a:ea typeface="Inter"/>
                <a:cs typeface="Inter"/>
                <a:sym typeface="Inter"/>
              </a:rPr>
              <a:t>n</a:t>
            </a:r>
            <a:r>
              <a:rPr lang="en-US" sz="2084" spc="-45">
                <a:solidFill>
                  <a:srgbClr val="403E3E"/>
                </a:solidFill>
                <a:latin typeface="Inter"/>
                <a:ea typeface="Inter"/>
                <a:cs typeface="Inter"/>
                <a:sym typeface="Inter"/>
              </a:rPr>
              <a:t>o. 3, pp. 124-132</a:t>
            </a:r>
            <a:r>
              <a:rPr lang="en-US" sz="2084" spc="-45">
                <a:solidFill>
                  <a:srgbClr val="403E3E"/>
                </a:solidFill>
                <a:latin typeface="Inter"/>
                <a:ea typeface="Inter"/>
                <a:cs typeface="Inter"/>
                <a:sym typeface="Inter"/>
              </a:rPr>
              <a:t>,</a:t>
            </a:r>
            <a:r>
              <a:rPr lang="en-US" sz="2084" spc="-45">
                <a:solidFill>
                  <a:srgbClr val="403E3E"/>
                </a:solidFill>
                <a:latin typeface="Inter"/>
                <a:ea typeface="Inter"/>
                <a:cs typeface="Inter"/>
                <a:sym typeface="Inter"/>
              </a:rPr>
              <a:t> 2016. </a:t>
            </a:r>
          </a:p>
        </p:txBody>
      </p:sp>
      <p:sp>
        <p:nvSpPr>
          <p:cNvPr name="TextBox 18" id="18"/>
          <p:cNvSpPr txBox="true"/>
          <p:nvPr/>
        </p:nvSpPr>
        <p:spPr>
          <a:xfrm rot="0">
            <a:off x="727656" y="7361414"/>
            <a:ext cx="14860994" cy="1080523"/>
          </a:xfrm>
          <a:prstGeom prst="rect">
            <a:avLst/>
          </a:prstGeom>
        </p:spPr>
        <p:txBody>
          <a:bodyPr anchor="t" rtlCol="false" tIns="0" lIns="0" bIns="0" rIns="0">
            <a:spAutoFit/>
          </a:bodyPr>
          <a:lstStyle/>
          <a:p>
            <a:pPr algn="just">
              <a:lnSpc>
                <a:spcPts val="2918"/>
              </a:lnSpc>
            </a:pPr>
            <a:r>
              <a:rPr lang="en-US" sz="2084" spc="-45">
                <a:solidFill>
                  <a:srgbClr val="403E3E"/>
                </a:solidFill>
                <a:latin typeface="Inter"/>
                <a:ea typeface="Inter"/>
                <a:cs typeface="Inter"/>
                <a:sym typeface="Inter"/>
              </a:rPr>
              <a:t> [5] S. Mohammadjafari et al., "Optimizing task scheduling in heterogeneous multi-core systems," IEEE Access, vol. 9, pp. 48080-48091, 2021.</a:t>
            </a:r>
          </a:p>
          <a:p>
            <a:pPr algn="just">
              <a:lnSpc>
                <a:spcPts val="2918"/>
              </a:lnSpc>
            </a:pPr>
          </a:p>
        </p:txBody>
      </p:sp>
      <p:sp>
        <p:nvSpPr>
          <p:cNvPr name="TextBox 19" id="19"/>
          <p:cNvSpPr txBox="true"/>
          <p:nvPr/>
        </p:nvSpPr>
        <p:spPr>
          <a:xfrm rot="0">
            <a:off x="880988" y="4319951"/>
            <a:ext cx="14408042" cy="356623"/>
          </a:xfrm>
          <a:prstGeom prst="rect">
            <a:avLst/>
          </a:prstGeom>
        </p:spPr>
        <p:txBody>
          <a:bodyPr anchor="t" rtlCol="false" tIns="0" lIns="0" bIns="0" rIns="0">
            <a:spAutoFit/>
          </a:bodyPr>
          <a:lstStyle/>
          <a:p>
            <a:pPr algn="just" marL="0" indent="0" lvl="0">
              <a:lnSpc>
                <a:spcPts val="2918"/>
              </a:lnSpc>
              <a:spcBef>
                <a:spcPct val="0"/>
              </a:spcBef>
            </a:pPr>
            <a:r>
              <a:rPr lang="en-US" b="true" sz="2084" spc="-45">
                <a:solidFill>
                  <a:srgbClr val="403E3E"/>
                </a:solidFill>
                <a:latin typeface="Inter Bold"/>
                <a:ea typeface="Inter Bold"/>
                <a:cs typeface="Inter Bold"/>
                <a:sym typeface="Inter Bold"/>
              </a:rPr>
              <a:t>References</a:t>
            </a:r>
          </a:p>
        </p:txBody>
      </p:sp>
      <p:sp>
        <p:nvSpPr>
          <p:cNvPr name="Freeform 20" id="20"/>
          <p:cNvSpPr/>
          <p:nvPr/>
        </p:nvSpPr>
        <p:spPr>
          <a:xfrm flipH="false" flipV="false" rot="0">
            <a:off x="1028700" y="557176"/>
            <a:ext cx="2476770" cy="1024764"/>
          </a:xfrm>
          <a:custGeom>
            <a:avLst/>
            <a:gdLst/>
            <a:ahLst/>
            <a:cxnLst/>
            <a:rect r="r" b="b" t="t" l="l"/>
            <a:pathLst>
              <a:path h="1024764" w="2476770">
                <a:moveTo>
                  <a:pt x="0" y="0"/>
                </a:moveTo>
                <a:lnTo>
                  <a:pt x="2476770" y="0"/>
                </a:lnTo>
                <a:lnTo>
                  <a:pt x="2476770" y="1024764"/>
                </a:lnTo>
                <a:lnTo>
                  <a:pt x="0" y="1024764"/>
                </a:lnTo>
                <a:lnTo>
                  <a:pt x="0" y="0"/>
                </a:lnTo>
                <a:close/>
              </a:path>
            </a:pathLst>
          </a:custGeom>
          <a:blipFill>
            <a:blip r:embed="rId4"/>
            <a:stretch>
              <a:fillRect l="0" t="0" r="0" b="0"/>
            </a:stretch>
          </a:blipFill>
        </p:spPr>
      </p:sp>
      <p:sp>
        <p:nvSpPr>
          <p:cNvPr name="TextBox 21" id="21"/>
          <p:cNvSpPr txBox="true"/>
          <p:nvPr/>
        </p:nvSpPr>
        <p:spPr>
          <a:xfrm rot="0">
            <a:off x="1028700" y="8961438"/>
            <a:ext cx="5084862" cy="323215"/>
          </a:xfrm>
          <a:prstGeom prst="rect">
            <a:avLst/>
          </a:prstGeom>
        </p:spPr>
        <p:txBody>
          <a:bodyPr anchor="t" rtlCol="false" tIns="0" lIns="0" bIns="0" rIns="0">
            <a:spAutoFit/>
          </a:bodyPr>
          <a:lstStyle/>
          <a:p>
            <a:pPr algn="ctr">
              <a:lnSpc>
                <a:spcPts val="2660"/>
              </a:lnSpc>
              <a:spcBef>
                <a:spcPct val="0"/>
              </a:spcBef>
            </a:pPr>
            <a:r>
              <a:rPr lang="en-US" b="true" sz="1900" spc="-104">
                <a:solidFill>
                  <a:srgbClr val="403E3E"/>
                </a:solidFill>
                <a:latin typeface="Mukti"/>
                <a:ea typeface="Mukti"/>
                <a:cs typeface="Mukti"/>
                <a:sym typeface="Mukti"/>
              </a:rPr>
              <a:t>HO CHI MINH CITY UNIVERSITY OF TRANSPORT</a:t>
            </a:r>
          </a:p>
        </p:txBody>
      </p:sp>
      <p:sp>
        <p:nvSpPr>
          <p:cNvPr name="TextBox 22" id="22"/>
          <p:cNvSpPr txBox="true"/>
          <p:nvPr/>
        </p:nvSpPr>
        <p:spPr>
          <a:xfrm rot="0">
            <a:off x="785543" y="8237714"/>
            <a:ext cx="14860994" cy="356623"/>
          </a:xfrm>
          <a:prstGeom prst="rect">
            <a:avLst/>
          </a:prstGeom>
        </p:spPr>
        <p:txBody>
          <a:bodyPr anchor="t" rtlCol="false" tIns="0" lIns="0" bIns="0" rIns="0">
            <a:spAutoFit/>
          </a:bodyPr>
          <a:lstStyle/>
          <a:p>
            <a:pPr algn="just">
              <a:lnSpc>
                <a:spcPts val="2918"/>
              </a:lnSpc>
            </a:pPr>
            <a:r>
              <a:rPr lang="en-US" sz="2084" spc="-45">
                <a:solidFill>
                  <a:srgbClr val="403E3E"/>
                </a:solidFill>
                <a:latin typeface="Inter"/>
                <a:ea typeface="Inter"/>
                <a:cs typeface="Inter"/>
                <a:sym typeface="Inter"/>
              </a:rPr>
              <a:t> [6]  W. Li et al., "Advances in CPU scheduling algorithms: A comprehensive review," J. Syst. Archit., vol. 118, 102221, 2021.</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FEEEC"/>
        </a:solidFill>
      </p:bgPr>
    </p:bg>
    <p:spTree>
      <p:nvGrpSpPr>
        <p:cNvPr id="1" name=""/>
        <p:cNvGrpSpPr/>
        <p:nvPr/>
      </p:nvGrpSpPr>
      <p:grpSpPr>
        <a:xfrm>
          <a:off x="0" y="0"/>
          <a:ext cx="0" cy="0"/>
          <a:chOff x="0" y="0"/>
          <a:chExt cx="0" cy="0"/>
        </a:xfrm>
      </p:grpSpPr>
      <p:grpSp>
        <p:nvGrpSpPr>
          <p:cNvPr name="Group 2" id="2"/>
          <p:cNvGrpSpPr/>
          <p:nvPr/>
        </p:nvGrpSpPr>
        <p:grpSpPr>
          <a:xfrm rot="5400000">
            <a:off x="12432431" y="4605338"/>
            <a:ext cx="10730064" cy="1076325"/>
            <a:chOff x="0" y="0"/>
            <a:chExt cx="3845413" cy="385731"/>
          </a:xfrm>
        </p:grpSpPr>
        <p:sp>
          <p:nvSpPr>
            <p:cNvPr name="Freeform 3" id="3"/>
            <p:cNvSpPr/>
            <p:nvPr/>
          </p:nvSpPr>
          <p:spPr>
            <a:xfrm flipH="false" flipV="false" rot="0">
              <a:off x="0" y="0"/>
              <a:ext cx="3845413" cy="385731"/>
            </a:xfrm>
            <a:custGeom>
              <a:avLst/>
              <a:gdLst/>
              <a:ahLst/>
              <a:cxnLst/>
              <a:rect r="r" b="b" t="t" l="l"/>
              <a:pathLst>
                <a:path h="385731" w="3845413">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sp>
        <p:sp>
          <p:nvSpPr>
            <p:cNvPr name="TextBox 4" id="4"/>
            <p:cNvSpPr txBox="true"/>
            <p:nvPr/>
          </p:nvSpPr>
          <p:spPr>
            <a:xfrm>
              <a:off x="0" y="-47625"/>
              <a:ext cx="3845413" cy="433356"/>
            </a:xfrm>
            <a:prstGeom prst="rect">
              <a:avLst/>
            </a:prstGeom>
          </p:spPr>
          <p:txBody>
            <a:bodyPr anchor="ctr" rtlCol="false" tIns="50800" lIns="50800" bIns="50800" rIns="50800"/>
            <a:lstStyle/>
            <a:p>
              <a:pPr algn="ctr">
                <a:lnSpc>
                  <a:spcPts val="1960"/>
                </a:lnSpc>
              </a:pPr>
            </a:p>
          </p:txBody>
        </p:sp>
      </p:grpSp>
      <p:sp>
        <p:nvSpPr>
          <p:cNvPr name="AutoShape 5" id="5"/>
          <p:cNvSpPr/>
          <p:nvPr/>
        </p:nvSpPr>
        <p:spPr>
          <a:xfrm flipV="true">
            <a:off x="5198590" y="4442066"/>
            <a:ext cx="11289034" cy="0"/>
          </a:xfrm>
          <a:prstGeom prst="line">
            <a:avLst/>
          </a:prstGeom>
          <a:ln cap="flat" w="9525">
            <a:solidFill>
              <a:srgbClr val="000000"/>
            </a:solidFill>
            <a:prstDash val="sysDot"/>
            <a:headEnd type="none" len="sm" w="sm"/>
            <a:tailEnd type="none" len="sm" w="sm"/>
          </a:ln>
        </p:spPr>
      </p:sp>
      <p:sp>
        <p:nvSpPr>
          <p:cNvPr name="TextBox 6" id="6"/>
          <p:cNvSpPr txBox="true"/>
          <p:nvPr/>
        </p:nvSpPr>
        <p:spPr>
          <a:xfrm rot="0">
            <a:off x="5608706" y="2352675"/>
            <a:ext cx="5558937" cy="1481455"/>
          </a:xfrm>
          <a:prstGeom prst="rect">
            <a:avLst/>
          </a:prstGeom>
        </p:spPr>
        <p:txBody>
          <a:bodyPr anchor="t" rtlCol="false" tIns="0" lIns="0" bIns="0" rIns="0">
            <a:spAutoFit/>
          </a:bodyPr>
          <a:lstStyle/>
          <a:p>
            <a:pPr algn="l">
              <a:lnSpc>
                <a:spcPts val="3919"/>
              </a:lnSpc>
            </a:pPr>
            <a:r>
              <a:rPr lang="en-US" sz="2799" spc="-209">
                <a:solidFill>
                  <a:srgbClr val="403E3E"/>
                </a:solidFill>
                <a:latin typeface="Inter Light"/>
                <a:ea typeface="Inter Light"/>
                <a:cs typeface="Inter Light"/>
                <a:sym typeface="Inter Light"/>
              </a:rPr>
              <a:t>4.1. CALCULATION FORMULAS FOR TIME METRICS</a:t>
            </a:r>
          </a:p>
          <a:p>
            <a:pPr algn="l" marL="0" indent="0" lvl="0">
              <a:lnSpc>
                <a:spcPts val="3919"/>
              </a:lnSpc>
              <a:spcBef>
                <a:spcPct val="0"/>
              </a:spcBef>
            </a:pPr>
          </a:p>
        </p:txBody>
      </p:sp>
      <p:sp>
        <p:nvSpPr>
          <p:cNvPr name="TextBox 7" id="7"/>
          <p:cNvSpPr txBox="true"/>
          <p:nvPr/>
        </p:nvSpPr>
        <p:spPr>
          <a:xfrm rot="0">
            <a:off x="15506330" y="8951595"/>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14</a:t>
            </a:r>
          </a:p>
        </p:txBody>
      </p:sp>
      <p:sp>
        <p:nvSpPr>
          <p:cNvPr name="TextBox 8" id="8"/>
          <p:cNvSpPr txBox="true"/>
          <p:nvPr/>
        </p:nvSpPr>
        <p:spPr>
          <a:xfrm rot="0">
            <a:off x="5507323" y="4789729"/>
            <a:ext cx="3945410" cy="1083648"/>
          </a:xfrm>
          <a:prstGeom prst="rect">
            <a:avLst/>
          </a:prstGeom>
        </p:spPr>
        <p:txBody>
          <a:bodyPr anchor="t" rtlCol="false" tIns="0" lIns="0" bIns="0" rIns="0">
            <a:spAutoFit/>
          </a:bodyPr>
          <a:lstStyle/>
          <a:p>
            <a:pPr algn="just">
              <a:lnSpc>
                <a:spcPts val="2944"/>
              </a:lnSpc>
            </a:pPr>
            <a:r>
              <a:rPr lang="en-US" b="true" sz="2103" spc="-46">
                <a:solidFill>
                  <a:srgbClr val="403E3E"/>
                </a:solidFill>
                <a:latin typeface="Inter Bold"/>
                <a:ea typeface="Inter Bold"/>
                <a:cs typeface="Inter Bold"/>
                <a:sym typeface="Inter Bold"/>
              </a:rPr>
              <a:t> </a:t>
            </a:r>
            <a:r>
              <a:rPr lang="en-US" sz="2103" spc="-46">
                <a:solidFill>
                  <a:srgbClr val="403E3E"/>
                </a:solidFill>
                <a:latin typeface="Inter"/>
                <a:ea typeface="Inter"/>
                <a:cs typeface="Inter"/>
                <a:sym typeface="Inter"/>
              </a:rPr>
              <a:t>CTi​=max(CTi−1​,ATi​)+BTi</a:t>
            </a:r>
          </a:p>
          <a:p>
            <a:pPr algn="just" marL="0" indent="0" lvl="0">
              <a:lnSpc>
                <a:spcPts val="2944"/>
              </a:lnSpc>
              <a:spcBef>
                <a:spcPct val="0"/>
              </a:spcBef>
            </a:pPr>
            <a:r>
              <a:rPr lang="en-US" sz="2103" spc="-46">
                <a:solidFill>
                  <a:srgbClr val="403E3E"/>
                </a:solidFill>
                <a:latin typeface="Inter"/>
                <a:ea typeface="Inter"/>
                <a:cs typeface="Inter"/>
                <a:sym typeface="Inter"/>
              </a:rPr>
              <a:t> Completion Time is a process finishes its execution</a:t>
            </a:r>
          </a:p>
        </p:txBody>
      </p:sp>
      <p:sp>
        <p:nvSpPr>
          <p:cNvPr name="TextBox 9" id="9"/>
          <p:cNvSpPr txBox="true"/>
          <p:nvPr/>
        </p:nvSpPr>
        <p:spPr>
          <a:xfrm rot="0">
            <a:off x="10900533" y="3767455"/>
            <a:ext cx="4071034" cy="490855"/>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403E3E"/>
                </a:solidFill>
                <a:latin typeface="Inter Light"/>
                <a:ea typeface="Inter Light"/>
                <a:cs typeface="Inter Light"/>
                <a:sym typeface="Inter Light"/>
              </a:rPr>
              <a:t>TURNAROUND TIME (TAT) </a:t>
            </a:r>
          </a:p>
        </p:txBody>
      </p:sp>
      <p:sp>
        <p:nvSpPr>
          <p:cNvPr name="TextBox 10" id="10"/>
          <p:cNvSpPr txBox="true"/>
          <p:nvPr/>
        </p:nvSpPr>
        <p:spPr>
          <a:xfrm rot="0">
            <a:off x="10900533" y="4752975"/>
            <a:ext cx="5693112" cy="2166162"/>
          </a:xfrm>
          <a:prstGeom prst="rect">
            <a:avLst/>
          </a:prstGeom>
        </p:spPr>
        <p:txBody>
          <a:bodyPr anchor="t" rtlCol="false" tIns="0" lIns="0" bIns="0" rIns="0">
            <a:spAutoFit/>
          </a:bodyPr>
          <a:lstStyle/>
          <a:p>
            <a:pPr algn="just">
              <a:lnSpc>
                <a:spcPts val="2935"/>
              </a:lnSpc>
            </a:pPr>
            <a:r>
              <a:rPr lang="en-US" sz="2096" spc="-46">
                <a:solidFill>
                  <a:srgbClr val="403E3E"/>
                </a:solidFill>
                <a:latin typeface="Inter"/>
                <a:ea typeface="Inter"/>
                <a:cs typeface="Inter"/>
                <a:sym typeface="Inter"/>
              </a:rPr>
              <a:t>TATi​=CTi​−ATi</a:t>
            </a:r>
          </a:p>
          <a:p>
            <a:pPr algn="just">
              <a:lnSpc>
                <a:spcPts val="2935"/>
              </a:lnSpc>
            </a:pPr>
            <a:r>
              <a:rPr lang="en-US" sz="2096" spc="-46">
                <a:solidFill>
                  <a:srgbClr val="403E3E"/>
                </a:solidFill>
                <a:latin typeface="Inter"/>
                <a:ea typeface="Inter"/>
                <a:cs typeface="Inter"/>
                <a:sym typeface="Inter"/>
              </a:rPr>
              <a:t> Turnaround Time is the total time taken for a process to complete after its arrival. Where CT is the Completion Time and AT is the Arrival Time of process i.</a:t>
            </a:r>
          </a:p>
          <a:p>
            <a:pPr algn="just" marL="0" indent="0" lvl="0">
              <a:lnSpc>
                <a:spcPts val="2935"/>
              </a:lnSpc>
              <a:spcBef>
                <a:spcPct val="0"/>
              </a:spcBef>
            </a:pPr>
          </a:p>
        </p:txBody>
      </p:sp>
      <p:sp>
        <p:nvSpPr>
          <p:cNvPr name="TextBox 11" id="11"/>
          <p:cNvSpPr txBox="true"/>
          <p:nvPr/>
        </p:nvSpPr>
        <p:spPr>
          <a:xfrm rot="0">
            <a:off x="13402382" y="993352"/>
            <a:ext cx="2850172" cy="621030"/>
          </a:xfrm>
          <a:prstGeom prst="rect">
            <a:avLst/>
          </a:prstGeom>
        </p:spPr>
        <p:txBody>
          <a:bodyPr anchor="t" rtlCol="false" tIns="0" lIns="0" bIns="0" rIns="0">
            <a:spAutoFit/>
          </a:bodyPr>
          <a:lstStyle/>
          <a:p>
            <a:pPr algn="r">
              <a:lnSpc>
                <a:spcPts val="2520"/>
              </a:lnSpc>
            </a:pPr>
            <a:r>
              <a:rPr lang="en-US" sz="1800" spc="-72">
                <a:solidFill>
                  <a:srgbClr val="403E3E"/>
                </a:solidFill>
                <a:latin typeface="Inter"/>
                <a:ea typeface="Inter"/>
                <a:cs typeface="Inter"/>
                <a:sym typeface="Inter"/>
              </a:rPr>
              <a:t>NOV 2025</a:t>
            </a:r>
          </a:p>
          <a:p>
            <a:pPr algn="r" marL="0" indent="0" lvl="0">
              <a:lnSpc>
                <a:spcPts val="2520"/>
              </a:lnSpc>
              <a:spcBef>
                <a:spcPct val="0"/>
              </a:spcBef>
            </a:pPr>
          </a:p>
        </p:txBody>
      </p:sp>
      <p:sp>
        <p:nvSpPr>
          <p:cNvPr name="TextBox 12" id="12"/>
          <p:cNvSpPr txBox="true"/>
          <p:nvPr/>
        </p:nvSpPr>
        <p:spPr>
          <a:xfrm rot="0">
            <a:off x="5608706" y="1481032"/>
            <a:ext cx="8754427" cy="1268095"/>
          </a:xfrm>
          <a:prstGeom prst="rect">
            <a:avLst/>
          </a:prstGeom>
        </p:spPr>
        <p:txBody>
          <a:bodyPr anchor="t" rtlCol="false" tIns="0" lIns="0" bIns="0" rIns="0">
            <a:spAutoFit/>
          </a:bodyPr>
          <a:lstStyle/>
          <a:p>
            <a:pPr algn="l">
              <a:lnSpc>
                <a:spcPts val="4760"/>
              </a:lnSpc>
            </a:pPr>
            <a:r>
              <a:rPr lang="en-US" sz="5600" spc="-420">
                <a:solidFill>
                  <a:srgbClr val="403E3E"/>
                </a:solidFill>
                <a:latin typeface="Inter"/>
                <a:ea typeface="Inter"/>
                <a:cs typeface="Inter"/>
                <a:sym typeface="Inter"/>
              </a:rPr>
              <a:t> 4.EXPERIMENTAL RESULTS</a:t>
            </a:r>
          </a:p>
          <a:p>
            <a:pPr algn="l">
              <a:lnSpc>
                <a:spcPts val="4760"/>
              </a:lnSpc>
            </a:pPr>
          </a:p>
        </p:txBody>
      </p:sp>
      <p:grpSp>
        <p:nvGrpSpPr>
          <p:cNvPr name="Group 13" id="13"/>
          <p:cNvGrpSpPr/>
          <p:nvPr/>
        </p:nvGrpSpPr>
        <p:grpSpPr>
          <a:xfrm rot="5400000">
            <a:off x="-3195310" y="2727751"/>
            <a:ext cx="10730064" cy="4831498"/>
            <a:chOff x="0" y="0"/>
            <a:chExt cx="3845413" cy="1731500"/>
          </a:xfrm>
        </p:grpSpPr>
        <p:sp>
          <p:nvSpPr>
            <p:cNvPr name="Freeform 14" id="14"/>
            <p:cNvSpPr/>
            <p:nvPr/>
          </p:nvSpPr>
          <p:spPr>
            <a:xfrm flipH="false" flipV="false" rot="0">
              <a:off x="0" y="0"/>
              <a:ext cx="3845413" cy="1731500"/>
            </a:xfrm>
            <a:custGeom>
              <a:avLst/>
              <a:gdLst/>
              <a:ahLst/>
              <a:cxnLst/>
              <a:rect r="r" b="b" t="t" l="l"/>
              <a:pathLst>
                <a:path h="1731500" w="3845413">
                  <a:moveTo>
                    <a:pt x="0" y="0"/>
                  </a:moveTo>
                  <a:lnTo>
                    <a:pt x="3845413" y="0"/>
                  </a:lnTo>
                  <a:lnTo>
                    <a:pt x="3845413" y="1731500"/>
                  </a:lnTo>
                  <a:lnTo>
                    <a:pt x="0" y="1731500"/>
                  </a:lnTo>
                  <a:close/>
                </a:path>
              </a:pathLst>
            </a:custGeom>
            <a:solidFill>
              <a:srgbClr val="F6F5F3"/>
            </a:solidFill>
            <a:ln w="9525" cap="sq">
              <a:solidFill>
                <a:srgbClr val="403E3E"/>
              </a:solidFill>
              <a:prstDash val="solid"/>
              <a:miter/>
            </a:ln>
          </p:spPr>
        </p:sp>
        <p:sp>
          <p:nvSpPr>
            <p:cNvPr name="TextBox 15" id="15"/>
            <p:cNvSpPr txBox="true"/>
            <p:nvPr/>
          </p:nvSpPr>
          <p:spPr>
            <a:xfrm>
              <a:off x="0" y="-47625"/>
              <a:ext cx="3845413" cy="1779125"/>
            </a:xfrm>
            <a:prstGeom prst="rect">
              <a:avLst/>
            </a:prstGeom>
          </p:spPr>
          <p:txBody>
            <a:bodyPr anchor="ctr" rtlCol="false" tIns="50800" lIns="50800" bIns="50800" rIns="50800"/>
            <a:lstStyle/>
            <a:p>
              <a:pPr algn="ctr">
                <a:lnSpc>
                  <a:spcPts val="1960"/>
                </a:lnSpc>
              </a:pPr>
            </a:p>
          </p:txBody>
        </p:sp>
      </p:grpSp>
      <p:sp>
        <p:nvSpPr>
          <p:cNvPr name="TextBox 16" id="16"/>
          <p:cNvSpPr txBox="true"/>
          <p:nvPr/>
        </p:nvSpPr>
        <p:spPr>
          <a:xfrm rot="0">
            <a:off x="780480" y="8951595"/>
            <a:ext cx="4279181" cy="621030"/>
          </a:xfrm>
          <a:prstGeom prst="rect">
            <a:avLst/>
          </a:prstGeom>
        </p:spPr>
        <p:txBody>
          <a:bodyPr anchor="t" rtlCol="false" tIns="0" lIns="0" bIns="0" rIns="0">
            <a:spAutoFit/>
          </a:bodyPr>
          <a:lstStyle/>
          <a:p>
            <a:pPr algn="l" marL="0" indent="0" lvl="0">
              <a:lnSpc>
                <a:spcPts val="2520"/>
              </a:lnSpc>
              <a:spcBef>
                <a:spcPct val="0"/>
              </a:spcBef>
            </a:pPr>
            <a:r>
              <a:rPr lang="en-US" sz="1800" spc="-72">
                <a:solidFill>
                  <a:srgbClr val="403E3E"/>
                </a:solidFill>
                <a:latin typeface="Inter"/>
                <a:ea typeface="Inter"/>
                <a:cs typeface="Inter"/>
                <a:sym typeface="Inter"/>
              </a:rPr>
              <a:t>HO CHI MINH CITY UNIVERSITY OF TRANSPORT</a:t>
            </a:r>
          </a:p>
        </p:txBody>
      </p:sp>
      <p:sp>
        <p:nvSpPr>
          <p:cNvPr name="Freeform 17" id="17"/>
          <p:cNvSpPr/>
          <p:nvPr/>
        </p:nvSpPr>
        <p:spPr>
          <a:xfrm flipH="false" flipV="false" rot="0">
            <a:off x="4111280" y="1028700"/>
            <a:ext cx="948381" cy="1520727"/>
          </a:xfrm>
          <a:custGeom>
            <a:avLst/>
            <a:gdLst/>
            <a:ahLst/>
            <a:cxnLst/>
            <a:rect r="r" b="b" t="t" l="l"/>
            <a:pathLst>
              <a:path h="1520727" w="948381">
                <a:moveTo>
                  <a:pt x="0" y="0"/>
                </a:moveTo>
                <a:lnTo>
                  <a:pt x="948381" y="0"/>
                </a:lnTo>
                <a:lnTo>
                  <a:pt x="948381" y="1520727"/>
                </a:lnTo>
                <a:lnTo>
                  <a:pt x="0" y="15207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8" id="18"/>
          <p:cNvSpPr txBox="true"/>
          <p:nvPr/>
        </p:nvSpPr>
        <p:spPr>
          <a:xfrm rot="0">
            <a:off x="5444511" y="3767455"/>
            <a:ext cx="4071034" cy="490855"/>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403E3E"/>
                </a:solidFill>
                <a:latin typeface="Inter Light"/>
                <a:ea typeface="Inter Light"/>
                <a:cs typeface="Inter Light"/>
                <a:sym typeface="Inter Light"/>
              </a:rPr>
              <a:t>COMPLETION TIME (CT)</a:t>
            </a:r>
          </a:p>
        </p:txBody>
      </p:sp>
      <p:sp>
        <p:nvSpPr>
          <p:cNvPr name="AutoShape 19" id="19"/>
          <p:cNvSpPr/>
          <p:nvPr/>
        </p:nvSpPr>
        <p:spPr>
          <a:xfrm flipV="true">
            <a:off x="5198590" y="7179820"/>
            <a:ext cx="11289034" cy="0"/>
          </a:xfrm>
          <a:prstGeom prst="line">
            <a:avLst/>
          </a:prstGeom>
          <a:ln cap="flat" w="9525">
            <a:solidFill>
              <a:srgbClr val="000000"/>
            </a:solidFill>
            <a:prstDash val="sysDot"/>
            <a:headEnd type="none" len="sm" w="sm"/>
            <a:tailEnd type="none" len="sm" w="sm"/>
          </a:ln>
        </p:spPr>
      </p:sp>
      <p:sp>
        <p:nvSpPr>
          <p:cNvPr name="TextBox 20" id="20"/>
          <p:cNvSpPr txBox="true"/>
          <p:nvPr/>
        </p:nvSpPr>
        <p:spPr>
          <a:xfrm rot="0">
            <a:off x="5507323" y="6639117"/>
            <a:ext cx="4071034" cy="490855"/>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403E3E"/>
                </a:solidFill>
                <a:latin typeface="Inter Light"/>
                <a:ea typeface="Inter Light"/>
                <a:cs typeface="Inter Light"/>
                <a:sym typeface="Inter Light"/>
              </a:rPr>
              <a:t>WAITING TIME (WT)</a:t>
            </a:r>
          </a:p>
        </p:txBody>
      </p:sp>
      <p:sp>
        <p:nvSpPr>
          <p:cNvPr name="TextBox 21" id="21"/>
          <p:cNvSpPr txBox="true"/>
          <p:nvPr/>
        </p:nvSpPr>
        <p:spPr>
          <a:xfrm rot="0">
            <a:off x="5507323" y="7677199"/>
            <a:ext cx="3945410" cy="1446798"/>
          </a:xfrm>
          <a:prstGeom prst="rect">
            <a:avLst/>
          </a:prstGeom>
        </p:spPr>
        <p:txBody>
          <a:bodyPr anchor="t" rtlCol="false" tIns="0" lIns="0" bIns="0" rIns="0">
            <a:spAutoFit/>
          </a:bodyPr>
          <a:lstStyle/>
          <a:p>
            <a:pPr algn="just">
              <a:lnSpc>
                <a:spcPts val="2944"/>
              </a:lnSpc>
            </a:pPr>
            <a:r>
              <a:rPr lang="en-US" b="true" sz="2103" spc="-46">
                <a:solidFill>
                  <a:srgbClr val="403E3E"/>
                </a:solidFill>
                <a:latin typeface="Inter Bold"/>
                <a:ea typeface="Inter Bold"/>
                <a:cs typeface="Inter Bold"/>
                <a:sym typeface="Inter Bold"/>
              </a:rPr>
              <a:t> </a:t>
            </a:r>
            <a:r>
              <a:rPr lang="en-US" sz="2103" spc="-46">
                <a:solidFill>
                  <a:srgbClr val="403E3E"/>
                </a:solidFill>
                <a:latin typeface="Inter"/>
                <a:ea typeface="Inter"/>
                <a:cs typeface="Inter"/>
                <a:sym typeface="Inter"/>
              </a:rPr>
              <a:t>WTi​=TATi​−BTi​</a:t>
            </a:r>
          </a:p>
          <a:p>
            <a:pPr algn="just" marL="0" indent="0" lvl="0">
              <a:lnSpc>
                <a:spcPts val="2944"/>
              </a:lnSpc>
              <a:spcBef>
                <a:spcPct val="0"/>
              </a:spcBef>
            </a:pPr>
            <a:r>
              <a:rPr lang="en-US" sz="2103" spc="-46">
                <a:solidFill>
                  <a:srgbClr val="403E3E"/>
                </a:solidFill>
                <a:latin typeface="Inter"/>
                <a:ea typeface="Inter"/>
                <a:cs typeface="Inter"/>
                <a:sym typeface="Inter"/>
              </a:rPr>
              <a:t>Waiting Time is the total time a process spends waiting in the ready queue before execution.</a:t>
            </a:r>
          </a:p>
        </p:txBody>
      </p:sp>
      <p:sp>
        <p:nvSpPr>
          <p:cNvPr name="TextBox 22" id="22"/>
          <p:cNvSpPr txBox="true"/>
          <p:nvPr/>
        </p:nvSpPr>
        <p:spPr>
          <a:xfrm rot="0">
            <a:off x="10756433" y="6639117"/>
            <a:ext cx="4071034" cy="490855"/>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403E3E"/>
                </a:solidFill>
                <a:latin typeface="Inter Light"/>
                <a:ea typeface="Inter Light"/>
                <a:cs typeface="Inter Light"/>
                <a:sym typeface="Inter Light"/>
              </a:rPr>
              <a:t>RESPONSE TIME (RT)</a:t>
            </a:r>
          </a:p>
        </p:txBody>
      </p:sp>
      <p:sp>
        <p:nvSpPr>
          <p:cNvPr name="TextBox 23" id="23"/>
          <p:cNvSpPr txBox="true"/>
          <p:nvPr/>
        </p:nvSpPr>
        <p:spPr>
          <a:xfrm rot="0">
            <a:off x="10900533" y="7677199"/>
            <a:ext cx="3945410" cy="1446798"/>
          </a:xfrm>
          <a:prstGeom prst="rect">
            <a:avLst/>
          </a:prstGeom>
        </p:spPr>
        <p:txBody>
          <a:bodyPr anchor="t" rtlCol="false" tIns="0" lIns="0" bIns="0" rIns="0">
            <a:spAutoFit/>
          </a:bodyPr>
          <a:lstStyle/>
          <a:p>
            <a:pPr algn="just">
              <a:lnSpc>
                <a:spcPts val="2944"/>
              </a:lnSpc>
            </a:pPr>
            <a:r>
              <a:rPr lang="en-US" b="true" sz="2103" spc="-46">
                <a:solidFill>
                  <a:srgbClr val="403E3E"/>
                </a:solidFill>
                <a:latin typeface="Inter Bold"/>
                <a:ea typeface="Inter Bold"/>
                <a:cs typeface="Inter Bold"/>
                <a:sym typeface="Inter Bold"/>
              </a:rPr>
              <a:t> </a:t>
            </a:r>
            <a:r>
              <a:rPr lang="en-US" sz="2103" spc="-46">
                <a:solidFill>
                  <a:srgbClr val="403E3E"/>
                </a:solidFill>
                <a:latin typeface="Inter"/>
                <a:ea typeface="Inter"/>
                <a:cs typeface="Inter"/>
                <a:sym typeface="Inter"/>
              </a:rPr>
              <a:t>RTi​=ST i​−ATi​</a:t>
            </a:r>
          </a:p>
          <a:p>
            <a:pPr algn="just" marL="0" indent="0" lvl="0">
              <a:lnSpc>
                <a:spcPts val="2944"/>
              </a:lnSpc>
              <a:spcBef>
                <a:spcPct val="0"/>
              </a:spcBef>
            </a:pPr>
            <a:r>
              <a:rPr lang="en-US" sz="2103" spc="-46">
                <a:solidFill>
                  <a:srgbClr val="403E3E"/>
                </a:solidFill>
                <a:latin typeface="Inter"/>
                <a:ea typeface="Inter"/>
                <a:cs typeface="Inter"/>
                <a:sym typeface="Inter"/>
              </a:rPr>
              <a:t> The time interval between the process arrival and the first CPU allocation.</a:t>
            </a:r>
          </a:p>
        </p:txBody>
      </p:sp>
      <p:sp>
        <p:nvSpPr>
          <p:cNvPr name="AutoShape 24" id="24"/>
          <p:cNvSpPr/>
          <p:nvPr/>
        </p:nvSpPr>
        <p:spPr>
          <a:xfrm flipV="true">
            <a:off x="5198590" y="6653405"/>
            <a:ext cx="11289034" cy="0"/>
          </a:xfrm>
          <a:prstGeom prst="line">
            <a:avLst/>
          </a:prstGeom>
          <a:ln cap="flat" w="9525">
            <a:solidFill>
              <a:srgbClr val="000000"/>
            </a:solidFill>
            <a:prstDash val="sysDot"/>
            <a:headEnd type="none" len="sm" w="sm"/>
            <a:tailEnd type="none" len="sm" w="sm"/>
          </a:ln>
        </p:spPr>
      </p:sp>
      <p:sp>
        <p:nvSpPr>
          <p:cNvPr name="Freeform 25" id="25"/>
          <p:cNvSpPr/>
          <p:nvPr/>
        </p:nvSpPr>
        <p:spPr>
          <a:xfrm flipH="false" flipV="false" rot="0">
            <a:off x="1028700" y="1165754"/>
            <a:ext cx="2476770" cy="1024764"/>
          </a:xfrm>
          <a:custGeom>
            <a:avLst/>
            <a:gdLst/>
            <a:ahLst/>
            <a:cxnLst/>
            <a:rect r="r" b="b" t="t" l="l"/>
            <a:pathLst>
              <a:path h="1024764" w="2476770">
                <a:moveTo>
                  <a:pt x="0" y="0"/>
                </a:moveTo>
                <a:lnTo>
                  <a:pt x="2476770" y="0"/>
                </a:lnTo>
                <a:lnTo>
                  <a:pt x="2476770" y="1024764"/>
                </a:lnTo>
                <a:lnTo>
                  <a:pt x="0" y="1024764"/>
                </a:lnTo>
                <a:lnTo>
                  <a:pt x="0" y="0"/>
                </a:lnTo>
                <a:close/>
              </a:path>
            </a:pathLst>
          </a:custGeom>
          <a:blipFill>
            <a:blip r:embed="rId4"/>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6F5F3"/>
        </a:solidFill>
      </p:bgPr>
    </p:bg>
    <p:spTree>
      <p:nvGrpSpPr>
        <p:cNvPr id="1" name=""/>
        <p:cNvGrpSpPr/>
        <p:nvPr/>
      </p:nvGrpSpPr>
      <p:grpSpPr>
        <a:xfrm>
          <a:off x="0" y="0"/>
          <a:ext cx="0" cy="0"/>
          <a:chOff x="0" y="0"/>
          <a:chExt cx="0" cy="0"/>
        </a:xfrm>
      </p:grpSpPr>
      <p:grpSp>
        <p:nvGrpSpPr>
          <p:cNvPr name="Group 2" id="2"/>
          <p:cNvGrpSpPr/>
          <p:nvPr/>
        </p:nvGrpSpPr>
        <p:grpSpPr>
          <a:xfrm rot="5400000">
            <a:off x="6667400" y="-6899948"/>
            <a:ext cx="4044591" cy="17622955"/>
            <a:chOff x="0" y="0"/>
            <a:chExt cx="1449490" cy="6315669"/>
          </a:xfrm>
        </p:grpSpPr>
        <p:sp>
          <p:nvSpPr>
            <p:cNvPr name="Freeform 3" id="3"/>
            <p:cNvSpPr/>
            <p:nvPr/>
          </p:nvSpPr>
          <p:spPr>
            <a:xfrm flipH="false" flipV="false" rot="0">
              <a:off x="0" y="0"/>
              <a:ext cx="1449490" cy="6315670"/>
            </a:xfrm>
            <a:custGeom>
              <a:avLst/>
              <a:gdLst/>
              <a:ahLst/>
              <a:cxnLst/>
              <a:rect r="r" b="b" t="t" l="l"/>
              <a:pathLst>
                <a:path h="6315670" w="1449490">
                  <a:moveTo>
                    <a:pt x="0" y="0"/>
                  </a:moveTo>
                  <a:lnTo>
                    <a:pt x="1449490" y="0"/>
                  </a:lnTo>
                  <a:lnTo>
                    <a:pt x="1449490" y="6315670"/>
                  </a:lnTo>
                  <a:lnTo>
                    <a:pt x="0" y="6315670"/>
                  </a:lnTo>
                  <a:close/>
                </a:path>
              </a:pathLst>
            </a:custGeom>
            <a:solidFill>
              <a:srgbClr val="EFEEEC"/>
            </a:solidFill>
            <a:ln w="9525" cap="sq">
              <a:solidFill>
                <a:srgbClr val="403E3E"/>
              </a:solidFill>
              <a:prstDash val="solid"/>
              <a:miter/>
            </a:ln>
          </p:spPr>
        </p:sp>
        <p:sp>
          <p:nvSpPr>
            <p:cNvPr name="TextBox 4" id="4"/>
            <p:cNvSpPr txBox="true"/>
            <p:nvPr/>
          </p:nvSpPr>
          <p:spPr>
            <a:xfrm>
              <a:off x="0" y="-47625"/>
              <a:ext cx="1449490" cy="6363294"/>
            </a:xfrm>
            <a:prstGeom prst="rect">
              <a:avLst/>
            </a:prstGeom>
          </p:spPr>
          <p:txBody>
            <a:bodyPr anchor="ctr" rtlCol="false" tIns="50800" lIns="50800" bIns="50800" rIns="50800"/>
            <a:lstStyle/>
            <a:p>
              <a:pPr algn="ctr">
                <a:lnSpc>
                  <a:spcPts val="1960"/>
                </a:lnSpc>
              </a:pPr>
            </a:p>
          </p:txBody>
        </p:sp>
      </p:grpSp>
      <p:grpSp>
        <p:nvGrpSpPr>
          <p:cNvPr name="Group 5" id="5"/>
          <p:cNvGrpSpPr/>
          <p:nvPr/>
        </p:nvGrpSpPr>
        <p:grpSpPr>
          <a:xfrm rot="5400000">
            <a:off x="12432431" y="4605338"/>
            <a:ext cx="10730064" cy="1076325"/>
            <a:chOff x="0" y="0"/>
            <a:chExt cx="3845413" cy="385731"/>
          </a:xfrm>
        </p:grpSpPr>
        <p:sp>
          <p:nvSpPr>
            <p:cNvPr name="Freeform 6" id="6"/>
            <p:cNvSpPr/>
            <p:nvPr/>
          </p:nvSpPr>
          <p:spPr>
            <a:xfrm flipH="false" flipV="false" rot="0">
              <a:off x="0" y="0"/>
              <a:ext cx="3845413" cy="385731"/>
            </a:xfrm>
            <a:custGeom>
              <a:avLst/>
              <a:gdLst/>
              <a:ahLst/>
              <a:cxnLst/>
              <a:rect r="r" b="b" t="t" l="l"/>
              <a:pathLst>
                <a:path h="385731" w="3845413">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sp>
        <p:sp>
          <p:nvSpPr>
            <p:cNvPr name="TextBox 7" id="7"/>
            <p:cNvSpPr txBox="true"/>
            <p:nvPr/>
          </p:nvSpPr>
          <p:spPr>
            <a:xfrm>
              <a:off x="0" y="-47625"/>
              <a:ext cx="3845413" cy="433356"/>
            </a:xfrm>
            <a:prstGeom prst="rect">
              <a:avLst/>
            </a:prstGeom>
          </p:spPr>
          <p:txBody>
            <a:bodyPr anchor="ctr" rtlCol="false" tIns="50800" lIns="50800" bIns="50800" rIns="50800"/>
            <a:lstStyle/>
            <a:p>
              <a:pPr algn="ctr">
                <a:lnSpc>
                  <a:spcPts val="1960"/>
                </a:lnSpc>
              </a:pPr>
            </a:p>
          </p:txBody>
        </p:sp>
      </p:grpSp>
      <p:sp>
        <p:nvSpPr>
          <p:cNvPr name="TextBox 8" id="8"/>
          <p:cNvSpPr txBox="true"/>
          <p:nvPr/>
        </p:nvSpPr>
        <p:spPr>
          <a:xfrm rot="0">
            <a:off x="1028700" y="8951595"/>
            <a:ext cx="6049271" cy="306705"/>
          </a:xfrm>
          <a:prstGeom prst="rect">
            <a:avLst/>
          </a:prstGeom>
        </p:spPr>
        <p:txBody>
          <a:bodyPr anchor="t" rtlCol="false" tIns="0" lIns="0" bIns="0" rIns="0">
            <a:spAutoFit/>
          </a:bodyPr>
          <a:lstStyle/>
          <a:p>
            <a:pPr algn="l" marL="0" indent="0" lvl="0">
              <a:lnSpc>
                <a:spcPts val="2520"/>
              </a:lnSpc>
              <a:spcBef>
                <a:spcPct val="0"/>
              </a:spcBef>
            </a:pPr>
            <a:r>
              <a:rPr lang="en-US" sz="1800" spc="-72">
                <a:solidFill>
                  <a:srgbClr val="403E3E"/>
                </a:solidFill>
                <a:latin typeface="Inter"/>
                <a:ea typeface="Inter"/>
                <a:cs typeface="Inter"/>
                <a:sym typeface="Inter"/>
              </a:rPr>
              <a:t>HO CHI MINH CITY UNIVERSITY OF TRANSPORT</a:t>
            </a:r>
          </a:p>
        </p:txBody>
      </p:sp>
      <p:sp>
        <p:nvSpPr>
          <p:cNvPr name="TextBox 9" id="9"/>
          <p:cNvSpPr txBox="true"/>
          <p:nvPr/>
        </p:nvSpPr>
        <p:spPr>
          <a:xfrm rot="0">
            <a:off x="15506330" y="8951595"/>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15</a:t>
            </a:r>
          </a:p>
        </p:txBody>
      </p:sp>
      <p:sp>
        <p:nvSpPr>
          <p:cNvPr name="TextBox 10" id="10"/>
          <p:cNvSpPr txBox="true"/>
          <p:nvPr/>
        </p:nvSpPr>
        <p:spPr>
          <a:xfrm rot="0">
            <a:off x="1028700" y="2666365"/>
            <a:ext cx="9594056" cy="1268095"/>
          </a:xfrm>
          <a:prstGeom prst="rect">
            <a:avLst/>
          </a:prstGeom>
        </p:spPr>
        <p:txBody>
          <a:bodyPr anchor="t" rtlCol="false" tIns="0" lIns="0" bIns="0" rIns="0">
            <a:spAutoFit/>
          </a:bodyPr>
          <a:lstStyle/>
          <a:p>
            <a:pPr algn="l" marL="0" indent="0" lvl="0">
              <a:lnSpc>
                <a:spcPts val="4760"/>
              </a:lnSpc>
              <a:spcBef>
                <a:spcPct val="0"/>
              </a:spcBef>
            </a:pPr>
            <a:r>
              <a:rPr lang="en-US" b="true" sz="5600" spc="-420">
                <a:solidFill>
                  <a:srgbClr val="403E3E"/>
                </a:solidFill>
                <a:latin typeface="Inter Bold"/>
                <a:ea typeface="Inter Bold"/>
                <a:cs typeface="Inter Bold"/>
                <a:sym typeface="Inter Bold"/>
              </a:rPr>
              <a:t>Key Performance Metrics and Formulas in CPU Scheduling</a:t>
            </a:r>
          </a:p>
        </p:txBody>
      </p:sp>
      <p:sp>
        <p:nvSpPr>
          <p:cNvPr name="TextBox 11" id="11"/>
          <p:cNvSpPr txBox="true"/>
          <p:nvPr/>
        </p:nvSpPr>
        <p:spPr>
          <a:xfrm rot="0">
            <a:off x="1175427" y="5509859"/>
            <a:ext cx="4358117" cy="976630"/>
          </a:xfrm>
          <a:prstGeom prst="rect">
            <a:avLst/>
          </a:prstGeom>
        </p:spPr>
        <p:txBody>
          <a:bodyPr anchor="t" rtlCol="false" tIns="0" lIns="0" bIns="0" rIns="0">
            <a:spAutoFit/>
          </a:bodyPr>
          <a:lstStyle/>
          <a:p>
            <a:pPr algn="l">
              <a:lnSpc>
                <a:spcPts val="3919"/>
              </a:lnSpc>
            </a:pPr>
            <a:r>
              <a:rPr lang="en-US" b="true" sz="2799" spc="-209">
                <a:solidFill>
                  <a:srgbClr val="403E3E"/>
                </a:solidFill>
                <a:latin typeface="Arial Nova Bold"/>
                <a:ea typeface="Arial Nova Bold"/>
                <a:cs typeface="Arial Nova Bold"/>
                <a:sym typeface="Arial Nova Bold"/>
              </a:rPr>
              <a:t>WAITING TIME (W):</a:t>
            </a:r>
            <a:r>
              <a:rPr lang="en-US" sz="2799" spc="-209">
                <a:solidFill>
                  <a:srgbClr val="403E3E"/>
                </a:solidFill>
                <a:latin typeface="Arial Nova"/>
                <a:ea typeface="Arial Nova"/>
                <a:cs typeface="Arial Nova"/>
                <a:sym typeface="Arial Nova"/>
              </a:rPr>
              <a:t> </a:t>
            </a:r>
          </a:p>
          <a:p>
            <a:pPr algn="l" marL="0" indent="0" lvl="0">
              <a:lnSpc>
                <a:spcPts val="3919"/>
              </a:lnSpc>
              <a:spcBef>
                <a:spcPct val="0"/>
              </a:spcBef>
            </a:pPr>
          </a:p>
        </p:txBody>
      </p:sp>
      <p:sp>
        <p:nvSpPr>
          <p:cNvPr name="TextBox 12" id="12"/>
          <p:cNvSpPr txBox="true"/>
          <p:nvPr/>
        </p:nvSpPr>
        <p:spPr>
          <a:xfrm rot="0">
            <a:off x="6052199" y="5367500"/>
            <a:ext cx="4079534" cy="986155"/>
          </a:xfrm>
          <a:prstGeom prst="rect">
            <a:avLst/>
          </a:prstGeom>
        </p:spPr>
        <p:txBody>
          <a:bodyPr anchor="t" rtlCol="false" tIns="0" lIns="0" bIns="0" rIns="0">
            <a:spAutoFit/>
          </a:bodyPr>
          <a:lstStyle/>
          <a:p>
            <a:pPr algn="l">
              <a:lnSpc>
                <a:spcPts val="3919"/>
              </a:lnSpc>
            </a:pPr>
            <a:r>
              <a:rPr lang="en-US" b="true" sz="2799" spc="-209">
                <a:solidFill>
                  <a:srgbClr val="403E3E"/>
                </a:solidFill>
                <a:latin typeface="Inter Bold"/>
                <a:ea typeface="Inter Bold"/>
                <a:cs typeface="Inter Bold"/>
                <a:sym typeface="Inter Bold"/>
              </a:rPr>
              <a:t>TURNAROUND TIME (T):</a:t>
            </a:r>
            <a:r>
              <a:rPr lang="en-US" sz="2799" spc="-209">
                <a:solidFill>
                  <a:srgbClr val="403E3E"/>
                </a:solidFill>
                <a:latin typeface="Inter Light"/>
                <a:ea typeface="Inter Light"/>
                <a:cs typeface="Inter Light"/>
                <a:sym typeface="Inter Light"/>
              </a:rPr>
              <a:t> </a:t>
            </a:r>
          </a:p>
          <a:p>
            <a:pPr algn="l" marL="0" indent="0" lvl="0">
              <a:lnSpc>
                <a:spcPts val="3919"/>
              </a:lnSpc>
              <a:spcBef>
                <a:spcPct val="0"/>
              </a:spcBef>
            </a:pPr>
          </a:p>
        </p:txBody>
      </p:sp>
      <p:sp>
        <p:nvSpPr>
          <p:cNvPr name="TextBox 13" id="13"/>
          <p:cNvSpPr txBox="true"/>
          <p:nvPr/>
        </p:nvSpPr>
        <p:spPr>
          <a:xfrm rot="0">
            <a:off x="11901261" y="5403060"/>
            <a:ext cx="3588512" cy="490855"/>
          </a:xfrm>
          <a:prstGeom prst="rect">
            <a:avLst/>
          </a:prstGeom>
        </p:spPr>
        <p:txBody>
          <a:bodyPr anchor="t" rtlCol="false" tIns="0" lIns="0" bIns="0" rIns="0">
            <a:spAutoFit/>
          </a:bodyPr>
          <a:lstStyle/>
          <a:p>
            <a:pPr algn="l" marL="0" indent="0" lvl="0">
              <a:lnSpc>
                <a:spcPts val="3919"/>
              </a:lnSpc>
              <a:spcBef>
                <a:spcPct val="0"/>
              </a:spcBef>
            </a:pPr>
            <a:r>
              <a:rPr lang="en-US" b="true" sz="2799" spc="-209">
                <a:solidFill>
                  <a:srgbClr val="403E3E"/>
                </a:solidFill>
                <a:latin typeface="Inter Bold"/>
                <a:ea typeface="Inter Bold"/>
                <a:cs typeface="Inter Bold"/>
                <a:sym typeface="Inter Bold"/>
              </a:rPr>
              <a:t>RESPONSE TIME (R):</a:t>
            </a:r>
            <a:r>
              <a:rPr lang="en-US" sz="2799" spc="-209">
                <a:solidFill>
                  <a:srgbClr val="403E3E"/>
                </a:solidFill>
                <a:latin typeface="Inter Light"/>
                <a:ea typeface="Inter Light"/>
                <a:cs typeface="Inter Light"/>
                <a:sym typeface="Inter Light"/>
              </a:rPr>
              <a:t> </a:t>
            </a:r>
          </a:p>
        </p:txBody>
      </p:sp>
      <p:sp>
        <p:nvSpPr>
          <p:cNvPr name="TextBox 14" id="14"/>
          <p:cNvSpPr txBox="true"/>
          <p:nvPr/>
        </p:nvSpPr>
        <p:spPr>
          <a:xfrm rot="0">
            <a:off x="13402382" y="993352"/>
            <a:ext cx="2850172" cy="621030"/>
          </a:xfrm>
          <a:prstGeom prst="rect">
            <a:avLst/>
          </a:prstGeom>
        </p:spPr>
        <p:txBody>
          <a:bodyPr anchor="t" rtlCol="false" tIns="0" lIns="0" bIns="0" rIns="0">
            <a:spAutoFit/>
          </a:bodyPr>
          <a:lstStyle/>
          <a:p>
            <a:pPr algn="r">
              <a:lnSpc>
                <a:spcPts val="2520"/>
              </a:lnSpc>
            </a:pPr>
            <a:r>
              <a:rPr lang="en-US" sz="1800" spc="-72">
                <a:solidFill>
                  <a:srgbClr val="403E3E"/>
                </a:solidFill>
                <a:latin typeface="Inter"/>
                <a:ea typeface="Inter"/>
                <a:cs typeface="Inter"/>
                <a:sym typeface="Inter"/>
              </a:rPr>
              <a:t>NOV 2025</a:t>
            </a:r>
          </a:p>
          <a:p>
            <a:pPr algn="r" marL="0" indent="0" lvl="0">
              <a:lnSpc>
                <a:spcPts val="2520"/>
              </a:lnSpc>
              <a:spcBef>
                <a:spcPct val="0"/>
              </a:spcBef>
            </a:pPr>
          </a:p>
        </p:txBody>
      </p:sp>
      <p:sp>
        <p:nvSpPr>
          <p:cNvPr name="AutoShape 15" id="15"/>
          <p:cNvSpPr/>
          <p:nvPr/>
        </p:nvSpPr>
        <p:spPr>
          <a:xfrm flipV="true">
            <a:off x="1028700" y="6026749"/>
            <a:ext cx="15313002" cy="0"/>
          </a:xfrm>
          <a:prstGeom prst="line">
            <a:avLst/>
          </a:prstGeom>
          <a:ln cap="flat" w="9525">
            <a:solidFill>
              <a:srgbClr val="000000"/>
            </a:solidFill>
            <a:prstDash val="sysDot"/>
            <a:headEnd type="none" len="sm" w="sm"/>
            <a:tailEnd type="none" len="sm" w="sm"/>
          </a:ln>
        </p:spPr>
      </p:sp>
      <p:sp>
        <p:nvSpPr>
          <p:cNvPr name="Freeform 16" id="16"/>
          <p:cNvSpPr/>
          <p:nvPr/>
        </p:nvSpPr>
        <p:spPr>
          <a:xfrm flipH="false" flipV="false" rot="5400000">
            <a:off x="15018000" y="3173461"/>
            <a:ext cx="948381" cy="1520727"/>
          </a:xfrm>
          <a:custGeom>
            <a:avLst/>
            <a:gdLst/>
            <a:ahLst/>
            <a:cxnLst/>
            <a:rect r="r" b="b" t="t" l="l"/>
            <a:pathLst>
              <a:path h="1520727" w="948381">
                <a:moveTo>
                  <a:pt x="0" y="0"/>
                </a:moveTo>
                <a:lnTo>
                  <a:pt x="948381" y="0"/>
                </a:lnTo>
                <a:lnTo>
                  <a:pt x="948381" y="1520728"/>
                </a:lnTo>
                <a:lnTo>
                  <a:pt x="0" y="15207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028700" y="755776"/>
            <a:ext cx="2476770" cy="1024764"/>
          </a:xfrm>
          <a:custGeom>
            <a:avLst/>
            <a:gdLst/>
            <a:ahLst/>
            <a:cxnLst/>
            <a:rect r="r" b="b" t="t" l="l"/>
            <a:pathLst>
              <a:path h="1024764" w="2476770">
                <a:moveTo>
                  <a:pt x="0" y="0"/>
                </a:moveTo>
                <a:lnTo>
                  <a:pt x="2476770" y="0"/>
                </a:lnTo>
                <a:lnTo>
                  <a:pt x="2476770" y="1024764"/>
                </a:lnTo>
                <a:lnTo>
                  <a:pt x="0" y="1024764"/>
                </a:lnTo>
                <a:lnTo>
                  <a:pt x="0" y="0"/>
                </a:lnTo>
                <a:close/>
              </a:path>
            </a:pathLst>
          </a:custGeom>
          <a:blipFill>
            <a:blip r:embed="rId4"/>
            <a:stretch>
              <a:fillRect l="0" t="0" r="0" b="0"/>
            </a:stretch>
          </a:blipFill>
        </p:spPr>
      </p:sp>
      <p:sp>
        <p:nvSpPr>
          <p:cNvPr name="TextBox 18" id="18"/>
          <p:cNvSpPr txBox="true"/>
          <p:nvPr/>
        </p:nvSpPr>
        <p:spPr>
          <a:xfrm rot="0">
            <a:off x="1028700" y="5969599"/>
            <a:ext cx="4651570" cy="2258060"/>
          </a:xfrm>
          <a:prstGeom prst="rect">
            <a:avLst/>
          </a:prstGeom>
        </p:spPr>
        <p:txBody>
          <a:bodyPr anchor="t" rtlCol="false" tIns="0" lIns="0" bIns="0" rIns="0">
            <a:spAutoFit/>
          </a:bodyPr>
          <a:lstStyle/>
          <a:p>
            <a:pPr algn="ctr">
              <a:lnSpc>
                <a:spcPts val="3640"/>
              </a:lnSpc>
            </a:pPr>
            <a:r>
              <a:rPr lang="en-US" sz="2600" spc="-195">
                <a:solidFill>
                  <a:srgbClr val="403E3E"/>
                </a:solidFill>
                <a:latin typeface="Helvetica World"/>
                <a:ea typeface="Helvetica World"/>
                <a:cs typeface="Helvetica World"/>
                <a:sym typeface="Helvetica World"/>
              </a:rPr>
              <a:t>Time a process waits in the re</a:t>
            </a:r>
            <a:r>
              <a:rPr lang="en-US" sz="2600" spc="-195">
                <a:solidFill>
                  <a:srgbClr val="403E3E"/>
                </a:solidFill>
                <a:latin typeface="Helvetica World"/>
                <a:ea typeface="Helvetica World"/>
                <a:cs typeface="Helvetica World"/>
                <a:sym typeface="Helvetica World"/>
              </a:rPr>
              <a:t>ady queue before execution.</a:t>
            </a:r>
          </a:p>
          <a:p>
            <a:pPr algn="ctr">
              <a:lnSpc>
                <a:spcPts val="3640"/>
              </a:lnSpc>
            </a:pPr>
          </a:p>
          <a:p>
            <a:pPr algn="ctr">
              <a:lnSpc>
                <a:spcPts val="3500"/>
              </a:lnSpc>
            </a:pPr>
            <a:r>
              <a:rPr lang="en-US" sz="2500">
                <a:solidFill>
                  <a:srgbClr val="403E3E"/>
                </a:solidFill>
                <a:latin typeface="Noto Serif Display"/>
                <a:ea typeface="Noto Serif Display"/>
                <a:cs typeface="Noto Serif Display"/>
                <a:sym typeface="Noto Serif Display"/>
              </a:rPr>
              <a:t>W = Start Time − Arrival Time</a:t>
            </a:r>
          </a:p>
          <a:p>
            <a:pPr algn="ctr">
              <a:lnSpc>
                <a:spcPts val="3640"/>
              </a:lnSpc>
            </a:pPr>
          </a:p>
        </p:txBody>
      </p:sp>
      <p:sp>
        <p:nvSpPr>
          <p:cNvPr name="TextBox 19" id="19"/>
          <p:cNvSpPr txBox="true"/>
          <p:nvPr/>
        </p:nvSpPr>
        <p:spPr>
          <a:xfrm rot="0">
            <a:off x="6052199" y="6112955"/>
            <a:ext cx="3588512" cy="1810385"/>
          </a:xfrm>
          <a:prstGeom prst="rect">
            <a:avLst/>
          </a:prstGeom>
        </p:spPr>
        <p:txBody>
          <a:bodyPr anchor="t" rtlCol="false" tIns="0" lIns="0" bIns="0" rIns="0">
            <a:spAutoFit/>
          </a:bodyPr>
          <a:lstStyle/>
          <a:p>
            <a:pPr algn="ctr">
              <a:lnSpc>
                <a:spcPts val="3640"/>
              </a:lnSpc>
            </a:pPr>
            <a:r>
              <a:rPr lang="en-US" sz="2600" spc="-195">
                <a:solidFill>
                  <a:srgbClr val="403E3E"/>
                </a:solidFill>
                <a:latin typeface="Muli Light"/>
                <a:ea typeface="Muli Light"/>
                <a:cs typeface="Muli Light"/>
                <a:sym typeface="Muli Light"/>
              </a:rPr>
              <a:t>Total time from process arrival to completion.</a:t>
            </a:r>
          </a:p>
          <a:p>
            <a:pPr algn="ctr">
              <a:lnSpc>
                <a:spcPts val="3640"/>
              </a:lnSpc>
            </a:pPr>
            <a:r>
              <a:rPr lang="en-US" sz="2600" spc="-195">
                <a:solidFill>
                  <a:srgbClr val="403E3E"/>
                </a:solidFill>
                <a:latin typeface="Muli Light"/>
                <a:ea typeface="Muli Light"/>
                <a:cs typeface="Muli Light"/>
                <a:sym typeface="Muli Light"/>
              </a:rPr>
              <a:t>T = End Time − Arrival Time</a:t>
            </a:r>
          </a:p>
          <a:p>
            <a:pPr algn="ctr">
              <a:lnSpc>
                <a:spcPts val="3640"/>
              </a:lnSpc>
            </a:pPr>
          </a:p>
        </p:txBody>
      </p:sp>
      <p:sp>
        <p:nvSpPr>
          <p:cNvPr name="TextBox 20" id="20"/>
          <p:cNvSpPr txBox="true"/>
          <p:nvPr/>
        </p:nvSpPr>
        <p:spPr>
          <a:xfrm rot="0">
            <a:off x="11901261" y="6103430"/>
            <a:ext cx="3588512" cy="2734310"/>
          </a:xfrm>
          <a:prstGeom prst="rect">
            <a:avLst/>
          </a:prstGeom>
        </p:spPr>
        <p:txBody>
          <a:bodyPr anchor="t" rtlCol="false" tIns="0" lIns="0" bIns="0" rIns="0">
            <a:spAutoFit/>
          </a:bodyPr>
          <a:lstStyle/>
          <a:p>
            <a:pPr algn="ctr">
              <a:lnSpc>
                <a:spcPts val="3640"/>
              </a:lnSpc>
            </a:pPr>
            <a:r>
              <a:rPr lang="en-US" sz="2600" spc="-195">
                <a:solidFill>
                  <a:srgbClr val="403E3E"/>
                </a:solidFill>
                <a:latin typeface="Noto Serif Display"/>
                <a:ea typeface="Noto Serif Display"/>
                <a:cs typeface="Noto Serif Display"/>
                <a:sym typeface="Noto Serif Display"/>
              </a:rPr>
              <a:t>Time from arrival until the process gets CPU for the first time.</a:t>
            </a:r>
          </a:p>
          <a:p>
            <a:pPr algn="ctr">
              <a:lnSpc>
                <a:spcPts val="3640"/>
              </a:lnSpc>
            </a:pPr>
            <a:r>
              <a:rPr lang="en-US" sz="2600" spc="-195">
                <a:solidFill>
                  <a:srgbClr val="403E3E"/>
                </a:solidFill>
                <a:latin typeface="Noto Serif Display"/>
                <a:ea typeface="Noto Serif Display"/>
                <a:cs typeface="Noto Serif Display"/>
                <a:sym typeface="Noto Serif Display"/>
              </a:rPr>
              <a:t>R = First CPU Start Time − Arrival Time </a:t>
            </a:r>
          </a:p>
          <a:p>
            <a:pPr algn="ctr">
              <a:lnSpc>
                <a:spcPts val="3640"/>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6F5F3"/>
        </a:solidFill>
      </p:bgPr>
    </p:bg>
    <p:spTree>
      <p:nvGrpSpPr>
        <p:cNvPr id="1" name=""/>
        <p:cNvGrpSpPr/>
        <p:nvPr/>
      </p:nvGrpSpPr>
      <p:grpSpPr>
        <a:xfrm>
          <a:off x="0" y="0"/>
          <a:ext cx="0" cy="0"/>
          <a:chOff x="0" y="0"/>
          <a:chExt cx="0" cy="0"/>
        </a:xfrm>
      </p:grpSpPr>
      <p:grpSp>
        <p:nvGrpSpPr>
          <p:cNvPr name="Group 2" id="2"/>
          <p:cNvGrpSpPr/>
          <p:nvPr/>
        </p:nvGrpSpPr>
        <p:grpSpPr>
          <a:xfrm rot="5400000">
            <a:off x="6667400" y="-6899948"/>
            <a:ext cx="4044591" cy="17622955"/>
            <a:chOff x="0" y="0"/>
            <a:chExt cx="1449490" cy="6315669"/>
          </a:xfrm>
        </p:grpSpPr>
        <p:sp>
          <p:nvSpPr>
            <p:cNvPr name="Freeform 3" id="3"/>
            <p:cNvSpPr/>
            <p:nvPr/>
          </p:nvSpPr>
          <p:spPr>
            <a:xfrm flipH="false" flipV="false" rot="0">
              <a:off x="0" y="0"/>
              <a:ext cx="1449490" cy="6315670"/>
            </a:xfrm>
            <a:custGeom>
              <a:avLst/>
              <a:gdLst/>
              <a:ahLst/>
              <a:cxnLst/>
              <a:rect r="r" b="b" t="t" l="l"/>
              <a:pathLst>
                <a:path h="6315670" w="1449490">
                  <a:moveTo>
                    <a:pt x="0" y="0"/>
                  </a:moveTo>
                  <a:lnTo>
                    <a:pt x="1449490" y="0"/>
                  </a:lnTo>
                  <a:lnTo>
                    <a:pt x="1449490" y="6315670"/>
                  </a:lnTo>
                  <a:lnTo>
                    <a:pt x="0" y="6315670"/>
                  </a:lnTo>
                  <a:close/>
                </a:path>
              </a:pathLst>
            </a:custGeom>
            <a:solidFill>
              <a:srgbClr val="EFEEEC"/>
            </a:solidFill>
            <a:ln w="9525" cap="sq">
              <a:solidFill>
                <a:srgbClr val="403E3E"/>
              </a:solidFill>
              <a:prstDash val="solid"/>
              <a:miter/>
            </a:ln>
          </p:spPr>
        </p:sp>
        <p:sp>
          <p:nvSpPr>
            <p:cNvPr name="TextBox 4" id="4"/>
            <p:cNvSpPr txBox="true"/>
            <p:nvPr/>
          </p:nvSpPr>
          <p:spPr>
            <a:xfrm>
              <a:off x="0" y="-47625"/>
              <a:ext cx="1449490" cy="6363294"/>
            </a:xfrm>
            <a:prstGeom prst="rect">
              <a:avLst/>
            </a:prstGeom>
          </p:spPr>
          <p:txBody>
            <a:bodyPr anchor="ctr" rtlCol="false" tIns="50800" lIns="50800" bIns="50800" rIns="50800"/>
            <a:lstStyle/>
            <a:p>
              <a:pPr algn="ctr">
                <a:lnSpc>
                  <a:spcPts val="1960"/>
                </a:lnSpc>
              </a:pPr>
            </a:p>
          </p:txBody>
        </p:sp>
      </p:grpSp>
      <p:grpSp>
        <p:nvGrpSpPr>
          <p:cNvPr name="Group 5" id="5"/>
          <p:cNvGrpSpPr/>
          <p:nvPr/>
        </p:nvGrpSpPr>
        <p:grpSpPr>
          <a:xfrm rot="5400000">
            <a:off x="12432431" y="4605338"/>
            <a:ext cx="10730064" cy="1076325"/>
            <a:chOff x="0" y="0"/>
            <a:chExt cx="3845413" cy="385731"/>
          </a:xfrm>
        </p:grpSpPr>
        <p:sp>
          <p:nvSpPr>
            <p:cNvPr name="Freeform 6" id="6"/>
            <p:cNvSpPr/>
            <p:nvPr/>
          </p:nvSpPr>
          <p:spPr>
            <a:xfrm flipH="false" flipV="false" rot="0">
              <a:off x="0" y="0"/>
              <a:ext cx="3845413" cy="385731"/>
            </a:xfrm>
            <a:custGeom>
              <a:avLst/>
              <a:gdLst/>
              <a:ahLst/>
              <a:cxnLst/>
              <a:rect r="r" b="b" t="t" l="l"/>
              <a:pathLst>
                <a:path h="385731" w="3845413">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sp>
        <p:sp>
          <p:nvSpPr>
            <p:cNvPr name="TextBox 7" id="7"/>
            <p:cNvSpPr txBox="true"/>
            <p:nvPr/>
          </p:nvSpPr>
          <p:spPr>
            <a:xfrm>
              <a:off x="0" y="-47625"/>
              <a:ext cx="3845413" cy="433356"/>
            </a:xfrm>
            <a:prstGeom prst="rect">
              <a:avLst/>
            </a:prstGeom>
          </p:spPr>
          <p:txBody>
            <a:bodyPr anchor="ctr" rtlCol="false" tIns="50800" lIns="50800" bIns="50800" rIns="50800"/>
            <a:lstStyle/>
            <a:p>
              <a:pPr algn="ctr">
                <a:lnSpc>
                  <a:spcPts val="1960"/>
                </a:lnSpc>
              </a:pPr>
            </a:p>
          </p:txBody>
        </p:sp>
      </p:grpSp>
      <p:sp>
        <p:nvSpPr>
          <p:cNvPr name="TextBox 8" id="8"/>
          <p:cNvSpPr txBox="true"/>
          <p:nvPr/>
        </p:nvSpPr>
        <p:spPr>
          <a:xfrm rot="0">
            <a:off x="1028700" y="8951595"/>
            <a:ext cx="6049271" cy="306705"/>
          </a:xfrm>
          <a:prstGeom prst="rect">
            <a:avLst/>
          </a:prstGeom>
        </p:spPr>
        <p:txBody>
          <a:bodyPr anchor="t" rtlCol="false" tIns="0" lIns="0" bIns="0" rIns="0">
            <a:spAutoFit/>
          </a:bodyPr>
          <a:lstStyle/>
          <a:p>
            <a:pPr algn="l" marL="0" indent="0" lvl="0">
              <a:lnSpc>
                <a:spcPts val="2520"/>
              </a:lnSpc>
              <a:spcBef>
                <a:spcPct val="0"/>
              </a:spcBef>
            </a:pPr>
            <a:r>
              <a:rPr lang="en-US" sz="1800" spc="-72">
                <a:solidFill>
                  <a:srgbClr val="403E3E"/>
                </a:solidFill>
                <a:latin typeface="Inter"/>
                <a:ea typeface="Inter"/>
                <a:cs typeface="Inter"/>
                <a:sym typeface="Inter"/>
              </a:rPr>
              <a:t>HO CHI MINH CITY UNIVERSITY OF TRANSPORT</a:t>
            </a:r>
          </a:p>
        </p:txBody>
      </p:sp>
      <p:sp>
        <p:nvSpPr>
          <p:cNvPr name="TextBox 9" id="9"/>
          <p:cNvSpPr txBox="true"/>
          <p:nvPr/>
        </p:nvSpPr>
        <p:spPr>
          <a:xfrm rot="0">
            <a:off x="15506330" y="8951595"/>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16</a:t>
            </a:r>
          </a:p>
        </p:txBody>
      </p:sp>
      <p:sp>
        <p:nvSpPr>
          <p:cNvPr name="TextBox 10" id="10"/>
          <p:cNvSpPr txBox="true"/>
          <p:nvPr/>
        </p:nvSpPr>
        <p:spPr>
          <a:xfrm rot="0">
            <a:off x="1028700" y="2666365"/>
            <a:ext cx="9594056" cy="1268095"/>
          </a:xfrm>
          <a:prstGeom prst="rect">
            <a:avLst/>
          </a:prstGeom>
        </p:spPr>
        <p:txBody>
          <a:bodyPr anchor="t" rtlCol="false" tIns="0" lIns="0" bIns="0" rIns="0">
            <a:spAutoFit/>
          </a:bodyPr>
          <a:lstStyle/>
          <a:p>
            <a:pPr algn="l" marL="0" indent="0" lvl="0">
              <a:lnSpc>
                <a:spcPts val="4760"/>
              </a:lnSpc>
              <a:spcBef>
                <a:spcPct val="0"/>
              </a:spcBef>
            </a:pPr>
            <a:r>
              <a:rPr lang="en-US" b="true" sz="5600" spc="-420">
                <a:solidFill>
                  <a:srgbClr val="403E3E"/>
                </a:solidFill>
                <a:latin typeface="Inter Bold"/>
                <a:ea typeface="Inter Bold"/>
                <a:cs typeface="Inter Bold"/>
                <a:sym typeface="Inter Bold"/>
              </a:rPr>
              <a:t>Key Performance Metrics and Formulas in CPU Scheduling</a:t>
            </a:r>
          </a:p>
        </p:txBody>
      </p:sp>
      <p:sp>
        <p:nvSpPr>
          <p:cNvPr name="TextBox 11" id="11"/>
          <p:cNvSpPr txBox="true"/>
          <p:nvPr/>
        </p:nvSpPr>
        <p:spPr>
          <a:xfrm rot="0">
            <a:off x="1326412" y="4626610"/>
            <a:ext cx="4358117" cy="976630"/>
          </a:xfrm>
          <a:prstGeom prst="rect">
            <a:avLst/>
          </a:prstGeom>
        </p:spPr>
        <p:txBody>
          <a:bodyPr anchor="t" rtlCol="false" tIns="0" lIns="0" bIns="0" rIns="0">
            <a:spAutoFit/>
          </a:bodyPr>
          <a:lstStyle/>
          <a:p>
            <a:pPr algn="l">
              <a:lnSpc>
                <a:spcPts val="3919"/>
              </a:lnSpc>
            </a:pPr>
            <a:r>
              <a:rPr lang="en-US" b="true" sz="2799" spc="-209">
                <a:solidFill>
                  <a:srgbClr val="403E3E"/>
                </a:solidFill>
                <a:latin typeface="Arial Nova Bold"/>
                <a:ea typeface="Arial Nova Bold"/>
                <a:cs typeface="Arial Nova Bold"/>
                <a:sym typeface="Arial Nova Bold"/>
              </a:rPr>
              <a:t>AVERAGE WAITING TIME (</a:t>
            </a:r>
            <a:r>
              <a:rPr lang="en-US" sz="2799" spc="-209" b="true">
                <a:solidFill>
                  <a:srgbClr val="403E3E"/>
                </a:solidFill>
                <a:latin typeface="Arial Nova Bold"/>
                <a:ea typeface="Arial Nova Bold"/>
                <a:cs typeface="Arial Nova Bold"/>
                <a:sym typeface="Arial Nova Bold"/>
              </a:rPr>
              <a:t> ): </a:t>
            </a:r>
          </a:p>
          <a:p>
            <a:pPr algn="l" marL="0" indent="0" lvl="0">
              <a:lnSpc>
                <a:spcPts val="3919"/>
              </a:lnSpc>
              <a:spcBef>
                <a:spcPct val="0"/>
              </a:spcBef>
            </a:pPr>
          </a:p>
        </p:txBody>
      </p:sp>
      <p:sp>
        <p:nvSpPr>
          <p:cNvPr name="TextBox 12" id="12"/>
          <p:cNvSpPr txBox="true"/>
          <p:nvPr/>
        </p:nvSpPr>
        <p:spPr>
          <a:xfrm rot="0">
            <a:off x="6330789" y="6350061"/>
            <a:ext cx="5334711" cy="986155"/>
          </a:xfrm>
          <a:prstGeom prst="rect">
            <a:avLst/>
          </a:prstGeom>
        </p:spPr>
        <p:txBody>
          <a:bodyPr anchor="t" rtlCol="false" tIns="0" lIns="0" bIns="0" rIns="0">
            <a:spAutoFit/>
          </a:bodyPr>
          <a:lstStyle/>
          <a:p>
            <a:pPr algn="l">
              <a:lnSpc>
                <a:spcPts val="3919"/>
              </a:lnSpc>
            </a:pPr>
            <a:r>
              <a:rPr lang="en-US" b="true" sz="2799" spc="-209">
                <a:solidFill>
                  <a:srgbClr val="403E3E"/>
                </a:solidFill>
                <a:latin typeface="Inter Bold"/>
                <a:ea typeface="Inter Bold"/>
                <a:cs typeface="Inter Bold"/>
                <a:sym typeface="Inter Bold"/>
              </a:rPr>
              <a:t>AVERAGE TURNAROUND TIME (</a:t>
            </a:r>
            <a:r>
              <a:rPr lang="en-US" sz="2799" spc="-209" b="true">
                <a:solidFill>
                  <a:srgbClr val="403E3E"/>
                </a:solidFill>
                <a:latin typeface="Inter Bold"/>
                <a:ea typeface="Inter Bold"/>
                <a:cs typeface="Inter Bold"/>
                <a:sym typeface="Inter Bold"/>
              </a:rPr>
              <a:t> ):</a:t>
            </a:r>
          </a:p>
          <a:p>
            <a:pPr algn="l" marL="0" indent="0" lvl="0">
              <a:lnSpc>
                <a:spcPts val="3919"/>
              </a:lnSpc>
              <a:spcBef>
                <a:spcPct val="0"/>
              </a:spcBef>
            </a:pPr>
          </a:p>
        </p:txBody>
      </p:sp>
      <p:sp>
        <p:nvSpPr>
          <p:cNvPr name="TextBox 13" id="13"/>
          <p:cNvSpPr txBox="true"/>
          <p:nvPr/>
        </p:nvSpPr>
        <p:spPr>
          <a:xfrm rot="0">
            <a:off x="11665501" y="4617085"/>
            <a:ext cx="4845533" cy="986155"/>
          </a:xfrm>
          <a:prstGeom prst="rect">
            <a:avLst/>
          </a:prstGeom>
        </p:spPr>
        <p:txBody>
          <a:bodyPr anchor="t" rtlCol="false" tIns="0" lIns="0" bIns="0" rIns="0">
            <a:spAutoFit/>
          </a:bodyPr>
          <a:lstStyle/>
          <a:p>
            <a:pPr algn="l">
              <a:lnSpc>
                <a:spcPts val="3919"/>
              </a:lnSpc>
            </a:pPr>
            <a:r>
              <a:rPr lang="en-US" b="true" sz="2799" spc="-209">
                <a:solidFill>
                  <a:srgbClr val="403E3E"/>
                </a:solidFill>
                <a:latin typeface="Inter Bold"/>
                <a:ea typeface="Inter Bold"/>
                <a:cs typeface="Inter Bold"/>
                <a:sym typeface="Inter Bold"/>
              </a:rPr>
              <a:t>AVERAGE RESPONSE TIME ( )</a:t>
            </a:r>
          </a:p>
          <a:p>
            <a:pPr algn="l" marL="0" indent="0" lvl="0">
              <a:lnSpc>
                <a:spcPts val="3919"/>
              </a:lnSpc>
              <a:spcBef>
                <a:spcPct val="0"/>
              </a:spcBef>
            </a:pPr>
          </a:p>
        </p:txBody>
      </p:sp>
      <p:sp>
        <p:nvSpPr>
          <p:cNvPr name="TextBox 14" id="14"/>
          <p:cNvSpPr txBox="true"/>
          <p:nvPr/>
        </p:nvSpPr>
        <p:spPr>
          <a:xfrm rot="0">
            <a:off x="13402382" y="993352"/>
            <a:ext cx="2850172" cy="621030"/>
          </a:xfrm>
          <a:prstGeom prst="rect">
            <a:avLst/>
          </a:prstGeom>
        </p:spPr>
        <p:txBody>
          <a:bodyPr anchor="t" rtlCol="false" tIns="0" lIns="0" bIns="0" rIns="0">
            <a:spAutoFit/>
          </a:bodyPr>
          <a:lstStyle/>
          <a:p>
            <a:pPr algn="r">
              <a:lnSpc>
                <a:spcPts val="2520"/>
              </a:lnSpc>
            </a:pPr>
            <a:r>
              <a:rPr lang="en-US" sz="1800" spc="-72">
                <a:solidFill>
                  <a:srgbClr val="403E3E"/>
                </a:solidFill>
                <a:latin typeface="Inter"/>
                <a:ea typeface="Inter"/>
                <a:cs typeface="Inter"/>
                <a:sym typeface="Inter"/>
              </a:rPr>
              <a:t>NOV 2025</a:t>
            </a:r>
          </a:p>
          <a:p>
            <a:pPr algn="r" marL="0" indent="0" lvl="0">
              <a:lnSpc>
                <a:spcPts val="2520"/>
              </a:lnSpc>
              <a:spcBef>
                <a:spcPct val="0"/>
              </a:spcBef>
            </a:pPr>
          </a:p>
        </p:txBody>
      </p:sp>
      <p:sp>
        <p:nvSpPr>
          <p:cNvPr name="AutoShape 15" id="15"/>
          <p:cNvSpPr/>
          <p:nvPr/>
        </p:nvSpPr>
        <p:spPr>
          <a:xfrm flipV="true">
            <a:off x="1028700" y="5279553"/>
            <a:ext cx="15313002" cy="0"/>
          </a:xfrm>
          <a:prstGeom prst="line">
            <a:avLst/>
          </a:prstGeom>
          <a:ln cap="flat" w="9525">
            <a:solidFill>
              <a:srgbClr val="000000"/>
            </a:solidFill>
            <a:prstDash val="sysDot"/>
            <a:headEnd type="none" len="sm" w="sm"/>
            <a:tailEnd type="none" len="sm" w="sm"/>
          </a:ln>
        </p:spPr>
      </p:sp>
      <p:sp>
        <p:nvSpPr>
          <p:cNvPr name="Freeform 16" id="16"/>
          <p:cNvSpPr/>
          <p:nvPr/>
        </p:nvSpPr>
        <p:spPr>
          <a:xfrm flipH="false" flipV="false" rot="5400000">
            <a:off x="15018000" y="3173461"/>
            <a:ext cx="948381" cy="1520727"/>
          </a:xfrm>
          <a:custGeom>
            <a:avLst/>
            <a:gdLst/>
            <a:ahLst/>
            <a:cxnLst/>
            <a:rect r="r" b="b" t="t" l="l"/>
            <a:pathLst>
              <a:path h="1520727" w="948381">
                <a:moveTo>
                  <a:pt x="0" y="0"/>
                </a:moveTo>
                <a:lnTo>
                  <a:pt x="948381" y="0"/>
                </a:lnTo>
                <a:lnTo>
                  <a:pt x="948381" y="1520728"/>
                </a:lnTo>
                <a:lnTo>
                  <a:pt x="0" y="15207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028700" y="755776"/>
            <a:ext cx="2476770" cy="1024764"/>
          </a:xfrm>
          <a:custGeom>
            <a:avLst/>
            <a:gdLst/>
            <a:ahLst/>
            <a:cxnLst/>
            <a:rect r="r" b="b" t="t" l="l"/>
            <a:pathLst>
              <a:path h="1024764" w="2476770">
                <a:moveTo>
                  <a:pt x="0" y="0"/>
                </a:moveTo>
                <a:lnTo>
                  <a:pt x="2476770" y="0"/>
                </a:lnTo>
                <a:lnTo>
                  <a:pt x="2476770" y="1024764"/>
                </a:lnTo>
                <a:lnTo>
                  <a:pt x="0" y="1024764"/>
                </a:lnTo>
                <a:lnTo>
                  <a:pt x="0" y="0"/>
                </a:lnTo>
                <a:close/>
              </a:path>
            </a:pathLst>
          </a:custGeom>
          <a:blipFill>
            <a:blip r:embed="rId4"/>
            <a:stretch>
              <a:fillRect l="0" t="0" r="0" b="0"/>
            </a:stretch>
          </a:blipFill>
        </p:spPr>
      </p:sp>
      <p:pic>
        <p:nvPicPr>
          <p:cNvPr name="Picture 18" id="18"/>
          <p:cNvPicPr>
            <a:picLocks noChangeAspect="true"/>
          </p:cNvPicPr>
          <p:nvPr/>
        </p:nvPicPr>
        <p:blipFill>
          <a:blip r:embed="rId5"/>
          <a:stretch>
            <a:fillRect/>
          </a:stretch>
        </p:blipFill>
        <p:spPr>
          <a:xfrm rot="0">
            <a:off x="719922" y="4852902"/>
            <a:ext cx="6666828" cy="1774236"/>
          </a:xfrm>
          <a:prstGeom prst="rect">
            <a:avLst/>
          </a:prstGeom>
        </p:spPr>
      </p:pic>
      <p:pic>
        <p:nvPicPr>
          <p:cNvPr name="Picture 19" id="19"/>
          <p:cNvPicPr>
            <a:picLocks noChangeAspect="true"/>
          </p:cNvPicPr>
          <p:nvPr/>
        </p:nvPicPr>
        <p:blipFill>
          <a:blip r:embed="rId6"/>
          <a:stretch>
            <a:fillRect/>
          </a:stretch>
        </p:blipFill>
        <p:spPr>
          <a:xfrm rot="0">
            <a:off x="5290434" y="6531559"/>
            <a:ext cx="7707133" cy="1998145"/>
          </a:xfrm>
          <a:prstGeom prst="rect">
            <a:avLst/>
          </a:prstGeom>
        </p:spPr>
      </p:pic>
      <p:pic>
        <p:nvPicPr>
          <p:cNvPr name="Picture 20" id="20"/>
          <p:cNvPicPr>
            <a:picLocks noChangeAspect="true"/>
          </p:cNvPicPr>
          <p:nvPr/>
        </p:nvPicPr>
        <p:blipFill>
          <a:blip r:embed="rId7"/>
          <a:stretch>
            <a:fillRect/>
          </a:stretch>
        </p:blipFill>
        <p:spPr>
          <a:xfrm rot="0">
            <a:off x="10352035" y="4781205"/>
            <a:ext cx="7132740" cy="1884759"/>
          </a:xfrm>
          <a:prstGeom prst="rect">
            <a:avLst/>
          </a:prstGeom>
        </p:spPr>
      </p:pic>
      <p:sp>
        <p:nvSpPr>
          <p:cNvPr name="TextBox 21" id="21"/>
          <p:cNvSpPr txBox="true"/>
          <p:nvPr/>
        </p:nvSpPr>
        <p:spPr>
          <a:xfrm rot="0">
            <a:off x="1028700" y="8341361"/>
            <a:ext cx="11580592" cy="648334"/>
          </a:xfrm>
          <a:prstGeom prst="rect">
            <a:avLst/>
          </a:prstGeom>
        </p:spPr>
        <p:txBody>
          <a:bodyPr anchor="t" rtlCol="false" tIns="0" lIns="0" bIns="0" rIns="0">
            <a:spAutoFit/>
          </a:bodyPr>
          <a:lstStyle/>
          <a:p>
            <a:pPr algn="ctr">
              <a:lnSpc>
                <a:spcPts val="3080"/>
              </a:lnSpc>
            </a:pPr>
            <a:r>
              <a:rPr lang="en-US" sz="2200">
                <a:solidFill>
                  <a:srgbClr val="403E3E"/>
                </a:solidFill>
                <a:latin typeface="Noto Serif Display"/>
                <a:ea typeface="Noto Serif Display"/>
                <a:cs typeface="Noto Serif Display"/>
                <a:sym typeface="Noto Serif Display"/>
              </a:rPr>
              <a:t>Wavg, </a:t>
            </a:r>
            <a:r>
              <a:rPr lang="en-US" sz="2200">
                <a:solidFill>
                  <a:srgbClr val="403E3E"/>
                </a:solidFill>
                <a:latin typeface="Noto Serif Display"/>
                <a:ea typeface="Noto Serif Display"/>
                <a:cs typeface="Noto Serif Display"/>
                <a:sym typeface="Noto Serif Display"/>
              </a:rPr>
              <a:t>Tavg, and Ravg are key metrics for evaluating CPU scheduling performance.</a:t>
            </a:r>
          </a:p>
          <a:p>
            <a:pPr algn="ctr">
              <a:lnSpc>
                <a:spcPts val="2100"/>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AFAF6"/>
        </a:solidFill>
      </p:bgPr>
    </p:bg>
    <p:spTree>
      <p:nvGrpSpPr>
        <p:cNvPr id="1" name=""/>
        <p:cNvGrpSpPr/>
        <p:nvPr/>
      </p:nvGrpSpPr>
      <p:grpSpPr>
        <a:xfrm>
          <a:off x="0" y="0"/>
          <a:ext cx="0" cy="0"/>
          <a:chOff x="0" y="0"/>
          <a:chExt cx="0" cy="0"/>
        </a:xfrm>
      </p:grpSpPr>
      <p:sp>
        <p:nvSpPr>
          <p:cNvPr name="AutoShape 2" id="2"/>
          <p:cNvSpPr/>
          <p:nvPr/>
        </p:nvSpPr>
        <p:spPr>
          <a:xfrm>
            <a:off x="-612992" y="9253537"/>
            <a:ext cx="12396242" cy="0"/>
          </a:xfrm>
          <a:prstGeom prst="line">
            <a:avLst/>
          </a:prstGeom>
          <a:ln cap="flat" w="9525">
            <a:solidFill>
              <a:srgbClr val="403E3E"/>
            </a:solidFill>
            <a:prstDash val="solid"/>
            <a:headEnd type="none" len="sm" w="sm"/>
            <a:tailEnd type="none" len="sm" w="sm"/>
          </a:ln>
        </p:spPr>
      </p:sp>
      <p:sp>
        <p:nvSpPr>
          <p:cNvPr name="AutoShape 3" id="3"/>
          <p:cNvSpPr/>
          <p:nvPr/>
        </p:nvSpPr>
        <p:spPr>
          <a:xfrm flipV="true">
            <a:off x="-462152" y="1033462"/>
            <a:ext cx="19212305" cy="0"/>
          </a:xfrm>
          <a:prstGeom prst="line">
            <a:avLst/>
          </a:prstGeom>
          <a:ln cap="flat" w="9525">
            <a:solidFill>
              <a:srgbClr val="403E3E"/>
            </a:solidFill>
            <a:prstDash val="solid"/>
            <a:headEnd type="none" len="sm" w="sm"/>
            <a:tailEnd type="none" len="sm" w="sm"/>
          </a:ln>
        </p:spPr>
      </p:sp>
      <p:sp>
        <p:nvSpPr>
          <p:cNvPr name="AutoShape 4" id="4"/>
          <p:cNvSpPr/>
          <p:nvPr/>
        </p:nvSpPr>
        <p:spPr>
          <a:xfrm>
            <a:off x="-462152" y="2924738"/>
            <a:ext cx="12245402" cy="0"/>
          </a:xfrm>
          <a:prstGeom prst="line">
            <a:avLst/>
          </a:prstGeom>
          <a:ln cap="flat" w="9525">
            <a:solidFill>
              <a:srgbClr val="403E3E"/>
            </a:solidFill>
            <a:prstDash val="solid"/>
            <a:headEnd type="none" len="sm" w="sm"/>
            <a:tailEnd type="none" len="sm" w="sm"/>
          </a:ln>
        </p:spPr>
      </p:sp>
      <p:sp>
        <p:nvSpPr>
          <p:cNvPr name="Freeform 5" id="5"/>
          <p:cNvSpPr/>
          <p:nvPr/>
        </p:nvSpPr>
        <p:spPr>
          <a:xfrm flipH="false" flipV="false" rot="0">
            <a:off x="12807442" y="3704713"/>
            <a:ext cx="4183253" cy="4114800"/>
          </a:xfrm>
          <a:custGeom>
            <a:avLst/>
            <a:gdLst/>
            <a:ahLst/>
            <a:cxnLst/>
            <a:rect r="r" b="b" t="t" l="l"/>
            <a:pathLst>
              <a:path h="4114800" w="4183253">
                <a:moveTo>
                  <a:pt x="0" y="0"/>
                </a:moveTo>
                <a:lnTo>
                  <a:pt x="4183253" y="0"/>
                </a:lnTo>
                <a:lnTo>
                  <a:pt x="418325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757560" y="1414305"/>
            <a:ext cx="12860382" cy="902411"/>
          </a:xfrm>
          <a:prstGeom prst="rect">
            <a:avLst/>
          </a:prstGeom>
        </p:spPr>
        <p:txBody>
          <a:bodyPr anchor="t" rtlCol="false" tIns="0" lIns="0" bIns="0" rIns="0">
            <a:spAutoFit/>
          </a:bodyPr>
          <a:lstStyle/>
          <a:p>
            <a:pPr algn="ctr">
              <a:lnSpc>
                <a:spcPts val="3334"/>
              </a:lnSpc>
            </a:pPr>
            <a:r>
              <a:rPr lang="en-US" b="true" sz="4387" spc="-96">
                <a:solidFill>
                  <a:srgbClr val="403E3E"/>
                </a:solidFill>
                <a:latin typeface="Arial Nova Bold"/>
                <a:ea typeface="Arial Nova Bold"/>
                <a:cs typeface="Arial Nova Bold"/>
                <a:sym typeface="Arial Nova Bold"/>
              </a:rPr>
              <a:t>4.1.1 DESCRIPTION</a:t>
            </a:r>
          </a:p>
          <a:p>
            <a:pPr algn="ctr" marL="0" indent="0" lvl="0">
              <a:lnSpc>
                <a:spcPts val="3334"/>
              </a:lnSpc>
              <a:spcBef>
                <a:spcPct val="0"/>
              </a:spcBef>
            </a:pPr>
          </a:p>
        </p:txBody>
      </p:sp>
      <p:sp>
        <p:nvSpPr>
          <p:cNvPr name="TextBox 7" id="7"/>
          <p:cNvSpPr txBox="true"/>
          <p:nvPr/>
        </p:nvSpPr>
        <p:spPr>
          <a:xfrm rot="0">
            <a:off x="1326352" y="9596713"/>
            <a:ext cx="4237173" cy="656590"/>
          </a:xfrm>
          <a:prstGeom prst="rect">
            <a:avLst/>
          </a:prstGeom>
        </p:spPr>
        <p:txBody>
          <a:bodyPr anchor="t" rtlCol="false" tIns="0" lIns="0" bIns="0" rIns="0">
            <a:spAutoFit/>
          </a:bodyPr>
          <a:lstStyle/>
          <a:p>
            <a:pPr algn="l">
              <a:lnSpc>
                <a:spcPts val="2660"/>
              </a:lnSpc>
            </a:pPr>
            <a:r>
              <a:rPr lang="en-US" sz="1900" spc="-104">
                <a:solidFill>
                  <a:srgbClr val="403E3E"/>
                </a:solidFill>
                <a:latin typeface="Mukti"/>
                <a:ea typeface="Mukti"/>
                <a:cs typeface="Mukti"/>
                <a:sym typeface="Mukti"/>
              </a:rPr>
              <a:t>NOV 2025</a:t>
            </a:r>
          </a:p>
          <a:p>
            <a:pPr algn="l">
              <a:lnSpc>
                <a:spcPts val="2660"/>
              </a:lnSpc>
            </a:pPr>
          </a:p>
        </p:txBody>
      </p:sp>
      <p:sp>
        <p:nvSpPr>
          <p:cNvPr name="TextBox 8" id="8"/>
          <p:cNvSpPr txBox="true"/>
          <p:nvPr/>
        </p:nvSpPr>
        <p:spPr>
          <a:xfrm rot="0">
            <a:off x="11514197" y="9596713"/>
            <a:ext cx="6222331" cy="656590"/>
          </a:xfrm>
          <a:prstGeom prst="rect">
            <a:avLst/>
          </a:prstGeom>
        </p:spPr>
        <p:txBody>
          <a:bodyPr anchor="t" rtlCol="false" tIns="0" lIns="0" bIns="0" rIns="0">
            <a:spAutoFit/>
          </a:bodyPr>
          <a:lstStyle/>
          <a:p>
            <a:pPr algn="r">
              <a:lnSpc>
                <a:spcPts val="2660"/>
              </a:lnSpc>
            </a:pPr>
            <a:r>
              <a:rPr lang="en-US" sz="1900" spc="-104">
                <a:solidFill>
                  <a:srgbClr val="403E3E"/>
                </a:solidFill>
                <a:latin typeface="Mukti"/>
                <a:ea typeface="Mukti"/>
                <a:cs typeface="Mukti"/>
                <a:sym typeface="Mukti"/>
              </a:rPr>
              <a:t>HO CHI MINH CITY UNIVERSITY OF TRANSPORT</a:t>
            </a:r>
          </a:p>
          <a:p>
            <a:pPr algn="r">
              <a:lnSpc>
                <a:spcPts val="2660"/>
              </a:lnSpc>
            </a:pPr>
          </a:p>
        </p:txBody>
      </p:sp>
      <p:sp>
        <p:nvSpPr>
          <p:cNvPr name="TextBox 9" id="9"/>
          <p:cNvSpPr txBox="true"/>
          <p:nvPr/>
        </p:nvSpPr>
        <p:spPr>
          <a:xfrm rot="0">
            <a:off x="2757560" y="4387338"/>
            <a:ext cx="8756637" cy="1374775"/>
          </a:xfrm>
          <a:prstGeom prst="rect">
            <a:avLst/>
          </a:prstGeom>
        </p:spPr>
        <p:txBody>
          <a:bodyPr anchor="t" rtlCol="false" tIns="0" lIns="0" bIns="0" rIns="0">
            <a:spAutoFit/>
          </a:bodyPr>
          <a:lstStyle/>
          <a:p>
            <a:pPr algn="just" marL="0" indent="0" lvl="0">
              <a:lnSpc>
                <a:spcPts val="2749"/>
              </a:lnSpc>
              <a:spcBef>
                <a:spcPct val="0"/>
              </a:spcBef>
            </a:pPr>
            <a:r>
              <a:rPr lang="en-US" sz="2499" spc="-137">
                <a:solidFill>
                  <a:srgbClr val="403E3E"/>
                </a:solidFill>
                <a:latin typeface="Mukti"/>
                <a:ea typeface="Mukti"/>
                <a:cs typeface="Mukti"/>
                <a:sym typeface="Mukti"/>
              </a:rPr>
              <a:t>In this dataset, the processes all have short burst times and are almost similar. The processes arrive at almost the same time, thereby creating a uniform workload environment. Through this dataset, we can see that the CPU operates almost continuously without idle time</a:t>
            </a:r>
          </a:p>
        </p:txBody>
      </p:sp>
      <p:sp>
        <p:nvSpPr>
          <p:cNvPr name="TextBox 10" id="10"/>
          <p:cNvSpPr txBox="true"/>
          <p:nvPr/>
        </p:nvSpPr>
        <p:spPr>
          <a:xfrm rot="0">
            <a:off x="13499355" y="314960"/>
            <a:ext cx="4237173" cy="656590"/>
          </a:xfrm>
          <a:prstGeom prst="rect">
            <a:avLst/>
          </a:prstGeom>
        </p:spPr>
        <p:txBody>
          <a:bodyPr anchor="t" rtlCol="false" tIns="0" lIns="0" bIns="0" rIns="0">
            <a:spAutoFit/>
          </a:bodyPr>
          <a:lstStyle/>
          <a:p>
            <a:pPr algn="r">
              <a:lnSpc>
                <a:spcPts val="2660"/>
              </a:lnSpc>
            </a:pPr>
            <a:r>
              <a:rPr lang="en-US" sz="1900" spc="-104">
                <a:solidFill>
                  <a:srgbClr val="403E3E"/>
                </a:solidFill>
                <a:latin typeface="Mukti"/>
                <a:ea typeface="Mukti"/>
                <a:cs typeface="Mukti"/>
                <a:sym typeface="Mukti"/>
              </a:rPr>
              <a:t>NOV 2025</a:t>
            </a:r>
          </a:p>
          <a:p>
            <a:pPr algn="r">
              <a:lnSpc>
                <a:spcPts val="2660"/>
              </a:lnSpc>
            </a:pPr>
          </a:p>
        </p:txBody>
      </p:sp>
      <p:sp>
        <p:nvSpPr>
          <p:cNvPr name="TextBox 11" id="11"/>
          <p:cNvSpPr txBox="true"/>
          <p:nvPr/>
        </p:nvSpPr>
        <p:spPr>
          <a:xfrm rot="0">
            <a:off x="16990695" y="8951595"/>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17</a:t>
            </a:r>
          </a:p>
        </p:txBody>
      </p:sp>
      <p:sp>
        <p:nvSpPr>
          <p:cNvPr name="Freeform 12" id="12"/>
          <p:cNvSpPr/>
          <p:nvPr/>
        </p:nvSpPr>
        <p:spPr>
          <a:xfrm flipH="false" flipV="false" rot="0">
            <a:off x="1326352" y="1233330"/>
            <a:ext cx="2476770" cy="1024764"/>
          </a:xfrm>
          <a:custGeom>
            <a:avLst/>
            <a:gdLst/>
            <a:ahLst/>
            <a:cxnLst/>
            <a:rect r="r" b="b" t="t" l="l"/>
            <a:pathLst>
              <a:path h="1024764" w="2476770">
                <a:moveTo>
                  <a:pt x="0" y="0"/>
                </a:moveTo>
                <a:lnTo>
                  <a:pt x="2476770" y="0"/>
                </a:lnTo>
                <a:lnTo>
                  <a:pt x="2476770" y="1024764"/>
                </a:lnTo>
                <a:lnTo>
                  <a:pt x="0" y="1024764"/>
                </a:lnTo>
                <a:lnTo>
                  <a:pt x="0" y="0"/>
                </a:lnTo>
                <a:close/>
              </a:path>
            </a:pathLst>
          </a:custGeom>
          <a:blipFill>
            <a:blip r:embed="rId4"/>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FEEEC"/>
        </a:solidFill>
      </p:bgPr>
    </p:bg>
    <p:spTree>
      <p:nvGrpSpPr>
        <p:cNvPr id="1" name=""/>
        <p:cNvGrpSpPr/>
        <p:nvPr/>
      </p:nvGrpSpPr>
      <p:grpSpPr>
        <a:xfrm>
          <a:off x="0" y="0"/>
          <a:ext cx="0" cy="0"/>
          <a:chOff x="0" y="0"/>
          <a:chExt cx="0" cy="0"/>
        </a:xfrm>
      </p:grpSpPr>
      <p:grpSp>
        <p:nvGrpSpPr>
          <p:cNvPr name="Group 2" id="2"/>
          <p:cNvGrpSpPr/>
          <p:nvPr/>
        </p:nvGrpSpPr>
        <p:grpSpPr>
          <a:xfrm rot="5400000">
            <a:off x="12432431" y="4605338"/>
            <a:ext cx="10730064" cy="1076325"/>
            <a:chOff x="0" y="0"/>
            <a:chExt cx="3845413" cy="385731"/>
          </a:xfrm>
        </p:grpSpPr>
        <p:sp>
          <p:nvSpPr>
            <p:cNvPr name="Freeform 3" id="3"/>
            <p:cNvSpPr/>
            <p:nvPr/>
          </p:nvSpPr>
          <p:spPr>
            <a:xfrm flipH="false" flipV="false" rot="0">
              <a:off x="0" y="0"/>
              <a:ext cx="3845413" cy="385731"/>
            </a:xfrm>
            <a:custGeom>
              <a:avLst/>
              <a:gdLst/>
              <a:ahLst/>
              <a:cxnLst/>
              <a:rect r="r" b="b" t="t" l="l"/>
              <a:pathLst>
                <a:path h="385731" w="3845413">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sp>
        <p:sp>
          <p:nvSpPr>
            <p:cNvPr name="TextBox 4" id="4"/>
            <p:cNvSpPr txBox="true"/>
            <p:nvPr/>
          </p:nvSpPr>
          <p:spPr>
            <a:xfrm>
              <a:off x="0" y="-47625"/>
              <a:ext cx="3845413" cy="433356"/>
            </a:xfrm>
            <a:prstGeom prst="rect">
              <a:avLst/>
            </a:prstGeom>
          </p:spPr>
          <p:txBody>
            <a:bodyPr anchor="ctr" rtlCol="false" tIns="50800" lIns="50800" bIns="50800" rIns="50800"/>
            <a:lstStyle/>
            <a:p>
              <a:pPr algn="ctr">
                <a:lnSpc>
                  <a:spcPts val="1960"/>
                </a:lnSpc>
              </a:pPr>
            </a:p>
          </p:txBody>
        </p:sp>
      </p:grpSp>
      <p:sp>
        <p:nvSpPr>
          <p:cNvPr name="TextBox 5" id="5"/>
          <p:cNvSpPr txBox="true"/>
          <p:nvPr/>
        </p:nvSpPr>
        <p:spPr>
          <a:xfrm rot="0">
            <a:off x="15855093" y="9692050"/>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18</a:t>
            </a:r>
          </a:p>
        </p:txBody>
      </p:sp>
      <p:sp>
        <p:nvSpPr>
          <p:cNvPr name="TextBox 6" id="6"/>
          <p:cNvSpPr txBox="true"/>
          <p:nvPr/>
        </p:nvSpPr>
        <p:spPr>
          <a:xfrm rot="0">
            <a:off x="4008450" y="1766375"/>
            <a:ext cx="11846643" cy="668020"/>
          </a:xfrm>
          <a:prstGeom prst="rect">
            <a:avLst/>
          </a:prstGeom>
        </p:spPr>
        <p:txBody>
          <a:bodyPr anchor="t" rtlCol="false" tIns="0" lIns="0" bIns="0" rIns="0">
            <a:spAutoFit/>
          </a:bodyPr>
          <a:lstStyle/>
          <a:p>
            <a:pPr algn="l" marL="0" indent="0" lvl="0">
              <a:lnSpc>
                <a:spcPts val="4760"/>
              </a:lnSpc>
              <a:spcBef>
                <a:spcPct val="0"/>
              </a:spcBef>
            </a:pPr>
            <a:r>
              <a:rPr lang="en-US" b="true" sz="5600" spc="-420">
                <a:solidFill>
                  <a:srgbClr val="403E3E"/>
                </a:solidFill>
                <a:latin typeface="Inter Bold"/>
                <a:ea typeface="Inter Bold"/>
                <a:cs typeface="Inter Bold"/>
                <a:sym typeface="Inter Bold"/>
              </a:rPr>
              <a:t>4.1.2 Results and Observations</a:t>
            </a:r>
          </a:p>
        </p:txBody>
      </p:sp>
      <p:sp>
        <p:nvSpPr>
          <p:cNvPr name="TextBox 7" id="7"/>
          <p:cNvSpPr txBox="true"/>
          <p:nvPr/>
        </p:nvSpPr>
        <p:spPr>
          <a:xfrm rot="0">
            <a:off x="13403572" y="993352"/>
            <a:ext cx="2850172" cy="621030"/>
          </a:xfrm>
          <a:prstGeom prst="rect">
            <a:avLst/>
          </a:prstGeom>
        </p:spPr>
        <p:txBody>
          <a:bodyPr anchor="t" rtlCol="false" tIns="0" lIns="0" bIns="0" rIns="0">
            <a:spAutoFit/>
          </a:bodyPr>
          <a:lstStyle/>
          <a:p>
            <a:pPr algn="r">
              <a:lnSpc>
                <a:spcPts val="2520"/>
              </a:lnSpc>
            </a:pPr>
            <a:r>
              <a:rPr lang="en-US" sz="1800" spc="-72">
                <a:solidFill>
                  <a:srgbClr val="403E3E"/>
                </a:solidFill>
                <a:latin typeface="Inter"/>
                <a:ea typeface="Inter"/>
                <a:cs typeface="Inter"/>
                <a:sym typeface="Inter"/>
              </a:rPr>
              <a:t>NOV 2025</a:t>
            </a:r>
          </a:p>
          <a:p>
            <a:pPr algn="r" marL="0" indent="0" lvl="0">
              <a:lnSpc>
                <a:spcPts val="2520"/>
              </a:lnSpc>
              <a:spcBef>
                <a:spcPct val="0"/>
              </a:spcBef>
            </a:pPr>
          </a:p>
        </p:txBody>
      </p:sp>
      <p:grpSp>
        <p:nvGrpSpPr>
          <p:cNvPr name="Group 8" id="8"/>
          <p:cNvGrpSpPr/>
          <p:nvPr/>
        </p:nvGrpSpPr>
        <p:grpSpPr>
          <a:xfrm rot="5400000">
            <a:off x="-4204353" y="3779569"/>
            <a:ext cx="10730064" cy="2727862"/>
            <a:chOff x="0" y="0"/>
            <a:chExt cx="3845413" cy="977604"/>
          </a:xfrm>
        </p:grpSpPr>
        <p:sp>
          <p:nvSpPr>
            <p:cNvPr name="Freeform 9" id="9"/>
            <p:cNvSpPr/>
            <p:nvPr/>
          </p:nvSpPr>
          <p:spPr>
            <a:xfrm flipH="false" flipV="false" rot="0">
              <a:off x="0" y="0"/>
              <a:ext cx="3845413" cy="977604"/>
            </a:xfrm>
            <a:custGeom>
              <a:avLst/>
              <a:gdLst/>
              <a:ahLst/>
              <a:cxnLst/>
              <a:rect r="r" b="b" t="t" l="l"/>
              <a:pathLst>
                <a:path h="977604" w="3845413">
                  <a:moveTo>
                    <a:pt x="0" y="0"/>
                  </a:moveTo>
                  <a:lnTo>
                    <a:pt x="3845413" y="0"/>
                  </a:lnTo>
                  <a:lnTo>
                    <a:pt x="3845413" y="977604"/>
                  </a:lnTo>
                  <a:lnTo>
                    <a:pt x="0" y="977604"/>
                  </a:lnTo>
                  <a:close/>
                </a:path>
              </a:pathLst>
            </a:custGeom>
            <a:solidFill>
              <a:srgbClr val="F6F5F3"/>
            </a:solidFill>
            <a:ln w="9525" cap="sq">
              <a:solidFill>
                <a:srgbClr val="403E3E"/>
              </a:solidFill>
              <a:prstDash val="solid"/>
              <a:miter/>
            </a:ln>
          </p:spPr>
        </p:sp>
        <p:sp>
          <p:nvSpPr>
            <p:cNvPr name="TextBox 10" id="10"/>
            <p:cNvSpPr txBox="true"/>
            <p:nvPr/>
          </p:nvSpPr>
          <p:spPr>
            <a:xfrm>
              <a:off x="0" y="-47625"/>
              <a:ext cx="3845413" cy="1025229"/>
            </a:xfrm>
            <a:prstGeom prst="rect">
              <a:avLst/>
            </a:prstGeom>
          </p:spPr>
          <p:txBody>
            <a:bodyPr anchor="ctr" rtlCol="false" tIns="50800" lIns="50800" bIns="50800" rIns="50800"/>
            <a:lstStyle/>
            <a:p>
              <a:pPr algn="ctr">
                <a:lnSpc>
                  <a:spcPts val="1960"/>
                </a:lnSpc>
              </a:pPr>
            </a:p>
          </p:txBody>
        </p:sp>
      </p:grpSp>
      <p:sp>
        <p:nvSpPr>
          <p:cNvPr name="Freeform 11" id="11"/>
          <p:cNvSpPr/>
          <p:nvPr/>
        </p:nvSpPr>
        <p:spPr>
          <a:xfrm flipH="false" flipV="false" rot="0">
            <a:off x="2050420" y="789208"/>
            <a:ext cx="948381" cy="1520727"/>
          </a:xfrm>
          <a:custGeom>
            <a:avLst/>
            <a:gdLst/>
            <a:ahLst/>
            <a:cxnLst/>
            <a:rect r="r" b="b" t="t" l="l"/>
            <a:pathLst>
              <a:path h="1520727" w="948381">
                <a:moveTo>
                  <a:pt x="0" y="0"/>
                </a:moveTo>
                <a:lnTo>
                  <a:pt x="948380" y="0"/>
                </a:lnTo>
                <a:lnTo>
                  <a:pt x="948380" y="1520727"/>
                </a:lnTo>
                <a:lnTo>
                  <a:pt x="0" y="15207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12" id="12"/>
          <p:cNvGraphicFramePr>
            <a:graphicFrameLocks noGrp="true"/>
          </p:cNvGraphicFramePr>
          <p:nvPr/>
        </p:nvGraphicFramePr>
        <p:xfrm>
          <a:off x="3166186" y="2720145"/>
          <a:ext cx="12456203" cy="7314752"/>
        </p:xfrm>
        <a:graphic>
          <a:graphicData uri="http://schemas.openxmlformats.org/drawingml/2006/table">
            <a:tbl>
              <a:tblPr/>
              <a:tblGrid>
                <a:gridCol w="1162669"/>
                <a:gridCol w="2541724"/>
                <a:gridCol w="2327172"/>
                <a:gridCol w="2141861"/>
                <a:gridCol w="2659523"/>
                <a:gridCol w="1623253"/>
              </a:tblGrid>
              <a:tr h="2141502">
                <a:tc>
                  <a:txBody>
                    <a:bodyPr anchor="t" rtlCol="false"/>
                    <a:lstStyle/>
                    <a:p>
                      <a:pPr algn="l">
                        <a:lnSpc>
                          <a:spcPts val="2939"/>
                        </a:lnSpc>
                        <a:defRPr/>
                      </a:pPr>
                      <a:r>
                        <a:rPr lang="en-US" sz="2099">
                          <a:solidFill>
                            <a:srgbClr val="000000"/>
                          </a:solidFill>
                          <a:latin typeface="Arimo"/>
                          <a:ea typeface="Arimo"/>
                          <a:cs typeface="Arimo"/>
                          <a:sym typeface="Arimo"/>
                        </a:rPr>
                        <a:t>Process</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6F5F3"/>
                    </a:solidFill>
                  </a:tcPr>
                </a:tc>
                <a:tc>
                  <a:txBody>
                    <a:bodyPr anchor="t" rtlCol="false"/>
                    <a:lstStyle/>
                    <a:p>
                      <a:pPr algn="ctr">
                        <a:lnSpc>
                          <a:spcPts val="2939"/>
                        </a:lnSpc>
                        <a:defRPr/>
                      </a:pPr>
                      <a:r>
                        <a:rPr lang="en-US" sz="2099" spc="-46">
                          <a:solidFill>
                            <a:srgbClr val="403E3E"/>
                          </a:solidFill>
                          <a:latin typeface="Inter"/>
                          <a:ea typeface="Inter"/>
                          <a:cs typeface="Inter"/>
                          <a:sym typeface="Inter"/>
                        </a:rPr>
                        <a:t>ARRIVAL TIME (AT)</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6F5F3"/>
                    </a:solidFill>
                  </a:tcPr>
                </a:tc>
                <a:tc>
                  <a:txBody>
                    <a:bodyPr anchor="t" rtlCol="false"/>
                    <a:lstStyle/>
                    <a:p>
                      <a:pPr algn="ctr">
                        <a:lnSpc>
                          <a:spcPts val="2939"/>
                        </a:lnSpc>
                        <a:defRPr/>
                      </a:pPr>
                      <a:r>
                        <a:rPr lang="en-US" sz="2099" spc="-46">
                          <a:solidFill>
                            <a:srgbClr val="403E3E"/>
                          </a:solidFill>
                          <a:latin typeface="Inter"/>
                          <a:ea typeface="Inter"/>
                          <a:cs typeface="Inter"/>
                          <a:sym typeface="Inter"/>
                        </a:rPr>
                        <a:t>BURST TIME (BT)</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6F5F3"/>
                    </a:solidFill>
                  </a:tcPr>
                </a:tc>
                <a:tc>
                  <a:txBody>
                    <a:bodyPr anchor="t" rtlCol="false"/>
                    <a:lstStyle/>
                    <a:p>
                      <a:pPr algn="ctr">
                        <a:lnSpc>
                          <a:spcPts val="2939"/>
                        </a:lnSpc>
                        <a:defRPr/>
                      </a:pPr>
                      <a:r>
                        <a:rPr lang="en-US" sz="2099" spc="-46">
                          <a:solidFill>
                            <a:srgbClr val="403E3E"/>
                          </a:solidFill>
                          <a:latin typeface="Inter"/>
                          <a:ea typeface="Inter"/>
                          <a:cs typeface="Inter"/>
                          <a:sym typeface="Inter"/>
                        </a:rPr>
                        <a:t>COMPLETION TIME (CT)</a:t>
                      </a:r>
                      <a:endParaRPr lang="en-US" sz="1100"/>
                    </a:p>
                    <a:p>
                      <a:pPr algn="ctr">
                        <a:lnSpc>
                          <a:spcPts val="2939"/>
                        </a:lnSpc>
                      </a:pPr>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6F5F3"/>
                    </a:solidFill>
                  </a:tcPr>
                </a:tc>
                <a:tc>
                  <a:txBody>
                    <a:bodyPr anchor="t" rtlCol="false"/>
                    <a:lstStyle/>
                    <a:p>
                      <a:pPr algn="ctr">
                        <a:lnSpc>
                          <a:spcPts val="2939"/>
                        </a:lnSpc>
                        <a:defRPr/>
                      </a:pPr>
                      <a:r>
                        <a:rPr lang="en-US" sz="2099" spc="-46">
                          <a:solidFill>
                            <a:srgbClr val="403E3E"/>
                          </a:solidFill>
                          <a:latin typeface="Inter"/>
                          <a:ea typeface="Inter"/>
                          <a:cs typeface="Inter"/>
                          <a:sym typeface="Inter"/>
                        </a:rPr>
                        <a:t>TURNAROUND TIME (TAT)</a:t>
                      </a:r>
                      <a:endParaRPr lang="en-US" sz="1100"/>
                    </a:p>
                    <a:p>
                      <a:pPr algn="ctr">
                        <a:lnSpc>
                          <a:spcPts val="2939"/>
                        </a:lnSpc>
                      </a:pPr>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6F5F3"/>
                    </a:solidFill>
                  </a:tcPr>
                </a:tc>
                <a:tc>
                  <a:txBody>
                    <a:bodyPr anchor="t" rtlCol="false"/>
                    <a:lstStyle/>
                    <a:p>
                      <a:pPr algn="l">
                        <a:lnSpc>
                          <a:spcPts val="2939"/>
                        </a:lnSpc>
                        <a:defRPr/>
                      </a:pPr>
                      <a:r>
                        <a:rPr lang="en-US" sz="2099" strike="noStrike" u="none">
                          <a:solidFill>
                            <a:srgbClr val="000000"/>
                          </a:solidFill>
                          <a:latin typeface="Arimo"/>
                          <a:ea typeface="Arimo"/>
                          <a:cs typeface="Arimo"/>
                          <a:sym typeface="Arimo"/>
                        </a:rPr>
                        <a:t>Waiting Time (WT)</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6F5F3"/>
                    </a:solidFill>
                  </a:tcPr>
                </a:tc>
              </a:tr>
              <a:tr h="657962">
                <a:tc>
                  <a:txBody>
                    <a:bodyPr anchor="t" rtlCol="false"/>
                    <a:lstStyle/>
                    <a:p>
                      <a:pPr algn="l">
                        <a:lnSpc>
                          <a:spcPts val="2939"/>
                        </a:lnSpc>
                        <a:defRPr/>
                      </a:pPr>
                      <a:r>
                        <a:rPr lang="en-US" sz="2099" spc="-46">
                          <a:solidFill>
                            <a:srgbClr val="403E3E"/>
                          </a:solidFill>
                          <a:latin typeface="Inter"/>
                          <a:ea typeface="Inter"/>
                          <a:cs typeface="Inter"/>
                          <a:sym typeface="Inter"/>
                        </a:rPr>
                        <a:t>P00</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0</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1</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1</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1</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0</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657962">
                <a:tc>
                  <a:txBody>
                    <a:bodyPr anchor="t" rtlCol="false"/>
                    <a:lstStyle/>
                    <a:p>
                      <a:pPr algn="l">
                        <a:lnSpc>
                          <a:spcPts val="2939"/>
                        </a:lnSpc>
                        <a:defRPr/>
                      </a:pPr>
                      <a:r>
                        <a:rPr lang="en-US" sz="2099" spc="-46">
                          <a:solidFill>
                            <a:srgbClr val="403E3E"/>
                          </a:solidFill>
                          <a:latin typeface="Inter"/>
                          <a:ea typeface="Inter"/>
                          <a:cs typeface="Inter"/>
                          <a:sym typeface="Inter"/>
                        </a:rPr>
                        <a:t>P01</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2</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3</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5</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3</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0</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983727">
                <a:tc>
                  <a:txBody>
                    <a:bodyPr anchor="t" rtlCol="false"/>
                    <a:lstStyle/>
                    <a:p>
                      <a:pPr algn="l">
                        <a:lnSpc>
                          <a:spcPts val="2939"/>
                        </a:lnSpc>
                        <a:defRPr/>
                      </a:pPr>
                      <a:r>
                        <a:rPr lang="en-US" sz="2099" spc="-46">
                          <a:solidFill>
                            <a:srgbClr val="403E3E"/>
                          </a:solidFill>
                          <a:latin typeface="Inter"/>
                          <a:ea typeface="Inter"/>
                          <a:cs typeface="Inter"/>
                          <a:sym typeface="Inter"/>
                        </a:rPr>
                        <a:t>P04</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2</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2</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7</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5</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3</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957867">
                <a:tc>
                  <a:txBody>
                    <a:bodyPr anchor="t" rtlCol="false"/>
                    <a:lstStyle/>
                    <a:p>
                      <a:pPr algn="l">
                        <a:lnSpc>
                          <a:spcPts val="2939"/>
                        </a:lnSpc>
                        <a:defRPr/>
                      </a:pPr>
                      <a:r>
                        <a:rPr lang="en-US" sz="2099">
                          <a:solidFill>
                            <a:srgbClr val="000000"/>
                          </a:solidFill>
                          <a:latin typeface="Arimo"/>
                          <a:ea typeface="Arimo"/>
                          <a:cs typeface="Arimo"/>
                          <a:sym typeface="Arimo"/>
                        </a:rPr>
                        <a:t>P02</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800"/>
                        </a:lnSpc>
                        <a:defRPr/>
                      </a:pPr>
                      <a:r>
                        <a:rPr lang="en-US" sz="2000">
                          <a:solidFill>
                            <a:srgbClr val="000000"/>
                          </a:solidFill>
                          <a:latin typeface="Arimo"/>
                          <a:ea typeface="Arimo"/>
                          <a:cs typeface="Arimo"/>
                          <a:sym typeface="Arimo"/>
                        </a:rPr>
                        <a:t>               3</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Arimo"/>
                          <a:ea typeface="Arimo"/>
                          <a:cs typeface="Arimo"/>
                          <a:sym typeface="Arimo"/>
                        </a:rPr>
                        <a:t>              2</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Noto Serif Display"/>
                          <a:ea typeface="Noto Serif Display"/>
                          <a:cs typeface="Noto Serif Display"/>
                          <a:sym typeface="Noto Serif Display"/>
                        </a:rPr>
                        <a:t>                9</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Noto Serif Display"/>
                          <a:ea typeface="Noto Serif Display"/>
                          <a:cs typeface="Noto Serif Display"/>
                          <a:sym typeface="Noto Serif Display"/>
                        </a:rPr>
                        <a:t>                    6</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Noto Serif Display"/>
                          <a:ea typeface="Noto Serif Display"/>
                          <a:cs typeface="Noto Serif Display"/>
                          <a:sym typeface="Noto Serif Display"/>
                        </a:rPr>
                        <a:t>           4</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957867">
                <a:tc>
                  <a:txBody>
                    <a:bodyPr anchor="t" rtlCol="false"/>
                    <a:lstStyle/>
                    <a:p>
                      <a:pPr algn="l">
                        <a:lnSpc>
                          <a:spcPts val="2939"/>
                        </a:lnSpc>
                        <a:defRPr/>
                      </a:pPr>
                      <a:r>
                        <a:rPr lang="en-US" sz="2099">
                          <a:solidFill>
                            <a:srgbClr val="000000"/>
                          </a:solidFill>
                          <a:latin typeface="Arimo"/>
                          <a:ea typeface="Arimo"/>
                          <a:cs typeface="Arimo"/>
                          <a:sym typeface="Arimo"/>
                        </a:rPr>
                        <a:t>P05</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Arimo"/>
                          <a:ea typeface="Arimo"/>
                          <a:cs typeface="Arimo"/>
                          <a:sym typeface="Arimo"/>
                        </a:rPr>
                        <a:t>               3</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Arimo"/>
                          <a:ea typeface="Arimo"/>
                          <a:cs typeface="Arimo"/>
                          <a:sym typeface="Arimo"/>
                        </a:rPr>
                        <a:t>              1</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Noto Serif Display"/>
                          <a:ea typeface="Noto Serif Display"/>
                          <a:cs typeface="Noto Serif Display"/>
                          <a:sym typeface="Noto Serif Display"/>
                        </a:rPr>
                        <a:t>              10</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Noto Serif Display"/>
                          <a:ea typeface="Noto Serif Display"/>
                          <a:cs typeface="Noto Serif Display"/>
                          <a:sym typeface="Noto Serif Display"/>
                        </a:rPr>
                        <a:t>                   7</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Noto Serif Display"/>
                          <a:ea typeface="Noto Serif Display"/>
                          <a:cs typeface="Noto Serif Display"/>
                          <a:sym typeface="Noto Serif Display"/>
                        </a:rPr>
                        <a:t>           6</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957867">
                <a:tc>
                  <a:txBody>
                    <a:bodyPr anchor="t" rtlCol="false"/>
                    <a:lstStyle/>
                    <a:p>
                      <a:pPr algn="l">
                        <a:lnSpc>
                          <a:spcPts val="2939"/>
                        </a:lnSpc>
                        <a:defRPr/>
                      </a:pPr>
                      <a:r>
                        <a:rPr lang="en-US" sz="2099">
                          <a:solidFill>
                            <a:srgbClr val="000000"/>
                          </a:solidFill>
                          <a:latin typeface="Arimo"/>
                          <a:ea typeface="Arimo"/>
                          <a:cs typeface="Arimo"/>
                          <a:sym typeface="Arimo"/>
                        </a:rPr>
                        <a:t>P03</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Arimo"/>
                          <a:ea typeface="Arimo"/>
                          <a:cs typeface="Arimo"/>
                          <a:sym typeface="Arimo"/>
                        </a:rPr>
                        <a:t>               9</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Arimo"/>
                          <a:ea typeface="Arimo"/>
                          <a:cs typeface="Arimo"/>
                          <a:sym typeface="Arimo"/>
                        </a:rPr>
                        <a:t>             4</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Noto Serif Display"/>
                          <a:ea typeface="Noto Serif Display"/>
                          <a:cs typeface="Noto Serif Display"/>
                          <a:sym typeface="Noto Serif Display"/>
                        </a:rPr>
                        <a:t>              14</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Noto Serif Display"/>
                          <a:ea typeface="Noto Serif Display"/>
                          <a:cs typeface="Noto Serif Display"/>
                          <a:sym typeface="Noto Serif Display"/>
                        </a:rPr>
                        <a:t>                   5</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Noto Serif Display"/>
                          <a:ea typeface="Noto Serif Display"/>
                          <a:cs typeface="Noto Serif Display"/>
                          <a:sym typeface="Noto Serif Display"/>
                        </a:rPr>
                        <a:t>           1</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bl>
          </a:graphicData>
        </a:graphic>
      </p:graphicFrame>
      <p:sp>
        <p:nvSpPr>
          <p:cNvPr name="Freeform 13" id="13"/>
          <p:cNvSpPr/>
          <p:nvPr/>
        </p:nvSpPr>
        <p:spPr>
          <a:xfrm flipH="false" flipV="false" rot="0">
            <a:off x="47840" y="1549571"/>
            <a:ext cx="2476770" cy="1024764"/>
          </a:xfrm>
          <a:custGeom>
            <a:avLst/>
            <a:gdLst/>
            <a:ahLst/>
            <a:cxnLst/>
            <a:rect r="r" b="b" t="t" l="l"/>
            <a:pathLst>
              <a:path h="1024764" w="2476770">
                <a:moveTo>
                  <a:pt x="0" y="0"/>
                </a:moveTo>
                <a:lnTo>
                  <a:pt x="2476770" y="0"/>
                </a:lnTo>
                <a:lnTo>
                  <a:pt x="2476770" y="1024764"/>
                </a:lnTo>
                <a:lnTo>
                  <a:pt x="0" y="1024764"/>
                </a:lnTo>
                <a:lnTo>
                  <a:pt x="0" y="0"/>
                </a:lnTo>
                <a:close/>
              </a:path>
            </a:pathLst>
          </a:custGeom>
          <a:blipFill>
            <a:blip r:embed="rId4"/>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FEEEC"/>
        </a:solidFill>
      </p:bgPr>
    </p:bg>
    <p:spTree>
      <p:nvGrpSpPr>
        <p:cNvPr id="1" name=""/>
        <p:cNvGrpSpPr/>
        <p:nvPr/>
      </p:nvGrpSpPr>
      <p:grpSpPr>
        <a:xfrm>
          <a:off x="0" y="0"/>
          <a:ext cx="0" cy="0"/>
          <a:chOff x="0" y="0"/>
          <a:chExt cx="0" cy="0"/>
        </a:xfrm>
      </p:grpSpPr>
      <p:grpSp>
        <p:nvGrpSpPr>
          <p:cNvPr name="Group 2" id="2"/>
          <p:cNvGrpSpPr/>
          <p:nvPr/>
        </p:nvGrpSpPr>
        <p:grpSpPr>
          <a:xfrm rot="5400000">
            <a:off x="12432431" y="4605338"/>
            <a:ext cx="10730064" cy="1076325"/>
            <a:chOff x="0" y="0"/>
            <a:chExt cx="3845413" cy="385731"/>
          </a:xfrm>
        </p:grpSpPr>
        <p:sp>
          <p:nvSpPr>
            <p:cNvPr name="Freeform 3" id="3"/>
            <p:cNvSpPr/>
            <p:nvPr/>
          </p:nvSpPr>
          <p:spPr>
            <a:xfrm flipH="false" flipV="false" rot="0">
              <a:off x="0" y="0"/>
              <a:ext cx="3845413" cy="385731"/>
            </a:xfrm>
            <a:custGeom>
              <a:avLst/>
              <a:gdLst/>
              <a:ahLst/>
              <a:cxnLst/>
              <a:rect r="r" b="b" t="t" l="l"/>
              <a:pathLst>
                <a:path h="385731" w="3845413">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sp>
        <p:sp>
          <p:nvSpPr>
            <p:cNvPr name="TextBox 4" id="4"/>
            <p:cNvSpPr txBox="true"/>
            <p:nvPr/>
          </p:nvSpPr>
          <p:spPr>
            <a:xfrm>
              <a:off x="0" y="-47625"/>
              <a:ext cx="3845413" cy="433356"/>
            </a:xfrm>
            <a:prstGeom prst="rect">
              <a:avLst/>
            </a:prstGeom>
          </p:spPr>
          <p:txBody>
            <a:bodyPr anchor="ctr" rtlCol="false" tIns="50800" lIns="50800" bIns="50800" rIns="50800"/>
            <a:lstStyle/>
            <a:p>
              <a:pPr algn="ctr">
                <a:lnSpc>
                  <a:spcPts val="1960"/>
                </a:lnSpc>
              </a:pPr>
            </a:p>
          </p:txBody>
        </p:sp>
      </p:grpSp>
      <p:sp>
        <p:nvSpPr>
          <p:cNvPr name="TextBox 5" id="5"/>
          <p:cNvSpPr txBox="true"/>
          <p:nvPr/>
        </p:nvSpPr>
        <p:spPr>
          <a:xfrm rot="0">
            <a:off x="15855093" y="9692050"/>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19</a:t>
            </a:r>
          </a:p>
        </p:txBody>
      </p:sp>
      <p:sp>
        <p:nvSpPr>
          <p:cNvPr name="TextBox 6" id="6"/>
          <p:cNvSpPr txBox="true"/>
          <p:nvPr/>
        </p:nvSpPr>
        <p:spPr>
          <a:xfrm rot="0">
            <a:off x="3410471" y="1466337"/>
            <a:ext cx="13437159" cy="1868170"/>
          </a:xfrm>
          <a:prstGeom prst="rect">
            <a:avLst/>
          </a:prstGeom>
        </p:spPr>
        <p:txBody>
          <a:bodyPr anchor="t" rtlCol="false" tIns="0" lIns="0" bIns="0" rIns="0">
            <a:spAutoFit/>
          </a:bodyPr>
          <a:lstStyle/>
          <a:p>
            <a:pPr algn="l">
              <a:lnSpc>
                <a:spcPts val="4760"/>
              </a:lnSpc>
            </a:pPr>
            <a:r>
              <a:rPr lang="en-US" sz="5600" spc="-420" b="true">
                <a:solidFill>
                  <a:srgbClr val="403E3E"/>
                </a:solidFill>
                <a:latin typeface="Inter Bold"/>
                <a:ea typeface="Inter Bold"/>
                <a:cs typeface="Inter Bold"/>
                <a:sym typeface="Inter Bold"/>
              </a:rPr>
              <a:t>Gantt Chart of FCFS Scheduling (Short Burst Time – Uniform Workload)</a:t>
            </a:r>
          </a:p>
          <a:p>
            <a:pPr algn="l" marL="0" indent="0" lvl="0">
              <a:lnSpc>
                <a:spcPts val="4760"/>
              </a:lnSpc>
              <a:spcBef>
                <a:spcPct val="0"/>
              </a:spcBef>
            </a:pPr>
          </a:p>
        </p:txBody>
      </p:sp>
      <p:sp>
        <p:nvSpPr>
          <p:cNvPr name="TextBox 7" id="7"/>
          <p:cNvSpPr txBox="true"/>
          <p:nvPr/>
        </p:nvSpPr>
        <p:spPr>
          <a:xfrm rot="0">
            <a:off x="13403572" y="993352"/>
            <a:ext cx="2850172" cy="621030"/>
          </a:xfrm>
          <a:prstGeom prst="rect">
            <a:avLst/>
          </a:prstGeom>
        </p:spPr>
        <p:txBody>
          <a:bodyPr anchor="t" rtlCol="false" tIns="0" lIns="0" bIns="0" rIns="0">
            <a:spAutoFit/>
          </a:bodyPr>
          <a:lstStyle/>
          <a:p>
            <a:pPr algn="r">
              <a:lnSpc>
                <a:spcPts val="2520"/>
              </a:lnSpc>
            </a:pPr>
            <a:r>
              <a:rPr lang="en-US" sz="1800" spc="-72">
                <a:solidFill>
                  <a:srgbClr val="403E3E"/>
                </a:solidFill>
                <a:latin typeface="Inter"/>
                <a:ea typeface="Inter"/>
                <a:cs typeface="Inter"/>
                <a:sym typeface="Inter"/>
              </a:rPr>
              <a:t>NOV 2025</a:t>
            </a:r>
          </a:p>
          <a:p>
            <a:pPr algn="r" marL="0" indent="0" lvl="0">
              <a:lnSpc>
                <a:spcPts val="2520"/>
              </a:lnSpc>
              <a:spcBef>
                <a:spcPct val="0"/>
              </a:spcBef>
            </a:pPr>
          </a:p>
        </p:txBody>
      </p:sp>
      <p:grpSp>
        <p:nvGrpSpPr>
          <p:cNvPr name="Group 8" id="8"/>
          <p:cNvGrpSpPr/>
          <p:nvPr/>
        </p:nvGrpSpPr>
        <p:grpSpPr>
          <a:xfrm rot="5400000">
            <a:off x="-4204353" y="3779569"/>
            <a:ext cx="10730064" cy="2727862"/>
            <a:chOff x="0" y="0"/>
            <a:chExt cx="3845413" cy="977604"/>
          </a:xfrm>
        </p:grpSpPr>
        <p:sp>
          <p:nvSpPr>
            <p:cNvPr name="Freeform 9" id="9"/>
            <p:cNvSpPr/>
            <p:nvPr/>
          </p:nvSpPr>
          <p:spPr>
            <a:xfrm flipH="false" flipV="false" rot="0">
              <a:off x="0" y="0"/>
              <a:ext cx="3845413" cy="977604"/>
            </a:xfrm>
            <a:custGeom>
              <a:avLst/>
              <a:gdLst/>
              <a:ahLst/>
              <a:cxnLst/>
              <a:rect r="r" b="b" t="t" l="l"/>
              <a:pathLst>
                <a:path h="977604" w="3845413">
                  <a:moveTo>
                    <a:pt x="0" y="0"/>
                  </a:moveTo>
                  <a:lnTo>
                    <a:pt x="3845413" y="0"/>
                  </a:lnTo>
                  <a:lnTo>
                    <a:pt x="3845413" y="977604"/>
                  </a:lnTo>
                  <a:lnTo>
                    <a:pt x="0" y="977604"/>
                  </a:lnTo>
                  <a:close/>
                </a:path>
              </a:pathLst>
            </a:custGeom>
            <a:solidFill>
              <a:srgbClr val="F6F5F3"/>
            </a:solidFill>
            <a:ln w="9525" cap="sq">
              <a:solidFill>
                <a:srgbClr val="403E3E"/>
              </a:solidFill>
              <a:prstDash val="solid"/>
              <a:miter/>
            </a:ln>
          </p:spPr>
        </p:sp>
        <p:sp>
          <p:nvSpPr>
            <p:cNvPr name="TextBox 10" id="10"/>
            <p:cNvSpPr txBox="true"/>
            <p:nvPr/>
          </p:nvSpPr>
          <p:spPr>
            <a:xfrm>
              <a:off x="0" y="-47625"/>
              <a:ext cx="3845413" cy="1025229"/>
            </a:xfrm>
            <a:prstGeom prst="rect">
              <a:avLst/>
            </a:prstGeom>
          </p:spPr>
          <p:txBody>
            <a:bodyPr anchor="ctr" rtlCol="false" tIns="50800" lIns="50800" bIns="50800" rIns="50800"/>
            <a:lstStyle/>
            <a:p>
              <a:pPr algn="ctr">
                <a:lnSpc>
                  <a:spcPts val="1960"/>
                </a:lnSpc>
              </a:pPr>
            </a:p>
          </p:txBody>
        </p:sp>
      </p:grpSp>
      <p:sp>
        <p:nvSpPr>
          <p:cNvPr name="Freeform 11" id="11"/>
          <p:cNvSpPr/>
          <p:nvPr/>
        </p:nvSpPr>
        <p:spPr>
          <a:xfrm flipH="false" flipV="false" rot="0">
            <a:off x="2050420" y="789208"/>
            <a:ext cx="948381" cy="1520727"/>
          </a:xfrm>
          <a:custGeom>
            <a:avLst/>
            <a:gdLst/>
            <a:ahLst/>
            <a:cxnLst/>
            <a:rect r="r" b="b" t="t" l="l"/>
            <a:pathLst>
              <a:path h="1520727" w="948381">
                <a:moveTo>
                  <a:pt x="0" y="0"/>
                </a:moveTo>
                <a:lnTo>
                  <a:pt x="948380" y="0"/>
                </a:lnTo>
                <a:lnTo>
                  <a:pt x="948380" y="1520727"/>
                </a:lnTo>
                <a:lnTo>
                  <a:pt x="0" y="15207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47840" y="1549571"/>
            <a:ext cx="2476770" cy="1024764"/>
          </a:xfrm>
          <a:custGeom>
            <a:avLst/>
            <a:gdLst/>
            <a:ahLst/>
            <a:cxnLst/>
            <a:rect r="r" b="b" t="t" l="l"/>
            <a:pathLst>
              <a:path h="1024764" w="2476770">
                <a:moveTo>
                  <a:pt x="0" y="0"/>
                </a:moveTo>
                <a:lnTo>
                  <a:pt x="2476770" y="0"/>
                </a:lnTo>
                <a:lnTo>
                  <a:pt x="2476770" y="1024764"/>
                </a:lnTo>
                <a:lnTo>
                  <a:pt x="0" y="1024764"/>
                </a:lnTo>
                <a:lnTo>
                  <a:pt x="0" y="0"/>
                </a:lnTo>
                <a:close/>
              </a:path>
            </a:pathLst>
          </a:custGeom>
          <a:blipFill>
            <a:blip r:embed="rId4"/>
            <a:stretch>
              <a:fillRect l="0" t="0" r="0" b="0"/>
            </a:stretch>
          </a:blipFill>
        </p:spPr>
      </p:sp>
      <p:sp>
        <p:nvSpPr>
          <p:cNvPr name="TextBox 13" id="13"/>
          <p:cNvSpPr txBox="true"/>
          <p:nvPr/>
        </p:nvSpPr>
        <p:spPr>
          <a:xfrm rot="0">
            <a:off x="3594829" y="8604655"/>
            <a:ext cx="6494200" cy="456428"/>
          </a:xfrm>
          <a:prstGeom prst="rect">
            <a:avLst/>
          </a:prstGeom>
        </p:spPr>
        <p:txBody>
          <a:bodyPr anchor="t" rtlCol="false" tIns="0" lIns="0" bIns="0" rIns="0">
            <a:spAutoFit/>
          </a:bodyPr>
          <a:lstStyle/>
          <a:p>
            <a:pPr algn="l">
              <a:lnSpc>
                <a:spcPts val="3717"/>
              </a:lnSpc>
            </a:pPr>
            <a:r>
              <a:rPr lang="en-US" sz="2655">
                <a:solidFill>
                  <a:srgbClr val="000000"/>
                </a:solidFill>
                <a:latin typeface="Inter"/>
                <a:ea typeface="Inter"/>
                <a:cs typeface="Inter"/>
                <a:sym typeface="Inter"/>
              </a:rPr>
              <a:t>From Gantt chart:</a:t>
            </a:r>
          </a:p>
        </p:txBody>
      </p:sp>
      <p:pic>
        <p:nvPicPr>
          <p:cNvPr name="Picture 14" id="14"/>
          <p:cNvPicPr>
            <a:picLocks noChangeAspect="true"/>
          </p:cNvPicPr>
          <p:nvPr/>
        </p:nvPicPr>
        <p:blipFill>
          <a:blip r:embed="rId5"/>
          <a:stretch>
            <a:fillRect/>
          </a:stretch>
        </p:blipFill>
        <p:spPr>
          <a:xfrm rot="0">
            <a:off x="2820890" y="8598511"/>
            <a:ext cx="5516628" cy="1425129"/>
          </a:xfrm>
          <a:prstGeom prst="rect">
            <a:avLst/>
          </a:prstGeom>
        </p:spPr>
      </p:pic>
      <p:pic>
        <p:nvPicPr>
          <p:cNvPr name="Picture 15" id="15"/>
          <p:cNvPicPr>
            <a:picLocks noChangeAspect="true"/>
          </p:cNvPicPr>
          <p:nvPr/>
        </p:nvPicPr>
        <p:blipFill>
          <a:blip r:embed="rId6"/>
          <a:stretch>
            <a:fillRect/>
          </a:stretch>
        </p:blipFill>
        <p:spPr>
          <a:xfrm rot="0">
            <a:off x="7915368" y="8557489"/>
            <a:ext cx="5607259" cy="1473703"/>
          </a:xfrm>
          <a:prstGeom prst="rect">
            <a:avLst/>
          </a:prstGeom>
        </p:spPr>
      </p:pic>
      <p:pic>
        <p:nvPicPr>
          <p:cNvPr name="Picture 16" id="16"/>
          <p:cNvPicPr>
            <a:picLocks noChangeAspect="true"/>
          </p:cNvPicPr>
          <p:nvPr/>
        </p:nvPicPr>
        <p:blipFill>
          <a:blip r:embed="rId7"/>
          <a:stretch>
            <a:fillRect/>
          </a:stretch>
        </p:blipFill>
        <p:spPr>
          <a:xfrm rot="0">
            <a:off x="13207482" y="8864993"/>
            <a:ext cx="2353084" cy="757000"/>
          </a:xfrm>
          <a:prstGeom prst="rect">
            <a:avLst/>
          </a:prstGeom>
        </p:spPr>
      </p:pic>
      <p:graphicFrame>
        <p:nvGraphicFramePr>
          <p:cNvPr name="Table 17" id="17"/>
          <p:cNvGraphicFramePr>
            <a:graphicFrameLocks noGrp="true"/>
          </p:cNvGraphicFramePr>
          <p:nvPr/>
        </p:nvGraphicFramePr>
        <p:xfrm>
          <a:off x="3917517" y="2673653"/>
          <a:ext cx="7899890" cy="3923825"/>
        </p:xfrm>
        <a:graphic>
          <a:graphicData uri="http://schemas.openxmlformats.org/drawingml/2006/table">
            <a:tbl>
              <a:tblPr/>
              <a:tblGrid>
                <a:gridCol w="493743"/>
                <a:gridCol w="493743"/>
                <a:gridCol w="493743"/>
                <a:gridCol w="493743"/>
                <a:gridCol w="493743"/>
                <a:gridCol w="493743"/>
                <a:gridCol w="493743"/>
                <a:gridCol w="493743"/>
                <a:gridCol w="493743"/>
                <a:gridCol w="493743"/>
                <a:gridCol w="493743"/>
                <a:gridCol w="493743"/>
                <a:gridCol w="493743"/>
                <a:gridCol w="493743"/>
                <a:gridCol w="493743"/>
                <a:gridCol w="493743"/>
              </a:tblGrid>
              <a:tr h="560546">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ctr">
                        <a:lnSpc>
                          <a:spcPts val="1656"/>
                        </a:lnSpc>
                        <a:defRPr/>
                      </a:pPr>
                      <a:r>
                        <a:rPr lang="en-US" sz="1183" b="true">
                          <a:solidFill>
                            <a:srgbClr val="000000"/>
                          </a:solidFill>
                          <a:latin typeface="Inter Bold"/>
                          <a:ea typeface="Inter Bold"/>
                          <a:cs typeface="Inter Bold"/>
                          <a:sym typeface="Inter Bold"/>
                        </a:rPr>
                        <a:t>0</a:t>
                      </a: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ctr">
                        <a:lnSpc>
                          <a:spcPts val="1656"/>
                        </a:lnSpc>
                        <a:defRPr/>
                      </a:pPr>
                      <a:r>
                        <a:rPr lang="en-US" sz="1183" b="true">
                          <a:solidFill>
                            <a:srgbClr val="000000"/>
                          </a:solidFill>
                          <a:latin typeface="Inter Bold"/>
                          <a:ea typeface="Inter Bold"/>
                          <a:cs typeface="Inter Bold"/>
                          <a:sym typeface="Inter Bold"/>
                        </a:rPr>
                        <a:t>1</a:t>
                      </a: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ctr">
                        <a:lnSpc>
                          <a:spcPts val="1656"/>
                        </a:lnSpc>
                        <a:defRPr/>
                      </a:pPr>
                      <a:r>
                        <a:rPr lang="en-US" sz="1183" b="true">
                          <a:solidFill>
                            <a:srgbClr val="000000"/>
                          </a:solidFill>
                          <a:latin typeface="Inter Bold"/>
                          <a:ea typeface="Inter Bold"/>
                          <a:cs typeface="Inter Bold"/>
                          <a:sym typeface="Inter Bold"/>
                        </a:rPr>
                        <a:t>2</a:t>
                      </a: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ctr">
                        <a:lnSpc>
                          <a:spcPts val="1656"/>
                        </a:lnSpc>
                        <a:defRPr/>
                      </a:pPr>
                      <a:r>
                        <a:rPr lang="en-US" sz="1183">
                          <a:solidFill>
                            <a:srgbClr val="000000"/>
                          </a:solidFill>
                          <a:latin typeface="Inter"/>
                          <a:ea typeface="Inter"/>
                          <a:cs typeface="Inter"/>
                          <a:sym typeface="Inter"/>
                        </a:rPr>
                        <a:t>3</a:t>
                      </a: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ctr">
                        <a:lnSpc>
                          <a:spcPts val="1656"/>
                        </a:lnSpc>
                        <a:defRPr/>
                      </a:pPr>
                      <a:r>
                        <a:rPr lang="en-US" sz="1183" b="true">
                          <a:solidFill>
                            <a:srgbClr val="000000"/>
                          </a:solidFill>
                          <a:latin typeface="Inter Bold"/>
                          <a:ea typeface="Inter Bold"/>
                          <a:cs typeface="Inter Bold"/>
                          <a:sym typeface="Inter Bold"/>
                        </a:rPr>
                        <a:t>4</a:t>
                      </a: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ctr">
                        <a:lnSpc>
                          <a:spcPts val="1656"/>
                        </a:lnSpc>
                        <a:defRPr/>
                      </a:pPr>
                      <a:r>
                        <a:rPr lang="en-US" sz="1183" b="true">
                          <a:solidFill>
                            <a:srgbClr val="000000"/>
                          </a:solidFill>
                          <a:latin typeface="Inter Bold"/>
                          <a:ea typeface="Inter Bold"/>
                          <a:cs typeface="Inter Bold"/>
                          <a:sym typeface="Inter Bold"/>
                        </a:rPr>
                        <a:t>5</a:t>
                      </a: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ctr">
                        <a:lnSpc>
                          <a:spcPts val="1656"/>
                        </a:lnSpc>
                        <a:defRPr/>
                      </a:pPr>
                      <a:r>
                        <a:rPr lang="en-US" sz="1183" b="true">
                          <a:solidFill>
                            <a:srgbClr val="000000"/>
                          </a:solidFill>
                          <a:latin typeface="Inter Bold"/>
                          <a:ea typeface="Inter Bold"/>
                          <a:cs typeface="Inter Bold"/>
                          <a:sym typeface="Inter Bold"/>
                        </a:rPr>
                        <a:t>6</a:t>
                      </a: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ctr">
                        <a:lnSpc>
                          <a:spcPts val="1656"/>
                        </a:lnSpc>
                        <a:defRPr/>
                      </a:pPr>
                      <a:r>
                        <a:rPr lang="en-US" sz="1183" b="true">
                          <a:solidFill>
                            <a:srgbClr val="000000"/>
                          </a:solidFill>
                          <a:latin typeface="Inter Bold"/>
                          <a:ea typeface="Inter Bold"/>
                          <a:cs typeface="Inter Bold"/>
                          <a:sym typeface="Inter Bold"/>
                        </a:rPr>
                        <a:t>7</a:t>
                      </a: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ctr">
                        <a:lnSpc>
                          <a:spcPts val="1656"/>
                        </a:lnSpc>
                        <a:defRPr/>
                      </a:pPr>
                      <a:r>
                        <a:rPr lang="en-US" sz="1183" b="true">
                          <a:solidFill>
                            <a:srgbClr val="000000"/>
                          </a:solidFill>
                          <a:latin typeface="Inter Bold"/>
                          <a:ea typeface="Inter Bold"/>
                          <a:cs typeface="Inter Bold"/>
                          <a:sym typeface="Inter Bold"/>
                        </a:rPr>
                        <a:t>8</a:t>
                      </a: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ctr">
                        <a:lnSpc>
                          <a:spcPts val="1656"/>
                        </a:lnSpc>
                        <a:defRPr/>
                      </a:pPr>
                      <a:r>
                        <a:rPr lang="en-US" sz="1183" b="true">
                          <a:solidFill>
                            <a:srgbClr val="000000"/>
                          </a:solidFill>
                          <a:latin typeface="Inter Bold"/>
                          <a:ea typeface="Inter Bold"/>
                          <a:cs typeface="Inter Bold"/>
                          <a:sym typeface="Inter Bold"/>
                        </a:rPr>
                        <a:t>9</a:t>
                      </a: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ctr">
                        <a:lnSpc>
                          <a:spcPts val="1656"/>
                        </a:lnSpc>
                        <a:defRPr/>
                      </a:pPr>
                      <a:r>
                        <a:rPr lang="en-US" sz="1183" b="true">
                          <a:solidFill>
                            <a:srgbClr val="000000"/>
                          </a:solidFill>
                          <a:latin typeface="Inter Bold"/>
                          <a:ea typeface="Inter Bold"/>
                          <a:cs typeface="Inter Bold"/>
                          <a:sym typeface="Inter Bold"/>
                        </a:rPr>
                        <a:t>10</a:t>
                      </a: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ctr">
                        <a:lnSpc>
                          <a:spcPts val="1656"/>
                        </a:lnSpc>
                        <a:defRPr/>
                      </a:pPr>
                      <a:r>
                        <a:rPr lang="en-US" sz="1183" b="true">
                          <a:solidFill>
                            <a:srgbClr val="000000"/>
                          </a:solidFill>
                          <a:latin typeface="Inter Bold"/>
                          <a:ea typeface="Inter Bold"/>
                          <a:cs typeface="Inter Bold"/>
                          <a:sym typeface="Inter Bold"/>
                        </a:rPr>
                        <a:t>11</a:t>
                      </a: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ctr">
                        <a:lnSpc>
                          <a:spcPts val="1656"/>
                        </a:lnSpc>
                        <a:defRPr/>
                      </a:pPr>
                      <a:r>
                        <a:rPr lang="en-US" sz="1183" b="true">
                          <a:solidFill>
                            <a:srgbClr val="000000"/>
                          </a:solidFill>
                          <a:latin typeface="Inter Bold"/>
                          <a:ea typeface="Inter Bold"/>
                          <a:cs typeface="Inter Bold"/>
                          <a:sym typeface="Inter Bold"/>
                        </a:rPr>
                        <a:t>12</a:t>
                      </a: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ctr">
                        <a:lnSpc>
                          <a:spcPts val="1656"/>
                        </a:lnSpc>
                        <a:defRPr/>
                      </a:pPr>
                      <a:r>
                        <a:rPr lang="en-US" sz="1183" b="true">
                          <a:solidFill>
                            <a:srgbClr val="000000"/>
                          </a:solidFill>
                          <a:latin typeface="Inter Bold"/>
                          <a:ea typeface="Inter Bold"/>
                          <a:cs typeface="Inter Bold"/>
                          <a:sym typeface="Inter Bold"/>
                        </a:rPr>
                        <a:t>13</a:t>
                      </a: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ctr">
                        <a:lnSpc>
                          <a:spcPts val="1656"/>
                        </a:lnSpc>
                        <a:defRPr/>
                      </a:pPr>
                      <a:r>
                        <a:rPr lang="en-US" sz="1183" b="true">
                          <a:solidFill>
                            <a:srgbClr val="000000"/>
                          </a:solidFill>
                          <a:latin typeface="Inter Bold"/>
                          <a:ea typeface="Inter Bold"/>
                          <a:cs typeface="Inter Bold"/>
                          <a:sym typeface="Inter Bold"/>
                        </a:rPr>
                        <a:t>14</a:t>
                      </a: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r>
              <a:tr h="560546">
                <a:tc>
                  <a:txBody>
                    <a:bodyPr anchor="t" rtlCol="false"/>
                    <a:lstStyle/>
                    <a:p>
                      <a:pPr algn="l">
                        <a:lnSpc>
                          <a:spcPts val="2484"/>
                        </a:lnSpc>
                        <a:defRPr/>
                      </a:pPr>
                      <a:r>
                        <a:rPr lang="en-US" sz="1774" b="true">
                          <a:solidFill>
                            <a:srgbClr val="000000"/>
                          </a:solidFill>
                          <a:latin typeface="Inter Bold"/>
                          <a:ea typeface="Inter Bold"/>
                          <a:cs typeface="Inter Bold"/>
                          <a:sym typeface="Inter Bold"/>
                        </a:rPr>
                        <a:t>P00</a:t>
                      </a: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l">
                        <a:lnSpc>
                          <a:spcPts val="2484"/>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r>
              <a:tr h="560546">
                <a:tc>
                  <a:txBody>
                    <a:bodyPr anchor="t" rtlCol="false"/>
                    <a:lstStyle/>
                    <a:p>
                      <a:pPr algn="l">
                        <a:lnSpc>
                          <a:spcPts val="2484"/>
                        </a:lnSpc>
                        <a:defRPr/>
                      </a:pPr>
                      <a:r>
                        <a:rPr lang="en-US" sz="1774" b="true">
                          <a:solidFill>
                            <a:srgbClr val="000000"/>
                          </a:solidFill>
                          <a:latin typeface="Inter Bold"/>
                          <a:ea typeface="Inter Bold"/>
                          <a:cs typeface="Inter Bold"/>
                          <a:sym typeface="Inter Bold"/>
                        </a:rPr>
                        <a:t>P01</a:t>
                      </a: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l">
                        <a:lnSpc>
                          <a:spcPts val="2484"/>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r>
              <a:tr h="560546">
                <a:tc>
                  <a:txBody>
                    <a:bodyPr anchor="t" rtlCol="false"/>
                    <a:lstStyle/>
                    <a:p>
                      <a:pPr algn="l">
                        <a:lnSpc>
                          <a:spcPts val="2484"/>
                        </a:lnSpc>
                        <a:defRPr/>
                      </a:pPr>
                      <a:r>
                        <a:rPr lang="en-US" sz="1774" b="true">
                          <a:solidFill>
                            <a:srgbClr val="000000"/>
                          </a:solidFill>
                          <a:latin typeface="Inter Bold"/>
                          <a:ea typeface="Inter Bold"/>
                          <a:cs typeface="Inter Bold"/>
                          <a:sym typeface="Inter Bold"/>
                        </a:rPr>
                        <a:t>P04</a:t>
                      </a: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l">
                        <a:lnSpc>
                          <a:spcPts val="2484"/>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r>
              <a:tr h="560546">
                <a:tc>
                  <a:txBody>
                    <a:bodyPr anchor="t" rtlCol="false"/>
                    <a:lstStyle/>
                    <a:p>
                      <a:pPr algn="l">
                        <a:lnSpc>
                          <a:spcPts val="2484"/>
                        </a:lnSpc>
                        <a:defRPr/>
                      </a:pPr>
                      <a:r>
                        <a:rPr lang="en-US" sz="1774" b="true">
                          <a:solidFill>
                            <a:srgbClr val="000000"/>
                          </a:solidFill>
                          <a:latin typeface="Inter Bold"/>
                          <a:ea typeface="Inter Bold"/>
                          <a:cs typeface="Inter Bold"/>
                          <a:sym typeface="Inter Bold"/>
                        </a:rPr>
                        <a:t>P02</a:t>
                      </a: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l">
                        <a:lnSpc>
                          <a:spcPts val="2484"/>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r>
              <a:tr h="560546">
                <a:tc>
                  <a:txBody>
                    <a:bodyPr anchor="t" rtlCol="false"/>
                    <a:lstStyle/>
                    <a:p>
                      <a:pPr algn="l">
                        <a:lnSpc>
                          <a:spcPts val="2484"/>
                        </a:lnSpc>
                        <a:defRPr/>
                      </a:pPr>
                      <a:r>
                        <a:rPr lang="en-US" sz="1774" b="true">
                          <a:solidFill>
                            <a:srgbClr val="000000"/>
                          </a:solidFill>
                          <a:latin typeface="Inter Bold"/>
                          <a:ea typeface="Inter Bold"/>
                          <a:cs typeface="Inter Bold"/>
                          <a:sym typeface="Inter Bold"/>
                        </a:rPr>
                        <a:t>P05</a:t>
                      </a: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l">
                        <a:lnSpc>
                          <a:spcPts val="2484"/>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4115">
                      <a:solidFill>
                        <a:srgbClr val="000000"/>
                      </a:solidFill>
                      <a:prstDash val="solid"/>
                      <a:round/>
                      <a:headEnd type="none" w="med" len="med"/>
                      <a:tailEnd type="none" w="med" len="med"/>
                    </a:lnB>
                  </a:tcPr>
                </a:tc>
              </a:tr>
              <a:tr h="560546">
                <a:tc>
                  <a:txBody>
                    <a:bodyPr anchor="t" rtlCol="false"/>
                    <a:lstStyle/>
                    <a:p>
                      <a:pPr algn="l">
                        <a:lnSpc>
                          <a:spcPts val="2484"/>
                        </a:lnSpc>
                        <a:defRPr/>
                      </a:pPr>
                      <a:r>
                        <a:rPr lang="en-US" sz="1774" b="true">
                          <a:solidFill>
                            <a:srgbClr val="000000"/>
                          </a:solidFill>
                          <a:latin typeface="Inter Bold"/>
                          <a:ea typeface="Inter Bold"/>
                          <a:cs typeface="Inter Bold"/>
                          <a:sym typeface="Inter Bold"/>
                        </a:rPr>
                        <a:t>P03</a:t>
                      </a: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16458">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l">
                        <a:lnSpc>
                          <a:spcPts val="2484"/>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c>
                  <a:txBody>
                    <a:bodyPr anchor="t" rtlCol="false"/>
                    <a:lstStyle/>
                    <a:p>
                      <a:pPr algn="ctr">
                        <a:lnSpc>
                          <a:spcPts val="1656"/>
                        </a:lnSpc>
                        <a:defRPr/>
                      </a:pPr>
                      <a:endParaRPr lang="en-US" sz="1100"/>
                    </a:p>
                  </a:txBody>
                  <a:tcPr marL="125205" marR="125205" marT="125205" marB="125205" anchor="ctr">
                    <a:lnL cmpd="sng" algn="ctr" cap="flat" w="16458">
                      <a:solidFill>
                        <a:srgbClr val="000000"/>
                      </a:solidFill>
                      <a:prstDash val="solid"/>
                      <a:round/>
                      <a:headEnd type="none" w="med" len="med"/>
                      <a:tailEnd type="none" w="med" len="med"/>
                    </a:lnL>
                    <a:lnR cmpd="sng" algn="ctr" cap="flat" w="16458">
                      <a:solidFill>
                        <a:srgbClr val="000000"/>
                      </a:solidFill>
                      <a:prstDash val="solid"/>
                      <a:round/>
                      <a:headEnd type="none" w="med" len="med"/>
                      <a:tailEnd type="none" w="med" len="med"/>
                    </a:lnR>
                    <a:lnT cmpd="sng" algn="ctr" cap="flat" w="4115">
                      <a:solidFill>
                        <a:srgbClr val="000000"/>
                      </a:solidFill>
                      <a:prstDash val="solid"/>
                      <a:round/>
                      <a:headEnd type="none" w="med" len="med"/>
                      <a:tailEnd type="none" w="med" len="med"/>
                    </a:lnT>
                    <a:lnB cmpd="sng" algn="ctr" cap="flat" w="16458">
                      <a:solidFill>
                        <a:srgbClr val="000000"/>
                      </a:solidFill>
                      <a:prstDash val="solid"/>
                      <a:round/>
                      <a:headEnd type="none" w="med" len="med"/>
                      <a:tailEnd type="none" w="med" len="med"/>
                    </a:lnB>
                  </a:tcPr>
                </a:tc>
              </a:tr>
            </a:tbl>
          </a:graphicData>
        </a:graphic>
      </p:graphicFrame>
      <p:grpSp>
        <p:nvGrpSpPr>
          <p:cNvPr name="Group 18" id="18"/>
          <p:cNvGrpSpPr/>
          <p:nvPr/>
        </p:nvGrpSpPr>
        <p:grpSpPr>
          <a:xfrm rot="0">
            <a:off x="4994414" y="3524677"/>
            <a:ext cx="789874" cy="876123"/>
            <a:chOff x="0" y="0"/>
            <a:chExt cx="316522" cy="351084"/>
          </a:xfrm>
        </p:grpSpPr>
        <p:sp>
          <p:nvSpPr>
            <p:cNvPr name="Freeform 19" id="19"/>
            <p:cNvSpPr/>
            <p:nvPr/>
          </p:nvSpPr>
          <p:spPr>
            <a:xfrm flipH="false" flipV="false" rot="0">
              <a:off x="0" y="0"/>
              <a:ext cx="316522" cy="351084"/>
            </a:xfrm>
            <a:custGeom>
              <a:avLst/>
              <a:gdLst/>
              <a:ahLst/>
              <a:cxnLst/>
              <a:rect r="r" b="b" t="t" l="l"/>
              <a:pathLst>
                <a:path h="351084" w="316522">
                  <a:moveTo>
                    <a:pt x="158261" y="0"/>
                  </a:moveTo>
                  <a:lnTo>
                    <a:pt x="158261" y="0"/>
                  </a:lnTo>
                  <a:cubicBezTo>
                    <a:pt x="245666" y="0"/>
                    <a:pt x="316522" y="70856"/>
                    <a:pt x="316522" y="158261"/>
                  </a:cubicBezTo>
                  <a:lnTo>
                    <a:pt x="316522" y="192823"/>
                  </a:lnTo>
                  <a:cubicBezTo>
                    <a:pt x="316522" y="280228"/>
                    <a:pt x="245666" y="351084"/>
                    <a:pt x="158261" y="351084"/>
                  </a:cubicBezTo>
                  <a:lnTo>
                    <a:pt x="158261" y="351084"/>
                  </a:lnTo>
                  <a:cubicBezTo>
                    <a:pt x="70856" y="351084"/>
                    <a:pt x="0" y="280228"/>
                    <a:pt x="0" y="192823"/>
                  </a:cubicBezTo>
                  <a:lnTo>
                    <a:pt x="0" y="158261"/>
                  </a:lnTo>
                  <a:cubicBezTo>
                    <a:pt x="0" y="70856"/>
                    <a:pt x="70856" y="0"/>
                    <a:pt x="158261" y="0"/>
                  </a:cubicBezTo>
                  <a:close/>
                </a:path>
              </a:pathLst>
            </a:custGeom>
            <a:solidFill>
              <a:srgbClr val="BFDBF7"/>
            </a:solidFill>
          </p:spPr>
        </p:sp>
        <p:sp>
          <p:nvSpPr>
            <p:cNvPr name="TextBox 20" id="20"/>
            <p:cNvSpPr txBox="true"/>
            <p:nvPr/>
          </p:nvSpPr>
          <p:spPr>
            <a:xfrm>
              <a:off x="0" y="-38100"/>
              <a:ext cx="316522" cy="389184"/>
            </a:xfrm>
            <a:prstGeom prst="rect">
              <a:avLst/>
            </a:prstGeom>
          </p:spPr>
          <p:txBody>
            <a:bodyPr anchor="ctr" rtlCol="false" tIns="50800" lIns="50800" bIns="50800" rIns="50800"/>
            <a:lstStyle/>
            <a:p>
              <a:pPr algn="ctr">
                <a:lnSpc>
                  <a:spcPts val="2659"/>
                </a:lnSpc>
                <a:spcBef>
                  <a:spcPct val="0"/>
                </a:spcBef>
              </a:pPr>
              <a:r>
                <a:rPr lang="en-US" sz="1899">
                  <a:solidFill>
                    <a:srgbClr val="000000"/>
                  </a:solidFill>
                  <a:latin typeface="Noto Sans"/>
                  <a:ea typeface="Noto Sans"/>
                  <a:cs typeface="Noto Sans"/>
                  <a:sym typeface="Noto Sans"/>
                </a:rPr>
                <a:t>BT0</a:t>
              </a:r>
            </a:p>
          </p:txBody>
        </p:sp>
      </p:grpSp>
      <p:grpSp>
        <p:nvGrpSpPr>
          <p:cNvPr name="Group 21" id="21"/>
          <p:cNvGrpSpPr/>
          <p:nvPr/>
        </p:nvGrpSpPr>
        <p:grpSpPr>
          <a:xfrm rot="0">
            <a:off x="5784288" y="4400800"/>
            <a:ext cx="792418" cy="836697"/>
            <a:chOff x="0" y="0"/>
            <a:chExt cx="317542" cy="335285"/>
          </a:xfrm>
        </p:grpSpPr>
        <p:sp>
          <p:nvSpPr>
            <p:cNvPr name="Freeform 22" id="22"/>
            <p:cNvSpPr/>
            <p:nvPr/>
          </p:nvSpPr>
          <p:spPr>
            <a:xfrm flipH="false" flipV="false" rot="0">
              <a:off x="0" y="0"/>
              <a:ext cx="317542" cy="335285"/>
            </a:xfrm>
            <a:custGeom>
              <a:avLst/>
              <a:gdLst/>
              <a:ahLst/>
              <a:cxnLst/>
              <a:rect r="r" b="b" t="t" l="l"/>
              <a:pathLst>
                <a:path h="335285" w="317542">
                  <a:moveTo>
                    <a:pt x="158771" y="0"/>
                  </a:moveTo>
                  <a:lnTo>
                    <a:pt x="158771" y="0"/>
                  </a:lnTo>
                  <a:cubicBezTo>
                    <a:pt x="246457" y="0"/>
                    <a:pt x="317542" y="71084"/>
                    <a:pt x="317542" y="158771"/>
                  </a:cubicBezTo>
                  <a:lnTo>
                    <a:pt x="317542" y="176514"/>
                  </a:lnTo>
                  <a:cubicBezTo>
                    <a:pt x="317542" y="218623"/>
                    <a:pt x="300814" y="259007"/>
                    <a:pt x="271039" y="288782"/>
                  </a:cubicBezTo>
                  <a:cubicBezTo>
                    <a:pt x="241263" y="318558"/>
                    <a:pt x="200879" y="335285"/>
                    <a:pt x="158771" y="335285"/>
                  </a:cubicBezTo>
                  <a:lnTo>
                    <a:pt x="158771" y="335285"/>
                  </a:lnTo>
                  <a:cubicBezTo>
                    <a:pt x="116662" y="335285"/>
                    <a:pt x="76278" y="318558"/>
                    <a:pt x="46503" y="288782"/>
                  </a:cubicBezTo>
                  <a:cubicBezTo>
                    <a:pt x="16728" y="259007"/>
                    <a:pt x="0" y="218623"/>
                    <a:pt x="0" y="176514"/>
                  </a:cubicBezTo>
                  <a:lnTo>
                    <a:pt x="0" y="158771"/>
                  </a:lnTo>
                  <a:cubicBezTo>
                    <a:pt x="0" y="116662"/>
                    <a:pt x="16728" y="76278"/>
                    <a:pt x="46503" y="46503"/>
                  </a:cubicBezTo>
                  <a:cubicBezTo>
                    <a:pt x="76278" y="16728"/>
                    <a:pt x="116662" y="0"/>
                    <a:pt x="158771" y="0"/>
                  </a:cubicBezTo>
                  <a:close/>
                </a:path>
              </a:pathLst>
            </a:custGeom>
            <a:solidFill>
              <a:srgbClr val="FFDE59"/>
            </a:solidFill>
          </p:spPr>
        </p:sp>
        <p:sp>
          <p:nvSpPr>
            <p:cNvPr name="TextBox 23" id="23"/>
            <p:cNvSpPr txBox="true"/>
            <p:nvPr/>
          </p:nvSpPr>
          <p:spPr>
            <a:xfrm>
              <a:off x="0" y="-38100"/>
              <a:ext cx="317542" cy="373385"/>
            </a:xfrm>
            <a:prstGeom prst="rect">
              <a:avLst/>
            </a:prstGeom>
          </p:spPr>
          <p:txBody>
            <a:bodyPr anchor="ctr" rtlCol="false" tIns="50800" lIns="50800" bIns="50800" rIns="50800"/>
            <a:lstStyle/>
            <a:p>
              <a:pPr algn="ctr">
                <a:lnSpc>
                  <a:spcPts val="2659"/>
                </a:lnSpc>
                <a:spcBef>
                  <a:spcPct val="0"/>
                </a:spcBef>
              </a:pPr>
              <a:r>
                <a:rPr lang="en-US" sz="1899">
                  <a:solidFill>
                    <a:srgbClr val="000000"/>
                  </a:solidFill>
                  <a:latin typeface="Noto Sans"/>
                  <a:ea typeface="Noto Sans"/>
                  <a:cs typeface="Noto Sans"/>
                  <a:sym typeface="Noto Sans"/>
                </a:rPr>
                <a:t>INDLE</a:t>
              </a:r>
            </a:p>
          </p:txBody>
        </p:sp>
      </p:grpSp>
      <p:grpSp>
        <p:nvGrpSpPr>
          <p:cNvPr name="Group 24" id="24"/>
          <p:cNvGrpSpPr/>
          <p:nvPr/>
        </p:nvGrpSpPr>
        <p:grpSpPr>
          <a:xfrm rot="0">
            <a:off x="6583977" y="4400800"/>
            <a:ext cx="2265160" cy="820520"/>
            <a:chOff x="0" y="0"/>
            <a:chExt cx="907706" cy="328803"/>
          </a:xfrm>
        </p:grpSpPr>
        <p:sp>
          <p:nvSpPr>
            <p:cNvPr name="Freeform 25" id="25"/>
            <p:cNvSpPr/>
            <p:nvPr/>
          </p:nvSpPr>
          <p:spPr>
            <a:xfrm flipH="false" flipV="false" rot="0">
              <a:off x="0" y="0"/>
              <a:ext cx="907706" cy="328803"/>
            </a:xfrm>
            <a:custGeom>
              <a:avLst/>
              <a:gdLst/>
              <a:ahLst/>
              <a:cxnLst/>
              <a:rect r="r" b="b" t="t" l="l"/>
              <a:pathLst>
                <a:path h="328803" w="907706">
                  <a:moveTo>
                    <a:pt x="164401" y="0"/>
                  </a:moveTo>
                  <a:lnTo>
                    <a:pt x="743304" y="0"/>
                  </a:lnTo>
                  <a:cubicBezTo>
                    <a:pt x="834101" y="0"/>
                    <a:pt x="907706" y="73605"/>
                    <a:pt x="907706" y="164401"/>
                  </a:cubicBezTo>
                  <a:lnTo>
                    <a:pt x="907706" y="164401"/>
                  </a:lnTo>
                  <a:cubicBezTo>
                    <a:pt x="907706" y="255198"/>
                    <a:pt x="834101" y="328803"/>
                    <a:pt x="743304" y="328803"/>
                  </a:cubicBezTo>
                  <a:lnTo>
                    <a:pt x="164401" y="328803"/>
                  </a:lnTo>
                  <a:cubicBezTo>
                    <a:pt x="73605" y="328803"/>
                    <a:pt x="0" y="255198"/>
                    <a:pt x="0" y="164401"/>
                  </a:cubicBezTo>
                  <a:lnTo>
                    <a:pt x="0" y="164401"/>
                  </a:lnTo>
                  <a:cubicBezTo>
                    <a:pt x="0" y="73605"/>
                    <a:pt x="73605" y="0"/>
                    <a:pt x="164401" y="0"/>
                  </a:cubicBezTo>
                  <a:close/>
                </a:path>
              </a:pathLst>
            </a:custGeom>
            <a:solidFill>
              <a:srgbClr val="BFDBF7"/>
            </a:solidFill>
          </p:spPr>
        </p:sp>
        <p:sp>
          <p:nvSpPr>
            <p:cNvPr name="TextBox 26" id="26"/>
            <p:cNvSpPr txBox="true"/>
            <p:nvPr/>
          </p:nvSpPr>
          <p:spPr>
            <a:xfrm>
              <a:off x="0" y="-38100"/>
              <a:ext cx="907706" cy="366903"/>
            </a:xfrm>
            <a:prstGeom prst="rect">
              <a:avLst/>
            </a:prstGeom>
          </p:spPr>
          <p:txBody>
            <a:bodyPr anchor="ctr" rtlCol="false" tIns="50800" lIns="50800" bIns="50800" rIns="50800"/>
            <a:lstStyle/>
            <a:p>
              <a:pPr algn="ctr">
                <a:lnSpc>
                  <a:spcPts val="2659"/>
                </a:lnSpc>
                <a:spcBef>
                  <a:spcPct val="0"/>
                </a:spcBef>
              </a:pPr>
              <a:r>
                <a:rPr lang="en-US" sz="1899">
                  <a:solidFill>
                    <a:srgbClr val="000000"/>
                  </a:solidFill>
                  <a:latin typeface="Noto Sans"/>
                  <a:ea typeface="Noto Sans"/>
                  <a:cs typeface="Noto Sans"/>
                  <a:sym typeface="Noto Sans"/>
                </a:rPr>
                <a:t>BT1 = 3ms</a:t>
              </a:r>
            </a:p>
          </p:txBody>
        </p:sp>
      </p:grpSp>
      <p:grpSp>
        <p:nvGrpSpPr>
          <p:cNvPr name="Group 27" id="27"/>
          <p:cNvGrpSpPr/>
          <p:nvPr/>
        </p:nvGrpSpPr>
        <p:grpSpPr>
          <a:xfrm rot="0">
            <a:off x="8841866" y="5237497"/>
            <a:ext cx="1496253" cy="837211"/>
            <a:chOff x="0" y="0"/>
            <a:chExt cx="599586" cy="335491"/>
          </a:xfrm>
        </p:grpSpPr>
        <p:sp>
          <p:nvSpPr>
            <p:cNvPr name="Freeform 28" id="28"/>
            <p:cNvSpPr/>
            <p:nvPr/>
          </p:nvSpPr>
          <p:spPr>
            <a:xfrm flipH="false" flipV="false" rot="0">
              <a:off x="0" y="0"/>
              <a:ext cx="599586" cy="335491"/>
            </a:xfrm>
            <a:custGeom>
              <a:avLst/>
              <a:gdLst/>
              <a:ahLst/>
              <a:cxnLst/>
              <a:rect r="r" b="b" t="t" l="l"/>
              <a:pathLst>
                <a:path h="335491" w="599586">
                  <a:moveTo>
                    <a:pt x="167746" y="0"/>
                  </a:moveTo>
                  <a:lnTo>
                    <a:pt x="431840" y="0"/>
                  </a:lnTo>
                  <a:cubicBezTo>
                    <a:pt x="476329" y="0"/>
                    <a:pt x="518996" y="17673"/>
                    <a:pt x="550454" y="49132"/>
                  </a:cubicBezTo>
                  <a:cubicBezTo>
                    <a:pt x="581913" y="80590"/>
                    <a:pt x="599586" y="123257"/>
                    <a:pt x="599586" y="167746"/>
                  </a:cubicBezTo>
                  <a:lnTo>
                    <a:pt x="599586" y="167746"/>
                  </a:lnTo>
                  <a:cubicBezTo>
                    <a:pt x="599586" y="212235"/>
                    <a:pt x="581913" y="254901"/>
                    <a:pt x="550454" y="286360"/>
                  </a:cubicBezTo>
                  <a:cubicBezTo>
                    <a:pt x="518996" y="317818"/>
                    <a:pt x="476329" y="335491"/>
                    <a:pt x="431840" y="335491"/>
                  </a:cubicBezTo>
                  <a:lnTo>
                    <a:pt x="167746" y="335491"/>
                  </a:lnTo>
                  <a:cubicBezTo>
                    <a:pt x="123257" y="335491"/>
                    <a:pt x="80590" y="317818"/>
                    <a:pt x="49132" y="286360"/>
                  </a:cubicBezTo>
                  <a:cubicBezTo>
                    <a:pt x="17673" y="254901"/>
                    <a:pt x="0" y="212235"/>
                    <a:pt x="0" y="167746"/>
                  </a:cubicBezTo>
                  <a:lnTo>
                    <a:pt x="0" y="167746"/>
                  </a:lnTo>
                  <a:cubicBezTo>
                    <a:pt x="0" y="123257"/>
                    <a:pt x="17673" y="80590"/>
                    <a:pt x="49132" y="49132"/>
                  </a:cubicBezTo>
                  <a:cubicBezTo>
                    <a:pt x="80590" y="17673"/>
                    <a:pt x="123257" y="0"/>
                    <a:pt x="167746" y="0"/>
                  </a:cubicBezTo>
                  <a:close/>
                </a:path>
              </a:pathLst>
            </a:custGeom>
            <a:solidFill>
              <a:srgbClr val="BFDBF7"/>
            </a:solidFill>
          </p:spPr>
        </p:sp>
        <p:sp>
          <p:nvSpPr>
            <p:cNvPr name="TextBox 29" id="29"/>
            <p:cNvSpPr txBox="true"/>
            <p:nvPr/>
          </p:nvSpPr>
          <p:spPr>
            <a:xfrm>
              <a:off x="0" y="-38100"/>
              <a:ext cx="599586" cy="373591"/>
            </a:xfrm>
            <a:prstGeom prst="rect">
              <a:avLst/>
            </a:prstGeom>
          </p:spPr>
          <p:txBody>
            <a:bodyPr anchor="ctr" rtlCol="false" tIns="50800" lIns="50800" bIns="50800" rIns="50800"/>
            <a:lstStyle/>
            <a:p>
              <a:pPr algn="ctr">
                <a:lnSpc>
                  <a:spcPts val="2659"/>
                </a:lnSpc>
                <a:spcBef>
                  <a:spcPct val="0"/>
                </a:spcBef>
              </a:pPr>
              <a:r>
                <a:rPr lang="en-US" sz="1899">
                  <a:solidFill>
                    <a:srgbClr val="000000"/>
                  </a:solidFill>
                  <a:latin typeface="Noto Sans"/>
                  <a:ea typeface="Noto Sans"/>
                  <a:cs typeface="Noto Sans"/>
                  <a:sym typeface="Noto Sans"/>
                </a:rPr>
                <a:t>BT2 = 2ms</a:t>
              </a:r>
            </a:p>
          </p:txBody>
        </p:sp>
      </p:grpSp>
      <p:grpSp>
        <p:nvGrpSpPr>
          <p:cNvPr name="Group 30" id="30"/>
          <p:cNvGrpSpPr/>
          <p:nvPr/>
        </p:nvGrpSpPr>
        <p:grpSpPr>
          <a:xfrm rot="0">
            <a:off x="10318955" y="6100198"/>
            <a:ext cx="1486589" cy="824523"/>
            <a:chOff x="0" y="0"/>
            <a:chExt cx="595713" cy="330407"/>
          </a:xfrm>
        </p:grpSpPr>
        <p:sp>
          <p:nvSpPr>
            <p:cNvPr name="Freeform 31" id="31"/>
            <p:cNvSpPr/>
            <p:nvPr/>
          </p:nvSpPr>
          <p:spPr>
            <a:xfrm flipH="false" flipV="false" rot="0">
              <a:off x="0" y="0"/>
              <a:ext cx="595713" cy="330407"/>
            </a:xfrm>
            <a:custGeom>
              <a:avLst/>
              <a:gdLst/>
              <a:ahLst/>
              <a:cxnLst/>
              <a:rect r="r" b="b" t="t" l="l"/>
              <a:pathLst>
                <a:path h="330407" w="595713">
                  <a:moveTo>
                    <a:pt x="165203" y="0"/>
                  </a:moveTo>
                  <a:lnTo>
                    <a:pt x="430510" y="0"/>
                  </a:lnTo>
                  <a:cubicBezTo>
                    <a:pt x="474324" y="0"/>
                    <a:pt x="516345" y="17405"/>
                    <a:pt x="547326" y="48387"/>
                  </a:cubicBezTo>
                  <a:cubicBezTo>
                    <a:pt x="578308" y="79369"/>
                    <a:pt x="595713" y="121389"/>
                    <a:pt x="595713" y="165203"/>
                  </a:cubicBezTo>
                  <a:lnTo>
                    <a:pt x="595713" y="165203"/>
                  </a:lnTo>
                  <a:cubicBezTo>
                    <a:pt x="595713" y="256443"/>
                    <a:pt x="521749" y="330407"/>
                    <a:pt x="430510" y="330407"/>
                  </a:cubicBezTo>
                  <a:lnTo>
                    <a:pt x="165203" y="330407"/>
                  </a:lnTo>
                  <a:cubicBezTo>
                    <a:pt x="73964" y="330407"/>
                    <a:pt x="0" y="256443"/>
                    <a:pt x="0" y="165203"/>
                  </a:cubicBezTo>
                  <a:lnTo>
                    <a:pt x="0" y="165203"/>
                  </a:lnTo>
                  <a:cubicBezTo>
                    <a:pt x="0" y="73964"/>
                    <a:pt x="73964" y="0"/>
                    <a:pt x="165203" y="0"/>
                  </a:cubicBezTo>
                  <a:close/>
                </a:path>
              </a:pathLst>
            </a:custGeom>
            <a:solidFill>
              <a:srgbClr val="BFDBF7"/>
            </a:solidFill>
          </p:spPr>
        </p:sp>
        <p:sp>
          <p:nvSpPr>
            <p:cNvPr name="TextBox 32" id="32"/>
            <p:cNvSpPr txBox="true"/>
            <p:nvPr/>
          </p:nvSpPr>
          <p:spPr>
            <a:xfrm>
              <a:off x="0" y="-38100"/>
              <a:ext cx="595713" cy="368507"/>
            </a:xfrm>
            <a:prstGeom prst="rect">
              <a:avLst/>
            </a:prstGeom>
          </p:spPr>
          <p:txBody>
            <a:bodyPr anchor="ctr" rtlCol="false" tIns="50800" lIns="50800" bIns="50800" rIns="50800"/>
            <a:lstStyle/>
            <a:p>
              <a:pPr algn="ctr">
                <a:lnSpc>
                  <a:spcPts val="2659"/>
                </a:lnSpc>
                <a:spcBef>
                  <a:spcPct val="0"/>
                </a:spcBef>
              </a:pPr>
              <a:r>
                <a:rPr lang="en-US" sz="1899">
                  <a:solidFill>
                    <a:srgbClr val="000000"/>
                  </a:solidFill>
                  <a:latin typeface="Noto Sans"/>
                  <a:ea typeface="Noto Sans"/>
                  <a:cs typeface="Noto Sans"/>
                  <a:sym typeface="Noto Sans"/>
                </a:rPr>
                <a:t>BT2 = 2ms</a:t>
              </a:r>
            </a:p>
          </p:txBody>
        </p:sp>
      </p:grpSp>
      <p:grpSp>
        <p:nvGrpSpPr>
          <p:cNvPr name="Group 33" id="33"/>
          <p:cNvGrpSpPr/>
          <p:nvPr/>
        </p:nvGrpSpPr>
        <p:grpSpPr>
          <a:xfrm rot="0">
            <a:off x="11805544" y="6924721"/>
            <a:ext cx="783177" cy="860591"/>
            <a:chOff x="0" y="0"/>
            <a:chExt cx="313838" cy="344860"/>
          </a:xfrm>
        </p:grpSpPr>
        <p:sp>
          <p:nvSpPr>
            <p:cNvPr name="Freeform 34" id="34"/>
            <p:cNvSpPr/>
            <p:nvPr/>
          </p:nvSpPr>
          <p:spPr>
            <a:xfrm flipH="false" flipV="false" rot="0">
              <a:off x="0" y="0"/>
              <a:ext cx="313838" cy="344860"/>
            </a:xfrm>
            <a:custGeom>
              <a:avLst/>
              <a:gdLst/>
              <a:ahLst/>
              <a:cxnLst/>
              <a:rect r="r" b="b" t="t" l="l"/>
              <a:pathLst>
                <a:path h="344860" w="313838">
                  <a:moveTo>
                    <a:pt x="156919" y="0"/>
                  </a:moveTo>
                  <a:lnTo>
                    <a:pt x="156919" y="0"/>
                  </a:lnTo>
                  <a:cubicBezTo>
                    <a:pt x="243583" y="0"/>
                    <a:pt x="313838" y="70255"/>
                    <a:pt x="313838" y="156919"/>
                  </a:cubicBezTo>
                  <a:lnTo>
                    <a:pt x="313838" y="187941"/>
                  </a:lnTo>
                  <a:cubicBezTo>
                    <a:pt x="313838" y="229558"/>
                    <a:pt x="297306" y="269472"/>
                    <a:pt x="267878" y="298900"/>
                  </a:cubicBezTo>
                  <a:cubicBezTo>
                    <a:pt x="238450" y="328328"/>
                    <a:pt x="198537" y="344860"/>
                    <a:pt x="156919" y="344860"/>
                  </a:cubicBezTo>
                  <a:lnTo>
                    <a:pt x="156919" y="344860"/>
                  </a:lnTo>
                  <a:cubicBezTo>
                    <a:pt x="115302" y="344860"/>
                    <a:pt x="75389" y="328328"/>
                    <a:pt x="45961" y="298900"/>
                  </a:cubicBezTo>
                  <a:cubicBezTo>
                    <a:pt x="16533" y="269472"/>
                    <a:pt x="0" y="229558"/>
                    <a:pt x="0" y="187941"/>
                  </a:cubicBezTo>
                  <a:lnTo>
                    <a:pt x="0" y="156919"/>
                  </a:lnTo>
                  <a:cubicBezTo>
                    <a:pt x="0" y="115302"/>
                    <a:pt x="16533" y="75389"/>
                    <a:pt x="45961" y="45961"/>
                  </a:cubicBezTo>
                  <a:cubicBezTo>
                    <a:pt x="75389" y="16533"/>
                    <a:pt x="115302" y="0"/>
                    <a:pt x="156919" y="0"/>
                  </a:cubicBezTo>
                  <a:close/>
                </a:path>
              </a:pathLst>
            </a:custGeom>
            <a:solidFill>
              <a:srgbClr val="BFDBF7"/>
            </a:solidFill>
          </p:spPr>
        </p:sp>
        <p:sp>
          <p:nvSpPr>
            <p:cNvPr name="TextBox 35" id="35"/>
            <p:cNvSpPr txBox="true"/>
            <p:nvPr/>
          </p:nvSpPr>
          <p:spPr>
            <a:xfrm>
              <a:off x="0" y="-38100"/>
              <a:ext cx="313838" cy="382960"/>
            </a:xfrm>
            <a:prstGeom prst="rect">
              <a:avLst/>
            </a:prstGeom>
          </p:spPr>
          <p:txBody>
            <a:bodyPr anchor="ctr" rtlCol="false" tIns="50800" lIns="50800" bIns="50800" rIns="50800"/>
            <a:lstStyle/>
            <a:p>
              <a:pPr algn="ctr">
                <a:lnSpc>
                  <a:spcPts val="2659"/>
                </a:lnSpc>
                <a:spcBef>
                  <a:spcPct val="0"/>
                </a:spcBef>
              </a:pPr>
              <a:r>
                <a:rPr lang="en-US" sz="1899">
                  <a:solidFill>
                    <a:srgbClr val="000000"/>
                  </a:solidFill>
                  <a:latin typeface="Noto Sans"/>
                  <a:ea typeface="Noto Sans"/>
                  <a:cs typeface="Noto Sans"/>
                  <a:sym typeface="Noto Sans"/>
                </a:rPr>
                <a:t>BT5</a:t>
              </a:r>
            </a:p>
          </p:txBody>
        </p:sp>
      </p:grpSp>
      <p:grpSp>
        <p:nvGrpSpPr>
          <p:cNvPr name="Group 36" id="36"/>
          <p:cNvGrpSpPr/>
          <p:nvPr/>
        </p:nvGrpSpPr>
        <p:grpSpPr>
          <a:xfrm rot="0">
            <a:off x="12588721" y="7775035"/>
            <a:ext cx="2989399" cy="858449"/>
            <a:chOff x="0" y="0"/>
            <a:chExt cx="1197927" cy="344002"/>
          </a:xfrm>
        </p:grpSpPr>
        <p:sp>
          <p:nvSpPr>
            <p:cNvPr name="Freeform 37" id="37"/>
            <p:cNvSpPr/>
            <p:nvPr/>
          </p:nvSpPr>
          <p:spPr>
            <a:xfrm flipH="false" flipV="false" rot="0">
              <a:off x="0" y="0"/>
              <a:ext cx="1197927" cy="344002"/>
            </a:xfrm>
            <a:custGeom>
              <a:avLst/>
              <a:gdLst/>
              <a:ahLst/>
              <a:cxnLst/>
              <a:rect r="r" b="b" t="t" l="l"/>
              <a:pathLst>
                <a:path h="344002" w="1197927">
                  <a:moveTo>
                    <a:pt x="132079" y="0"/>
                  </a:moveTo>
                  <a:lnTo>
                    <a:pt x="1065847" y="0"/>
                  </a:lnTo>
                  <a:cubicBezTo>
                    <a:pt x="1138793" y="0"/>
                    <a:pt x="1197927" y="59134"/>
                    <a:pt x="1197927" y="132079"/>
                  </a:cubicBezTo>
                  <a:lnTo>
                    <a:pt x="1197927" y="211922"/>
                  </a:lnTo>
                  <a:cubicBezTo>
                    <a:pt x="1197927" y="246952"/>
                    <a:pt x="1184011" y="280547"/>
                    <a:pt x="1159241" y="305317"/>
                  </a:cubicBezTo>
                  <a:cubicBezTo>
                    <a:pt x="1134472" y="330086"/>
                    <a:pt x="1100877" y="344002"/>
                    <a:pt x="1065847" y="344002"/>
                  </a:cubicBezTo>
                  <a:lnTo>
                    <a:pt x="132079" y="344002"/>
                  </a:lnTo>
                  <a:cubicBezTo>
                    <a:pt x="59134" y="344002"/>
                    <a:pt x="0" y="284868"/>
                    <a:pt x="0" y="211922"/>
                  </a:cubicBezTo>
                  <a:lnTo>
                    <a:pt x="0" y="132079"/>
                  </a:lnTo>
                  <a:cubicBezTo>
                    <a:pt x="0" y="97050"/>
                    <a:pt x="13915" y="63455"/>
                    <a:pt x="38685" y="38685"/>
                  </a:cubicBezTo>
                  <a:cubicBezTo>
                    <a:pt x="63455" y="13915"/>
                    <a:pt x="97050" y="0"/>
                    <a:pt x="132079" y="0"/>
                  </a:cubicBezTo>
                  <a:close/>
                </a:path>
              </a:pathLst>
            </a:custGeom>
            <a:solidFill>
              <a:srgbClr val="BFDBF7"/>
            </a:solidFill>
          </p:spPr>
        </p:sp>
        <p:sp>
          <p:nvSpPr>
            <p:cNvPr name="TextBox 38" id="38"/>
            <p:cNvSpPr txBox="true"/>
            <p:nvPr/>
          </p:nvSpPr>
          <p:spPr>
            <a:xfrm>
              <a:off x="0" y="-38100"/>
              <a:ext cx="1197927" cy="382102"/>
            </a:xfrm>
            <a:prstGeom prst="rect">
              <a:avLst/>
            </a:prstGeom>
          </p:spPr>
          <p:txBody>
            <a:bodyPr anchor="ctr" rtlCol="false" tIns="50800" lIns="50800" bIns="50800" rIns="50800"/>
            <a:lstStyle/>
            <a:p>
              <a:pPr algn="ctr">
                <a:lnSpc>
                  <a:spcPts val="2659"/>
                </a:lnSpc>
                <a:spcBef>
                  <a:spcPct val="0"/>
                </a:spcBef>
              </a:pPr>
              <a:r>
                <a:rPr lang="en-US" sz="1899">
                  <a:solidFill>
                    <a:srgbClr val="000000"/>
                  </a:solidFill>
                  <a:latin typeface="Noto Sans"/>
                  <a:ea typeface="Noto Sans"/>
                  <a:cs typeface="Noto Sans"/>
                  <a:sym typeface="Noto Sans"/>
                </a:rPr>
                <a:t>BT3 = 4ms</a:t>
              </a:r>
            </a:p>
          </p:txBody>
        </p:sp>
      </p:grpSp>
      <p:grpSp>
        <p:nvGrpSpPr>
          <p:cNvPr name="Group 39" id="39"/>
          <p:cNvGrpSpPr/>
          <p:nvPr/>
        </p:nvGrpSpPr>
        <p:grpSpPr>
          <a:xfrm rot="0">
            <a:off x="6591249" y="5237497"/>
            <a:ext cx="2250617" cy="837211"/>
            <a:chOff x="0" y="0"/>
            <a:chExt cx="901878" cy="335491"/>
          </a:xfrm>
        </p:grpSpPr>
        <p:sp>
          <p:nvSpPr>
            <p:cNvPr name="Freeform 40" id="40"/>
            <p:cNvSpPr/>
            <p:nvPr/>
          </p:nvSpPr>
          <p:spPr>
            <a:xfrm flipH="false" flipV="false" rot="0">
              <a:off x="0" y="0"/>
              <a:ext cx="901878" cy="335491"/>
            </a:xfrm>
            <a:custGeom>
              <a:avLst/>
              <a:gdLst/>
              <a:ahLst/>
              <a:cxnLst/>
              <a:rect r="r" b="b" t="t" l="l"/>
              <a:pathLst>
                <a:path h="335491" w="901878">
                  <a:moveTo>
                    <a:pt x="167746" y="0"/>
                  </a:moveTo>
                  <a:lnTo>
                    <a:pt x="734133" y="0"/>
                  </a:lnTo>
                  <a:cubicBezTo>
                    <a:pt x="778621" y="0"/>
                    <a:pt x="821288" y="17673"/>
                    <a:pt x="852747" y="49132"/>
                  </a:cubicBezTo>
                  <a:cubicBezTo>
                    <a:pt x="884205" y="80590"/>
                    <a:pt x="901878" y="123257"/>
                    <a:pt x="901878" y="167746"/>
                  </a:cubicBezTo>
                  <a:lnTo>
                    <a:pt x="901878" y="167746"/>
                  </a:lnTo>
                  <a:cubicBezTo>
                    <a:pt x="901878" y="212235"/>
                    <a:pt x="884205" y="254901"/>
                    <a:pt x="852747" y="286360"/>
                  </a:cubicBezTo>
                  <a:cubicBezTo>
                    <a:pt x="821288" y="317818"/>
                    <a:pt x="778621" y="335491"/>
                    <a:pt x="734133" y="335491"/>
                  </a:cubicBezTo>
                  <a:lnTo>
                    <a:pt x="167746" y="335491"/>
                  </a:lnTo>
                  <a:cubicBezTo>
                    <a:pt x="123257" y="335491"/>
                    <a:pt x="80590" y="317818"/>
                    <a:pt x="49132" y="286360"/>
                  </a:cubicBezTo>
                  <a:cubicBezTo>
                    <a:pt x="17673" y="254901"/>
                    <a:pt x="0" y="212235"/>
                    <a:pt x="0" y="167746"/>
                  </a:cubicBezTo>
                  <a:lnTo>
                    <a:pt x="0" y="167746"/>
                  </a:lnTo>
                  <a:cubicBezTo>
                    <a:pt x="0" y="123257"/>
                    <a:pt x="17673" y="80590"/>
                    <a:pt x="49132" y="49132"/>
                  </a:cubicBezTo>
                  <a:cubicBezTo>
                    <a:pt x="80590" y="17673"/>
                    <a:pt x="123257" y="0"/>
                    <a:pt x="167746" y="0"/>
                  </a:cubicBezTo>
                  <a:close/>
                </a:path>
              </a:pathLst>
            </a:custGeom>
            <a:solidFill>
              <a:srgbClr val="E1E5F2"/>
            </a:solidFill>
          </p:spPr>
        </p:sp>
        <p:sp>
          <p:nvSpPr>
            <p:cNvPr name="TextBox 41" id="41"/>
            <p:cNvSpPr txBox="true"/>
            <p:nvPr/>
          </p:nvSpPr>
          <p:spPr>
            <a:xfrm>
              <a:off x="0" y="-38100"/>
              <a:ext cx="901878" cy="373591"/>
            </a:xfrm>
            <a:prstGeom prst="rect">
              <a:avLst/>
            </a:prstGeom>
          </p:spPr>
          <p:txBody>
            <a:bodyPr anchor="ctr" rtlCol="false" tIns="50800" lIns="50800" bIns="50800" rIns="50800"/>
            <a:lstStyle/>
            <a:p>
              <a:pPr algn="ctr">
                <a:lnSpc>
                  <a:spcPts val="2659"/>
                </a:lnSpc>
                <a:spcBef>
                  <a:spcPct val="0"/>
                </a:spcBef>
              </a:pPr>
              <a:r>
                <a:rPr lang="en-US" sz="1899">
                  <a:solidFill>
                    <a:srgbClr val="000000"/>
                  </a:solidFill>
                  <a:latin typeface="Noto Sans"/>
                  <a:ea typeface="Noto Sans"/>
                  <a:cs typeface="Noto Sans"/>
                  <a:sym typeface="Noto Sans"/>
                </a:rPr>
                <a:t>WT4 = 3ms</a:t>
              </a:r>
            </a:p>
          </p:txBody>
        </p:sp>
      </p:grpSp>
      <p:grpSp>
        <p:nvGrpSpPr>
          <p:cNvPr name="Group 42" id="42"/>
          <p:cNvGrpSpPr/>
          <p:nvPr/>
        </p:nvGrpSpPr>
        <p:grpSpPr>
          <a:xfrm rot="0">
            <a:off x="7334470" y="6094973"/>
            <a:ext cx="3014791" cy="849038"/>
            <a:chOff x="0" y="0"/>
            <a:chExt cx="1208102" cy="340231"/>
          </a:xfrm>
        </p:grpSpPr>
        <p:sp>
          <p:nvSpPr>
            <p:cNvPr name="Freeform 43" id="43"/>
            <p:cNvSpPr/>
            <p:nvPr/>
          </p:nvSpPr>
          <p:spPr>
            <a:xfrm flipH="false" flipV="false" rot="0">
              <a:off x="0" y="0"/>
              <a:ext cx="1208102" cy="340231"/>
            </a:xfrm>
            <a:custGeom>
              <a:avLst/>
              <a:gdLst/>
              <a:ahLst/>
              <a:cxnLst/>
              <a:rect r="r" b="b" t="t" l="l"/>
              <a:pathLst>
                <a:path h="340231" w="1208102">
                  <a:moveTo>
                    <a:pt x="130967" y="0"/>
                  </a:moveTo>
                  <a:lnTo>
                    <a:pt x="1077135" y="0"/>
                  </a:lnTo>
                  <a:cubicBezTo>
                    <a:pt x="1111869" y="0"/>
                    <a:pt x="1145181" y="13798"/>
                    <a:pt x="1169742" y="38359"/>
                  </a:cubicBezTo>
                  <a:cubicBezTo>
                    <a:pt x="1194303" y="62920"/>
                    <a:pt x="1208102" y="96232"/>
                    <a:pt x="1208102" y="130967"/>
                  </a:cubicBezTo>
                  <a:lnTo>
                    <a:pt x="1208102" y="209264"/>
                  </a:lnTo>
                  <a:cubicBezTo>
                    <a:pt x="1208102" y="243998"/>
                    <a:pt x="1194303" y="277310"/>
                    <a:pt x="1169742" y="301871"/>
                  </a:cubicBezTo>
                  <a:cubicBezTo>
                    <a:pt x="1145181" y="326432"/>
                    <a:pt x="1111869" y="340231"/>
                    <a:pt x="1077135" y="340231"/>
                  </a:cubicBezTo>
                  <a:lnTo>
                    <a:pt x="130967" y="340231"/>
                  </a:lnTo>
                  <a:cubicBezTo>
                    <a:pt x="96232" y="340231"/>
                    <a:pt x="62920" y="326432"/>
                    <a:pt x="38359" y="301871"/>
                  </a:cubicBezTo>
                  <a:cubicBezTo>
                    <a:pt x="13798" y="277310"/>
                    <a:pt x="0" y="243998"/>
                    <a:pt x="0" y="209264"/>
                  </a:cubicBezTo>
                  <a:lnTo>
                    <a:pt x="0" y="130967"/>
                  </a:lnTo>
                  <a:cubicBezTo>
                    <a:pt x="0" y="96232"/>
                    <a:pt x="13798" y="62920"/>
                    <a:pt x="38359" y="38359"/>
                  </a:cubicBezTo>
                  <a:cubicBezTo>
                    <a:pt x="62920" y="13798"/>
                    <a:pt x="96232" y="0"/>
                    <a:pt x="130967" y="0"/>
                  </a:cubicBezTo>
                  <a:close/>
                </a:path>
              </a:pathLst>
            </a:custGeom>
            <a:solidFill>
              <a:srgbClr val="E1E5F2"/>
            </a:solidFill>
          </p:spPr>
        </p:sp>
        <p:sp>
          <p:nvSpPr>
            <p:cNvPr name="TextBox 44" id="44"/>
            <p:cNvSpPr txBox="true"/>
            <p:nvPr/>
          </p:nvSpPr>
          <p:spPr>
            <a:xfrm>
              <a:off x="0" y="-38100"/>
              <a:ext cx="1208102" cy="378331"/>
            </a:xfrm>
            <a:prstGeom prst="rect">
              <a:avLst/>
            </a:prstGeom>
          </p:spPr>
          <p:txBody>
            <a:bodyPr anchor="ctr" rtlCol="false" tIns="50800" lIns="50800" bIns="50800" rIns="50800"/>
            <a:lstStyle/>
            <a:p>
              <a:pPr algn="ctr">
                <a:lnSpc>
                  <a:spcPts val="2659"/>
                </a:lnSpc>
                <a:spcBef>
                  <a:spcPct val="0"/>
                </a:spcBef>
              </a:pPr>
              <a:r>
                <a:rPr lang="en-US" sz="1899">
                  <a:solidFill>
                    <a:srgbClr val="000000"/>
                  </a:solidFill>
                  <a:latin typeface="Noto Sans"/>
                  <a:ea typeface="Noto Sans"/>
                  <a:cs typeface="Noto Sans"/>
                  <a:sym typeface="Noto Sans"/>
                </a:rPr>
                <a:t>WT2 = 4ms</a:t>
              </a:r>
            </a:p>
          </p:txBody>
        </p:sp>
      </p:grpSp>
      <p:grpSp>
        <p:nvGrpSpPr>
          <p:cNvPr name="Group 45" id="45"/>
          <p:cNvGrpSpPr/>
          <p:nvPr/>
        </p:nvGrpSpPr>
        <p:grpSpPr>
          <a:xfrm rot="0">
            <a:off x="7334470" y="6944012"/>
            <a:ext cx="4471074" cy="842420"/>
            <a:chOff x="0" y="0"/>
            <a:chExt cx="1791671" cy="337579"/>
          </a:xfrm>
        </p:grpSpPr>
        <p:sp>
          <p:nvSpPr>
            <p:cNvPr name="Freeform 46" id="46"/>
            <p:cNvSpPr/>
            <p:nvPr/>
          </p:nvSpPr>
          <p:spPr>
            <a:xfrm flipH="false" flipV="false" rot="0">
              <a:off x="0" y="0"/>
              <a:ext cx="1791670" cy="337579"/>
            </a:xfrm>
            <a:custGeom>
              <a:avLst/>
              <a:gdLst/>
              <a:ahLst/>
              <a:cxnLst/>
              <a:rect r="r" b="b" t="t" l="l"/>
              <a:pathLst>
                <a:path h="337579" w="1791670">
                  <a:moveTo>
                    <a:pt x="88309" y="0"/>
                  </a:moveTo>
                  <a:lnTo>
                    <a:pt x="1703361" y="0"/>
                  </a:lnTo>
                  <a:cubicBezTo>
                    <a:pt x="1726782" y="0"/>
                    <a:pt x="1749244" y="9304"/>
                    <a:pt x="1765805" y="25865"/>
                  </a:cubicBezTo>
                  <a:cubicBezTo>
                    <a:pt x="1782366" y="42426"/>
                    <a:pt x="1791670" y="64888"/>
                    <a:pt x="1791670" y="88309"/>
                  </a:cubicBezTo>
                  <a:lnTo>
                    <a:pt x="1791670" y="249269"/>
                  </a:lnTo>
                  <a:cubicBezTo>
                    <a:pt x="1791670" y="272690"/>
                    <a:pt x="1782366" y="295152"/>
                    <a:pt x="1765805" y="311713"/>
                  </a:cubicBezTo>
                  <a:cubicBezTo>
                    <a:pt x="1749244" y="328275"/>
                    <a:pt x="1726782" y="337579"/>
                    <a:pt x="1703361" y="337579"/>
                  </a:cubicBezTo>
                  <a:lnTo>
                    <a:pt x="88309" y="337579"/>
                  </a:lnTo>
                  <a:cubicBezTo>
                    <a:pt x="64888" y="337579"/>
                    <a:pt x="42426" y="328275"/>
                    <a:pt x="25865" y="311713"/>
                  </a:cubicBezTo>
                  <a:cubicBezTo>
                    <a:pt x="9304" y="295152"/>
                    <a:pt x="0" y="272690"/>
                    <a:pt x="0" y="249269"/>
                  </a:cubicBezTo>
                  <a:lnTo>
                    <a:pt x="0" y="88309"/>
                  </a:lnTo>
                  <a:cubicBezTo>
                    <a:pt x="0" y="64888"/>
                    <a:pt x="9304" y="42426"/>
                    <a:pt x="25865" y="25865"/>
                  </a:cubicBezTo>
                  <a:cubicBezTo>
                    <a:pt x="42426" y="9304"/>
                    <a:pt x="64888" y="0"/>
                    <a:pt x="88309" y="0"/>
                  </a:cubicBezTo>
                  <a:close/>
                </a:path>
              </a:pathLst>
            </a:custGeom>
            <a:solidFill>
              <a:srgbClr val="E1E5F2"/>
            </a:solidFill>
          </p:spPr>
        </p:sp>
        <p:sp>
          <p:nvSpPr>
            <p:cNvPr name="TextBox 47" id="47"/>
            <p:cNvSpPr txBox="true"/>
            <p:nvPr/>
          </p:nvSpPr>
          <p:spPr>
            <a:xfrm>
              <a:off x="0" y="-38100"/>
              <a:ext cx="1791671" cy="375679"/>
            </a:xfrm>
            <a:prstGeom prst="rect">
              <a:avLst/>
            </a:prstGeom>
          </p:spPr>
          <p:txBody>
            <a:bodyPr anchor="ctr" rtlCol="false" tIns="50800" lIns="50800" bIns="50800" rIns="50800"/>
            <a:lstStyle/>
            <a:p>
              <a:pPr algn="ctr">
                <a:lnSpc>
                  <a:spcPts val="2659"/>
                </a:lnSpc>
                <a:spcBef>
                  <a:spcPct val="0"/>
                </a:spcBef>
              </a:pPr>
              <a:r>
                <a:rPr lang="en-US" sz="1899">
                  <a:solidFill>
                    <a:srgbClr val="000000"/>
                  </a:solidFill>
                  <a:latin typeface="Noto Sans"/>
                  <a:ea typeface="Noto Sans"/>
                  <a:cs typeface="Noto Sans"/>
                  <a:sym typeface="Noto Sans"/>
                </a:rPr>
                <a:t>WT5  = 6ms</a:t>
              </a:r>
            </a:p>
          </p:txBody>
        </p:sp>
      </p:grpSp>
      <p:grpSp>
        <p:nvGrpSpPr>
          <p:cNvPr name="Group 48" id="48"/>
          <p:cNvGrpSpPr/>
          <p:nvPr/>
        </p:nvGrpSpPr>
        <p:grpSpPr>
          <a:xfrm rot="0">
            <a:off x="11805544" y="7775035"/>
            <a:ext cx="783177" cy="837894"/>
            <a:chOff x="0" y="0"/>
            <a:chExt cx="313838" cy="335765"/>
          </a:xfrm>
        </p:grpSpPr>
        <p:sp>
          <p:nvSpPr>
            <p:cNvPr name="Freeform 49" id="49"/>
            <p:cNvSpPr/>
            <p:nvPr/>
          </p:nvSpPr>
          <p:spPr>
            <a:xfrm flipH="false" flipV="false" rot="0">
              <a:off x="0" y="0"/>
              <a:ext cx="313838" cy="335765"/>
            </a:xfrm>
            <a:custGeom>
              <a:avLst/>
              <a:gdLst/>
              <a:ahLst/>
              <a:cxnLst/>
              <a:rect r="r" b="b" t="t" l="l"/>
              <a:pathLst>
                <a:path h="335765" w="313838">
                  <a:moveTo>
                    <a:pt x="156919" y="0"/>
                  </a:moveTo>
                  <a:lnTo>
                    <a:pt x="156919" y="0"/>
                  </a:lnTo>
                  <a:cubicBezTo>
                    <a:pt x="243583" y="0"/>
                    <a:pt x="313838" y="70255"/>
                    <a:pt x="313838" y="156919"/>
                  </a:cubicBezTo>
                  <a:lnTo>
                    <a:pt x="313838" y="178846"/>
                  </a:lnTo>
                  <a:cubicBezTo>
                    <a:pt x="313838" y="220463"/>
                    <a:pt x="297306" y="260376"/>
                    <a:pt x="267878" y="289805"/>
                  </a:cubicBezTo>
                  <a:cubicBezTo>
                    <a:pt x="238450" y="319233"/>
                    <a:pt x="198537" y="335765"/>
                    <a:pt x="156919" y="335765"/>
                  </a:cubicBezTo>
                  <a:lnTo>
                    <a:pt x="156919" y="335765"/>
                  </a:lnTo>
                  <a:cubicBezTo>
                    <a:pt x="115302" y="335765"/>
                    <a:pt x="75389" y="319233"/>
                    <a:pt x="45961" y="289805"/>
                  </a:cubicBezTo>
                  <a:cubicBezTo>
                    <a:pt x="16533" y="260376"/>
                    <a:pt x="0" y="220463"/>
                    <a:pt x="0" y="178846"/>
                  </a:cubicBezTo>
                  <a:lnTo>
                    <a:pt x="0" y="156919"/>
                  </a:lnTo>
                  <a:cubicBezTo>
                    <a:pt x="0" y="115302"/>
                    <a:pt x="16533" y="75389"/>
                    <a:pt x="45961" y="45961"/>
                  </a:cubicBezTo>
                  <a:cubicBezTo>
                    <a:pt x="75389" y="16533"/>
                    <a:pt x="115302" y="0"/>
                    <a:pt x="156919" y="0"/>
                  </a:cubicBezTo>
                  <a:close/>
                </a:path>
              </a:pathLst>
            </a:custGeom>
            <a:solidFill>
              <a:srgbClr val="E1E5F2"/>
            </a:solidFill>
          </p:spPr>
        </p:sp>
        <p:sp>
          <p:nvSpPr>
            <p:cNvPr name="TextBox 50" id="50"/>
            <p:cNvSpPr txBox="true"/>
            <p:nvPr/>
          </p:nvSpPr>
          <p:spPr>
            <a:xfrm>
              <a:off x="0" y="-38100"/>
              <a:ext cx="313838" cy="373865"/>
            </a:xfrm>
            <a:prstGeom prst="rect">
              <a:avLst/>
            </a:prstGeom>
          </p:spPr>
          <p:txBody>
            <a:bodyPr anchor="ctr" rtlCol="false" tIns="50800" lIns="50800" bIns="50800" rIns="50800"/>
            <a:lstStyle/>
            <a:p>
              <a:pPr algn="ctr">
                <a:lnSpc>
                  <a:spcPts val="2659"/>
                </a:lnSpc>
                <a:spcBef>
                  <a:spcPct val="0"/>
                </a:spcBef>
              </a:pPr>
              <a:r>
                <a:rPr lang="en-US" sz="1899">
                  <a:solidFill>
                    <a:srgbClr val="000000"/>
                  </a:solidFill>
                  <a:latin typeface="Noto Sans"/>
                  <a:ea typeface="Noto Sans"/>
                  <a:cs typeface="Noto Sans"/>
                  <a:sym typeface="Noto Sans"/>
                </a:rPr>
                <a:t>WT3</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AFAF6"/>
        </a:solidFill>
      </p:bgPr>
    </p:bg>
    <p:spTree>
      <p:nvGrpSpPr>
        <p:cNvPr id="1" name=""/>
        <p:cNvGrpSpPr/>
        <p:nvPr/>
      </p:nvGrpSpPr>
      <p:grpSpPr>
        <a:xfrm>
          <a:off x="0" y="0"/>
          <a:ext cx="0" cy="0"/>
          <a:chOff x="0" y="0"/>
          <a:chExt cx="0" cy="0"/>
        </a:xfrm>
      </p:grpSpPr>
      <p:sp>
        <p:nvSpPr>
          <p:cNvPr name="AutoShape 2" id="2"/>
          <p:cNvSpPr/>
          <p:nvPr/>
        </p:nvSpPr>
        <p:spPr>
          <a:xfrm>
            <a:off x="5891758" y="8285403"/>
            <a:ext cx="12396242" cy="0"/>
          </a:xfrm>
          <a:prstGeom prst="line">
            <a:avLst/>
          </a:prstGeom>
          <a:ln cap="flat" w="9525">
            <a:solidFill>
              <a:srgbClr val="403E3E"/>
            </a:solidFill>
            <a:prstDash val="solid"/>
            <a:headEnd type="none" len="sm" w="sm"/>
            <a:tailEnd type="none" len="sm" w="sm"/>
          </a:ln>
        </p:spPr>
      </p:sp>
      <p:sp>
        <p:nvSpPr>
          <p:cNvPr name="AutoShape 3" id="3"/>
          <p:cNvSpPr/>
          <p:nvPr/>
        </p:nvSpPr>
        <p:spPr>
          <a:xfrm flipV="true">
            <a:off x="-462152" y="1033462"/>
            <a:ext cx="19212305" cy="0"/>
          </a:xfrm>
          <a:prstGeom prst="line">
            <a:avLst/>
          </a:prstGeom>
          <a:ln cap="flat" w="9525">
            <a:solidFill>
              <a:srgbClr val="403E3E"/>
            </a:solidFill>
            <a:prstDash val="solid"/>
            <a:headEnd type="none" len="sm" w="sm"/>
            <a:tailEnd type="none" len="sm" w="sm"/>
          </a:ln>
        </p:spPr>
      </p:sp>
      <p:sp>
        <p:nvSpPr>
          <p:cNvPr name="AutoShape 4" id="4"/>
          <p:cNvSpPr/>
          <p:nvPr/>
        </p:nvSpPr>
        <p:spPr>
          <a:xfrm>
            <a:off x="6042598" y="2511978"/>
            <a:ext cx="12245402" cy="0"/>
          </a:xfrm>
          <a:prstGeom prst="line">
            <a:avLst/>
          </a:prstGeom>
          <a:ln cap="flat" w="9525">
            <a:solidFill>
              <a:srgbClr val="403E3E"/>
            </a:solidFill>
            <a:prstDash val="solid"/>
            <a:headEnd type="none" len="sm" w="sm"/>
            <a:tailEnd type="none" len="sm" w="sm"/>
          </a:ln>
        </p:spPr>
      </p:sp>
      <p:sp>
        <p:nvSpPr>
          <p:cNvPr name="Freeform 5" id="5"/>
          <p:cNvSpPr/>
          <p:nvPr/>
        </p:nvSpPr>
        <p:spPr>
          <a:xfrm flipH="false" flipV="false" rot="0">
            <a:off x="1326352" y="3086100"/>
            <a:ext cx="4222276" cy="4114800"/>
          </a:xfrm>
          <a:custGeom>
            <a:avLst/>
            <a:gdLst/>
            <a:ahLst/>
            <a:cxnLst/>
            <a:rect r="r" b="b" t="t" l="l"/>
            <a:pathLst>
              <a:path h="4114800" w="4222276">
                <a:moveTo>
                  <a:pt x="0" y="0"/>
                </a:moveTo>
                <a:lnTo>
                  <a:pt x="4222276" y="0"/>
                </a:lnTo>
                <a:lnTo>
                  <a:pt x="422227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757560" y="1461930"/>
            <a:ext cx="12860382" cy="1151128"/>
          </a:xfrm>
          <a:prstGeom prst="rect">
            <a:avLst/>
          </a:prstGeom>
        </p:spPr>
        <p:txBody>
          <a:bodyPr anchor="t" rtlCol="false" tIns="0" lIns="0" bIns="0" rIns="0">
            <a:spAutoFit/>
          </a:bodyPr>
          <a:lstStyle/>
          <a:p>
            <a:pPr algn="ctr">
              <a:lnSpc>
                <a:spcPts val="4256"/>
              </a:lnSpc>
            </a:pPr>
            <a:r>
              <a:rPr lang="en-US" b="true" sz="5600" spc="-123">
                <a:solidFill>
                  <a:srgbClr val="403E3E"/>
                </a:solidFill>
                <a:latin typeface="Arial Nova Bold"/>
                <a:ea typeface="Arial Nova Bold"/>
                <a:cs typeface="Arial Nova Bold"/>
                <a:sym typeface="Arial Nova Bold"/>
              </a:rPr>
              <a:t>4.2 DESCRIPTION</a:t>
            </a:r>
          </a:p>
          <a:p>
            <a:pPr algn="ctr" marL="0" indent="0" lvl="0">
              <a:lnSpc>
                <a:spcPts val="4256"/>
              </a:lnSpc>
              <a:spcBef>
                <a:spcPct val="0"/>
              </a:spcBef>
            </a:pPr>
          </a:p>
        </p:txBody>
      </p:sp>
      <p:sp>
        <p:nvSpPr>
          <p:cNvPr name="TextBox 7" id="7"/>
          <p:cNvSpPr txBox="true"/>
          <p:nvPr/>
        </p:nvSpPr>
        <p:spPr>
          <a:xfrm rot="0">
            <a:off x="1326352" y="9596713"/>
            <a:ext cx="4237173" cy="656590"/>
          </a:xfrm>
          <a:prstGeom prst="rect">
            <a:avLst/>
          </a:prstGeom>
        </p:spPr>
        <p:txBody>
          <a:bodyPr anchor="t" rtlCol="false" tIns="0" lIns="0" bIns="0" rIns="0">
            <a:spAutoFit/>
          </a:bodyPr>
          <a:lstStyle/>
          <a:p>
            <a:pPr algn="l">
              <a:lnSpc>
                <a:spcPts val="2660"/>
              </a:lnSpc>
            </a:pPr>
            <a:r>
              <a:rPr lang="en-US" sz="1900" spc="-104">
                <a:solidFill>
                  <a:srgbClr val="403E3E"/>
                </a:solidFill>
                <a:latin typeface="Mukti"/>
                <a:ea typeface="Mukti"/>
                <a:cs typeface="Mukti"/>
                <a:sym typeface="Mukti"/>
              </a:rPr>
              <a:t>NOV 2025</a:t>
            </a:r>
          </a:p>
          <a:p>
            <a:pPr algn="l">
              <a:lnSpc>
                <a:spcPts val="2660"/>
              </a:lnSpc>
            </a:pPr>
          </a:p>
        </p:txBody>
      </p:sp>
      <p:sp>
        <p:nvSpPr>
          <p:cNvPr name="TextBox 8" id="8"/>
          <p:cNvSpPr txBox="true"/>
          <p:nvPr/>
        </p:nvSpPr>
        <p:spPr>
          <a:xfrm rot="0">
            <a:off x="11460214" y="9596713"/>
            <a:ext cx="6276314" cy="656590"/>
          </a:xfrm>
          <a:prstGeom prst="rect">
            <a:avLst/>
          </a:prstGeom>
        </p:spPr>
        <p:txBody>
          <a:bodyPr anchor="t" rtlCol="false" tIns="0" lIns="0" bIns="0" rIns="0">
            <a:spAutoFit/>
          </a:bodyPr>
          <a:lstStyle/>
          <a:p>
            <a:pPr algn="r">
              <a:lnSpc>
                <a:spcPts val="2660"/>
              </a:lnSpc>
            </a:pPr>
            <a:r>
              <a:rPr lang="en-US" sz="1900" spc="-104">
                <a:solidFill>
                  <a:srgbClr val="403E3E"/>
                </a:solidFill>
                <a:latin typeface="Mukti"/>
                <a:ea typeface="Mukti"/>
                <a:cs typeface="Mukti"/>
                <a:sym typeface="Mukti"/>
              </a:rPr>
              <a:t>HO CHI MINH CITY UNIVERSITY OF TRANSPORT</a:t>
            </a:r>
          </a:p>
          <a:p>
            <a:pPr algn="r">
              <a:lnSpc>
                <a:spcPts val="2660"/>
              </a:lnSpc>
            </a:pPr>
          </a:p>
        </p:txBody>
      </p:sp>
      <p:sp>
        <p:nvSpPr>
          <p:cNvPr name="TextBox 9" id="9"/>
          <p:cNvSpPr txBox="true"/>
          <p:nvPr/>
        </p:nvSpPr>
        <p:spPr>
          <a:xfrm rot="0">
            <a:off x="7081895" y="4270375"/>
            <a:ext cx="8756637" cy="1374775"/>
          </a:xfrm>
          <a:prstGeom prst="rect">
            <a:avLst/>
          </a:prstGeom>
        </p:spPr>
        <p:txBody>
          <a:bodyPr anchor="t" rtlCol="false" tIns="0" lIns="0" bIns="0" rIns="0">
            <a:spAutoFit/>
          </a:bodyPr>
          <a:lstStyle/>
          <a:p>
            <a:pPr algn="just" marL="0" indent="0" lvl="0">
              <a:lnSpc>
                <a:spcPts val="2749"/>
              </a:lnSpc>
              <a:spcBef>
                <a:spcPct val="0"/>
              </a:spcBef>
            </a:pPr>
            <a:r>
              <a:rPr lang="en-US" sz="2499" spc="-137">
                <a:solidFill>
                  <a:srgbClr val="403E3E"/>
                </a:solidFill>
                <a:latin typeface="Mukti"/>
                <a:ea typeface="Mukti"/>
                <a:cs typeface="Mukti"/>
                <a:sym typeface="Mukti"/>
              </a:rPr>
              <a:t>In this dataset, the workload is intentionally designed to be unfavorable to the FCFS algorithm. This reveals some of its limitations. The main disadvantage is process P04. It has a much longer burst time than the other processes.</a:t>
            </a:r>
          </a:p>
        </p:txBody>
      </p:sp>
      <p:sp>
        <p:nvSpPr>
          <p:cNvPr name="TextBox 10" id="10"/>
          <p:cNvSpPr txBox="true"/>
          <p:nvPr/>
        </p:nvSpPr>
        <p:spPr>
          <a:xfrm rot="0">
            <a:off x="13499355" y="314960"/>
            <a:ext cx="4237173" cy="656590"/>
          </a:xfrm>
          <a:prstGeom prst="rect">
            <a:avLst/>
          </a:prstGeom>
        </p:spPr>
        <p:txBody>
          <a:bodyPr anchor="t" rtlCol="false" tIns="0" lIns="0" bIns="0" rIns="0">
            <a:spAutoFit/>
          </a:bodyPr>
          <a:lstStyle/>
          <a:p>
            <a:pPr algn="r">
              <a:lnSpc>
                <a:spcPts val="2660"/>
              </a:lnSpc>
            </a:pPr>
            <a:r>
              <a:rPr lang="en-US" sz="1900" spc="-104">
                <a:solidFill>
                  <a:srgbClr val="403E3E"/>
                </a:solidFill>
                <a:latin typeface="Mukti"/>
                <a:ea typeface="Mukti"/>
                <a:cs typeface="Mukti"/>
                <a:sym typeface="Mukti"/>
              </a:rPr>
              <a:t>NOV 2025</a:t>
            </a:r>
          </a:p>
          <a:p>
            <a:pPr algn="r">
              <a:lnSpc>
                <a:spcPts val="2660"/>
              </a:lnSpc>
            </a:pPr>
          </a:p>
        </p:txBody>
      </p:sp>
      <p:sp>
        <p:nvSpPr>
          <p:cNvPr name="TextBox 11" id="11"/>
          <p:cNvSpPr txBox="true"/>
          <p:nvPr/>
        </p:nvSpPr>
        <p:spPr>
          <a:xfrm rot="0">
            <a:off x="16990695" y="8951595"/>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20</a:t>
            </a:r>
          </a:p>
        </p:txBody>
      </p:sp>
      <p:sp>
        <p:nvSpPr>
          <p:cNvPr name="Freeform 12" id="12"/>
          <p:cNvSpPr/>
          <p:nvPr/>
        </p:nvSpPr>
        <p:spPr>
          <a:xfrm flipH="false" flipV="false" rot="0">
            <a:off x="1519174" y="1262641"/>
            <a:ext cx="2476770" cy="1024764"/>
          </a:xfrm>
          <a:custGeom>
            <a:avLst/>
            <a:gdLst/>
            <a:ahLst/>
            <a:cxnLst/>
            <a:rect r="r" b="b" t="t" l="l"/>
            <a:pathLst>
              <a:path h="1024764" w="2476770">
                <a:moveTo>
                  <a:pt x="0" y="0"/>
                </a:moveTo>
                <a:lnTo>
                  <a:pt x="2476771" y="0"/>
                </a:lnTo>
                <a:lnTo>
                  <a:pt x="2476771" y="1024764"/>
                </a:lnTo>
                <a:lnTo>
                  <a:pt x="0" y="1024764"/>
                </a:lnTo>
                <a:lnTo>
                  <a:pt x="0" y="0"/>
                </a:lnTo>
                <a:close/>
              </a:path>
            </a:pathLst>
          </a:custGeom>
          <a:blipFill>
            <a:blip r:embed="rId4"/>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FEEEC"/>
        </a:solidFill>
      </p:bgPr>
    </p:bg>
    <p:spTree>
      <p:nvGrpSpPr>
        <p:cNvPr id="1" name=""/>
        <p:cNvGrpSpPr/>
        <p:nvPr/>
      </p:nvGrpSpPr>
      <p:grpSpPr>
        <a:xfrm>
          <a:off x="0" y="0"/>
          <a:ext cx="0" cy="0"/>
          <a:chOff x="0" y="0"/>
          <a:chExt cx="0" cy="0"/>
        </a:xfrm>
      </p:grpSpPr>
      <p:grpSp>
        <p:nvGrpSpPr>
          <p:cNvPr name="Group 2" id="2"/>
          <p:cNvGrpSpPr/>
          <p:nvPr/>
        </p:nvGrpSpPr>
        <p:grpSpPr>
          <a:xfrm rot="5400000">
            <a:off x="12432431" y="4605338"/>
            <a:ext cx="10730064" cy="1076325"/>
            <a:chOff x="0" y="0"/>
            <a:chExt cx="3845413" cy="385731"/>
          </a:xfrm>
        </p:grpSpPr>
        <p:sp>
          <p:nvSpPr>
            <p:cNvPr name="Freeform 3" id="3"/>
            <p:cNvSpPr/>
            <p:nvPr/>
          </p:nvSpPr>
          <p:spPr>
            <a:xfrm flipH="false" flipV="false" rot="0">
              <a:off x="0" y="0"/>
              <a:ext cx="3845413" cy="385731"/>
            </a:xfrm>
            <a:custGeom>
              <a:avLst/>
              <a:gdLst/>
              <a:ahLst/>
              <a:cxnLst/>
              <a:rect r="r" b="b" t="t" l="l"/>
              <a:pathLst>
                <a:path h="385731" w="3845413">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sp>
        <p:sp>
          <p:nvSpPr>
            <p:cNvPr name="TextBox 4" id="4"/>
            <p:cNvSpPr txBox="true"/>
            <p:nvPr/>
          </p:nvSpPr>
          <p:spPr>
            <a:xfrm>
              <a:off x="0" y="-47625"/>
              <a:ext cx="3845413" cy="433356"/>
            </a:xfrm>
            <a:prstGeom prst="rect">
              <a:avLst/>
            </a:prstGeom>
          </p:spPr>
          <p:txBody>
            <a:bodyPr anchor="ctr" rtlCol="false" tIns="50800" lIns="50800" bIns="50800" rIns="50800"/>
            <a:lstStyle/>
            <a:p>
              <a:pPr algn="ctr">
                <a:lnSpc>
                  <a:spcPts val="1960"/>
                </a:lnSpc>
              </a:pPr>
            </a:p>
          </p:txBody>
        </p:sp>
      </p:grpSp>
      <p:sp>
        <p:nvSpPr>
          <p:cNvPr name="TextBox 5" id="5"/>
          <p:cNvSpPr txBox="true"/>
          <p:nvPr/>
        </p:nvSpPr>
        <p:spPr>
          <a:xfrm rot="0">
            <a:off x="15855093" y="9692050"/>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21</a:t>
            </a:r>
          </a:p>
        </p:txBody>
      </p:sp>
      <p:sp>
        <p:nvSpPr>
          <p:cNvPr name="TextBox 6" id="6"/>
          <p:cNvSpPr txBox="true"/>
          <p:nvPr/>
        </p:nvSpPr>
        <p:spPr>
          <a:xfrm rot="0">
            <a:off x="4008450" y="1766375"/>
            <a:ext cx="11846643" cy="668020"/>
          </a:xfrm>
          <a:prstGeom prst="rect">
            <a:avLst/>
          </a:prstGeom>
        </p:spPr>
        <p:txBody>
          <a:bodyPr anchor="t" rtlCol="false" tIns="0" lIns="0" bIns="0" rIns="0">
            <a:spAutoFit/>
          </a:bodyPr>
          <a:lstStyle/>
          <a:p>
            <a:pPr algn="l" marL="0" indent="0" lvl="0">
              <a:lnSpc>
                <a:spcPts val="4760"/>
              </a:lnSpc>
              <a:spcBef>
                <a:spcPct val="0"/>
              </a:spcBef>
            </a:pPr>
            <a:r>
              <a:rPr lang="en-US" b="true" sz="5600" spc="-420">
                <a:solidFill>
                  <a:srgbClr val="403E3E"/>
                </a:solidFill>
                <a:latin typeface="Inter Bold"/>
                <a:ea typeface="Inter Bold"/>
                <a:cs typeface="Inter Bold"/>
                <a:sym typeface="Inter Bold"/>
              </a:rPr>
              <a:t>4.2.2 Results and Observations</a:t>
            </a:r>
          </a:p>
        </p:txBody>
      </p:sp>
      <p:sp>
        <p:nvSpPr>
          <p:cNvPr name="TextBox 7" id="7"/>
          <p:cNvSpPr txBox="true"/>
          <p:nvPr/>
        </p:nvSpPr>
        <p:spPr>
          <a:xfrm rot="0">
            <a:off x="13403572" y="993352"/>
            <a:ext cx="2850172" cy="621030"/>
          </a:xfrm>
          <a:prstGeom prst="rect">
            <a:avLst/>
          </a:prstGeom>
        </p:spPr>
        <p:txBody>
          <a:bodyPr anchor="t" rtlCol="false" tIns="0" lIns="0" bIns="0" rIns="0">
            <a:spAutoFit/>
          </a:bodyPr>
          <a:lstStyle/>
          <a:p>
            <a:pPr algn="r">
              <a:lnSpc>
                <a:spcPts val="2520"/>
              </a:lnSpc>
            </a:pPr>
            <a:r>
              <a:rPr lang="en-US" sz="1800" spc="-72">
                <a:solidFill>
                  <a:srgbClr val="403E3E"/>
                </a:solidFill>
                <a:latin typeface="Inter"/>
                <a:ea typeface="Inter"/>
                <a:cs typeface="Inter"/>
                <a:sym typeface="Inter"/>
              </a:rPr>
              <a:t>NOV 2025</a:t>
            </a:r>
          </a:p>
          <a:p>
            <a:pPr algn="r" marL="0" indent="0" lvl="0">
              <a:lnSpc>
                <a:spcPts val="2520"/>
              </a:lnSpc>
              <a:spcBef>
                <a:spcPct val="0"/>
              </a:spcBef>
            </a:pPr>
          </a:p>
        </p:txBody>
      </p:sp>
      <p:grpSp>
        <p:nvGrpSpPr>
          <p:cNvPr name="Group 8" id="8"/>
          <p:cNvGrpSpPr/>
          <p:nvPr/>
        </p:nvGrpSpPr>
        <p:grpSpPr>
          <a:xfrm rot="5400000">
            <a:off x="-4204353" y="3779569"/>
            <a:ext cx="10730064" cy="2727862"/>
            <a:chOff x="0" y="0"/>
            <a:chExt cx="3845413" cy="977604"/>
          </a:xfrm>
        </p:grpSpPr>
        <p:sp>
          <p:nvSpPr>
            <p:cNvPr name="Freeform 9" id="9"/>
            <p:cNvSpPr/>
            <p:nvPr/>
          </p:nvSpPr>
          <p:spPr>
            <a:xfrm flipH="false" flipV="false" rot="0">
              <a:off x="0" y="0"/>
              <a:ext cx="3845413" cy="977604"/>
            </a:xfrm>
            <a:custGeom>
              <a:avLst/>
              <a:gdLst/>
              <a:ahLst/>
              <a:cxnLst/>
              <a:rect r="r" b="b" t="t" l="l"/>
              <a:pathLst>
                <a:path h="977604" w="3845413">
                  <a:moveTo>
                    <a:pt x="0" y="0"/>
                  </a:moveTo>
                  <a:lnTo>
                    <a:pt x="3845413" y="0"/>
                  </a:lnTo>
                  <a:lnTo>
                    <a:pt x="3845413" y="977604"/>
                  </a:lnTo>
                  <a:lnTo>
                    <a:pt x="0" y="977604"/>
                  </a:lnTo>
                  <a:close/>
                </a:path>
              </a:pathLst>
            </a:custGeom>
            <a:solidFill>
              <a:srgbClr val="F6F5F3"/>
            </a:solidFill>
            <a:ln w="9525" cap="sq">
              <a:solidFill>
                <a:srgbClr val="403E3E"/>
              </a:solidFill>
              <a:prstDash val="solid"/>
              <a:miter/>
            </a:ln>
          </p:spPr>
        </p:sp>
        <p:sp>
          <p:nvSpPr>
            <p:cNvPr name="TextBox 10" id="10"/>
            <p:cNvSpPr txBox="true"/>
            <p:nvPr/>
          </p:nvSpPr>
          <p:spPr>
            <a:xfrm>
              <a:off x="0" y="-47625"/>
              <a:ext cx="3845413" cy="1025229"/>
            </a:xfrm>
            <a:prstGeom prst="rect">
              <a:avLst/>
            </a:prstGeom>
          </p:spPr>
          <p:txBody>
            <a:bodyPr anchor="ctr" rtlCol="false" tIns="50800" lIns="50800" bIns="50800" rIns="50800"/>
            <a:lstStyle/>
            <a:p>
              <a:pPr algn="ctr">
                <a:lnSpc>
                  <a:spcPts val="1960"/>
                </a:lnSpc>
              </a:pPr>
            </a:p>
          </p:txBody>
        </p:sp>
      </p:grpSp>
      <p:sp>
        <p:nvSpPr>
          <p:cNvPr name="Freeform 11" id="11"/>
          <p:cNvSpPr/>
          <p:nvPr/>
        </p:nvSpPr>
        <p:spPr>
          <a:xfrm flipH="false" flipV="false" rot="0">
            <a:off x="2050420" y="789208"/>
            <a:ext cx="948381" cy="1520727"/>
          </a:xfrm>
          <a:custGeom>
            <a:avLst/>
            <a:gdLst/>
            <a:ahLst/>
            <a:cxnLst/>
            <a:rect r="r" b="b" t="t" l="l"/>
            <a:pathLst>
              <a:path h="1520727" w="948381">
                <a:moveTo>
                  <a:pt x="0" y="0"/>
                </a:moveTo>
                <a:lnTo>
                  <a:pt x="948380" y="0"/>
                </a:lnTo>
                <a:lnTo>
                  <a:pt x="948380" y="1520727"/>
                </a:lnTo>
                <a:lnTo>
                  <a:pt x="0" y="15207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12" id="12"/>
          <p:cNvGraphicFramePr>
            <a:graphicFrameLocks noGrp="true"/>
          </p:cNvGraphicFramePr>
          <p:nvPr/>
        </p:nvGraphicFramePr>
        <p:xfrm>
          <a:off x="3166186" y="2720145"/>
          <a:ext cx="12456203" cy="7314752"/>
        </p:xfrm>
        <a:graphic>
          <a:graphicData uri="http://schemas.openxmlformats.org/drawingml/2006/table">
            <a:tbl>
              <a:tblPr/>
              <a:tblGrid>
                <a:gridCol w="1162669"/>
                <a:gridCol w="2541724"/>
                <a:gridCol w="2327172"/>
                <a:gridCol w="2141861"/>
                <a:gridCol w="2402819"/>
                <a:gridCol w="1879957"/>
              </a:tblGrid>
              <a:tr h="2141502">
                <a:tc>
                  <a:txBody>
                    <a:bodyPr anchor="t" rtlCol="false"/>
                    <a:lstStyle/>
                    <a:p>
                      <a:pPr algn="l">
                        <a:lnSpc>
                          <a:spcPts val="2939"/>
                        </a:lnSpc>
                        <a:defRPr/>
                      </a:pPr>
                      <a:r>
                        <a:rPr lang="en-US" sz="2099">
                          <a:solidFill>
                            <a:srgbClr val="000000"/>
                          </a:solidFill>
                          <a:latin typeface="Arimo"/>
                          <a:ea typeface="Arimo"/>
                          <a:cs typeface="Arimo"/>
                          <a:sym typeface="Arimo"/>
                        </a:rPr>
                        <a:t>Process</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6F5F3"/>
                    </a:solidFill>
                  </a:tcPr>
                </a:tc>
                <a:tc>
                  <a:txBody>
                    <a:bodyPr anchor="t" rtlCol="false"/>
                    <a:lstStyle/>
                    <a:p>
                      <a:pPr algn="ctr">
                        <a:lnSpc>
                          <a:spcPts val="2939"/>
                        </a:lnSpc>
                        <a:defRPr/>
                      </a:pPr>
                      <a:r>
                        <a:rPr lang="en-US" sz="2099" spc="-46">
                          <a:solidFill>
                            <a:srgbClr val="403E3E"/>
                          </a:solidFill>
                          <a:latin typeface="Inter"/>
                          <a:ea typeface="Inter"/>
                          <a:cs typeface="Inter"/>
                          <a:sym typeface="Inter"/>
                        </a:rPr>
                        <a:t>ARRIVAL TIME (AT)</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6F5F3"/>
                    </a:solidFill>
                  </a:tcPr>
                </a:tc>
                <a:tc>
                  <a:txBody>
                    <a:bodyPr anchor="t" rtlCol="false"/>
                    <a:lstStyle/>
                    <a:p>
                      <a:pPr algn="ctr">
                        <a:lnSpc>
                          <a:spcPts val="2939"/>
                        </a:lnSpc>
                        <a:defRPr/>
                      </a:pPr>
                      <a:r>
                        <a:rPr lang="en-US" sz="2099" spc="-46">
                          <a:solidFill>
                            <a:srgbClr val="403E3E"/>
                          </a:solidFill>
                          <a:latin typeface="Inter"/>
                          <a:ea typeface="Inter"/>
                          <a:cs typeface="Inter"/>
                          <a:sym typeface="Inter"/>
                        </a:rPr>
                        <a:t>BURST TIME (BT)</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6F5F3"/>
                    </a:solidFill>
                  </a:tcPr>
                </a:tc>
                <a:tc>
                  <a:txBody>
                    <a:bodyPr anchor="t" rtlCol="false"/>
                    <a:lstStyle/>
                    <a:p>
                      <a:pPr algn="ctr">
                        <a:lnSpc>
                          <a:spcPts val="2939"/>
                        </a:lnSpc>
                        <a:defRPr/>
                      </a:pPr>
                      <a:r>
                        <a:rPr lang="en-US" sz="2099" spc="-46">
                          <a:solidFill>
                            <a:srgbClr val="403E3E"/>
                          </a:solidFill>
                          <a:latin typeface="Inter"/>
                          <a:ea typeface="Inter"/>
                          <a:cs typeface="Inter"/>
                          <a:sym typeface="Inter"/>
                        </a:rPr>
                        <a:t>COMPLETION TIME (CT)</a:t>
                      </a:r>
                      <a:endParaRPr lang="en-US" sz="1100"/>
                    </a:p>
                    <a:p>
                      <a:pPr algn="ctr">
                        <a:lnSpc>
                          <a:spcPts val="2939"/>
                        </a:lnSpc>
                      </a:pPr>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6F5F3"/>
                    </a:solidFill>
                  </a:tcPr>
                </a:tc>
                <a:tc>
                  <a:txBody>
                    <a:bodyPr anchor="t" rtlCol="false"/>
                    <a:lstStyle/>
                    <a:p>
                      <a:pPr algn="ctr">
                        <a:lnSpc>
                          <a:spcPts val="2939"/>
                        </a:lnSpc>
                        <a:defRPr/>
                      </a:pPr>
                      <a:r>
                        <a:rPr lang="en-US" sz="2099" spc="-46">
                          <a:solidFill>
                            <a:srgbClr val="403E3E"/>
                          </a:solidFill>
                          <a:latin typeface="Inter"/>
                          <a:ea typeface="Inter"/>
                          <a:cs typeface="Inter"/>
                          <a:sym typeface="Inter"/>
                        </a:rPr>
                        <a:t>TURNAROUND TIME (TAT)</a:t>
                      </a:r>
                      <a:endParaRPr lang="en-US" sz="1100"/>
                    </a:p>
                    <a:p>
                      <a:pPr algn="ctr">
                        <a:lnSpc>
                          <a:spcPts val="2939"/>
                        </a:lnSpc>
                      </a:pPr>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6F5F3"/>
                    </a:solidFill>
                  </a:tcPr>
                </a:tc>
                <a:tc>
                  <a:txBody>
                    <a:bodyPr anchor="t" rtlCol="false"/>
                    <a:lstStyle/>
                    <a:p>
                      <a:pPr algn="l">
                        <a:lnSpc>
                          <a:spcPts val="2939"/>
                        </a:lnSpc>
                        <a:defRPr/>
                      </a:pPr>
                      <a:r>
                        <a:rPr lang="en-US" sz="2099" strike="noStrike" u="none">
                          <a:solidFill>
                            <a:srgbClr val="000000"/>
                          </a:solidFill>
                          <a:latin typeface="Arimo"/>
                          <a:ea typeface="Arimo"/>
                          <a:cs typeface="Arimo"/>
                          <a:sym typeface="Arimo"/>
                        </a:rPr>
                        <a:t>Waiting Time (WT)</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6F5F3"/>
                    </a:solidFill>
                  </a:tcPr>
                </a:tc>
              </a:tr>
              <a:tr h="657962">
                <a:tc>
                  <a:txBody>
                    <a:bodyPr anchor="t" rtlCol="false"/>
                    <a:lstStyle/>
                    <a:p>
                      <a:pPr algn="l">
                        <a:lnSpc>
                          <a:spcPts val="2939"/>
                        </a:lnSpc>
                        <a:defRPr/>
                      </a:pPr>
                      <a:r>
                        <a:rPr lang="en-US" sz="2099" spc="-46">
                          <a:solidFill>
                            <a:srgbClr val="403E3E"/>
                          </a:solidFill>
                          <a:latin typeface="Inter"/>
                          <a:ea typeface="Inter"/>
                          <a:cs typeface="Inter"/>
                          <a:sym typeface="Inter"/>
                        </a:rPr>
                        <a:t>P00</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0</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1</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1</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1</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0</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657962">
                <a:tc>
                  <a:txBody>
                    <a:bodyPr anchor="t" rtlCol="false"/>
                    <a:lstStyle/>
                    <a:p>
                      <a:pPr algn="l">
                        <a:lnSpc>
                          <a:spcPts val="2939"/>
                        </a:lnSpc>
                        <a:defRPr/>
                      </a:pPr>
                      <a:r>
                        <a:rPr lang="en-US" sz="2099" spc="-46">
                          <a:solidFill>
                            <a:srgbClr val="403E3E"/>
                          </a:solidFill>
                          <a:latin typeface="Inter"/>
                          <a:ea typeface="Inter"/>
                          <a:cs typeface="Inter"/>
                          <a:sym typeface="Inter"/>
                        </a:rPr>
                        <a:t>P04</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2</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20</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20</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20</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0</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983727">
                <a:tc>
                  <a:txBody>
                    <a:bodyPr anchor="t" rtlCol="false"/>
                    <a:lstStyle/>
                    <a:p>
                      <a:pPr algn="l">
                        <a:lnSpc>
                          <a:spcPts val="2939"/>
                        </a:lnSpc>
                        <a:defRPr/>
                      </a:pPr>
                      <a:r>
                        <a:rPr lang="en-US" sz="2099" spc="-46">
                          <a:solidFill>
                            <a:srgbClr val="403E3E"/>
                          </a:solidFill>
                          <a:latin typeface="Inter"/>
                          <a:ea typeface="Inter"/>
                          <a:cs typeface="Inter"/>
                          <a:sym typeface="Inter"/>
                        </a:rPr>
                        <a:t>P01</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3</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3</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25</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22</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19</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957867">
                <a:tc>
                  <a:txBody>
                    <a:bodyPr anchor="t" rtlCol="false"/>
                    <a:lstStyle/>
                    <a:p>
                      <a:pPr algn="l">
                        <a:lnSpc>
                          <a:spcPts val="2939"/>
                        </a:lnSpc>
                        <a:defRPr/>
                      </a:pPr>
                      <a:r>
                        <a:rPr lang="en-US" sz="2099">
                          <a:solidFill>
                            <a:srgbClr val="000000"/>
                          </a:solidFill>
                          <a:latin typeface="Arimo"/>
                          <a:ea typeface="Arimo"/>
                          <a:cs typeface="Arimo"/>
                          <a:sym typeface="Arimo"/>
                        </a:rPr>
                        <a:t>P02</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800"/>
                        </a:lnSpc>
                        <a:defRPr/>
                      </a:pPr>
                      <a:r>
                        <a:rPr lang="en-US" sz="2000">
                          <a:solidFill>
                            <a:srgbClr val="000000"/>
                          </a:solidFill>
                          <a:latin typeface="Arimo"/>
                          <a:ea typeface="Arimo"/>
                          <a:cs typeface="Arimo"/>
                          <a:sym typeface="Arimo"/>
                        </a:rPr>
                        <a:t>               5</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Arimo"/>
                          <a:ea typeface="Arimo"/>
                          <a:cs typeface="Arimo"/>
                          <a:sym typeface="Arimo"/>
                        </a:rPr>
                        <a:t>              2</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Noto Serif Display"/>
                          <a:ea typeface="Noto Serif Display"/>
                          <a:cs typeface="Noto Serif Display"/>
                          <a:sym typeface="Noto Serif Display"/>
                        </a:rPr>
                        <a:t>                27</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Noto Serif Display"/>
                          <a:ea typeface="Noto Serif Display"/>
                          <a:cs typeface="Noto Serif Display"/>
                          <a:sym typeface="Noto Serif Display"/>
                        </a:rPr>
                        <a:t>                    22</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Noto Serif Display"/>
                          <a:ea typeface="Noto Serif Display"/>
                          <a:cs typeface="Noto Serif Display"/>
                          <a:sym typeface="Noto Serif Display"/>
                        </a:rPr>
                        <a:t>           20</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957867">
                <a:tc>
                  <a:txBody>
                    <a:bodyPr anchor="t" rtlCol="false"/>
                    <a:lstStyle/>
                    <a:p>
                      <a:pPr algn="l">
                        <a:lnSpc>
                          <a:spcPts val="2939"/>
                        </a:lnSpc>
                        <a:defRPr/>
                      </a:pPr>
                      <a:r>
                        <a:rPr lang="en-US" sz="2099">
                          <a:solidFill>
                            <a:srgbClr val="000000"/>
                          </a:solidFill>
                          <a:latin typeface="Arimo"/>
                          <a:ea typeface="Arimo"/>
                          <a:cs typeface="Arimo"/>
                          <a:sym typeface="Arimo"/>
                        </a:rPr>
                        <a:t>P05</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Arimo"/>
                          <a:ea typeface="Arimo"/>
                          <a:cs typeface="Arimo"/>
                          <a:sym typeface="Arimo"/>
                        </a:rPr>
                        <a:t>               5</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Arimo"/>
                          <a:ea typeface="Arimo"/>
                          <a:cs typeface="Arimo"/>
                          <a:sym typeface="Arimo"/>
                        </a:rPr>
                        <a:t>              1</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Noto Serif Display"/>
                          <a:ea typeface="Noto Serif Display"/>
                          <a:cs typeface="Noto Serif Display"/>
                          <a:sym typeface="Noto Serif Display"/>
                        </a:rPr>
                        <a:t>              28</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Noto Serif Display"/>
                          <a:ea typeface="Noto Serif Display"/>
                          <a:cs typeface="Noto Serif Display"/>
                          <a:sym typeface="Noto Serif Display"/>
                        </a:rPr>
                        <a:t>                   23</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Noto Serif Display"/>
                          <a:ea typeface="Noto Serif Display"/>
                          <a:cs typeface="Noto Serif Display"/>
                          <a:sym typeface="Noto Serif Display"/>
                        </a:rPr>
                        <a:t>           22</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957867">
                <a:tc>
                  <a:txBody>
                    <a:bodyPr anchor="t" rtlCol="false"/>
                    <a:lstStyle/>
                    <a:p>
                      <a:pPr algn="l">
                        <a:lnSpc>
                          <a:spcPts val="2939"/>
                        </a:lnSpc>
                        <a:defRPr/>
                      </a:pPr>
                      <a:r>
                        <a:rPr lang="en-US" sz="2099">
                          <a:solidFill>
                            <a:srgbClr val="000000"/>
                          </a:solidFill>
                          <a:latin typeface="Arimo"/>
                          <a:ea typeface="Arimo"/>
                          <a:cs typeface="Arimo"/>
                          <a:sym typeface="Arimo"/>
                        </a:rPr>
                        <a:t>P03</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Arimo"/>
                          <a:ea typeface="Arimo"/>
                          <a:cs typeface="Arimo"/>
                          <a:sym typeface="Arimo"/>
                        </a:rPr>
                        <a:t>               9</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Arimo"/>
                          <a:ea typeface="Arimo"/>
                          <a:cs typeface="Arimo"/>
                          <a:sym typeface="Arimo"/>
                        </a:rPr>
                        <a:t>              1</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Noto Serif Display"/>
                          <a:ea typeface="Noto Serif Display"/>
                          <a:cs typeface="Noto Serif Display"/>
                          <a:sym typeface="Noto Serif Display"/>
                        </a:rPr>
                        <a:t>              29</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Noto Serif Display"/>
                          <a:ea typeface="Noto Serif Display"/>
                          <a:cs typeface="Noto Serif Display"/>
                          <a:sym typeface="Noto Serif Display"/>
                        </a:rPr>
                        <a:t>                   20</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Noto Serif Display"/>
                          <a:ea typeface="Noto Serif Display"/>
                          <a:cs typeface="Noto Serif Display"/>
                          <a:sym typeface="Noto Serif Display"/>
                        </a:rPr>
                        <a:t>           19</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bl>
          </a:graphicData>
        </a:graphic>
      </p:graphicFrame>
      <p:sp>
        <p:nvSpPr>
          <p:cNvPr name="Freeform 13" id="13"/>
          <p:cNvSpPr/>
          <p:nvPr/>
        </p:nvSpPr>
        <p:spPr>
          <a:xfrm flipH="false" flipV="false" rot="0">
            <a:off x="-77706" y="1549571"/>
            <a:ext cx="2476770" cy="1024764"/>
          </a:xfrm>
          <a:custGeom>
            <a:avLst/>
            <a:gdLst/>
            <a:ahLst/>
            <a:cxnLst/>
            <a:rect r="r" b="b" t="t" l="l"/>
            <a:pathLst>
              <a:path h="1024764" w="2476770">
                <a:moveTo>
                  <a:pt x="0" y="0"/>
                </a:moveTo>
                <a:lnTo>
                  <a:pt x="2476770" y="0"/>
                </a:lnTo>
                <a:lnTo>
                  <a:pt x="2476770" y="1024764"/>
                </a:lnTo>
                <a:lnTo>
                  <a:pt x="0" y="1024764"/>
                </a:lnTo>
                <a:lnTo>
                  <a:pt x="0" y="0"/>
                </a:lnTo>
                <a:close/>
              </a:path>
            </a:pathLst>
          </a:custGeom>
          <a:blipFill>
            <a:blip r:embed="rId4"/>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FEEEC"/>
        </a:solidFill>
      </p:bgPr>
    </p:bg>
    <p:spTree>
      <p:nvGrpSpPr>
        <p:cNvPr id="1" name=""/>
        <p:cNvGrpSpPr/>
        <p:nvPr/>
      </p:nvGrpSpPr>
      <p:grpSpPr>
        <a:xfrm>
          <a:off x="0" y="0"/>
          <a:ext cx="0" cy="0"/>
          <a:chOff x="0" y="0"/>
          <a:chExt cx="0" cy="0"/>
        </a:xfrm>
      </p:grpSpPr>
      <p:sp>
        <p:nvSpPr>
          <p:cNvPr name="TextBox 2" id="2"/>
          <p:cNvSpPr txBox="true"/>
          <p:nvPr/>
        </p:nvSpPr>
        <p:spPr>
          <a:xfrm rot="0">
            <a:off x="15855093" y="9692050"/>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22</a:t>
            </a:r>
          </a:p>
        </p:txBody>
      </p:sp>
      <p:sp>
        <p:nvSpPr>
          <p:cNvPr name="TextBox 3" id="3"/>
          <p:cNvSpPr txBox="true"/>
          <p:nvPr/>
        </p:nvSpPr>
        <p:spPr>
          <a:xfrm rot="0">
            <a:off x="3410471" y="1466337"/>
            <a:ext cx="13437159" cy="1268095"/>
          </a:xfrm>
          <a:prstGeom prst="rect">
            <a:avLst/>
          </a:prstGeom>
        </p:spPr>
        <p:txBody>
          <a:bodyPr anchor="t" rtlCol="false" tIns="0" lIns="0" bIns="0" rIns="0">
            <a:spAutoFit/>
          </a:bodyPr>
          <a:lstStyle/>
          <a:p>
            <a:pPr algn="l" marL="0" indent="0" lvl="0">
              <a:lnSpc>
                <a:spcPts val="4760"/>
              </a:lnSpc>
              <a:spcBef>
                <a:spcPct val="0"/>
              </a:spcBef>
            </a:pPr>
            <a:r>
              <a:rPr lang="en-US" b="true" sz="5600" spc="-420">
                <a:solidFill>
                  <a:srgbClr val="403E3E"/>
                </a:solidFill>
                <a:latin typeface="Inter Bold"/>
                <a:ea typeface="Inter Bold"/>
                <a:cs typeface="Inter Bold"/>
                <a:sym typeface="Inter Bold"/>
              </a:rPr>
              <a:t>Gantt Chart of FCFS Scheduling (Long Burst Time – Unbalanced Workload)</a:t>
            </a:r>
          </a:p>
        </p:txBody>
      </p:sp>
      <p:sp>
        <p:nvSpPr>
          <p:cNvPr name="TextBox 4" id="4"/>
          <p:cNvSpPr txBox="true"/>
          <p:nvPr/>
        </p:nvSpPr>
        <p:spPr>
          <a:xfrm rot="0">
            <a:off x="13403572" y="993352"/>
            <a:ext cx="2850172" cy="621030"/>
          </a:xfrm>
          <a:prstGeom prst="rect">
            <a:avLst/>
          </a:prstGeom>
        </p:spPr>
        <p:txBody>
          <a:bodyPr anchor="t" rtlCol="false" tIns="0" lIns="0" bIns="0" rIns="0">
            <a:spAutoFit/>
          </a:bodyPr>
          <a:lstStyle/>
          <a:p>
            <a:pPr algn="r">
              <a:lnSpc>
                <a:spcPts val="2520"/>
              </a:lnSpc>
            </a:pPr>
            <a:r>
              <a:rPr lang="en-US" sz="1800" spc="-72">
                <a:solidFill>
                  <a:srgbClr val="403E3E"/>
                </a:solidFill>
                <a:latin typeface="Inter"/>
                <a:ea typeface="Inter"/>
                <a:cs typeface="Inter"/>
                <a:sym typeface="Inter"/>
              </a:rPr>
              <a:t>NOV 2025</a:t>
            </a:r>
          </a:p>
          <a:p>
            <a:pPr algn="r" marL="0" indent="0" lvl="0">
              <a:lnSpc>
                <a:spcPts val="2520"/>
              </a:lnSpc>
              <a:spcBef>
                <a:spcPct val="0"/>
              </a:spcBef>
            </a:pPr>
          </a:p>
        </p:txBody>
      </p:sp>
      <p:sp>
        <p:nvSpPr>
          <p:cNvPr name="Freeform 5" id="5"/>
          <p:cNvSpPr/>
          <p:nvPr/>
        </p:nvSpPr>
        <p:spPr>
          <a:xfrm flipH="false" flipV="false" rot="0">
            <a:off x="2050420" y="789208"/>
            <a:ext cx="948381" cy="1520727"/>
          </a:xfrm>
          <a:custGeom>
            <a:avLst/>
            <a:gdLst/>
            <a:ahLst/>
            <a:cxnLst/>
            <a:rect r="r" b="b" t="t" l="l"/>
            <a:pathLst>
              <a:path h="1520727" w="948381">
                <a:moveTo>
                  <a:pt x="0" y="0"/>
                </a:moveTo>
                <a:lnTo>
                  <a:pt x="948380" y="0"/>
                </a:lnTo>
                <a:lnTo>
                  <a:pt x="948380" y="1520727"/>
                </a:lnTo>
                <a:lnTo>
                  <a:pt x="0" y="15207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47840" y="1549571"/>
            <a:ext cx="2476770" cy="1024764"/>
          </a:xfrm>
          <a:custGeom>
            <a:avLst/>
            <a:gdLst/>
            <a:ahLst/>
            <a:cxnLst/>
            <a:rect r="r" b="b" t="t" l="l"/>
            <a:pathLst>
              <a:path h="1024764" w="2476770">
                <a:moveTo>
                  <a:pt x="0" y="0"/>
                </a:moveTo>
                <a:lnTo>
                  <a:pt x="2476770" y="0"/>
                </a:lnTo>
                <a:lnTo>
                  <a:pt x="2476770" y="1024764"/>
                </a:lnTo>
                <a:lnTo>
                  <a:pt x="0" y="1024764"/>
                </a:lnTo>
                <a:lnTo>
                  <a:pt x="0" y="0"/>
                </a:lnTo>
                <a:close/>
              </a:path>
            </a:pathLst>
          </a:custGeom>
          <a:blipFill>
            <a:blip r:embed="rId4"/>
            <a:stretch>
              <a:fillRect l="0" t="0" r="0" b="0"/>
            </a:stretch>
          </a:blipFill>
        </p:spPr>
      </p:sp>
      <p:sp>
        <p:nvSpPr>
          <p:cNvPr name="TextBox 7" id="7"/>
          <p:cNvSpPr txBox="true"/>
          <p:nvPr/>
        </p:nvSpPr>
        <p:spPr>
          <a:xfrm rot="0">
            <a:off x="47840" y="8975413"/>
            <a:ext cx="6494200" cy="456428"/>
          </a:xfrm>
          <a:prstGeom prst="rect">
            <a:avLst/>
          </a:prstGeom>
        </p:spPr>
        <p:txBody>
          <a:bodyPr anchor="t" rtlCol="false" tIns="0" lIns="0" bIns="0" rIns="0">
            <a:spAutoFit/>
          </a:bodyPr>
          <a:lstStyle/>
          <a:p>
            <a:pPr algn="l">
              <a:lnSpc>
                <a:spcPts val="3717"/>
              </a:lnSpc>
            </a:pPr>
            <a:r>
              <a:rPr lang="en-US" sz="2655">
                <a:solidFill>
                  <a:srgbClr val="000000"/>
                </a:solidFill>
                <a:latin typeface="Inter"/>
                <a:ea typeface="Inter"/>
                <a:cs typeface="Inter"/>
                <a:sym typeface="Inter"/>
              </a:rPr>
              <a:t>From Gantt chart:</a:t>
            </a:r>
          </a:p>
        </p:txBody>
      </p:sp>
      <p:pic>
        <p:nvPicPr>
          <p:cNvPr name="Picture 8" id="8"/>
          <p:cNvPicPr>
            <a:picLocks noChangeAspect="true"/>
          </p:cNvPicPr>
          <p:nvPr/>
        </p:nvPicPr>
        <p:blipFill>
          <a:blip r:embed="rId5"/>
          <a:stretch>
            <a:fillRect/>
          </a:stretch>
        </p:blipFill>
        <p:spPr>
          <a:xfrm rot="0">
            <a:off x="1102094" y="8842022"/>
            <a:ext cx="7752606" cy="1917311"/>
          </a:xfrm>
          <a:prstGeom prst="rect">
            <a:avLst/>
          </a:prstGeom>
        </p:spPr>
      </p:pic>
      <p:pic>
        <p:nvPicPr>
          <p:cNvPr name="Picture 9" id="9"/>
          <p:cNvPicPr>
            <a:picLocks noChangeAspect="true"/>
          </p:cNvPicPr>
          <p:nvPr/>
        </p:nvPicPr>
        <p:blipFill>
          <a:blip r:embed="rId6"/>
          <a:stretch>
            <a:fillRect/>
          </a:stretch>
        </p:blipFill>
        <p:spPr>
          <a:xfrm rot="0">
            <a:off x="7820711" y="8935725"/>
            <a:ext cx="7345391" cy="1857455"/>
          </a:xfrm>
          <a:prstGeom prst="rect">
            <a:avLst/>
          </a:prstGeom>
        </p:spPr>
      </p:pic>
      <p:pic>
        <p:nvPicPr>
          <p:cNvPr name="Picture 10" id="10"/>
          <p:cNvPicPr>
            <a:picLocks noChangeAspect="true"/>
          </p:cNvPicPr>
          <p:nvPr/>
        </p:nvPicPr>
        <p:blipFill>
          <a:blip r:embed="rId7"/>
          <a:stretch>
            <a:fillRect/>
          </a:stretch>
        </p:blipFill>
        <p:spPr>
          <a:xfrm rot="0">
            <a:off x="14869584" y="9041053"/>
            <a:ext cx="2606963" cy="838674"/>
          </a:xfrm>
          <a:prstGeom prst="rect">
            <a:avLst/>
          </a:prstGeom>
        </p:spPr>
      </p:pic>
      <p:graphicFrame>
        <p:nvGraphicFramePr>
          <p:cNvPr name="Table 11" id="11"/>
          <p:cNvGraphicFramePr>
            <a:graphicFrameLocks noGrp="true"/>
          </p:cNvGraphicFramePr>
          <p:nvPr/>
        </p:nvGraphicFramePr>
        <p:xfrm>
          <a:off x="0" y="2753333"/>
          <a:ext cx="18279357" cy="6304333"/>
        </p:xfrm>
        <a:graphic>
          <a:graphicData uri="http://schemas.openxmlformats.org/drawingml/2006/table">
            <a:tbl>
              <a:tblPr/>
              <a:tblGrid>
                <a:gridCol w="606899"/>
                <a:gridCol w="564321"/>
                <a:gridCol w="589936"/>
                <a:gridCol w="589936"/>
                <a:gridCol w="589936"/>
                <a:gridCol w="589936"/>
                <a:gridCol w="589936"/>
                <a:gridCol w="589936"/>
                <a:gridCol w="589936"/>
                <a:gridCol w="589936"/>
                <a:gridCol w="589936"/>
                <a:gridCol w="589936"/>
                <a:gridCol w="589936"/>
                <a:gridCol w="589936"/>
                <a:gridCol w="589936"/>
                <a:gridCol w="589936"/>
                <a:gridCol w="589936"/>
                <a:gridCol w="589936"/>
                <a:gridCol w="589936"/>
                <a:gridCol w="589936"/>
                <a:gridCol w="589936"/>
                <a:gridCol w="589936"/>
                <a:gridCol w="589936"/>
                <a:gridCol w="589936"/>
                <a:gridCol w="589936"/>
                <a:gridCol w="589936"/>
                <a:gridCol w="589936"/>
                <a:gridCol w="589936"/>
                <a:gridCol w="589936"/>
                <a:gridCol w="589936"/>
                <a:gridCol w="589936"/>
              </a:tblGrid>
              <a:tr h="1472661">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Noto Sans"/>
                          <a:ea typeface="Noto Sans"/>
                          <a:cs typeface="Noto Sans"/>
                          <a:sym typeface="Noto Sans"/>
                        </a:rPr>
                        <a:t>25</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Noto Sans"/>
                          <a:ea typeface="Noto Sans"/>
                          <a:cs typeface="Noto Sans"/>
                          <a:sym typeface="Noto Sans"/>
                        </a:rPr>
                        <a:t>26</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Noto Sans"/>
                          <a:ea typeface="Noto Sans"/>
                          <a:cs typeface="Noto Sans"/>
                          <a:sym typeface="Noto Sans"/>
                        </a:rPr>
                        <a:t>27</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Noto Sans"/>
                          <a:ea typeface="Noto Sans"/>
                          <a:cs typeface="Noto Sans"/>
                          <a:sym typeface="Noto Sans"/>
                        </a:rPr>
                        <a:t>28</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Noto Sans"/>
                          <a:ea typeface="Noto Sans"/>
                          <a:cs typeface="Noto Sans"/>
                          <a:sym typeface="Noto Sans"/>
                        </a:rPr>
                        <a:t>29</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799"/>
                        </a:lnSpc>
                        <a:defRPr/>
                      </a:pPr>
                      <a:r>
                        <a:rPr lang="en-US" sz="1999">
                          <a:solidFill>
                            <a:srgbClr val="000000"/>
                          </a:solidFill>
                          <a:latin typeface="Inter"/>
                          <a:ea typeface="Inter"/>
                          <a:cs typeface="Inter"/>
                          <a:sym typeface="Inter"/>
                        </a:rPr>
                        <a:t>0</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Noto Sans"/>
                          <a:ea typeface="Noto Sans"/>
                          <a:cs typeface="Noto Sans"/>
                          <a:sym typeface="Noto Sans"/>
                        </a:rPr>
                        <a:t>1</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Noto Sans"/>
                          <a:ea typeface="Noto Sans"/>
                          <a:cs typeface="Noto Sans"/>
                          <a:sym typeface="Noto Sans"/>
                        </a:rPr>
                        <a:t>2</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Noto Sans"/>
                          <a:ea typeface="Noto Sans"/>
                          <a:cs typeface="Noto Sans"/>
                          <a:sym typeface="Noto Sans"/>
                        </a:rPr>
                        <a:t>3</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Noto Sans"/>
                          <a:ea typeface="Noto Sans"/>
                          <a:cs typeface="Noto Sans"/>
                          <a:sym typeface="Noto Sans"/>
                        </a:rPr>
                        <a:t>4</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Noto Sans"/>
                          <a:ea typeface="Noto Sans"/>
                          <a:cs typeface="Noto Sans"/>
                          <a:sym typeface="Noto Sans"/>
                        </a:rPr>
                        <a:t>5</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Noto Sans"/>
                          <a:ea typeface="Noto Sans"/>
                          <a:cs typeface="Noto Sans"/>
                          <a:sym typeface="Noto Sans"/>
                        </a:rPr>
                        <a:t>6</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Noto Sans"/>
                          <a:ea typeface="Noto Sans"/>
                          <a:cs typeface="Noto Sans"/>
                          <a:sym typeface="Noto Sans"/>
                        </a:rPr>
                        <a:t>7</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Noto Sans"/>
                          <a:ea typeface="Noto Sans"/>
                          <a:cs typeface="Noto Sans"/>
                          <a:sym typeface="Noto Sans"/>
                        </a:rPr>
                        <a:t>8</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Noto Sans"/>
                          <a:ea typeface="Noto Sans"/>
                          <a:cs typeface="Noto Sans"/>
                          <a:sym typeface="Noto Sans"/>
                        </a:rPr>
                        <a:t>9</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Noto Sans"/>
                          <a:ea typeface="Noto Sans"/>
                          <a:cs typeface="Noto Sans"/>
                          <a:sym typeface="Noto Sans"/>
                        </a:rPr>
                        <a:t>10</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Noto Sans"/>
                          <a:ea typeface="Noto Sans"/>
                          <a:cs typeface="Noto Sans"/>
                          <a:sym typeface="Noto Sans"/>
                        </a:rPr>
                        <a:t>11</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Noto Sans"/>
                          <a:ea typeface="Noto Sans"/>
                          <a:cs typeface="Noto Sans"/>
                          <a:sym typeface="Noto Sans"/>
                        </a:rPr>
                        <a:t>12</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Noto Sans"/>
                          <a:ea typeface="Noto Sans"/>
                          <a:cs typeface="Noto Sans"/>
                          <a:sym typeface="Noto Sans"/>
                        </a:rPr>
                        <a:t>13</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Noto Sans"/>
                          <a:ea typeface="Noto Sans"/>
                          <a:cs typeface="Noto Sans"/>
                          <a:sym typeface="Noto Sans"/>
                        </a:rPr>
                        <a:t>14</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Noto Sans"/>
                          <a:ea typeface="Noto Sans"/>
                          <a:cs typeface="Noto Sans"/>
                          <a:sym typeface="Noto Sans"/>
                        </a:rPr>
                        <a:t>15</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Noto Sans"/>
                          <a:ea typeface="Noto Sans"/>
                          <a:cs typeface="Noto Sans"/>
                          <a:sym typeface="Noto Sans"/>
                        </a:rPr>
                        <a:t>16</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Noto Sans"/>
                          <a:ea typeface="Noto Sans"/>
                          <a:cs typeface="Noto Sans"/>
                          <a:sym typeface="Noto Sans"/>
                        </a:rPr>
                        <a:t>17</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Noto Sans"/>
                          <a:ea typeface="Noto Sans"/>
                          <a:cs typeface="Noto Sans"/>
                          <a:sym typeface="Noto Sans"/>
                        </a:rPr>
                        <a:t>18</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Noto Sans"/>
                          <a:ea typeface="Noto Sans"/>
                          <a:cs typeface="Noto Sans"/>
                          <a:sym typeface="Noto Sans"/>
                        </a:rPr>
                        <a:t>19</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Noto Sans"/>
                          <a:ea typeface="Noto Sans"/>
                          <a:cs typeface="Noto Sans"/>
                          <a:sym typeface="Noto Sans"/>
                        </a:rPr>
                        <a:t>20</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Noto Sans"/>
                          <a:ea typeface="Noto Sans"/>
                          <a:cs typeface="Noto Sans"/>
                          <a:sym typeface="Noto Sans"/>
                        </a:rPr>
                        <a:t>21</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Noto Sans"/>
                          <a:ea typeface="Noto Sans"/>
                          <a:cs typeface="Noto Sans"/>
                          <a:sym typeface="Noto Sans"/>
                        </a:rPr>
                        <a:t>22</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Noto Sans"/>
                          <a:ea typeface="Noto Sans"/>
                          <a:cs typeface="Noto Sans"/>
                          <a:sym typeface="Noto Sans"/>
                        </a:rPr>
                        <a:t>23</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Noto Sans"/>
                          <a:ea typeface="Noto Sans"/>
                          <a:cs typeface="Noto Sans"/>
                          <a:sym typeface="Noto Sans"/>
                        </a:rPr>
                        <a:t>24</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06871">
                <a:tc>
                  <a:txBody>
                    <a:bodyPr anchor="t" rtlCol="false"/>
                    <a:lstStyle/>
                    <a:p>
                      <a:pPr algn="l">
                        <a:lnSpc>
                          <a:spcPts val="2520"/>
                        </a:lnSpc>
                        <a:defRPr/>
                      </a:pPr>
                      <a:r>
                        <a:rPr lang="en-US" sz="1800">
                          <a:solidFill>
                            <a:srgbClr val="000000"/>
                          </a:solidFill>
                          <a:latin typeface="Inter"/>
                          <a:ea typeface="Inter"/>
                          <a:cs typeface="Inter"/>
                          <a:sym typeface="Inter"/>
                        </a:rPr>
                        <a:t>P00</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520"/>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806871">
                <a:tc>
                  <a:txBody>
                    <a:bodyPr anchor="t" rtlCol="false"/>
                    <a:lstStyle/>
                    <a:p>
                      <a:pPr algn="l">
                        <a:lnSpc>
                          <a:spcPts val="2520"/>
                        </a:lnSpc>
                        <a:defRPr/>
                      </a:pPr>
                      <a:r>
                        <a:rPr lang="en-US" sz="1800">
                          <a:solidFill>
                            <a:srgbClr val="000000"/>
                          </a:solidFill>
                          <a:latin typeface="Inter"/>
                          <a:ea typeface="Inter"/>
                          <a:cs typeface="Inter"/>
                          <a:sym typeface="Inter"/>
                        </a:rPr>
                        <a:t>P04</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520"/>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806871">
                <a:tc>
                  <a:txBody>
                    <a:bodyPr anchor="t" rtlCol="false"/>
                    <a:lstStyle/>
                    <a:p>
                      <a:pPr algn="l">
                        <a:lnSpc>
                          <a:spcPts val="2520"/>
                        </a:lnSpc>
                        <a:defRPr/>
                      </a:pPr>
                      <a:r>
                        <a:rPr lang="en-US" sz="1800">
                          <a:solidFill>
                            <a:srgbClr val="000000"/>
                          </a:solidFill>
                          <a:latin typeface="Inter"/>
                          <a:ea typeface="Inter"/>
                          <a:cs typeface="Inter"/>
                          <a:sym typeface="Inter"/>
                        </a:rPr>
                        <a:t>P01</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520"/>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806871">
                <a:tc>
                  <a:txBody>
                    <a:bodyPr anchor="t" rtlCol="false"/>
                    <a:lstStyle/>
                    <a:p>
                      <a:pPr algn="l">
                        <a:lnSpc>
                          <a:spcPts val="2520"/>
                        </a:lnSpc>
                        <a:defRPr/>
                      </a:pPr>
                      <a:r>
                        <a:rPr lang="en-US" sz="1800">
                          <a:solidFill>
                            <a:srgbClr val="000000"/>
                          </a:solidFill>
                          <a:latin typeface="Inter"/>
                          <a:ea typeface="Inter"/>
                          <a:cs typeface="Inter"/>
                          <a:sym typeface="Inter"/>
                        </a:rPr>
                        <a:t>P02</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520"/>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806871">
                <a:tc>
                  <a:txBody>
                    <a:bodyPr anchor="t" rtlCol="false"/>
                    <a:lstStyle/>
                    <a:p>
                      <a:pPr algn="l">
                        <a:lnSpc>
                          <a:spcPts val="2520"/>
                        </a:lnSpc>
                        <a:defRPr/>
                      </a:pPr>
                      <a:r>
                        <a:rPr lang="en-US" sz="1800">
                          <a:solidFill>
                            <a:srgbClr val="000000"/>
                          </a:solidFill>
                          <a:latin typeface="Inter"/>
                          <a:ea typeface="Inter"/>
                          <a:cs typeface="Inter"/>
                          <a:sym typeface="Inter"/>
                        </a:rPr>
                        <a:t>P05</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2520"/>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97317">
                <a:tc>
                  <a:txBody>
                    <a:bodyPr anchor="t" rtlCol="false"/>
                    <a:lstStyle/>
                    <a:p>
                      <a:pPr algn="l">
                        <a:lnSpc>
                          <a:spcPts val="2520"/>
                        </a:lnSpc>
                        <a:defRPr/>
                      </a:pPr>
                      <a:r>
                        <a:rPr lang="en-US" sz="1800">
                          <a:solidFill>
                            <a:srgbClr val="000000"/>
                          </a:solidFill>
                          <a:latin typeface="Inter"/>
                          <a:ea typeface="Inter"/>
                          <a:cs typeface="Inter"/>
                          <a:sym typeface="Inter"/>
                        </a:rPr>
                        <a:t>P03</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520"/>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1679"/>
                        </a:lnSpc>
                        <a:defRPr/>
                      </a:pP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grpSp>
        <p:nvGrpSpPr>
          <p:cNvPr name="Group 12" id="12"/>
          <p:cNvGrpSpPr/>
          <p:nvPr/>
        </p:nvGrpSpPr>
        <p:grpSpPr>
          <a:xfrm rot="0">
            <a:off x="867201" y="4248413"/>
            <a:ext cx="660762" cy="769796"/>
            <a:chOff x="0" y="0"/>
            <a:chExt cx="174028" cy="202745"/>
          </a:xfrm>
        </p:grpSpPr>
        <p:sp>
          <p:nvSpPr>
            <p:cNvPr name="Freeform 13" id="13"/>
            <p:cNvSpPr/>
            <p:nvPr/>
          </p:nvSpPr>
          <p:spPr>
            <a:xfrm flipH="false" flipV="false" rot="0">
              <a:off x="0" y="0"/>
              <a:ext cx="174028" cy="202745"/>
            </a:xfrm>
            <a:custGeom>
              <a:avLst/>
              <a:gdLst/>
              <a:ahLst/>
              <a:cxnLst/>
              <a:rect r="r" b="b" t="t" l="l"/>
              <a:pathLst>
                <a:path h="202745" w="174028">
                  <a:moveTo>
                    <a:pt x="87014" y="0"/>
                  </a:moveTo>
                  <a:lnTo>
                    <a:pt x="87014" y="0"/>
                  </a:lnTo>
                  <a:cubicBezTo>
                    <a:pt x="110092" y="0"/>
                    <a:pt x="132224" y="9168"/>
                    <a:pt x="148542" y="25486"/>
                  </a:cubicBezTo>
                  <a:cubicBezTo>
                    <a:pt x="164860" y="41804"/>
                    <a:pt x="174028" y="63936"/>
                    <a:pt x="174028" y="87014"/>
                  </a:cubicBezTo>
                  <a:lnTo>
                    <a:pt x="174028" y="115731"/>
                  </a:lnTo>
                  <a:cubicBezTo>
                    <a:pt x="174028" y="163787"/>
                    <a:pt x="135070" y="202745"/>
                    <a:pt x="87014" y="202745"/>
                  </a:cubicBezTo>
                  <a:lnTo>
                    <a:pt x="87014" y="202745"/>
                  </a:lnTo>
                  <a:cubicBezTo>
                    <a:pt x="63936" y="202745"/>
                    <a:pt x="41804" y="193577"/>
                    <a:pt x="25486" y="177259"/>
                  </a:cubicBezTo>
                  <a:cubicBezTo>
                    <a:pt x="9168" y="160940"/>
                    <a:pt x="0" y="138808"/>
                    <a:pt x="0" y="115731"/>
                  </a:cubicBezTo>
                  <a:lnTo>
                    <a:pt x="0" y="87014"/>
                  </a:lnTo>
                  <a:cubicBezTo>
                    <a:pt x="0" y="38957"/>
                    <a:pt x="38957" y="0"/>
                    <a:pt x="87014" y="0"/>
                  </a:cubicBezTo>
                  <a:close/>
                </a:path>
              </a:pathLst>
            </a:custGeom>
            <a:solidFill>
              <a:srgbClr val="BFDBF7"/>
            </a:solidFill>
          </p:spPr>
        </p:sp>
        <p:sp>
          <p:nvSpPr>
            <p:cNvPr name="TextBox 14" id="14"/>
            <p:cNvSpPr txBox="true"/>
            <p:nvPr/>
          </p:nvSpPr>
          <p:spPr>
            <a:xfrm>
              <a:off x="0" y="-38100"/>
              <a:ext cx="174028" cy="240845"/>
            </a:xfrm>
            <a:prstGeom prst="rect">
              <a:avLst/>
            </a:prstGeom>
          </p:spPr>
          <p:txBody>
            <a:bodyPr anchor="ctr" rtlCol="false" tIns="50800" lIns="50800" bIns="50800" rIns="50800"/>
            <a:lstStyle/>
            <a:p>
              <a:pPr algn="ctr">
                <a:lnSpc>
                  <a:spcPts val="2659"/>
                </a:lnSpc>
                <a:spcBef>
                  <a:spcPct val="0"/>
                </a:spcBef>
              </a:pPr>
              <a:r>
                <a:rPr lang="en-US" sz="1899">
                  <a:solidFill>
                    <a:srgbClr val="000000"/>
                  </a:solidFill>
                  <a:latin typeface="Noto Sans"/>
                  <a:ea typeface="Noto Sans"/>
                  <a:cs typeface="Noto Sans"/>
                  <a:sym typeface="Noto Sans"/>
                </a:rPr>
                <a:t>BT0</a:t>
              </a:r>
            </a:p>
          </p:txBody>
        </p:sp>
      </p:grpSp>
      <p:grpSp>
        <p:nvGrpSpPr>
          <p:cNvPr name="Group 15" id="15"/>
          <p:cNvGrpSpPr/>
          <p:nvPr/>
        </p:nvGrpSpPr>
        <p:grpSpPr>
          <a:xfrm rot="0">
            <a:off x="2078491" y="5018208"/>
            <a:ext cx="11770652" cy="818304"/>
            <a:chOff x="0" y="0"/>
            <a:chExt cx="3100089" cy="215520"/>
          </a:xfrm>
        </p:grpSpPr>
        <p:sp>
          <p:nvSpPr>
            <p:cNvPr name="Freeform 16" id="16"/>
            <p:cNvSpPr/>
            <p:nvPr/>
          </p:nvSpPr>
          <p:spPr>
            <a:xfrm flipH="false" flipV="false" rot="0">
              <a:off x="0" y="0"/>
              <a:ext cx="3100089" cy="215520"/>
            </a:xfrm>
            <a:custGeom>
              <a:avLst/>
              <a:gdLst/>
              <a:ahLst/>
              <a:cxnLst/>
              <a:rect r="r" b="b" t="t" l="l"/>
              <a:pathLst>
                <a:path h="215520" w="3100089">
                  <a:moveTo>
                    <a:pt x="33544" y="0"/>
                  </a:moveTo>
                  <a:lnTo>
                    <a:pt x="3066545" y="0"/>
                  </a:lnTo>
                  <a:cubicBezTo>
                    <a:pt x="3075442" y="0"/>
                    <a:pt x="3083974" y="3534"/>
                    <a:pt x="3090264" y="9825"/>
                  </a:cubicBezTo>
                  <a:cubicBezTo>
                    <a:pt x="3096555" y="16116"/>
                    <a:pt x="3100089" y="24648"/>
                    <a:pt x="3100089" y="33544"/>
                  </a:cubicBezTo>
                  <a:lnTo>
                    <a:pt x="3100089" y="181976"/>
                  </a:lnTo>
                  <a:cubicBezTo>
                    <a:pt x="3100089" y="190873"/>
                    <a:pt x="3096555" y="199405"/>
                    <a:pt x="3090264" y="205695"/>
                  </a:cubicBezTo>
                  <a:cubicBezTo>
                    <a:pt x="3083974" y="211986"/>
                    <a:pt x="3075442" y="215520"/>
                    <a:pt x="3066545" y="215520"/>
                  </a:cubicBezTo>
                  <a:lnTo>
                    <a:pt x="33544" y="215520"/>
                  </a:lnTo>
                  <a:cubicBezTo>
                    <a:pt x="24648" y="215520"/>
                    <a:pt x="16116" y="211986"/>
                    <a:pt x="9825" y="205695"/>
                  </a:cubicBezTo>
                  <a:cubicBezTo>
                    <a:pt x="3534" y="199405"/>
                    <a:pt x="0" y="190873"/>
                    <a:pt x="0" y="181976"/>
                  </a:cubicBezTo>
                  <a:lnTo>
                    <a:pt x="0" y="33544"/>
                  </a:lnTo>
                  <a:cubicBezTo>
                    <a:pt x="0" y="24648"/>
                    <a:pt x="3534" y="16116"/>
                    <a:pt x="9825" y="9825"/>
                  </a:cubicBezTo>
                  <a:cubicBezTo>
                    <a:pt x="16116" y="3534"/>
                    <a:pt x="24648" y="0"/>
                    <a:pt x="33544" y="0"/>
                  </a:cubicBezTo>
                  <a:close/>
                </a:path>
              </a:pathLst>
            </a:custGeom>
            <a:solidFill>
              <a:srgbClr val="BFDBF7"/>
            </a:solidFill>
          </p:spPr>
        </p:sp>
        <p:sp>
          <p:nvSpPr>
            <p:cNvPr name="TextBox 17" id="17"/>
            <p:cNvSpPr txBox="true"/>
            <p:nvPr/>
          </p:nvSpPr>
          <p:spPr>
            <a:xfrm>
              <a:off x="0" y="-38100"/>
              <a:ext cx="3100089" cy="253620"/>
            </a:xfrm>
            <a:prstGeom prst="rect">
              <a:avLst/>
            </a:prstGeom>
          </p:spPr>
          <p:txBody>
            <a:bodyPr anchor="ctr" rtlCol="false" tIns="50800" lIns="50800" bIns="50800" rIns="50800"/>
            <a:lstStyle/>
            <a:p>
              <a:pPr algn="ctr">
                <a:lnSpc>
                  <a:spcPts val="2659"/>
                </a:lnSpc>
                <a:spcBef>
                  <a:spcPct val="0"/>
                </a:spcBef>
              </a:pPr>
              <a:r>
                <a:rPr lang="en-US" sz="1899">
                  <a:solidFill>
                    <a:srgbClr val="000000"/>
                  </a:solidFill>
                  <a:latin typeface="Noto Sans"/>
                  <a:ea typeface="Noto Sans"/>
                  <a:cs typeface="Noto Sans"/>
                  <a:sym typeface="Noto Sans"/>
                </a:rPr>
                <a:t>BT4= 20ms</a:t>
              </a:r>
            </a:p>
          </p:txBody>
        </p:sp>
      </p:grpSp>
      <p:grpSp>
        <p:nvGrpSpPr>
          <p:cNvPr name="Group 18" id="18"/>
          <p:cNvGrpSpPr/>
          <p:nvPr/>
        </p:nvGrpSpPr>
        <p:grpSpPr>
          <a:xfrm rot="0">
            <a:off x="13788083" y="5836512"/>
            <a:ext cx="1888241" cy="801496"/>
            <a:chOff x="0" y="0"/>
            <a:chExt cx="497315" cy="211094"/>
          </a:xfrm>
        </p:grpSpPr>
        <p:sp>
          <p:nvSpPr>
            <p:cNvPr name="Freeform 19" id="19"/>
            <p:cNvSpPr/>
            <p:nvPr/>
          </p:nvSpPr>
          <p:spPr>
            <a:xfrm flipH="false" flipV="false" rot="0">
              <a:off x="0" y="0"/>
              <a:ext cx="497315" cy="211094"/>
            </a:xfrm>
            <a:custGeom>
              <a:avLst/>
              <a:gdLst/>
              <a:ahLst/>
              <a:cxnLst/>
              <a:rect r="r" b="b" t="t" l="l"/>
              <a:pathLst>
                <a:path h="211094" w="497315">
                  <a:moveTo>
                    <a:pt x="105547" y="0"/>
                  </a:moveTo>
                  <a:lnTo>
                    <a:pt x="391768" y="0"/>
                  </a:lnTo>
                  <a:cubicBezTo>
                    <a:pt x="450060" y="0"/>
                    <a:pt x="497315" y="47255"/>
                    <a:pt x="497315" y="105547"/>
                  </a:cubicBezTo>
                  <a:lnTo>
                    <a:pt x="497315" y="105547"/>
                  </a:lnTo>
                  <a:cubicBezTo>
                    <a:pt x="497315" y="133540"/>
                    <a:pt x="486195" y="160386"/>
                    <a:pt x="466401" y="180180"/>
                  </a:cubicBezTo>
                  <a:cubicBezTo>
                    <a:pt x="446607" y="199974"/>
                    <a:pt x="419761" y="211094"/>
                    <a:pt x="391768" y="211094"/>
                  </a:cubicBezTo>
                  <a:lnTo>
                    <a:pt x="105547" y="211094"/>
                  </a:lnTo>
                  <a:cubicBezTo>
                    <a:pt x="47255" y="211094"/>
                    <a:pt x="0" y="163839"/>
                    <a:pt x="0" y="105547"/>
                  </a:cubicBezTo>
                  <a:lnTo>
                    <a:pt x="0" y="105547"/>
                  </a:lnTo>
                  <a:cubicBezTo>
                    <a:pt x="0" y="47255"/>
                    <a:pt x="47255" y="0"/>
                    <a:pt x="105547" y="0"/>
                  </a:cubicBezTo>
                  <a:close/>
                </a:path>
              </a:pathLst>
            </a:custGeom>
            <a:solidFill>
              <a:srgbClr val="BFDBF7"/>
            </a:solidFill>
          </p:spPr>
        </p:sp>
        <p:sp>
          <p:nvSpPr>
            <p:cNvPr name="TextBox 20" id="20"/>
            <p:cNvSpPr txBox="true"/>
            <p:nvPr/>
          </p:nvSpPr>
          <p:spPr>
            <a:xfrm>
              <a:off x="0" y="-38100"/>
              <a:ext cx="497315" cy="249194"/>
            </a:xfrm>
            <a:prstGeom prst="rect">
              <a:avLst/>
            </a:prstGeom>
          </p:spPr>
          <p:txBody>
            <a:bodyPr anchor="ctr" rtlCol="false" tIns="50800" lIns="50800" bIns="50800" rIns="50800"/>
            <a:lstStyle/>
            <a:p>
              <a:pPr algn="ctr">
                <a:lnSpc>
                  <a:spcPts val="2659"/>
                </a:lnSpc>
                <a:spcBef>
                  <a:spcPct val="0"/>
                </a:spcBef>
              </a:pPr>
              <a:r>
                <a:rPr lang="en-US" sz="1899">
                  <a:solidFill>
                    <a:srgbClr val="000000"/>
                  </a:solidFill>
                  <a:latin typeface="Noto Sans"/>
                  <a:ea typeface="Noto Sans"/>
                  <a:cs typeface="Noto Sans"/>
                  <a:sym typeface="Noto Sans"/>
                </a:rPr>
                <a:t>BT1 = 3ms</a:t>
              </a:r>
            </a:p>
          </p:txBody>
        </p:sp>
      </p:grpSp>
      <p:grpSp>
        <p:nvGrpSpPr>
          <p:cNvPr name="Group 21" id="21"/>
          <p:cNvGrpSpPr/>
          <p:nvPr/>
        </p:nvGrpSpPr>
        <p:grpSpPr>
          <a:xfrm rot="0">
            <a:off x="15676325" y="6638008"/>
            <a:ext cx="1149017" cy="798371"/>
            <a:chOff x="0" y="0"/>
            <a:chExt cx="302622" cy="210270"/>
          </a:xfrm>
        </p:grpSpPr>
        <p:sp>
          <p:nvSpPr>
            <p:cNvPr name="Freeform 22" id="22"/>
            <p:cNvSpPr/>
            <p:nvPr/>
          </p:nvSpPr>
          <p:spPr>
            <a:xfrm flipH="false" flipV="false" rot="0">
              <a:off x="0" y="0"/>
              <a:ext cx="302622" cy="210270"/>
            </a:xfrm>
            <a:custGeom>
              <a:avLst/>
              <a:gdLst/>
              <a:ahLst/>
              <a:cxnLst/>
              <a:rect r="r" b="b" t="t" l="l"/>
              <a:pathLst>
                <a:path h="210270" w="302622">
                  <a:moveTo>
                    <a:pt x="105135" y="0"/>
                  </a:moveTo>
                  <a:lnTo>
                    <a:pt x="197486" y="0"/>
                  </a:lnTo>
                  <a:cubicBezTo>
                    <a:pt x="255551" y="0"/>
                    <a:pt x="302622" y="47071"/>
                    <a:pt x="302622" y="105135"/>
                  </a:cubicBezTo>
                  <a:lnTo>
                    <a:pt x="302622" y="105135"/>
                  </a:lnTo>
                  <a:cubicBezTo>
                    <a:pt x="302622" y="133019"/>
                    <a:pt x="291545" y="159760"/>
                    <a:pt x="271828" y="179477"/>
                  </a:cubicBezTo>
                  <a:cubicBezTo>
                    <a:pt x="252112" y="199194"/>
                    <a:pt x="225370" y="210270"/>
                    <a:pt x="197486" y="210270"/>
                  </a:cubicBezTo>
                  <a:lnTo>
                    <a:pt x="105135" y="210270"/>
                  </a:lnTo>
                  <a:cubicBezTo>
                    <a:pt x="77252" y="210270"/>
                    <a:pt x="50510" y="199194"/>
                    <a:pt x="30793" y="179477"/>
                  </a:cubicBezTo>
                  <a:cubicBezTo>
                    <a:pt x="11077" y="159760"/>
                    <a:pt x="0" y="133019"/>
                    <a:pt x="0" y="105135"/>
                  </a:cubicBezTo>
                  <a:lnTo>
                    <a:pt x="0" y="105135"/>
                  </a:lnTo>
                  <a:cubicBezTo>
                    <a:pt x="0" y="77252"/>
                    <a:pt x="11077" y="50510"/>
                    <a:pt x="30793" y="30793"/>
                  </a:cubicBezTo>
                  <a:cubicBezTo>
                    <a:pt x="50510" y="11077"/>
                    <a:pt x="77252" y="0"/>
                    <a:pt x="105135" y="0"/>
                  </a:cubicBezTo>
                  <a:close/>
                </a:path>
              </a:pathLst>
            </a:custGeom>
            <a:solidFill>
              <a:srgbClr val="BFDBF7"/>
            </a:solidFill>
          </p:spPr>
        </p:sp>
        <p:sp>
          <p:nvSpPr>
            <p:cNvPr name="TextBox 23" id="23"/>
            <p:cNvSpPr txBox="true"/>
            <p:nvPr/>
          </p:nvSpPr>
          <p:spPr>
            <a:xfrm>
              <a:off x="0" y="-38100"/>
              <a:ext cx="302622" cy="248370"/>
            </a:xfrm>
            <a:prstGeom prst="rect">
              <a:avLst/>
            </a:prstGeom>
          </p:spPr>
          <p:txBody>
            <a:bodyPr anchor="ctr" rtlCol="false" tIns="50800" lIns="50800" bIns="50800" rIns="50800"/>
            <a:lstStyle/>
            <a:p>
              <a:pPr algn="ctr">
                <a:lnSpc>
                  <a:spcPts val="2659"/>
                </a:lnSpc>
                <a:spcBef>
                  <a:spcPct val="0"/>
                </a:spcBef>
              </a:pPr>
              <a:r>
                <a:rPr lang="en-US" sz="1899">
                  <a:solidFill>
                    <a:srgbClr val="000000"/>
                  </a:solidFill>
                  <a:latin typeface="Noto Sans"/>
                  <a:ea typeface="Noto Sans"/>
                  <a:cs typeface="Noto Sans"/>
                  <a:sym typeface="Noto Sans"/>
                </a:rPr>
                <a:t>BT2</a:t>
              </a:r>
            </a:p>
          </p:txBody>
        </p:sp>
      </p:grpSp>
      <p:grpSp>
        <p:nvGrpSpPr>
          <p:cNvPr name="Group 24" id="24"/>
          <p:cNvGrpSpPr/>
          <p:nvPr/>
        </p:nvGrpSpPr>
        <p:grpSpPr>
          <a:xfrm rot="0">
            <a:off x="16825341" y="7436379"/>
            <a:ext cx="605402" cy="826389"/>
            <a:chOff x="0" y="0"/>
            <a:chExt cx="159447" cy="217650"/>
          </a:xfrm>
        </p:grpSpPr>
        <p:sp>
          <p:nvSpPr>
            <p:cNvPr name="Freeform 25" id="25"/>
            <p:cNvSpPr/>
            <p:nvPr/>
          </p:nvSpPr>
          <p:spPr>
            <a:xfrm flipH="false" flipV="false" rot="0">
              <a:off x="0" y="0"/>
              <a:ext cx="159447" cy="217650"/>
            </a:xfrm>
            <a:custGeom>
              <a:avLst/>
              <a:gdLst/>
              <a:ahLst/>
              <a:cxnLst/>
              <a:rect r="r" b="b" t="t" l="l"/>
              <a:pathLst>
                <a:path h="217650" w="159447">
                  <a:moveTo>
                    <a:pt x="79724" y="0"/>
                  </a:moveTo>
                  <a:lnTo>
                    <a:pt x="79724" y="0"/>
                  </a:lnTo>
                  <a:cubicBezTo>
                    <a:pt x="123754" y="0"/>
                    <a:pt x="159447" y="35694"/>
                    <a:pt x="159447" y="79724"/>
                  </a:cubicBezTo>
                  <a:lnTo>
                    <a:pt x="159447" y="137926"/>
                  </a:lnTo>
                  <a:cubicBezTo>
                    <a:pt x="159447" y="159070"/>
                    <a:pt x="151048" y="179348"/>
                    <a:pt x="136097" y="194299"/>
                  </a:cubicBezTo>
                  <a:cubicBezTo>
                    <a:pt x="121146" y="209250"/>
                    <a:pt x="100868" y="217650"/>
                    <a:pt x="79724" y="217650"/>
                  </a:cubicBezTo>
                  <a:lnTo>
                    <a:pt x="79724" y="217650"/>
                  </a:lnTo>
                  <a:cubicBezTo>
                    <a:pt x="58580" y="217650"/>
                    <a:pt x="38302" y="209250"/>
                    <a:pt x="23351" y="194299"/>
                  </a:cubicBezTo>
                  <a:cubicBezTo>
                    <a:pt x="8399" y="179348"/>
                    <a:pt x="0" y="159070"/>
                    <a:pt x="0" y="137926"/>
                  </a:cubicBezTo>
                  <a:lnTo>
                    <a:pt x="0" y="79724"/>
                  </a:lnTo>
                  <a:cubicBezTo>
                    <a:pt x="0" y="58580"/>
                    <a:pt x="8399" y="38302"/>
                    <a:pt x="23351" y="23351"/>
                  </a:cubicBezTo>
                  <a:cubicBezTo>
                    <a:pt x="38302" y="8399"/>
                    <a:pt x="58580" y="0"/>
                    <a:pt x="79724" y="0"/>
                  </a:cubicBezTo>
                  <a:close/>
                </a:path>
              </a:pathLst>
            </a:custGeom>
            <a:solidFill>
              <a:srgbClr val="BFDBF7"/>
            </a:solidFill>
          </p:spPr>
        </p:sp>
        <p:sp>
          <p:nvSpPr>
            <p:cNvPr name="TextBox 26" id="26"/>
            <p:cNvSpPr txBox="true"/>
            <p:nvPr/>
          </p:nvSpPr>
          <p:spPr>
            <a:xfrm>
              <a:off x="0" y="-38100"/>
              <a:ext cx="159447" cy="255750"/>
            </a:xfrm>
            <a:prstGeom prst="rect">
              <a:avLst/>
            </a:prstGeom>
          </p:spPr>
          <p:txBody>
            <a:bodyPr anchor="ctr" rtlCol="false" tIns="50800" lIns="50800" bIns="50800" rIns="50800"/>
            <a:lstStyle/>
            <a:p>
              <a:pPr algn="ctr">
                <a:lnSpc>
                  <a:spcPts val="2659"/>
                </a:lnSpc>
                <a:spcBef>
                  <a:spcPct val="0"/>
                </a:spcBef>
              </a:pPr>
              <a:r>
                <a:rPr lang="en-US" sz="1899">
                  <a:solidFill>
                    <a:srgbClr val="000000"/>
                  </a:solidFill>
                  <a:latin typeface="Noto Sans"/>
                  <a:ea typeface="Noto Sans"/>
                  <a:cs typeface="Noto Sans"/>
                  <a:sym typeface="Noto Sans"/>
                </a:rPr>
                <a:t>BT5</a:t>
              </a:r>
            </a:p>
          </p:txBody>
        </p:sp>
      </p:grpSp>
      <p:grpSp>
        <p:nvGrpSpPr>
          <p:cNvPr name="Group 27" id="27"/>
          <p:cNvGrpSpPr/>
          <p:nvPr/>
        </p:nvGrpSpPr>
        <p:grpSpPr>
          <a:xfrm rot="0">
            <a:off x="17411007" y="8262767"/>
            <a:ext cx="564979" cy="769796"/>
            <a:chOff x="0" y="0"/>
            <a:chExt cx="148801" cy="202745"/>
          </a:xfrm>
        </p:grpSpPr>
        <p:sp>
          <p:nvSpPr>
            <p:cNvPr name="Freeform 28" id="28"/>
            <p:cNvSpPr/>
            <p:nvPr/>
          </p:nvSpPr>
          <p:spPr>
            <a:xfrm flipH="false" flipV="false" rot="0">
              <a:off x="0" y="0"/>
              <a:ext cx="148801" cy="202745"/>
            </a:xfrm>
            <a:custGeom>
              <a:avLst/>
              <a:gdLst/>
              <a:ahLst/>
              <a:cxnLst/>
              <a:rect r="r" b="b" t="t" l="l"/>
              <a:pathLst>
                <a:path h="202745" w="148801">
                  <a:moveTo>
                    <a:pt x="74400" y="0"/>
                  </a:moveTo>
                  <a:lnTo>
                    <a:pt x="74400" y="0"/>
                  </a:lnTo>
                  <a:cubicBezTo>
                    <a:pt x="94133" y="0"/>
                    <a:pt x="113057" y="7839"/>
                    <a:pt x="127010" y="21791"/>
                  </a:cubicBezTo>
                  <a:cubicBezTo>
                    <a:pt x="140962" y="35744"/>
                    <a:pt x="148801" y="54668"/>
                    <a:pt x="148801" y="74400"/>
                  </a:cubicBezTo>
                  <a:lnTo>
                    <a:pt x="148801" y="128344"/>
                  </a:lnTo>
                  <a:cubicBezTo>
                    <a:pt x="148801" y="148076"/>
                    <a:pt x="140962" y="167000"/>
                    <a:pt x="127010" y="180953"/>
                  </a:cubicBezTo>
                  <a:cubicBezTo>
                    <a:pt x="113057" y="194906"/>
                    <a:pt x="94133" y="202745"/>
                    <a:pt x="74400" y="202745"/>
                  </a:cubicBezTo>
                  <a:lnTo>
                    <a:pt x="74400" y="202745"/>
                  </a:lnTo>
                  <a:cubicBezTo>
                    <a:pt x="54668" y="202745"/>
                    <a:pt x="35744" y="194906"/>
                    <a:pt x="21791" y="180953"/>
                  </a:cubicBezTo>
                  <a:cubicBezTo>
                    <a:pt x="7839" y="167000"/>
                    <a:pt x="0" y="148076"/>
                    <a:pt x="0" y="128344"/>
                  </a:cubicBezTo>
                  <a:lnTo>
                    <a:pt x="0" y="74400"/>
                  </a:lnTo>
                  <a:cubicBezTo>
                    <a:pt x="0" y="54668"/>
                    <a:pt x="7839" y="35744"/>
                    <a:pt x="21791" y="21791"/>
                  </a:cubicBezTo>
                  <a:cubicBezTo>
                    <a:pt x="35744" y="7839"/>
                    <a:pt x="54668" y="0"/>
                    <a:pt x="74400" y="0"/>
                  </a:cubicBezTo>
                  <a:close/>
                </a:path>
              </a:pathLst>
            </a:custGeom>
            <a:solidFill>
              <a:srgbClr val="BFDBF7"/>
            </a:solidFill>
          </p:spPr>
        </p:sp>
        <p:sp>
          <p:nvSpPr>
            <p:cNvPr name="TextBox 29" id="29"/>
            <p:cNvSpPr txBox="true"/>
            <p:nvPr/>
          </p:nvSpPr>
          <p:spPr>
            <a:xfrm>
              <a:off x="0" y="-38100"/>
              <a:ext cx="148801" cy="240845"/>
            </a:xfrm>
            <a:prstGeom prst="rect">
              <a:avLst/>
            </a:prstGeom>
          </p:spPr>
          <p:txBody>
            <a:bodyPr anchor="ctr" rtlCol="false" tIns="50800" lIns="50800" bIns="50800" rIns="50800"/>
            <a:lstStyle/>
            <a:p>
              <a:pPr algn="ctr">
                <a:lnSpc>
                  <a:spcPts val="2659"/>
                </a:lnSpc>
                <a:spcBef>
                  <a:spcPct val="0"/>
                </a:spcBef>
              </a:pPr>
              <a:r>
                <a:rPr lang="en-US" sz="1899">
                  <a:solidFill>
                    <a:srgbClr val="000000"/>
                  </a:solidFill>
                  <a:latin typeface="Noto Sans"/>
                  <a:ea typeface="Noto Sans"/>
                  <a:cs typeface="Noto Sans"/>
                  <a:sym typeface="Noto Sans"/>
                </a:rPr>
                <a:t>BT3</a:t>
              </a:r>
            </a:p>
          </p:txBody>
        </p:sp>
      </p:grpSp>
      <p:grpSp>
        <p:nvGrpSpPr>
          <p:cNvPr name="Group 30" id="30"/>
          <p:cNvGrpSpPr/>
          <p:nvPr/>
        </p:nvGrpSpPr>
        <p:grpSpPr>
          <a:xfrm rot="0">
            <a:off x="2662005" y="5836512"/>
            <a:ext cx="11187139" cy="801496"/>
            <a:chOff x="0" y="0"/>
            <a:chExt cx="2946407" cy="211094"/>
          </a:xfrm>
        </p:grpSpPr>
        <p:sp>
          <p:nvSpPr>
            <p:cNvPr name="Freeform 31" id="31"/>
            <p:cNvSpPr/>
            <p:nvPr/>
          </p:nvSpPr>
          <p:spPr>
            <a:xfrm flipH="false" flipV="false" rot="0">
              <a:off x="0" y="0"/>
              <a:ext cx="2946407" cy="211094"/>
            </a:xfrm>
            <a:custGeom>
              <a:avLst/>
              <a:gdLst/>
              <a:ahLst/>
              <a:cxnLst/>
              <a:rect r="r" b="b" t="t" l="l"/>
              <a:pathLst>
                <a:path h="211094" w="2946407">
                  <a:moveTo>
                    <a:pt x="35294" y="0"/>
                  </a:moveTo>
                  <a:lnTo>
                    <a:pt x="2911113" y="0"/>
                  </a:lnTo>
                  <a:cubicBezTo>
                    <a:pt x="2930605" y="0"/>
                    <a:pt x="2946407" y="15802"/>
                    <a:pt x="2946407" y="35294"/>
                  </a:cubicBezTo>
                  <a:lnTo>
                    <a:pt x="2946407" y="175800"/>
                  </a:lnTo>
                  <a:cubicBezTo>
                    <a:pt x="2946407" y="195292"/>
                    <a:pt x="2930605" y="211094"/>
                    <a:pt x="2911113" y="211094"/>
                  </a:cubicBezTo>
                  <a:lnTo>
                    <a:pt x="35294" y="211094"/>
                  </a:lnTo>
                  <a:cubicBezTo>
                    <a:pt x="15802" y="211094"/>
                    <a:pt x="0" y="195292"/>
                    <a:pt x="0" y="175800"/>
                  </a:cubicBezTo>
                  <a:lnTo>
                    <a:pt x="0" y="35294"/>
                  </a:lnTo>
                  <a:cubicBezTo>
                    <a:pt x="0" y="15802"/>
                    <a:pt x="15802" y="0"/>
                    <a:pt x="35294" y="0"/>
                  </a:cubicBezTo>
                  <a:close/>
                </a:path>
              </a:pathLst>
            </a:custGeom>
            <a:solidFill>
              <a:srgbClr val="E1E5F2"/>
            </a:solidFill>
          </p:spPr>
        </p:sp>
        <p:sp>
          <p:nvSpPr>
            <p:cNvPr name="TextBox 32" id="32"/>
            <p:cNvSpPr txBox="true"/>
            <p:nvPr/>
          </p:nvSpPr>
          <p:spPr>
            <a:xfrm>
              <a:off x="0" y="-38100"/>
              <a:ext cx="2946407" cy="249194"/>
            </a:xfrm>
            <a:prstGeom prst="rect">
              <a:avLst/>
            </a:prstGeom>
          </p:spPr>
          <p:txBody>
            <a:bodyPr anchor="ctr" rtlCol="false" tIns="50800" lIns="50800" bIns="50800" rIns="50800"/>
            <a:lstStyle/>
            <a:p>
              <a:pPr algn="ctr">
                <a:lnSpc>
                  <a:spcPts val="2659"/>
                </a:lnSpc>
                <a:spcBef>
                  <a:spcPct val="0"/>
                </a:spcBef>
              </a:pPr>
              <a:r>
                <a:rPr lang="en-US" sz="1899">
                  <a:solidFill>
                    <a:srgbClr val="000000"/>
                  </a:solidFill>
                  <a:latin typeface="Noto Sans"/>
                  <a:ea typeface="Noto Sans"/>
                  <a:cs typeface="Noto Sans"/>
                  <a:sym typeface="Noto Sans"/>
                </a:rPr>
                <a:t>WT1 = 19ms</a:t>
              </a:r>
            </a:p>
          </p:txBody>
        </p:sp>
      </p:grpSp>
      <p:grpSp>
        <p:nvGrpSpPr>
          <p:cNvPr name="Group 33" id="33"/>
          <p:cNvGrpSpPr/>
          <p:nvPr/>
        </p:nvGrpSpPr>
        <p:grpSpPr>
          <a:xfrm rot="0">
            <a:off x="3797470" y="6638008"/>
            <a:ext cx="11878854" cy="798371"/>
            <a:chOff x="0" y="0"/>
            <a:chExt cx="3128587" cy="210270"/>
          </a:xfrm>
        </p:grpSpPr>
        <p:sp>
          <p:nvSpPr>
            <p:cNvPr name="Freeform 34" id="34"/>
            <p:cNvSpPr/>
            <p:nvPr/>
          </p:nvSpPr>
          <p:spPr>
            <a:xfrm flipH="false" flipV="false" rot="0">
              <a:off x="0" y="0"/>
              <a:ext cx="3128587" cy="210270"/>
            </a:xfrm>
            <a:custGeom>
              <a:avLst/>
              <a:gdLst/>
              <a:ahLst/>
              <a:cxnLst/>
              <a:rect r="r" b="b" t="t" l="l"/>
              <a:pathLst>
                <a:path h="210270" w="3128587">
                  <a:moveTo>
                    <a:pt x="33239" y="0"/>
                  </a:moveTo>
                  <a:lnTo>
                    <a:pt x="3095348" y="0"/>
                  </a:lnTo>
                  <a:cubicBezTo>
                    <a:pt x="3104164" y="0"/>
                    <a:pt x="3112618" y="3502"/>
                    <a:pt x="3118852" y="9735"/>
                  </a:cubicBezTo>
                  <a:cubicBezTo>
                    <a:pt x="3125085" y="15969"/>
                    <a:pt x="3128587" y="24423"/>
                    <a:pt x="3128587" y="33239"/>
                  </a:cubicBezTo>
                  <a:lnTo>
                    <a:pt x="3128587" y="177032"/>
                  </a:lnTo>
                  <a:cubicBezTo>
                    <a:pt x="3128587" y="185847"/>
                    <a:pt x="3125085" y="194302"/>
                    <a:pt x="3118852" y="200535"/>
                  </a:cubicBezTo>
                  <a:cubicBezTo>
                    <a:pt x="3112618" y="206769"/>
                    <a:pt x="3104164" y="210270"/>
                    <a:pt x="3095348" y="210270"/>
                  </a:cubicBezTo>
                  <a:lnTo>
                    <a:pt x="33239" y="210270"/>
                  </a:lnTo>
                  <a:cubicBezTo>
                    <a:pt x="24423" y="210270"/>
                    <a:pt x="15969" y="206769"/>
                    <a:pt x="9735" y="200535"/>
                  </a:cubicBezTo>
                  <a:cubicBezTo>
                    <a:pt x="3502" y="194302"/>
                    <a:pt x="0" y="185847"/>
                    <a:pt x="0" y="177032"/>
                  </a:cubicBezTo>
                  <a:lnTo>
                    <a:pt x="0" y="33239"/>
                  </a:lnTo>
                  <a:cubicBezTo>
                    <a:pt x="0" y="24423"/>
                    <a:pt x="3502" y="15969"/>
                    <a:pt x="9735" y="9735"/>
                  </a:cubicBezTo>
                  <a:cubicBezTo>
                    <a:pt x="15969" y="3502"/>
                    <a:pt x="24423" y="0"/>
                    <a:pt x="33239" y="0"/>
                  </a:cubicBezTo>
                  <a:close/>
                </a:path>
              </a:pathLst>
            </a:custGeom>
            <a:solidFill>
              <a:srgbClr val="E1E5F2"/>
            </a:solidFill>
          </p:spPr>
        </p:sp>
        <p:sp>
          <p:nvSpPr>
            <p:cNvPr name="TextBox 35" id="35"/>
            <p:cNvSpPr txBox="true"/>
            <p:nvPr/>
          </p:nvSpPr>
          <p:spPr>
            <a:xfrm>
              <a:off x="0" y="-38100"/>
              <a:ext cx="3128587" cy="248370"/>
            </a:xfrm>
            <a:prstGeom prst="rect">
              <a:avLst/>
            </a:prstGeom>
          </p:spPr>
          <p:txBody>
            <a:bodyPr anchor="ctr" rtlCol="false" tIns="50800" lIns="50800" bIns="50800" rIns="50800"/>
            <a:lstStyle/>
            <a:p>
              <a:pPr algn="ctr">
                <a:lnSpc>
                  <a:spcPts val="2659"/>
                </a:lnSpc>
                <a:spcBef>
                  <a:spcPct val="0"/>
                </a:spcBef>
              </a:pPr>
              <a:r>
                <a:rPr lang="en-US" sz="1899">
                  <a:solidFill>
                    <a:srgbClr val="000000"/>
                  </a:solidFill>
                  <a:latin typeface="Noto Sans"/>
                  <a:ea typeface="Noto Sans"/>
                  <a:cs typeface="Noto Sans"/>
                  <a:sym typeface="Noto Sans"/>
                </a:rPr>
                <a:t>WT2 = 20ms</a:t>
              </a:r>
            </a:p>
          </p:txBody>
        </p:sp>
      </p:grpSp>
      <p:grpSp>
        <p:nvGrpSpPr>
          <p:cNvPr name="Group 36" id="36"/>
          <p:cNvGrpSpPr/>
          <p:nvPr/>
        </p:nvGrpSpPr>
        <p:grpSpPr>
          <a:xfrm rot="0">
            <a:off x="3797470" y="7436379"/>
            <a:ext cx="13027871" cy="826389"/>
            <a:chOff x="0" y="0"/>
            <a:chExt cx="3431209" cy="217650"/>
          </a:xfrm>
        </p:grpSpPr>
        <p:sp>
          <p:nvSpPr>
            <p:cNvPr name="Freeform 37" id="37"/>
            <p:cNvSpPr/>
            <p:nvPr/>
          </p:nvSpPr>
          <p:spPr>
            <a:xfrm flipH="false" flipV="false" rot="0">
              <a:off x="0" y="0"/>
              <a:ext cx="3431209" cy="217650"/>
            </a:xfrm>
            <a:custGeom>
              <a:avLst/>
              <a:gdLst/>
              <a:ahLst/>
              <a:cxnLst/>
              <a:rect r="r" b="b" t="t" l="l"/>
              <a:pathLst>
                <a:path h="217650" w="3431209">
                  <a:moveTo>
                    <a:pt x="30307" y="0"/>
                  </a:moveTo>
                  <a:lnTo>
                    <a:pt x="3400902" y="0"/>
                  </a:lnTo>
                  <a:cubicBezTo>
                    <a:pt x="3408940" y="0"/>
                    <a:pt x="3416648" y="3193"/>
                    <a:pt x="3422332" y="8877"/>
                  </a:cubicBezTo>
                  <a:cubicBezTo>
                    <a:pt x="3428016" y="14560"/>
                    <a:pt x="3431209" y="22269"/>
                    <a:pt x="3431209" y="30307"/>
                  </a:cubicBezTo>
                  <a:lnTo>
                    <a:pt x="3431209" y="187342"/>
                  </a:lnTo>
                  <a:cubicBezTo>
                    <a:pt x="3431209" y="204081"/>
                    <a:pt x="3417640" y="217650"/>
                    <a:pt x="3400902" y="217650"/>
                  </a:cubicBezTo>
                  <a:lnTo>
                    <a:pt x="30307" y="217650"/>
                  </a:lnTo>
                  <a:cubicBezTo>
                    <a:pt x="22269" y="217650"/>
                    <a:pt x="14560" y="214457"/>
                    <a:pt x="8877" y="208773"/>
                  </a:cubicBezTo>
                  <a:cubicBezTo>
                    <a:pt x="3193" y="203089"/>
                    <a:pt x="0" y="195380"/>
                    <a:pt x="0" y="187342"/>
                  </a:cubicBezTo>
                  <a:lnTo>
                    <a:pt x="0" y="30307"/>
                  </a:lnTo>
                  <a:cubicBezTo>
                    <a:pt x="0" y="22269"/>
                    <a:pt x="3193" y="14560"/>
                    <a:pt x="8877" y="8877"/>
                  </a:cubicBezTo>
                  <a:cubicBezTo>
                    <a:pt x="14560" y="3193"/>
                    <a:pt x="22269" y="0"/>
                    <a:pt x="30307" y="0"/>
                  </a:cubicBezTo>
                  <a:close/>
                </a:path>
              </a:pathLst>
            </a:custGeom>
            <a:solidFill>
              <a:srgbClr val="E1E5F2"/>
            </a:solidFill>
          </p:spPr>
        </p:sp>
        <p:sp>
          <p:nvSpPr>
            <p:cNvPr name="TextBox 38" id="38"/>
            <p:cNvSpPr txBox="true"/>
            <p:nvPr/>
          </p:nvSpPr>
          <p:spPr>
            <a:xfrm>
              <a:off x="0" y="-38100"/>
              <a:ext cx="3431209" cy="255750"/>
            </a:xfrm>
            <a:prstGeom prst="rect">
              <a:avLst/>
            </a:prstGeom>
          </p:spPr>
          <p:txBody>
            <a:bodyPr anchor="ctr" rtlCol="false" tIns="50800" lIns="50800" bIns="50800" rIns="50800"/>
            <a:lstStyle/>
            <a:p>
              <a:pPr algn="ctr">
                <a:lnSpc>
                  <a:spcPts val="2659"/>
                </a:lnSpc>
                <a:spcBef>
                  <a:spcPct val="0"/>
                </a:spcBef>
              </a:pPr>
              <a:r>
                <a:rPr lang="en-US" sz="1899">
                  <a:solidFill>
                    <a:srgbClr val="000000"/>
                  </a:solidFill>
                  <a:latin typeface="Noto Sans"/>
                  <a:ea typeface="Noto Sans"/>
                  <a:cs typeface="Noto Sans"/>
                  <a:sym typeface="Noto Sans"/>
                </a:rPr>
                <a:t>WT5 = 22ms</a:t>
              </a:r>
            </a:p>
          </p:txBody>
        </p:sp>
      </p:grpSp>
      <p:grpSp>
        <p:nvGrpSpPr>
          <p:cNvPr name="Group 39" id="39"/>
          <p:cNvGrpSpPr/>
          <p:nvPr/>
        </p:nvGrpSpPr>
        <p:grpSpPr>
          <a:xfrm rot="0">
            <a:off x="6199482" y="8236479"/>
            <a:ext cx="11231262" cy="821188"/>
            <a:chOff x="0" y="0"/>
            <a:chExt cx="2958028" cy="216280"/>
          </a:xfrm>
        </p:grpSpPr>
        <p:sp>
          <p:nvSpPr>
            <p:cNvPr name="Freeform 40" id="40"/>
            <p:cNvSpPr/>
            <p:nvPr/>
          </p:nvSpPr>
          <p:spPr>
            <a:xfrm flipH="false" flipV="false" rot="0">
              <a:off x="0" y="0"/>
              <a:ext cx="2958028" cy="216280"/>
            </a:xfrm>
            <a:custGeom>
              <a:avLst/>
              <a:gdLst/>
              <a:ahLst/>
              <a:cxnLst/>
              <a:rect r="r" b="b" t="t" l="l"/>
              <a:pathLst>
                <a:path h="216280" w="2958028">
                  <a:moveTo>
                    <a:pt x="35155" y="0"/>
                  </a:moveTo>
                  <a:lnTo>
                    <a:pt x="2922873" y="0"/>
                  </a:lnTo>
                  <a:cubicBezTo>
                    <a:pt x="2942288" y="0"/>
                    <a:pt x="2958028" y="15740"/>
                    <a:pt x="2958028" y="35155"/>
                  </a:cubicBezTo>
                  <a:lnTo>
                    <a:pt x="2958028" y="181125"/>
                  </a:lnTo>
                  <a:cubicBezTo>
                    <a:pt x="2958028" y="200540"/>
                    <a:pt x="2942288" y="216280"/>
                    <a:pt x="2922873" y="216280"/>
                  </a:cubicBezTo>
                  <a:lnTo>
                    <a:pt x="35155" y="216280"/>
                  </a:lnTo>
                  <a:cubicBezTo>
                    <a:pt x="15740" y="216280"/>
                    <a:pt x="0" y="200540"/>
                    <a:pt x="0" y="181125"/>
                  </a:cubicBezTo>
                  <a:lnTo>
                    <a:pt x="0" y="35155"/>
                  </a:lnTo>
                  <a:cubicBezTo>
                    <a:pt x="0" y="15740"/>
                    <a:pt x="15740" y="0"/>
                    <a:pt x="35155" y="0"/>
                  </a:cubicBezTo>
                  <a:close/>
                </a:path>
              </a:pathLst>
            </a:custGeom>
            <a:solidFill>
              <a:srgbClr val="E1E5F2"/>
            </a:solidFill>
          </p:spPr>
        </p:sp>
        <p:sp>
          <p:nvSpPr>
            <p:cNvPr name="TextBox 41" id="41"/>
            <p:cNvSpPr txBox="true"/>
            <p:nvPr/>
          </p:nvSpPr>
          <p:spPr>
            <a:xfrm>
              <a:off x="0" y="-38100"/>
              <a:ext cx="2958028" cy="254380"/>
            </a:xfrm>
            <a:prstGeom prst="rect">
              <a:avLst/>
            </a:prstGeom>
          </p:spPr>
          <p:txBody>
            <a:bodyPr anchor="ctr" rtlCol="false" tIns="50800" lIns="50800" bIns="50800" rIns="50800"/>
            <a:lstStyle/>
            <a:p>
              <a:pPr algn="ctr">
                <a:lnSpc>
                  <a:spcPts val="2659"/>
                </a:lnSpc>
                <a:spcBef>
                  <a:spcPct val="0"/>
                </a:spcBef>
              </a:pPr>
              <a:r>
                <a:rPr lang="en-US" sz="1899">
                  <a:solidFill>
                    <a:srgbClr val="000000"/>
                  </a:solidFill>
                  <a:latin typeface="Noto Sans"/>
                  <a:ea typeface="Noto Sans"/>
                  <a:cs typeface="Noto Sans"/>
                  <a:sym typeface="Noto Sans"/>
                </a:rPr>
                <a:t>WT3 = 19ms</a:t>
              </a:r>
            </a:p>
          </p:txBody>
        </p:sp>
      </p:grpSp>
      <p:grpSp>
        <p:nvGrpSpPr>
          <p:cNvPr name="Group 42" id="42"/>
          <p:cNvGrpSpPr/>
          <p:nvPr/>
        </p:nvGrpSpPr>
        <p:grpSpPr>
          <a:xfrm rot="0">
            <a:off x="1441983" y="5018208"/>
            <a:ext cx="620339" cy="818304"/>
            <a:chOff x="0" y="0"/>
            <a:chExt cx="163381" cy="215520"/>
          </a:xfrm>
        </p:grpSpPr>
        <p:sp>
          <p:nvSpPr>
            <p:cNvPr name="Freeform 43" id="43"/>
            <p:cNvSpPr/>
            <p:nvPr/>
          </p:nvSpPr>
          <p:spPr>
            <a:xfrm flipH="false" flipV="false" rot="0">
              <a:off x="0" y="0"/>
              <a:ext cx="163381" cy="215520"/>
            </a:xfrm>
            <a:custGeom>
              <a:avLst/>
              <a:gdLst/>
              <a:ahLst/>
              <a:cxnLst/>
              <a:rect r="r" b="b" t="t" l="l"/>
              <a:pathLst>
                <a:path h="215520" w="163381">
                  <a:moveTo>
                    <a:pt x="81691" y="0"/>
                  </a:moveTo>
                  <a:lnTo>
                    <a:pt x="81691" y="0"/>
                  </a:lnTo>
                  <a:cubicBezTo>
                    <a:pt x="126807" y="0"/>
                    <a:pt x="163381" y="36574"/>
                    <a:pt x="163381" y="81691"/>
                  </a:cubicBezTo>
                  <a:lnTo>
                    <a:pt x="163381" y="133830"/>
                  </a:lnTo>
                  <a:cubicBezTo>
                    <a:pt x="163381" y="155495"/>
                    <a:pt x="154775" y="176274"/>
                    <a:pt x="139455" y="191594"/>
                  </a:cubicBezTo>
                  <a:cubicBezTo>
                    <a:pt x="124135" y="206914"/>
                    <a:pt x="103356" y="215520"/>
                    <a:pt x="81691" y="215520"/>
                  </a:cubicBezTo>
                  <a:lnTo>
                    <a:pt x="81691" y="215520"/>
                  </a:lnTo>
                  <a:cubicBezTo>
                    <a:pt x="60025" y="215520"/>
                    <a:pt x="39247" y="206914"/>
                    <a:pt x="23927" y="191594"/>
                  </a:cubicBezTo>
                  <a:cubicBezTo>
                    <a:pt x="8607" y="176274"/>
                    <a:pt x="0" y="155495"/>
                    <a:pt x="0" y="133830"/>
                  </a:cubicBezTo>
                  <a:lnTo>
                    <a:pt x="0" y="81691"/>
                  </a:lnTo>
                  <a:cubicBezTo>
                    <a:pt x="0" y="60025"/>
                    <a:pt x="8607" y="39247"/>
                    <a:pt x="23927" y="23927"/>
                  </a:cubicBezTo>
                  <a:cubicBezTo>
                    <a:pt x="39247" y="8607"/>
                    <a:pt x="60025" y="0"/>
                    <a:pt x="81691" y="0"/>
                  </a:cubicBezTo>
                  <a:close/>
                </a:path>
              </a:pathLst>
            </a:custGeom>
            <a:solidFill>
              <a:srgbClr val="FFDE59"/>
            </a:solidFill>
          </p:spPr>
        </p:sp>
        <p:sp>
          <p:nvSpPr>
            <p:cNvPr name="TextBox 44" id="44"/>
            <p:cNvSpPr txBox="true"/>
            <p:nvPr/>
          </p:nvSpPr>
          <p:spPr>
            <a:xfrm>
              <a:off x="0" y="-28575"/>
              <a:ext cx="163381" cy="244095"/>
            </a:xfrm>
            <a:prstGeom prst="rect">
              <a:avLst/>
            </a:prstGeom>
          </p:spPr>
          <p:txBody>
            <a:bodyPr anchor="ctr" rtlCol="false" tIns="50800" lIns="50800" bIns="50800" rIns="50800"/>
            <a:lstStyle/>
            <a:p>
              <a:pPr algn="ctr">
                <a:lnSpc>
                  <a:spcPts val="1960"/>
                </a:lnSpc>
                <a:spcBef>
                  <a:spcPct val="0"/>
                </a:spcBef>
              </a:pPr>
              <a:r>
                <a:rPr lang="en-US" sz="1400">
                  <a:solidFill>
                    <a:srgbClr val="000000"/>
                  </a:solidFill>
                  <a:latin typeface="Noto Sans"/>
                  <a:ea typeface="Noto Sans"/>
                  <a:cs typeface="Noto Sans"/>
                  <a:sym typeface="Noto Sans"/>
                </a:rPr>
                <a:t>INDLE</a:t>
              </a: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EFEEEC"/>
        </a:solidFill>
      </p:bgPr>
    </p:bg>
    <p:spTree>
      <p:nvGrpSpPr>
        <p:cNvPr id="1" name=""/>
        <p:cNvGrpSpPr/>
        <p:nvPr/>
      </p:nvGrpSpPr>
      <p:grpSpPr>
        <a:xfrm>
          <a:off x="0" y="0"/>
          <a:ext cx="0" cy="0"/>
          <a:chOff x="0" y="0"/>
          <a:chExt cx="0" cy="0"/>
        </a:xfrm>
      </p:grpSpPr>
      <p:grpSp>
        <p:nvGrpSpPr>
          <p:cNvPr name="Group 2" id="2"/>
          <p:cNvGrpSpPr/>
          <p:nvPr/>
        </p:nvGrpSpPr>
        <p:grpSpPr>
          <a:xfrm rot="5400000">
            <a:off x="12432431" y="4605338"/>
            <a:ext cx="10730064" cy="1076325"/>
            <a:chOff x="0" y="0"/>
            <a:chExt cx="3845413" cy="385731"/>
          </a:xfrm>
        </p:grpSpPr>
        <p:sp>
          <p:nvSpPr>
            <p:cNvPr name="Freeform 3" id="3"/>
            <p:cNvSpPr/>
            <p:nvPr/>
          </p:nvSpPr>
          <p:spPr>
            <a:xfrm flipH="false" flipV="false" rot="0">
              <a:off x="0" y="0"/>
              <a:ext cx="3845413" cy="385731"/>
            </a:xfrm>
            <a:custGeom>
              <a:avLst/>
              <a:gdLst/>
              <a:ahLst/>
              <a:cxnLst/>
              <a:rect r="r" b="b" t="t" l="l"/>
              <a:pathLst>
                <a:path h="385731" w="3845413">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sp>
        <p:sp>
          <p:nvSpPr>
            <p:cNvPr name="TextBox 4" id="4"/>
            <p:cNvSpPr txBox="true"/>
            <p:nvPr/>
          </p:nvSpPr>
          <p:spPr>
            <a:xfrm>
              <a:off x="0" y="-47625"/>
              <a:ext cx="3845413" cy="433356"/>
            </a:xfrm>
            <a:prstGeom prst="rect">
              <a:avLst/>
            </a:prstGeom>
          </p:spPr>
          <p:txBody>
            <a:bodyPr anchor="ctr" rtlCol="false" tIns="50800" lIns="50800" bIns="50800" rIns="50800"/>
            <a:lstStyle/>
            <a:p>
              <a:pPr algn="ctr">
                <a:lnSpc>
                  <a:spcPts val="1960"/>
                </a:lnSpc>
              </a:pPr>
            </a:p>
          </p:txBody>
        </p:sp>
      </p:grpSp>
      <p:sp>
        <p:nvSpPr>
          <p:cNvPr name="AutoShape 5" id="5"/>
          <p:cNvSpPr/>
          <p:nvPr/>
        </p:nvSpPr>
        <p:spPr>
          <a:xfrm flipV="true">
            <a:off x="5067402" y="2744364"/>
            <a:ext cx="11289034" cy="0"/>
          </a:xfrm>
          <a:prstGeom prst="line">
            <a:avLst/>
          </a:prstGeom>
          <a:ln cap="flat" w="9525">
            <a:solidFill>
              <a:srgbClr val="000000"/>
            </a:solidFill>
            <a:prstDash val="sysDot"/>
            <a:headEnd type="none" len="sm" w="sm"/>
            <a:tailEnd type="none" len="sm" w="sm"/>
          </a:ln>
        </p:spPr>
      </p:sp>
      <p:sp>
        <p:nvSpPr>
          <p:cNvPr name="TextBox 6" id="6"/>
          <p:cNvSpPr txBox="true"/>
          <p:nvPr/>
        </p:nvSpPr>
        <p:spPr>
          <a:xfrm rot="0">
            <a:off x="15506330" y="8951595"/>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23</a:t>
            </a:r>
          </a:p>
        </p:txBody>
      </p:sp>
      <p:sp>
        <p:nvSpPr>
          <p:cNvPr name="TextBox 7" id="7"/>
          <p:cNvSpPr txBox="true"/>
          <p:nvPr/>
        </p:nvSpPr>
        <p:spPr>
          <a:xfrm rot="0">
            <a:off x="5318896" y="2867025"/>
            <a:ext cx="3945410" cy="2173099"/>
          </a:xfrm>
          <a:prstGeom prst="rect">
            <a:avLst/>
          </a:prstGeom>
        </p:spPr>
        <p:txBody>
          <a:bodyPr anchor="t" rtlCol="false" tIns="0" lIns="0" bIns="0" rIns="0">
            <a:spAutoFit/>
          </a:bodyPr>
          <a:lstStyle/>
          <a:p>
            <a:pPr algn="just">
              <a:lnSpc>
                <a:spcPts val="2944"/>
              </a:lnSpc>
            </a:pPr>
            <a:r>
              <a:rPr lang="en-US" sz="2103" spc="-46">
                <a:solidFill>
                  <a:srgbClr val="403E3E"/>
                </a:solidFill>
                <a:latin typeface="Inter"/>
                <a:ea typeface="Inter"/>
                <a:cs typeface="Inter"/>
                <a:sym typeface="Inter"/>
              </a:rPr>
              <a:t>The simulation program operates exactly according to the principle of the algorithm, non-preemptive and calculates the time indicators correctly.</a:t>
            </a:r>
          </a:p>
          <a:p>
            <a:pPr algn="just" marL="0" indent="0" lvl="0">
              <a:lnSpc>
                <a:spcPts val="2944"/>
              </a:lnSpc>
              <a:spcBef>
                <a:spcPct val="0"/>
              </a:spcBef>
            </a:pPr>
          </a:p>
        </p:txBody>
      </p:sp>
      <p:sp>
        <p:nvSpPr>
          <p:cNvPr name="TextBox 8" id="8"/>
          <p:cNvSpPr txBox="true"/>
          <p:nvPr/>
        </p:nvSpPr>
        <p:spPr>
          <a:xfrm rot="0">
            <a:off x="10594461" y="2867025"/>
            <a:ext cx="5334684" cy="1804196"/>
          </a:xfrm>
          <a:prstGeom prst="rect">
            <a:avLst/>
          </a:prstGeom>
        </p:spPr>
        <p:txBody>
          <a:bodyPr anchor="t" rtlCol="false" tIns="0" lIns="0" bIns="0" rIns="0">
            <a:spAutoFit/>
          </a:bodyPr>
          <a:lstStyle/>
          <a:p>
            <a:pPr algn="just">
              <a:lnSpc>
                <a:spcPts val="2935"/>
              </a:lnSpc>
            </a:pPr>
            <a:r>
              <a:rPr lang="en-US" sz="2096" spc="-46">
                <a:solidFill>
                  <a:srgbClr val="403E3E"/>
                </a:solidFill>
                <a:latin typeface="Inter"/>
                <a:ea typeface="Inter"/>
                <a:cs typeface="Inter"/>
                <a:sym typeface="Inter"/>
              </a:rPr>
              <a:t>IFor the Uniform Workload environment, FCFS has stable and optimal results, low average waiting time, and maximum utilization of CPU performance.</a:t>
            </a:r>
          </a:p>
          <a:p>
            <a:pPr algn="just" marL="0" indent="0" lvl="0">
              <a:lnSpc>
                <a:spcPts val="2935"/>
              </a:lnSpc>
              <a:spcBef>
                <a:spcPct val="0"/>
              </a:spcBef>
            </a:pPr>
          </a:p>
        </p:txBody>
      </p:sp>
      <p:sp>
        <p:nvSpPr>
          <p:cNvPr name="TextBox 9" id="9"/>
          <p:cNvSpPr txBox="true"/>
          <p:nvPr/>
        </p:nvSpPr>
        <p:spPr>
          <a:xfrm rot="0">
            <a:off x="13402382" y="993352"/>
            <a:ext cx="2850172" cy="621030"/>
          </a:xfrm>
          <a:prstGeom prst="rect">
            <a:avLst/>
          </a:prstGeom>
        </p:spPr>
        <p:txBody>
          <a:bodyPr anchor="t" rtlCol="false" tIns="0" lIns="0" bIns="0" rIns="0">
            <a:spAutoFit/>
          </a:bodyPr>
          <a:lstStyle/>
          <a:p>
            <a:pPr algn="r">
              <a:lnSpc>
                <a:spcPts val="2520"/>
              </a:lnSpc>
            </a:pPr>
            <a:r>
              <a:rPr lang="en-US" sz="1800" spc="-72">
                <a:solidFill>
                  <a:srgbClr val="403E3E"/>
                </a:solidFill>
                <a:latin typeface="Inter"/>
                <a:ea typeface="Inter"/>
                <a:cs typeface="Inter"/>
                <a:sym typeface="Inter"/>
              </a:rPr>
              <a:t>NOV 2025</a:t>
            </a:r>
          </a:p>
          <a:p>
            <a:pPr algn="r" marL="0" indent="0" lvl="0">
              <a:lnSpc>
                <a:spcPts val="2520"/>
              </a:lnSpc>
              <a:spcBef>
                <a:spcPct val="0"/>
              </a:spcBef>
            </a:pPr>
          </a:p>
        </p:txBody>
      </p:sp>
      <p:sp>
        <p:nvSpPr>
          <p:cNvPr name="TextBox 10" id="10"/>
          <p:cNvSpPr txBox="true"/>
          <p:nvPr/>
        </p:nvSpPr>
        <p:spPr>
          <a:xfrm rot="0">
            <a:off x="5608706" y="1481032"/>
            <a:ext cx="7959169" cy="1268095"/>
          </a:xfrm>
          <a:prstGeom prst="rect">
            <a:avLst/>
          </a:prstGeom>
        </p:spPr>
        <p:txBody>
          <a:bodyPr anchor="t" rtlCol="false" tIns="0" lIns="0" bIns="0" rIns="0">
            <a:spAutoFit/>
          </a:bodyPr>
          <a:lstStyle/>
          <a:p>
            <a:pPr algn="l">
              <a:lnSpc>
                <a:spcPts val="4760"/>
              </a:lnSpc>
            </a:pPr>
            <a:r>
              <a:rPr lang="en-US" sz="5600" spc="-420" b="true">
                <a:solidFill>
                  <a:srgbClr val="403E3E"/>
                </a:solidFill>
                <a:latin typeface="Inter Bold"/>
                <a:ea typeface="Inter Bold"/>
                <a:cs typeface="Inter Bold"/>
                <a:sym typeface="Inter Bold"/>
              </a:rPr>
              <a:t>4.3 Summary of Findings</a:t>
            </a:r>
          </a:p>
          <a:p>
            <a:pPr algn="l">
              <a:lnSpc>
                <a:spcPts val="4760"/>
              </a:lnSpc>
            </a:pPr>
          </a:p>
        </p:txBody>
      </p:sp>
      <p:grpSp>
        <p:nvGrpSpPr>
          <p:cNvPr name="Group 11" id="11"/>
          <p:cNvGrpSpPr/>
          <p:nvPr/>
        </p:nvGrpSpPr>
        <p:grpSpPr>
          <a:xfrm rot="5400000">
            <a:off x="-3195310" y="2727751"/>
            <a:ext cx="10730064" cy="4831498"/>
            <a:chOff x="0" y="0"/>
            <a:chExt cx="3845413" cy="1731500"/>
          </a:xfrm>
        </p:grpSpPr>
        <p:sp>
          <p:nvSpPr>
            <p:cNvPr name="Freeform 12" id="12"/>
            <p:cNvSpPr/>
            <p:nvPr/>
          </p:nvSpPr>
          <p:spPr>
            <a:xfrm flipH="false" flipV="false" rot="0">
              <a:off x="0" y="0"/>
              <a:ext cx="3845413" cy="1731500"/>
            </a:xfrm>
            <a:custGeom>
              <a:avLst/>
              <a:gdLst/>
              <a:ahLst/>
              <a:cxnLst/>
              <a:rect r="r" b="b" t="t" l="l"/>
              <a:pathLst>
                <a:path h="1731500" w="3845413">
                  <a:moveTo>
                    <a:pt x="0" y="0"/>
                  </a:moveTo>
                  <a:lnTo>
                    <a:pt x="3845413" y="0"/>
                  </a:lnTo>
                  <a:lnTo>
                    <a:pt x="3845413" y="1731500"/>
                  </a:lnTo>
                  <a:lnTo>
                    <a:pt x="0" y="1731500"/>
                  </a:lnTo>
                  <a:close/>
                </a:path>
              </a:pathLst>
            </a:custGeom>
            <a:solidFill>
              <a:srgbClr val="F6F5F3"/>
            </a:solidFill>
            <a:ln w="9525" cap="sq">
              <a:solidFill>
                <a:srgbClr val="403E3E"/>
              </a:solidFill>
              <a:prstDash val="solid"/>
              <a:miter/>
            </a:ln>
          </p:spPr>
        </p:sp>
        <p:sp>
          <p:nvSpPr>
            <p:cNvPr name="TextBox 13" id="13"/>
            <p:cNvSpPr txBox="true"/>
            <p:nvPr/>
          </p:nvSpPr>
          <p:spPr>
            <a:xfrm>
              <a:off x="0" y="-47625"/>
              <a:ext cx="3845413" cy="1779125"/>
            </a:xfrm>
            <a:prstGeom prst="rect">
              <a:avLst/>
            </a:prstGeom>
          </p:spPr>
          <p:txBody>
            <a:bodyPr anchor="ctr" rtlCol="false" tIns="50800" lIns="50800" bIns="50800" rIns="50800"/>
            <a:lstStyle/>
            <a:p>
              <a:pPr algn="ctr">
                <a:lnSpc>
                  <a:spcPts val="1960"/>
                </a:lnSpc>
              </a:pPr>
            </a:p>
          </p:txBody>
        </p:sp>
      </p:grpSp>
      <p:sp>
        <p:nvSpPr>
          <p:cNvPr name="TextBox 14" id="14"/>
          <p:cNvSpPr txBox="true"/>
          <p:nvPr/>
        </p:nvSpPr>
        <p:spPr>
          <a:xfrm rot="0">
            <a:off x="325211" y="9027795"/>
            <a:ext cx="4279181" cy="621030"/>
          </a:xfrm>
          <a:prstGeom prst="rect">
            <a:avLst/>
          </a:prstGeom>
        </p:spPr>
        <p:txBody>
          <a:bodyPr anchor="t" rtlCol="false" tIns="0" lIns="0" bIns="0" rIns="0">
            <a:spAutoFit/>
          </a:bodyPr>
          <a:lstStyle/>
          <a:p>
            <a:pPr algn="l" marL="0" indent="0" lvl="0">
              <a:lnSpc>
                <a:spcPts val="2520"/>
              </a:lnSpc>
              <a:spcBef>
                <a:spcPct val="0"/>
              </a:spcBef>
            </a:pPr>
            <a:r>
              <a:rPr lang="en-US" sz="1800" spc="-72">
                <a:solidFill>
                  <a:srgbClr val="403E3E"/>
                </a:solidFill>
                <a:latin typeface="Inter"/>
                <a:ea typeface="Inter"/>
                <a:cs typeface="Inter"/>
                <a:sym typeface="Inter"/>
              </a:rPr>
              <a:t>HO CHI MINH CITY UNIVERSITY OF TRANSPORT</a:t>
            </a:r>
          </a:p>
        </p:txBody>
      </p:sp>
      <p:sp>
        <p:nvSpPr>
          <p:cNvPr name="TextBox 15" id="15"/>
          <p:cNvSpPr txBox="true"/>
          <p:nvPr/>
        </p:nvSpPr>
        <p:spPr>
          <a:xfrm rot="0">
            <a:off x="1039715" y="993352"/>
            <a:ext cx="2850172" cy="306705"/>
          </a:xfrm>
          <a:prstGeom prst="rect">
            <a:avLst/>
          </a:prstGeom>
        </p:spPr>
        <p:txBody>
          <a:bodyPr anchor="t" rtlCol="false" tIns="0" lIns="0" bIns="0" rIns="0">
            <a:spAutoFit/>
          </a:bodyPr>
          <a:lstStyle/>
          <a:p>
            <a:pPr algn="l" marL="0" indent="0" lvl="0">
              <a:lnSpc>
                <a:spcPts val="2520"/>
              </a:lnSpc>
              <a:spcBef>
                <a:spcPct val="0"/>
              </a:spcBef>
            </a:pPr>
            <a:r>
              <a:rPr lang="en-US" sz="1800" spc="-72">
                <a:solidFill>
                  <a:srgbClr val="403E3E"/>
                </a:solidFill>
                <a:latin typeface="Inter"/>
                <a:ea typeface="Inter"/>
                <a:cs typeface="Inter"/>
                <a:sym typeface="Inter"/>
              </a:rPr>
              <a:t>TEAM 4</a:t>
            </a:r>
          </a:p>
        </p:txBody>
      </p:sp>
      <p:sp>
        <p:nvSpPr>
          <p:cNvPr name="Freeform 16" id="16"/>
          <p:cNvSpPr/>
          <p:nvPr/>
        </p:nvSpPr>
        <p:spPr>
          <a:xfrm flipH="false" flipV="false" rot="0">
            <a:off x="4111280" y="1028700"/>
            <a:ext cx="948381" cy="1520727"/>
          </a:xfrm>
          <a:custGeom>
            <a:avLst/>
            <a:gdLst/>
            <a:ahLst/>
            <a:cxnLst/>
            <a:rect r="r" b="b" t="t" l="l"/>
            <a:pathLst>
              <a:path h="1520727" w="948381">
                <a:moveTo>
                  <a:pt x="0" y="0"/>
                </a:moveTo>
                <a:lnTo>
                  <a:pt x="948381" y="0"/>
                </a:lnTo>
                <a:lnTo>
                  <a:pt x="948381" y="1520727"/>
                </a:lnTo>
                <a:lnTo>
                  <a:pt x="0" y="15207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17" id="17"/>
          <p:cNvSpPr/>
          <p:nvPr/>
        </p:nvSpPr>
        <p:spPr>
          <a:xfrm flipV="true">
            <a:off x="5059661" y="5044887"/>
            <a:ext cx="11289034" cy="0"/>
          </a:xfrm>
          <a:prstGeom prst="line">
            <a:avLst/>
          </a:prstGeom>
          <a:ln cap="flat" w="9525">
            <a:solidFill>
              <a:srgbClr val="000000"/>
            </a:solidFill>
            <a:prstDash val="sysDot"/>
            <a:headEnd type="none" len="sm" w="sm"/>
            <a:tailEnd type="none" len="sm" w="sm"/>
          </a:ln>
        </p:spPr>
      </p:sp>
      <p:sp>
        <p:nvSpPr>
          <p:cNvPr name="TextBox 18" id="18"/>
          <p:cNvSpPr txBox="true"/>
          <p:nvPr/>
        </p:nvSpPr>
        <p:spPr>
          <a:xfrm rot="0">
            <a:off x="5318896" y="5326061"/>
            <a:ext cx="3945410" cy="2173099"/>
          </a:xfrm>
          <a:prstGeom prst="rect">
            <a:avLst/>
          </a:prstGeom>
        </p:spPr>
        <p:txBody>
          <a:bodyPr anchor="t" rtlCol="false" tIns="0" lIns="0" bIns="0" rIns="0">
            <a:spAutoFit/>
          </a:bodyPr>
          <a:lstStyle/>
          <a:p>
            <a:pPr algn="just" marL="0" indent="0" lvl="0">
              <a:lnSpc>
                <a:spcPts val="2944"/>
              </a:lnSpc>
              <a:spcBef>
                <a:spcPct val="0"/>
              </a:spcBef>
            </a:pPr>
            <a:r>
              <a:rPr lang="en-US" sz="2103" spc="-46">
                <a:solidFill>
                  <a:srgbClr val="403E3E"/>
                </a:solidFill>
                <a:latin typeface="Inter"/>
                <a:ea typeface="Inter"/>
                <a:cs typeface="Inter"/>
                <a:sym typeface="Inter"/>
              </a:rPr>
              <a:t>In contrast to the Unbalanced Workload environment, FCFS clearly shows inefficiency due to the convoy effect, when long processes delay the short processes that come later.</a:t>
            </a:r>
          </a:p>
        </p:txBody>
      </p:sp>
      <p:sp>
        <p:nvSpPr>
          <p:cNvPr name="TextBox 19" id="19"/>
          <p:cNvSpPr txBox="true"/>
          <p:nvPr/>
        </p:nvSpPr>
        <p:spPr>
          <a:xfrm rot="0">
            <a:off x="10594461" y="5373499"/>
            <a:ext cx="3945410" cy="720497"/>
          </a:xfrm>
          <a:prstGeom prst="rect">
            <a:avLst/>
          </a:prstGeom>
        </p:spPr>
        <p:txBody>
          <a:bodyPr anchor="t" rtlCol="false" tIns="0" lIns="0" bIns="0" rIns="0">
            <a:spAutoFit/>
          </a:bodyPr>
          <a:lstStyle/>
          <a:p>
            <a:pPr algn="just" marL="0" indent="0" lvl="0">
              <a:lnSpc>
                <a:spcPts val="2944"/>
              </a:lnSpc>
              <a:spcBef>
                <a:spcPct val="0"/>
              </a:spcBef>
            </a:pPr>
            <a:r>
              <a:rPr lang="en-US" sz="2103" spc="-46">
                <a:solidFill>
                  <a:srgbClr val="403E3E"/>
                </a:solidFill>
                <a:latin typeface="Inter"/>
                <a:ea typeface="Inter"/>
                <a:cs typeface="Inter"/>
                <a:sym typeface="Inter"/>
              </a:rPr>
              <a:t>These two results show the typical trade-offs of FCFS</a:t>
            </a:r>
          </a:p>
        </p:txBody>
      </p:sp>
      <p:sp>
        <p:nvSpPr>
          <p:cNvPr name="AutoShape 20" id="20"/>
          <p:cNvSpPr/>
          <p:nvPr/>
        </p:nvSpPr>
        <p:spPr>
          <a:xfrm flipV="true">
            <a:off x="9979734" y="2749127"/>
            <a:ext cx="0" cy="4993082"/>
          </a:xfrm>
          <a:prstGeom prst="line">
            <a:avLst/>
          </a:prstGeom>
          <a:ln cap="flat" w="9525">
            <a:solidFill>
              <a:srgbClr val="000000"/>
            </a:solidFill>
            <a:prstDash val="sysDot"/>
            <a:headEnd type="none" len="sm" w="sm"/>
            <a:tailEnd type="none" len="sm" w="sm"/>
          </a:ln>
        </p:spPr>
      </p:sp>
      <p:sp>
        <p:nvSpPr>
          <p:cNvPr name="Freeform 21" id="21"/>
          <p:cNvSpPr/>
          <p:nvPr/>
        </p:nvSpPr>
        <p:spPr>
          <a:xfrm flipH="false" flipV="false" rot="0">
            <a:off x="931336" y="1719601"/>
            <a:ext cx="2476770" cy="1024764"/>
          </a:xfrm>
          <a:custGeom>
            <a:avLst/>
            <a:gdLst/>
            <a:ahLst/>
            <a:cxnLst/>
            <a:rect r="r" b="b" t="t" l="l"/>
            <a:pathLst>
              <a:path h="1024764" w="2476770">
                <a:moveTo>
                  <a:pt x="0" y="0"/>
                </a:moveTo>
                <a:lnTo>
                  <a:pt x="2476771" y="0"/>
                </a:lnTo>
                <a:lnTo>
                  <a:pt x="2476771" y="1024763"/>
                </a:lnTo>
                <a:lnTo>
                  <a:pt x="0" y="1024763"/>
                </a:lnTo>
                <a:lnTo>
                  <a:pt x="0" y="0"/>
                </a:lnTo>
                <a:close/>
              </a:path>
            </a:pathLst>
          </a:custGeom>
          <a:blipFill>
            <a:blip r:embed="rId4"/>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EFEEEC"/>
        </a:solidFill>
      </p:bgPr>
    </p:bg>
    <p:spTree>
      <p:nvGrpSpPr>
        <p:cNvPr id="1" name=""/>
        <p:cNvGrpSpPr/>
        <p:nvPr/>
      </p:nvGrpSpPr>
      <p:grpSpPr>
        <a:xfrm>
          <a:off x="0" y="0"/>
          <a:ext cx="0" cy="0"/>
          <a:chOff x="0" y="0"/>
          <a:chExt cx="0" cy="0"/>
        </a:xfrm>
      </p:grpSpPr>
      <p:grpSp>
        <p:nvGrpSpPr>
          <p:cNvPr name="Group 2" id="2"/>
          <p:cNvGrpSpPr/>
          <p:nvPr/>
        </p:nvGrpSpPr>
        <p:grpSpPr>
          <a:xfrm rot="5400000">
            <a:off x="12432431" y="4605338"/>
            <a:ext cx="10730064" cy="1076325"/>
            <a:chOff x="0" y="0"/>
            <a:chExt cx="3845413" cy="385731"/>
          </a:xfrm>
        </p:grpSpPr>
        <p:sp>
          <p:nvSpPr>
            <p:cNvPr name="Freeform 3" id="3"/>
            <p:cNvSpPr/>
            <p:nvPr/>
          </p:nvSpPr>
          <p:spPr>
            <a:xfrm flipH="false" flipV="false" rot="0">
              <a:off x="0" y="0"/>
              <a:ext cx="3845413" cy="385731"/>
            </a:xfrm>
            <a:custGeom>
              <a:avLst/>
              <a:gdLst/>
              <a:ahLst/>
              <a:cxnLst/>
              <a:rect r="r" b="b" t="t" l="l"/>
              <a:pathLst>
                <a:path h="385731" w="3845413">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sp>
        <p:sp>
          <p:nvSpPr>
            <p:cNvPr name="TextBox 4" id="4"/>
            <p:cNvSpPr txBox="true"/>
            <p:nvPr/>
          </p:nvSpPr>
          <p:spPr>
            <a:xfrm>
              <a:off x="0" y="-47625"/>
              <a:ext cx="3845413" cy="433356"/>
            </a:xfrm>
            <a:prstGeom prst="rect">
              <a:avLst/>
            </a:prstGeom>
          </p:spPr>
          <p:txBody>
            <a:bodyPr anchor="ctr" rtlCol="false" tIns="50800" lIns="50800" bIns="50800" rIns="50800"/>
            <a:lstStyle/>
            <a:p>
              <a:pPr algn="ctr">
                <a:lnSpc>
                  <a:spcPts val="1960"/>
                </a:lnSpc>
              </a:pPr>
            </a:p>
          </p:txBody>
        </p:sp>
      </p:grpSp>
      <p:sp>
        <p:nvSpPr>
          <p:cNvPr name="AutoShape 5" id="5"/>
          <p:cNvSpPr/>
          <p:nvPr/>
        </p:nvSpPr>
        <p:spPr>
          <a:xfrm flipV="true">
            <a:off x="5198590" y="4442066"/>
            <a:ext cx="11289034" cy="0"/>
          </a:xfrm>
          <a:prstGeom prst="line">
            <a:avLst/>
          </a:prstGeom>
          <a:ln cap="flat" w="9525">
            <a:solidFill>
              <a:srgbClr val="000000"/>
            </a:solidFill>
            <a:prstDash val="sysDot"/>
            <a:headEnd type="none" len="sm" w="sm"/>
            <a:tailEnd type="none" len="sm" w="sm"/>
          </a:ln>
        </p:spPr>
      </p:sp>
      <p:sp>
        <p:nvSpPr>
          <p:cNvPr name="TextBox 6" id="6"/>
          <p:cNvSpPr txBox="true"/>
          <p:nvPr/>
        </p:nvSpPr>
        <p:spPr>
          <a:xfrm rot="0">
            <a:off x="5608706" y="2847975"/>
            <a:ext cx="4071034" cy="986155"/>
          </a:xfrm>
          <a:prstGeom prst="rect">
            <a:avLst/>
          </a:prstGeom>
        </p:spPr>
        <p:txBody>
          <a:bodyPr anchor="t" rtlCol="false" tIns="0" lIns="0" bIns="0" rIns="0">
            <a:spAutoFit/>
          </a:bodyPr>
          <a:lstStyle/>
          <a:p>
            <a:pPr algn="l">
              <a:lnSpc>
                <a:spcPts val="3919"/>
              </a:lnSpc>
            </a:pPr>
            <a:r>
              <a:rPr lang="en-US" sz="2799" spc="-209">
                <a:solidFill>
                  <a:srgbClr val="403E3E"/>
                </a:solidFill>
                <a:latin typeface="Inter Light"/>
                <a:ea typeface="Inter Light"/>
                <a:cs typeface="Inter Light"/>
                <a:sym typeface="Inter Light"/>
              </a:rPr>
              <a:t>5.1.1 WAITING TIME</a:t>
            </a:r>
          </a:p>
          <a:p>
            <a:pPr algn="l" marL="0" indent="0" lvl="0">
              <a:lnSpc>
                <a:spcPts val="3919"/>
              </a:lnSpc>
              <a:spcBef>
                <a:spcPct val="0"/>
              </a:spcBef>
            </a:pPr>
          </a:p>
        </p:txBody>
      </p:sp>
      <p:sp>
        <p:nvSpPr>
          <p:cNvPr name="TextBox 7" id="7"/>
          <p:cNvSpPr txBox="true"/>
          <p:nvPr/>
        </p:nvSpPr>
        <p:spPr>
          <a:xfrm rot="0">
            <a:off x="15506330" y="8951595"/>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24</a:t>
            </a:r>
          </a:p>
        </p:txBody>
      </p:sp>
      <p:sp>
        <p:nvSpPr>
          <p:cNvPr name="TextBox 8" id="8"/>
          <p:cNvSpPr txBox="true"/>
          <p:nvPr/>
        </p:nvSpPr>
        <p:spPr>
          <a:xfrm rot="0">
            <a:off x="5507323" y="4789729"/>
            <a:ext cx="3945410" cy="1446798"/>
          </a:xfrm>
          <a:prstGeom prst="rect">
            <a:avLst/>
          </a:prstGeom>
        </p:spPr>
        <p:txBody>
          <a:bodyPr anchor="t" rtlCol="false" tIns="0" lIns="0" bIns="0" rIns="0">
            <a:spAutoFit/>
          </a:bodyPr>
          <a:lstStyle/>
          <a:p>
            <a:pPr algn="just" marL="0" indent="0" lvl="0">
              <a:lnSpc>
                <a:spcPts val="2944"/>
              </a:lnSpc>
              <a:spcBef>
                <a:spcPct val="0"/>
              </a:spcBef>
            </a:pPr>
            <a:r>
              <a:rPr lang="en-US" sz="2103" spc="-46">
                <a:solidFill>
                  <a:srgbClr val="403E3E"/>
                </a:solidFill>
                <a:latin typeface="Inter"/>
                <a:ea typeface="Inter"/>
                <a:cs typeface="Inter"/>
                <a:sym typeface="Inter"/>
              </a:rPr>
              <a:t>Waiting time is the amount of time a process spends waiting in the ready queue before it gets CPU service</a:t>
            </a:r>
          </a:p>
        </p:txBody>
      </p:sp>
      <p:sp>
        <p:nvSpPr>
          <p:cNvPr name="TextBox 9" id="9"/>
          <p:cNvSpPr txBox="true"/>
          <p:nvPr/>
        </p:nvSpPr>
        <p:spPr>
          <a:xfrm rot="0">
            <a:off x="10900533" y="3555365"/>
            <a:ext cx="4071034" cy="490855"/>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403E3E"/>
                </a:solidFill>
                <a:latin typeface="Inter Light"/>
                <a:ea typeface="Inter Light"/>
                <a:cs typeface="Inter Light"/>
                <a:sym typeface="Inter Light"/>
              </a:rPr>
              <a:t>ANALYSIS OF FCFS</a:t>
            </a:r>
          </a:p>
        </p:txBody>
      </p:sp>
      <p:sp>
        <p:nvSpPr>
          <p:cNvPr name="TextBox 10" id="10"/>
          <p:cNvSpPr txBox="true"/>
          <p:nvPr/>
        </p:nvSpPr>
        <p:spPr>
          <a:xfrm rot="0">
            <a:off x="10900533" y="4752975"/>
            <a:ext cx="5334684" cy="1442231"/>
          </a:xfrm>
          <a:prstGeom prst="rect">
            <a:avLst/>
          </a:prstGeom>
        </p:spPr>
        <p:txBody>
          <a:bodyPr anchor="t" rtlCol="false" tIns="0" lIns="0" bIns="0" rIns="0">
            <a:spAutoFit/>
          </a:bodyPr>
          <a:lstStyle/>
          <a:p>
            <a:pPr algn="just" marL="0" indent="0" lvl="0">
              <a:lnSpc>
                <a:spcPts val="2935"/>
              </a:lnSpc>
              <a:spcBef>
                <a:spcPct val="0"/>
              </a:spcBef>
            </a:pPr>
            <a:r>
              <a:rPr lang="en-US" sz="2096" spc="-46">
                <a:solidFill>
                  <a:srgbClr val="403E3E"/>
                </a:solidFill>
                <a:latin typeface="Inter"/>
                <a:ea typeface="Inter"/>
                <a:cs typeface="Inter"/>
                <a:sym typeface="Inter"/>
              </a:rPr>
              <a:t>In the First-Come, First-Served (FCFS) scheduling algorithm, processes are executed in the order of their arrival without any preemption.</a:t>
            </a:r>
          </a:p>
        </p:txBody>
      </p:sp>
      <p:sp>
        <p:nvSpPr>
          <p:cNvPr name="TextBox 11" id="11"/>
          <p:cNvSpPr txBox="true"/>
          <p:nvPr/>
        </p:nvSpPr>
        <p:spPr>
          <a:xfrm rot="0">
            <a:off x="13402382" y="993352"/>
            <a:ext cx="2850172" cy="621030"/>
          </a:xfrm>
          <a:prstGeom prst="rect">
            <a:avLst/>
          </a:prstGeom>
        </p:spPr>
        <p:txBody>
          <a:bodyPr anchor="t" rtlCol="false" tIns="0" lIns="0" bIns="0" rIns="0">
            <a:spAutoFit/>
          </a:bodyPr>
          <a:lstStyle/>
          <a:p>
            <a:pPr algn="r">
              <a:lnSpc>
                <a:spcPts val="2520"/>
              </a:lnSpc>
            </a:pPr>
            <a:r>
              <a:rPr lang="en-US" sz="1800" spc="-72">
                <a:solidFill>
                  <a:srgbClr val="403E3E"/>
                </a:solidFill>
                <a:latin typeface="Inter"/>
                <a:ea typeface="Inter"/>
                <a:cs typeface="Inter"/>
                <a:sym typeface="Inter"/>
              </a:rPr>
              <a:t>NOV 2025</a:t>
            </a:r>
          </a:p>
          <a:p>
            <a:pPr algn="r" marL="0" indent="0" lvl="0">
              <a:lnSpc>
                <a:spcPts val="2520"/>
              </a:lnSpc>
              <a:spcBef>
                <a:spcPct val="0"/>
              </a:spcBef>
            </a:pPr>
          </a:p>
        </p:txBody>
      </p:sp>
      <p:sp>
        <p:nvSpPr>
          <p:cNvPr name="TextBox 12" id="12"/>
          <p:cNvSpPr txBox="true"/>
          <p:nvPr/>
        </p:nvSpPr>
        <p:spPr>
          <a:xfrm rot="0">
            <a:off x="5608706" y="1481032"/>
            <a:ext cx="7959169" cy="1268095"/>
          </a:xfrm>
          <a:prstGeom prst="rect">
            <a:avLst/>
          </a:prstGeom>
        </p:spPr>
        <p:txBody>
          <a:bodyPr anchor="t" rtlCol="false" tIns="0" lIns="0" bIns="0" rIns="0">
            <a:spAutoFit/>
          </a:bodyPr>
          <a:lstStyle/>
          <a:p>
            <a:pPr algn="l">
              <a:lnSpc>
                <a:spcPts val="4760"/>
              </a:lnSpc>
            </a:pPr>
            <a:r>
              <a:rPr lang="en-US" sz="5600" spc="-420" b="true">
                <a:solidFill>
                  <a:srgbClr val="403E3E"/>
                </a:solidFill>
                <a:latin typeface="Inter Bold"/>
                <a:ea typeface="Inter Bold"/>
                <a:cs typeface="Inter Bold"/>
                <a:sym typeface="Inter Bold"/>
              </a:rPr>
              <a:t>5.1 Evaluation of the FCFS Scheduling Algorithm</a:t>
            </a:r>
          </a:p>
        </p:txBody>
      </p:sp>
      <p:grpSp>
        <p:nvGrpSpPr>
          <p:cNvPr name="Group 13" id="13"/>
          <p:cNvGrpSpPr/>
          <p:nvPr/>
        </p:nvGrpSpPr>
        <p:grpSpPr>
          <a:xfrm rot="5400000">
            <a:off x="-3195310" y="2727751"/>
            <a:ext cx="10730064" cy="4831498"/>
            <a:chOff x="0" y="0"/>
            <a:chExt cx="3845413" cy="1731500"/>
          </a:xfrm>
        </p:grpSpPr>
        <p:sp>
          <p:nvSpPr>
            <p:cNvPr name="Freeform 14" id="14"/>
            <p:cNvSpPr/>
            <p:nvPr/>
          </p:nvSpPr>
          <p:spPr>
            <a:xfrm flipH="false" flipV="false" rot="0">
              <a:off x="0" y="0"/>
              <a:ext cx="3845413" cy="1731500"/>
            </a:xfrm>
            <a:custGeom>
              <a:avLst/>
              <a:gdLst/>
              <a:ahLst/>
              <a:cxnLst/>
              <a:rect r="r" b="b" t="t" l="l"/>
              <a:pathLst>
                <a:path h="1731500" w="3845413">
                  <a:moveTo>
                    <a:pt x="0" y="0"/>
                  </a:moveTo>
                  <a:lnTo>
                    <a:pt x="3845413" y="0"/>
                  </a:lnTo>
                  <a:lnTo>
                    <a:pt x="3845413" y="1731500"/>
                  </a:lnTo>
                  <a:lnTo>
                    <a:pt x="0" y="1731500"/>
                  </a:lnTo>
                  <a:close/>
                </a:path>
              </a:pathLst>
            </a:custGeom>
            <a:solidFill>
              <a:srgbClr val="F6F5F3"/>
            </a:solidFill>
            <a:ln w="9525" cap="sq">
              <a:solidFill>
                <a:srgbClr val="403E3E"/>
              </a:solidFill>
              <a:prstDash val="solid"/>
              <a:miter/>
            </a:ln>
          </p:spPr>
        </p:sp>
        <p:sp>
          <p:nvSpPr>
            <p:cNvPr name="TextBox 15" id="15"/>
            <p:cNvSpPr txBox="true"/>
            <p:nvPr/>
          </p:nvSpPr>
          <p:spPr>
            <a:xfrm>
              <a:off x="0" y="-47625"/>
              <a:ext cx="3845413" cy="1779125"/>
            </a:xfrm>
            <a:prstGeom prst="rect">
              <a:avLst/>
            </a:prstGeom>
          </p:spPr>
          <p:txBody>
            <a:bodyPr anchor="ctr" rtlCol="false" tIns="50800" lIns="50800" bIns="50800" rIns="50800"/>
            <a:lstStyle/>
            <a:p>
              <a:pPr algn="ctr">
                <a:lnSpc>
                  <a:spcPts val="1960"/>
                </a:lnSpc>
              </a:pPr>
            </a:p>
          </p:txBody>
        </p:sp>
      </p:grpSp>
      <p:sp>
        <p:nvSpPr>
          <p:cNvPr name="TextBox 16" id="16"/>
          <p:cNvSpPr txBox="true"/>
          <p:nvPr/>
        </p:nvSpPr>
        <p:spPr>
          <a:xfrm rot="0">
            <a:off x="570918" y="8928735"/>
            <a:ext cx="4279181" cy="621030"/>
          </a:xfrm>
          <a:prstGeom prst="rect">
            <a:avLst/>
          </a:prstGeom>
        </p:spPr>
        <p:txBody>
          <a:bodyPr anchor="t" rtlCol="false" tIns="0" lIns="0" bIns="0" rIns="0">
            <a:spAutoFit/>
          </a:bodyPr>
          <a:lstStyle/>
          <a:p>
            <a:pPr algn="l" marL="0" indent="0" lvl="0">
              <a:lnSpc>
                <a:spcPts val="2520"/>
              </a:lnSpc>
              <a:spcBef>
                <a:spcPct val="0"/>
              </a:spcBef>
            </a:pPr>
            <a:r>
              <a:rPr lang="en-US" sz="1800" spc="-72">
                <a:solidFill>
                  <a:srgbClr val="403E3E"/>
                </a:solidFill>
                <a:latin typeface="Inter"/>
                <a:ea typeface="Inter"/>
                <a:cs typeface="Inter"/>
                <a:sym typeface="Inter"/>
              </a:rPr>
              <a:t>HO CHI MINH CITY UNIVERSITY OF TRANSPORT</a:t>
            </a:r>
          </a:p>
        </p:txBody>
      </p:sp>
      <p:sp>
        <p:nvSpPr>
          <p:cNvPr name="Freeform 17" id="17"/>
          <p:cNvSpPr/>
          <p:nvPr/>
        </p:nvSpPr>
        <p:spPr>
          <a:xfrm flipH="false" flipV="false" rot="0">
            <a:off x="4111280" y="1028700"/>
            <a:ext cx="948381" cy="1520727"/>
          </a:xfrm>
          <a:custGeom>
            <a:avLst/>
            <a:gdLst/>
            <a:ahLst/>
            <a:cxnLst/>
            <a:rect r="r" b="b" t="t" l="l"/>
            <a:pathLst>
              <a:path h="1520727" w="948381">
                <a:moveTo>
                  <a:pt x="0" y="0"/>
                </a:moveTo>
                <a:lnTo>
                  <a:pt x="948381" y="0"/>
                </a:lnTo>
                <a:lnTo>
                  <a:pt x="948381" y="1520727"/>
                </a:lnTo>
                <a:lnTo>
                  <a:pt x="0" y="15207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8" id="18"/>
          <p:cNvSpPr txBox="true"/>
          <p:nvPr/>
        </p:nvSpPr>
        <p:spPr>
          <a:xfrm rot="0">
            <a:off x="5608706" y="3555365"/>
            <a:ext cx="4071034" cy="490855"/>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403E3E"/>
                </a:solidFill>
                <a:latin typeface="Inter Light"/>
                <a:ea typeface="Inter Light"/>
                <a:cs typeface="Inter Light"/>
                <a:sym typeface="Inter Light"/>
              </a:rPr>
              <a:t>DEFINITION</a:t>
            </a:r>
          </a:p>
        </p:txBody>
      </p:sp>
      <p:sp>
        <p:nvSpPr>
          <p:cNvPr name="AutoShape 19" id="19"/>
          <p:cNvSpPr/>
          <p:nvPr/>
        </p:nvSpPr>
        <p:spPr>
          <a:xfrm flipV="true">
            <a:off x="5198590" y="7179820"/>
            <a:ext cx="11289034" cy="0"/>
          </a:xfrm>
          <a:prstGeom prst="line">
            <a:avLst/>
          </a:prstGeom>
          <a:ln cap="flat" w="9525">
            <a:solidFill>
              <a:srgbClr val="000000"/>
            </a:solidFill>
            <a:prstDash val="sysDot"/>
            <a:headEnd type="none" len="sm" w="sm"/>
            <a:tailEnd type="none" len="sm" w="sm"/>
          </a:ln>
        </p:spPr>
      </p:sp>
      <p:sp>
        <p:nvSpPr>
          <p:cNvPr name="TextBox 20" id="20"/>
          <p:cNvSpPr txBox="true"/>
          <p:nvPr/>
        </p:nvSpPr>
        <p:spPr>
          <a:xfrm rot="0">
            <a:off x="5517256" y="6427027"/>
            <a:ext cx="4071034" cy="490855"/>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403E3E"/>
                </a:solidFill>
                <a:latin typeface="Inter Light"/>
                <a:ea typeface="Inter Light"/>
                <a:cs typeface="Inter Light"/>
                <a:sym typeface="Inter Light"/>
              </a:rPr>
              <a:t>EXAMPLE</a:t>
            </a:r>
          </a:p>
        </p:txBody>
      </p:sp>
      <p:sp>
        <p:nvSpPr>
          <p:cNvPr name="TextBox 21" id="21"/>
          <p:cNvSpPr txBox="true"/>
          <p:nvPr/>
        </p:nvSpPr>
        <p:spPr>
          <a:xfrm rot="0">
            <a:off x="5507323" y="7677199"/>
            <a:ext cx="3945410" cy="2173099"/>
          </a:xfrm>
          <a:prstGeom prst="rect">
            <a:avLst/>
          </a:prstGeom>
        </p:spPr>
        <p:txBody>
          <a:bodyPr anchor="t" rtlCol="false" tIns="0" lIns="0" bIns="0" rIns="0">
            <a:spAutoFit/>
          </a:bodyPr>
          <a:lstStyle/>
          <a:p>
            <a:pPr algn="just" marL="0" indent="0" lvl="0">
              <a:lnSpc>
                <a:spcPts val="2944"/>
              </a:lnSpc>
              <a:spcBef>
                <a:spcPct val="0"/>
              </a:spcBef>
            </a:pPr>
            <a:r>
              <a:rPr lang="en-US" sz="2103" spc="-46">
                <a:solidFill>
                  <a:srgbClr val="403E3E"/>
                </a:solidFill>
                <a:latin typeface="Inter"/>
                <a:ea typeface="Inter"/>
                <a:cs typeface="Inter"/>
                <a:sym typeface="Inter"/>
              </a:rPr>
              <a:t>Assume there are three processes P1, P2, and P3 with burst times of 5, 3, and 1 time units, respectively. The order of arrival is P1 first, then P2, and finally P3</a:t>
            </a:r>
          </a:p>
        </p:txBody>
      </p:sp>
      <p:sp>
        <p:nvSpPr>
          <p:cNvPr name="TextBox 22" id="22"/>
          <p:cNvSpPr txBox="true"/>
          <p:nvPr/>
        </p:nvSpPr>
        <p:spPr>
          <a:xfrm rot="0">
            <a:off x="10900533" y="6427027"/>
            <a:ext cx="4071034" cy="490855"/>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403E3E"/>
                </a:solidFill>
                <a:latin typeface="Inter Light"/>
                <a:ea typeface="Inter Light"/>
                <a:cs typeface="Inter Light"/>
                <a:sym typeface="Inter Light"/>
              </a:rPr>
              <a:t>EVALUATION</a:t>
            </a:r>
          </a:p>
        </p:txBody>
      </p:sp>
      <p:sp>
        <p:nvSpPr>
          <p:cNvPr name="TextBox 23" id="23"/>
          <p:cNvSpPr txBox="true"/>
          <p:nvPr/>
        </p:nvSpPr>
        <p:spPr>
          <a:xfrm rot="0">
            <a:off x="10900533" y="7677199"/>
            <a:ext cx="3945410" cy="1446798"/>
          </a:xfrm>
          <a:prstGeom prst="rect">
            <a:avLst/>
          </a:prstGeom>
        </p:spPr>
        <p:txBody>
          <a:bodyPr anchor="t" rtlCol="false" tIns="0" lIns="0" bIns="0" rIns="0">
            <a:spAutoFit/>
          </a:bodyPr>
          <a:lstStyle/>
          <a:p>
            <a:pPr algn="just" marL="0" indent="0" lvl="0">
              <a:lnSpc>
                <a:spcPts val="2944"/>
              </a:lnSpc>
              <a:spcBef>
                <a:spcPct val="0"/>
              </a:spcBef>
            </a:pPr>
            <a:r>
              <a:rPr lang="en-US" sz="2103" spc="-46">
                <a:solidFill>
                  <a:srgbClr val="403E3E"/>
                </a:solidFill>
                <a:latin typeface="Inter"/>
                <a:ea typeface="Inter"/>
                <a:cs typeface="Inter"/>
                <a:sym typeface="Inter"/>
              </a:rPr>
              <a:t>The FCFS algorithm may cause long waiting times for later processes, especially if an early process has a long burst time.</a:t>
            </a:r>
          </a:p>
        </p:txBody>
      </p:sp>
      <p:sp>
        <p:nvSpPr>
          <p:cNvPr name="Freeform 24" id="24"/>
          <p:cNvSpPr/>
          <p:nvPr/>
        </p:nvSpPr>
        <p:spPr>
          <a:xfrm flipH="false" flipV="false" rot="0">
            <a:off x="931336" y="1789064"/>
            <a:ext cx="2476770" cy="1024764"/>
          </a:xfrm>
          <a:custGeom>
            <a:avLst/>
            <a:gdLst/>
            <a:ahLst/>
            <a:cxnLst/>
            <a:rect r="r" b="b" t="t" l="l"/>
            <a:pathLst>
              <a:path h="1024764" w="2476770">
                <a:moveTo>
                  <a:pt x="0" y="0"/>
                </a:moveTo>
                <a:lnTo>
                  <a:pt x="2476771" y="0"/>
                </a:lnTo>
                <a:lnTo>
                  <a:pt x="2476771" y="1024763"/>
                </a:lnTo>
                <a:lnTo>
                  <a:pt x="0" y="1024763"/>
                </a:lnTo>
                <a:lnTo>
                  <a:pt x="0" y="0"/>
                </a:lnTo>
                <a:close/>
              </a:path>
            </a:pathLst>
          </a:custGeom>
          <a:blipFill>
            <a:blip r:embed="rId4"/>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EFEEEC"/>
        </a:solidFill>
      </p:bgPr>
    </p:bg>
    <p:spTree>
      <p:nvGrpSpPr>
        <p:cNvPr id="1" name=""/>
        <p:cNvGrpSpPr/>
        <p:nvPr/>
      </p:nvGrpSpPr>
      <p:grpSpPr>
        <a:xfrm>
          <a:off x="0" y="0"/>
          <a:ext cx="0" cy="0"/>
          <a:chOff x="0" y="0"/>
          <a:chExt cx="0" cy="0"/>
        </a:xfrm>
      </p:grpSpPr>
      <p:grpSp>
        <p:nvGrpSpPr>
          <p:cNvPr name="Group 2" id="2"/>
          <p:cNvGrpSpPr/>
          <p:nvPr/>
        </p:nvGrpSpPr>
        <p:grpSpPr>
          <a:xfrm rot="5400000">
            <a:off x="10653131" y="2318731"/>
            <a:ext cx="10730064" cy="5649539"/>
            <a:chOff x="0" y="0"/>
            <a:chExt cx="3845413" cy="2024667"/>
          </a:xfrm>
        </p:grpSpPr>
        <p:sp>
          <p:nvSpPr>
            <p:cNvPr name="Freeform 3" id="3"/>
            <p:cNvSpPr/>
            <p:nvPr/>
          </p:nvSpPr>
          <p:spPr>
            <a:xfrm flipH="false" flipV="false" rot="0">
              <a:off x="0" y="0"/>
              <a:ext cx="3845413" cy="2024667"/>
            </a:xfrm>
            <a:custGeom>
              <a:avLst/>
              <a:gdLst/>
              <a:ahLst/>
              <a:cxnLst/>
              <a:rect r="r" b="b" t="t" l="l"/>
              <a:pathLst>
                <a:path h="2024667" w="3845413">
                  <a:moveTo>
                    <a:pt x="0" y="0"/>
                  </a:moveTo>
                  <a:lnTo>
                    <a:pt x="3845413" y="0"/>
                  </a:lnTo>
                  <a:lnTo>
                    <a:pt x="3845413" y="2024667"/>
                  </a:lnTo>
                  <a:lnTo>
                    <a:pt x="0" y="2024667"/>
                  </a:lnTo>
                  <a:close/>
                </a:path>
              </a:pathLst>
            </a:custGeom>
            <a:solidFill>
              <a:srgbClr val="F6F5F3"/>
            </a:solidFill>
            <a:ln w="9525" cap="sq">
              <a:solidFill>
                <a:srgbClr val="403E3E"/>
              </a:solidFill>
              <a:prstDash val="solid"/>
              <a:miter/>
            </a:ln>
          </p:spPr>
        </p:sp>
        <p:sp>
          <p:nvSpPr>
            <p:cNvPr name="TextBox 4" id="4"/>
            <p:cNvSpPr txBox="true"/>
            <p:nvPr/>
          </p:nvSpPr>
          <p:spPr>
            <a:xfrm>
              <a:off x="0" y="-47625"/>
              <a:ext cx="3845413" cy="2072292"/>
            </a:xfrm>
            <a:prstGeom prst="rect">
              <a:avLst/>
            </a:prstGeom>
          </p:spPr>
          <p:txBody>
            <a:bodyPr anchor="ctr" rtlCol="false" tIns="50800" lIns="50800" bIns="50800" rIns="50800"/>
            <a:lstStyle/>
            <a:p>
              <a:pPr algn="ctr">
                <a:lnSpc>
                  <a:spcPts val="1960"/>
                </a:lnSpc>
              </a:pPr>
            </a:p>
          </p:txBody>
        </p:sp>
      </p:grpSp>
      <p:grpSp>
        <p:nvGrpSpPr>
          <p:cNvPr name="Group 5" id="5"/>
          <p:cNvGrpSpPr/>
          <p:nvPr/>
        </p:nvGrpSpPr>
        <p:grpSpPr>
          <a:xfrm rot="5400000">
            <a:off x="12432431" y="4605338"/>
            <a:ext cx="10730064" cy="1076325"/>
            <a:chOff x="0" y="0"/>
            <a:chExt cx="3845413" cy="385731"/>
          </a:xfrm>
        </p:grpSpPr>
        <p:sp>
          <p:nvSpPr>
            <p:cNvPr name="Freeform 6" id="6"/>
            <p:cNvSpPr/>
            <p:nvPr/>
          </p:nvSpPr>
          <p:spPr>
            <a:xfrm flipH="false" flipV="false" rot="0">
              <a:off x="0" y="0"/>
              <a:ext cx="3845413" cy="385731"/>
            </a:xfrm>
            <a:custGeom>
              <a:avLst/>
              <a:gdLst/>
              <a:ahLst/>
              <a:cxnLst/>
              <a:rect r="r" b="b" t="t" l="l"/>
              <a:pathLst>
                <a:path h="385731" w="3845413">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sp>
        <p:sp>
          <p:nvSpPr>
            <p:cNvPr name="TextBox 7" id="7"/>
            <p:cNvSpPr txBox="true"/>
            <p:nvPr/>
          </p:nvSpPr>
          <p:spPr>
            <a:xfrm>
              <a:off x="0" y="-47625"/>
              <a:ext cx="3845413" cy="433356"/>
            </a:xfrm>
            <a:prstGeom prst="rect">
              <a:avLst/>
            </a:prstGeom>
          </p:spPr>
          <p:txBody>
            <a:bodyPr anchor="ctr" rtlCol="false" tIns="50800" lIns="50800" bIns="50800" rIns="50800"/>
            <a:lstStyle/>
            <a:p>
              <a:pPr algn="ctr">
                <a:lnSpc>
                  <a:spcPts val="1960"/>
                </a:lnSpc>
              </a:pPr>
            </a:p>
          </p:txBody>
        </p:sp>
      </p:grpSp>
      <p:sp>
        <p:nvSpPr>
          <p:cNvPr name="TextBox 8" id="8"/>
          <p:cNvSpPr txBox="true"/>
          <p:nvPr/>
        </p:nvSpPr>
        <p:spPr>
          <a:xfrm rot="0">
            <a:off x="1108920" y="9085898"/>
            <a:ext cx="6254499" cy="306705"/>
          </a:xfrm>
          <a:prstGeom prst="rect">
            <a:avLst/>
          </a:prstGeom>
        </p:spPr>
        <p:txBody>
          <a:bodyPr anchor="t" rtlCol="false" tIns="0" lIns="0" bIns="0" rIns="0">
            <a:spAutoFit/>
          </a:bodyPr>
          <a:lstStyle/>
          <a:p>
            <a:pPr algn="l" marL="0" indent="0" lvl="0">
              <a:lnSpc>
                <a:spcPts val="2520"/>
              </a:lnSpc>
              <a:spcBef>
                <a:spcPct val="0"/>
              </a:spcBef>
            </a:pPr>
            <a:r>
              <a:rPr lang="en-US" sz="1800" spc="-72">
                <a:solidFill>
                  <a:srgbClr val="403E3E"/>
                </a:solidFill>
                <a:latin typeface="Inter"/>
                <a:ea typeface="Inter"/>
                <a:cs typeface="Inter"/>
                <a:sym typeface="Inter"/>
              </a:rPr>
              <a:t>HO CHI MINH CITY UNIVERSITY OF TRANSPORT</a:t>
            </a:r>
          </a:p>
        </p:txBody>
      </p:sp>
      <p:sp>
        <p:nvSpPr>
          <p:cNvPr name="TextBox 9" id="9"/>
          <p:cNvSpPr txBox="true"/>
          <p:nvPr/>
        </p:nvSpPr>
        <p:spPr>
          <a:xfrm rot="0">
            <a:off x="15495003" y="8948843"/>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25</a:t>
            </a:r>
          </a:p>
        </p:txBody>
      </p:sp>
      <p:sp>
        <p:nvSpPr>
          <p:cNvPr name="TextBox 10" id="10"/>
          <p:cNvSpPr txBox="true"/>
          <p:nvPr/>
        </p:nvSpPr>
        <p:spPr>
          <a:xfrm rot="0">
            <a:off x="13372005" y="990600"/>
            <a:ext cx="2850172" cy="621030"/>
          </a:xfrm>
          <a:prstGeom prst="rect">
            <a:avLst/>
          </a:prstGeom>
        </p:spPr>
        <p:txBody>
          <a:bodyPr anchor="t" rtlCol="false" tIns="0" lIns="0" bIns="0" rIns="0">
            <a:spAutoFit/>
          </a:bodyPr>
          <a:lstStyle/>
          <a:p>
            <a:pPr algn="r">
              <a:lnSpc>
                <a:spcPts val="2520"/>
              </a:lnSpc>
            </a:pPr>
            <a:r>
              <a:rPr lang="en-US" sz="1800" spc="-72">
                <a:solidFill>
                  <a:srgbClr val="403E3E"/>
                </a:solidFill>
                <a:latin typeface="Inter"/>
                <a:ea typeface="Inter"/>
                <a:cs typeface="Inter"/>
                <a:sym typeface="Inter"/>
              </a:rPr>
              <a:t>NOV 2025</a:t>
            </a:r>
          </a:p>
          <a:p>
            <a:pPr algn="r" marL="0" indent="0" lvl="0">
              <a:lnSpc>
                <a:spcPts val="2520"/>
              </a:lnSpc>
              <a:spcBef>
                <a:spcPct val="0"/>
              </a:spcBef>
            </a:pPr>
          </a:p>
        </p:txBody>
      </p:sp>
      <p:sp>
        <p:nvSpPr>
          <p:cNvPr name="TextBox 11" id="11"/>
          <p:cNvSpPr txBox="true"/>
          <p:nvPr/>
        </p:nvSpPr>
        <p:spPr>
          <a:xfrm rot="0">
            <a:off x="1028700" y="1754098"/>
            <a:ext cx="9594056" cy="1268095"/>
          </a:xfrm>
          <a:prstGeom prst="rect">
            <a:avLst/>
          </a:prstGeom>
        </p:spPr>
        <p:txBody>
          <a:bodyPr anchor="t" rtlCol="false" tIns="0" lIns="0" bIns="0" rIns="0">
            <a:spAutoFit/>
          </a:bodyPr>
          <a:lstStyle/>
          <a:p>
            <a:pPr algn="l">
              <a:lnSpc>
                <a:spcPts val="4760"/>
              </a:lnSpc>
            </a:pPr>
            <a:r>
              <a:rPr lang="en-US" sz="5600" spc="-420" b="true">
                <a:solidFill>
                  <a:srgbClr val="403E3E"/>
                </a:solidFill>
                <a:latin typeface="Inter Bold"/>
                <a:ea typeface="Inter Bold"/>
                <a:cs typeface="Inter Bold"/>
                <a:sym typeface="Inter Bold"/>
              </a:rPr>
              <a:t>5.1.2 Turnaround Time</a:t>
            </a:r>
          </a:p>
          <a:p>
            <a:pPr algn="l" marL="0" indent="0" lvl="0">
              <a:lnSpc>
                <a:spcPts val="4760"/>
              </a:lnSpc>
              <a:spcBef>
                <a:spcPct val="0"/>
              </a:spcBef>
            </a:pPr>
          </a:p>
        </p:txBody>
      </p:sp>
      <p:sp>
        <p:nvSpPr>
          <p:cNvPr name="TextBox 12" id="12"/>
          <p:cNvSpPr txBox="true"/>
          <p:nvPr/>
        </p:nvSpPr>
        <p:spPr>
          <a:xfrm rot="0">
            <a:off x="1284138" y="3566347"/>
            <a:ext cx="3161665" cy="490855"/>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403E3E"/>
                </a:solidFill>
                <a:latin typeface="Inter Light"/>
                <a:ea typeface="Inter Light"/>
                <a:cs typeface="Inter Light"/>
                <a:sym typeface="Inter Light"/>
              </a:rPr>
              <a:t>DEFINITION</a:t>
            </a:r>
          </a:p>
        </p:txBody>
      </p:sp>
      <p:sp>
        <p:nvSpPr>
          <p:cNvPr name="TextBox 13" id="13"/>
          <p:cNvSpPr txBox="true"/>
          <p:nvPr/>
        </p:nvSpPr>
        <p:spPr>
          <a:xfrm rot="0">
            <a:off x="1032561" y="4655440"/>
            <a:ext cx="3672541" cy="1438450"/>
          </a:xfrm>
          <a:prstGeom prst="rect">
            <a:avLst/>
          </a:prstGeom>
        </p:spPr>
        <p:txBody>
          <a:bodyPr anchor="t" rtlCol="false" tIns="0" lIns="0" bIns="0" rIns="0">
            <a:spAutoFit/>
          </a:bodyPr>
          <a:lstStyle/>
          <a:p>
            <a:pPr algn="just" marL="0" indent="0" lvl="0">
              <a:lnSpc>
                <a:spcPts val="2927"/>
              </a:lnSpc>
              <a:spcBef>
                <a:spcPct val="0"/>
              </a:spcBef>
            </a:pPr>
            <a:r>
              <a:rPr lang="en-US" sz="2090" spc="-46">
                <a:solidFill>
                  <a:srgbClr val="403E3E"/>
                </a:solidFill>
                <a:latin typeface="Inter"/>
                <a:ea typeface="Inter"/>
                <a:cs typeface="Inter"/>
                <a:sym typeface="Inter"/>
              </a:rPr>
              <a:t>Turnaround time is the total amount of time taken from the submission of a process until its completion.</a:t>
            </a:r>
          </a:p>
        </p:txBody>
      </p:sp>
      <p:sp>
        <p:nvSpPr>
          <p:cNvPr name="TextBox 14" id="14"/>
          <p:cNvSpPr txBox="true"/>
          <p:nvPr/>
        </p:nvSpPr>
        <p:spPr>
          <a:xfrm rot="0">
            <a:off x="7563167" y="3566347"/>
            <a:ext cx="3161665" cy="490855"/>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403E3E"/>
                </a:solidFill>
                <a:latin typeface="Inter Light"/>
                <a:ea typeface="Inter Light"/>
                <a:cs typeface="Inter Light"/>
                <a:sym typeface="Inter Light"/>
              </a:rPr>
              <a:t>ANALYSIS OF FCFS</a:t>
            </a:r>
          </a:p>
        </p:txBody>
      </p:sp>
      <p:sp>
        <p:nvSpPr>
          <p:cNvPr name="TextBox 15" id="15"/>
          <p:cNvSpPr txBox="true"/>
          <p:nvPr/>
        </p:nvSpPr>
        <p:spPr>
          <a:xfrm rot="0">
            <a:off x="7148475" y="4655440"/>
            <a:ext cx="3474281" cy="1066208"/>
          </a:xfrm>
          <a:prstGeom prst="rect">
            <a:avLst/>
          </a:prstGeom>
        </p:spPr>
        <p:txBody>
          <a:bodyPr anchor="t" rtlCol="false" tIns="0" lIns="0" bIns="0" rIns="0">
            <a:spAutoFit/>
          </a:bodyPr>
          <a:lstStyle/>
          <a:p>
            <a:pPr algn="just" marL="0" indent="0" lvl="0">
              <a:lnSpc>
                <a:spcPts val="2895"/>
              </a:lnSpc>
              <a:spcBef>
                <a:spcPct val="0"/>
              </a:spcBef>
            </a:pPr>
            <a:r>
              <a:rPr lang="en-US" sz="2068" spc="-45">
                <a:solidFill>
                  <a:srgbClr val="403E3E"/>
                </a:solidFill>
                <a:latin typeface="Inter"/>
                <a:ea typeface="Inter"/>
                <a:cs typeface="Inter"/>
                <a:sym typeface="Inter"/>
              </a:rPr>
              <a:t>The turnaround time in FCFS scheduling is directly affected by the waiting time</a:t>
            </a:r>
          </a:p>
        </p:txBody>
      </p:sp>
      <p:sp>
        <p:nvSpPr>
          <p:cNvPr name="TextBox 16" id="16"/>
          <p:cNvSpPr txBox="true"/>
          <p:nvPr/>
        </p:nvSpPr>
        <p:spPr>
          <a:xfrm rot="0">
            <a:off x="1284138" y="6389165"/>
            <a:ext cx="3161665" cy="490855"/>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403E3E"/>
                </a:solidFill>
                <a:latin typeface="Inter Light"/>
                <a:ea typeface="Inter Light"/>
                <a:cs typeface="Inter Light"/>
                <a:sym typeface="Inter Light"/>
              </a:rPr>
              <a:t>EXAMPLE</a:t>
            </a:r>
          </a:p>
        </p:txBody>
      </p:sp>
      <p:sp>
        <p:nvSpPr>
          <p:cNvPr name="TextBox 17" id="17"/>
          <p:cNvSpPr txBox="true"/>
          <p:nvPr/>
        </p:nvSpPr>
        <p:spPr>
          <a:xfrm rot="0">
            <a:off x="1108920" y="7480095"/>
            <a:ext cx="4118742" cy="1074208"/>
          </a:xfrm>
          <a:prstGeom prst="rect">
            <a:avLst/>
          </a:prstGeom>
        </p:spPr>
        <p:txBody>
          <a:bodyPr anchor="t" rtlCol="false" tIns="0" lIns="0" bIns="0" rIns="0">
            <a:spAutoFit/>
          </a:bodyPr>
          <a:lstStyle/>
          <a:p>
            <a:pPr algn="just" marL="0" indent="0" lvl="0">
              <a:lnSpc>
                <a:spcPts val="2918"/>
              </a:lnSpc>
              <a:spcBef>
                <a:spcPct val="0"/>
              </a:spcBef>
            </a:pPr>
            <a:r>
              <a:rPr lang="en-US" sz="2084" spc="-45">
                <a:solidFill>
                  <a:srgbClr val="403E3E"/>
                </a:solidFill>
                <a:latin typeface="Inter"/>
                <a:ea typeface="Inter"/>
                <a:cs typeface="Inter"/>
                <a:sym typeface="Inter"/>
              </a:rPr>
              <a:t>For the same processes P1, P2, and P3 with burst times 5, 3, and 1, the turnaround times are:</a:t>
            </a:r>
          </a:p>
        </p:txBody>
      </p:sp>
      <p:sp>
        <p:nvSpPr>
          <p:cNvPr name="AutoShape 18" id="18"/>
          <p:cNvSpPr/>
          <p:nvPr/>
        </p:nvSpPr>
        <p:spPr>
          <a:xfrm flipV="true">
            <a:off x="1028700" y="4422077"/>
            <a:ext cx="10927493" cy="0"/>
          </a:xfrm>
          <a:prstGeom prst="line">
            <a:avLst/>
          </a:prstGeom>
          <a:ln cap="flat" w="9525">
            <a:solidFill>
              <a:srgbClr val="000000"/>
            </a:solidFill>
            <a:prstDash val="sysDot"/>
            <a:headEnd type="none" len="sm" w="sm"/>
            <a:tailEnd type="none" len="sm" w="sm"/>
          </a:ln>
        </p:spPr>
      </p:sp>
      <p:sp>
        <p:nvSpPr>
          <p:cNvPr name="Freeform 19" id="19"/>
          <p:cNvSpPr/>
          <p:nvPr/>
        </p:nvSpPr>
        <p:spPr>
          <a:xfrm flipH="false" flipV="false" rot="0">
            <a:off x="12719203" y="1028700"/>
            <a:ext cx="948381" cy="1520727"/>
          </a:xfrm>
          <a:custGeom>
            <a:avLst/>
            <a:gdLst/>
            <a:ahLst/>
            <a:cxnLst/>
            <a:rect r="r" b="b" t="t" l="l"/>
            <a:pathLst>
              <a:path h="1520727" w="948381">
                <a:moveTo>
                  <a:pt x="0" y="0"/>
                </a:moveTo>
                <a:lnTo>
                  <a:pt x="948381" y="0"/>
                </a:lnTo>
                <a:lnTo>
                  <a:pt x="948381" y="1520727"/>
                </a:lnTo>
                <a:lnTo>
                  <a:pt x="0" y="15207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20" id="20"/>
          <p:cNvSpPr/>
          <p:nvPr/>
        </p:nvSpPr>
        <p:spPr>
          <a:xfrm>
            <a:off x="813859" y="7246733"/>
            <a:ext cx="10927493" cy="0"/>
          </a:xfrm>
          <a:prstGeom prst="line">
            <a:avLst/>
          </a:prstGeom>
          <a:ln cap="flat" w="9525">
            <a:solidFill>
              <a:srgbClr val="000000"/>
            </a:solidFill>
            <a:prstDash val="sysDot"/>
            <a:headEnd type="none" len="sm" w="sm"/>
            <a:tailEnd type="none" len="sm" w="sm"/>
          </a:ln>
        </p:spPr>
      </p:sp>
      <p:sp>
        <p:nvSpPr>
          <p:cNvPr name="TextBox 21" id="21"/>
          <p:cNvSpPr txBox="true"/>
          <p:nvPr/>
        </p:nvSpPr>
        <p:spPr>
          <a:xfrm rot="0">
            <a:off x="7563167" y="6388782"/>
            <a:ext cx="3161665" cy="490855"/>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403E3E"/>
                </a:solidFill>
                <a:latin typeface="Inter Light"/>
                <a:ea typeface="Inter Light"/>
                <a:cs typeface="Inter Light"/>
                <a:sym typeface="Inter Light"/>
              </a:rPr>
              <a:t>EVALUATION</a:t>
            </a:r>
          </a:p>
        </p:txBody>
      </p:sp>
      <p:sp>
        <p:nvSpPr>
          <p:cNvPr name="TextBox 22" id="22"/>
          <p:cNvSpPr txBox="true"/>
          <p:nvPr/>
        </p:nvSpPr>
        <p:spPr>
          <a:xfrm rot="0">
            <a:off x="7148475" y="7565820"/>
            <a:ext cx="4118742" cy="714366"/>
          </a:xfrm>
          <a:prstGeom prst="rect">
            <a:avLst/>
          </a:prstGeom>
        </p:spPr>
        <p:txBody>
          <a:bodyPr anchor="t" rtlCol="false" tIns="0" lIns="0" bIns="0" rIns="0">
            <a:spAutoFit/>
          </a:bodyPr>
          <a:lstStyle/>
          <a:p>
            <a:pPr algn="just" marL="0" indent="0" lvl="0">
              <a:lnSpc>
                <a:spcPts val="2918"/>
              </a:lnSpc>
              <a:spcBef>
                <a:spcPct val="0"/>
              </a:spcBef>
            </a:pPr>
            <a:r>
              <a:rPr lang="en-US" sz="2084" spc="-45">
                <a:solidFill>
                  <a:srgbClr val="403E3E"/>
                </a:solidFill>
                <a:latin typeface="Inter"/>
                <a:ea typeface="Inter"/>
                <a:cs typeface="Inter"/>
                <a:sym typeface="Inter"/>
              </a:rPr>
              <a:t>The FCFS algorithm does not optimize turnaround time.</a:t>
            </a:r>
          </a:p>
        </p:txBody>
      </p:sp>
      <p:sp>
        <p:nvSpPr>
          <p:cNvPr name="Freeform 23" id="23"/>
          <p:cNvSpPr/>
          <p:nvPr/>
        </p:nvSpPr>
        <p:spPr>
          <a:xfrm flipH="false" flipV="false" rot="0">
            <a:off x="1032561" y="731833"/>
            <a:ext cx="2476770" cy="1024764"/>
          </a:xfrm>
          <a:custGeom>
            <a:avLst/>
            <a:gdLst/>
            <a:ahLst/>
            <a:cxnLst/>
            <a:rect r="r" b="b" t="t" l="l"/>
            <a:pathLst>
              <a:path h="1024764" w="2476770">
                <a:moveTo>
                  <a:pt x="0" y="0"/>
                </a:moveTo>
                <a:lnTo>
                  <a:pt x="2476770" y="0"/>
                </a:lnTo>
                <a:lnTo>
                  <a:pt x="2476770" y="1024764"/>
                </a:lnTo>
                <a:lnTo>
                  <a:pt x="0" y="1024764"/>
                </a:lnTo>
                <a:lnTo>
                  <a:pt x="0" y="0"/>
                </a:lnTo>
                <a:close/>
              </a:path>
            </a:pathLst>
          </a:custGeom>
          <a:blipFill>
            <a:blip r:embed="rId4"/>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6F5F3"/>
        </a:solidFill>
      </p:bgPr>
    </p:bg>
    <p:spTree>
      <p:nvGrpSpPr>
        <p:cNvPr id="1" name=""/>
        <p:cNvGrpSpPr/>
        <p:nvPr/>
      </p:nvGrpSpPr>
      <p:grpSpPr>
        <a:xfrm>
          <a:off x="0" y="0"/>
          <a:ext cx="0" cy="0"/>
          <a:chOff x="0" y="0"/>
          <a:chExt cx="0" cy="0"/>
        </a:xfrm>
      </p:grpSpPr>
      <p:grpSp>
        <p:nvGrpSpPr>
          <p:cNvPr name="Group 2" id="2"/>
          <p:cNvGrpSpPr/>
          <p:nvPr/>
        </p:nvGrpSpPr>
        <p:grpSpPr>
          <a:xfrm rot="5400000">
            <a:off x="6667400" y="-6899948"/>
            <a:ext cx="4044591" cy="17622955"/>
            <a:chOff x="0" y="0"/>
            <a:chExt cx="1449490" cy="6315669"/>
          </a:xfrm>
        </p:grpSpPr>
        <p:sp>
          <p:nvSpPr>
            <p:cNvPr name="Freeform 3" id="3"/>
            <p:cNvSpPr/>
            <p:nvPr/>
          </p:nvSpPr>
          <p:spPr>
            <a:xfrm flipH="false" flipV="false" rot="0">
              <a:off x="0" y="0"/>
              <a:ext cx="1449490" cy="6315670"/>
            </a:xfrm>
            <a:custGeom>
              <a:avLst/>
              <a:gdLst/>
              <a:ahLst/>
              <a:cxnLst/>
              <a:rect r="r" b="b" t="t" l="l"/>
              <a:pathLst>
                <a:path h="6315670" w="1449490">
                  <a:moveTo>
                    <a:pt x="0" y="0"/>
                  </a:moveTo>
                  <a:lnTo>
                    <a:pt x="1449490" y="0"/>
                  </a:lnTo>
                  <a:lnTo>
                    <a:pt x="1449490" y="6315670"/>
                  </a:lnTo>
                  <a:lnTo>
                    <a:pt x="0" y="6315670"/>
                  </a:lnTo>
                  <a:close/>
                </a:path>
              </a:pathLst>
            </a:custGeom>
            <a:solidFill>
              <a:srgbClr val="EFEEEC"/>
            </a:solidFill>
            <a:ln w="9525" cap="sq">
              <a:solidFill>
                <a:srgbClr val="403E3E"/>
              </a:solidFill>
              <a:prstDash val="solid"/>
              <a:miter/>
            </a:ln>
          </p:spPr>
        </p:sp>
        <p:sp>
          <p:nvSpPr>
            <p:cNvPr name="TextBox 4" id="4"/>
            <p:cNvSpPr txBox="true"/>
            <p:nvPr/>
          </p:nvSpPr>
          <p:spPr>
            <a:xfrm>
              <a:off x="0" y="-47625"/>
              <a:ext cx="1449490" cy="6363294"/>
            </a:xfrm>
            <a:prstGeom prst="rect">
              <a:avLst/>
            </a:prstGeom>
          </p:spPr>
          <p:txBody>
            <a:bodyPr anchor="ctr" rtlCol="false" tIns="50800" lIns="50800" bIns="50800" rIns="50800"/>
            <a:lstStyle/>
            <a:p>
              <a:pPr algn="ctr">
                <a:lnSpc>
                  <a:spcPts val="1960"/>
                </a:lnSpc>
              </a:pPr>
            </a:p>
          </p:txBody>
        </p:sp>
      </p:grpSp>
      <p:grpSp>
        <p:nvGrpSpPr>
          <p:cNvPr name="Group 5" id="5"/>
          <p:cNvGrpSpPr/>
          <p:nvPr/>
        </p:nvGrpSpPr>
        <p:grpSpPr>
          <a:xfrm rot="5400000">
            <a:off x="12432431" y="4605338"/>
            <a:ext cx="10730064" cy="1076325"/>
            <a:chOff x="0" y="0"/>
            <a:chExt cx="3845413" cy="385731"/>
          </a:xfrm>
        </p:grpSpPr>
        <p:sp>
          <p:nvSpPr>
            <p:cNvPr name="Freeform 6" id="6"/>
            <p:cNvSpPr/>
            <p:nvPr/>
          </p:nvSpPr>
          <p:spPr>
            <a:xfrm flipH="false" flipV="false" rot="0">
              <a:off x="0" y="0"/>
              <a:ext cx="3845413" cy="385731"/>
            </a:xfrm>
            <a:custGeom>
              <a:avLst/>
              <a:gdLst/>
              <a:ahLst/>
              <a:cxnLst/>
              <a:rect r="r" b="b" t="t" l="l"/>
              <a:pathLst>
                <a:path h="385731" w="3845413">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sp>
        <p:sp>
          <p:nvSpPr>
            <p:cNvPr name="TextBox 7" id="7"/>
            <p:cNvSpPr txBox="true"/>
            <p:nvPr/>
          </p:nvSpPr>
          <p:spPr>
            <a:xfrm>
              <a:off x="0" y="-47625"/>
              <a:ext cx="3845413" cy="433356"/>
            </a:xfrm>
            <a:prstGeom prst="rect">
              <a:avLst/>
            </a:prstGeom>
          </p:spPr>
          <p:txBody>
            <a:bodyPr anchor="ctr" rtlCol="false" tIns="50800" lIns="50800" bIns="50800" rIns="50800"/>
            <a:lstStyle/>
            <a:p>
              <a:pPr algn="ctr">
                <a:lnSpc>
                  <a:spcPts val="1960"/>
                </a:lnSpc>
              </a:pPr>
            </a:p>
          </p:txBody>
        </p:sp>
      </p:grpSp>
      <p:sp>
        <p:nvSpPr>
          <p:cNvPr name="TextBox 8" id="8"/>
          <p:cNvSpPr txBox="true"/>
          <p:nvPr/>
        </p:nvSpPr>
        <p:spPr>
          <a:xfrm rot="0">
            <a:off x="1028700" y="8951595"/>
            <a:ext cx="6049271" cy="306705"/>
          </a:xfrm>
          <a:prstGeom prst="rect">
            <a:avLst/>
          </a:prstGeom>
        </p:spPr>
        <p:txBody>
          <a:bodyPr anchor="t" rtlCol="false" tIns="0" lIns="0" bIns="0" rIns="0">
            <a:spAutoFit/>
          </a:bodyPr>
          <a:lstStyle/>
          <a:p>
            <a:pPr algn="l" marL="0" indent="0" lvl="0">
              <a:lnSpc>
                <a:spcPts val="2520"/>
              </a:lnSpc>
              <a:spcBef>
                <a:spcPct val="0"/>
              </a:spcBef>
            </a:pPr>
            <a:r>
              <a:rPr lang="en-US" sz="1800" spc="-72">
                <a:solidFill>
                  <a:srgbClr val="403E3E"/>
                </a:solidFill>
                <a:latin typeface="Inter"/>
                <a:ea typeface="Inter"/>
                <a:cs typeface="Inter"/>
                <a:sym typeface="Inter"/>
              </a:rPr>
              <a:t>HO CHI MINH CITY UNIVERSITY OF TRANSPORT</a:t>
            </a:r>
          </a:p>
        </p:txBody>
      </p:sp>
      <p:sp>
        <p:nvSpPr>
          <p:cNvPr name="TextBox 9" id="9"/>
          <p:cNvSpPr txBox="true"/>
          <p:nvPr/>
        </p:nvSpPr>
        <p:spPr>
          <a:xfrm rot="0">
            <a:off x="15506330" y="8951595"/>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26</a:t>
            </a:r>
          </a:p>
        </p:txBody>
      </p:sp>
      <p:sp>
        <p:nvSpPr>
          <p:cNvPr name="TextBox 10" id="10"/>
          <p:cNvSpPr txBox="true"/>
          <p:nvPr/>
        </p:nvSpPr>
        <p:spPr>
          <a:xfrm rot="0">
            <a:off x="1028700" y="2666365"/>
            <a:ext cx="9594056" cy="668020"/>
          </a:xfrm>
          <a:prstGeom prst="rect">
            <a:avLst/>
          </a:prstGeom>
        </p:spPr>
        <p:txBody>
          <a:bodyPr anchor="t" rtlCol="false" tIns="0" lIns="0" bIns="0" rIns="0">
            <a:spAutoFit/>
          </a:bodyPr>
          <a:lstStyle/>
          <a:p>
            <a:pPr algn="l" marL="0" indent="0" lvl="0">
              <a:lnSpc>
                <a:spcPts val="4760"/>
              </a:lnSpc>
              <a:spcBef>
                <a:spcPct val="0"/>
              </a:spcBef>
            </a:pPr>
            <a:r>
              <a:rPr lang="en-US" b="true" sz="5600" spc="-420">
                <a:solidFill>
                  <a:srgbClr val="403E3E"/>
                </a:solidFill>
                <a:latin typeface="Inter Bold"/>
                <a:ea typeface="Inter Bold"/>
                <a:cs typeface="Inter Bold"/>
                <a:sym typeface="Inter Bold"/>
              </a:rPr>
              <a:t>5.1.3 Characteristics of FCFS</a:t>
            </a:r>
          </a:p>
        </p:txBody>
      </p:sp>
      <p:sp>
        <p:nvSpPr>
          <p:cNvPr name="TextBox 11" id="11"/>
          <p:cNvSpPr txBox="true"/>
          <p:nvPr/>
        </p:nvSpPr>
        <p:spPr>
          <a:xfrm rot="0">
            <a:off x="1028700" y="5210175"/>
            <a:ext cx="3588512" cy="490855"/>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403E3E"/>
                </a:solidFill>
                <a:latin typeface="Inter Light"/>
                <a:ea typeface="Inter Light"/>
                <a:cs typeface="Inter Light"/>
                <a:sym typeface="Inter Light"/>
              </a:rPr>
              <a:t>FAIRNESS</a:t>
            </a:r>
          </a:p>
        </p:txBody>
      </p:sp>
      <p:sp>
        <p:nvSpPr>
          <p:cNvPr name="TextBox 12" id="12"/>
          <p:cNvSpPr txBox="true"/>
          <p:nvPr/>
        </p:nvSpPr>
        <p:spPr>
          <a:xfrm rot="0">
            <a:off x="1028700" y="6359145"/>
            <a:ext cx="4279181" cy="1434301"/>
          </a:xfrm>
          <a:prstGeom prst="rect">
            <a:avLst/>
          </a:prstGeom>
        </p:spPr>
        <p:txBody>
          <a:bodyPr anchor="t" rtlCol="false" tIns="0" lIns="0" bIns="0" rIns="0">
            <a:spAutoFit/>
          </a:bodyPr>
          <a:lstStyle/>
          <a:p>
            <a:pPr algn="just" marL="0" indent="0" lvl="0">
              <a:lnSpc>
                <a:spcPts val="2918"/>
              </a:lnSpc>
              <a:spcBef>
                <a:spcPct val="0"/>
              </a:spcBef>
            </a:pPr>
            <a:r>
              <a:rPr lang="en-US" sz="2084" spc="-45">
                <a:solidFill>
                  <a:srgbClr val="403E3E"/>
                </a:solidFill>
                <a:latin typeface="Inter"/>
                <a:ea typeface="Inter"/>
                <a:cs typeface="Inter"/>
                <a:sym typeface="Inter"/>
              </a:rPr>
              <a:t>FCFS is considered fair since all processes are served in the order they arrive, with no process being preempted or starved.</a:t>
            </a:r>
          </a:p>
        </p:txBody>
      </p:sp>
      <p:sp>
        <p:nvSpPr>
          <p:cNvPr name="TextBox 13" id="13"/>
          <p:cNvSpPr txBox="true"/>
          <p:nvPr/>
        </p:nvSpPr>
        <p:spPr>
          <a:xfrm rot="0">
            <a:off x="6286687" y="5210175"/>
            <a:ext cx="3588512" cy="490855"/>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403E3E"/>
                </a:solidFill>
                <a:latin typeface="Inter Light"/>
                <a:ea typeface="Inter Light"/>
                <a:cs typeface="Inter Light"/>
                <a:sym typeface="Inter Light"/>
              </a:rPr>
              <a:t>EFFICIENCY</a:t>
            </a:r>
          </a:p>
        </p:txBody>
      </p:sp>
      <p:sp>
        <p:nvSpPr>
          <p:cNvPr name="TextBox 14" id="14"/>
          <p:cNvSpPr txBox="true"/>
          <p:nvPr/>
        </p:nvSpPr>
        <p:spPr>
          <a:xfrm rot="0">
            <a:off x="6286687" y="6349620"/>
            <a:ext cx="4336069" cy="1079362"/>
          </a:xfrm>
          <a:prstGeom prst="rect">
            <a:avLst/>
          </a:prstGeom>
        </p:spPr>
        <p:txBody>
          <a:bodyPr anchor="t" rtlCol="false" tIns="0" lIns="0" bIns="0" rIns="0">
            <a:spAutoFit/>
          </a:bodyPr>
          <a:lstStyle/>
          <a:p>
            <a:pPr algn="just" marL="0" indent="0" lvl="0">
              <a:lnSpc>
                <a:spcPts val="2905"/>
              </a:lnSpc>
              <a:spcBef>
                <a:spcPct val="0"/>
              </a:spcBef>
            </a:pPr>
            <a:r>
              <a:rPr lang="en-US" sz="2075" spc="-45">
                <a:solidFill>
                  <a:srgbClr val="403E3E"/>
                </a:solidFill>
                <a:latin typeface="Inter"/>
                <a:ea typeface="Inter"/>
                <a:cs typeface="Inter"/>
                <a:sym typeface="Inter"/>
              </a:rPr>
              <a:t>FCFS suffers from low efficiency when there is a large variation in burst times among processes.</a:t>
            </a:r>
          </a:p>
        </p:txBody>
      </p:sp>
      <p:sp>
        <p:nvSpPr>
          <p:cNvPr name="TextBox 15" id="15"/>
          <p:cNvSpPr txBox="true"/>
          <p:nvPr/>
        </p:nvSpPr>
        <p:spPr>
          <a:xfrm rot="0">
            <a:off x="11544674" y="5210175"/>
            <a:ext cx="3588512" cy="490855"/>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403E3E"/>
                </a:solidFill>
                <a:latin typeface="Inter Light"/>
                <a:ea typeface="Inter Light"/>
                <a:cs typeface="Inter Light"/>
                <a:sym typeface="Inter Light"/>
              </a:rPr>
              <a:t>EFFECT</a:t>
            </a:r>
          </a:p>
        </p:txBody>
      </p:sp>
      <p:sp>
        <p:nvSpPr>
          <p:cNvPr name="TextBox 16" id="16"/>
          <p:cNvSpPr txBox="true"/>
          <p:nvPr/>
        </p:nvSpPr>
        <p:spPr>
          <a:xfrm rot="0">
            <a:off x="11544674" y="6359145"/>
            <a:ext cx="4797028" cy="1075929"/>
          </a:xfrm>
          <a:prstGeom prst="rect">
            <a:avLst/>
          </a:prstGeom>
        </p:spPr>
        <p:txBody>
          <a:bodyPr anchor="t" rtlCol="false" tIns="0" lIns="0" bIns="0" rIns="0">
            <a:spAutoFit/>
          </a:bodyPr>
          <a:lstStyle/>
          <a:p>
            <a:pPr algn="just" marL="0" indent="0" lvl="0">
              <a:lnSpc>
                <a:spcPts val="2922"/>
              </a:lnSpc>
              <a:spcBef>
                <a:spcPct val="0"/>
              </a:spcBef>
            </a:pPr>
            <a:r>
              <a:rPr lang="en-US" sz="2087" spc="-45">
                <a:solidFill>
                  <a:srgbClr val="403E3E"/>
                </a:solidFill>
                <a:latin typeface="Inter"/>
                <a:ea typeface="Inter"/>
                <a:cs typeface="Inter"/>
                <a:sym typeface="Inter"/>
              </a:rPr>
              <a:t>Although simple and easy to implement, FCFS is not suitable for time-sharing systems or interactive environments.</a:t>
            </a:r>
          </a:p>
        </p:txBody>
      </p:sp>
      <p:sp>
        <p:nvSpPr>
          <p:cNvPr name="TextBox 17" id="17"/>
          <p:cNvSpPr txBox="true"/>
          <p:nvPr/>
        </p:nvSpPr>
        <p:spPr>
          <a:xfrm rot="0">
            <a:off x="13402382" y="993352"/>
            <a:ext cx="2850172" cy="621030"/>
          </a:xfrm>
          <a:prstGeom prst="rect">
            <a:avLst/>
          </a:prstGeom>
        </p:spPr>
        <p:txBody>
          <a:bodyPr anchor="t" rtlCol="false" tIns="0" lIns="0" bIns="0" rIns="0">
            <a:spAutoFit/>
          </a:bodyPr>
          <a:lstStyle/>
          <a:p>
            <a:pPr algn="r">
              <a:lnSpc>
                <a:spcPts val="2520"/>
              </a:lnSpc>
            </a:pPr>
            <a:r>
              <a:rPr lang="en-US" sz="1800" spc="-72">
                <a:solidFill>
                  <a:srgbClr val="403E3E"/>
                </a:solidFill>
                <a:latin typeface="Inter"/>
                <a:ea typeface="Inter"/>
                <a:cs typeface="Inter"/>
                <a:sym typeface="Inter"/>
              </a:rPr>
              <a:t>NOV 2025</a:t>
            </a:r>
          </a:p>
          <a:p>
            <a:pPr algn="r" marL="0" indent="0" lvl="0">
              <a:lnSpc>
                <a:spcPts val="2520"/>
              </a:lnSpc>
              <a:spcBef>
                <a:spcPct val="0"/>
              </a:spcBef>
            </a:pPr>
          </a:p>
        </p:txBody>
      </p:sp>
      <p:sp>
        <p:nvSpPr>
          <p:cNvPr name="AutoShape 18" id="18"/>
          <p:cNvSpPr/>
          <p:nvPr/>
        </p:nvSpPr>
        <p:spPr>
          <a:xfrm flipV="true">
            <a:off x="1028700" y="6026749"/>
            <a:ext cx="15313002" cy="0"/>
          </a:xfrm>
          <a:prstGeom prst="line">
            <a:avLst/>
          </a:prstGeom>
          <a:ln cap="flat" w="9525">
            <a:solidFill>
              <a:srgbClr val="000000"/>
            </a:solidFill>
            <a:prstDash val="sysDot"/>
            <a:headEnd type="none" len="sm" w="sm"/>
            <a:tailEnd type="none" len="sm" w="sm"/>
          </a:ln>
        </p:spPr>
      </p:sp>
      <p:sp>
        <p:nvSpPr>
          <p:cNvPr name="Freeform 19" id="19"/>
          <p:cNvSpPr/>
          <p:nvPr/>
        </p:nvSpPr>
        <p:spPr>
          <a:xfrm flipH="false" flipV="false" rot="5400000">
            <a:off x="15018000" y="3173461"/>
            <a:ext cx="948381" cy="1520727"/>
          </a:xfrm>
          <a:custGeom>
            <a:avLst/>
            <a:gdLst/>
            <a:ahLst/>
            <a:cxnLst/>
            <a:rect r="r" b="b" t="t" l="l"/>
            <a:pathLst>
              <a:path h="1520727" w="948381">
                <a:moveTo>
                  <a:pt x="0" y="0"/>
                </a:moveTo>
                <a:lnTo>
                  <a:pt x="948381" y="0"/>
                </a:lnTo>
                <a:lnTo>
                  <a:pt x="948381" y="1520728"/>
                </a:lnTo>
                <a:lnTo>
                  <a:pt x="0" y="15207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0">
            <a:off x="1028700" y="755776"/>
            <a:ext cx="2476770" cy="1024764"/>
          </a:xfrm>
          <a:custGeom>
            <a:avLst/>
            <a:gdLst/>
            <a:ahLst/>
            <a:cxnLst/>
            <a:rect r="r" b="b" t="t" l="l"/>
            <a:pathLst>
              <a:path h="1024764" w="2476770">
                <a:moveTo>
                  <a:pt x="0" y="0"/>
                </a:moveTo>
                <a:lnTo>
                  <a:pt x="2476770" y="0"/>
                </a:lnTo>
                <a:lnTo>
                  <a:pt x="2476770" y="1024764"/>
                </a:lnTo>
                <a:lnTo>
                  <a:pt x="0" y="1024764"/>
                </a:lnTo>
                <a:lnTo>
                  <a:pt x="0" y="0"/>
                </a:lnTo>
                <a:close/>
              </a:path>
            </a:pathLst>
          </a:custGeom>
          <a:blipFill>
            <a:blip r:embed="rId4"/>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AFAF6"/>
        </a:solidFill>
      </p:bgPr>
    </p:bg>
    <p:spTree>
      <p:nvGrpSpPr>
        <p:cNvPr id="1" name=""/>
        <p:cNvGrpSpPr/>
        <p:nvPr/>
      </p:nvGrpSpPr>
      <p:grpSpPr>
        <a:xfrm>
          <a:off x="0" y="0"/>
          <a:ext cx="0" cy="0"/>
          <a:chOff x="0" y="0"/>
          <a:chExt cx="0" cy="0"/>
        </a:xfrm>
      </p:grpSpPr>
      <p:sp>
        <p:nvSpPr>
          <p:cNvPr name="AutoShape 2" id="2"/>
          <p:cNvSpPr/>
          <p:nvPr/>
        </p:nvSpPr>
        <p:spPr>
          <a:xfrm>
            <a:off x="-612992" y="9253537"/>
            <a:ext cx="12396242" cy="0"/>
          </a:xfrm>
          <a:prstGeom prst="line">
            <a:avLst/>
          </a:prstGeom>
          <a:ln cap="flat" w="9525">
            <a:solidFill>
              <a:srgbClr val="403E3E"/>
            </a:solidFill>
            <a:prstDash val="solid"/>
            <a:headEnd type="none" len="sm" w="sm"/>
            <a:tailEnd type="none" len="sm" w="sm"/>
          </a:ln>
        </p:spPr>
      </p:sp>
      <p:sp>
        <p:nvSpPr>
          <p:cNvPr name="AutoShape 3" id="3"/>
          <p:cNvSpPr/>
          <p:nvPr/>
        </p:nvSpPr>
        <p:spPr>
          <a:xfrm flipV="true">
            <a:off x="-462152" y="1033462"/>
            <a:ext cx="19212305" cy="0"/>
          </a:xfrm>
          <a:prstGeom prst="line">
            <a:avLst/>
          </a:prstGeom>
          <a:ln cap="flat" w="9525">
            <a:solidFill>
              <a:srgbClr val="403E3E"/>
            </a:solidFill>
            <a:prstDash val="solid"/>
            <a:headEnd type="none" len="sm" w="sm"/>
            <a:tailEnd type="none" len="sm" w="sm"/>
          </a:ln>
        </p:spPr>
      </p:sp>
      <p:sp>
        <p:nvSpPr>
          <p:cNvPr name="AutoShape 4" id="4"/>
          <p:cNvSpPr/>
          <p:nvPr/>
        </p:nvSpPr>
        <p:spPr>
          <a:xfrm>
            <a:off x="-462152" y="2924738"/>
            <a:ext cx="12245402" cy="0"/>
          </a:xfrm>
          <a:prstGeom prst="line">
            <a:avLst/>
          </a:prstGeom>
          <a:ln cap="flat" w="9525">
            <a:solidFill>
              <a:srgbClr val="403E3E"/>
            </a:solidFill>
            <a:prstDash val="solid"/>
            <a:headEnd type="none" len="sm" w="sm"/>
            <a:tailEnd type="none" len="sm" w="sm"/>
          </a:ln>
        </p:spPr>
      </p:sp>
      <p:sp>
        <p:nvSpPr>
          <p:cNvPr name="TextBox 5" id="5"/>
          <p:cNvSpPr txBox="true"/>
          <p:nvPr/>
        </p:nvSpPr>
        <p:spPr>
          <a:xfrm rot="0">
            <a:off x="2757560" y="1414305"/>
            <a:ext cx="12860382" cy="902411"/>
          </a:xfrm>
          <a:prstGeom prst="rect">
            <a:avLst/>
          </a:prstGeom>
        </p:spPr>
        <p:txBody>
          <a:bodyPr anchor="t" rtlCol="false" tIns="0" lIns="0" bIns="0" rIns="0">
            <a:spAutoFit/>
          </a:bodyPr>
          <a:lstStyle/>
          <a:p>
            <a:pPr algn="ctr" marL="0" indent="0" lvl="0">
              <a:lnSpc>
                <a:spcPts val="3334"/>
              </a:lnSpc>
              <a:spcBef>
                <a:spcPct val="0"/>
              </a:spcBef>
            </a:pPr>
            <a:r>
              <a:rPr lang="en-US" b="true" sz="4387" spc="-96">
                <a:solidFill>
                  <a:srgbClr val="403E3E"/>
                </a:solidFill>
                <a:latin typeface="Arial Nova Bold"/>
                <a:ea typeface="Arial Nova Bold"/>
                <a:cs typeface="Arial Nova Bold"/>
                <a:sym typeface="Arial Nova Bold"/>
              </a:rPr>
              <a:t>5.2 COMPARISON BETWEEN FCFS AND OTHER SCHEDULING ALGORITHMS</a:t>
            </a:r>
          </a:p>
        </p:txBody>
      </p:sp>
      <p:sp>
        <p:nvSpPr>
          <p:cNvPr name="TextBox 6" id="6"/>
          <p:cNvSpPr txBox="true"/>
          <p:nvPr/>
        </p:nvSpPr>
        <p:spPr>
          <a:xfrm rot="0">
            <a:off x="1326352" y="9596713"/>
            <a:ext cx="4237173" cy="656590"/>
          </a:xfrm>
          <a:prstGeom prst="rect">
            <a:avLst/>
          </a:prstGeom>
        </p:spPr>
        <p:txBody>
          <a:bodyPr anchor="t" rtlCol="false" tIns="0" lIns="0" bIns="0" rIns="0">
            <a:spAutoFit/>
          </a:bodyPr>
          <a:lstStyle/>
          <a:p>
            <a:pPr algn="l">
              <a:lnSpc>
                <a:spcPts val="2660"/>
              </a:lnSpc>
            </a:pPr>
            <a:r>
              <a:rPr lang="en-US" sz="1900" spc="-104">
                <a:solidFill>
                  <a:srgbClr val="403E3E"/>
                </a:solidFill>
                <a:latin typeface="Mukti"/>
                <a:ea typeface="Mukti"/>
                <a:cs typeface="Mukti"/>
                <a:sym typeface="Mukti"/>
              </a:rPr>
              <a:t>NOV 2025</a:t>
            </a:r>
          </a:p>
          <a:p>
            <a:pPr algn="l">
              <a:lnSpc>
                <a:spcPts val="2660"/>
              </a:lnSpc>
            </a:pPr>
          </a:p>
        </p:txBody>
      </p:sp>
      <p:sp>
        <p:nvSpPr>
          <p:cNvPr name="TextBox 7" id="7"/>
          <p:cNvSpPr txBox="true"/>
          <p:nvPr/>
        </p:nvSpPr>
        <p:spPr>
          <a:xfrm rot="0">
            <a:off x="11783250" y="9820275"/>
            <a:ext cx="6058571" cy="323215"/>
          </a:xfrm>
          <a:prstGeom prst="rect">
            <a:avLst/>
          </a:prstGeom>
        </p:spPr>
        <p:txBody>
          <a:bodyPr anchor="t" rtlCol="false" tIns="0" lIns="0" bIns="0" rIns="0">
            <a:spAutoFit/>
          </a:bodyPr>
          <a:lstStyle/>
          <a:p>
            <a:pPr algn="r">
              <a:lnSpc>
                <a:spcPts val="2660"/>
              </a:lnSpc>
            </a:pPr>
            <a:r>
              <a:rPr lang="en-US" sz="1900" spc="-104">
                <a:solidFill>
                  <a:srgbClr val="403E3E"/>
                </a:solidFill>
                <a:latin typeface="Mukti"/>
                <a:ea typeface="Mukti"/>
                <a:cs typeface="Mukti"/>
                <a:sym typeface="Mukti"/>
              </a:rPr>
              <a:t>HO CHI MINH CITY UNIVERSITY OF TRANSPORT</a:t>
            </a:r>
          </a:p>
        </p:txBody>
      </p:sp>
      <p:sp>
        <p:nvSpPr>
          <p:cNvPr name="TextBox 8" id="8"/>
          <p:cNvSpPr txBox="true"/>
          <p:nvPr/>
        </p:nvSpPr>
        <p:spPr>
          <a:xfrm rot="0">
            <a:off x="2757560" y="4942248"/>
            <a:ext cx="8115300" cy="1717675"/>
          </a:xfrm>
          <a:prstGeom prst="rect">
            <a:avLst/>
          </a:prstGeom>
        </p:spPr>
        <p:txBody>
          <a:bodyPr anchor="t" rtlCol="false" tIns="0" lIns="0" bIns="0" rIns="0">
            <a:spAutoFit/>
          </a:bodyPr>
          <a:lstStyle/>
          <a:p>
            <a:pPr algn="just">
              <a:lnSpc>
                <a:spcPts val="2749"/>
              </a:lnSpc>
            </a:pPr>
            <a:r>
              <a:rPr lang="en-US" sz="2499" spc="-137">
                <a:solidFill>
                  <a:srgbClr val="403E3E"/>
                </a:solidFill>
                <a:latin typeface="Mukti"/>
                <a:ea typeface="Mukti"/>
                <a:cs typeface="Mukti"/>
                <a:sym typeface="Mukti"/>
              </a:rPr>
              <a:t>FCFS is the simplest scheduling algorithm; however, its performance is significantly different compared to more advanced scheduling algorithms. The following section compares FCFS with the more common scheduling algorithms.</a:t>
            </a:r>
          </a:p>
          <a:p>
            <a:pPr algn="just" marL="0" indent="0" lvl="0">
              <a:lnSpc>
                <a:spcPts val="2749"/>
              </a:lnSpc>
              <a:spcBef>
                <a:spcPct val="0"/>
              </a:spcBef>
            </a:pPr>
          </a:p>
        </p:txBody>
      </p:sp>
      <p:sp>
        <p:nvSpPr>
          <p:cNvPr name="TextBox 9" id="9"/>
          <p:cNvSpPr txBox="true"/>
          <p:nvPr/>
        </p:nvSpPr>
        <p:spPr>
          <a:xfrm rot="0">
            <a:off x="13499355" y="314960"/>
            <a:ext cx="4237173" cy="656590"/>
          </a:xfrm>
          <a:prstGeom prst="rect">
            <a:avLst/>
          </a:prstGeom>
        </p:spPr>
        <p:txBody>
          <a:bodyPr anchor="t" rtlCol="false" tIns="0" lIns="0" bIns="0" rIns="0">
            <a:spAutoFit/>
          </a:bodyPr>
          <a:lstStyle/>
          <a:p>
            <a:pPr algn="r">
              <a:lnSpc>
                <a:spcPts val="2660"/>
              </a:lnSpc>
            </a:pPr>
            <a:r>
              <a:rPr lang="en-US" sz="1900" spc="-104">
                <a:solidFill>
                  <a:srgbClr val="403E3E"/>
                </a:solidFill>
                <a:latin typeface="Mukti"/>
                <a:ea typeface="Mukti"/>
                <a:cs typeface="Mukti"/>
                <a:sym typeface="Mukti"/>
              </a:rPr>
              <a:t>NOV 2025</a:t>
            </a:r>
          </a:p>
          <a:p>
            <a:pPr algn="r">
              <a:lnSpc>
                <a:spcPts val="2660"/>
              </a:lnSpc>
            </a:pPr>
          </a:p>
        </p:txBody>
      </p:sp>
      <p:sp>
        <p:nvSpPr>
          <p:cNvPr name="TextBox 10" id="10"/>
          <p:cNvSpPr txBox="true"/>
          <p:nvPr/>
        </p:nvSpPr>
        <p:spPr>
          <a:xfrm rot="0">
            <a:off x="16990695" y="8951595"/>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27</a:t>
            </a:r>
          </a:p>
        </p:txBody>
      </p:sp>
      <p:sp>
        <p:nvSpPr>
          <p:cNvPr name="Freeform 11" id="11"/>
          <p:cNvSpPr/>
          <p:nvPr/>
        </p:nvSpPr>
        <p:spPr>
          <a:xfrm flipH="false" flipV="false" rot="0">
            <a:off x="522482" y="1233330"/>
            <a:ext cx="2476770" cy="1024764"/>
          </a:xfrm>
          <a:custGeom>
            <a:avLst/>
            <a:gdLst/>
            <a:ahLst/>
            <a:cxnLst/>
            <a:rect r="r" b="b" t="t" l="l"/>
            <a:pathLst>
              <a:path h="1024764" w="2476770">
                <a:moveTo>
                  <a:pt x="0" y="0"/>
                </a:moveTo>
                <a:lnTo>
                  <a:pt x="2476770" y="0"/>
                </a:lnTo>
                <a:lnTo>
                  <a:pt x="2476770" y="1024764"/>
                </a:lnTo>
                <a:lnTo>
                  <a:pt x="0" y="1024764"/>
                </a:lnTo>
                <a:lnTo>
                  <a:pt x="0" y="0"/>
                </a:lnTo>
                <a:close/>
              </a:path>
            </a:pathLst>
          </a:custGeom>
          <a:blipFill>
            <a:blip r:embed="rId2"/>
            <a:stretch>
              <a:fillRect l="0" t="0" r="0" b="0"/>
            </a:stretch>
          </a:blipFill>
        </p:spPr>
      </p:sp>
      <p:sp>
        <p:nvSpPr>
          <p:cNvPr name="Freeform 12" id="12"/>
          <p:cNvSpPr/>
          <p:nvPr/>
        </p:nvSpPr>
        <p:spPr>
          <a:xfrm flipH="false" flipV="false" rot="0">
            <a:off x="12807442" y="3918364"/>
            <a:ext cx="4183253" cy="4114800"/>
          </a:xfrm>
          <a:custGeom>
            <a:avLst/>
            <a:gdLst/>
            <a:ahLst/>
            <a:cxnLst/>
            <a:rect r="r" b="b" t="t" l="l"/>
            <a:pathLst>
              <a:path h="4114800" w="4183253">
                <a:moveTo>
                  <a:pt x="0" y="0"/>
                </a:moveTo>
                <a:lnTo>
                  <a:pt x="4183253" y="0"/>
                </a:lnTo>
                <a:lnTo>
                  <a:pt x="4183253"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EFEEEC"/>
        </a:solidFill>
      </p:bgPr>
    </p:bg>
    <p:spTree>
      <p:nvGrpSpPr>
        <p:cNvPr id="1" name=""/>
        <p:cNvGrpSpPr/>
        <p:nvPr/>
      </p:nvGrpSpPr>
      <p:grpSpPr>
        <a:xfrm>
          <a:off x="0" y="0"/>
          <a:ext cx="0" cy="0"/>
          <a:chOff x="0" y="0"/>
          <a:chExt cx="0" cy="0"/>
        </a:xfrm>
      </p:grpSpPr>
      <p:grpSp>
        <p:nvGrpSpPr>
          <p:cNvPr name="Group 2" id="2"/>
          <p:cNvGrpSpPr/>
          <p:nvPr/>
        </p:nvGrpSpPr>
        <p:grpSpPr>
          <a:xfrm rot="5400000">
            <a:off x="12432431" y="4605338"/>
            <a:ext cx="10730064" cy="1076325"/>
            <a:chOff x="0" y="0"/>
            <a:chExt cx="3845413" cy="385731"/>
          </a:xfrm>
        </p:grpSpPr>
        <p:sp>
          <p:nvSpPr>
            <p:cNvPr name="Freeform 3" id="3"/>
            <p:cNvSpPr/>
            <p:nvPr/>
          </p:nvSpPr>
          <p:spPr>
            <a:xfrm flipH="false" flipV="false" rot="0">
              <a:off x="0" y="0"/>
              <a:ext cx="3845413" cy="385731"/>
            </a:xfrm>
            <a:custGeom>
              <a:avLst/>
              <a:gdLst/>
              <a:ahLst/>
              <a:cxnLst/>
              <a:rect r="r" b="b" t="t" l="l"/>
              <a:pathLst>
                <a:path h="385731" w="3845413">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sp>
        <p:sp>
          <p:nvSpPr>
            <p:cNvPr name="TextBox 4" id="4"/>
            <p:cNvSpPr txBox="true"/>
            <p:nvPr/>
          </p:nvSpPr>
          <p:spPr>
            <a:xfrm>
              <a:off x="0" y="-47625"/>
              <a:ext cx="3845413" cy="433356"/>
            </a:xfrm>
            <a:prstGeom prst="rect">
              <a:avLst/>
            </a:prstGeom>
          </p:spPr>
          <p:txBody>
            <a:bodyPr anchor="ctr" rtlCol="false" tIns="50800" lIns="50800" bIns="50800" rIns="50800"/>
            <a:lstStyle/>
            <a:p>
              <a:pPr algn="ctr">
                <a:lnSpc>
                  <a:spcPts val="1960"/>
                </a:lnSpc>
              </a:pPr>
            </a:p>
          </p:txBody>
        </p:sp>
      </p:grpSp>
      <p:sp>
        <p:nvSpPr>
          <p:cNvPr name="TextBox 5" id="5"/>
          <p:cNvSpPr txBox="true"/>
          <p:nvPr/>
        </p:nvSpPr>
        <p:spPr>
          <a:xfrm rot="0">
            <a:off x="15855093" y="9692050"/>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28</a:t>
            </a:r>
          </a:p>
        </p:txBody>
      </p:sp>
      <p:sp>
        <p:nvSpPr>
          <p:cNvPr name="TextBox 6" id="6"/>
          <p:cNvSpPr txBox="true"/>
          <p:nvPr/>
        </p:nvSpPr>
        <p:spPr>
          <a:xfrm rot="0">
            <a:off x="4008450" y="993352"/>
            <a:ext cx="2243423" cy="306705"/>
          </a:xfrm>
          <a:prstGeom prst="rect">
            <a:avLst/>
          </a:prstGeom>
        </p:spPr>
        <p:txBody>
          <a:bodyPr anchor="t" rtlCol="false" tIns="0" lIns="0" bIns="0" rIns="0">
            <a:spAutoFit/>
          </a:bodyPr>
          <a:lstStyle/>
          <a:p>
            <a:pPr algn="l" marL="0" indent="0" lvl="0">
              <a:lnSpc>
                <a:spcPts val="2520"/>
              </a:lnSpc>
              <a:spcBef>
                <a:spcPct val="0"/>
              </a:spcBef>
            </a:pPr>
            <a:r>
              <a:rPr lang="en-US" sz="1800" spc="-72">
                <a:solidFill>
                  <a:srgbClr val="403E3E"/>
                </a:solidFill>
                <a:latin typeface="Inter"/>
                <a:ea typeface="Inter"/>
                <a:cs typeface="Inter"/>
                <a:sym typeface="Inter"/>
              </a:rPr>
              <a:t>TEAM 4</a:t>
            </a:r>
          </a:p>
        </p:txBody>
      </p:sp>
      <p:graphicFrame>
        <p:nvGraphicFramePr>
          <p:cNvPr name="Table 7" id="7"/>
          <p:cNvGraphicFramePr>
            <a:graphicFrameLocks noGrp="true"/>
          </p:cNvGraphicFramePr>
          <p:nvPr/>
        </p:nvGraphicFramePr>
        <p:xfrm>
          <a:off x="3194419" y="2549427"/>
          <a:ext cx="13869263" cy="7177710"/>
        </p:xfrm>
        <a:graphic>
          <a:graphicData uri="http://schemas.openxmlformats.org/drawingml/2006/table">
            <a:tbl>
              <a:tblPr/>
              <a:tblGrid>
                <a:gridCol w="3602149"/>
                <a:gridCol w="4924046"/>
                <a:gridCol w="5343068"/>
              </a:tblGrid>
              <a:tr h="705187">
                <a:tc>
                  <a:txBody>
                    <a:bodyPr anchor="t" rtlCol="false"/>
                    <a:lstStyle/>
                    <a:p>
                      <a:pPr algn="l">
                        <a:lnSpc>
                          <a:spcPts val="2939"/>
                        </a:lnSpc>
                        <a:defRPr/>
                      </a:pPr>
                      <a:r>
                        <a:rPr lang="en-US" b="true" sz="2099" strike="noStrike" u="none">
                          <a:solidFill>
                            <a:srgbClr val="000000"/>
                          </a:solidFill>
                          <a:latin typeface="Arimo Bold"/>
                          <a:ea typeface="Arimo Bold"/>
                          <a:cs typeface="Arimo Bold"/>
                          <a:sym typeface="Arimo Bold"/>
                        </a:rPr>
                        <a:t>Criterion</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6F5F3"/>
                    </a:solidFill>
                  </a:tcPr>
                </a:tc>
                <a:tc>
                  <a:txBody>
                    <a:bodyPr anchor="t" rtlCol="false"/>
                    <a:lstStyle/>
                    <a:p>
                      <a:pPr algn="ctr">
                        <a:lnSpc>
                          <a:spcPts val="2939"/>
                        </a:lnSpc>
                        <a:defRPr/>
                      </a:pPr>
                      <a:r>
                        <a:rPr lang="en-US" b="true" sz="2099" spc="-46">
                          <a:solidFill>
                            <a:srgbClr val="403E3E"/>
                          </a:solidFill>
                          <a:latin typeface="Inter Bold"/>
                          <a:ea typeface="Inter Bold"/>
                          <a:cs typeface="Inter Bold"/>
                          <a:sym typeface="Inter Bold"/>
                        </a:rPr>
                        <a:t>FCFS</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6F5F3"/>
                    </a:solidFill>
                  </a:tcPr>
                </a:tc>
                <a:tc>
                  <a:txBody>
                    <a:bodyPr anchor="t" rtlCol="false"/>
                    <a:lstStyle/>
                    <a:p>
                      <a:pPr algn="ctr">
                        <a:lnSpc>
                          <a:spcPts val="2939"/>
                        </a:lnSpc>
                        <a:defRPr/>
                      </a:pPr>
                      <a:r>
                        <a:rPr lang="en-US" b="true" sz="2099" spc="-46">
                          <a:solidFill>
                            <a:srgbClr val="403E3E"/>
                          </a:solidFill>
                          <a:latin typeface="Inter Bold"/>
                          <a:ea typeface="Inter Bold"/>
                          <a:cs typeface="Inter Bold"/>
                          <a:sym typeface="Inter Bold"/>
                        </a:rPr>
                        <a:t>ROUND ROBIN</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6F5F3"/>
                    </a:solidFill>
                  </a:tcPr>
                </a:tc>
              </a:tr>
              <a:tr h="991732">
                <a:tc>
                  <a:txBody>
                    <a:bodyPr anchor="t" rtlCol="false"/>
                    <a:lstStyle/>
                    <a:p>
                      <a:pPr algn="l">
                        <a:lnSpc>
                          <a:spcPts val="2939"/>
                        </a:lnSpc>
                        <a:defRPr/>
                      </a:pPr>
                      <a:r>
                        <a:rPr lang="en-US" sz="2099" spc="-46" b="true">
                          <a:solidFill>
                            <a:srgbClr val="403E3E"/>
                          </a:solidFill>
                          <a:latin typeface="Inter Bold"/>
                          <a:ea typeface="Inter Bold"/>
                          <a:cs typeface="Inter Bold"/>
                          <a:sym typeface="Inter Bold"/>
                        </a:rPr>
                        <a:t>Principle</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Processes are executed in the order of their arrival</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Each process is assigned a fixed time quantum</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705187">
                <a:tc>
                  <a:txBody>
                    <a:bodyPr anchor="t" rtlCol="false"/>
                    <a:lstStyle/>
                    <a:p>
                      <a:pPr algn="l">
                        <a:lnSpc>
                          <a:spcPts val="2939"/>
                        </a:lnSpc>
                        <a:defRPr/>
                      </a:pPr>
                      <a:r>
                        <a:rPr lang="en-US" sz="2099" spc="-46" b="true">
                          <a:solidFill>
                            <a:srgbClr val="403E3E"/>
                          </a:solidFill>
                          <a:latin typeface="Inter Bold"/>
                          <a:ea typeface="Inter Bold"/>
                          <a:cs typeface="Inter Bold"/>
                          <a:sym typeface="Inter Bold"/>
                        </a:rPr>
                        <a:t>Preemptive Mechanism</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None (Non-preemptive)</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Yes (Preemptive)</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991732">
                <a:tc>
                  <a:txBody>
                    <a:bodyPr anchor="t" rtlCol="false"/>
                    <a:lstStyle/>
                    <a:p>
                      <a:pPr algn="l">
                        <a:lnSpc>
                          <a:spcPts val="2939"/>
                        </a:lnSpc>
                        <a:defRPr/>
                      </a:pPr>
                      <a:r>
                        <a:rPr lang="en-US" sz="2099" spc="-46" b="true">
                          <a:solidFill>
                            <a:srgbClr val="403E3E"/>
                          </a:solidFill>
                          <a:latin typeface="Inter Bold"/>
                          <a:ea typeface="Inter Bold"/>
                          <a:cs typeface="Inter Bold"/>
                          <a:sym typeface="Inter Bold"/>
                        </a:rPr>
                        <a:t>Waiting Time</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High for processes arriving later</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Fairer, as each process gets CPU time in turns</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705187">
                <a:tc>
                  <a:txBody>
                    <a:bodyPr anchor="t" rtlCol="false"/>
                    <a:lstStyle/>
                    <a:p>
                      <a:pPr algn="l">
                        <a:lnSpc>
                          <a:spcPts val="2939"/>
                        </a:lnSpc>
                        <a:defRPr/>
                      </a:pPr>
                      <a:r>
                        <a:rPr lang="en-US" b="true" sz="2099" strike="noStrike" u="none">
                          <a:solidFill>
                            <a:srgbClr val="000000"/>
                          </a:solidFill>
                          <a:latin typeface="Arimo Bold"/>
                          <a:ea typeface="Arimo Bold"/>
                          <a:cs typeface="Arimo Bold"/>
                          <a:sym typeface="Arimo Bold"/>
                        </a:rPr>
                        <a:t>Response Time</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800"/>
                        </a:lnSpc>
                        <a:defRPr/>
                      </a:pPr>
                      <a:r>
                        <a:rPr lang="en-US" sz="2000" strike="noStrike" u="none">
                          <a:solidFill>
                            <a:srgbClr val="000000"/>
                          </a:solidFill>
                          <a:latin typeface="Arimo"/>
                          <a:ea typeface="Arimo"/>
                          <a:cs typeface="Arimo"/>
                          <a:sym typeface="Arimo"/>
                        </a:rPr>
                        <a:t>Poor for processes arriving later</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strike="noStrike" u="none">
                          <a:solidFill>
                            <a:srgbClr val="000000"/>
                          </a:solidFill>
                          <a:latin typeface="Arimo"/>
                          <a:ea typeface="Arimo"/>
                          <a:cs typeface="Arimo"/>
                          <a:sym typeface="Arimo"/>
                        </a:rPr>
                        <a:t>Better, especially for interactive systems</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705187">
                <a:tc>
                  <a:txBody>
                    <a:bodyPr anchor="t" rtlCol="false"/>
                    <a:lstStyle/>
                    <a:p>
                      <a:pPr algn="l">
                        <a:lnSpc>
                          <a:spcPts val="2939"/>
                        </a:lnSpc>
                        <a:defRPr/>
                      </a:pPr>
                      <a:r>
                        <a:rPr lang="en-US" b="true" sz="2099" strike="noStrike" u="none">
                          <a:solidFill>
                            <a:srgbClr val="000000"/>
                          </a:solidFill>
                          <a:latin typeface="Arimo Bold"/>
                          <a:ea typeface="Arimo Bold"/>
                          <a:cs typeface="Arimo Bold"/>
                          <a:sym typeface="Arimo Bold"/>
                        </a:rPr>
                        <a:t>Process Switching</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strike="noStrike" u="none">
                          <a:solidFill>
                            <a:srgbClr val="000000"/>
                          </a:solidFill>
                          <a:latin typeface="Arimo"/>
                          <a:ea typeface="Arimo"/>
                          <a:cs typeface="Arimo"/>
                          <a:sym typeface="Arimo"/>
                        </a:rPr>
                        <a:t>Rarely occurs</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strike="noStrike" u="none">
                          <a:solidFill>
                            <a:srgbClr val="000000"/>
                          </a:solidFill>
                          <a:latin typeface="Arimo"/>
                          <a:ea typeface="Arimo"/>
                          <a:cs typeface="Arimo"/>
                          <a:sym typeface="Arimo"/>
                        </a:rPr>
                        <a:t>Frequent due to time quantum expiration</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705187">
                <a:tc>
                  <a:txBody>
                    <a:bodyPr anchor="t" rtlCol="false"/>
                    <a:lstStyle/>
                    <a:p>
                      <a:pPr algn="l">
                        <a:lnSpc>
                          <a:spcPts val="2939"/>
                        </a:lnSpc>
                        <a:defRPr/>
                      </a:pPr>
                      <a:r>
                        <a:rPr lang="en-US" b="true" sz="2099" strike="noStrike" u="none">
                          <a:solidFill>
                            <a:srgbClr val="000000"/>
                          </a:solidFill>
                          <a:latin typeface="Arimo Bold"/>
                          <a:ea typeface="Arimo Bold"/>
                          <a:cs typeface="Arimo Bold"/>
                          <a:sym typeface="Arimo Bold"/>
                        </a:rPr>
                        <a:t>Convoy Effect</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strike="noStrike" u="none">
                          <a:solidFill>
                            <a:srgbClr val="000000"/>
                          </a:solidFill>
                          <a:latin typeface="Arimo"/>
                          <a:ea typeface="Arimo"/>
                          <a:cs typeface="Arimo"/>
                          <a:sym typeface="Arimo"/>
                        </a:rPr>
                        <a:t>Occurs</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strike="noStrike" u="none">
                          <a:solidFill>
                            <a:srgbClr val="000000"/>
                          </a:solidFill>
                          <a:latin typeface="Arimo"/>
                          <a:ea typeface="Arimo"/>
                          <a:cs typeface="Arimo"/>
                          <a:sym typeface="Arimo"/>
                        </a:rPr>
                        <a:t>Does not occur</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705187">
                <a:tc>
                  <a:txBody>
                    <a:bodyPr anchor="t" rtlCol="false"/>
                    <a:lstStyle/>
                    <a:p>
                      <a:pPr algn="l">
                        <a:lnSpc>
                          <a:spcPts val="2940"/>
                        </a:lnSpc>
                        <a:defRPr/>
                      </a:pPr>
                      <a:r>
                        <a:rPr lang="en-US" b="true" sz="2100" strike="noStrike" u="none">
                          <a:solidFill>
                            <a:srgbClr val="000000"/>
                          </a:solidFill>
                          <a:latin typeface="Arimo Bold"/>
                          <a:ea typeface="Arimo Bold"/>
                          <a:cs typeface="Arimo Bold"/>
                          <a:sym typeface="Arimo Bold"/>
                        </a:rPr>
                        <a:t>Complexity</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strike="noStrike" u="none">
                          <a:solidFill>
                            <a:srgbClr val="000000"/>
                          </a:solidFill>
                          <a:latin typeface="Arimo"/>
                          <a:ea typeface="Arimo"/>
                          <a:cs typeface="Arimo"/>
                          <a:sym typeface="Arimo"/>
                        </a:rPr>
                        <a:t>Simple</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strike="noStrike" u="none">
                          <a:solidFill>
                            <a:srgbClr val="000000"/>
                          </a:solidFill>
                          <a:latin typeface="Arimo"/>
                          <a:ea typeface="Arimo"/>
                          <a:cs typeface="Arimo"/>
                          <a:sym typeface="Arimo"/>
                        </a:rPr>
                        <a:t>More complex</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963124">
                <a:tc>
                  <a:txBody>
                    <a:bodyPr anchor="t" rtlCol="false"/>
                    <a:lstStyle/>
                    <a:p>
                      <a:pPr algn="l">
                        <a:lnSpc>
                          <a:spcPts val="2940"/>
                        </a:lnSpc>
                        <a:defRPr/>
                      </a:pPr>
                      <a:r>
                        <a:rPr lang="en-US" b="true" sz="2100" strike="noStrike" u="none">
                          <a:solidFill>
                            <a:srgbClr val="000000"/>
                          </a:solidFill>
                          <a:latin typeface="Arimo Bold"/>
                          <a:ea typeface="Arimo Bold"/>
                          <a:cs typeface="Arimo Bold"/>
                          <a:sym typeface="Arimo Bold"/>
                        </a:rPr>
                        <a:t>Suitability</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strike="noStrike" u="none">
                          <a:solidFill>
                            <a:srgbClr val="000000"/>
                          </a:solidFill>
                          <a:latin typeface="Arimo"/>
                          <a:ea typeface="Arimo"/>
                          <a:cs typeface="Arimo"/>
                          <a:sym typeface="Arimo"/>
                        </a:rPr>
                        <a:t>Suitable for batch systems</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strike="noStrike" u="none">
                          <a:solidFill>
                            <a:srgbClr val="000000"/>
                          </a:solidFill>
                          <a:latin typeface="Arimo"/>
                          <a:ea typeface="Arimo"/>
                          <a:cs typeface="Arimo"/>
                          <a:sym typeface="Arimo"/>
                        </a:rPr>
                        <a:t>Suitable for time-sharing and interactive systems</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bl>
          </a:graphicData>
        </a:graphic>
      </p:graphicFrame>
      <p:sp>
        <p:nvSpPr>
          <p:cNvPr name="TextBox 8" id="8"/>
          <p:cNvSpPr txBox="true"/>
          <p:nvPr/>
        </p:nvSpPr>
        <p:spPr>
          <a:xfrm rot="0">
            <a:off x="4008450" y="1766375"/>
            <a:ext cx="9133740" cy="1268095"/>
          </a:xfrm>
          <a:prstGeom prst="rect">
            <a:avLst/>
          </a:prstGeom>
        </p:spPr>
        <p:txBody>
          <a:bodyPr anchor="t" rtlCol="false" tIns="0" lIns="0" bIns="0" rIns="0">
            <a:spAutoFit/>
          </a:bodyPr>
          <a:lstStyle/>
          <a:p>
            <a:pPr algn="l">
              <a:lnSpc>
                <a:spcPts val="4760"/>
              </a:lnSpc>
            </a:pPr>
            <a:r>
              <a:rPr lang="en-US" sz="5600" spc="-420" b="true">
                <a:solidFill>
                  <a:srgbClr val="403E3E"/>
                </a:solidFill>
                <a:latin typeface="Inter Bold"/>
                <a:ea typeface="Inter Bold"/>
                <a:cs typeface="Inter Bold"/>
                <a:sym typeface="Inter Bold"/>
              </a:rPr>
              <a:t>5.2.1 FCFS vs Round Robin</a:t>
            </a:r>
          </a:p>
          <a:p>
            <a:pPr algn="l" marL="0" indent="0" lvl="0">
              <a:lnSpc>
                <a:spcPts val="4760"/>
              </a:lnSpc>
              <a:spcBef>
                <a:spcPct val="0"/>
              </a:spcBef>
            </a:pPr>
          </a:p>
        </p:txBody>
      </p:sp>
      <p:sp>
        <p:nvSpPr>
          <p:cNvPr name="TextBox 9" id="9"/>
          <p:cNvSpPr txBox="true"/>
          <p:nvPr/>
        </p:nvSpPr>
        <p:spPr>
          <a:xfrm rot="0">
            <a:off x="13403572" y="993352"/>
            <a:ext cx="2850172" cy="621030"/>
          </a:xfrm>
          <a:prstGeom prst="rect">
            <a:avLst/>
          </a:prstGeom>
        </p:spPr>
        <p:txBody>
          <a:bodyPr anchor="t" rtlCol="false" tIns="0" lIns="0" bIns="0" rIns="0">
            <a:spAutoFit/>
          </a:bodyPr>
          <a:lstStyle/>
          <a:p>
            <a:pPr algn="r">
              <a:lnSpc>
                <a:spcPts val="2520"/>
              </a:lnSpc>
            </a:pPr>
            <a:r>
              <a:rPr lang="en-US" sz="1800" spc="-72">
                <a:solidFill>
                  <a:srgbClr val="403E3E"/>
                </a:solidFill>
                <a:latin typeface="Inter"/>
                <a:ea typeface="Inter"/>
                <a:cs typeface="Inter"/>
                <a:sym typeface="Inter"/>
              </a:rPr>
              <a:t>NOV 2025</a:t>
            </a:r>
          </a:p>
          <a:p>
            <a:pPr algn="r" marL="0" indent="0" lvl="0">
              <a:lnSpc>
                <a:spcPts val="2520"/>
              </a:lnSpc>
              <a:spcBef>
                <a:spcPct val="0"/>
              </a:spcBef>
            </a:pPr>
          </a:p>
        </p:txBody>
      </p:sp>
      <p:grpSp>
        <p:nvGrpSpPr>
          <p:cNvPr name="Group 10" id="10"/>
          <p:cNvGrpSpPr/>
          <p:nvPr/>
        </p:nvGrpSpPr>
        <p:grpSpPr>
          <a:xfrm rot="5400000">
            <a:off x="-4204353" y="3779569"/>
            <a:ext cx="10730064" cy="2727862"/>
            <a:chOff x="0" y="0"/>
            <a:chExt cx="3845413" cy="977604"/>
          </a:xfrm>
        </p:grpSpPr>
        <p:sp>
          <p:nvSpPr>
            <p:cNvPr name="Freeform 11" id="11"/>
            <p:cNvSpPr/>
            <p:nvPr/>
          </p:nvSpPr>
          <p:spPr>
            <a:xfrm flipH="false" flipV="false" rot="0">
              <a:off x="0" y="0"/>
              <a:ext cx="3845413" cy="977604"/>
            </a:xfrm>
            <a:custGeom>
              <a:avLst/>
              <a:gdLst/>
              <a:ahLst/>
              <a:cxnLst/>
              <a:rect r="r" b="b" t="t" l="l"/>
              <a:pathLst>
                <a:path h="977604" w="3845413">
                  <a:moveTo>
                    <a:pt x="0" y="0"/>
                  </a:moveTo>
                  <a:lnTo>
                    <a:pt x="3845413" y="0"/>
                  </a:lnTo>
                  <a:lnTo>
                    <a:pt x="3845413" y="977604"/>
                  </a:lnTo>
                  <a:lnTo>
                    <a:pt x="0" y="977604"/>
                  </a:lnTo>
                  <a:close/>
                </a:path>
              </a:pathLst>
            </a:custGeom>
            <a:solidFill>
              <a:srgbClr val="F6F5F3"/>
            </a:solidFill>
            <a:ln w="9525" cap="sq">
              <a:solidFill>
                <a:srgbClr val="403E3E"/>
              </a:solidFill>
              <a:prstDash val="solid"/>
              <a:miter/>
            </a:ln>
          </p:spPr>
        </p:sp>
        <p:sp>
          <p:nvSpPr>
            <p:cNvPr name="TextBox 12" id="12"/>
            <p:cNvSpPr txBox="true"/>
            <p:nvPr/>
          </p:nvSpPr>
          <p:spPr>
            <a:xfrm>
              <a:off x="0" y="-47625"/>
              <a:ext cx="3845413" cy="1025229"/>
            </a:xfrm>
            <a:prstGeom prst="rect">
              <a:avLst/>
            </a:prstGeom>
          </p:spPr>
          <p:txBody>
            <a:bodyPr anchor="ctr" rtlCol="false" tIns="50800" lIns="50800" bIns="50800" rIns="50800"/>
            <a:lstStyle/>
            <a:p>
              <a:pPr algn="ctr">
                <a:lnSpc>
                  <a:spcPts val="1960"/>
                </a:lnSpc>
              </a:pPr>
            </a:p>
          </p:txBody>
        </p:sp>
      </p:grpSp>
      <p:sp>
        <p:nvSpPr>
          <p:cNvPr name="Freeform 13" id="13"/>
          <p:cNvSpPr/>
          <p:nvPr/>
        </p:nvSpPr>
        <p:spPr>
          <a:xfrm flipH="false" flipV="false" rot="0">
            <a:off x="2050420" y="789208"/>
            <a:ext cx="948381" cy="1520727"/>
          </a:xfrm>
          <a:custGeom>
            <a:avLst/>
            <a:gdLst/>
            <a:ahLst/>
            <a:cxnLst/>
            <a:rect r="r" b="b" t="t" l="l"/>
            <a:pathLst>
              <a:path h="1520727" w="948381">
                <a:moveTo>
                  <a:pt x="0" y="0"/>
                </a:moveTo>
                <a:lnTo>
                  <a:pt x="948380" y="0"/>
                </a:lnTo>
                <a:lnTo>
                  <a:pt x="948380" y="1520727"/>
                </a:lnTo>
                <a:lnTo>
                  <a:pt x="0" y="15207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47840" y="1797553"/>
            <a:ext cx="2476770" cy="1024764"/>
          </a:xfrm>
          <a:custGeom>
            <a:avLst/>
            <a:gdLst/>
            <a:ahLst/>
            <a:cxnLst/>
            <a:rect r="r" b="b" t="t" l="l"/>
            <a:pathLst>
              <a:path h="1024764" w="2476770">
                <a:moveTo>
                  <a:pt x="0" y="0"/>
                </a:moveTo>
                <a:lnTo>
                  <a:pt x="2476770" y="0"/>
                </a:lnTo>
                <a:lnTo>
                  <a:pt x="2476770" y="1024764"/>
                </a:lnTo>
                <a:lnTo>
                  <a:pt x="0" y="1024764"/>
                </a:lnTo>
                <a:lnTo>
                  <a:pt x="0" y="0"/>
                </a:lnTo>
                <a:close/>
              </a:path>
            </a:pathLst>
          </a:custGeom>
          <a:blipFill>
            <a:blip r:embed="rId4"/>
            <a:stretch>
              <a:fillRect l="0" t="0" r="0" b="0"/>
            </a:stretch>
          </a:blipFill>
        </p:spPr>
      </p:sp>
      <p:sp>
        <p:nvSpPr>
          <p:cNvPr name="TextBox 15" id="15"/>
          <p:cNvSpPr txBox="true"/>
          <p:nvPr/>
        </p:nvSpPr>
        <p:spPr>
          <a:xfrm rot="0">
            <a:off x="205637" y="8951595"/>
            <a:ext cx="2076987" cy="935355"/>
          </a:xfrm>
          <a:prstGeom prst="rect">
            <a:avLst/>
          </a:prstGeom>
        </p:spPr>
        <p:txBody>
          <a:bodyPr anchor="t" rtlCol="false" tIns="0" lIns="0" bIns="0" rIns="0">
            <a:spAutoFit/>
          </a:bodyPr>
          <a:lstStyle/>
          <a:p>
            <a:pPr algn="ctr">
              <a:lnSpc>
                <a:spcPts val="2520"/>
              </a:lnSpc>
              <a:spcBef>
                <a:spcPct val="0"/>
              </a:spcBef>
            </a:pPr>
            <a:r>
              <a:rPr lang="en-US" sz="1800" spc="-72">
                <a:solidFill>
                  <a:srgbClr val="403E3E"/>
                </a:solidFill>
                <a:latin typeface="Inter"/>
                <a:ea typeface="Inter"/>
                <a:cs typeface="Inter"/>
                <a:sym typeface="Inter"/>
              </a:rPr>
              <a:t>HO CHI MINH CITY UNIVERSITY OF TRANSPORT</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EFEEEC"/>
        </a:solidFill>
      </p:bgPr>
    </p:bg>
    <p:spTree>
      <p:nvGrpSpPr>
        <p:cNvPr id="1" name=""/>
        <p:cNvGrpSpPr/>
        <p:nvPr/>
      </p:nvGrpSpPr>
      <p:grpSpPr>
        <a:xfrm>
          <a:off x="0" y="0"/>
          <a:ext cx="0" cy="0"/>
          <a:chOff x="0" y="0"/>
          <a:chExt cx="0" cy="0"/>
        </a:xfrm>
      </p:grpSpPr>
      <p:grpSp>
        <p:nvGrpSpPr>
          <p:cNvPr name="Group 2" id="2"/>
          <p:cNvGrpSpPr/>
          <p:nvPr/>
        </p:nvGrpSpPr>
        <p:grpSpPr>
          <a:xfrm rot="5400000">
            <a:off x="12162347" y="3655273"/>
            <a:ext cx="10730064" cy="2976455"/>
            <a:chOff x="0" y="0"/>
            <a:chExt cx="3845413" cy="1066694"/>
          </a:xfrm>
        </p:grpSpPr>
        <p:sp>
          <p:nvSpPr>
            <p:cNvPr name="Freeform 3" id="3"/>
            <p:cNvSpPr/>
            <p:nvPr/>
          </p:nvSpPr>
          <p:spPr>
            <a:xfrm flipH="false" flipV="false" rot="0">
              <a:off x="0" y="0"/>
              <a:ext cx="3845413" cy="1066694"/>
            </a:xfrm>
            <a:custGeom>
              <a:avLst/>
              <a:gdLst/>
              <a:ahLst/>
              <a:cxnLst/>
              <a:rect r="r" b="b" t="t" l="l"/>
              <a:pathLst>
                <a:path h="1066694" w="3845413">
                  <a:moveTo>
                    <a:pt x="0" y="0"/>
                  </a:moveTo>
                  <a:lnTo>
                    <a:pt x="3845413" y="0"/>
                  </a:lnTo>
                  <a:lnTo>
                    <a:pt x="3845413" y="1066694"/>
                  </a:lnTo>
                  <a:lnTo>
                    <a:pt x="0" y="1066694"/>
                  </a:lnTo>
                  <a:close/>
                </a:path>
              </a:pathLst>
            </a:custGeom>
            <a:solidFill>
              <a:srgbClr val="F6F5F3"/>
            </a:solidFill>
            <a:ln w="9525" cap="sq">
              <a:solidFill>
                <a:srgbClr val="403E3E"/>
              </a:solidFill>
              <a:prstDash val="solid"/>
              <a:miter/>
            </a:ln>
          </p:spPr>
        </p:sp>
        <p:sp>
          <p:nvSpPr>
            <p:cNvPr name="TextBox 4" id="4"/>
            <p:cNvSpPr txBox="true"/>
            <p:nvPr/>
          </p:nvSpPr>
          <p:spPr>
            <a:xfrm>
              <a:off x="0" y="-47625"/>
              <a:ext cx="3845413" cy="1114319"/>
            </a:xfrm>
            <a:prstGeom prst="rect">
              <a:avLst/>
            </a:prstGeom>
          </p:spPr>
          <p:txBody>
            <a:bodyPr anchor="ctr" rtlCol="false" tIns="50800" lIns="50800" bIns="50800" rIns="50800"/>
            <a:lstStyle/>
            <a:p>
              <a:pPr algn="ctr">
                <a:lnSpc>
                  <a:spcPts val="1960"/>
                </a:lnSpc>
              </a:pPr>
            </a:p>
          </p:txBody>
        </p:sp>
      </p:grpSp>
      <p:grpSp>
        <p:nvGrpSpPr>
          <p:cNvPr name="Group 5" id="5"/>
          <p:cNvGrpSpPr/>
          <p:nvPr/>
        </p:nvGrpSpPr>
        <p:grpSpPr>
          <a:xfrm rot="5400000">
            <a:off x="12432431" y="4605338"/>
            <a:ext cx="10730064" cy="1076325"/>
            <a:chOff x="0" y="0"/>
            <a:chExt cx="3845413" cy="385731"/>
          </a:xfrm>
        </p:grpSpPr>
        <p:sp>
          <p:nvSpPr>
            <p:cNvPr name="Freeform 6" id="6"/>
            <p:cNvSpPr/>
            <p:nvPr/>
          </p:nvSpPr>
          <p:spPr>
            <a:xfrm flipH="false" flipV="false" rot="0">
              <a:off x="0" y="0"/>
              <a:ext cx="3845413" cy="385731"/>
            </a:xfrm>
            <a:custGeom>
              <a:avLst/>
              <a:gdLst/>
              <a:ahLst/>
              <a:cxnLst/>
              <a:rect r="r" b="b" t="t" l="l"/>
              <a:pathLst>
                <a:path h="385731" w="3845413">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sp>
        <p:sp>
          <p:nvSpPr>
            <p:cNvPr name="TextBox 7" id="7"/>
            <p:cNvSpPr txBox="true"/>
            <p:nvPr/>
          </p:nvSpPr>
          <p:spPr>
            <a:xfrm>
              <a:off x="0" y="-47625"/>
              <a:ext cx="3845413" cy="433356"/>
            </a:xfrm>
            <a:prstGeom prst="rect">
              <a:avLst/>
            </a:prstGeom>
          </p:spPr>
          <p:txBody>
            <a:bodyPr anchor="ctr" rtlCol="false" tIns="50800" lIns="50800" bIns="50800" rIns="50800"/>
            <a:lstStyle/>
            <a:p>
              <a:pPr algn="ctr">
                <a:lnSpc>
                  <a:spcPts val="1960"/>
                </a:lnSpc>
              </a:pPr>
            </a:p>
          </p:txBody>
        </p:sp>
      </p:grpSp>
      <p:sp>
        <p:nvSpPr>
          <p:cNvPr name="TextBox 8" id="8"/>
          <p:cNvSpPr txBox="true"/>
          <p:nvPr/>
        </p:nvSpPr>
        <p:spPr>
          <a:xfrm rot="0">
            <a:off x="14409128" y="856297"/>
            <a:ext cx="2850172" cy="621030"/>
          </a:xfrm>
          <a:prstGeom prst="rect">
            <a:avLst/>
          </a:prstGeom>
        </p:spPr>
        <p:txBody>
          <a:bodyPr anchor="t" rtlCol="false" tIns="0" lIns="0" bIns="0" rIns="0">
            <a:spAutoFit/>
          </a:bodyPr>
          <a:lstStyle/>
          <a:p>
            <a:pPr algn="r">
              <a:lnSpc>
                <a:spcPts val="2520"/>
              </a:lnSpc>
            </a:pPr>
            <a:r>
              <a:rPr lang="en-US" sz="1800" spc="-72">
                <a:solidFill>
                  <a:srgbClr val="403E3E"/>
                </a:solidFill>
                <a:latin typeface="Inter"/>
                <a:ea typeface="Inter"/>
                <a:cs typeface="Inter"/>
                <a:sym typeface="Inter"/>
              </a:rPr>
              <a:t>NOV 2025</a:t>
            </a:r>
          </a:p>
          <a:p>
            <a:pPr algn="r" marL="0" indent="0" lvl="0">
              <a:lnSpc>
                <a:spcPts val="2520"/>
              </a:lnSpc>
              <a:spcBef>
                <a:spcPct val="0"/>
              </a:spcBef>
            </a:pPr>
          </a:p>
        </p:txBody>
      </p:sp>
      <p:sp>
        <p:nvSpPr>
          <p:cNvPr name="Freeform 9" id="9"/>
          <p:cNvSpPr/>
          <p:nvPr/>
        </p:nvSpPr>
        <p:spPr>
          <a:xfrm flipH="false" flipV="false" rot="0">
            <a:off x="15564961" y="1748143"/>
            <a:ext cx="948381" cy="1520727"/>
          </a:xfrm>
          <a:custGeom>
            <a:avLst/>
            <a:gdLst/>
            <a:ahLst/>
            <a:cxnLst/>
            <a:rect r="r" b="b" t="t" l="l"/>
            <a:pathLst>
              <a:path h="1520727" w="948381">
                <a:moveTo>
                  <a:pt x="0" y="0"/>
                </a:moveTo>
                <a:lnTo>
                  <a:pt x="948381" y="0"/>
                </a:lnTo>
                <a:lnTo>
                  <a:pt x="948381" y="1520727"/>
                </a:lnTo>
                <a:lnTo>
                  <a:pt x="0" y="15207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1028700" y="8948843"/>
            <a:ext cx="4279181" cy="306705"/>
          </a:xfrm>
          <a:prstGeom prst="rect">
            <a:avLst/>
          </a:prstGeom>
        </p:spPr>
        <p:txBody>
          <a:bodyPr anchor="t" rtlCol="false" tIns="0" lIns="0" bIns="0" rIns="0">
            <a:spAutoFit/>
          </a:bodyPr>
          <a:lstStyle/>
          <a:p>
            <a:pPr algn="l" marL="0" indent="0" lvl="0">
              <a:lnSpc>
                <a:spcPts val="2520"/>
              </a:lnSpc>
              <a:spcBef>
                <a:spcPct val="0"/>
              </a:spcBef>
            </a:pPr>
            <a:r>
              <a:rPr lang="en-US" sz="1800" spc="-72" strike="noStrike" u="none">
                <a:solidFill>
                  <a:srgbClr val="403E3E"/>
                </a:solidFill>
                <a:latin typeface="Inter"/>
                <a:ea typeface="Inter"/>
                <a:cs typeface="Inter"/>
                <a:sym typeface="Inter"/>
              </a:rPr>
              <a:t>MONTHLY CLIENT REPORT</a:t>
            </a:r>
          </a:p>
        </p:txBody>
      </p:sp>
      <p:sp>
        <p:nvSpPr>
          <p:cNvPr name="TextBox 11" id="11"/>
          <p:cNvSpPr txBox="true"/>
          <p:nvPr/>
        </p:nvSpPr>
        <p:spPr>
          <a:xfrm rot="0">
            <a:off x="16252855" y="9491532"/>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29</a:t>
            </a:r>
          </a:p>
        </p:txBody>
      </p:sp>
      <p:sp>
        <p:nvSpPr>
          <p:cNvPr name="TextBox 12" id="12"/>
          <p:cNvSpPr txBox="true"/>
          <p:nvPr/>
        </p:nvSpPr>
        <p:spPr>
          <a:xfrm rot="0">
            <a:off x="1028700" y="1754098"/>
            <a:ext cx="10927493" cy="1868170"/>
          </a:xfrm>
          <a:prstGeom prst="rect">
            <a:avLst/>
          </a:prstGeom>
        </p:spPr>
        <p:txBody>
          <a:bodyPr anchor="t" rtlCol="false" tIns="0" lIns="0" bIns="0" rIns="0">
            <a:spAutoFit/>
          </a:bodyPr>
          <a:lstStyle/>
          <a:p>
            <a:pPr algn="l">
              <a:lnSpc>
                <a:spcPts val="4760"/>
              </a:lnSpc>
            </a:pPr>
            <a:r>
              <a:rPr lang="en-US" sz="5600" spc="-420" b="true">
                <a:solidFill>
                  <a:srgbClr val="403E3E"/>
                </a:solidFill>
                <a:latin typeface="Inter Bold"/>
                <a:ea typeface="Inter Bold"/>
                <a:cs typeface="Inter Bold"/>
                <a:sym typeface="Inter Bold"/>
              </a:rPr>
              <a:t>5.2.2 FCFS vs Shortest Job First (SJF)</a:t>
            </a:r>
          </a:p>
          <a:p>
            <a:pPr algn="l" marL="0" indent="0" lvl="0">
              <a:lnSpc>
                <a:spcPts val="4760"/>
              </a:lnSpc>
              <a:spcBef>
                <a:spcPct val="0"/>
              </a:spcBef>
            </a:pPr>
          </a:p>
        </p:txBody>
      </p:sp>
      <p:graphicFrame>
        <p:nvGraphicFramePr>
          <p:cNvPr name="Table 13" id="13"/>
          <p:cNvGraphicFramePr>
            <a:graphicFrameLocks noGrp="true"/>
          </p:cNvGraphicFramePr>
          <p:nvPr/>
        </p:nvGraphicFramePr>
        <p:xfrm>
          <a:off x="655964" y="3022193"/>
          <a:ext cx="15383187" cy="7215810"/>
        </p:xfrm>
        <a:graphic>
          <a:graphicData uri="http://schemas.openxmlformats.org/drawingml/2006/table">
            <a:tbl>
              <a:tblPr/>
              <a:tblGrid>
                <a:gridCol w="3601939"/>
                <a:gridCol w="4923760"/>
                <a:gridCol w="6857488"/>
              </a:tblGrid>
              <a:tr h="705183">
                <a:tc>
                  <a:txBody>
                    <a:bodyPr anchor="t" rtlCol="false"/>
                    <a:lstStyle/>
                    <a:p>
                      <a:pPr algn="l">
                        <a:lnSpc>
                          <a:spcPts val="2939"/>
                        </a:lnSpc>
                        <a:defRPr/>
                      </a:pPr>
                      <a:r>
                        <a:rPr lang="en-US" sz="2099" b="true">
                          <a:solidFill>
                            <a:srgbClr val="000000"/>
                          </a:solidFill>
                          <a:latin typeface="Arimo Bold"/>
                          <a:ea typeface="Arimo Bold"/>
                          <a:cs typeface="Arimo Bold"/>
                          <a:sym typeface="Arimo Bold"/>
                        </a:rPr>
                        <a:t>Criterion</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6F5F3"/>
                    </a:solidFill>
                  </a:tcPr>
                </a:tc>
                <a:tc>
                  <a:txBody>
                    <a:bodyPr anchor="t" rtlCol="false"/>
                    <a:lstStyle/>
                    <a:p>
                      <a:pPr algn="ctr">
                        <a:lnSpc>
                          <a:spcPts val="2939"/>
                        </a:lnSpc>
                        <a:defRPr/>
                      </a:pPr>
                      <a:r>
                        <a:rPr lang="en-US" b="true" sz="2099" spc="-46">
                          <a:solidFill>
                            <a:srgbClr val="403E3E"/>
                          </a:solidFill>
                          <a:latin typeface="Inter Bold"/>
                          <a:ea typeface="Inter Bold"/>
                          <a:cs typeface="Inter Bold"/>
                          <a:sym typeface="Inter Bold"/>
                        </a:rPr>
                        <a:t>FCFS</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6F5F3"/>
                    </a:solidFill>
                  </a:tcPr>
                </a:tc>
                <a:tc>
                  <a:txBody>
                    <a:bodyPr anchor="t" rtlCol="false"/>
                    <a:lstStyle/>
                    <a:p>
                      <a:pPr algn="ctr">
                        <a:lnSpc>
                          <a:spcPts val="2939"/>
                        </a:lnSpc>
                        <a:defRPr/>
                      </a:pPr>
                      <a:r>
                        <a:rPr lang="en-US" b="true" sz="2099" spc="-46">
                          <a:solidFill>
                            <a:srgbClr val="403E3E"/>
                          </a:solidFill>
                          <a:latin typeface="Inter Bold"/>
                          <a:ea typeface="Inter Bold"/>
                          <a:cs typeface="Inter Bold"/>
                          <a:sym typeface="Inter Bold"/>
                        </a:rPr>
                        <a:t>SHORTEST JOB FIRST (SJF)</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6F5F3"/>
                    </a:solidFill>
                  </a:tcPr>
                </a:tc>
              </a:tr>
              <a:tr h="991726">
                <a:tc>
                  <a:txBody>
                    <a:bodyPr anchor="t" rtlCol="false"/>
                    <a:lstStyle/>
                    <a:p>
                      <a:pPr algn="l">
                        <a:lnSpc>
                          <a:spcPts val="2939"/>
                        </a:lnSpc>
                        <a:defRPr/>
                      </a:pPr>
                      <a:r>
                        <a:rPr lang="en-US" sz="2099" spc="-46" b="true">
                          <a:solidFill>
                            <a:srgbClr val="403E3E"/>
                          </a:solidFill>
                          <a:latin typeface="Inter Bold"/>
                          <a:ea typeface="Inter Bold"/>
                          <a:cs typeface="Inter Bold"/>
                          <a:sym typeface="Inter Bold"/>
                        </a:rPr>
                        <a:t>Principle</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Processes are executed in the order of arrival</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Processes with the shortest burst time are executed first</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991726">
                <a:tc>
                  <a:txBody>
                    <a:bodyPr anchor="t" rtlCol="false"/>
                    <a:lstStyle/>
                    <a:p>
                      <a:pPr algn="l">
                        <a:lnSpc>
                          <a:spcPts val="2939"/>
                        </a:lnSpc>
                        <a:defRPr/>
                      </a:pPr>
                      <a:r>
                        <a:rPr lang="en-US" sz="2099" spc="-46" b="true">
                          <a:solidFill>
                            <a:srgbClr val="403E3E"/>
                          </a:solidFill>
                          <a:latin typeface="Inter Bold"/>
                          <a:ea typeface="Inter Bold"/>
                          <a:cs typeface="Inter Bold"/>
                          <a:sym typeface="Inter Bold"/>
                        </a:rPr>
                        <a:t>Preemptive Mechanism</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None</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Can be non-preemptive or preemptive depending on the version</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705183">
                <a:tc>
                  <a:txBody>
                    <a:bodyPr anchor="t" rtlCol="false"/>
                    <a:lstStyle/>
                    <a:p>
                      <a:pPr algn="l">
                        <a:lnSpc>
                          <a:spcPts val="2939"/>
                        </a:lnSpc>
                        <a:defRPr/>
                      </a:pPr>
                      <a:r>
                        <a:rPr lang="en-US" sz="2099" spc="-46" b="true">
                          <a:solidFill>
                            <a:srgbClr val="403E3E"/>
                          </a:solidFill>
                          <a:latin typeface="Inter Bold"/>
                          <a:ea typeface="Inter Bold"/>
                          <a:cs typeface="Inter Bold"/>
                          <a:sym typeface="Inter Bold"/>
                        </a:rPr>
                        <a:t>Average Waiting Time</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Higher</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Lower, especially when many short jobs exist</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705183">
                <a:tc>
                  <a:txBody>
                    <a:bodyPr anchor="t" rtlCol="false"/>
                    <a:lstStyle/>
                    <a:p>
                      <a:pPr algn="l">
                        <a:lnSpc>
                          <a:spcPts val="2939"/>
                        </a:lnSpc>
                        <a:defRPr/>
                      </a:pPr>
                      <a:r>
                        <a:rPr lang="en-US" sz="2099" b="true">
                          <a:solidFill>
                            <a:srgbClr val="000000"/>
                          </a:solidFill>
                          <a:latin typeface="Arimo Bold"/>
                          <a:ea typeface="Arimo Bold"/>
                          <a:cs typeface="Arimo Bold"/>
                          <a:sym typeface="Arimo Bold"/>
                        </a:rPr>
                        <a:t>Turnaround Time</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800"/>
                        </a:lnSpc>
                        <a:defRPr/>
                      </a:pPr>
                      <a:r>
                        <a:rPr lang="en-US" sz="2000">
                          <a:solidFill>
                            <a:srgbClr val="000000"/>
                          </a:solidFill>
                          <a:latin typeface="Arimo"/>
                          <a:ea typeface="Arimo"/>
                          <a:cs typeface="Arimo"/>
                          <a:sym typeface="Arimo"/>
                        </a:rPr>
                        <a:t>Not optimal</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Arimo"/>
                          <a:ea typeface="Arimo"/>
                          <a:cs typeface="Arimo"/>
                          <a:sym typeface="Arimo"/>
                        </a:rPr>
                        <a:t>Optimal in theory</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705183">
                <a:tc>
                  <a:txBody>
                    <a:bodyPr anchor="t" rtlCol="false"/>
                    <a:lstStyle/>
                    <a:p>
                      <a:pPr algn="l">
                        <a:lnSpc>
                          <a:spcPts val="2939"/>
                        </a:lnSpc>
                        <a:defRPr/>
                      </a:pPr>
                      <a:r>
                        <a:rPr lang="en-US" sz="2099" b="true">
                          <a:solidFill>
                            <a:srgbClr val="000000"/>
                          </a:solidFill>
                          <a:latin typeface="Arimo Bold"/>
                          <a:ea typeface="Arimo Bold"/>
                          <a:cs typeface="Arimo Bold"/>
                          <a:sym typeface="Arimo Bold"/>
                        </a:rPr>
                        <a:t>Fairness</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Arimo"/>
                          <a:ea typeface="Arimo"/>
                          <a:cs typeface="Arimo"/>
                          <a:sym typeface="Arimo"/>
                        </a:rPr>
                        <a:t>Fair by order of arrival</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Arimo"/>
                          <a:ea typeface="Arimo"/>
                          <a:cs typeface="Arimo"/>
                          <a:sym typeface="Arimo"/>
                        </a:rPr>
                        <a:t>Favors short jobs</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705183">
                <a:tc>
                  <a:txBody>
                    <a:bodyPr anchor="t" rtlCol="false"/>
                    <a:lstStyle/>
                    <a:p>
                      <a:pPr algn="l">
                        <a:lnSpc>
                          <a:spcPts val="2939"/>
                        </a:lnSpc>
                        <a:defRPr/>
                      </a:pPr>
                      <a:r>
                        <a:rPr lang="en-US" sz="2099" b="true">
                          <a:solidFill>
                            <a:srgbClr val="000000"/>
                          </a:solidFill>
                          <a:latin typeface="Arimo Bold"/>
                          <a:ea typeface="Arimo Bold"/>
                          <a:cs typeface="Arimo Bold"/>
                          <a:sym typeface="Arimo Bold"/>
                        </a:rPr>
                        <a:t>Resource Utilization</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Arimo"/>
                          <a:ea typeface="Arimo"/>
                          <a:cs typeface="Arimo"/>
                          <a:sym typeface="Arimo"/>
                        </a:rPr>
                        <a:t>Not high</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Arimo"/>
                          <a:ea typeface="Arimo"/>
                          <a:cs typeface="Arimo"/>
                          <a:sym typeface="Arimo"/>
                        </a:rPr>
                        <a:t>May increase efficiency but could starve long jobs</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705183">
                <a:tc>
                  <a:txBody>
                    <a:bodyPr anchor="t" rtlCol="false"/>
                    <a:lstStyle/>
                    <a:p>
                      <a:pPr algn="l">
                        <a:lnSpc>
                          <a:spcPts val="2940"/>
                        </a:lnSpc>
                        <a:defRPr/>
                      </a:pPr>
                      <a:r>
                        <a:rPr lang="en-US" sz="2100" b="true">
                          <a:solidFill>
                            <a:srgbClr val="000000"/>
                          </a:solidFill>
                          <a:latin typeface="Arimo Bold"/>
                          <a:ea typeface="Arimo Bold"/>
                          <a:cs typeface="Arimo Bold"/>
                          <a:sym typeface="Arimo Bold"/>
                        </a:rPr>
                        <a:t>Implementation</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Arimo"/>
                          <a:ea typeface="Arimo"/>
                          <a:cs typeface="Arimo"/>
                          <a:sym typeface="Arimo"/>
                        </a:rPr>
                        <a:t>Simple</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Arimo"/>
                          <a:ea typeface="Arimo"/>
                          <a:cs typeface="Arimo"/>
                          <a:sym typeface="Arimo"/>
                        </a:rPr>
                        <a:t>Requires estimation or knowledge of process burst time</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1001261">
                <a:tc>
                  <a:txBody>
                    <a:bodyPr anchor="t" rtlCol="false"/>
                    <a:lstStyle/>
                    <a:p>
                      <a:pPr algn="l">
                        <a:lnSpc>
                          <a:spcPts val="2940"/>
                        </a:lnSpc>
                        <a:defRPr/>
                      </a:pPr>
                      <a:r>
                        <a:rPr lang="en-US" sz="2100" b="true">
                          <a:solidFill>
                            <a:srgbClr val="000000"/>
                          </a:solidFill>
                          <a:latin typeface="Arimo Bold"/>
                          <a:ea typeface="Arimo Bold"/>
                          <a:cs typeface="Arimo Bold"/>
                          <a:sym typeface="Arimo Bold"/>
                        </a:rPr>
                        <a:t>Performance on Mixed Workloads</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Arimo"/>
                          <a:ea typeface="Arimo"/>
                          <a:cs typeface="Arimo"/>
                          <a:sym typeface="Arimo"/>
                        </a:rPr>
                        <a:t>Poor for systems with varied workloads</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Arimo"/>
                          <a:ea typeface="Arimo"/>
                          <a:cs typeface="Arimo"/>
                          <a:sym typeface="Arimo"/>
                        </a:rPr>
                        <a:t>Effective when there are many short processes</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bl>
          </a:graphicData>
        </a:graphic>
      </p:graphicFrame>
      <p:sp>
        <p:nvSpPr>
          <p:cNvPr name="Freeform 14" id="14"/>
          <p:cNvSpPr/>
          <p:nvPr/>
        </p:nvSpPr>
        <p:spPr>
          <a:xfrm flipH="false" flipV="false" rot="0">
            <a:off x="1028700" y="548359"/>
            <a:ext cx="2476770" cy="1024764"/>
          </a:xfrm>
          <a:custGeom>
            <a:avLst/>
            <a:gdLst/>
            <a:ahLst/>
            <a:cxnLst/>
            <a:rect r="r" b="b" t="t" l="l"/>
            <a:pathLst>
              <a:path h="1024764" w="2476770">
                <a:moveTo>
                  <a:pt x="0" y="0"/>
                </a:moveTo>
                <a:lnTo>
                  <a:pt x="2476770" y="0"/>
                </a:lnTo>
                <a:lnTo>
                  <a:pt x="2476770" y="1024764"/>
                </a:lnTo>
                <a:lnTo>
                  <a:pt x="0" y="1024764"/>
                </a:lnTo>
                <a:lnTo>
                  <a:pt x="0" y="0"/>
                </a:lnTo>
                <a:close/>
              </a:path>
            </a:pathLst>
          </a:custGeom>
          <a:blipFill>
            <a:blip r:embed="rId4"/>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EFEEEC"/>
        </a:solidFill>
      </p:bgPr>
    </p:bg>
    <p:spTree>
      <p:nvGrpSpPr>
        <p:cNvPr id="1" name=""/>
        <p:cNvGrpSpPr/>
        <p:nvPr/>
      </p:nvGrpSpPr>
      <p:grpSpPr>
        <a:xfrm>
          <a:off x="0" y="0"/>
          <a:ext cx="0" cy="0"/>
          <a:chOff x="0" y="0"/>
          <a:chExt cx="0" cy="0"/>
        </a:xfrm>
      </p:grpSpPr>
      <p:sp>
        <p:nvSpPr>
          <p:cNvPr name="TextBox 2" id="2"/>
          <p:cNvSpPr txBox="true"/>
          <p:nvPr/>
        </p:nvSpPr>
        <p:spPr>
          <a:xfrm rot="0">
            <a:off x="15502158" y="8951595"/>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30</a:t>
            </a:r>
          </a:p>
        </p:txBody>
      </p:sp>
      <p:sp>
        <p:nvSpPr>
          <p:cNvPr name="TextBox 3" id="3"/>
          <p:cNvSpPr txBox="true"/>
          <p:nvPr/>
        </p:nvSpPr>
        <p:spPr>
          <a:xfrm rot="0">
            <a:off x="3113689" y="180975"/>
            <a:ext cx="14362113" cy="667730"/>
          </a:xfrm>
          <a:prstGeom prst="rect">
            <a:avLst/>
          </a:prstGeom>
        </p:spPr>
        <p:txBody>
          <a:bodyPr anchor="t" rtlCol="false" tIns="0" lIns="0" bIns="0" rIns="0">
            <a:spAutoFit/>
          </a:bodyPr>
          <a:lstStyle/>
          <a:p>
            <a:pPr algn="l" marL="0" indent="0" lvl="0">
              <a:lnSpc>
                <a:spcPts val="4754"/>
              </a:lnSpc>
              <a:spcBef>
                <a:spcPct val="0"/>
              </a:spcBef>
            </a:pPr>
            <a:r>
              <a:rPr lang="en-US" b="true" sz="5593" spc="-419">
                <a:solidFill>
                  <a:srgbClr val="403E3E"/>
                </a:solidFill>
                <a:latin typeface="Inter Bold"/>
                <a:ea typeface="Inter Bold"/>
                <a:cs typeface="Inter Bold"/>
                <a:sym typeface="Inter Bold"/>
              </a:rPr>
              <a:t>5.2.3 FCFS vs Shortest Remaining Time (SRT)</a:t>
            </a:r>
          </a:p>
        </p:txBody>
      </p:sp>
      <p:graphicFrame>
        <p:nvGraphicFramePr>
          <p:cNvPr name="Table 4" id="4"/>
          <p:cNvGraphicFramePr>
            <a:graphicFrameLocks noGrp="true"/>
          </p:cNvGraphicFramePr>
          <p:nvPr/>
        </p:nvGraphicFramePr>
        <p:xfrm>
          <a:off x="1663922" y="1050021"/>
          <a:ext cx="16624078" cy="9236979"/>
        </p:xfrm>
        <a:graphic>
          <a:graphicData uri="http://schemas.openxmlformats.org/drawingml/2006/table">
            <a:tbl>
              <a:tblPr/>
              <a:tblGrid>
                <a:gridCol w="3495108"/>
                <a:gridCol w="5071643"/>
                <a:gridCol w="8057327"/>
              </a:tblGrid>
              <a:tr h="1029613">
                <a:tc>
                  <a:txBody>
                    <a:bodyPr anchor="t" rtlCol="false"/>
                    <a:lstStyle/>
                    <a:p>
                      <a:pPr algn="l">
                        <a:lnSpc>
                          <a:spcPts val="2939"/>
                        </a:lnSpc>
                        <a:defRPr/>
                      </a:pPr>
                      <a:r>
                        <a:rPr lang="en-US" b="true" sz="2099" strike="noStrike" u="none">
                          <a:solidFill>
                            <a:srgbClr val="000000"/>
                          </a:solidFill>
                          <a:latin typeface="Arimo Bold"/>
                          <a:ea typeface="Arimo Bold"/>
                          <a:cs typeface="Arimo Bold"/>
                          <a:sym typeface="Arimo Bold"/>
                        </a:rPr>
                        <a:t>Criterion</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6F5F3"/>
                    </a:solidFill>
                  </a:tcPr>
                </a:tc>
                <a:tc>
                  <a:txBody>
                    <a:bodyPr anchor="t" rtlCol="false"/>
                    <a:lstStyle/>
                    <a:p>
                      <a:pPr algn="ctr">
                        <a:lnSpc>
                          <a:spcPts val="2939"/>
                        </a:lnSpc>
                        <a:defRPr/>
                      </a:pPr>
                      <a:r>
                        <a:rPr lang="en-US" b="true" sz="2099" spc="-46">
                          <a:solidFill>
                            <a:srgbClr val="403E3E"/>
                          </a:solidFill>
                          <a:latin typeface="Inter Bold"/>
                          <a:ea typeface="Inter Bold"/>
                          <a:cs typeface="Inter Bold"/>
                          <a:sym typeface="Inter Bold"/>
                        </a:rPr>
                        <a:t>FCFS</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6F5F3"/>
                    </a:solidFill>
                  </a:tcPr>
                </a:tc>
                <a:tc>
                  <a:txBody>
                    <a:bodyPr anchor="t" rtlCol="false"/>
                    <a:lstStyle/>
                    <a:p>
                      <a:pPr algn="ctr">
                        <a:lnSpc>
                          <a:spcPts val="2939"/>
                        </a:lnSpc>
                        <a:defRPr/>
                      </a:pPr>
                      <a:r>
                        <a:rPr lang="en-US" b="true" sz="2099" spc="-46">
                          <a:solidFill>
                            <a:srgbClr val="403E3E"/>
                          </a:solidFill>
                          <a:latin typeface="Inter Bold"/>
                          <a:ea typeface="Inter Bold"/>
                          <a:cs typeface="Inter Bold"/>
                          <a:sym typeface="Inter Bold"/>
                        </a:rPr>
                        <a:t>SHORTEST REMAINING TIME (SRT)</a:t>
                      </a:r>
                      <a:endParaRPr lang="en-US" sz="1100"/>
                    </a:p>
                    <a:p>
                      <a:pPr algn="ctr">
                        <a:lnSpc>
                          <a:spcPts val="2939"/>
                        </a:lnSpc>
                      </a:pPr>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6F5F3"/>
                    </a:solidFill>
                  </a:tcPr>
                </a:tc>
              </a:tr>
              <a:tr h="991479">
                <a:tc>
                  <a:txBody>
                    <a:bodyPr anchor="t" rtlCol="false"/>
                    <a:lstStyle/>
                    <a:p>
                      <a:pPr algn="l">
                        <a:lnSpc>
                          <a:spcPts val="2939"/>
                        </a:lnSpc>
                        <a:defRPr/>
                      </a:pPr>
                      <a:r>
                        <a:rPr lang="en-US" sz="2099" spc="-46" b="true">
                          <a:solidFill>
                            <a:srgbClr val="403E3E"/>
                          </a:solidFill>
                          <a:latin typeface="Inter Bold"/>
                          <a:ea typeface="Inter Bold"/>
                          <a:cs typeface="Inter Bold"/>
                          <a:sym typeface="Inter Bold"/>
                        </a:rPr>
                        <a:t>Principle</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Processes are executed in the order of arrival</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The process with the shortest remaining burst time is executed first</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705008">
                <a:tc>
                  <a:txBody>
                    <a:bodyPr anchor="t" rtlCol="false"/>
                    <a:lstStyle/>
                    <a:p>
                      <a:pPr algn="l">
                        <a:lnSpc>
                          <a:spcPts val="2939"/>
                        </a:lnSpc>
                        <a:defRPr/>
                      </a:pPr>
                      <a:r>
                        <a:rPr lang="en-US" b="true" sz="2099" strike="noStrike" u="none">
                          <a:solidFill>
                            <a:srgbClr val="000000"/>
                          </a:solidFill>
                          <a:latin typeface="Arimo Bold"/>
                          <a:ea typeface="Arimo Bold"/>
                          <a:cs typeface="Arimo Bold"/>
                          <a:sym typeface="Arimo Bold"/>
                        </a:rPr>
                        <a:t>Preemptive Mechanism</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None</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Yes (preemptive)</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705008">
                <a:tc>
                  <a:txBody>
                    <a:bodyPr anchor="t" rtlCol="false"/>
                    <a:lstStyle/>
                    <a:p>
                      <a:pPr algn="l">
                        <a:lnSpc>
                          <a:spcPts val="2939"/>
                        </a:lnSpc>
                        <a:defRPr/>
                      </a:pPr>
                      <a:r>
                        <a:rPr lang="en-US" sz="2099" spc="-46" b="true">
                          <a:solidFill>
                            <a:srgbClr val="403E3E"/>
                          </a:solidFill>
                          <a:latin typeface="Inter Bold"/>
                          <a:ea typeface="Inter Bold"/>
                          <a:cs typeface="Inter Bold"/>
                          <a:sym typeface="Inter Bold"/>
                        </a:rPr>
                        <a:t>Response Time</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Poor for later-arriving processes</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Very good for short and newly arriving processes</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991479">
                <a:tc>
                  <a:txBody>
                    <a:bodyPr anchor="t" rtlCol="false"/>
                    <a:lstStyle/>
                    <a:p>
                      <a:pPr algn="l">
                        <a:lnSpc>
                          <a:spcPts val="2939"/>
                        </a:lnSpc>
                        <a:defRPr/>
                      </a:pPr>
                      <a:r>
                        <a:rPr lang="en-US" sz="2099" spc="-46" b="true">
                          <a:solidFill>
                            <a:srgbClr val="403E3E"/>
                          </a:solidFill>
                          <a:latin typeface="Inter Bold"/>
                          <a:ea typeface="Inter Bold"/>
                          <a:cs typeface="Inter Bold"/>
                          <a:sym typeface="Inter Bold"/>
                        </a:rPr>
                        <a:t>Waiting Time</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High for later processes</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ctr">
                        <a:lnSpc>
                          <a:spcPts val="2799"/>
                        </a:lnSpc>
                        <a:defRPr/>
                      </a:pPr>
                      <a:r>
                        <a:rPr lang="en-US" sz="1999" spc="-43">
                          <a:solidFill>
                            <a:srgbClr val="403E3E"/>
                          </a:solidFill>
                          <a:latin typeface="Inter"/>
                          <a:ea typeface="Inter"/>
                          <a:cs typeface="Inter"/>
                          <a:sym typeface="Inter"/>
                        </a:rPr>
                        <a:t>Low for short processes, high for long ones</a:t>
                      </a:r>
                      <a:endParaRPr lang="en-US" sz="1100"/>
                    </a:p>
                    <a:p>
                      <a:pPr algn="ctr">
                        <a:lnSpc>
                          <a:spcPts val="2799"/>
                        </a:lnSpc>
                      </a:pPr>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962879">
                <a:tc>
                  <a:txBody>
                    <a:bodyPr anchor="t" rtlCol="false"/>
                    <a:lstStyle/>
                    <a:p>
                      <a:pPr algn="l">
                        <a:lnSpc>
                          <a:spcPts val="2939"/>
                        </a:lnSpc>
                        <a:defRPr/>
                      </a:pPr>
                      <a:r>
                        <a:rPr lang="en-US" sz="2099" b="true">
                          <a:solidFill>
                            <a:srgbClr val="000000"/>
                          </a:solidFill>
                          <a:latin typeface="Arimo Bold"/>
                          <a:ea typeface="Arimo Bold"/>
                          <a:cs typeface="Arimo Bold"/>
                          <a:sym typeface="Arimo Bold"/>
                        </a:rPr>
                        <a:t>Process Switching</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800"/>
                        </a:lnSpc>
                        <a:defRPr/>
                      </a:pPr>
                      <a:r>
                        <a:rPr lang="en-US" sz="2000">
                          <a:solidFill>
                            <a:srgbClr val="000000"/>
                          </a:solidFill>
                          <a:latin typeface="Arimo"/>
                          <a:ea typeface="Arimo"/>
                          <a:cs typeface="Arimo"/>
                          <a:sym typeface="Arimo"/>
                        </a:rPr>
                        <a:t>Rare</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Arimo"/>
                          <a:ea typeface="Arimo"/>
                          <a:cs typeface="Arimo"/>
                          <a:sym typeface="Arimo"/>
                        </a:rPr>
                        <a:t>Frequent due to preemption</a:t>
                      </a:r>
                      <a:endParaRPr lang="en-US" sz="1100"/>
                    </a:p>
                    <a:p>
                      <a:pPr algn="l">
                        <a:lnSpc>
                          <a:spcPts val="2799"/>
                        </a:lnSpc>
                      </a:pPr>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962879">
                <a:tc>
                  <a:txBody>
                    <a:bodyPr anchor="t" rtlCol="false"/>
                    <a:lstStyle/>
                    <a:p>
                      <a:pPr algn="l">
                        <a:lnSpc>
                          <a:spcPts val="2939"/>
                        </a:lnSpc>
                        <a:defRPr/>
                      </a:pPr>
                      <a:r>
                        <a:rPr lang="en-US" sz="2099" b="true">
                          <a:solidFill>
                            <a:srgbClr val="000000"/>
                          </a:solidFill>
                          <a:latin typeface="Arimo Bold"/>
                          <a:ea typeface="Arimo Bold"/>
                          <a:cs typeface="Arimo Bold"/>
                          <a:sym typeface="Arimo Bold"/>
                        </a:rPr>
                        <a:t>C</a:t>
                      </a:r>
                      <a:r>
                        <a:rPr lang="en-US" b="true" sz="2099" strike="noStrike" u="none">
                          <a:solidFill>
                            <a:srgbClr val="000000"/>
                          </a:solidFill>
                          <a:latin typeface="Arimo Bold"/>
                          <a:ea typeface="Arimo Bold"/>
                          <a:cs typeface="Arimo Bold"/>
                          <a:sym typeface="Arimo Bold"/>
                        </a:rPr>
                        <a:t>onvoy Effect</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Arimo"/>
                          <a:ea typeface="Arimo"/>
                          <a:cs typeface="Arimo"/>
                          <a:sym typeface="Arimo"/>
                        </a:rPr>
                        <a:t>Can occur</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Arimo"/>
                          <a:ea typeface="Arimo"/>
                          <a:cs typeface="Arimo"/>
                          <a:sym typeface="Arimo"/>
                        </a:rPr>
                        <a:t>Reduced compared to FCFS or SJF</a:t>
                      </a:r>
                      <a:endParaRPr lang="en-US" sz="1100"/>
                    </a:p>
                    <a:p>
                      <a:pPr algn="l">
                        <a:lnSpc>
                          <a:spcPts val="2799"/>
                        </a:lnSpc>
                      </a:pPr>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962879">
                <a:tc>
                  <a:txBody>
                    <a:bodyPr anchor="t" rtlCol="false"/>
                    <a:lstStyle/>
                    <a:p>
                      <a:pPr algn="l">
                        <a:lnSpc>
                          <a:spcPts val="2939"/>
                        </a:lnSpc>
                        <a:defRPr/>
                      </a:pPr>
                      <a:r>
                        <a:rPr lang="en-US" sz="2099" b="true">
                          <a:solidFill>
                            <a:srgbClr val="000000"/>
                          </a:solidFill>
                          <a:latin typeface="Arimo Bold"/>
                          <a:ea typeface="Arimo Bold"/>
                          <a:cs typeface="Arimo Bold"/>
                          <a:sym typeface="Arimo Bold"/>
                        </a:rPr>
                        <a:t>Complexity</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Arimo"/>
                          <a:ea typeface="Arimo"/>
                          <a:cs typeface="Arimo"/>
                          <a:sym typeface="Arimo"/>
                        </a:rPr>
                        <a:t>Simple</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Arimo"/>
                          <a:ea typeface="Arimo"/>
                          <a:cs typeface="Arimo"/>
                          <a:sym typeface="Arimo"/>
                        </a:rPr>
                        <a:t>Requires accurate burst time estimation and more complex implementation</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962879">
                <a:tc>
                  <a:txBody>
                    <a:bodyPr anchor="t" rtlCol="false"/>
                    <a:lstStyle/>
                    <a:p>
                      <a:pPr algn="l">
                        <a:lnSpc>
                          <a:spcPts val="2940"/>
                        </a:lnSpc>
                        <a:defRPr/>
                      </a:pPr>
                      <a:r>
                        <a:rPr lang="en-US" sz="2100" b="true">
                          <a:solidFill>
                            <a:srgbClr val="000000"/>
                          </a:solidFill>
                          <a:latin typeface="Arimo Bold"/>
                          <a:ea typeface="Arimo Bold"/>
                          <a:cs typeface="Arimo Bold"/>
                          <a:sym typeface="Arimo Bold"/>
                        </a:rPr>
                        <a:t>Predictability</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Arimo"/>
                          <a:ea typeface="Arimo"/>
                          <a:cs typeface="Arimo"/>
                          <a:sym typeface="Arimo"/>
                        </a:rPr>
                        <a:t>Stable and predictable</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Arimo"/>
                          <a:ea typeface="Arimo"/>
                          <a:cs typeface="Arimo"/>
                          <a:sym typeface="Arimo"/>
                        </a:rPr>
                        <a:t>Less predictable due to frequent preemptions</a:t>
                      </a:r>
                      <a:endParaRPr lang="en-US" sz="1100"/>
                    </a:p>
                    <a:p>
                      <a:pPr algn="l">
                        <a:lnSpc>
                          <a:spcPts val="2799"/>
                        </a:lnSpc>
                      </a:pPr>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r h="962879">
                <a:tc>
                  <a:txBody>
                    <a:bodyPr anchor="t" rtlCol="false"/>
                    <a:lstStyle/>
                    <a:p>
                      <a:pPr algn="l">
                        <a:lnSpc>
                          <a:spcPts val="2940"/>
                        </a:lnSpc>
                        <a:defRPr/>
                      </a:pPr>
                      <a:r>
                        <a:rPr lang="en-US" sz="2100" b="true">
                          <a:solidFill>
                            <a:srgbClr val="000000"/>
                          </a:solidFill>
                          <a:latin typeface="Arimo Bold"/>
                          <a:ea typeface="Arimo Bold"/>
                          <a:cs typeface="Arimo Bold"/>
                          <a:sym typeface="Arimo Bold"/>
                        </a:rPr>
                        <a:t>CPU Utilization</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Arimo"/>
                          <a:ea typeface="Arimo"/>
                          <a:cs typeface="Arimo"/>
                          <a:sym typeface="Arimo"/>
                        </a:rPr>
                        <a:t>High</a:t>
                      </a:r>
                      <a:endParaRPr lang="en-US" sz="1100"/>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c>
                  <a:txBody>
                    <a:bodyPr anchor="t" rtlCol="false"/>
                    <a:lstStyle/>
                    <a:p>
                      <a:pPr algn="l">
                        <a:lnSpc>
                          <a:spcPts val="2799"/>
                        </a:lnSpc>
                        <a:defRPr/>
                      </a:pPr>
                      <a:r>
                        <a:rPr lang="en-US" sz="1999">
                          <a:solidFill>
                            <a:srgbClr val="000000"/>
                          </a:solidFill>
                          <a:latin typeface="Arimo"/>
                          <a:ea typeface="Arimo"/>
                          <a:cs typeface="Arimo"/>
                          <a:sym typeface="Arimo"/>
                        </a:rPr>
                        <a:t>Very high, as CPU is used more efficiently</a:t>
                      </a:r>
                      <a:endParaRPr lang="en-US" sz="1100"/>
                    </a:p>
                    <a:p>
                      <a:pPr algn="l">
                        <a:lnSpc>
                          <a:spcPts val="2799"/>
                        </a:lnSpc>
                      </a:pPr>
                    </a:p>
                  </a:txBody>
                  <a:tcPr marL="95250" marR="95250" marT="95250" marB="95250" anchor="ctr">
                    <a:lnL cmpd="sng" algn="ctr" cap="flat" w="8189">
                      <a:solidFill>
                        <a:srgbClr val="403E3E"/>
                      </a:solidFill>
                      <a:prstDash val="solid"/>
                      <a:round/>
                      <a:headEnd type="none" w="med" len="med"/>
                      <a:tailEnd type="none" w="med" len="med"/>
                    </a:lnL>
                    <a:lnR cmpd="sng" algn="ctr" cap="flat" w="8189">
                      <a:solidFill>
                        <a:srgbClr val="403E3E"/>
                      </a:solidFill>
                      <a:prstDash val="solid"/>
                      <a:round/>
                      <a:headEnd type="none" w="med" len="med"/>
                      <a:tailEnd type="none" w="med" len="med"/>
                    </a:lnR>
                    <a:lnT cmpd="sng" algn="ctr" cap="flat" w="8189">
                      <a:solidFill>
                        <a:srgbClr val="403E3E"/>
                      </a:solidFill>
                      <a:prstDash val="solid"/>
                      <a:round/>
                      <a:headEnd type="none" w="med" len="med"/>
                      <a:tailEnd type="none" w="med" len="med"/>
                    </a:lnT>
                    <a:lnB cmpd="sng" algn="ctr" cap="flat" w="8189">
                      <a:solidFill>
                        <a:srgbClr val="403E3E"/>
                      </a:solidFill>
                      <a:prstDash val="solid"/>
                      <a:round/>
                      <a:headEnd type="none" w="med" len="med"/>
                      <a:tailEnd type="none" w="med" len="med"/>
                    </a:lnB>
                    <a:solidFill>
                      <a:srgbClr val="FDFDFA"/>
                    </a:solidFill>
                  </a:tcPr>
                </a:tc>
              </a:tr>
            </a:tbl>
          </a:graphicData>
        </a:graphic>
      </p:graphicFrame>
      <p:grpSp>
        <p:nvGrpSpPr>
          <p:cNvPr name="Group 5" id="5"/>
          <p:cNvGrpSpPr/>
          <p:nvPr/>
        </p:nvGrpSpPr>
        <p:grpSpPr>
          <a:xfrm rot="5400000">
            <a:off x="-5365032" y="3345201"/>
            <a:ext cx="10730064" cy="3153534"/>
            <a:chOff x="0" y="0"/>
            <a:chExt cx="3845413" cy="1130155"/>
          </a:xfrm>
        </p:grpSpPr>
        <p:sp>
          <p:nvSpPr>
            <p:cNvPr name="Freeform 6" id="6"/>
            <p:cNvSpPr/>
            <p:nvPr/>
          </p:nvSpPr>
          <p:spPr>
            <a:xfrm flipH="false" flipV="false" rot="0">
              <a:off x="0" y="0"/>
              <a:ext cx="3845413" cy="1130155"/>
            </a:xfrm>
            <a:custGeom>
              <a:avLst/>
              <a:gdLst/>
              <a:ahLst/>
              <a:cxnLst/>
              <a:rect r="r" b="b" t="t" l="l"/>
              <a:pathLst>
                <a:path h="1130155" w="3845413">
                  <a:moveTo>
                    <a:pt x="0" y="0"/>
                  </a:moveTo>
                  <a:lnTo>
                    <a:pt x="3845413" y="0"/>
                  </a:lnTo>
                  <a:lnTo>
                    <a:pt x="3845413" y="1130155"/>
                  </a:lnTo>
                  <a:lnTo>
                    <a:pt x="0" y="1130155"/>
                  </a:lnTo>
                  <a:close/>
                </a:path>
              </a:pathLst>
            </a:custGeom>
            <a:solidFill>
              <a:srgbClr val="F6F5F3"/>
            </a:solidFill>
            <a:ln w="9525" cap="sq">
              <a:solidFill>
                <a:srgbClr val="403E3E"/>
              </a:solidFill>
              <a:prstDash val="solid"/>
              <a:miter/>
            </a:ln>
          </p:spPr>
        </p:sp>
        <p:sp>
          <p:nvSpPr>
            <p:cNvPr name="TextBox 7" id="7"/>
            <p:cNvSpPr txBox="true"/>
            <p:nvPr/>
          </p:nvSpPr>
          <p:spPr>
            <a:xfrm>
              <a:off x="0" y="-47625"/>
              <a:ext cx="3845413" cy="1177780"/>
            </a:xfrm>
            <a:prstGeom prst="rect">
              <a:avLst/>
            </a:prstGeom>
          </p:spPr>
          <p:txBody>
            <a:bodyPr anchor="ctr" rtlCol="false" tIns="50800" lIns="50800" bIns="50800" rIns="50800"/>
            <a:lstStyle/>
            <a:p>
              <a:pPr algn="ctr">
                <a:lnSpc>
                  <a:spcPts val="1960"/>
                </a:lnSpc>
              </a:pPr>
            </a:p>
          </p:txBody>
        </p:sp>
      </p:grpSp>
      <p:sp>
        <p:nvSpPr>
          <p:cNvPr name="Freeform 8" id="8"/>
          <p:cNvSpPr/>
          <p:nvPr/>
        </p:nvSpPr>
        <p:spPr>
          <a:xfrm flipH="false" flipV="false" rot="0">
            <a:off x="1189731" y="405391"/>
            <a:ext cx="948381" cy="1520727"/>
          </a:xfrm>
          <a:custGeom>
            <a:avLst/>
            <a:gdLst/>
            <a:ahLst/>
            <a:cxnLst/>
            <a:rect r="r" b="b" t="t" l="l"/>
            <a:pathLst>
              <a:path h="1520727" w="948381">
                <a:moveTo>
                  <a:pt x="0" y="0"/>
                </a:moveTo>
                <a:lnTo>
                  <a:pt x="948381" y="0"/>
                </a:lnTo>
                <a:lnTo>
                  <a:pt x="948381" y="1520727"/>
                </a:lnTo>
                <a:lnTo>
                  <a:pt x="0" y="15207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0" y="1581894"/>
            <a:ext cx="1663922" cy="688448"/>
          </a:xfrm>
          <a:custGeom>
            <a:avLst/>
            <a:gdLst/>
            <a:ahLst/>
            <a:cxnLst/>
            <a:rect r="r" b="b" t="t" l="l"/>
            <a:pathLst>
              <a:path h="688448" w="1663922">
                <a:moveTo>
                  <a:pt x="0" y="0"/>
                </a:moveTo>
                <a:lnTo>
                  <a:pt x="1663922" y="0"/>
                </a:lnTo>
                <a:lnTo>
                  <a:pt x="1663922" y="688448"/>
                </a:lnTo>
                <a:lnTo>
                  <a:pt x="0" y="688448"/>
                </a:lnTo>
                <a:lnTo>
                  <a:pt x="0" y="0"/>
                </a:lnTo>
                <a:close/>
              </a:path>
            </a:pathLst>
          </a:custGeom>
          <a:blipFill>
            <a:blip r:embed="rId4"/>
            <a:stretch>
              <a:fillRect l="0" t="0" r="0" b="0"/>
            </a:stretch>
          </a:blipFill>
        </p:spPr>
      </p:sp>
      <p:sp>
        <p:nvSpPr>
          <p:cNvPr name="TextBox 10" id="10"/>
          <p:cNvSpPr txBox="true"/>
          <p:nvPr/>
        </p:nvSpPr>
        <p:spPr>
          <a:xfrm rot="0">
            <a:off x="15071919" y="232988"/>
            <a:ext cx="2850172" cy="306705"/>
          </a:xfrm>
          <a:prstGeom prst="rect">
            <a:avLst/>
          </a:prstGeom>
        </p:spPr>
        <p:txBody>
          <a:bodyPr anchor="t" rtlCol="false" tIns="0" lIns="0" bIns="0" rIns="0">
            <a:spAutoFit/>
          </a:bodyPr>
          <a:lstStyle/>
          <a:p>
            <a:pPr algn="r" marL="0" indent="0" lvl="0">
              <a:lnSpc>
                <a:spcPts val="2520"/>
              </a:lnSpc>
              <a:spcBef>
                <a:spcPct val="0"/>
              </a:spcBef>
            </a:pPr>
            <a:r>
              <a:rPr lang="en-US" sz="1800" spc="-72">
                <a:solidFill>
                  <a:srgbClr val="403E3E"/>
                </a:solidFill>
                <a:latin typeface="Inter"/>
                <a:ea typeface="Inter"/>
                <a:cs typeface="Inter"/>
                <a:sym typeface="Inter"/>
              </a:rPr>
              <a:t>NOV 2025</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EFEEEC"/>
        </a:solidFill>
      </p:bgPr>
    </p:bg>
    <p:spTree>
      <p:nvGrpSpPr>
        <p:cNvPr id="1" name=""/>
        <p:cNvGrpSpPr/>
        <p:nvPr/>
      </p:nvGrpSpPr>
      <p:grpSpPr>
        <a:xfrm>
          <a:off x="0" y="0"/>
          <a:ext cx="0" cy="0"/>
          <a:chOff x="0" y="0"/>
          <a:chExt cx="0" cy="0"/>
        </a:xfrm>
      </p:grpSpPr>
      <p:grpSp>
        <p:nvGrpSpPr>
          <p:cNvPr name="Group 2" id="2"/>
          <p:cNvGrpSpPr/>
          <p:nvPr/>
        </p:nvGrpSpPr>
        <p:grpSpPr>
          <a:xfrm rot="5400000">
            <a:off x="12432431" y="4605338"/>
            <a:ext cx="10730064" cy="1076325"/>
            <a:chOff x="0" y="0"/>
            <a:chExt cx="3845413" cy="385731"/>
          </a:xfrm>
        </p:grpSpPr>
        <p:sp>
          <p:nvSpPr>
            <p:cNvPr name="Freeform 3" id="3"/>
            <p:cNvSpPr/>
            <p:nvPr/>
          </p:nvSpPr>
          <p:spPr>
            <a:xfrm flipH="false" flipV="false" rot="0">
              <a:off x="0" y="0"/>
              <a:ext cx="3845413" cy="385731"/>
            </a:xfrm>
            <a:custGeom>
              <a:avLst/>
              <a:gdLst/>
              <a:ahLst/>
              <a:cxnLst/>
              <a:rect r="r" b="b" t="t" l="l"/>
              <a:pathLst>
                <a:path h="385731" w="3845413">
                  <a:moveTo>
                    <a:pt x="0" y="0"/>
                  </a:moveTo>
                  <a:lnTo>
                    <a:pt x="3845413" y="0"/>
                  </a:lnTo>
                  <a:lnTo>
                    <a:pt x="3845413" y="385731"/>
                  </a:lnTo>
                  <a:lnTo>
                    <a:pt x="0" y="385731"/>
                  </a:lnTo>
                  <a:close/>
                </a:path>
              </a:pathLst>
            </a:custGeom>
            <a:solidFill>
              <a:srgbClr val="FDFDFA"/>
            </a:solidFill>
            <a:ln w="9525" cap="sq">
              <a:solidFill>
                <a:srgbClr val="403E3E"/>
              </a:solidFill>
              <a:prstDash val="solid"/>
              <a:miter/>
            </a:ln>
          </p:spPr>
        </p:sp>
        <p:sp>
          <p:nvSpPr>
            <p:cNvPr name="TextBox 4" id="4"/>
            <p:cNvSpPr txBox="true"/>
            <p:nvPr/>
          </p:nvSpPr>
          <p:spPr>
            <a:xfrm>
              <a:off x="0" y="-47625"/>
              <a:ext cx="3845413" cy="433356"/>
            </a:xfrm>
            <a:prstGeom prst="rect">
              <a:avLst/>
            </a:prstGeom>
          </p:spPr>
          <p:txBody>
            <a:bodyPr anchor="ctr" rtlCol="false" tIns="50800" lIns="50800" bIns="50800" rIns="50800"/>
            <a:lstStyle/>
            <a:p>
              <a:pPr algn="ctr">
                <a:lnSpc>
                  <a:spcPts val="1960"/>
                </a:lnSpc>
              </a:pPr>
            </a:p>
          </p:txBody>
        </p:sp>
      </p:grpSp>
      <p:sp>
        <p:nvSpPr>
          <p:cNvPr name="TextBox 5" id="5"/>
          <p:cNvSpPr txBox="true"/>
          <p:nvPr/>
        </p:nvSpPr>
        <p:spPr>
          <a:xfrm rot="0">
            <a:off x="8836002" y="3814731"/>
            <a:ext cx="7553325" cy="1025521"/>
          </a:xfrm>
          <a:prstGeom prst="rect">
            <a:avLst/>
          </a:prstGeom>
        </p:spPr>
        <p:txBody>
          <a:bodyPr anchor="t" rtlCol="false" tIns="0" lIns="0" bIns="0" rIns="0">
            <a:spAutoFit/>
          </a:bodyPr>
          <a:lstStyle/>
          <a:p>
            <a:pPr algn="r">
              <a:lnSpc>
                <a:spcPts val="7224"/>
              </a:lnSpc>
            </a:pPr>
            <a:r>
              <a:rPr lang="en-US" b="true" sz="8499" spc="-637">
                <a:solidFill>
                  <a:srgbClr val="403E3E"/>
                </a:solidFill>
                <a:latin typeface="Inter Semi-Bold"/>
                <a:ea typeface="Inter Semi-Bold"/>
                <a:cs typeface="Inter Semi-Bold"/>
                <a:sym typeface="Inter Semi-Bold"/>
              </a:rPr>
              <a:t>THANK YOU</a:t>
            </a:r>
          </a:p>
        </p:txBody>
      </p:sp>
      <p:sp>
        <p:nvSpPr>
          <p:cNvPr name="TextBox 6" id="6"/>
          <p:cNvSpPr txBox="true"/>
          <p:nvPr/>
        </p:nvSpPr>
        <p:spPr>
          <a:xfrm rot="0">
            <a:off x="15506330" y="8951595"/>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31</a:t>
            </a:r>
          </a:p>
        </p:txBody>
      </p:sp>
      <p:sp>
        <p:nvSpPr>
          <p:cNvPr name="TextBox 7" id="7"/>
          <p:cNvSpPr txBox="true"/>
          <p:nvPr/>
        </p:nvSpPr>
        <p:spPr>
          <a:xfrm rot="0">
            <a:off x="13491530" y="993352"/>
            <a:ext cx="2850172" cy="621030"/>
          </a:xfrm>
          <a:prstGeom prst="rect">
            <a:avLst/>
          </a:prstGeom>
        </p:spPr>
        <p:txBody>
          <a:bodyPr anchor="t" rtlCol="false" tIns="0" lIns="0" bIns="0" rIns="0">
            <a:spAutoFit/>
          </a:bodyPr>
          <a:lstStyle/>
          <a:p>
            <a:pPr algn="r">
              <a:lnSpc>
                <a:spcPts val="2520"/>
              </a:lnSpc>
            </a:pPr>
            <a:r>
              <a:rPr lang="en-US" sz="1800" spc="-72">
                <a:solidFill>
                  <a:srgbClr val="403E3E"/>
                </a:solidFill>
                <a:latin typeface="Inter"/>
                <a:ea typeface="Inter"/>
                <a:cs typeface="Inter"/>
                <a:sym typeface="Inter"/>
              </a:rPr>
              <a:t>NOV 2025</a:t>
            </a:r>
          </a:p>
          <a:p>
            <a:pPr algn="r" marL="0" indent="0" lvl="0">
              <a:lnSpc>
                <a:spcPts val="2520"/>
              </a:lnSpc>
              <a:spcBef>
                <a:spcPct val="0"/>
              </a:spcBef>
            </a:pPr>
          </a:p>
        </p:txBody>
      </p:sp>
      <p:sp>
        <p:nvSpPr>
          <p:cNvPr name="TextBox 8" id="8"/>
          <p:cNvSpPr txBox="true"/>
          <p:nvPr/>
        </p:nvSpPr>
        <p:spPr>
          <a:xfrm rot="0">
            <a:off x="12565039" y="6191811"/>
            <a:ext cx="3776662" cy="549910"/>
          </a:xfrm>
          <a:prstGeom prst="rect">
            <a:avLst/>
          </a:prstGeom>
        </p:spPr>
        <p:txBody>
          <a:bodyPr anchor="t" rtlCol="false" tIns="0" lIns="0" bIns="0" rIns="0">
            <a:spAutoFit/>
          </a:bodyPr>
          <a:lstStyle/>
          <a:p>
            <a:pPr algn="r" marL="0" indent="0" lvl="0">
              <a:lnSpc>
                <a:spcPts val="2240"/>
              </a:lnSpc>
              <a:spcBef>
                <a:spcPct val="0"/>
              </a:spcBef>
            </a:pPr>
            <a:r>
              <a:rPr lang="en-US" sz="1600" spc="-35">
                <a:solidFill>
                  <a:srgbClr val="403E3E"/>
                </a:solidFill>
                <a:latin typeface="Inter"/>
                <a:ea typeface="Inter"/>
                <a:cs typeface="Inter"/>
                <a:sym typeface="Inter"/>
              </a:rPr>
              <a:t>Please get in touch if you have any questions or concerns about this report.</a:t>
            </a:r>
          </a:p>
        </p:txBody>
      </p:sp>
      <p:grpSp>
        <p:nvGrpSpPr>
          <p:cNvPr name="Group 9" id="9"/>
          <p:cNvGrpSpPr/>
          <p:nvPr/>
        </p:nvGrpSpPr>
        <p:grpSpPr>
          <a:xfrm rot="5400000">
            <a:off x="-2621133" y="2153574"/>
            <a:ext cx="10730064" cy="5979852"/>
            <a:chOff x="0" y="0"/>
            <a:chExt cx="3845413" cy="2143044"/>
          </a:xfrm>
        </p:grpSpPr>
        <p:sp>
          <p:nvSpPr>
            <p:cNvPr name="Freeform 10" id="10"/>
            <p:cNvSpPr/>
            <p:nvPr/>
          </p:nvSpPr>
          <p:spPr>
            <a:xfrm flipH="false" flipV="false" rot="0">
              <a:off x="0" y="0"/>
              <a:ext cx="3845413" cy="2143044"/>
            </a:xfrm>
            <a:custGeom>
              <a:avLst/>
              <a:gdLst/>
              <a:ahLst/>
              <a:cxnLst/>
              <a:rect r="r" b="b" t="t" l="l"/>
              <a:pathLst>
                <a:path h="2143044" w="3845413">
                  <a:moveTo>
                    <a:pt x="0" y="0"/>
                  </a:moveTo>
                  <a:lnTo>
                    <a:pt x="3845413" y="0"/>
                  </a:lnTo>
                  <a:lnTo>
                    <a:pt x="3845413" y="2143044"/>
                  </a:lnTo>
                  <a:lnTo>
                    <a:pt x="0" y="2143044"/>
                  </a:lnTo>
                  <a:close/>
                </a:path>
              </a:pathLst>
            </a:custGeom>
            <a:solidFill>
              <a:srgbClr val="F6F5F3"/>
            </a:solidFill>
            <a:ln w="9525" cap="sq">
              <a:solidFill>
                <a:srgbClr val="403E3E"/>
              </a:solidFill>
              <a:prstDash val="solid"/>
              <a:miter/>
            </a:ln>
          </p:spPr>
        </p:sp>
        <p:sp>
          <p:nvSpPr>
            <p:cNvPr name="TextBox 11" id="11"/>
            <p:cNvSpPr txBox="true"/>
            <p:nvPr/>
          </p:nvSpPr>
          <p:spPr>
            <a:xfrm>
              <a:off x="0" y="-47625"/>
              <a:ext cx="3845413" cy="2190669"/>
            </a:xfrm>
            <a:prstGeom prst="rect">
              <a:avLst/>
            </a:prstGeom>
          </p:spPr>
          <p:txBody>
            <a:bodyPr anchor="ctr" rtlCol="false" tIns="50800" lIns="50800" bIns="50800" rIns="50800"/>
            <a:lstStyle/>
            <a:p>
              <a:pPr algn="ctr">
                <a:lnSpc>
                  <a:spcPts val="1960"/>
                </a:lnSpc>
              </a:pPr>
            </a:p>
          </p:txBody>
        </p:sp>
      </p:grpSp>
      <p:sp>
        <p:nvSpPr>
          <p:cNvPr name="TextBox 12" id="12"/>
          <p:cNvSpPr txBox="true"/>
          <p:nvPr/>
        </p:nvSpPr>
        <p:spPr>
          <a:xfrm rot="0">
            <a:off x="1215401" y="5831488"/>
            <a:ext cx="3717800" cy="749221"/>
          </a:xfrm>
          <a:prstGeom prst="rect">
            <a:avLst/>
          </a:prstGeom>
        </p:spPr>
        <p:txBody>
          <a:bodyPr anchor="t" rtlCol="false" tIns="0" lIns="0" bIns="0" rIns="0">
            <a:spAutoFit/>
          </a:bodyPr>
          <a:lstStyle/>
          <a:p>
            <a:pPr algn="l" marL="0" indent="0" lvl="0">
              <a:lnSpc>
                <a:spcPts val="3032"/>
              </a:lnSpc>
              <a:spcBef>
                <a:spcPct val="0"/>
              </a:spcBef>
            </a:pPr>
            <a:r>
              <a:rPr lang="en-US" sz="2166" spc="-86">
                <a:solidFill>
                  <a:srgbClr val="403E3E"/>
                </a:solidFill>
                <a:latin typeface="Inter"/>
                <a:ea typeface="Inter"/>
                <a:cs typeface="Inter"/>
                <a:sym typeface="Inter"/>
              </a:rPr>
              <a:t>HO CHI MINH CITY UNIVERSITY OF TRANSPORT</a:t>
            </a:r>
          </a:p>
        </p:txBody>
      </p:sp>
      <p:sp>
        <p:nvSpPr>
          <p:cNvPr name="Freeform 13" id="13"/>
          <p:cNvSpPr/>
          <p:nvPr/>
        </p:nvSpPr>
        <p:spPr>
          <a:xfrm flipH="false" flipV="false" rot="0">
            <a:off x="5235230" y="1031452"/>
            <a:ext cx="948381" cy="1520727"/>
          </a:xfrm>
          <a:custGeom>
            <a:avLst/>
            <a:gdLst/>
            <a:ahLst/>
            <a:cxnLst/>
            <a:rect r="r" b="b" t="t" l="l"/>
            <a:pathLst>
              <a:path h="1520727" w="948381">
                <a:moveTo>
                  <a:pt x="0" y="0"/>
                </a:moveTo>
                <a:lnTo>
                  <a:pt x="948381" y="0"/>
                </a:lnTo>
                <a:lnTo>
                  <a:pt x="948381" y="1520727"/>
                </a:lnTo>
                <a:lnTo>
                  <a:pt x="0" y="15207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215401" y="2039797"/>
            <a:ext cx="2476770" cy="1024764"/>
          </a:xfrm>
          <a:custGeom>
            <a:avLst/>
            <a:gdLst/>
            <a:ahLst/>
            <a:cxnLst/>
            <a:rect r="r" b="b" t="t" l="l"/>
            <a:pathLst>
              <a:path h="1024764" w="2476770">
                <a:moveTo>
                  <a:pt x="0" y="0"/>
                </a:moveTo>
                <a:lnTo>
                  <a:pt x="2476770" y="0"/>
                </a:lnTo>
                <a:lnTo>
                  <a:pt x="2476770" y="1024764"/>
                </a:lnTo>
                <a:lnTo>
                  <a:pt x="0" y="1024764"/>
                </a:lnTo>
                <a:lnTo>
                  <a:pt x="0" y="0"/>
                </a:lnTo>
                <a:close/>
              </a:path>
            </a:pathLst>
          </a:custGeom>
          <a:blipFill>
            <a:blip r:embed="rId4"/>
            <a:stretch>
              <a:fillRect l="0" t="0" r="0" b="0"/>
            </a:stretch>
          </a:blipFill>
        </p:spPr>
      </p:sp>
      <p:sp>
        <p:nvSpPr>
          <p:cNvPr name="Freeform 15" id="15"/>
          <p:cNvSpPr/>
          <p:nvPr/>
        </p:nvSpPr>
        <p:spPr>
          <a:xfrm flipH="false" flipV="false" rot="0">
            <a:off x="16785110" y="1031452"/>
            <a:ext cx="948381" cy="1520727"/>
          </a:xfrm>
          <a:custGeom>
            <a:avLst/>
            <a:gdLst/>
            <a:ahLst/>
            <a:cxnLst/>
            <a:rect r="r" b="b" t="t" l="l"/>
            <a:pathLst>
              <a:path h="1520727" w="948381">
                <a:moveTo>
                  <a:pt x="0" y="0"/>
                </a:moveTo>
                <a:lnTo>
                  <a:pt x="948380" y="0"/>
                </a:lnTo>
                <a:lnTo>
                  <a:pt x="948380" y="1520727"/>
                </a:lnTo>
                <a:lnTo>
                  <a:pt x="0" y="15207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EFEEEC"/>
        </a:solidFill>
      </p:bgPr>
    </p:bg>
    <p:spTree>
      <p:nvGrpSpPr>
        <p:cNvPr id="1" name=""/>
        <p:cNvGrpSpPr/>
        <p:nvPr/>
      </p:nvGrpSpPr>
      <p:grpSpPr>
        <a:xfrm>
          <a:off x="0" y="0"/>
          <a:ext cx="0" cy="0"/>
          <a:chOff x="0" y="0"/>
          <a:chExt cx="0" cy="0"/>
        </a:xfrm>
      </p:grpSpPr>
      <p:sp>
        <p:nvSpPr>
          <p:cNvPr name="Freeform 2" id="2"/>
          <p:cNvSpPr/>
          <p:nvPr/>
        </p:nvSpPr>
        <p:spPr>
          <a:xfrm flipH="false" flipV="false" rot="0">
            <a:off x="10182925" y="1313621"/>
            <a:ext cx="7660853" cy="3512977"/>
          </a:xfrm>
          <a:custGeom>
            <a:avLst/>
            <a:gdLst/>
            <a:ahLst/>
            <a:cxnLst/>
            <a:rect r="r" b="b" t="t" l="l"/>
            <a:pathLst>
              <a:path h="3512977" w="7660853">
                <a:moveTo>
                  <a:pt x="0" y="0"/>
                </a:moveTo>
                <a:lnTo>
                  <a:pt x="7660853" y="0"/>
                </a:lnTo>
                <a:lnTo>
                  <a:pt x="7660853" y="3512977"/>
                </a:lnTo>
                <a:lnTo>
                  <a:pt x="0" y="3512977"/>
                </a:lnTo>
                <a:lnTo>
                  <a:pt x="0" y="0"/>
                </a:lnTo>
                <a:close/>
              </a:path>
            </a:pathLst>
          </a:custGeom>
          <a:blipFill>
            <a:blip r:embed="rId2"/>
            <a:stretch>
              <a:fillRect l="0" t="-13099" r="0" b="-9020"/>
            </a:stretch>
          </a:blipFill>
        </p:spPr>
      </p:sp>
      <p:sp>
        <p:nvSpPr>
          <p:cNvPr name="Freeform 3" id="3"/>
          <p:cNvSpPr/>
          <p:nvPr/>
        </p:nvSpPr>
        <p:spPr>
          <a:xfrm flipH="false" flipV="false" rot="0">
            <a:off x="10182925" y="5309045"/>
            <a:ext cx="7660853" cy="3351706"/>
          </a:xfrm>
          <a:custGeom>
            <a:avLst/>
            <a:gdLst/>
            <a:ahLst/>
            <a:cxnLst/>
            <a:rect r="r" b="b" t="t" l="l"/>
            <a:pathLst>
              <a:path h="3351706" w="7660853">
                <a:moveTo>
                  <a:pt x="0" y="0"/>
                </a:moveTo>
                <a:lnTo>
                  <a:pt x="7660853" y="0"/>
                </a:lnTo>
                <a:lnTo>
                  <a:pt x="7660853" y="3351705"/>
                </a:lnTo>
                <a:lnTo>
                  <a:pt x="0" y="3351705"/>
                </a:lnTo>
                <a:lnTo>
                  <a:pt x="0" y="0"/>
                </a:lnTo>
                <a:close/>
              </a:path>
            </a:pathLst>
          </a:custGeom>
          <a:blipFill>
            <a:blip r:embed="rId3"/>
            <a:stretch>
              <a:fillRect l="0" t="0" r="0" b="-27996"/>
            </a:stretch>
          </a:blipFill>
        </p:spPr>
      </p:sp>
      <p:sp>
        <p:nvSpPr>
          <p:cNvPr name="TextBox 4" id="4"/>
          <p:cNvSpPr txBox="true"/>
          <p:nvPr/>
        </p:nvSpPr>
        <p:spPr>
          <a:xfrm rot="0">
            <a:off x="16990695" y="8951595"/>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32</a:t>
            </a:r>
          </a:p>
        </p:txBody>
      </p:sp>
      <p:sp>
        <p:nvSpPr>
          <p:cNvPr name="TextBox 5" id="5"/>
          <p:cNvSpPr txBox="true"/>
          <p:nvPr/>
        </p:nvSpPr>
        <p:spPr>
          <a:xfrm rot="0">
            <a:off x="697048" y="1844496"/>
            <a:ext cx="10548399" cy="7413804"/>
          </a:xfrm>
          <a:prstGeom prst="rect">
            <a:avLst/>
          </a:prstGeom>
        </p:spPr>
        <p:txBody>
          <a:bodyPr anchor="t" rtlCol="false" tIns="0" lIns="0" bIns="0" rIns="0">
            <a:spAutoFit/>
          </a:bodyPr>
          <a:lstStyle/>
          <a:p>
            <a:pPr algn="l">
              <a:lnSpc>
                <a:spcPts val="4540"/>
              </a:lnSpc>
            </a:pPr>
            <a:r>
              <a:rPr lang="en-US" sz="3242" b="true">
                <a:solidFill>
                  <a:srgbClr val="000000"/>
                </a:solidFill>
                <a:latin typeface="Noto Sans Bold"/>
                <a:ea typeface="Noto Sans Bold"/>
                <a:cs typeface="Noto Sans Bold"/>
                <a:sym typeface="Noto Sans Bold"/>
              </a:rPr>
              <a:t>Waiting Time (W): </a:t>
            </a:r>
            <a:r>
              <a:rPr lang="en-US" sz="3242">
                <a:solidFill>
                  <a:srgbClr val="000000"/>
                </a:solidFill>
                <a:latin typeface="Noto Sans"/>
                <a:ea typeface="Noto Sans"/>
                <a:cs typeface="Noto Sans"/>
                <a:sym typeface="Noto Sans"/>
              </a:rPr>
              <a:t>Time a process waits in the ready queue before execution.</a:t>
            </a:r>
          </a:p>
          <a:p>
            <a:pPr algn="ctr">
              <a:lnSpc>
                <a:spcPts val="4540"/>
              </a:lnSpc>
              <a:spcBef>
                <a:spcPct val="0"/>
              </a:spcBef>
            </a:pPr>
            <a:r>
              <a:rPr lang="en-US" sz="3242">
                <a:solidFill>
                  <a:srgbClr val="000000"/>
                </a:solidFill>
                <a:latin typeface="Noto Sans"/>
                <a:ea typeface="Noto Sans"/>
                <a:cs typeface="Noto Sans"/>
                <a:sym typeface="Noto Sans"/>
              </a:rPr>
              <a:t>W = Start Time − </a:t>
            </a:r>
            <a:r>
              <a:rPr lang="en-US" sz="3242">
                <a:solidFill>
                  <a:srgbClr val="000000"/>
                </a:solidFill>
                <a:latin typeface="Noto Sans"/>
                <a:ea typeface="Noto Sans"/>
                <a:cs typeface="Noto Sans"/>
                <a:sym typeface="Noto Sans"/>
              </a:rPr>
              <a:t>Arrival Time</a:t>
            </a:r>
          </a:p>
          <a:p>
            <a:pPr algn="l">
              <a:lnSpc>
                <a:spcPts val="4540"/>
              </a:lnSpc>
              <a:spcBef>
                <a:spcPct val="0"/>
              </a:spcBef>
            </a:pPr>
          </a:p>
          <a:p>
            <a:pPr algn="l">
              <a:lnSpc>
                <a:spcPts val="4540"/>
              </a:lnSpc>
              <a:spcBef>
                <a:spcPct val="0"/>
              </a:spcBef>
            </a:pPr>
          </a:p>
          <a:p>
            <a:pPr algn="l">
              <a:lnSpc>
                <a:spcPts val="4540"/>
              </a:lnSpc>
              <a:spcBef>
                <a:spcPct val="0"/>
              </a:spcBef>
            </a:pPr>
            <a:r>
              <a:rPr lang="en-US" b="true" sz="3242">
                <a:solidFill>
                  <a:srgbClr val="000000"/>
                </a:solidFill>
                <a:latin typeface="Noto Sans Bold"/>
                <a:ea typeface="Noto Sans Bold"/>
                <a:cs typeface="Noto Sans Bold"/>
                <a:sym typeface="Noto Sans Bold"/>
              </a:rPr>
              <a:t>Turnaround Time (T): Total time from process arrival to completion.</a:t>
            </a:r>
          </a:p>
          <a:p>
            <a:pPr algn="ctr">
              <a:lnSpc>
                <a:spcPts val="4540"/>
              </a:lnSpc>
              <a:spcBef>
                <a:spcPct val="0"/>
              </a:spcBef>
            </a:pPr>
            <a:r>
              <a:rPr lang="en-US" sz="3242">
                <a:solidFill>
                  <a:srgbClr val="000000"/>
                </a:solidFill>
                <a:latin typeface="Noto Sans"/>
                <a:ea typeface="Noto Sans"/>
                <a:cs typeface="Noto Sans"/>
                <a:sym typeface="Noto Sans"/>
              </a:rPr>
              <a:t>T = End Time − Arrival Time</a:t>
            </a:r>
          </a:p>
          <a:p>
            <a:pPr algn="ctr">
              <a:lnSpc>
                <a:spcPts val="4540"/>
              </a:lnSpc>
              <a:spcBef>
                <a:spcPct val="0"/>
              </a:spcBef>
            </a:pPr>
          </a:p>
          <a:p>
            <a:pPr algn="l">
              <a:lnSpc>
                <a:spcPts val="4540"/>
              </a:lnSpc>
              <a:spcBef>
                <a:spcPct val="0"/>
              </a:spcBef>
            </a:pPr>
          </a:p>
          <a:p>
            <a:pPr algn="l">
              <a:lnSpc>
                <a:spcPts val="4540"/>
              </a:lnSpc>
              <a:spcBef>
                <a:spcPct val="0"/>
              </a:spcBef>
            </a:pPr>
            <a:r>
              <a:rPr lang="en-US" b="true" sz="3242">
                <a:solidFill>
                  <a:srgbClr val="000000"/>
                </a:solidFill>
                <a:latin typeface="Noto Sans Bold"/>
                <a:ea typeface="Noto Sans Bold"/>
                <a:cs typeface="Noto Sans Bold"/>
                <a:sym typeface="Noto Sans Bold"/>
              </a:rPr>
              <a:t>Response Time (R): Time from arrival until the process gets CPU for the first time.</a:t>
            </a:r>
          </a:p>
          <a:p>
            <a:pPr algn="ctr">
              <a:lnSpc>
                <a:spcPts val="4540"/>
              </a:lnSpc>
              <a:spcBef>
                <a:spcPct val="0"/>
              </a:spcBef>
            </a:pPr>
            <a:r>
              <a:rPr lang="en-US" sz="3242">
                <a:solidFill>
                  <a:srgbClr val="000000"/>
                </a:solidFill>
                <a:latin typeface="Noto Sans"/>
                <a:ea typeface="Noto Sans"/>
                <a:cs typeface="Noto Sans"/>
                <a:sym typeface="Noto Sans"/>
              </a:rPr>
              <a:t>R = First CPU Start Time − Arrival Time </a:t>
            </a:r>
          </a:p>
        </p:txBody>
      </p:sp>
      <p:sp>
        <p:nvSpPr>
          <p:cNvPr name="TextBox 6" id="6"/>
          <p:cNvSpPr txBox="true"/>
          <p:nvPr/>
        </p:nvSpPr>
        <p:spPr>
          <a:xfrm rot="0">
            <a:off x="0" y="-76200"/>
            <a:ext cx="17378930" cy="673736"/>
          </a:xfrm>
          <a:prstGeom prst="rect">
            <a:avLst/>
          </a:prstGeom>
        </p:spPr>
        <p:txBody>
          <a:bodyPr anchor="t" rtlCol="false" tIns="0" lIns="0" bIns="0" rIns="0">
            <a:spAutoFit/>
          </a:bodyPr>
          <a:lstStyle/>
          <a:p>
            <a:pPr algn="ctr">
              <a:lnSpc>
                <a:spcPts val="5508"/>
              </a:lnSpc>
            </a:pPr>
            <a:r>
              <a:rPr lang="en-US" sz="3934" b="true">
                <a:solidFill>
                  <a:srgbClr val="000000"/>
                </a:solidFill>
                <a:latin typeface="Noto Sans Bold"/>
                <a:ea typeface="Noto Sans Bold"/>
                <a:cs typeface="Noto Sans Bold"/>
                <a:sym typeface="Noto Sans Bold"/>
              </a:rPr>
              <a:t>Key Performance Metrics and Formulas in CPU Scheduling</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EFEEEC"/>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584367" y="1726438"/>
            <a:ext cx="11241335" cy="2991646"/>
          </a:xfrm>
          <a:prstGeom prst="rect">
            <a:avLst/>
          </a:prstGeom>
        </p:spPr>
      </p:pic>
      <p:pic>
        <p:nvPicPr>
          <p:cNvPr name="Picture 3" id="3"/>
          <p:cNvPicPr>
            <a:picLocks noChangeAspect="true"/>
          </p:cNvPicPr>
          <p:nvPr/>
        </p:nvPicPr>
        <p:blipFill>
          <a:blip r:embed="rId3"/>
          <a:stretch>
            <a:fillRect/>
          </a:stretch>
        </p:blipFill>
        <p:spPr>
          <a:xfrm rot="0">
            <a:off x="-180165" y="4069808"/>
            <a:ext cx="12075370" cy="3130652"/>
          </a:xfrm>
          <a:prstGeom prst="rect">
            <a:avLst/>
          </a:prstGeom>
        </p:spPr>
      </p:pic>
      <p:sp>
        <p:nvSpPr>
          <p:cNvPr name="TextBox 4" id="4"/>
          <p:cNvSpPr txBox="true"/>
          <p:nvPr/>
        </p:nvSpPr>
        <p:spPr>
          <a:xfrm rot="0">
            <a:off x="3487656" y="1543853"/>
            <a:ext cx="7239323" cy="681813"/>
          </a:xfrm>
          <a:prstGeom prst="rect">
            <a:avLst/>
          </a:prstGeom>
        </p:spPr>
        <p:txBody>
          <a:bodyPr anchor="t" rtlCol="false" tIns="0" lIns="0" bIns="0" rIns="0">
            <a:spAutoFit/>
          </a:bodyPr>
          <a:lstStyle/>
          <a:p>
            <a:pPr algn="ctr">
              <a:lnSpc>
                <a:spcPts val="5583"/>
              </a:lnSpc>
              <a:spcBef>
                <a:spcPct val="0"/>
              </a:spcBef>
            </a:pPr>
            <a:r>
              <a:rPr lang="en-US" b="true" sz="3987">
                <a:solidFill>
                  <a:srgbClr val="000000"/>
                </a:solidFill>
                <a:latin typeface="Noto Sans Bold"/>
                <a:ea typeface="Noto Sans Bold"/>
                <a:cs typeface="Noto Sans Bold"/>
                <a:sym typeface="Noto Sans Bold"/>
              </a:rPr>
              <a:t>Average Waiting Time (       ): </a:t>
            </a:r>
          </a:p>
        </p:txBody>
      </p:sp>
      <p:sp>
        <p:nvSpPr>
          <p:cNvPr name="TextBox 5" id="5"/>
          <p:cNvSpPr txBox="true"/>
          <p:nvPr/>
        </p:nvSpPr>
        <p:spPr>
          <a:xfrm rot="0">
            <a:off x="1341472" y="4152781"/>
            <a:ext cx="11001222" cy="583514"/>
          </a:xfrm>
          <a:prstGeom prst="rect">
            <a:avLst/>
          </a:prstGeom>
        </p:spPr>
        <p:txBody>
          <a:bodyPr anchor="t" rtlCol="false" tIns="0" lIns="0" bIns="0" rIns="0">
            <a:spAutoFit/>
          </a:bodyPr>
          <a:lstStyle/>
          <a:p>
            <a:pPr algn="ctr">
              <a:lnSpc>
                <a:spcPts val="4844"/>
              </a:lnSpc>
              <a:spcBef>
                <a:spcPct val="0"/>
              </a:spcBef>
            </a:pPr>
            <a:r>
              <a:rPr lang="en-US" b="true" sz="3460">
                <a:solidFill>
                  <a:srgbClr val="000000"/>
                </a:solidFill>
                <a:latin typeface="Noto Sans Bold"/>
                <a:ea typeface="Noto Sans Bold"/>
                <a:cs typeface="Noto Sans Bold"/>
                <a:sym typeface="Noto Sans Bold"/>
              </a:rPr>
              <a:t>Average Turnaround Time (        ):</a:t>
            </a:r>
          </a:p>
        </p:txBody>
      </p:sp>
      <p:sp>
        <p:nvSpPr>
          <p:cNvPr name="TextBox 6" id="6"/>
          <p:cNvSpPr txBox="true"/>
          <p:nvPr/>
        </p:nvSpPr>
        <p:spPr>
          <a:xfrm rot="0">
            <a:off x="3728542" y="6470404"/>
            <a:ext cx="6757551" cy="592138"/>
          </a:xfrm>
          <a:prstGeom prst="rect">
            <a:avLst/>
          </a:prstGeom>
        </p:spPr>
        <p:txBody>
          <a:bodyPr anchor="t" rtlCol="false" tIns="0" lIns="0" bIns="0" rIns="0">
            <a:spAutoFit/>
          </a:bodyPr>
          <a:lstStyle/>
          <a:p>
            <a:pPr algn="ctr">
              <a:lnSpc>
                <a:spcPts val="4844"/>
              </a:lnSpc>
              <a:spcBef>
                <a:spcPct val="0"/>
              </a:spcBef>
            </a:pPr>
            <a:r>
              <a:rPr lang="en-US" b="true" sz="3460">
                <a:solidFill>
                  <a:srgbClr val="000000"/>
                </a:solidFill>
                <a:latin typeface="Noto Sans Bold"/>
                <a:ea typeface="Noto Sans Bold"/>
                <a:cs typeface="Noto Sans Bold"/>
                <a:sym typeface="Noto Sans Bold"/>
              </a:rPr>
              <a:t>Average Response Time (          )</a:t>
            </a:r>
          </a:p>
        </p:txBody>
      </p:sp>
      <p:pic>
        <p:nvPicPr>
          <p:cNvPr name="Picture 7" id="7"/>
          <p:cNvPicPr>
            <a:picLocks noChangeAspect="true"/>
          </p:cNvPicPr>
          <p:nvPr/>
        </p:nvPicPr>
        <p:blipFill>
          <a:blip r:embed="rId4"/>
          <a:stretch>
            <a:fillRect/>
          </a:stretch>
        </p:blipFill>
        <p:spPr>
          <a:xfrm rot="0">
            <a:off x="384924" y="6593948"/>
            <a:ext cx="11458909" cy="3027908"/>
          </a:xfrm>
          <a:prstGeom prst="rect">
            <a:avLst/>
          </a:prstGeom>
        </p:spPr>
      </p:pic>
      <p:pic>
        <p:nvPicPr>
          <p:cNvPr name="Picture 8" id="8"/>
          <p:cNvPicPr>
            <a:picLocks noChangeAspect="true"/>
          </p:cNvPicPr>
          <p:nvPr/>
        </p:nvPicPr>
        <p:blipFill>
          <a:blip r:embed="rId5"/>
          <a:stretch>
            <a:fillRect/>
          </a:stretch>
        </p:blipFill>
        <p:spPr>
          <a:xfrm rot="0">
            <a:off x="9322438" y="1718579"/>
            <a:ext cx="965030" cy="539281"/>
          </a:xfrm>
          <a:prstGeom prst="rect">
            <a:avLst/>
          </a:prstGeom>
        </p:spPr>
      </p:pic>
      <p:pic>
        <p:nvPicPr>
          <p:cNvPr name="Picture 9" id="9"/>
          <p:cNvPicPr>
            <a:picLocks noChangeAspect="true"/>
          </p:cNvPicPr>
          <p:nvPr/>
        </p:nvPicPr>
        <p:blipFill>
          <a:blip r:embed="rId6"/>
          <a:stretch>
            <a:fillRect/>
          </a:stretch>
        </p:blipFill>
        <p:spPr>
          <a:xfrm rot="0">
            <a:off x="9331684" y="4258421"/>
            <a:ext cx="854071" cy="549046"/>
          </a:xfrm>
          <a:prstGeom prst="rect">
            <a:avLst/>
          </a:prstGeom>
        </p:spPr>
      </p:pic>
      <p:pic>
        <p:nvPicPr>
          <p:cNvPr name="Picture 10" id="10"/>
          <p:cNvPicPr>
            <a:picLocks noChangeAspect="true"/>
          </p:cNvPicPr>
          <p:nvPr/>
        </p:nvPicPr>
        <p:blipFill>
          <a:blip r:embed="rId7"/>
          <a:stretch>
            <a:fillRect/>
          </a:stretch>
        </p:blipFill>
        <p:spPr>
          <a:xfrm rot="0">
            <a:off x="9350433" y="6604201"/>
            <a:ext cx="909038" cy="542490"/>
          </a:xfrm>
          <a:prstGeom prst="rect">
            <a:avLst/>
          </a:prstGeom>
        </p:spPr>
      </p:pic>
      <p:grpSp>
        <p:nvGrpSpPr>
          <p:cNvPr name="Group 11" id="11"/>
          <p:cNvGrpSpPr/>
          <p:nvPr/>
        </p:nvGrpSpPr>
        <p:grpSpPr>
          <a:xfrm rot="0">
            <a:off x="1744924" y="8984024"/>
            <a:ext cx="9029226" cy="1302976"/>
            <a:chOff x="0" y="0"/>
            <a:chExt cx="2378068" cy="343171"/>
          </a:xfrm>
        </p:grpSpPr>
        <p:sp>
          <p:nvSpPr>
            <p:cNvPr name="Freeform 12" id="12"/>
            <p:cNvSpPr/>
            <p:nvPr/>
          </p:nvSpPr>
          <p:spPr>
            <a:xfrm flipH="false" flipV="false" rot="0">
              <a:off x="0" y="0"/>
              <a:ext cx="2378068" cy="343171"/>
            </a:xfrm>
            <a:custGeom>
              <a:avLst/>
              <a:gdLst/>
              <a:ahLst/>
              <a:cxnLst/>
              <a:rect r="r" b="b" t="t" l="l"/>
              <a:pathLst>
                <a:path h="343171" w="2378068">
                  <a:moveTo>
                    <a:pt x="43729" y="0"/>
                  </a:moveTo>
                  <a:lnTo>
                    <a:pt x="2334339" y="0"/>
                  </a:lnTo>
                  <a:cubicBezTo>
                    <a:pt x="2358490" y="0"/>
                    <a:pt x="2378068" y="19578"/>
                    <a:pt x="2378068" y="43729"/>
                  </a:cubicBezTo>
                  <a:lnTo>
                    <a:pt x="2378068" y="299442"/>
                  </a:lnTo>
                  <a:cubicBezTo>
                    <a:pt x="2378068" y="311039"/>
                    <a:pt x="2373461" y="322162"/>
                    <a:pt x="2365260" y="330363"/>
                  </a:cubicBezTo>
                  <a:cubicBezTo>
                    <a:pt x="2357059" y="338564"/>
                    <a:pt x="2345937" y="343171"/>
                    <a:pt x="2334339" y="343171"/>
                  </a:cubicBezTo>
                  <a:lnTo>
                    <a:pt x="43729" y="343171"/>
                  </a:lnTo>
                  <a:cubicBezTo>
                    <a:pt x="32131" y="343171"/>
                    <a:pt x="21009" y="338564"/>
                    <a:pt x="12808" y="330363"/>
                  </a:cubicBezTo>
                  <a:cubicBezTo>
                    <a:pt x="4607" y="322162"/>
                    <a:pt x="0" y="311039"/>
                    <a:pt x="0" y="299442"/>
                  </a:cubicBezTo>
                  <a:lnTo>
                    <a:pt x="0" y="43729"/>
                  </a:lnTo>
                  <a:cubicBezTo>
                    <a:pt x="0" y="32131"/>
                    <a:pt x="4607" y="21009"/>
                    <a:pt x="12808" y="12808"/>
                  </a:cubicBezTo>
                  <a:cubicBezTo>
                    <a:pt x="21009" y="4607"/>
                    <a:pt x="32131" y="0"/>
                    <a:pt x="43729" y="0"/>
                  </a:cubicBezTo>
                  <a:close/>
                </a:path>
              </a:pathLst>
            </a:custGeom>
            <a:solidFill>
              <a:srgbClr val="E1DDD4"/>
            </a:solidFill>
          </p:spPr>
        </p:sp>
        <p:sp>
          <p:nvSpPr>
            <p:cNvPr name="TextBox 13" id="13"/>
            <p:cNvSpPr txBox="true"/>
            <p:nvPr/>
          </p:nvSpPr>
          <p:spPr>
            <a:xfrm>
              <a:off x="0" y="-38100"/>
              <a:ext cx="2378068" cy="381271"/>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11104125" y="1162935"/>
            <a:ext cx="6964482" cy="3913153"/>
          </a:xfrm>
          <a:custGeom>
            <a:avLst/>
            <a:gdLst/>
            <a:ahLst/>
            <a:cxnLst/>
            <a:rect r="r" b="b" t="t" l="l"/>
            <a:pathLst>
              <a:path h="3913153" w="6964482">
                <a:moveTo>
                  <a:pt x="0" y="0"/>
                </a:moveTo>
                <a:lnTo>
                  <a:pt x="6964481" y="0"/>
                </a:lnTo>
                <a:lnTo>
                  <a:pt x="6964481" y="3913154"/>
                </a:lnTo>
                <a:lnTo>
                  <a:pt x="0" y="3913154"/>
                </a:lnTo>
                <a:lnTo>
                  <a:pt x="0" y="0"/>
                </a:lnTo>
                <a:close/>
              </a:path>
            </a:pathLst>
          </a:custGeom>
          <a:blipFill>
            <a:blip r:embed="rId8"/>
            <a:stretch>
              <a:fillRect l="0" t="0" r="0" b="0"/>
            </a:stretch>
          </a:blipFill>
        </p:spPr>
      </p:sp>
      <p:sp>
        <p:nvSpPr>
          <p:cNvPr name="Freeform 15" id="15"/>
          <p:cNvSpPr/>
          <p:nvPr/>
        </p:nvSpPr>
        <p:spPr>
          <a:xfrm flipH="false" flipV="false" rot="0">
            <a:off x="11228868" y="5311464"/>
            <a:ext cx="6839738" cy="3830253"/>
          </a:xfrm>
          <a:custGeom>
            <a:avLst/>
            <a:gdLst/>
            <a:ahLst/>
            <a:cxnLst/>
            <a:rect r="r" b="b" t="t" l="l"/>
            <a:pathLst>
              <a:path h="3830253" w="6839738">
                <a:moveTo>
                  <a:pt x="0" y="0"/>
                </a:moveTo>
                <a:lnTo>
                  <a:pt x="6839738" y="0"/>
                </a:lnTo>
                <a:lnTo>
                  <a:pt x="6839738" y="3830253"/>
                </a:lnTo>
                <a:lnTo>
                  <a:pt x="0" y="3830253"/>
                </a:lnTo>
                <a:lnTo>
                  <a:pt x="0" y="0"/>
                </a:lnTo>
                <a:close/>
              </a:path>
            </a:pathLst>
          </a:custGeom>
          <a:blipFill>
            <a:blip r:embed="rId9"/>
            <a:stretch>
              <a:fillRect l="0" t="0" r="0" b="0"/>
            </a:stretch>
          </a:blipFill>
        </p:spPr>
      </p:sp>
      <p:sp>
        <p:nvSpPr>
          <p:cNvPr name="TextBox 16" id="16"/>
          <p:cNvSpPr txBox="true"/>
          <p:nvPr/>
        </p:nvSpPr>
        <p:spPr>
          <a:xfrm rot="0">
            <a:off x="16990695" y="8951595"/>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33</a:t>
            </a:r>
          </a:p>
        </p:txBody>
      </p:sp>
      <p:sp>
        <p:nvSpPr>
          <p:cNvPr name="TextBox 17" id="17"/>
          <p:cNvSpPr txBox="true"/>
          <p:nvPr/>
        </p:nvSpPr>
        <p:spPr>
          <a:xfrm rot="0">
            <a:off x="0" y="-76200"/>
            <a:ext cx="17378930" cy="673736"/>
          </a:xfrm>
          <a:prstGeom prst="rect">
            <a:avLst/>
          </a:prstGeom>
        </p:spPr>
        <p:txBody>
          <a:bodyPr anchor="t" rtlCol="false" tIns="0" lIns="0" bIns="0" rIns="0">
            <a:spAutoFit/>
          </a:bodyPr>
          <a:lstStyle/>
          <a:p>
            <a:pPr algn="ctr">
              <a:lnSpc>
                <a:spcPts val="5508"/>
              </a:lnSpc>
            </a:pPr>
            <a:r>
              <a:rPr lang="en-US" sz="3934" b="true">
                <a:solidFill>
                  <a:srgbClr val="000000"/>
                </a:solidFill>
                <a:latin typeface="Noto Sans Bold"/>
                <a:ea typeface="Noto Sans Bold"/>
                <a:cs typeface="Noto Sans Bold"/>
                <a:sym typeface="Noto Sans Bold"/>
              </a:rPr>
              <a:t>Key Performance Metrics and Formulas in CPU Scheduling</a:t>
            </a:r>
          </a:p>
        </p:txBody>
      </p:sp>
      <p:sp>
        <p:nvSpPr>
          <p:cNvPr name="TextBox 18" id="18"/>
          <p:cNvSpPr txBox="true"/>
          <p:nvPr/>
        </p:nvSpPr>
        <p:spPr>
          <a:xfrm rot="0">
            <a:off x="1744924" y="9084567"/>
            <a:ext cx="9144000" cy="1046866"/>
          </a:xfrm>
          <a:prstGeom prst="rect">
            <a:avLst/>
          </a:prstGeom>
        </p:spPr>
        <p:txBody>
          <a:bodyPr anchor="t" rtlCol="false" tIns="0" lIns="0" bIns="0" rIns="0">
            <a:spAutoFit/>
          </a:bodyPr>
          <a:lstStyle/>
          <a:p>
            <a:pPr algn="ctr">
              <a:lnSpc>
                <a:spcPts val="4248"/>
              </a:lnSpc>
            </a:pPr>
            <a:r>
              <a:rPr lang="en-US" b="true" sz="3034">
                <a:solidFill>
                  <a:srgbClr val="000000"/>
                </a:solidFill>
                <a:latin typeface="Noto Sans Bold"/>
                <a:ea typeface="Noto Sans Bold"/>
                <a:cs typeface="Noto Sans Bold"/>
                <a:sym typeface="Noto Sans Bold"/>
              </a:rPr>
              <a:t>Wavg, Tavg, and Ravg are key metrics for evaluating CPU scheduling performance.</a:t>
            </a:r>
          </a:p>
        </p:txBody>
      </p:sp>
    </p:spTree>
  </p:cSld>
  <p:clrMapOvr>
    <a:masterClrMapping/>
  </p:clrMapOvr>
</p:sld>
</file>

<file path=ppt/slides/slide34.xml><?xml version="1.0" encoding="utf-8"?>
<p:sld xmlns:p="http://schemas.openxmlformats.org/presentationml/2006/main" xmlns:a="http://schemas.openxmlformats.org/drawingml/2006/main">
  <p:cSld>
    <p:bg>
      <p:bgPr>
        <a:solidFill>
          <a:srgbClr val="EFEEEC"/>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218844" y="789057"/>
          <a:ext cx="13737554" cy="6823356"/>
        </p:xfrm>
        <a:graphic>
          <a:graphicData uri="http://schemas.openxmlformats.org/drawingml/2006/table">
            <a:tbl>
              <a:tblPr/>
              <a:tblGrid>
                <a:gridCol w="858597"/>
                <a:gridCol w="858597"/>
                <a:gridCol w="858597"/>
                <a:gridCol w="858597"/>
                <a:gridCol w="858597"/>
                <a:gridCol w="858597"/>
                <a:gridCol w="858597"/>
                <a:gridCol w="858597"/>
                <a:gridCol w="858597"/>
                <a:gridCol w="858597"/>
                <a:gridCol w="858597"/>
                <a:gridCol w="858597"/>
                <a:gridCol w="858597"/>
                <a:gridCol w="858597"/>
                <a:gridCol w="858597"/>
                <a:gridCol w="858597"/>
              </a:tblGrid>
              <a:tr h="974765">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ctr">
                        <a:lnSpc>
                          <a:spcPts val="2184"/>
                        </a:lnSpc>
                        <a:defRPr/>
                      </a:pPr>
                      <a:r>
                        <a:rPr lang="en-US" sz="1560" b="true">
                          <a:solidFill>
                            <a:srgbClr val="000000"/>
                          </a:solidFill>
                          <a:latin typeface="Inter Bold"/>
                          <a:ea typeface="Inter Bold"/>
                          <a:cs typeface="Inter Bold"/>
                          <a:sym typeface="Inter Bold"/>
                        </a:rPr>
                        <a:t>0</a:t>
                      </a: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ctr">
                        <a:lnSpc>
                          <a:spcPts val="2184"/>
                        </a:lnSpc>
                        <a:defRPr/>
                      </a:pPr>
                      <a:r>
                        <a:rPr lang="en-US" sz="1560" b="true">
                          <a:solidFill>
                            <a:srgbClr val="000000"/>
                          </a:solidFill>
                          <a:latin typeface="Inter Bold"/>
                          <a:ea typeface="Inter Bold"/>
                          <a:cs typeface="Inter Bold"/>
                          <a:sym typeface="Inter Bold"/>
                        </a:rPr>
                        <a:t>1</a:t>
                      </a: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ctr">
                        <a:lnSpc>
                          <a:spcPts val="2184"/>
                        </a:lnSpc>
                        <a:defRPr/>
                      </a:pPr>
                      <a:r>
                        <a:rPr lang="en-US" sz="1560" b="true">
                          <a:solidFill>
                            <a:srgbClr val="000000"/>
                          </a:solidFill>
                          <a:latin typeface="Inter Bold"/>
                          <a:ea typeface="Inter Bold"/>
                          <a:cs typeface="Inter Bold"/>
                          <a:sym typeface="Inter Bold"/>
                        </a:rPr>
                        <a:t>2</a:t>
                      </a: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ctr">
                        <a:lnSpc>
                          <a:spcPts val="2184"/>
                        </a:lnSpc>
                        <a:defRPr/>
                      </a:pPr>
                      <a:r>
                        <a:rPr lang="en-US" sz="1560">
                          <a:solidFill>
                            <a:srgbClr val="000000"/>
                          </a:solidFill>
                          <a:latin typeface="Inter"/>
                          <a:ea typeface="Inter"/>
                          <a:cs typeface="Inter"/>
                          <a:sym typeface="Inter"/>
                        </a:rPr>
                        <a:t>3</a:t>
                      </a: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ctr">
                        <a:lnSpc>
                          <a:spcPts val="2184"/>
                        </a:lnSpc>
                        <a:defRPr/>
                      </a:pPr>
                      <a:r>
                        <a:rPr lang="en-US" sz="1560" b="true">
                          <a:solidFill>
                            <a:srgbClr val="000000"/>
                          </a:solidFill>
                          <a:latin typeface="Inter Bold"/>
                          <a:ea typeface="Inter Bold"/>
                          <a:cs typeface="Inter Bold"/>
                          <a:sym typeface="Inter Bold"/>
                        </a:rPr>
                        <a:t>4</a:t>
                      </a: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ctr">
                        <a:lnSpc>
                          <a:spcPts val="2184"/>
                        </a:lnSpc>
                        <a:defRPr/>
                      </a:pPr>
                      <a:r>
                        <a:rPr lang="en-US" sz="1560" b="true">
                          <a:solidFill>
                            <a:srgbClr val="000000"/>
                          </a:solidFill>
                          <a:latin typeface="Inter Bold"/>
                          <a:ea typeface="Inter Bold"/>
                          <a:cs typeface="Inter Bold"/>
                          <a:sym typeface="Inter Bold"/>
                        </a:rPr>
                        <a:t>5</a:t>
                      </a: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ctr">
                        <a:lnSpc>
                          <a:spcPts val="2184"/>
                        </a:lnSpc>
                        <a:defRPr/>
                      </a:pPr>
                      <a:r>
                        <a:rPr lang="en-US" sz="1560" b="true">
                          <a:solidFill>
                            <a:srgbClr val="000000"/>
                          </a:solidFill>
                          <a:latin typeface="Inter Bold"/>
                          <a:ea typeface="Inter Bold"/>
                          <a:cs typeface="Inter Bold"/>
                          <a:sym typeface="Inter Bold"/>
                        </a:rPr>
                        <a:t>6</a:t>
                      </a: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ctr">
                        <a:lnSpc>
                          <a:spcPts val="2184"/>
                        </a:lnSpc>
                        <a:defRPr/>
                      </a:pPr>
                      <a:r>
                        <a:rPr lang="en-US" sz="1560" b="true">
                          <a:solidFill>
                            <a:srgbClr val="000000"/>
                          </a:solidFill>
                          <a:latin typeface="Inter Bold"/>
                          <a:ea typeface="Inter Bold"/>
                          <a:cs typeface="Inter Bold"/>
                          <a:sym typeface="Inter Bold"/>
                        </a:rPr>
                        <a:t>7</a:t>
                      </a: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ctr">
                        <a:lnSpc>
                          <a:spcPts val="2184"/>
                        </a:lnSpc>
                        <a:defRPr/>
                      </a:pPr>
                      <a:r>
                        <a:rPr lang="en-US" sz="1560" b="true">
                          <a:solidFill>
                            <a:srgbClr val="000000"/>
                          </a:solidFill>
                          <a:latin typeface="Inter Bold"/>
                          <a:ea typeface="Inter Bold"/>
                          <a:cs typeface="Inter Bold"/>
                          <a:sym typeface="Inter Bold"/>
                        </a:rPr>
                        <a:t>8</a:t>
                      </a: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ctr">
                        <a:lnSpc>
                          <a:spcPts val="2184"/>
                        </a:lnSpc>
                        <a:defRPr/>
                      </a:pPr>
                      <a:r>
                        <a:rPr lang="en-US" sz="1560" b="true">
                          <a:solidFill>
                            <a:srgbClr val="000000"/>
                          </a:solidFill>
                          <a:latin typeface="Inter Bold"/>
                          <a:ea typeface="Inter Bold"/>
                          <a:cs typeface="Inter Bold"/>
                          <a:sym typeface="Inter Bold"/>
                        </a:rPr>
                        <a:t>9</a:t>
                      </a: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ctr">
                        <a:lnSpc>
                          <a:spcPts val="2184"/>
                        </a:lnSpc>
                        <a:defRPr/>
                      </a:pPr>
                      <a:r>
                        <a:rPr lang="en-US" sz="1560" b="true">
                          <a:solidFill>
                            <a:srgbClr val="000000"/>
                          </a:solidFill>
                          <a:latin typeface="Inter Bold"/>
                          <a:ea typeface="Inter Bold"/>
                          <a:cs typeface="Inter Bold"/>
                          <a:sym typeface="Inter Bold"/>
                        </a:rPr>
                        <a:t>10</a:t>
                      </a: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ctr">
                        <a:lnSpc>
                          <a:spcPts val="2184"/>
                        </a:lnSpc>
                        <a:defRPr/>
                      </a:pPr>
                      <a:r>
                        <a:rPr lang="en-US" sz="1560" b="true">
                          <a:solidFill>
                            <a:srgbClr val="000000"/>
                          </a:solidFill>
                          <a:latin typeface="Inter Bold"/>
                          <a:ea typeface="Inter Bold"/>
                          <a:cs typeface="Inter Bold"/>
                          <a:sym typeface="Inter Bold"/>
                        </a:rPr>
                        <a:t>11</a:t>
                      </a: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ctr">
                        <a:lnSpc>
                          <a:spcPts val="2184"/>
                        </a:lnSpc>
                        <a:defRPr/>
                      </a:pPr>
                      <a:r>
                        <a:rPr lang="en-US" sz="1560" b="true">
                          <a:solidFill>
                            <a:srgbClr val="000000"/>
                          </a:solidFill>
                          <a:latin typeface="Inter Bold"/>
                          <a:ea typeface="Inter Bold"/>
                          <a:cs typeface="Inter Bold"/>
                          <a:sym typeface="Inter Bold"/>
                        </a:rPr>
                        <a:t>12</a:t>
                      </a: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ctr">
                        <a:lnSpc>
                          <a:spcPts val="2184"/>
                        </a:lnSpc>
                        <a:defRPr/>
                      </a:pPr>
                      <a:r>
                        <a:rPr lang="en-US" sz="1560" b="true">
                          <a:solidFill>
                            <a:srgbClr val="000000"/>
                          </a:solidFill>
                          <a:latin typeface="Inter Bold"/>
                          <a:ea typeface="Inter Bold"/>
                          <a:cs typeface="Inter Bold"/>
                          <a:sym typeface="Inter Bold"/>
                        </a:rPr>
                        <a:t>13</a:t>
                      </a: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ctr">
                        <a:lnSpc>
                          <a:spcPts val="2184"/>
                        </a:lnSpc>
                        <a:defRPr/>
                      </a:pPr>
                      <a:r>
                        <a:rPr lang="en-US" sz="1560" b="true">
                          <a:solidFill>
                            <a:srgbClr val="000000"/>
                          </a:solidFill>
                          <a:latin typeface="Inter Bold"/>
                          <a:ea typeface="Inter Bold"/>
                          <a:cs typeface="Inter Bold"/>
                          <a:sym typeface="Inter Bold"/>
                        </a:rPr>
                        <a:t>14</a:t>
                      </a: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r>
              <a:tr h="974765">
                <a:tc>
                  <a:txBody>
                    <a:bodyPr anchor="t" rtlCol="false"/>
                    <a:lstStyle/>
                    <a:p>
                      <a:pPr algn="l">
                        <a:lnSpc>
                          <a:spcPts val="3276"/>
                        </a:lnSpc>
                        <a:defRPr/>
                      </a:pPr>
                      <a:r>
                        <a:rPr lang="en-US" sz="2340" b="true">
                          <a:solidFill>
                            <a:srgbClr val="000000"/>
                          </a:solidFill>
                          <a:latin typeface="Inter Bold"/>
                          <a:ea typeface="Inter Bold"/>
                          <a:cs typeface="Inter Bold"/>
                          <a:sym typeface="Inter Bold"/>
                        </a:rPr>
                        <a:t>P00</a:t>
                      </a: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l">
                        <a:lnSpc>
                          <a:spcPts val="3276"/>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r>
              <a:tr h="974765">
                <a:tc>
                  <a:txBody>
                    <a:bodyPr anchor="t" rtlCol="false"/>
                    <a:lstStyle/>
                    <a:p>
                      <a:pPr algn="l">
                        <a:lnSpc>
                          <a:spcPts val="3276"/>
                        </a:lnSpc>
                        <a:defRPr/>
                      </a:pPr>
                      <a:r>
                        <a:rPr lang="en-US" sz="2340" b="true">
                          <a:solidFill>
                            <a:srgbClr val="000000"/>
                          </a:solidFill>
                          <a:latin typeface="Inter Bold"/>
                          <a:ea typeface="Inter Bold"/>
                          <a:cs typeface="Inter Bold"/>
                          <a:sym typeface="Inter Bold"/>
                        </a:rPr>
                        <a:t>P01</a:t>
                      </a: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l">
                        <a:lnSpc>
                          <a:spcPts val="3276"/>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r>
              <a:tr h="974765">
                <a:tc>
                  <a:txBody>
                    <a:bodyPr anchor="t" rtlCol="false"/>
                    <a:lstStyle/>
                    <a:p>
                      <a:pPr algn="l">
                        <a:lnSpc>
                          <a:spcPts val="3276"/>
                        </a:lnSpc>
                        <a:defRPr/>
                      </a:pPr>
                      <a:r>
                        <a:rPr lang="en-US" sz="2340" b="true">
                          <a:solidFill>
                            <a:srgbClr val="000000"/>
                          </a:solidFill>
                          <a:latin typeface="Inter Bold"/>
                          <a:ea typeface="Inter Bold"/>
                          <a:cs typeface="Inter Bold"/>
                          <a:sym typeface="Inter Bold"/>
                        </a:rPr>
                        <a:t>P04</a:t>
                      </a: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l">
                        <a:lnSpc>
                          <a:spcPts val="3276"/>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r>
              <a:tr h="974765">
                <a:tc>
                  <a:txBody>
                    <a:bodyPr anchor="t" rtlCol="false"/>
                    <a:lstStyle/>
                    <a:p>
                      <a:pPr algn="l">
                        <a:lnSpc>
                          <a:spcPts val="3276"/>
                        </a:lnSpc>
                        <a:defRPr/>
                      </a:pPr>
                      <a:r>
                        <a:rPr lang="en-US" sz="2340" b="true">
                          <a:solidFill>
                            <a:srgbClr val="000000"/>
                          </a:solidFill>
                          <a:latin typeface="Inter Bold"/>
                          <a:ea typeface="Inter Bold"/>
                          <a:cs typeface="Inter Bold"/>
                          <a:sym typeface="Inter Bold"/>
                        </a:rPr>
                        <a:t>P02</a:t>
                      </a: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l">
                        <a:lnSpc>
                          <a:spcPts val="3276"/>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r>
              <a:tr h="974765">
                <a:tc>
                  <a:txBody>
                    <a:bodyPr anchor="t" rtlCol="false"/>
                    <a:lstStyle/>
                    <a:p>
                      <a:pPr algn="l">
                        <a:lnSpc>
                          <a:spcPts val="3276"/>
                        </a:lnSpc>
                        <a:defRPr/>
                      </a:pPr>
                      <a:r>
                        <a:rPr lang="en-US" sz="2340" b="true">
                          <a:solidFill>
                            <a:srgbClr val="000000"/>
                          </a:solidFill>
                          <a:latin typeface="Inter Bold"/>
                          <a:ea typeface="Inter Bold"/>
                          <a:cs typeface="Inter Bold"/>
                          <a:sym typeface="Inter Bold"/>
                        </a:rPr>
                        <a:t>P05</a:t>
                      </a: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l">
                        <a:lnSpc>
                          <a:spcPts val="3276"/>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7155">
                      <a:solidFill>
                        <a:srgbClr val="000000"/>
                      </a:solidFill>
                      <a:prstDash val="solid"/>
                      <a:round/>
                      <a:headEnd type="none" w="med" len="med"/>
                      <a:tailEnd type="none" w="med" len="med"/>
                    </a:lnB>
                  </a:tcPr>
                </a:tc>
              </a:tr>
              <a:tr h="974765">
                <a:tc>
                  <a:txBody>
                    <a:bodyPr anchor="t" rtlCol="false"/>
                    <a:lstStyle/>
                    <a:p>
                      <a:pPr algn="l">
                        <a:lnSpc>
                          <a:spcPts val="3276"/>
                        </a:lnSpc>
                        <a:defRPr/>
                      </a:pPr>
                      <a:r>
                        <a:rPr lang="en-US" sz="2340" b="true">
                          <a:solidFill>
                            <a:srgbClr val="000000"/>
                          </a:solidFill>
                          <a:latin typeface="Inter Bold"/>
                          <a:ea typeface="Inter Bold"/>
                          <a:cs typeface="Inter Bold"/>
                          <a:sym typeface="Inter Bold"/>
                        </a:rPr>
                        <a:t>P03</a:t>
                      </a: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28620">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l">
                        <a:lnSpc>
                          <a:spcPts val="3276"/>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c>
                  <a:txBody>
                    <a:bodyPr anchor="t" rtlCol="false"/>
                    <a:lstStyle/>
                    <a:p>
                      <a:pPr algn="ctr">
                        <a:lnSpc>
                          <a:spcPts val="2184"/>
                        </a:lnSpc>
                        <a:defRPr/>
                      </a:pPr>
                      <a:endParaRPr lang="en-US" sz="1100"/>
                    </a:p>
                  </a:txBody>
                  <a:tcPr marL="165107" marR="165107" marT="165107" marB="165107" anchor="ctr">
                    <a:lnL cmpd="sng" algn="ctr" cap="flat" w="28620">
                      <a:solidFill>
                        <a:srgbClr val="000000"/>
                      </a:solidFill>
                      <a:prstDash val="solid"/>
                      <a:round/>
                      <a:headEnd type="none" w="med" len="med"/>
                      <a:tailEnd type="none" w="med" len="med"/>
                    </a:lnL>
                    <a:lnR cmpd="sng" algn="ctr" cap="flat" w="28620">
                      <a:solidFill>
                        <a:srgbClr val="000000"/>
                      </a:solidFill>
                      <a:prstDash val="solid"/>
                      <a:round/>
                      <a:headEnd type="none" w="med" len="med"/>
                      <a:tailEnd type="none" w="med" len="med"/>
                    </a:lnR>
                    <a:lnT cmpd="sng" algn="ctr" cap="flat" w="7155">
                      <a:solidFill>
                        <a:srgbClr val="000000"/>
                      </a:solidFill>
                      <a:prstDash val="solid"/>
                      <a:round/>
                      <a:headEnd type="none" w="med" len="med"/>
                      <a:tailEnd type="none" w="med" len="med"/>
                    </a:lnT>
                    <a:lnB cmpd="sng" algn="ctr" cap="flat" w="28620">
                      <a:solidFill>
                        <a:srgbClr val="000000"/>
                      </a:solidFill>
                      <a:prstDash val="solid"/>
                      <a:round/>
                      <a:headEnd type="none" w="med" len="med"/>
                      <a:tailEnd type="none" w="med" len="med"/>
                    </a:lnB>
                  </a:tcPr>
                </a:tc>
              </a:tr>
            </a:tbl>
          </a:graphicData>
        </a:graphic>
      </p:graphicFrame>
      <p:grpSp>
        <p:nvGrpSpPr>
          <p:cNvPr name="Group 3" id="3"/>
          <p:cNvGrpSpPr/>
          <p:nvPr/>
        </p:nvGrpSpPr>
        <p:grpSpPr>
          <a:xfrm rot="0">
            <a:off x="2638942" y="1911298"/>
            <a:ext cx="1041603" cy="1155338"/>
            <a:chOff x="0" y="0"/>
            <a:chExt cx="316522" cy="351084"/>
          </a:xfrm>
        </p:grpSpPr>
        <p:sp>
          <p:nvSpPr>
            <p:cNvPr name="Freeform 4" id="4"/>
            <p:cNvSpPr/>
            <p:nvPr/>
          </p:nvSpPr>
          <p:spPr>
            <a:xfrm flipH="false" flipV="false" rot="0">
              <a:off x="0" y="0"/>
              <a:ext cx="316522" cy="351084"/>
            </a:xfrm>
            <a:custGeom>
              <a:avLst/>
              <a:gdLst/>
              <a:ahLst/>
              <a:cxnLst/>
              <a:rect r="r" b="b" t="t" l="l"/>
              <a:pathLst>
                <a:path h="351084" w="316522">
                  <a:moveTo>
                    <a:pt x="158261" y="0"/>
                  </a:moveTo>
                  <a:lnTo>
                    <a:pt x="158261" y="0"/>
                  </a:lnTo>
                  <a:cubicBezTo>
                    <a:pt x="245666" y="0"/>
                    <a:pt x="316522" y="70856"/>
                    <a:pt x="316522" y="158261"/>
                  </a:cubicBezTo>
                  <a:lnTo>
                    <a:pt x="316522" y="192823"/>
                  </a:lnTo>
                  <a:cubicBezTo>
                    <a:pt x="316522" y="280228"/>
                    <a:pt x="245666" y="351084"/>
                    <a:pt x="158261" y="351084"/>
                  </a:cubicBezTo>
                  <a:lnTo>
                    <a:pt x="158261" y="351084"/>
                  </a:lnTo>
                  <a:cubicBezTo>
                    <a:pt x="70856" y="351084"/>
                    <a:pt x="0" y="280228"/>
                    <a:pt x="0" y="192823"/>
                  </a:cubicBezTo>
                  <a:lnTo>
                    <a:pt x="0" y="158261"/>
                  </a:lnTo>
                  <a:cubicBezTo>
                    <a:pt x="0" y="70856"/>
                    <a:pt x="70856" y="0"/>
                    <a:pt x="158261" y="0"/>
                  </a:cubicBezTo>
                  <a:close/>
                </a:path>
              </a:pathLst>
            </a:custGeom>
            <a:solidFill>
              <a:srgbClr val="BFDBF7"/>
            </a:solidFill>
          </p:spPr>
        </p:sp>
        <p:sp>
          <p:nvSpPr>
            <p:cNvPr name="TextBox 5" id="5"/>
            <p:cNvSpPr txBox="true"/>
            <p:nvPr/>
          </p:nvSpPr>
          <p:spPr>
            <a:xfrm>
              <a:off x="0" y="-38100"/>
              <a:ext cx="316522" cy="389184"/>
            </a:xfrm>
            <a:prstGeom prst="rect">
              <a:avLst/>
            </a:prstGeom>
          </p:spPr>
          <p:txBody>
            <a:bodyPr anchor="ctr" rtlCol="false" tIns="50800" lIns="50800" bIns="50800" rIns="50800"/>
            <a:lstStyle/>
            <a:p>
              <a:pPr algn="ctr">
                <a:lnSpc>
                  <a:spcPts val="2659"/>
                </a:lnSpc>
                <a:spcBef>
                  <a:spcPct val="0"/>
                </a:spcBef>
              </a:pPr>
              <a:r>
                <a:rPr lang="en-US" sz="1899">
                  <a:solidFill>
                    <a:srgbClr val="000000"/>
                  </a:solidFill>
                  <a:latin typeface="Noto Sans"/>
                  <a:ea typeface="Noto Sans"/>
                  <a:cs typeface="Noto Sans"/>
                  <a:sym typeface="Noto Sans"/>
                </a:rPr>
                <a:t>BT0</a:t>
              </a:r>
            </a:p>
          </p:txBody>
        </p:sp>
      </p:grpSp>
      <p:grpSp>
        <p:nvGrpSpPr>
          <p:cNvPr name="Group 6" id="6"/>
          <p:cNvGrpSpPr/>
          <p:nvPr/>
        </p:nvGrpSpPr>
        <p:grpSpPr>
          <a:xfrm rot="0">
            <a:off x="3680545" y="3066636"/>
            <a:ext cx="1044957" cy="1103347"/>
            <a:chOff x="0" y="0"/>
            <a:chExt cx="317542" cy="335285"/>
          </a:xfrm>
        </p:grpSpPr>
        <p:sp>
          <p:nvSpPr>
            <p:cNvPr name="Freeform 7" id="7"/>
            <p:cNvSpPr/>
            <p:nvPr/>
          </p:nvSpPr>
          <p:spPr>
            <a:xfrm flipH="false" flipV="false" rot="0">
              <a:off x="0" y="0"/>
              <a:ext cx="317542" cy="335285"/>
            </a:xfrm>
            <a:custGeom>
              <a:avLst/>
              <a:gdLst/>
              <a:ahLst/>
              <a:cxnLst/>
              <a:rect r="r" b="b" t="t" l="l"/>
              <a:pathLst>
                <a:path h="335285" w="317542">
                  <a:moveTo>
                    <a:pt x="158771" y="0"/>
                  </a:moveTo>
                  <a:lnTo>
                    <a:pt x="158771" y="0"/>
                  </a:lnTo>
                  <a:cubicBezTo>
                    <a:pt x="246457" y="0"/>
                    <a:pt x="317542" y="71084"/>
                    <a:pt x="317542" y="158771"/>
                  </a:cubicBezTo>
                  <a:lnTo>
                    <a:pt x="317542" y="176514"/>
                  </a:lnTo>
                  <a:cubicBezTo>
                    <a:pt x="317542" y="218623"/>
                    <a:pt x="300814" y="259007"/>
                    <a:pt x="271039" y="288782"/>
                  </a:cubicBezTo>
                  <a:cubicBezTo>
                    <a:pt x="241263" y="318558"/>
                    <a:pt x="200879" y="335285"/>
                    <a:pt x="158771" y="335285"/>
                  </a:cubicBezTo>
                  <a:lnTo>
                    <a:pt x="158771" y="335285"/>
                  </a:lnTo>
                  <a:cubicBezTo>
                    <a:pt x="116662" y="335285"/>
                    <a:pt x="76278" y="318558"/>
                    <a:pt x="46503" y="288782"/>
                  </a:cubicBezTo>
                  <a:cubicBezTo>
                    <a:pt x="16728" y="259007"/>
                    <a:pt x="0" y="218623"/>
                    <a:pt x="0" y="176514"/>
                  </a:cubicBezTo>
                  <a:lnTo>
                    <a:pt x="0" y="158771"/>
                  </a:lnTo>
                  <a:cubicBezTo>
                    <a:pt x="0" y="116662"/>
                    <a:pt x="16728" y="76278"/>
                    <a:pt x="46503" y="46503"/>
                  </a:cubicBezTo>
                  <a:cubicBezTo>
                    <a:pt x="76278" y="16728"/>
                    <a:pt x="116662" y="0"/>
                    <a:pt x="158771" y="0"/>
                  </a:cubicBezTo>
                  <a:close/>
                </a:path>
              </a:pathLst>
            </a:custGeom>
            <a:solidFill>
              <a:srgbClr val="FFDE59"/>
            </a:solidFill>
          </p:spPr>
        </p:sp>
        <p:sp>
          <p:nvSpPr>
            <p:cNvPr name="TextBox 8" id="8"/>
            <p:cNvSpPr txBox="true"/>
            <p:nvPr/>
          </p:nvSpPr>
          <p:spPr>
            <a:xfrm>
              <a:off x="0" y="-38100"/>
              <a:ext cx="317542" cy="373385"/>
            </a:xfrm>
            <a:prstGeom prst="rect">
              <a:avLst/>
            </a:prstGeom>
          </p:spPr>
          <p:txBody>
            <a:bodyPr anchor="ctr" rtlCol="false" tIns="50800" lIns="50800" bIns="50800" rIns="50800"/>
            <a:lstStyle/>
            <a:p>
              <a:pPr algn="ctr">
                <a:lnSpc>
                  <a:spcPts val="2659"/>
                </a:lnSpc>
                <a:spcBef>
                  <a:spcPct val="0"/>
                </a:spcBef>
              </a:pPr>
              <a:r>
                <a:rPr lang="en-US" sz="1899">
                  <a:solidFill>
                    <a:srgbClr val="000000"/>
                  </a:solidFill>
                  <a:latin typeface="Noto Sans"/>
                  <a:ea typeface="Noto Sans"/>
                  <a:cs typeface="Noto Sans"/>
                  <a:sym typeface="Noto Sans"/>
                </a:rPr>
                <a:t>INDLE</a:t>
              </a:r>
            </a:p>
          </p:txBody>
        </p:sp>
      </p:grpSp>
      <p:sp>
        <p:nvSpPr>
          <p:cNvPr name="TextBox 9" id="9"/>
          <p:cNvSpPr txBox="true"/>
          <p:nvPr/>
        </p:nvSpPr>
        <p:spPr>
          <a:xfrm rot="0">
            <a:off x="17193257" y="9596893"/>
            <a:ext cx="132086" cy="170186"/>
          </a:xfrm>
          <a:prstGeom prst="rect">
            <a:avLst/>
          </a:prstGeom>
        </p:spPr>
        <p:txBody>
          <a:bodyPr anchor="t" rtlCol="false" tIns="0" lIns="0" bIns="0" rIns="0" wrap="none">
            <a:spAutoFit/>
          </a:bodyPr>
          <a:lstStyle/>
          <a:p>
            <a:pPr algn="r">
              <a:lnSpc>
                <a:spcPts val="2184"/>
              </a:lnSpc>
              <a:spcBef>
                <a:spcPct val="0"/>
              </a:spcBef>
            </a:pPr>
            <a:r>
              <a:rPr lang="en-US" sz="1560" spc="-62">
                <a:solidFill>
                  <a:srgbClr val="403E3E"/>
                </a:solidFill>
                <a:latin typeface="Inter"/>
                <a:ea typeface="Inter"/>
                <a:cs typeface="Inter"/>
                <a:sym typeface="Inter"/>
              </a:rPr>
              <a:t>PAGE 34</a:t>
            </a:r>
          </a:p>
        </p:txBody>
      </p:sp>
      <p:sp>
        <p:nvSpPr>
          <p:cNvPr name="TextBox 10" id="10"/>
          <p:cNvSpPr txBox="true"/>
          <p:nvPr/>
        </p:nvSpPr>
        <p:spPr>
          <a:xfrm rot="0">
            <a:off x="433445" y="3562"/>
            <a:ext cx="17374208" cy="993774"/>
          </a:xfrm>
          <a:prstGeom prst="rect">
            <a:avLst/>
          </a:prstGeom>
        </p:spPr>
        <p:txBody>
          <a:bodyPr anchor="t" rtlCol="false" tIns="0" lIns="0" bIns="0" rIns="0">
            <a:spAutoFit/>
          </a:bodyPr>
          <a:lstStyle/>
          <a:p>
            <a:pPr algn="ctr">
              <a:lnSpc>
                <a:spcPts val="3920"/>
              </a:lnSpc>
            </a:pPr>
            <a:r>
              <a:rPr lang="en-US" sz="2800" b="true">
                <a:solidFill>
                  <a:srgbClr val="000000"/>
                </a:solidFill>
                <a:latin typeface="DejaVu Serif Bold"/>
                <a:ea typeface="DejaVu Serif Bold"/>
                <a:cs typeface="DejaVu Serif Bold"/>
                <a:sym typeface="DejaVu Serif Bold"/>
              </a:rPr>
              <a:t>Gantt C</a:t>
            </a:r>
            <a:r>
              <a:rPr lang="en-US" b="true" sz="2800">
                <a:solidFill>
                  <a:srgbClr val="000000"/>
                </a:solidFill>
                <a:latin typeface="DejaVu Serif Bold"/>
                <a:ea typeface="DejaVu Serif Bold"/>
                <a:cs typeface="DejaVu Serif Bold"/>
                <a:sym typeface="DejaVu Serif Bold"/>
              </a:rPr>
              <a:t>hart of FCFS Scheduling (Short Burst Time – Uniform Workload)</a:t>
            </a:r>
          </a:p>
          <a:p>
            <a:pPr algn="ctr">
              <a:lnSpc>
                <a:spcPts val="3920"/>
              </a:lnSpc>
            </a:pPr>
          </a:p>
        </p:txBody>
      </p:sp>
    </p:spTree>
  </p:cSld>
  <p:clrMapOvr>
    <a:masterClrMapping/>
  </p:clrMapOvr>
</p:sld>
</file>

<file path=ppt/slides/slide35.xml><?xml version="1.0" encoding="utf-8"?>
<p:sld xmlns:p="http://schemas.openxmlformats.org/presentationml/2006/main" xmlns:a="http://schemas.openxmlformats.org/drawingml/2006/main">
  <p:cSld>
    <p:bg>
      <p:bgPr>
        <a:solidFill>
          <a:srgbClr val="EFEEEC"/>
        </a:solidFill>
      </p:bgPr>
    </p:bg>
    <p:spTree>
      <p:nvGrpSpPr>
        <p:cNvPr id="1" name=""/>
        <p:cNvGrpSpPr/>
        <p:nvPr/>
      </p:nvGrpSpPr>
      <p:grpSpPr>
        <a:xfrm>
          <a:off x="0" y="0"/>
          <a:ext cx="0" cy="0"/>
          <a:chOff x="0" y="0"/>
          <a:chExt cx="0" cy="0"/>
        </a:xfrm>
      </p:grpSpPr>
      <p:sp>
        <p:nvSpPr>
          <p:cNvPr name="TextBox 2" id="2"/>
          <p:cNvSpPr txBox="true"/>
          <p:nvPr/>
        </p:nvSpPr>
        <p:spPr>
          <a:xfrm rot="0">
            <a:off x="16990695" y="8951595"/>
            <a:ext cx="152400" cy="190500"/>
          </a:xfrm>
          <a:prstGeom prst="rect">
            <a:avLst/>
          </a:prstGeom>
        </p:spPr>
        <p:txBody>
          <a:bodyPr anchor="t" rtlCol="false" tIns="0" lIns="0" bIns="0" rIns="0" wrap="none">
            <a:spAutoFit/>
          </a:bodyPr>
          <a:lstStyle/>
          <a:p>
            <a:pPr algn="r">
              <a:lnSpc>
                <a:spcPts val="2520"/>
              </a:lnSpc>
              <a:spcBef>
                <a:spcPct val="0"/>
              </a:spcBef>
            </a:pPr>
            <a:r>
              <a:rPr lang="en-US" sz="1800" spc="-72">
                <a:solidFill>
                  <a:srgbClr val="403E3E"/>
                </a:solidFill>
                <a:latin typeface="Inter"/>
                <a:ea typeface="Inter"/>
                <a:cs typeface="Inter"/>
                <a:sym typeface="Inter"/>
              </a:rPr>
              <a:t>PAGE 35</a:t>
            </a:r>
          </a:p>
        </p:txBody>
      </p:sp>
      <p:graphicFrame>
        <p:nvGraphicFramePr>
          <p:cNvPr name="Table 3" id="3"/>
          <p:cNvGraphicFramePr>
            <a:graphicFrameLocks noGrp="true"/>
          </p:cNvGraphicFramePr>
          <p:nvPr/>
        </p:nvGraphicFramePr>
        <p:xfrm>
          <a:off x="0" y="474191"/>
          <a:ext cx="18288000" cy="8513427"/>
        </p:xfrm>
        <a:graphic>
          <a:graphicData uri="http://schemas.openxmlformats.org/drawingml/2006/table">
            <a:tbl>
              <a:tblPr/>
              <a:tblGrid>
                <a:gridCol w="2842090"/>
                <a:gridCol w="7341240"/>
                <a:gridCol w="8104670"/>
              </a:tblGrid>
              <a:tr h="1049136">
                <a:tc>
                  <a:txBody>
                    <a:bodyPr anchor="t" rtlCol="false"/>
                    <a:lstStyle/>
                    <a:p>
                      <a:pPr algn="l">
                        <a:lnSpc>
                          <a:spcPts val="3220"/>
                        </a:lnSpc>
                        <a:defRPr/>
                      </a:pPr>
                      <a:r>
                        <a:rPr lang="en-US" sz="2300" b="true">
                          <a:solidFill>
                            <a:srgbClr val="000000"/>
                          </a:solidFill>
                          <a:latin typeface="Inter Bold"/>
                          <a:ea typeface="Inter Bold"/>
                          <a:cs typeface="Inter Bold"/>
                          <a:sym typeface="Inter Bold"/>
                        </a:rPr>
                        <a:t>Criteria</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3220"/>
                        </a:lnSpc>
                        <a:defRPr/>
                      </a:pPr>
                      <a:r>
                        <a:rPr lang="en-US" sz="2300" b="true">
                          <a:solidFill>
                            <a:srgbClr val="000000"/>
                          </a:solidFill>
                          <a:latin typeface="Inter Bold"/>
                          <a:ea typeface="Inter Bold"/>
                          <a:cs typeface="Inter Bold"/>
                          <a:sym typeface="Inter Bold"/>
                        </a:rPr>
                        <a:t>Case 1 – Short Burst (Uniform Workload)</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3220"/>
                        </a:lnSpc>
                        <a:defRPr/>
                      </a:pPr>
                      <a:r>
                        <a:rPr lang="en-US" sz="2300" b="true">
                          <a:solidFill>
                            <a:srgbClr val="000000"/>
                          </a:solidFill>
                          <a:latin typeface="Inter Bold"/>
                          <a:ea typeface="Inter Bold"/>
                          <a:cs typeface="Inter Bold"/>
                          <a:sym typeface="Inter Bold"/>
                        </a:rPr>
                        <a:t>Case 2 – Long Burst (Unbalanced Workload)</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069192">
                <a:tc>
                  <a:txBody>
                    <a:bodyPr anchor="t" rtlCol="false"/>
                    <a:lstStyle/>
                    <a:p>
                      <a:pPr algn="l">
                        <a:lnSpc>
                          <a:spcPts val="3220"/>
                        </a:lnSpc>
                        <a:defRPr/>
                      </a:pPr>
                      <a:r>
                        <a:rPr lang="en-US" sz="2300" b="true">
                          <a:solidFill>
                            <a:srgbClr val="000000"/>
                          </a:solidFill>
                          <a:latin typeface="Inter Bold"/>
                          <a:ea typeface="Inter Bold"/>
                          <a:cs typeface="Inter Bold"/>
                          <a:sym typeface="Inter Bold"/>
                        </a:rPr>
                        <a:t>Description</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3220"/>
                        </a:lnSpc>
                        <a:defRPr/>
                      </a:pPr>
                      <a:r>
                        <a:rPr lang="en-US" sz="2300">
                          <a:solidFill>
                            <a:srgbClr val="000000"/>
                          </a:solidFill>
                          <a:latin typeface="Inter"/>
                          <a:ea typeface="Inter"/>
                          <a:cs typeface="Inter"/>
                          <a:sym typeface="Inter"/>
                        </a:rPr>
                        <a:t>Processes have short and similar burst times, arriving almost simultaneously.</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3220"/>
                        </a:lnSpc>
                        <a:defRPr/>
                      </a:pPr>
                      <a:r>
                        <a:rPr lang="en-US" sz="2300">
                          <a:solidFill>
                            <a:srgbClr val="000000"/>
                          </a:solidFill>
                          <a:latin typeface="Inter"/>
                          <a:ea typeface="Inter"/>
                          <a:cs typeface="Inter"/>
                          <a:sym typeface="Inter"/>
                        </a:rPr>
                        <a:t>One process (P04) has a much longer burst time, creating an unbalanced workload.</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069192">
                <a:tc>
                  <a:txBody>
                    <a:bodyPr anchor="t" rtlCol="false"/>
                    <a:lstStyle/>
                    <a:p>
                      <a:pPr algn="l">
                        <a:lnSpc>
                          <a:spcPts val="3220"/>
                        </a:lnSpc>
                        <a:defRPr/>
                      </a:pPr>
                      <a:r>
                        <a:rPr lang="en-US" sz="2300" b="true">
                          <a:solidFill>
                            <a:srgbClr val="000000"/>
                          </a:solidFill>
                          <a:latin typeface="Inter Bold"/>
                          <a:ea typeface="Inter Bold"/>
                          <a:cs typeface="Inter Bold"/>
                          <a:sym typeface="Inter Bold"/>
                        </a:rPr>
                        <a:t>CPU Behavior</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3220"/>
                        </a:lnSpc>
                        <a:defRPr/>
                      </a:pPr>
                      <a:r>
                        <a:rPr lang="en-US" sz="2300">
                          <a:solidFill>
                            <a:srgbClr val="000000"/>
                          </a:solidFill>
                          <a:latin typeface="Inter"/>
                          <a:ea typeface="Inter"/>
                          <a:cs typeface="Inter"/>
                          <a:sym typeface="Inter"/>
                        </a:rPr>
                        <a:t>CPU runs continuously with almost no idle time.</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3220"/>
                        </a:lnSpc>
                        <a:defRPr/>
                      </a:pPr>
                      <a:r>
                        <a:rPr lang="en-US" sz="2300">
                          <a:solidFill>
                            <a:srgbClr val="000000"/>
                          </a:solidFill>
                          <a:latin typeface="Inter"/>
                          <a:ea typeface="Inter"/>
                          <a:cs typeface="Inter"/>
                          <a:sym typeface="Inter"/>
                        </a:rPr>
                        <a:t>CPU is blocked by the long process, forcing others to wait.</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069192">
                <a:tc>
                  <a:txBody>
                    <a:bodyPr anchor="t" rtlCol="false"/>
                    <a:lstStyle/>
                    <a:p>
                      <a:pPr algn="l">
                        <a:lnSpc>
                          <a:spcPts val="3220"/>
                        </a:lnSpc>
                        <a:defRPr/>
                      </a:pPr>
                      <a:r>
                        <a:rPr lang="en-US" sz="2300" b="true">
                          <a:solidFill>
                            <a:srgbClr val="000000"/>
                          </a:solidFill>
                          <a:latin typeface="Inter Bold"/>
                          <a:ea typeface="Inter Bold"/>
                          <a:cs typeface="Inter Bold"/>
                          <a:sym typeface="Inter Bold"/>
                        </a:rPr>
                        <a:t>Key Phenomenon</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3220"/>
                        </a:lnSpc>
                        <a:defRPr/>
                      </a:pPr>
                      <a:r>
                        <a:rPr lang="en-US" sz="2300">
                          <a:solidFill>
                            <a:srgbClr val="000000"/>
                          </a:solidFill>
                          <a:latin typeface="Inter"/>
                          <a:ea typeface="Inter"/>
                          <a:cs typeface="Inter"/>
                          <a:sym typeface="Inter"/>
                        </a:rPr>
                        <a:t>Negligible queuing delay.</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3220"/>
                        </a:lnSpc>
                        <a:defRPr/>
                      </a:pPr>
                      <a:r>
                        <a:rPr lang="en-US" sz="2300" b="true">
                          <a:solidFill>
                            <a:srgbClr val="000000"/>
                          </a:solidFill>
                          <a:latin typeface="Inter Bold"/>
                          <a:ea typeface="Inter Bold"/>
                          <a:cs typeface="Inter Bold"/>
                          <a:sym typeface="Inter Bold"/>
                        </a:rPr>
                        <a:t>Convoy effect</a:t>
                      </a:r>
                      <a:r>
                        <a:rPr lang="en-US" sz="2300">
                          <a:solidFill>
                            <a:srgbClr val="000000"/>
                          </a:solidFill>
                          <a:latin typeface="Inter"/>
                          <a:ea typeface="Inter"/>
                          <a:cs typeface="Inter"/>
                          <a:sym typeface="Inter"/>
                        </a:rPr>
                        <a:t> occurs — short processes wait for the long one.</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069192">
                <a:tc>
                  <a:txBody>
                    <a:bodyPr anchor="t" rtlCol="false"/>
                    <a:lstStyle/>
                    <a:p>
                      <a:pPr algn="l">
                        <a:lnSpc>
                          <a:spcPts val="3220"/>
                        </a:lnSpc>
                        <a:defRPr/>
                      </a:pPr>
                      <a:r>
                        <a:rPr lang="en-US" sz="2300" b="true">
                          <a:solidFill>
                            <a:srgbClr val="000000"/>
                          </a:solidFill>
                          <a:latin typeface="Inter Bold"/>
                          <a:ea typeface="Inter Bold"/>
                          <a:cs typeface="Inter Bold"/>
                          <a:sym typeface="Inter Bold"/>
                        </a:rPr>
                        <a:t>Average Waiting Time (WT)</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3220"/>
                        </a:lnSpc>
                        <a:defRPr/>
                      </a:pPr>
                      <a:r>
                        <a:rPr lang="en-US" sz="2300">
                          <a:solidFill>
                            <a:srgbClr val="000000"/>
                          </a:solidFill>
                          <a:latin typeface="Inter"/>
                          <a:ea typeface="Inter"/>
                          <a:cs typeface="Inter"/>
                          <a:sym typeface="Inter"/>
                        </a:rPr>
                        <a:t>~2.33 ms (very low).</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3220"/>
                        </a:lnSpc>
                        <a:defRPr/>
                      </a:pPr>
                      <a:r>
                        <a:rPr lang="en-US" sz="2300">
                          <a:solidFill>
                            <a:srgbClr val="000000"/>
                          </a:solidFill>
                          <a:latin typeface="Inter"/>
                          <a:ea typeface="Inter"/>
                          <a:cs typeface="Inter"/>
                          <a:sym typeface="Inter"/>
                        </a:rPr>
                        <a:t>~13.33 ms (significantly higher).</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049136">
                <a:tc>
                  <a:txBody>
                    <a:bodyPr anchor="t" rtlCol="false"/>
                    <a:lstStyle/>
                    <a:p>
                      <a:pPr algn="l">
                        <a:lnSpc>
                          <a:spcPts val="3220"/>
                        </a:lnSpc>
                        <a:defRPr/>
                      </a:pPr>
                      <a:r>
                        <a:rPr lang="en-US" sz="2300" b="true">
                          <a:solidFill>
                            <a:srgbClr val="000000"/>
                          </a:solidFill>
                          <a:latin typeface="Inter Bold"/>
                          <a:ea typeface="Inter Bold"/>
                          <a:cs typeface="Inter Bold"/>
                          <a:sym typeface="Inter Bold"/>
                        </a:rPr>
                        <a:t>CPU Utilization</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3220"/>
                        </a:lnSpc>
                        <a:defRPr/>
                      </a:pPr>
                      <a:r>
                        <a:rPr lang="en-US" sz="2300">
                          <a:solidFill>
                            <a:srgbClr val="000000"/>
                          </a:solidFill>
                          <a:latin typeface="Inter"/>
                          <a:ea typeface="Inter"/>
                          <a:cs typeface="Inter"/>
                          <a:sym typeface="Inter"/>
                        </a:rPr>
                        <a:t>High and stable.</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3220"/>
                        </a:lnSpc>
                        <a:defRPr/>
                      </a:pPr>
                      <a:r>
                        <a:rPr lang="en-US" sz="2300">
                          <a:solidFill>
                            <a:srgbClr val="000000"/>
                          </a:solidFill>
                          <a:latin typeface="Inter"/>
                          <a:ea typeface="Inter"/>
                          <a:cs typeface="Inter"/>
                          <a:sym typeface="Inter"/>
                        </a:rPr>
                        <a:t>Reduced due to long waiting times.</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069192">
                <a:tc>
                  <a:txBody>
                    <a:bodyPr anchor="t" rtlCol="false"/>
                    <a:lstStyle/>
                    <a:p>
                      <a:pPr algn="l">
                        <a:lnSpc>
                          <a:spcPts val="3220"/>
                        </a:lnSpc>
                        <a:defRPr/>
                      </a:pPr>
                      <a:r>
                        <a:rPr lang="en-US" sz="2300" b="true">
                          <a:solidFill>
                            <a:srgbClr val="000000"/>
                          </a:solidFill>
                          <a:latin typeface="Inter Bold"/>
                          <a:ea typeface="Inter Bold"/>
                          <a:cs typeface="Inter Bold"/>
                          <a:sym typeface="Inter Bold"/>
                        </a:rPr>
                        <a:t>System Throughput</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3220"/>
                        </a:lnSpc>
                        <a:defRPr/>
                      </a:pPr>
                      <a:r>
                        <a:rPr lang="en-US" sz="2300">
                          <a:solidFill>
                            <a:srgbClr val="000000"/>
                          </a:solidFill>
                          <a:latin typeface="Inter"/>
                          <a:ea typeface="Inter"/>
                          <a:cs typeface="Inter"/>
                          <a:sym typeface="Inter"/>
                        </a:rPr>
                        <a:t>Stable and efficient.</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3220"/>
                        </a:lnSpc>
                        <a:defRPr/>
                      </a:pPr>
                      <a:r>
                        <a:rPr lang="en-US" sz="2300">
                          <a:solidFill>
                            <a:srgbClr val="000000"/>
                          </a:solidFill>
                          <a:latin typeface="Inter"/>
                          <a:ea typeface="Inter"/>
                          <a:cs typeface="Inter"/>
                          <a:sym typeface="Inter"/>
                        </a:rPr>
                        <a:t>Decreases as the long process dominates CPU time.</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069192">
                <a:tc>
                  <a:txBody>
                    <a:bodyPr anchor="t" rtlCol="false"/>
                    <a:lstStyle/>
                    <a:p>
                      <a:pPr algn="l">
                        <a:lnSpc>
                          <a:spcPts val="3220"/>
                        </a:lnSpc>
                        <a:defRPr/>
                      </a:pPr>
                      <a:r>
                        <a:rPr lang="en-US" sz="2300" b="true">
                          <a:solidFill>
                            <a:srgbClr val="000000"/>
                          </a:solidFill>
                          <a:latin typeface="Inter Bold"/>
                          <a:ea typeface="Inter Bold"/>
                          <a:cs typeface="Inter Bold"/>
                          <a:sym typeface="Inter Bold"/>
                        </a:rPr>
                        <a:t>Conclusion</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3220"/>
                        </a:lnSpc>
                        <a:defRPr/>
                      </a:pPr>
                      <a:r>
                        <a:rPr lang="en-US" sz="2300">
                          <a:solidFill>
                            <a:srgbClr val="000000"/>
                          </a:solidFill>
                          <a:latin typeface="Inter"/>
                          <a:ea typeface="Inter"/>
                          <a:cs typeface="Inter"/>
                          <a:sym typeface="Inter"/>
                        </a:rPr>
                        <a:t>FCFS performs efficiently in uniform, short-burst environments.</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3220"/>
                        </a:lnSpc>
                        <a:defRPr/>
                      </a:pPr>
                      <a:r>
                        <a:rPr lang="en-US" sz="2300">
                          <a:solidFill>
                            <a:srgbClr val="000000"/>
                          </a:solidFill>
                          <a:latin typeface="Inter"/>
                          <a:ea typeface="Inter"/>
                          <a:cs typeface="Inter"/>
                          <a:sym typeface="Inter"/>
                        </a:rPr>
                        <a:t>FCFS performs poorly in unbalanced workloads, showing reduced responsiveness.</a:t>
                      </a:r>
                      <a:endParaRPr lang="en-US" sz="1100"/>
                    </a:p>
                  </a:txBody>
                  <a:tcPr marL="76200" marR="76200" marT="76200" marB="762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DAG2QOBPGpY</dc:identifier>
  <dcterms:modified xsi:type="dcterms:W3CDTF">2011-08-01T06:04:30Z</dcterms:modified>
  <cp:revision>1</cp:revision>
  <dc:title>Black and Cream Clean and Simple Social Media Marketing Report Presentation</dc:title>
</cp:coreProperties>
</file>