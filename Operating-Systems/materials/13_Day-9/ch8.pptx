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9"/>
  </p:notesMasterIdLst>
  <p:handoutMasterIdLst>
    <p:handoutMasterId r:id="rId70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403" r:id="rId13"/>
    <p:sldId id="404" r:id="rId14"/>
    <p:sldId id="342" r:id="rId15"/>
    <p:sldId id="343" r:id="rId16"/>
    <p:sldId id="348" r:id="rId17"/>
    <p:sldId id="399" r:id="rId18"/>
    <p:sldId id="349" r:id="rId19"/>
    <p:sldId id="350" r:id="rId20"/>
    <p:sldId id="351" r:id="rId21"/>
    <p:sldId id="352" r:id="rId22"/>
    <p:sldId id="353" r:id="rId23"/>
    <p:sldId id="405" r:id="rId24"/>
    <p:sldId id="406" r:id="rId25"/>
    <p:sldId id="407" r:id="rId26"/>
    <p:sldId id="408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416" r:id="rId35"/>
    <p:sldId id="417" r:id="rId36"/>
    <p:sldId id="418" r:id="rId37"/>
    <p:sldId id="419" r:id="rId38"/>
    <p:sldId id="420" r:id="rId39"/>
    <p:sldId id="421" r:id="rId40"/>
    <p:sldId id="422" r:id="rId41"/>
    <p:sldId id="423" r:id="rId42"/>
    <p:sldId id="424" r:id="rId43"/>
    <p:sldId id="425" r:id="rId44"/>
    <p:sldId id="426" r:id="rId45"/>
    <p:sldId id="427" r:id="rId46"/>
    <p:sldId id="428" r:id="rId47"/>
    <p:sldId id="429" r:id="rId48"/>
    <p:sldId id="430" r:id="rId49"/>
    <p:sldId id="431" r:id="rId50"/>
    <p:sldId id="432" r:id="rId51"/>
    <p:sldId id="433" r:id="rId52"/>
    <p:sldId id="434" r:id="rId53"/>
    <p:sldId id="435" r:id="rId54"/>
    <p:sldId id="436" r:id="rId55"/>
    <p:sldId id="437" r:id="rId56"/>
    <p:sldId id="438" r:id="rId57"/>
    <p:sldId id="439" r:id="rId58"/>
    <p:sldId id="440" r:id="rId59"/>
    <p:sldId id="441" r:id="rId60"/>
    <p:sldId id="442" r:id="rId61"/>
    <p:sldId id="443" r:id="rId62"/>
    <p:sldId id="444" r:id="rId63"/>
    <p:sldId id="445" r:id="rId64"/>
    <p:sldId id="446" r:id="rId65"/>
    <p:sldId id="447" r:id="rId66"/>
    <p:sldId id="448" r:id="rId67"/>
    <p:sldId id="449" r:id="rId6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>
      <p:cViewPr>
        <p:scale>
          <a:sx n="81" d="100"/>
          <a:sy n="81" d="100"/>
        </p:scale>
        <p:origin x="1565" y="29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58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776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26917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16CDF5D-5DA4-4CFA-BCC7-390A2861E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FB5F106-41EE-4364-BF1E-20D5C6B2A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294DEFC-309C-4B8E-9AC7-318287BBA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613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819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2104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8800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9039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3336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9617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408D356-8C72-4527-8A9E-B805AC785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2E28FCD-1056-4D3D-9ACD-83965BCF1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C10C43C3-A73A-42A6-A35F-C138D4AF4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5042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3E5A769-B41F-409B-96F7-18D03BDE4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F55E19D-E8B3-4452-A038-9BCF911F5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D1C4F68-5A97-427E-AB9C-31AA19BC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2096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4516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7718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6048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766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38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4845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39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1189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6195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4374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8419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44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00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45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1841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1496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4622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1128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D0DE149E-B4E9-447D-A96F-52CED7627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  <a:pPr/>
              <a:t>49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FFAF1B4-28CB-4198-8533-8A8CD940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0C7A78A9-8BCC-4FDB-8409-FB8A22AB7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2780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0D01FE7-E886-40E8-92FA-8D1E3FB67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  <a:pPr/>
              <a:t>50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FFE513B4-8EB5-4368-ADC7-E41FF4071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2238889-0C7B-45C6-998F-D0BFA15F7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6957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4C6EACAF-E6EA-457D-8641-E32A9D95C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41D4B89-0756-4DD7-8336-2BFB3BDAC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08A804A-2118-4ED2-BE3C-0C1214B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8531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E9A843E-1C4B-4C88-B075-0559BA69A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  <a:pPr/>
              <a:t>52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08F5292-EF3C-4544-82EA-378A61593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F80D565-56DF-403E-B659-3C94647E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9386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E5E56C28-C60C-4E30-B37A-C45B0ABB0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  <a:pPr/>
              <a:t>53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16BCF08-E5F3-4982-863F-E15695200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46B23B8-CBD0-4DC0-A03E-62ED08FCA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9345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57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1372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2713C8E-F06D-48F7-9A44-14B868B4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  <a:pPr/>
              <a:t>58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E7ACE6D-059D-483A-A103-CE92675F2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E07AD1A-894F-44C2-B8F0-559D0E99B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0679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9A2A9F0C-8B1F-4324-A783-5596BAC59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  <a:pPr/>
              <a:t>59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A495CF2E-10C4-49A6-B353-620534988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4D12019-D120-4BCE-9EFE-1883EE02D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78318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53451A08-37D6-4065-ADF9-DCFC5E7F54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  <a:pPr/>
              <a:t>60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5FEAE45-D480-4553-9BB5-5A0507ABE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B30AC3E-C36C-4606-A8DA-4C89455DB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76691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F3964CCA-B0C6-4BC4-9C47-2A0B624ED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  <a:pPr/>
              <a:t>61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5BA5CE0E-B27A-4856-9DE3-4E3B5F0855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3BEEA9A-3ADC-4256-823F-620A5A5D3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7704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B7F14923-ACFB-4915-B395-086C762B8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  <a:pPr/>
              <a:t>62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87E30E3B-E975-4CB0-A0C9-8AAF2DFCC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5C53E0C4-D20D-4178-B4B6-479C700AF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9680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C389213D-C1B2-4D5F-A81C-6155094876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  <a:pPr/>
              <a:t>63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E9DAFE2-DC1F-4D1E-B399-6B86FC7E2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091DFE67-CF76-4428-8F44-8818B6CA4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76268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D0B62DC-CB08-44D1-BC03-AEB34D5AE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  <a:pPr/>
              <a:t>64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845853C-5FA1-4025-BED7-C0AB0146F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00CAEAE0-BD27-4E21-A6F6-851C82C87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08251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A637A56-6863-41EE-AA0A-373A6CE79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  <a:pPr/>
              <a:t>65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66B417B-93D6-4ED8-B9CC-B9C6B0EAE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C7CAEC1-5261-4D7B-B4CB-0B9C19BF7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33793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87E65574-C17F-4176-AEAD-E10057288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  <a:pPr/>
              <a:t>66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9E3D940-7858-42F4-BFF7-ADDBC0AA9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BACAC1CB-C347-4FF6-BB9C-CDBBAF17F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23580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67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438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7134" y="6055936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Contiguous Memory Allocation</a:t>
            </a:r>
          </a:p>
          <a:p>
            <a:r>
              <a:rPr lang="en-US" altLang="en-US" dirty="0"/>
              <a:t>Paging</a:t>
            </a:r>
          </a:p>
          <a:p>
            <a:r>
              <a:rPr lang="en-US" altLang="en-US" dirty="0"/>
              <a:t>Structure of the Page Table</a:t>
            </a:r>
          </a:p>
          <a:p>
            <a:r>
              <a:rPr lang="en-US" altLang="en-US" dirty="0"/>
              <a:t>Swapping</a:t>
            </a:r>
          </a:p>
          <a:p>
            <a:r>
              <a:rPr lang="en-US" altLang="en-US" dirty="0"/>
              <a:t>Example: The Intel 32 and 64-bit Architectures</a:t>
            </a:r>
          </a:p>
          <a:p>
            <a:r>
              <a:rPr lang="en-US" altLang="en-US" dirty="0"/>
              <a:t>Example: ARMv8 Architecture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B8D04B-AD7F-49A8-9388-3AF72B45C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05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B5605CA-B522-4E77-8066-64E776435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6" y="1262063"/>
            <a:ext cx="7735078" cy="4440237"/>
          </a:xfrm>
        </p:spPr>
        <p:txBody>
          <a:bodyPr/>
          <a:lstStyle/>
          <a:p>
            <a:r>
              <a:rPr lang="en-US" altLang="en-US" dirty="0"/>
              <a:t>To provide a detailed description of various ways of organizing memory hardware</a:t>
            </a:r>
          </a:p>
          <a:p>
            <a:r>
              <a:rPr lang="en-US" altLang="en-US" dirty="0"/>
              <a:t>To discuss various memory-management techniques, </a:t>
            </a:r>
          </a:p>
          <a:p>
            <a:r>
              <a:rPr lang="en-US" altLang="en-US" dirty="0"/>
              <a:t>To provide a detailed description of the Intel Pentium, which supports both pure segmentation and segmentation with paging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r>
              <a:rPr lang="en-US" altLang="en-US" dirty="0"/>
              <a:t>Main memory and registers are only storage CPU can access directly</a:t>
            </a:r>
          </a:p>
          <a:p>
            <a:r>
              <a:rPr lang="en-US" altLang="en-US" dirty="0"/>
              <a:t>Memory unit only sees a stream of:</a:t>
            </a:r>
          </a:p>
          <a:p>
            <a:pPr lvl="1"/>
            <a:r>
              <a:rPr lang="en-US" altLang="en-US" dirty="0"/>
              <a:t>addresses + read requests, or </a:t>
            </a:r>
          </a:p>
          <a:p>
            <a:pPr lvl="1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r>
              <a:rPr lang="en-US" altLang="en-US" dirty="0"/>
              <a:t>Protection 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688424" cy="1690687"/>
          </a:xfrm>
        </p:spPr>
        <p:txBody>
          <a:bodyPr/>
          <a:lstStyle/>
          <a:p>
            <a:r>
              <a:rPr lang="en-US" altLang="en-US" dirty="0"/>
              <a:t>Need to censure that a process can access only access those addresses in it address space.</a:t>
            </a:r>
          </a:p>
          <a:p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790" y="2725414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47763"/>
            <a:ext cx="7380514" cy="4610100"/>
          </a:xfrm>
        </p:spPr>
        <p:txBody>
          <a:bodyPr/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03200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270BE95-63FA-4E80-993B-493058D8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A5804ED-6C6C-4BF4-8BFF-7FB99CC30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1144588"/>
            <a:ext cx="7688424" cy="4926012"/>
          </a:xfrm>
        </p:spPr>
        <p:txBody>
          <a:bodyPr/>
          <a:lstStyle/>
          <a:p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/>
            <a:r>
              <a:rPr kumimoji="0" lang="en-US" altLang="en-US" dirty="0"/>
              <a:t>Without support, must be loaded into address 0000</a:t>
            </a:r>
          </a:p>
          <a:p>
            <a:r>
              <a:rPr kumimoji="0" lang="en-US" altLang="en-US" dirty="0"/>
              <a:t>Inconvenient to have first user process physical address always at 0000 </a:t>
            </a:r>
          </a:p>
          <a:p>
            <a:pPr lvl="1"/>
            <a:r>
              <a:rPr kumimoji="0" lang="en-US" altLang="en-US" dirty="0"/>
              <a:t>How can it not be?</a:t>
            </a:r>
            <a:endParaRPr lang="en-US" altLang="en-US" dirty="0"/>
          </a:p>
          <a:p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</a:p>
          <a:p>
            <a:pPr lvl="1"/>
            <a:r>
              <a:rPr kumimoji="0" lang="en-US" altLang="en-US" dirty="0"/>
              <a:t>Source code addresses usually symbolic</a:t>
            </a:r>
          </a:p>
          <a:p>
            <a:pPr lvl="1"/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</a:p>
          <a:p>
            <a:pPr lvl="2"/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/>
            <a:r>
              <a:rPr kumimoji="0" lang="en-US" altLang="en-US" dirty="0"/>
              <a:t>Linker or loader will bind relocatable addresses to absolute addresses</a:t>
            </a:r>
          </a:p>
          <a:p>
            <a:pPr lvl="2"/>
            <a:r>
              <a:rPr kumimoji="0" lang="en-US" altLang="en-US" dirty="0"/>
              <a:t>i.e., 74014</a:t>
            </a:r>
          </a:p>
          <a:p>
            <a:pPr lvl="1"/>
            <a:r>
              <a:rPr kumimoji="0" lang="en-US" altLang="en-US" dirty="0"/>
              <a:t>Each binding maps one address space to another</a:t>
            </a:r>
          </a:p>
          <a:p>
            <a:pPr>
              <a:buFont typeface="Monotype Sorts" pitchFamily="-84" charset="2"/>
              <a:buNone/>
            </a:pPr>
            <a:endParaRPr kumimoji="0" lang="en-US" altLang="en-US" dirty="0"/>
          </a:p>
          <a:p>
            <a:pPr lvl="1"/>
            <a:endParaRPr kumimoji="0"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692" y="1334278"/>
            <a:ext cx="7665488" cy="3860736"/>
          </a:xfrm>
        </p:spPr>
        <p:txBody>
          <a:bodyPr/>
          <a:lstStyle/>
          <a:p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</a:p>
          <a:p>
            <a:pPr lvl="1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236663"/>
            <a:ext cx="7702615" cy="4468812"/>
          </a:xfrm>
        </p:spPr>
        <p:txBody>
          <a:bodyPr/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7" y="1147602"/>
            <a:ext cx="7623108" cy="4484688"/>
          </a:xfrm>
        </p:spPr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630045" cy="44846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</a:p>
          <a:p>
            <a:pPr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704690" cy="4484687"/>
          </a:xfrm>
        </p:spPr>
        <p:txBody>
          <a:bodyPr/>
          <a:lstStyle/>
          <a:p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r>
              <a:rPr lang="en-US" altLang="en-US" dirty="0"/>
              <a:t>The value in the relocation register is added to every address generated by a user process at the time it is sent to memory</a:t>
            </a: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2957513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407" y="1135063"/>
            <a:ext cx="7641772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4" y="1062038"/>
            <a:ext cx="7669764" cy="46609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system libraries and program code combined by the loader into the binary program image</a:t>
            </a:r>
          </a:p>
          <a:p>
            <a:r>
              <a:rPr lang="en-US" altLang="en-US" dirty="0"/>
              <a:t>Dynamic linking –linking postponed until execution time</a:t>
            </a:r>
            <a:endParaRPr lang="en-US" altLang="en-US" sz="800" dirty="0"/>
          </a:p>
          <a:p>
            <a:r>
              <a:rPr lang="en-US" altLang="en-US" dirty="0"/>
              <a:t>Small piece of code,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dirty="0"/>
              <a:t>, used to locate the appropriate memory-resident library routine</a:t>
            </a:r>
            <a:endParaRPr lang="en-US" altLang="en-US" sz="800" dirty="0"/>
          </a:p>
          <a:p>
            <a:r>
              <a:rPr lang="en-US" altLang="en-US" dirty="0"/>
              <a:t>Stub replaces itself with the address of the routine, and executes the routine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libraries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processes</a:t>
            </a:r>
          </a:p>
          <a:p>
            <a:r>
              <a:rPr lang="en-US" altLang="en-US" dirty="0"/>
              <a:t>Limited resource, must allocate efficiently</a:t>
            </a:r>
          </a:p>
          <a:p>
            <a:r>
              <a:rPr lang="en-US" altLang="en-US" dirty="0"/>
              <a:t>Contiguous allocation is one early method</a:t>
            </a:r>
          </a:p>
          <a:p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Resident operating system, usually held in low memory with interrupt vector</a:t>
            </a:r>
          </a:p>
          <a:p>
            <a:pPr lvl="1"/>
            <a:r>
              <a:rPr lang="en-US" altLang="en-US" dirty="0"/>
              <a:t>User processes then held in high memory</a:t>
            </a:r>
          </a:p>
          <a:p>
            <a:pPr lvl="1"/>
            <a:r>
              <a:rPr lang="en-US" altLang="en-US" dirty="0"/>
              <a:t>Each process contained in single contiguous section of memory</a:t>
            </a:r>
          </a:p>
          <a:p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dirty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altLang="en-US" dirty="0"/>
              <a:t>Base register contains value of smallest physical address</a:t>
            </a:r>
          </a:p>
          <a:p>
            <a:pPr lvl="1"/>
            <a:r>
              <a:rPr lang="en-US" altLang="en-US" dirty="0"/>
              <a:t>Limit register contains range of logical addresses – each logical address must be less than the limit register </a:t>
            </a:r>
          </a:p>
          <a:p>
            <a:pPr lvl="1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</a:p>
          <a:p>
            <a:pPr lvl="1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kernel changing size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134778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1600" dirty="0"/>
              <a:t>Degree of multiprogramming limited by number of partitions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1600" dirty="0"/>
              <a:t>Process exiting frees its partition, adjacent free partitions combined</a:t>
            </a:r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444658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55" y="3844115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4530725"/>
          </a:xfrm>
        </p:spPr>
        <p:txBody>
          <a:bodyPr/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dirty="0"/>
              <a:t>Shuffle memory contents to place all free memory together in one large block</a:t>
            </a:r>
          </a:p>
          <a:p>
            <a:pPr lvl="1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/>
            <a:r>
              <a:rPr lang="en-US" altLang="en-US" dirty="0"/>
              <a:t>I/O problem</a:t>
            </a:r>
          </a:p>
          <a:p>
            <a:pPr lvl="2"/>
            <a:r>
              <a:rPr lang="en-US" altLang="en-US" dirty="0"/>
              <a:t>Latch job in memory while it is involved in I/O</a:t>
            </a:r>
          </a:p>
          <a:p>
            <a:pPr lvl="2"/>
            <a:r>
              <a:rPr lang="en-US" altLang="en-US" dirty="0"/>
              <a:t>Do I/O only into OS buffers</a:t>
            </a:r>
          </a:p>
          <a:p>
            <a:r>
              <a:rPr lang="en-US" altLang="en-US" dirty="0"/>
              <a:t>Now consider that backing store has same fragmentation problems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</a:p>
          <a:p>
            <a:r>
              <a:rPr lang="en-US" altLang="en-US" dirty="0"/>
              <a:t>Still have Internal fragmentation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724965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2393182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2568438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6795533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11135291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96" y="1112044"/>
            <a:ext cx="7491607" cy="4633912"/>
          </a:xfrm>
        </p:spPr>
        <p:txBody>
          <a:bodyPr/>
          <a:lstStyle/>
          <a:p>
            <a:r>
              <a:rPr lang="en-US" altLang="en-US" dirty="0"/>
              <a:t>Page size = 2,048 bytes</a:t>
            </a:r>
          </a:p>
          <a:p>
            <a:r>
              <a:rPr lang="en-US" altLang="en-US" dirty="0"/>
              <a:t>Process size = 72,766 bytes</a:t>
            </a:r>
          </a:p>
          <a:p>
            <a:r>
              <a:rPr lang="en-US" altLang="en-US" dirty="0"/>
              <a:t>35 pages + 1,086 bytes</a:t>
            </a:r>
          </a:p>
          <a:p>
            <a:r>
              <a:rPr lang="en-US" altLang="en-US" dirty="0"/>
              <a:t>Internal fragmentation of 2,048 - 1,086 = 962 bytes</a:t>
            </a:r>
          </a:p>
          <a:p>
            <a:r>
              <a:rPr lang="en-US" altLang="en-US" dirty="0"/>
              <a:t>Worst case fragmentation = 1 frame – 1 byte</a:t>
            </a:r>
          </a:p>
          <a:p>
            <a:r>
              <a:rPr lang="en-US" altLang="en-US" dirty="0"/>
              <a:t>On average fragmentation = 1 / 2 frame size</a:t>
            </a:r>
          </a:p>
          <a:p>
            <a:r>
              <a:rPr lang="en-US" altLang="en-US" dirty="0"/>
              <a:t>So small frame sizes desirable?</a:t>
            </a:r>
          </a:p>
          <a:p>
            <a:r>
              <a:rPr lang="en-US" altLang="en-US" dirty="0"/>
              <a:t>But each page table entry takes memory to track</a:t>
            </a:r>
          </a:p>
          <a:p>
            <a:r>
              <a:rPr lang="en-US" altLang="en-US" dirty="0"/>
              <a:t>Page sizes growing over time</a:t>
            </a:r>
          </a:p>
          <a:p>
            <a:pPr lvl="1"/>
            <a:r>
              <a:rPr lang="en-US" altLang="en-US" dirty="0"/>
              <a:t>Solaris supports two page sizes – 8 KB and 4 MB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842713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658535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dirty="0"/>
              <a:t>Page table is kept in main 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</a:p>
          <a:p>
            <a:r>
              <a:rPr lang="en-US" altLang="en-US" dirty="0"/>
              <a:t>In this scheme every data/instruction access requires two memory accesses</a:t>
            </a:r>
          </a:p>
          <a:p>
            <a:pPr lvl="1"/>
            <a:r>
              <a:rPr lang="en-US" altLang="en-US" dirty="0"/>
              <a:t>One for the page table and one for the data / instruction</a:t>
            </a:r>
          </a:p>
          <a:p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047700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</a:p>
          <a:p>
            <a:pPr lvl="1"/>
            <a:r>
              <a:rPr lang="en-US" altLang="en-US" dirty="0"/>
              <a:t>Otherwise need to flush at every context switch</a:t>
            </a:r>
          </a:p>
          <a:p>
            <a:r>
              <a:rPr lang="en-US" altLang="en-US" dirty="0"/>
              <a:t>TLBs typically small (64 to 1,024 entries)</a:t>
            </a:r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considered</a:t>
            </a:r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294166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A7C684B0-80FB-46D4-B8E4-5BAFFE7E2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</a:p>
        </p:txBody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E7B29C5B-AFCD-4031-B6DE-A755EE36A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11263"/>
            <a:ext cx="7735078" cy="4483100"/>
          </a:xfrm>
        </p:spPr>
        <p:txBody>
          <a:bodyPr/>
          <a:lstStyle/>
          <a:p>
            <a:r>
              <a:rPr lang="en-US" altLang="en-US" dirty="0"/>
              <a:t>Associative memory – parallel search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</a:p>
          <a:p>
            <a:pPr marL="627063" lvl="1"/>
            <a:r>
              <a:rPr lang="en-US" altLang="en-US" dirty="0"/>
              <a:t>If p is in associative register, get frame # out</a:t>
            </a:r>
          </a:p>
          <a:p>
            <a:pPr marL="627063" lvl="1"/>
            <a:r>
              <a:rPr lang="en-US" altLang="en-US" dirty="0"/>
              <a:t>Otherwise get frame # from page table in memory</a:t>
            </a:r>
          </a:p>
          <a:p>
            <a:pPr marL="627063" lvl="1"/>
            <a:endParaRPr lang="en-US" altLang="en-US" dirty="0"/>
          </a:p>
        </p:txBody>
      </p:sp>
      <p:pic>
        <p:nvPicPr>
          <p:cNvPr id="34820" name="Picture 1">
            <a:extLst>
              <a:ext uri="{FF2B5EF4-FFF2-40B4-BE49-F238E27FC236}">
                <a16:creationId xmlns:a16="http://schemas.microsoft.com/office/drawing/2014/main" id="{1BA7F075-72DD-4E05-B0C4-AC7DAF33A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8440593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34F0B9-0ADC-441A-ABA1-37FF75092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6361943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TLB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dirty="0"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amore realistic hit ratio of 99%,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21372180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Any violations result in a trap to the kernel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22302723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26260128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/>
            <a:r>
              <a:rPr lang="en-US" altLang="en-US" dirty="0"/>
              <a:t>Similar to multiple threads sharing the same process space</a:t>
            </a:r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759261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8289837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</a:p>
          <a:p>
            <a:pPr lvl="1"/>
            <a:r>
              <a:rPr lang="en-US" altLang="en-US" dirty="0"/>
              <a:t>Consider a 32-bit logical address space as on modern computers</a:t>
            </a:r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</a:p>
          <a:p>
            <a:pPr lvl="2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</a:p>
          <a:p>
            <a:pPr lvl="1"/>
            <a:r>
              <a:rPr lang="en-US" altLang="en-US" dirty="0"/>
              <a:t>One simple solution is to divide the page table into smaller units</a:t>
            </a:r>
          </a:p>
          <a:p>
            <a:pPr lvl="2"/>
            <a:r>
              <a:rPr lang="en-US" altLang="en-US" dirty="0"/>
              <a:t>Hierarchical Paging</a:t>
            </a:r>
          </a:p>
          <a:p>
            <a:pPr lvl="2"/>
            <a:r>
              <a:rPr lang="en-US" altLang="en-US" dirty="0"/>
              <a:t>Hashed Page Tables</a:t>
            </a:r>
          </a:p>
          <a:p>
            <a:pPr lvl="2"/>
            <a:r>
              <a:rPr lang="en-US" altLang="en-US" dirty="0"/>
              <a:t>Inverted Page Tables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8456170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A simple technique is a two-level page table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2414095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1K page size) is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number consisting of 22 bits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offset consisting of 10 bits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10-bit page number 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12-bit page offset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743272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27237730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24256989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5731147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dirty="0"/>
              <a:t>Common in address spaces &gt; 32 bits</a:t>
            </a:r>
          </a:p>
          <a:p>
            <a:r>
              <a:rPr lang="en-US" altLang="en-US" dirty="0"/>
              <a:t>The virtual page number is hashed into a page table</a:t>
            </a:r>
          </a:p>
          <a:p>
            <a:pPr lvl="1"/>
            <a:r>
              <a:rPr lang="en-US" altLang="en-US" dirty="0"/>
              <a:t>This page table contains a chain of elements hashing to the same location</a:t>
            </a:r>
          </a:p>
          <a:p>
            <a:r>
              <a:rPr lang="en-US" altLang="en-US" dirty="0"/>
              <a:t>Each element contains (1) the virtual page number (2) the value of the mapped page frame (3) a pointer to the next element</a:t>
            </a:r>
          </a:p>
          <a:p>
            <a:r>
              <a:rPr lang="en-US" altLang="en-US" dirty="0"/>
              <a:t>Virtual page numbers are compared in this chain searching for a match</a:t>
            </a:r>
          </a:p>
          <a:p>
            <a:pPr lvl="1"/>
            <a:r>
              <a:rPr lang="en-US" altLang="en-US" dirty="0"/>
              <a:t>If a match is found, the corresponding physical frame is extracted</a:t>
            </a:r>
          </a:p>
          <a:p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/>
            <a:r>
              <a:rPr lang="en-US" altLang="en-US" dirty="0"/>
              <a:t>Similar to hashed but each entry refers to several pages (such as 16) rather than 1</a:t>
            </a:r>
          </a:p>
          <a:p>
            <a:pPr lvl="1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10069563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5001065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r>
              <a:rPr lang="en-US" altLang="en-US" dirty="0"/>
              <a:t>One entry for each real page of memory</a:t>
            </a:r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dirty="0"/>
              <a:t>Use hash table to limit the search to one — or at most a few — page-table entries</a:t>
            </a:r>
          </a:p>
          <a:p>
            <a:pPr lvl="1"/>
            <a:r>
              <a:rPr lang="en-US" altLang="en-US" dirty="0"/>
              <a:t>TLB can accelerate access</a:t>
            </a:r>
          </a:p>
          <a:p>
            <a:r>
              <a:rPr lang="en-US" altLang="en-US" dirty="0"/>
              <a:t>But how to implement shared memory?</a:t>
            </a:r>
          </a:p>
          <a:p>
            <a:pPr lvl="1"/>
            <a:r>
              <a:rPr lang="en-US" altLang="en-US" dirty="0"/>
              <a:t>One mapping of a virtual address to the shared physical address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5345524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24010099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B640008-8A0F-4095-A1E5-C46DAA379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025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135B7B9-6301-4A12-B99C-264504271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035050"/>
            <a:ext cx="7679094" cy="5062538"/>
          </a:xfrm>
        </p:spPr>
        <p:txBody>
          <a:bodyPr/>
          <a:lstStyle/>
          <a:p>
            <a:r>
              <a:rPr lang="en-US" altLang="en-US" dirty="0"/>
              <a:t>Consider modern, 64-bit operating system example with tightly integrated HW</a:t>
            </a:r>
          </a:p>
          <a:p>
            <a:pPr lvl="1"/>
            <a:r>
              <a:rPr lang="en-US" altLang="en-US" dirty="0"/>
              <a:t>Goals are efficiency, low overhead</a:t>
            </a:r>
          </a:p>
          <a:p>
            <a:r>
              <a:rPr lang="en-US" altLang="en-US" dirty="0"/>
              <a:t>Based on hashing, but more complex</a:t>
            </a:r>
          </a:p>
          <a:p>
            <a:r>
              <a:rPr lang="en-US" altLang="en-US" dirty="0"/>
              <a:t>Two hash tables</a:t>
            </a:r>
          </a:p>
          <a:p>
            <a:pPr lvl="1"/>
            <a:r>
              <a:rPr lang="en-US" altLang="en-US" dirty="0"/>
              <a:t>One kernel and one for all user processes</a:t>
            </a:r>
          </a:p>
          <a:p>
            <a:pPr lvl="1"/>
            <a:r>
              <a:rPr lang="en-US" altLang="en-US" dirty="0"/>
              <a:t>Each maps memory addresses from virtual to physical memory</a:t>
            </a:r>
          </a:p>
          <a:p>
            <a:pPr lvl="1"/>
            <a:r>
              <a:rPr lang="en-US" altLang="en-US" dirty="0"/>
              <a:t>Each entry represents a contiguous area of mapped virtual memory,</a:t>
            </a:r>
          </a:p>
          <a:p>
            <a:pPr lvl="2"/>
            <a:r>
              <a:rPr lang="en-US" altLang="en-US" dirty="0"/>
              <a:t>More efficient than having a separate hash-table entry for each page</a:t>
            </a:r>
          </a:p>
          <a:p>
            <a:pPr lvl="1"/>
            <a:r>
              <a:rPr lang="en-US" altLang="en-US" dirty="0"/>
              <a:t>Each entry has  base address and  span (indicating the number of pages the entry represents)</a:t>
            </a:r>
          </a:p>
          <a:p>
            <a:endParaRPr lang="en-US" altLang="en-US" sz="14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18391512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894A6E0-2CAC-4979-BD85-249A83CF4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ACE2AFC-0A3F-4D7B-9F31-60AAF284E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096963"/>
            <a:ext cx="7665876" cy="5062537"/>
          </a:xfrm>
        </p:spPr>
        <p:txBody>
          <a:bodyPr/>
          <a:lstStyle/>
          <a:p>
            <a:r>
              <a:rPr lang="en-US" altLang="en-US" dirty="0"/>
              <a:t>TLB holds translation table entries (TTEs) for fast hardware lookups</a:t>
            </a:r>
          </a:p>
          <a:p>
            <a:pPr lvl="1"/>
            <a:r>
              <a:rPr lang="en-US" altLang="en-US" dirty="0"/>
              <a:t>A cache of TTEs reside in a translation storage buffer (TSB)</a:t>
            </a:r>
          </a:p>
          <a:p>
            <a:pPr lvl="2"/>
            <a:r>
              <a:rPr lang="en-US" altLang="en-US" dirty="0"/>
              <a:t>Includes an entry per recently accessed page</a:t>
            </a:r>
          </a:p>
          <a:p>
            <a:r>
              <a:rPr lang="en-US" altLang="en-US" dirty="0"/>
              <a:t>Virtual address reference causes TLB search </a:t>
            </a:r>
          </a:p>
          <a:p>
            <a:pPr lvl="1"/>
            <a:r>
              <a:rPr lang="en-US" altLang="en-US" dirty="0"/>
              <a:t>If miss, hardware walks the in-memory TSB looking for the TTE corresponding to the address</a:t>
            </a:r>
          </a:p>
          <a:p>
            <a:pPr lvl="2"/>
            <a:r>
              <a:rPr lang="en-US" altLang="en-US" dirty="0"/>
              <a:t>If match found, the CPU copies the TSB entry into the TLB and translation completes</a:t>
            </a:r>
          </a:p>
          <a:p>
            <a:pPr lvl="2"/>
            <a:r>
              <a:rPr lang="en-US" altLang="en-US" dirty="0"/>
              <a:t>If no match found, kernel interrupted to search the hash table</a:t>
            </a:r>
          </a:p>
          <a:p>
            <a:pPr lvl="3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</a:p>
          <a:p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5730340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D2ACB3-978E-4C92-8147-5A9751FD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0D0E06F-7484-4112-A8C2-84609CEC1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22363"/>
            <a:ext cx="7679094" cy="5067300"/>
          </a:xfrm>
        </p:spPr>
        <p:txBody>
          <a:bodyPr/>
          <a:lstStyle/>
          <a:p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/>
            <a:r>
              <a:rPr lang="en-US" altLang="en-US" dirty="0"/>
              <a:t>Total physical memory space of processes can exceed physical memory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5902342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A59C4B-F6E7-4D32-835B-148AD8260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0C41DA-0E38-48B2-8F80-9B1CA64B8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dirty="0"/>
              <a:t>Does the swapped out process need to swap back in to same physical addresses?</a:t>
            </a:r>
          </a:p>
          <a:p>
            <a:r>
              <a:rPr lang="en-US" altLang="en-US" dirty="0"/>
              <a:t>Depends on address binding method</a:t>
            </a:r>
          </a:p>
          <a:p>
            <a:pPr lvl="1"/>
            <a:r>
              <a:rPr lang="en-US" altLang="en-US" dirty="0"/>
              <a:t>Plus consider pending I/O to / from process memory space</a:t>
            </a:r>
          </a:p>
          <a:p>
            <a:r>
              <a:rPr lang="en-US" altLang="en-US" dirty="0"/>
              <a:t>Modified versions of swapping are found on many systems (i.e., UNIX, Linux, and Windows)</a:t>
            </a:r>
          </a:p>
          <a:p>
            <a:pPr lvl="1"/>
            <a:r>
              <a:rPr lang="en-US" altLang="en-US" dirty="0"/>
              <a:t>Swapping normally disabled</a:t>
            </a:r>
          </a:p>
          <a:p>
            <a:pPr lvl="1"/>
            <a:r>
              <a:rPr lang="en-US" altLang="en-US" dirty="0"/>
              <a:t>Started if more than threshold amount of memory allocated</a:t>
            </a:r>
          </a:p>
          <a:p>
            <a:pPr lvl="1"/>
            <a:r>
              <a:rPr lang="en-US" altLang="en-US" dirty="0"/>
              <a:t>Disabled again once memory demand reduced below threshold</a:t>
            </a:r>
          </a:p>
          <a:p>
            <a:pPr>
              <a:buFont typeface="Monotype Sorts" pitchFamily="-84" charset="2"/>
              <a:buNone/>
            </a:pPr>
            <a:endParaRPr lang="en-US" altLang="en-US" sz="14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4021436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21CF3F-82BB-4386-898B-2EEB6506D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8101080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2EDC249-C4AD-41C4-880C-E8A3ACCA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8066BB3-D576-4F4E-8D24-67AEA3D6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754562"/>
          </a:xfrm>
        </p:spPr>
        <p:txBody>
          <a:bodyPr/>
          <a:lstStyle/>
          <a:p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r>
              <a:rPr lang="en-US" altLang="en-US" dirty="0"/>
              <a:t>Context switch time can then be very high</a:t>
            </a:r>
          </a:p>
          <a:p>
            <a:r>
              <a:rPr lang="en-US" altLang="en-US" dirty="0"/>
              <a:t>100MB process swapping to hard disk with transfer rate of 50MB/sec</a:t>
            </a:r>
          </a:p>
          <a:p>
            <a:pPr lvl="1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/>
            <a:r>
              <a:rPr lang="en-US" altLang="en-US" dirty="0"/>
              <a:t>Plus swap in of same sized process</a:t>
            </a:r>
          </a:p>
          <a:p>
            <a:pPr lvl="1"/>
            <a:r>
              <a:rPr lang="en-US" altLang="en-US" dirty="0"/>
              <a:t>Total context switch swapping component time of 4000ms (4 seconds)</a:t>
            </a:r>
          </a:p>
          <a:p>
            <a:r>
              <a:rPr lang="en-US" altLang="en-US" dirty="0"/>
              <a:t>Can reduce if reduce size of memory swapped – by knowing how much memory really being used</a:t>
            </a:r>
          </a:p>
          <a:p>
            <a:pPr lvl="1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26270809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</a:p>
          <a:p>
            <a:pPr lvl="1"/>
            <a:r>
              <a:rPr lang="en-US" altLang="en-US" dirty="0"/>
              <a:t>Pending I/O – can’t swap out as I/O would occur to wrong process</a:t>
            </a:r>
          </a:p>
          <a:p>
            <a:pPr lvl="1"/>
            <a:r>
              <a:rPr lang="en-US" altLang="en-US" dirty="0"/>
              <a:t>Or always transfer I/O to kernel space, then to I/O device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r>
              <a:rPr lang="en-US" altLang="en-US" dirty="0"/>
              <a:t>Standard swapping not used in modern operating systems</a:t>
            </a:r>
          </a:p>
          <a:p>
            <a:pPr lvl="1"/>
            <a:r>
              <a:rPr lang="en-US" altLang="en-US" dirty="0"/>
              <a:t>But modified version common</a:t>
            </a:r>
          </a:p>
          <a:p>
            <a:pPr lvl="2"/>
            <a:r>
              <a:rPr lang="en-US" altLang="en-US" dirty="0"/>
              <a:t>Swap only when free memory extremely low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4597986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09CE51F-64DD-4B8D-BF31-A2E470ED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6533EDA-BAFB-4F4B-AD8D-AB780E3C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01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11101519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8516829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B652F6E-8935-4E03-8244-BD24D7F2B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41EA058-298F-4E9F-B388-B239FEEFE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3" y="1233488"/>
            <a:ext cx="7669765" cy="4530725"/>
          </a:xfrm>
        </p:spPr>
        <p:txBody>
          <a:bodyPr/>
          <a:lstStyle/>
          <a:p>
            <a:r>
              <a:rPr lang="en-US" altLang="en-US" dirty="0"/>
              <a:t>Dominant industry chips</a:t>
            </a:r>
          </a:p>
          <a:p>
            <a:r>
              <a:rPr lang="en-US" altLang="en-US" dirty="0"/>
              <a:t>Pentium CPUs are 32-bit and called IA-32 architecture</a:t>
            </a:r>
          </a:p>
          <a:p>
            <a:r>
              <a:rPr lang="en-US" altLang="en-US" dirty="0"/>
              <a:t>Current Intel CPUs are 64-bit and called IA-64 architecture</a:t>
            </a:r>
          </a:p>
          <a:p>
            <a:r>
              <a:rPr lang="en-US" altLang="en-US" dirty="0"/>
              <a:t>Many variations in the chips, cover the main ideas here</a:t>
            </a:r>
          </a:p>
          <a:p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18227530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DB4188C-D822-4667-96B6-5A34F2748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0E50A7-12CC-4711-932D-A49351A86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080" y="1339361"/>
            <a:ext cx="7735918" cy="4530725"/>
          </a:xfrm>
        </p:spPr>
        <p:txBody>
          <a:bodyPr/>
          <a:lstStyle/>
          <a:p>
            <a:r>
              <a:rPr lang="en-US" altLang="en-US" dirty="0"/>
              <a:t>Supports both segmentation and segmentation with paging</a:t>
            </a:r>
          </a:p>
          <a:p>
            <a:pPr lvl="1"/>
            <a:r>
              <a:rPr lang="en-US" altLang="en-US" dirty="0"/>
              <a:t>Each segment can be 4 GB</a:t>
            </a:r>
          </a:p>
          <a:p>
            <a:pPr lvl="1"/>
            <a:r>
              <a:rPr lang="en-US" altLang="en-US" dirty="0"/>
              <a:t>Up to 16 K segments per process</a:t>
            </a:r>
          </a:p>
          <a:p>
            <a:pPr lvl="1"/>
            <a:r>
              <a:rPr lang="en-US" altLang="en-US" dirty="0"/>
              <a:t>Divided into two partitions</a:t>
            </a:r>
          </a:p>
          <a:p>
            <a:pPr lvl="2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dirty="0"/>
              <a:t>))</a:t>
            </a:r>
          </a:p>
          <a:p>
            <a:pPr lvl="2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dirty="0"/>
              <a:t>))</a:t>
            </a:r>
          </a:p>
          <a:p>
            <a:endParaRPr lang="en-US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38831424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961E1DC-399D-435D-8FAC-1A1024061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606FB1F-38F1-4099-94DE-A7FB2E327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</a:p>
          <a:p>
            <a:pPr lvl="2">
              <a:defRPr/>
            </a:pPr>
            <a:r>
              <a:rPr lang="en-US" altLang="en-US" dirty="0"/>
              <a:t>Which produces linear addresses </a:t>
            </a:r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</a:p>
          <a:p>
            <a:pPr lvl="2">
              <a:defRPr/>
            </a:pPr>
            <a:r>
              <a:rPr lang="en-US" altLang="en-US" dirty="0"/>
              <a:t>Pages sizes can be 4 KB or 4 MB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>
            <a:extLst>
              <a:ext uri="{FF2B5EF4-FFF2-40B4-BE49-F238E27FC236}">
                <a16:creationId xmlns:a16="http://schemas.microsoft.com/office/drawing/2014/main" id="{1802C1BC-A147-4105-A498-ACB30341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3" y="2458776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25368490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0FC880D-958B-4972-B907-A987920BA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296" y="18858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</a:p>
        </p:txBody>
      </p:sp>
      <p:pic>
        <p:nvPicPr>
          <p:cNvPr id="64515" name="Picture 4">
            <a:extLst>
              <a:ext uri="{FF2B5EF4-FFF2-40B4-BE49-F238E27FC236}">
                <a16:creationId xmlns:a16="http://schemas.microsoft.com/office/drawing/2014/main" id="{6B1B5BAA-DC9D-46F7-82BF-E599416F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79C420AF-26CF-4190-AF70-4350F653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41870076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7E77F2B-0821-46A3-AC64-44DB6C3C6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5388" y="235762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</a:p>
        </p:txBody>
      </p:sp>
      <p:pic>
        <p:nvPicPr>
          <p:cNvPr id="65539" name="Picture 4" descr="8">
            <a:extLst>
              <a:ext uri="{FF2B5EF4-FFF2-40B4-BE49-F238E27FC236}">
                <a16:creationId xmlns:a16="http://schemas.microsoft.com/office/drawing/2014/main" id="{7D194F7E-28F0-4FDC-A111-00416AFA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8004039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A802929-8C9E-4AD9-851A-726A5C7B0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</a:p>
        </p:txBody>
      </p:sp>
      <p:pic>
        <p:nvPicPr>
          <p:cNvPr id="66563" name="Picture 4">
            <a:extLst>
              <a:ext uri="{FF2B5EF4-FFF2-40B4-BE49-F238E27FC236}">
                <a16:creationId xmlns:a16="http://schemas.microsoft.com/office/drawing/2014/main" id="{EA02C8D5-7EBE-42A0-8DC3-0C75C34F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6021247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DC08348-F45E-462A-893E-7E31B70AB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3909" y="232975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</a:p>
        </p:txBody>
      </p:sp>
      <p:pic>
        <p:nvPicPr>
          <p:cNvPr id="67587" name="Picture 1" descr="8_24.pdf">
            <a:extLst>
              <a:ext uri="{FF2B5EF4-FFF2-40B4-BE49-F238E27FC236}">
                <a16:creationId xmlns:a16="http://schemas.microsoft.com/office/drawing/2014/main" id="{6D2F7BE4-39DD-4438-B0C4-831E2E7E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3">
            <a:extLst>
              <a:ext uri="{FF2B5EF4-FFF2-40B4-BE49-F238E27FC236}">
                <a16:creationId xmlns:a16="http://schemas.microsoft.com/office/drawing/2014/main" id="{D2FBD04E-0AD5-4B90-A5FE-1CCDF58FD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90" y="1108075"/>
            <a:ext cx="7869236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3498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8E4418B-4D1F-4C2F-86CA-BEEA5DC9A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79EF759-8E97-43E4-B675-04E06FE8D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</a:p>
        </p:txBody>
      </p:sp>
      <p:pic>
        <p:nvPicPr>
          <p:cNvPr id="68612" name="Picture 2" descr="8_25.pdf">
            <a:extLst>
              <a:ext uri="{FF2B5EF4-FFF2-40B4-BE49-F238E27FC236}">
                <a16:creationId xmlns:a16="http://schemas.microsoft.com/office/drawing/2014/main" id="{BDCE453A-1476-4754-9D6F-16790CEC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6043989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9E9CEB5-71D0-4017-B08A-E02B75FA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3438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0CE6398-8797-4635-8426-2FD70A2B2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10" y="1169988"/>
            <a:ext cx="3522728" cy="514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1600" dirty="0">
                <a:latin typeface="Helvetica" panose="020B0604020202020204" pitchFamily="34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Two levels of TLBs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Outer level has two micro TLBs (one data, one instruction)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Inner is single main TLB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pic>
        <p:nvPicPr>
          <p:cNvPr id="69636" name="Picture 1" descr="8_26.pdf">
            <a:extLst>
              <a:ext uri="{FF2B5EF4-FFF2-40B4-BE49-F238E27FC236}">
                <a16:creationId xmlns:a16="http://schemas.microsoft.com/office/drawing/2014/main" id="{3DED2F29-124C-4CCE-957C-91AC27FE8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1576388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41148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8784" y="6032369"/>
            <a:ext cx="8763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100" dirty="0">
                <a:solidFill>
                  <a:srgbClr val="FF0000"/>
                </a:solidFill>
              </a:rPr>
              <a:t>KIẾN THỨC - KỸ NĂNG - SÁNG TẠO - HỘI NHẬP</a:t>
            </a:r>
          </a:p>
          <a:p>
            <a:pPr algn="just" eaLnBrk="1" hangingPunct="1"/>
            <a:r>
              <a:rPr lang="en-US" altLang="en-US" sz="1100" dirty="0" err="1"/>
              <a:t>Sứ</a:t>
            </a:r>
            <a:r>
              <a:rPr lang="en-US" altLang="en-US" sz="1100" dirty="0"/>
              <a:t> </a:t>
            </a:r>
            <a:r>
              <a:rPr lang="en-US" altLang="en-US" sz="1100" dirty="0" err="1"/>
              <a:t>mệnh</a:t>
            </a:r>
            <a:r>
              <a:rPr lang="en-US" altLang="en-US" sz="1100" dirty="0"/>
              <a:t> - </a:t>
            </a:r>
            <a:r>
              <a:rPr lang="en-US" altLang="en-US" sz="1100" dirty="0" err="1"/>
              <a:t>Tầm</a:t>
            </a:r>
            <a:r>
              <a:rPr lang="en-US" altLang="en-US" sz="1100" dirty="0"/>
              <a:t> </a:t>
            </a:r>
            <a:r>
              <a:rPr lang="en-US" altLang="en-US" sz="1100" dirty="0" err="1"/>
              <a:t>nhìn</a:t>
            </a:r>
            <a:r>
              <a:rPr lang="en-US" altLang="en-US" sz="1100" dirty="0"/>
              <a:t>: https://ut.edu.vn/articles/su-menh---tam-nhin-13.html</a:t>
            </a:r>
          </a:p>
          <a:p>
            <a:pPr algn="just" eaLnBrk="1" hangingPunct="1"/>
            <a:r>
              <a:rPr lang="en-US" altLang="en-US" sz="1100" dirty="0" err="1"/>
              <a:t>Triết</a:t>
            </a:r>
            <a:r>
              <a:rPr lang="en-US" altLang="en-US" sz="1100" dirty="0"/>
              <a:t> </a:t>
            </a:r>
            <a:r>
              <a:rPr lang="en-US" altLang="en-US" sz="1100" dirty="0" err="1"/>
              <a:t>lý</a:t>
            </a:r>
            <a:r>
              <a:rPr lang="en-US" altLang="en-US" sz="1100" dirty="0"/>
              <a:t> </a:t>
            </a:r>
            <a:r>
              <a:rPr lang="en-US" altLang="en-US" sz="1100" dirty="0" err="1"/>
              <a:t>giáo</a:t>
            </a:r>
            <a:r>
              <a:rPr lang="en-US" altLang="en-US" sz="1100" dirty="0"/>
              <a:t> </a:t>
            </a:r>
            <a:r>
              <a:rPr lang="en-US" altLang="en-US" sz="1100" dirty="0" err="1"/>
              <a:t>dục</a:t>
            </a:r>
            <a:r>
              <a:rPr lang="en-US" altLang="en-US" sz="1100" dirty="0"/>
              <a:t>: https://ut.edu.vn/articles/triet-ly-giao-duc-119.html</a:t>
            </a:r>
          </a:p>
        </p:txBody>
      </p:sp>
    </p:spTree>
    <p:extLst>
      <p:ext uri="{BB962C8B-B14F-4D97-AF65-F5344CB8AC3E}">
        <p14:creationId xmlns:p14="http://schemas.microsoft.com/office/powerpoint/2010/main" val="4007812463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12845</TotalTime>
  <Words>4825</Words>
  <Application>Microsoft Office PowerPoint</Application>
  <PresentationFormat>On-screen Show (4:3)</PresentationFormat>
  <Paragraphs>682</Paragraphs>
  <Slides>67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9" baseType="lpstr">
      <vt:lpstr>ＭＳ Ｐゴシック</vt:lpstr>
      <vt:lpstr>ＭＳ Ｐゴシック</vt:lpstr>
      <vt:lpstr>Arial</vt:lpstr>
      <vt:lpstr>Courier New</vt:lpstr>
      <vt:lpstr>Helvetica</vt:lpstr>
      <vt:lpstr>Monotype Sorts</vt:lpstr>
      <vt:lpstr>Symbol</vt:lpstr>
      <vt:lpstr>Times New Roman</vt:lpstr>
      <vt:lpstr>Verdana</vt:lpstr>
      <vt:lpstr>Webdings</vt:lpstr>
      <vt:lpstr>Wingdings</vt:lpstr>
      <vt:lpstr>os-8</vt:lpstr>
      <vt:lpstr>Chapter 9:  Main Memory</vt:lpstr>
      <vt:lpstr>Chapter 9:  Memory Management</vt:lpstr>
      <vt:lpstr>Objectives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Dell</cp:lastModifiedBy>
  <cp:revision>345</cp:revision>
  <cp:lastPrinted>2013-09-30T19:34:56Z</cp:lastPrinted>
  <dcterms:created xsi:type="dcterms:W3CDTF">2011-01-13T23:43:38Z</dcterms:created>
  <dcterms:modified xsi:type="dcterms:W3CDTF">2022-03-28T13:18:02Z</dcterms:modified>
</cp:coreProperties>
</file>