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331" r:id="rId2"/>
    <p:sldId id="332" r:id="rId3"/>
    <p:sldId id="333" r:id="rId4"/>
    <p:sldId id="334" r:id="rId5"/>
    <p:sldId id="418" r:id="rId6"/>
    <p:sldId id="335" r:id="rId7"/>
    <p:sldId id="337" r:id="rId8"/>
    <p:sldId id="381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4635"/>
  </p:normalViewPr>
  <p:slideViewPr>
    <p:cSldViewPr snapToGrid="0">
      <p:cViewPr varScale="1">
        <p:scale>
          <a:sx n="81" d="100"/>
          <a:sy n="81" d="100"/>
        </p:scale>
        <p:origin x="1565" y="29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55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5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1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11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8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75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13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0EE328B-BE68-481B-A918-E117CF2E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DD82269-6038-4DC7-9DB9-33CC07A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F423CC-D04E-4FEB-90EB-369DCBB9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BC97BB-8A12-40A3-B5F2-69DC5101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DBF570C-E8F3-4209-82B7-AC2D00088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AD91054-EF57-4D49-A1B2-120B5F4B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CF2C6-6AD0-42E6-B742-6900D0A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52438FC-02CE-45C2-B0C5-D0E79E96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40D0A5C9-1564-450C-8B21-348FDB204F4D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F5650-E826-4410-A822-722A1D58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924BF04-C0A2-4C41-BCF7-E1064F22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C30FAE5-2DCB-4F75-996C-0AB71A9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599719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225461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09170"/>
            <a:ext cx="7588250" cy="4530725"/>
          </a:xfrm>
        </p:spPr>
        <p:txBody>
          <a:bodyPr/>
          <a:lstStyle/>
          <a:p>
            <a:r>
              <a:rPr lang="en-US" altLang="en-US" dirty="0"/>
              <a:t>System Model</a:t>
            </a:r>
          </a:p>
          <a:p>
            <a:r>
              <a:rPr lang="en-US" altLang="en-US" dirty="0"/>
              <a:t>Deadlock Characterization</a:t>
            </a:r>
          </a:p>
          <a:p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r>
              <a:rPr lang="en-US" altLang="en-US" dirty="0"/>
              <a:t>Deadlock Avoidance</a:t>
            </a:r>
          </a:p>
          <a:p>
            <a:r>
              <a:rPr lang="en-US" altLang="en-US" dirty="0"/>
              <a:t>Deadlock Detection </a:t>
            </a:r>
          </a:p>
          <a:p>
            <a:r>
              <a:rPr lang="en-US" altLang="en-US" dirty="0"/>
              <a:t>Recovery from Deadlock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308136"/>
            <a:ext cx="7772400" cy="4500562"/>
          </a:xfrm>
        </p:spPr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endParaRPr lang="en-US" altLang="en-US" dirty="0"/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92485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834" y="1354816"/>
            <a:ext cx="7351712" cy="4483100"/>
          </a:xfrm>
        </p:spPr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1"/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17586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7360" y="1331338"/>
            <a:ext cx="6959600" cy="4860925"/>
          </a:xfrm>
        </p:spPr>
        <p:txBody>
          <a:bodyPr/>
          <a:lstStyle/>
          <a:p>
            <a:r>
              <a:rPr lang="en-US" altLang="en-US" dirty="0"/>
              <a:t>Data: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S1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S2 </a:t>
            </a:r>
            <a:r>
              <a:rPr lang="en-US" altLang="en-US" dirty="0"/>
              <a:t>initialized to 1</a:t>
            </a:r>
          </a:p>
          <a:p>
            <a:r>
              <a:rPr lang="en-US" altLang="en-US" dirty="0"/>
              <a:t>Two processes P1 and P2</a:t>
            </a:r>
          </a:p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P1: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wait(s1)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wait(s2)</a:t>
            </a:r>
          </a:p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P2: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wait(s2)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wait(s1)</a:t>
            </a: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281" y="1685190"/>
            <a:ext cx="6757437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226620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09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8253" y="1771945"/>
            <a:ext cx="6574810" cy="4019550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522" y="1300748"/>
            <a:ext cx="4275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 set of vertices </a:t>
            </a:r>
            <a:r>
              <a:rPr kumimoji="0" lang="en-US" altLang="en-US" i="1" dirty="0"/>
              <a:t>V</a:t>
            </a:r>
            <a:r>
              <a:rPr kumimoji="0" lang="en-US" altLang="en-US" dirty="0"/>
              <a:t> and a set of edges </a:t>
            </a:r>
            <a:r>
              <a:rPr kumimoji="0" lang="en-US" altLang="en-US" i="1" dirty="0"/>
              <a:t>E</a:t>
            </a:r>
            <a:r>
              <a:rPr kumimoji="0" lang="en-US" altLang="en-US" dirty="0"/>
              <a:t>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65" y="214006"/>
            <a:ext cx="7880350" cy="537202"/>
          </a:xfrm>
        </p:spPr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4524375" cy="4530725"/>
          </a:xfrm>
        </p:spPr>
        <p:txBody>
          <a:bodyPr/>
          <a:lstStyle/>
          <a:p>
            <a:r>
              <a:rPr lang="en-US" altLang="en-US" dirty="0"/>
              <a:t>One instance of R1</a:t>
            </a:r>
          </a:p>
          <a:p>
            <a:r>
              <a:rPr lang="en-US" altLang="en-US" dirty="0"/>
              <a:t>Two instances of R2</a:t>
            </a:r>
          </a:p>
          <a:p>
            <a:r>
              <a:rPr lang="en-US" altLang="en-US" dirty="0"/>
              <a:t>One instance of R3</a:t>
            </a:r>
          </a:p>
          <a:p>
            <a:r>
              <a:rPr lang="en-US" altLang="en-US" dirty="0"/>
              <a:t>Three instance of R4</a:t>
            </a:r>
          </a:p>
          <a:p>
            <a:r>
              <a:rPr lang="en-US" altLang="en-US" dirty="0"/>
              <a:t>T1 holds one instance of R2 and is waiting for an instance of R1</a:t>
            </a:r>
          </a:p>
          <a:p>
            <a:r>
              <a:rPr lang="en-US" altLang="en-US" dirty="0"/>
              <a:t>T2 holds one instance of R1, one instance of R2, and is waiting for an instance of R3</a:t>
            </a:r>
          </a:p>
          <a:p>
            <a:r>
              <a:rPr lang="en-US" altLang="en-US" dirty="0"/>
              <a:t>T3 is holds one instance of R3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8074" y="2216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411" y="195812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216" y="1423143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7635000" cy="4400550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49" y="1198563"/>
            <a:ext cx="7577137" cy="3295650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226431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3773" y="1717511"/>
            <a:ext cx="7237084" cy="3822700"/>
          </a:xfrm>
        </p:spPr>
        <p:txBody>
          <a:bodyPr/>
          <a:lstStyle/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6" y="1196734"/>
            <a:ext cx="7800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85853"/>
            <a:ext cx="7683500" cy="4446588"/>
          </a:xfrm>
        </p:spPr>
        <p:txBody>
          <a:bodyPr/>
          <a:lstStyle/>
          <a:p>
            <a:r>
              <a:rPr lang="en-US" altLang="en-US" b="1" dirty="0"/>
              <a:t>No Preemption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dirty="0"/>
              <a:t>Preempted resources are added to the list of resources for which the process is waiting</a:t>
            </a:r>
          </a:p>
          <a:p>
            <a:pPr lvl="1"/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r>
              <a:rPr lang="en-US" altLang="en-US" b="1" dirty="0"/>
              <a:t>Circular Wait:</a:t>
            </a:r>
          </a:p>
          <a:p>
            <a:pPr lvl="1"/>
            <a:r>
              <a:rPr lang="en-US" altLang="en-US" dirty="0"/>
              <a:t>Impose a total ordering of all resource types, and require that each process requests resources in an increasing order of enumeration</a:t>
            </a:r>
          </a:p>
          <a:p>
            <a:pPr lvl="1"/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10125"/>
          </a:xfrm>
        </p:spPr>
        <p:txBody>
          <a:bodyPr/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(i.e.,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11363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63888" y="4160838"/>
            <a:ext cx="2214562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22643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971" y="1814513"/>
            <a:ext cx="7296539" cy="3783012"/>
          </a:xfrm>
        </p:spPr>
        <p:txBody>
          <a:bodyPr/>
          <a:lstStyle/>
          <a:p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17" y="1098550"/>
            <a:ext cx="767909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83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10438" cy="4914562"/>
          </a:xfrm>
        </p:spPr>
        <p:txBody>
          <a:bodyPr/>
          <a:lstStyle/>
          <a:p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337" y="1190625"/>
            <a:ext cx="7652495" cy="44148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5461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62088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41336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989" y="235762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7" y="1155700"/>
            <a:ext cx="7697333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079" y="355636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77" y="142369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7952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438275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2747" y="234792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015" y="1187450"/>
            <a:ext cx="7656512" cy="4303713"/>
          </a:xfrm>
        </p:spPr>
        <p:txBody>
          <a:bodyPr/>
          <a:lstStyle/>
          <a:p>
            <a:r>
              <a:rPr lang="en-US" altLang="en-US" dirty="0"/>
              <a:t>Suppose that process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7706664" cy="4441825"/>
          </a:xfrm>
        </p:spPr>
        <p:txBody>
          <a:bodyPr/>
          <a:lstStyle/>
          <a:p>
            <a:r>
              <a:rPr lang="en-US" altLang="en-US" dirty="0"/>
              <a:t>Multiple instances of resources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process must a priori claim maximum use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gets all its resources it must return them in a finite amount of time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4237" y="383009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5"/>
            <a:ext cx="7370762" cy="4387850"/>
          </a:xfrm>
        </p:spPr>
        <p:txBody>
          <a:bodyPr/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57288"/>
            <a:ext cx="7372350" cy="49434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  </a:t>
            </a:r>
            <a:r>
              <a:rPr lang="en-US" altLang="en-US" dirty="0"/>
              <a:t>go to step 2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altLang="en-US" sz="7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b="1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36379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1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36650"/>
            <a:ext cx="7854205" cy="464026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413" y="1103313"/>
            <a:ext cx="7869237" cy="5103812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235762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5" y="1233488"/>
            <a:ext cx="7527990" cy="4530725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686" y="-19986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/>
          <a:lstStyle/>
          <a:p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graph</a:t>
            </a:r>
          </a:p>
          <a:p>
            <a:pPr lvl="1"/>
            <a:r>
              <a:rPr lang="en-US" altLang="en-US" dirty="0"/>
              <a:t>Nodes are processes</a:t>
            </a:r>
          </a:p>
          <a:p>
            <a:pPr lvl="1"/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b="1" i="1" dirty="0" err="1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dirty="0">
                <a:sym typeface="Symbol" panose="05050102010706020507" pitchFamily="18" charset="2"/>
              </a:rPr>
              <a:t/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i="1" dirty="0">
              <a:sym typeface="Symbol" panose="05050102010706020507" pitchFamily="18" charset="2"/>
            </a:endParaRPr>
          </a:p>
          <a:p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164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1252538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6331" y="131947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580215" cy="385127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process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process.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process</a:t>
            </a:r>
            <a:r>
              <a:rPr lang="en-US" altLang="en-US" i="1" dirty="0"/>
              <a:t>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415" y="236379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dirty="0"/>
              <a:t> 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 0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</a:t>
            </a:r>
            <a:r>
              <a:rPr lang="en-US" altLang="en-US" b="1" i="1" dirty="0">
                <a:sym typeface="Symbol" panose="05050102010706020507" pitchFamily="18" charset="2"/>
              </a:rPr>
              <a:t>= false</a:t>
            </a:r>
            <a:r>
              <a:rPr lang="en-US" altLang="en-US" dirty="0">
                <a:sym typeface="Symbol" panose="05050102010706020507" pitchFamily="18" charset="2"/>
              </a:rPr>
              <a:t>; otherwise,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= </a:t>
            </a:r>
            <a:r>
              <a:rPr lang="en-US" altLang="en-US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dirty="0">
              <a:sym typeface="Symbol" panose="05050102010706020507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dirty="0"/>
              <a:t>go to step 2</a:t>
            </a:r>
            <a:br>
              <a:rPr lang="en-US" altLang="en-US" dirty="0"/>
            </a:br>
            <a:r>
              <a:rPr lang="en-US" altLang="en-US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dirty="0"/>
              <a:t>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>
              <a:solidFill>
                <a:srgbClr val="FF0066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122363"/>
            <a:ext cx="7742205" cy="4530725"/>
          </a:xfrm>
        </p:spPr>
        <p:txBody>
          <a:bodyPr/>
          <a:lstStyle/>
          <a:p>
            <a:r>
              <a:rPr lang="en-US" altLang="en-US" dirty="0"/>
              <a:t>When, and how often, to invoke depends on:</a:t>
            </a:r>
          </a:p>
          <a:p>
            <a:pPr lvl="1"/>
            <a:r>
              <a:rPr lang="en-US" altLang="en-US" dirty="0"/>
              <a:t>How often a deadlock is likely to occur?</a:t>
            </a:r>
          </a:p>
          <a:p>
            <a:pPr lvl="1"/>
            <a:r>
              <a:rPr lang="en-US" altLang="en-US" dirty="0"/>
              <a:t>How many processes will need to be rolled back?</a:t>
            </a:r>
          </a:p>
          <a:p>
            <a:pPr lvl="2"/>
            <a:r>
              <a:rPr lang="en-US" altLang="en-US" dirty="0"/>
              <a:t>one for each disjoint cycle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731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/>
          <a:lstStyle/>
          <a:p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6802437" cy="4483100"/>
          </a:xfrm>
        </p:spPr>
        <p:txBody>
          <a:bodyPr/>
          <a:lstStyle/>
          <a:p>
            <a:r>
              <a:rPr lang="en-US" altLang="en-US" b="1"/>
              <a:t>Selecting a victim </a:t>
            </a:r>
            <a:r>
              <a:rPr lang="en-US" altLang="en-US"/>
              <a:t>– minimize cost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Rollback</a:t>
            </a:r>
            <a:r>
              <a:rPr lang="en-US" altLang="en-US"/>
              <a:t> – return to some safe state, restart process for that state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Starvation</a:t>
            </a:r>
            <a:r>
              <a:rPr lang="en-US" altLang="en-US"/>
              <a:t> –  same process may always be picked as victim, include number of rollback in cost factor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9075" y="5987772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11563</TotalTime>
  <Words>2484</Words>
  <Application>Microsoft Office PowerPoint</Application>
  <PresentationFormat>On-screen Show (4:3)</PresentationFormat>
  <Paragraphs>447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ＭＳ Ｐゴシック</vt:lpstr>
      <vt:lpstr>ＭＳ Ｐゴシック</vt:lpstr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8:  Deadlocks</vt:lpstr>
      <vt:lpstr>Outline</vt:lpstr>
      <vt:lpstr>Chapter Objectives</vt:lpstr>
      <vt:lpstr>System Model</vt:lpstr>
      <vt:lpstr>Deadlock with Semaphores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Dell</cp:lastModifiedBy>
  <cp:revision>229</cp:revision>
  <cp:lastPrinted>2013-09-10T17:57:57Z</cp:lastPrinted>
  <dcterms:created xsi:type="dcterms:W3CDTF">2011-01-13T23:43:38Z</dcterms:created>
  <dcterms:modified xsi:type="dcterms:W3CDTF">2022-03-22T22:23:13Z</dcterms:modified>
</cp:coreProperties>
</file>