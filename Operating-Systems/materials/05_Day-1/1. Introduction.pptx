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6"/>
  </p:notesMasterIdLst>
  <p:handoutMasterIdLst>
    <p:handoutMasterId r:id="rId77"/>
  </p:handoutMasterIdLst>
  <p:sldIdLst>
    <p:sldId id="330" r:id="rId2"/>
    <p:sldId id="347" r:id="rId3"/>
    <p:sldId id="348" r:id="rId4"/>
    <p:sldId id="417" r:id="rId5"/>
    <p:sldId id="349" r:id="rId6"/>
    <p:sldId id="350" r:id="rId7"/>
    <p:sldId id="411" r:id="rId8"/>
    <p:sldId id="352" r:id="rId9"/>
    <p:sldId id="353" r:id="rId10"/>
    <p:sldId id="354" r:id="rId11"/>
    <p:sldId id="421" r:id="rId12"/>
    <p:sldId id="356" r:id="rId13"/>
    <p:sldId id="357" r:id="rId14"/>
    <p:sldId id="358" r:id="rId15"/>
    <p:sldId id="360" r:id="rId16"/>
    <p:sldId id="359" r:id="rId17"/>
    <p:sldId id="413" r:id="rId18"/>
    <p:sldId id="420" r:id="rId19"/>
    <p:sldId id="361" r:id="rId20"/>
    <p:sldId id="419" r:id="rId21"/>
    <p:sldId id="422" r:id="rId22"/>
    <p:sldId id="423" r:id="rId23"/>
    <p:sldId id="363" r:id="rId24"/>
    <p:sldId id="393" r:id="rId25"/>
    <p:sldId id="364" r:id="rId26"/>
    <p:sldId id="408" r:id="rId27"/>
    <p:sldId id="404" r:id="rId28"/>
    <p:sldId id="403" r:id="rId29"/>
    <p:sldId id="375" r:id="rId30"/>
    <p:sldId id="426" r:id="rId31"/>
    <p:sldId id="427" r:id="rId32"/>
    <p:sldId id="374" r:id="rId33"/>
    <p:sldId id="429" r:id="rId34"/>
    <p:sldId id="430" r:id="rId35"/>
    <p:sldId id="376" r:id="rId36"/>
    <p:sldId id="377" r:id="rId37"/>
    <p:sldId id="378" r:id="rId38"/>
    <p:sldId id="379" r:id="rId39"/>
    <p:sldId id="380" r:id="rId40"/>
    <p:sldId id="381" r:id="rId41"/>
    <p:sldId id="366" r:id="rId42"/>
    <p:sldId id="435" r:id="rId43"/>
    <p:sldId id="407" r:id="rId44"/>
    <p:sldId id="384" r:id="rId45"/>
    <p:sldId id="385" r:id="rId46"/>
    <p:sldId id="391" r:id="rId47"/>
    <p:sldId id="409" r:id="rId48"/>
    <p:sldId id="400" r:id="rId49"/>
    <p:sldId id="434" r:id="rId50"/>
    <p:sldId id="424" r:id="rId51"/>
    <p:sldId id="367" r:id="rId52"/>
    <p:sldId id="369" r:id="rId53"/>
    <p:sldId id="370" r:id="rId54"/>
    <p:sldId id="414" r:id="rId55"/>
    <p:sldId id="371" r:id="rId56"/>
    <p:sldId id="372" r:id="rId57"/>
    <p:sldId id="416" r:id="rId58"/>
    <p:sldId id="425" r:id="rId59"/>
    <p:sldId id="386" r:id="rId60"/>
    <p:sldId id="432" r:id="rId61"/>
    <p:sldId id="398" r:id="rId62"/>
    <p:sldId id="389" r:id="rId63"/>
    <p:sldId id="390" r:id="rId64"/>
    <p:sldId id="401" r:id="rId65"/>
    <p:sldId id="431" r:id="rId66"/>
    <p:sldId id="402" r:id="rId67"/>
    <p:sldId id="387" r:id="rId68"/>
    <p:sldId id="392" r:id="rId69"/>
    <p:sldId id="412" r:id="rId70"/>
    <p:sldId id="436" r:id="rId71"/>
    <p:sldId id="394" r:id="rId72"/>
    <p:sldId id="395" r:id="rId73"/>
    <p:sldId id="396" r:id="rId74"/>
    <p:sldId id="331" r:id="rId75"/>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3" autoAdjust="0"/>
    <p:restoredTop sz="94667"/>
  </p:normalViewPr>
  <p:slideViewPr>
    <p:cSldViewPr snapToGrid="0">
      <p:cViewPr varScale="1">
        <p:scale>
          <a:sx n="78" d="100"/>
          <a:sy n="78" d="100"/>
        </p:scale>
        <p:origin x="1478" y="67"/>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Thanh Tiến" userId="9b39352b4acef877" providerId="LiveId" clId="{80BB019C-0CD9-4A5B-B602-EF1A666DB6E0}"/>
    <pc:docChg chg="modShowInfo">
      <pc:chgData name="Nguyễn Thanh Tiến" userId="9b39352b4acef877" providerId="LiveId" clId="{80BB019C-0CD9-4A5B-B602-EF1A666DB6E0}" dt="2024-10-05T05:28:46.700" v="1" actId="2744"/>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1117600" y="696913"/>
            <a:ext cx="46482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1117600" y="696913"/>
            <a:ext cx="46482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1117600" y="696913"/>
            <a:ext cx="46482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1117600" y="696913"/>
            <a:ext cx="46482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1117600" y="696913"/>
            <a:ext cx="46482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934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70</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13001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7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a:t>What Operating Systems Do</a:t>
            </a:r>
          </a:p>
          <a:p>
            <a:r>
              <a:rPr lang="en-US" altLang="en-US"/>
              <a:t>Computer-System Organization</a:t>
            </a:r>
          </a:p>
          <a:p>
            <a:r>
              <a:rPr lang="en-US" altLang="en-US"/>
              <a:t>Computer-System Architecture</a:t>
            </a:r>
          </a:p>
          <a:p>
            <a:r>
              <a:rPr lang="en-US" altLang="en-US"/>
              <a:t>Operating-System Operations</a:t>
            </a:r>
          </a:p>
          <a:p>
            <a:r>
              <a:rPr lang="en-US" altLang="en-US"/>
              <a:t>Resource Management</a:t>
            </a:r>
          </a:p>
          <a:p>
            <a:r>
              <a:rPr lang="en-US" altLang="en-US"/>
              <a:t>Security and Protection</a:t>
            </a:r>
          </a:p>
          <a:p>
            <a:r>
              <a:rPr lang="en-US" altLang="en-US"/>
              <a:t>Virtualization</a:t>
            </a:r>
          </a:p>
          <a:p>
            <a:r>
              <a:rPr lang="en-US" altLang="en-US"/>
              <a:t>Distributed Systems</a:t>
            </a:r>
          </a:p>
          <a:p>
            <a:r>
              <a:rPr lang="en-US" altLang="en-US"/>
              <a:t>Kernel Data Structures</a:t>
            </a:r>
          </a:p>
          <a:p>
            <a:r>
              <a:rPr lang="en-US" altLang="en-US"/>
              <a:t>Computing Environments</a:t>
            </a:r>
          </a:p>
          <a:p>
            <a:r>
              <a:rPr lang="en-US" altLang="en-US"/>
              <a:t>Free/Libre and Open-Source Operating Systems</a:t>
            </a:r>
          </a:p>
          <a:p>
            <a:pPr>
              <a:buFont typeface="Monotype Sorts" pitchFamily="-84" charset="2"/>
              <a:buNone/>
            </a:pPr>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a:t>Describe the general organization of a computer system and the role of interrupts</a:t>
            </a:r>
          </a:p>
          <a:p>
            <a:r>
              <a:rPr lang="en-US" altLang="en-US"/>
              <a:t>Describe the components in a modern, multiprocessor computer system</a:t>
            </a:r>
          </a:p>
          <a:p>
            <a:r>
              <a:rPr lang="en-US" altLang="en-US"/>
              <a:t>Illustrate the transition from user mode to kernel mode</a:t>
            </a:r>
          </a:p>
          <a:p>
            <a:r>
              <a:rPr lang="en-US" altLang="en-US"/>
              <a:t>Discuss how operating systems are used in various computing environments</a:t>
            </a:r>
          </a:p>
          <a:p>
            <a:r>
              <a:rPr lang="en-US" altLang="en-US"/>
              <a:t>Provide examples of free and open-source operating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An operating system is “fill in the blanks”</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p:txBody>
      </p:sp>
    </p:spTree>
    <p:extLst>
      <p:ext uri="{BB962C8B-B14F-4D97-AF65-F5344CB8AC3E}">
        <p14:creationId xmlns:p14="http://schemas.microsoft.com/office/powerpoint/2010/main" val="132303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925513" y="1268413"/>
            <a:ext cx="7121525" cy="4159250"/>
          </a:xfrm>
        </p:spPr>
        <p:txBody>
          <a:bodyPr/>
          <a:lstStyle/>
          <a:p>
            <a:r>
              <a:rPr lang="en-US" altLang="en-US"/>
              <a:t>A program that acts as an intermediary between a user of a computer and the computer hardware</a:t>
            </a:r>
          </a:p>
          <a:p>
            <a:r>
              <a:rPr lang="en-US" altLang="en-US"/>
              <a:t>Operating system goals:</a:t>
            </a:r>
          </a:p>
          <a:p>
            <a:pPr lvl="1"/>
            <a:r>
              <a:rPr lang="en-US" altLang="en-US"/>
              <a:t>Execute user programs and make solving user problems easier</a:t>
            </a:r>
          </a:p>
          <a:p>
            <a:pPr lvl="1"/>
            <a:r>
              <a:rPr lang="en-US" altLang="en-US"/>
              <a:t>Make the computer system convenient to use</a:t>
            </a:r>
          </a:p>
          <a:p>
            <a:pPr lvl="1"/>
            <a:r>
              <a:rPr lang="en-US" altLang="en-US"/>
              <a:t>Use the computer hardware in an efficient manner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01688" y="1204913"/>
            <a:ext cx="7772400" cy="4483100"/>
          </a:xfrm>
        </p:spPr>
        <p:txBody>
          <a:bodyPr/>
          <a:lstStyle/>
          <a:p>
            <a:r>
              <a:rPr lang="en-US" altLang="en-US"/>
              <a:t>Computer system can be divided into four components:</a:t>
            </a:r>
          </a:p>
          <a:p>
            <a:pPr lvl="1"/>
            <a:r>
              <a:rPr lang="en-US" altLang="en-US"/>
              <a:t>Hardware – provides basic computing resources</a:t>
            </a:r>
          </a:p>
          <a:p>
            <a:pPr lvl="2"/>
            <a:r>
              <a:rPr lang="en-US" altLang="en-US"/>
              <a:t>CPU, memory, I/O devices</a:t>
            </a:r>
          </a:p>
          <a:p>
            <a:pPr lvl="1"/>
            <a:r>
              <a:rPr lang="en-US" altLang="en-US"/>
              <a:t>Operating system</a:t>
            </a:r>
          </a:p>
          <a:p>
            <a:pPr lvl="2"/>
            <a:r>
              <a:rPr lang="en-US" altLang="en-US"/>
              <a:t>Controls and coordinates use of hardware among various applications and users</a:t>
            </a:r>
          </a:p>
          <a:p>
            <a:pPr lvl="1"/>
            <a:r>
              <a:rPr lang="en-US" altLang="en-US"/>
              <a:t>Application programs – define the ways in which the system resources are used to solve the computing problems of the users</a:t>
            </a:r>
          </a:p>
          <a:p>
            <a:pPr lvl="2"/>
            <a:r>
              <a:rPr lang="en-US" altLang="en-US"/>
              <a:t>Word processors, compilers, web browsers, database systems, video games</a:t>
            </a:r>
          </a:p>
          <a:p>
            <a:pPr lvl="1"/>
            <a:r>
              <a:rPr lang="en-US" altLang="en-US"/>
              <a:t>Users</a:t>
            </a:r>
          </a:p>
          <a:p>
            <a:pPr lvl="2"/>
            <a:r>
              <a:rPr lang="en-US" altLang="en-US"/>
              <a:t>People, machines, other computers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46125" y="1120775"/>
            <a:ext cx="7940675" cy="4530725"/>
          </a:xfrm>
        </p:spPr>
        <p:txBody>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designs and uses of OSes</a:t>
            </a:r>
          </a:p>
          <a:p>
            <a:pPr lvl="1"/>
            <a:r>
              <a:rPr lang="en-US" altLang="en-US" dirty="0"/>
              <a:t>Present in toasters through ships, spacecraft, game machines, TVs and industrial control systems</a:t>
            </a:r>
          </a:p>
          <a:p>
            <a:pPr lvl="1"/>
            <a:r>
              <a:rPr lang="en-US" altLang="en-US" dirty="0"/>
              <a:t>Born when fixed use computers for military became more general purpose and needed resource management and program control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additional services to application developers such as databases, multimedia, graphics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233488"/>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06450" y="1233489"/>
            <a:ext cx="7390099" cy="4528334"/>
          </a:xfrm>
        </p:spPr>
        <p:txBody>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946150" y="195263"/>
            <a:ext cx="7591425" cy="576262"/>
          </a:xfrm>
        </p:spPr>
        <p:txBody>
          <a:bodyPr/>
          <a:lstStyle/>
          <a:p>
            <a:pPr eaLnBrk="1" hangingPunct="1"/>
            <a:r>
              <a:rPr lang="en-US" altLang="en-US"/>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806451" y="1233489"/>
            <a:ext cx="6993492" cy="4385114"/>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a:t>
            </a:r>
            <a:r>
              <a:rPr lang="en-US" altLang="en-US" dirty="0"/>
              <a:t> or </a:t>
            </a:r>
            <a:r>
              <a:rPr lang="en-US" altLang="en-US" b="1" dirty="0">
                <a:solidFill>
                  <a:srgbClr val="006699"/>
                </a:solidFill>
                <a:latin typeface="+mj-lt"/>
              </a:rPr>
              <a:t>exception </a:t>
            </a:r>
            <a:r>
              <a:rPr lang="en-US" altLang="en-US" dirty="0"/>
              <a:t>is a software-generated interrupt caused either by an error or a user request</a:t>
            </a:r>
            <a:endParaRPr lang="en-US" altLang="en-US" sz="800" dirty="0"/>
          </a:p>
          <a:p>
            <a:r>
              <a:rPr lang="en-US" altLang="en-US" dirty="0"/>
              <a:t>An operating system is </a:t>
            </a:r>
            <a:r>
              <a:rPr lang="en-US" altLang="en-US" b="1" dirty="0">
                <a:solidFill>
                  <a:srgbClr val="006699"/>
                </a:solidFill>
                <a:latin typeface="+mj-lt"/>
              </a:rPr>
              <a:t>interrupt driven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457200" y="195263"/>
            <a:ext cx="8051800" cy="576262"/>
          </a:xfrm>
        </p:spPr>
        <p:txBody>
          <a:bodyPr/>
          <a:lstStyle/>
          <a:p>
            <a:pPr eaLnBrk="1" hangingPunct="1"/>
            <a:r>
              <a:rPr lang="en-US" altLang="en-US"/>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908175"/>
            <a:ext cx="8355012"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1063625" y="-57150"/>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06450" y="1233489"/>
            <a:ext cx="6609234" cy="4192621"/>
          </a:xfrm>
        </p:spPr>
        <p:txBody>
          <a:bodyPr/>
          <a:lstStyle/>
          <a:p>
            <a:r>
              <a:rPr lang="en-US" altLang="en-US" dirty="0"/>
              <a:t>The operating system preserves the state of the CPU by storing the registers and the program counter</a:t>
            </a:r>
          </a:p>
          <a:p>
            <a:r>
              <a:rPr lang="en-US" altLang="en-US" dirty="0"/>
              <a:t>Determines which type of interrupt has occurred:</a:t>
            </a:r>
          </a:p>
          <a:p>
            <a:r>
              <a:rPr lang="en-US" altLang="en-US" dirty="0"/>
              <a:t>Separate segments of code determine what action should be taken for each type of interrupt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457200" y="214313"/>
            <a:ext cx="8116888" cy="576262"/>
          </a:xfrm>
        </p:spPr>
        <p:txBody>
          <a:bodyPr/>
          <a:lstStyle/>
          <a:p>
            <a:pPr eaLnBrk="1" hangingPunct="1"/>
            <a:r>
              <a:rPr lang="en-US" altLang="en-US"/>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738" y="1179513"/>
            <a:ext cx="5084762"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a:t>
            </a:r>
            <a:r>
              <a:rPr lang="en-US" altLang="en-US"/>
              <a:t>(Cont.)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dirty="0"/>
              <a:t>Wait loop (contention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6432550" cy="4416198"/>
          </a:xfrm>
        </p:spPr>
        <p:txBody>
          <a:bodyPr/>
          <a:lstStyle/>
          <a:p>
            <a:r>
              <a:rPr lang="en-US" altLang="en-US" b="1" dirty="0">
                <a:solidFill>
                  <a:srgbClr val="006699"/>
                </a:solidFill>
                <a:latin typeface="+mj-lt"/>
              </a:rPr>
              <a:t>Bootstrap program </a:t>
            </a:r>
            <a:r>
              <a:rPr lang="en-US" altLang="en-US" dirty="0"/>
              <a:t>is loaded at power-up or reboot</a:t>
            </a:r>
          </a:p>
          <a:p>
            <a:pPr lvl="1"/>
            <a:r>
              <a:rPr lang="en-US" altLang="en-US" dirty="0"/>
              <a:t>Typically stored in ROM or EPROM, generally known as </a:t>
            </a:r>
            <a:r>
              <a:rPr lang="en-US" altLang="en-US" b="1" dirty="0">
                <a:solidFill>
                  <a:srgbClr val="006699"/>
                </a:solidFill>
                <a:latin typeface="+mj-lt"/>
              </a:rPr>
              <a:t>firmware</a:t>
            </a:r>
          </a:p>
          <a:p>
            <a:pPr lvl="1"/>
            <a:r>
              <a:rPr lang="en-US" altLang="en-US" dirty="0"/>
              <a:t>Initializes all aspects of system</a:t>
            </a:r>
          </a:p>
          <a:p>
            <a:pPr lvl="1"/>
            <a:r>
              <a:rPr lang="en-US" altLang="en-US" dirty="0"/>
              <a:t>Loads operating system kernel and starts execution</a:t>
            </a:r>
          </a:p>
        </p:txBody>
      </p:sp>
    </p:spTree>
    <p:extLst>
      <p:ext uri="{BB962C8B-B14F-4D97-AF65-F5344CB8AC3E}">
        <p14:creationId xmlns:p14="http://schemas.microsoft.com/office/powerpoint/2010/main" val="289056828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143002"/>
            <a:ext cx="6744624"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099455"/>
            <a:ext cx="6905398" cy="4441370"/>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 rigid metal or glass platters covered with magnetic recording material </a:t>
            </a:r>
          </a:p>
          <a:p>
            <a:pPr lvl="1"/>
            <a:r>
              <a:rPr lang="en-US" altLang="en-US" sz="1600" dirty="0"/>
              <a:t>Disk surface is logically divided into</a:t>
            </a:r>
            <a:r>
              <a:rPr lang="en-US" altLang="en-US" b="1" dirty="0">
                <a:solidFill>
                  <a:srgbClr val="006699"/>
                </a:solidFill>
                <a:latin typeface="+mj-lt"/>
              </a:rPr>
              <a:t> tracks</a:t>
            </a:r>
            <a:r>
              <a:rPr lang="en-US" altLang="en-US" sz="1600" dirty="0"/>
              <a:t>, which are subdivided into </a:t>
            </a:r>
            <a:r>
              <a:rPr lang="en-US" altLang="en-US" b="1" dirty="0">
                <a:solidFill>
                  <a:srgbClr val="006699"/>
                </a:solidFill>
                <a:latin typeface="+mj-lt"/>
              </a:rPr>
              <a:t>sectors</a:t>
            </a:r>
          </a:p>
          <a:p>
            <a:pPr lvl="1"/>
            <a:r>
              <a:rPr lang="en-US" altLang="en-US" sz="1600" dirty="0"/>
              <a:t>The </a:t>
            </a:r>
            <a:r>
              <a:rPr lang="en-US" altLang="en-US" b="1" dirty="0">
                <a:solidFill>
                  <a:srgbClr val="006699"/>
                </a:solidFill>
                <a:latin typeface="+mj-lt"/>
              </a:rPr>
              <a:t>disk controller </a:t>
            </a:r>
            <a:r>
              <a:rPr lang="en-US" altLang="en-US" sz="1600" dirty="0"/>
              <a:t>determines the logical interaction between the device and the computer </a:t>
            </a:r>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en-US" altLang="en-US" sz="1700" dirty="0"/>
              <a:t>devices– faster than hard disks, nonvolatile</a:t>
            </a:r>
          </a:p>
          <a:p>
            <a:pPr lvl="1"/>
            <a:r>
              <a:rPr lang="en-US" altLang="en-US" sz="1600" dirty="0"/>
              <a:t>Various technologies</a:t>
            </a:r>
          </a:p>
          <a:p>
            <a:pPr lvl="1"/>
            <a:r>
              <a:rPr lang="en-US" altLang="en-US" sz="1600" dirty="0"/>
              <a:t>Becoming more popular as capacity and performance increases, price drops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947738" y="203200"/>
            <a:ext cx="7851775" cy="576263"/>
          </a:xfrm>
        </p:spPr>
        <p:txBody>
          <a:bodyPr/>
          <a:lstStyle/>
          <a:p>
            <a:r>
              <a:rPr lang="en-US" altLang="en-US" sz="300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0AC8D8D-292B-2943-B449-B924F9BB88F3}"/>
              </a:ext>
            </a:extLst>
          </p:cNvPr>
          <p:cNvSpPr/>
          <p:nvPr/>
        </p:nvSpPr>
        <p:spPr bwMode="auto">
          <a:xfrm>
            <a:off x="842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solidFill>
                  <a:srgbClr val="006699"/>
                </a:solidFill>
                <a:latin typeface="+mj-lt"/>
              </a:rPr>
              <a:t>system daemons </a:t>
            </a:r>
            <a:r>
              <a:rPr lang="en-US" altLang="en-US" dirty="0"/>
              <a:t>(services provided outside of the kernel)</a:t>
            </a:r>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a:t>
            </a:r>
            <a:r>
              <a:rPr lang="en-US" altLang="ja-JP" sz="1600" dirty="0">
                <a:sym typeface="Wingdings 3" panose="05040102010807070707" pitchFamily="18" charset="2"/>
              </a:rPr>
              <a:t> moves them in and out to run</a:t>
            </a:r>
          </a:p>
          <a:p>
            <a:pPr lvl="1">
              <a:lnSpc>
                <a:spcPct val="90000"/>
              </a:lnSpc>
            </a:pPr>
            <a:r>
              <a:rPr lang="en-US" altLang="en-US" b="1" dirty="0">
                <a:solidFill>
                  <a:srgbClr val="006699"/>
                </a:solidFill>
                <a:latin typeface="+mj-lt"/>
                <a:sym typeface="Wingdings 3" panose="05040102010807070707" pitchFamily="18" charset="2"/>
              </a:rPr>
              <a:t>Virtual memory </a:t>
            </a:r>
            <a:r>
              <a:rPr lang="en-US" altLang="en-US" sz="1600" dirty="0">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can exist</a:t>
            </a:r>
          </a:p>
          <a:p>
            <a:pPr lvl="1"/>
            <a:r>
              <a:rPr lang="en-US" altLang="en-US" dirty="0"/>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a:t>One purpose of OS is to hide peculiarities of hardware devices from the user</a:t>
            </a:r>
          </a:p>
          <a:p>
            <a:r>
              <a:rPr lang="en-US" altLang="en-US"/>
              <a:t>I/O subsystem responsible for</a:t>
            </a:r>
          </a:p>
          <a:p>
            <a:pPr lvl="1"/>
            <a:r>
              <a:rPr lang="en-US" altLang="en-US"/>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a:t>General device-driver interface</a:t>
            </a:r>
          </a:p>
          <a:p>
            <a:pPr lvl="1"/>
            <a:r>
              <a:rPr lang="en-US" altLang="en-US"/>
              <a:t>Drivers for specific hardware devices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p:txBody>
          <a:bodyPr/>
          <a:lstStyle/>
          <a:p>
            <a:r>
              <a:rPr lang="en-US" altLang="en-US" dirty="0"/>
              <a:t>Like multiprocessor systems, but multiple systems working together</a:t>
            </a:r>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p>
          <a:p>
            <a:pPr lvl="1"/>
            <a:r>
              <a:rPr lang="en-US" altLang="en-US" dirty="0"/>
              <a:t>Provides a </a:t>
            </a:r>
            <a:r>
              <a:rPr lang="en-US" altLang="en-US" b="1" dirty="0">
                <a:solidFill>
                  <a:srgbClr val="006699"/>
                </a:solidFill>
                <a:latin typeface="+mj-lt"/>
              </a:rPr>
              <a:t>high-availability</a:t>
            </a:r>
            <a:r>
              <a:rPr lang="en-US" altLang="en-US" b="1" dirty="0"/>
              <a:t> </a:t>
            </a:r>
            <a:r>
              <a:rPr lang="en-US" altLang="en-US" dirty="0"/>
              <a:t>service which survives failures</a:t>
            </a:r>
          </a:p>
          <a:p>
            <a:pPr lvl="2"/>
            <a:r>
              <a:rPr lang="en-US" altLang="en-US" b="1" dirty="0">
                <a:solidFill>
                  <a:srgbClr val="006699"/>
                </a:solidFill>
                <a:latin typeface="+mj-lt"/>
              </a:rPr>
              <a:t>Asymmetric clustering </a:t>
            </a:r>
            <a:r>
              <a:rPr lang="en-US" altLang="en-US" dirty="0"/>
              <a:t>has one machine in hot-standby mode</a:t>
            </a:r>
          </a:p>
          <a:p>
            <a:pPr lvl="2"/>
            <a:r>
              <a:rPr lang="en-US" altLang="en-US" b="1" dirty="0">
                <a:solidFill>
                  <a:srgbClr val="006699"/>
                </a:solidFill>
                <a:latin typeface="+mj-lt"/>
              </a:rPr>
              <a:t>Symmetric clustering </a:t>
            </a:r>
            <a:r>
              <a:rPr lang="en-US" altLang="en-US" dirty="0"/>
              <a:t>has multiple nodes running applications, monitoring each other</a:t>
            </a:r>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a:t>
            </a:r>
          </a:p>
          <a:p>
            <a:pPr lvl="2"/>
            <a:r>
              <a:rPr lang="en-US" altLang="en-US" dirty="0"/>
              <a:t>Applications must be written to use </a:t>
            </a:r>
            <a:r>
              <a:rPr lang="en-US" altLang="en-US" b="1" dirty="0">
                <a:solidFill>
                  <a:srgbClr val="006699"/>
                </a:solidFill>
                <a:latin typeface="+mj-lt"/>
              </a:rPr>
              <a:t>parallelization</a:t>
            </a: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275"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extLst>
      <p:ext uri="{BB962C8B-B14F-4D97-AF65-F5344CB8AC3E}">
        <p14:creationId xmlns:p14="http://schemas.microsoft.com/office/powerpoint/2010/main" val="2948303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Peer-to-Peer</a:t>
            </a:r>
          </a:p>
          <a:p>
            <a:r>
              <a:rPr lang="en-US" altLang="en-US" dirty="0"/>
              <a:t>Cloud computing</a:t>
            </a:r>
          </a:p>
          <a:p>
            <a:r>
              <a:rPr lang="en-US" altLang="en-US" dirty="0"/>
              <a:t>Real-time Embedded</a:t>
            </a:r>
          </a:p>
          <a:p>
            <a:endParaRPr lang="en-US" altLang="en-US" dirty="0"/>
          </a:p>
        </p:txBody>
      </p:sp>
    </p:spTree>
    <p:extLst>
      <p:ext uri="{BB962C8B-B14F-4D97-AF65-F5344CB8AC3E}">
        <p14:creationId xmlns:p14="http://schemas.microsoft.com/office/powerpoint/2010/main" val="424880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sz="2800" kern="0" dirty="0"/>
              <a:t>Cloud Computing (cont.)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b="1" dirty="0">
                <a:solidFill>
                  <a:srgbClr val="663300"/>
                </a:solidFill>
              </a:rPr>
              <a:t>https://www.gnu.org/philosophy/open-source-misses-the-point.en.html</a:t>
            </a: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Kernel Data Structure</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2441439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br>
              <a:rPr lang="en-US" altLang="en-US" sz="1800"/>
            </a:br>
            <a:r>
              <a:rPr lang="en-US" altLang="en-US" sz="1800"/>
              <a:t>left &lt;= right</a:t>
            </a:r>
          </a:p>
          <a:p>
            <a:pPr lvl="1"/>
            <a:r>
              <a:rPr lang="en-US" altLang="en-US" sz="1800"/>
              <a:t>Search performance is </a:t>
            </a:r>
            <a:r>
              <a:rPr lang="en-US" altLang="en-US" sz="1800" i="1"/>
              <a:t>O(n)</a:t>
            </a:r>
          </a:p>
          <a:p>
            <a:pPr lvl="1"/>
            <a:r>
              <a:rPr lang="en-US" altLang="en-US" sz="1800" b="1">
                <a:solidFill>
                  <a:srgbClr val="3366FF"/>
                </a:solidFill>
              </a:rPr>
              <a:t>Balanced binary search tree </a:t>
            </a:r>
            <a:r>
              <a:rPr lang="en-US" altLang="en-US" sz="1800"/>
              <a:t>is </a:t>
            </a:r>
            <a:r>
              <a:rPr lang="en-US" altLang="en-US" sz="1800" i="1"/>
              <a:t>O(lg n)</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11780</TotalTime>
  <Words>4285</Words>
  <Application>Microsoft Office PowerPoint</Application>
  <PresentationFormat>On-screen Show (4:3)</PresentationFormat>
  <Paragraphs>508</Paragraphs>
  <Slides>74</Slides>
  <Notes>61</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74</vt:i4>
      </vt:variant>
    </vt:vector>
  </HeadingPairs>
  <TitlesOfParts>
    <vt:vector size="85" baseType="lpstr">
      <vt:lpstr>ＭＳ Ｐゴシック</vt:lpstr>
      <vt:lpstr>Arial</vt:lpstr>
      <vt:lpstr>Courier New</vt:lpstr>
      <vt:lpstr>Helvetica</vt:lpstr>
      <vt:lpstr>Monotype Sorts</vt:lpstr>
      <vt:lpstr>Times New Roman</vt:lpstr>
      <vt:lpstr>Verdana</vt:lpstr>
      <vt:lpstr>Webdings</vt:lpstr>
      <vt:lpstr>Wingdings</vt:lpstr>
      <vt:lpstr>Wingdings 3</vt:lpstr>
      <vt:lpstr>os-8</vt:lpstr>
      <vt:lpstr>Chapter 1:  Introduction</vt:lpstr>
      <vt:lpstr>Chapter 1: Introduction</vt:lpstr>
      <vt:lpstr>Objectives</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Presentation</vt:lpstr>
      <vt:lpstr>Computer System Organization</vt:lpstr>
      <vt:lpstr>Computer-System Operation</vt:lpstr>
      <vt:lpstr>Common Functions of Interrupts</vt:lpstr>
      <vt:lpstr>Interrupt Timeline</vt:lpstr>
      <vt:lpstr>Interrupt Handling</vt:lpstr>
      <vt:lpstr>Interrupt-drive I/O Cycle</vt:lpstr>
      <vt:lpstr>I/O Structure</vt:lpstr>
      <vt:lpstr>I/O Structure (Cont.)</vt:lpstr>
      <vt:lpstr>Computer Startup</vt:lpstr>
      <vt:lpstr>PowerPoint Presentation</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Distributed Systems</vt:lpstr>
      <vt:lpstr>PowerPoint Presentation</vt:lpstr>
      <vt:lpstr>Computer-System Architecture</vt:lpstr>
      <vt:lpstr>Symmetric Multiprocessing Architecture</vt:lpstr>
      <vt:lpstr>Dual-Core Design</vt:lpstr>
      <vt:lpstr>Non-Uniform Memory Access System</vt:lpstr>
      <vt:lpstr>Clustered Systems</vt:lpstr>
      <vt:lpstr>Clustered Systems</vt:lpstr>
      <vt:lpstr>PC Motherboard</vt:lpstr>
      <vt:lpstr>PowerPoint Presentation</vt:lpstr>
      <vt:lpstr>Computing Environments</vt:lpstr>
      <vt:lpstr>Traditional</vt:lpstr>
      <vt:lpstr>Mobile</vt:lpstr>
      <vt:lpstr>Client Server</vt:lpstr>
      <vt:lpstr>Peer-to-Peer</vt:lpstr>
      <vt:lpstr>Cloud Computing</vt:lpstr>
      <vt:lpstr>Cloud Computing (Cont.)</vt:lpstr>
      <vt:lpstr>PowerPoint Presentation</vt:lpstr>
      <vt:lpstr>Real-Time Embedded Systems</vt:lpstr>
      <vt:lpstr>Free and Open-Source Operating Systems</vt:lpstr>
      <vt:lpstr>The Study of Operating Systems</vt:lpstr>
      <vt:lpstr>Kernel Data Structure</vt:lpstr>
      <vt:lpstr>Kernel Data Structures</vt:lpstr>
      <vt:lpstr>Kernel Data Structures</vt:lpstr>
      <vt:lpstr>Kernel Data Structures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Nguyễn Thanh Tiến</cp:lastModifiedBy>
  <cp:revision>257</cp:revision>
  <cp:lastPrinted>2001-06-14T13:58:17Z</cp:lastPrinted>
  <dcterms:created xsi:type="dcterms:W3CDTF">2011-01-13T23:43:38Z</dcterms:created>
  <dcterms:modified xsi:type="dcterms:W3CDTF">2024-10-05T05:28:57Z</dcterms:modified>
</cp:coreProperties>
</file>