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68" r:id="rId3"/>
    <p:sldId id="269" r:id="rId4"/>
    <p:sldId id="270" r:id="rId5"/>
    <p:sldId id="271" r:id="rId6"/>
    <p:sldId id="272" r:id="rId7"/>
    <p:sldId id="273" r:id="rId8"/>
    <p:sldId id="257" r:id="rId9"/>
    <p:sldId id="275" r:id="rId10"/>
    <p:sldId id="258" r:id="rId11"/>
    <p:sldId id="259" r:id="rId12"/>
    <p:sldId id="260" r:id="rId13"/>
    <p:sldId id="261" r:id="rId14"/>
    <p:sldId id="263" r:id="rId15"/>
    <p:sldId id="274" r:id="rId16"/>
    <p:sldId id="264" r:id="rId17"/>
    <p:sldId id="266" r:id="rId18"/>
    <p:sldId id="26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602" autoAdjust="0"/>
  </p:normalViewPr>
  <p:slideViewPr>
    <p:cSldViewPr snapToGrid="0">
      <p:cViewPr>
        <p:scale>
          <a:sx n="88" d="100"/>
          <a:sy n="88" d="100"/>
        </p:scale>
        <p:origin x="456" y="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70E54D-23AB-4FC0-B24B-F23EC06CF004}" type="datetimeFigureOut">
              <a:rPr lang="en-US" smtClean="0"/>
              <a:t>11/26/2023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1EF0A3-AB26-4CCF-B6C9-EC4846A91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735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1EF0A3-AB26-4CCF-B6C9-EC4846A9169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1627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794835-A72A-4AEF-B6EC-BD8CE85FBF47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1116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>
            <a:extLst>
              <a:ext uri="{FF2B5EF4-FFF2-40B4-BE49-F238E27FC236}">
                <a16:creationId xmlns:a16="http://schemas.microsoft.com/office/drawing/2014/main" id="{A64CD54C-44CE-436F-93BE-552425E6C2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9EFB345-C37B-41EB-99D5-09E432045D94}" type="slidenum">
              <a:rPr lang="en-US" altLang="en-US">
                <a:latin typeface="Times New Roman" panose="02020603050405020304" pitchFamily="18" charset="0"/>
              </a:rPr>
              <a:pPr/>
              <a:t>15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883" name="Rectangle 2">
            <a:extLst>
              <a:ext uri="{FF2B5EF4-FFF2-40B4-BE49-F238E27FC236}">
                <a16:creationId xmlns:a16="http://schemas.microsoft.com/office/drawing/2014/main" id="{29DAD370-8DFA-4D0F-8574-87D667E474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>
            <a:extLst>
              <a:ext uri="{FF2B5EF4-FFF2-40B4-BE49-F238E27FC236}">
                <a16:creationId xmlns:a16="http://schemas.microsoft.com/office/drawing/2014/main" id="{AA98057B-1F4A-419C-B813-443BAD14DB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45025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>
            <a:extLst>
              <a:ext uri="{FF2B5EF4-FFF2-40B4-BE49-F238E27FC236}">
                <a16:creationId xmlns:a16="http://schemas.microsoft.com/office/drawing/2014/main" id="{A64CD54C-44CE-436F-93BE-552425E6C2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9EFB345-C37B-41EB-99D5-09E432045D94}" type="slidenum">
              <a:rPr lang="en-US" altLang="en-US">
                <a:latin typeface="Times New Roman" panose="02020603050405020304" pitchFamily="18" charset="0"/>
              </a:rPr>
              <a:pPr/>
              <a:t>16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883" name="Rectangle 2">
            <a:extLst>
              <a:ext uri="{FF2B5EF4-FFF2-40B4-BE49-F238E27FC236}">
                <a16:creationId xmlns:a16="http://schemas.microsoft.com/office/drawing/2014/main" id="{29DAD370-8DFA-4D0F-8574-87D667E474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>
            <a:extLst>
              <a:ext uri="{FF2B5EF4-FFF2-40B4-BE49-F238E27FC236}">
                <a16:creationId xmlns:a16="http://schemas.microsoft.com/office/drawing/2014/main" id="{AA98057B-1F4A-419C-B813-443BAD14DB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11382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>
            <a:extLst>
              <a:ext uri="{FF2B5EF4-FFF2-40B4-BE49-F238E27FC236}">
                <a16:creationId xmlns:a16="http://schemas.microsoft.com/office/drawing/2014/main" id="{69926037-2DFC-49C1-BFE5-BEEB906707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A720897-7524-49C1-AB7E-87D63B342608}" type="slidenum">
              <a:rPr lang="en-US" altLang="en-US">
                <a:latin typeface="Times New Roman" panose="02020603050405020304" pitchFamily="18" charset="0"/>
              </a:rPr>
              <a:pPr/>
              <a:t>17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4931" name="Rectangle 2">
            <a:extLst>
              <a:ext uri="{FF2B5EF4-FFF2-40B4-BE49-F238E27FC236}">
                <a16:creationId xmlns:a16="http://schemas.microsoft.com/office/drawing/2014/main" id="{31EBDBDF-5FCA-4213-A6C0-A7B61F0EDD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4B5706BF-EA71-4A33-91AF-EA4A2A0C53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67789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>
            <a:extLst>
              <a:ext uri="{FF2B5EF4-FFF2-40B4-BE49-F238E27FC236}">
                <a16:creationId xmlns:a16="http://schemas.microsoft.com/office/drawing/2014/main" id="{96CBA23C-2721-468E-BF26-9B4A852354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665F5A3-B020-4290-AD98-D5279638C08E}" type="slidenum">
              <a:rPr lang="en-US" altLang="en-US">
                <a:latin typeface="Times New Roman" panose="02020603050405020304" pitchFamily="18" charset="0"/>
              </a:rPr>
              <a:pPr/>
              <a:t>18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5955" name="Rectangle 2">
            <a:extLst>
              <a:ext uri="{FF2B5EF4-FFF2-40B4-BE49-F238E27FC236}">
                <a16:creationId xmlns:a16="http://schemas.microsoft.com/office/drawing/2014/main" id="{20008BC1-ECF1-41C8-9E3A-3EF0899AF3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AE97A9E2-2C5D-40BF-956A-508D26D46D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58103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F867F-A908-4D24-9C11-1BC69841D02B}" type="datetimeFigureOut">
              <a:rPr lang="en-US" smtClean="0"/>
              <a:t>11/26/2023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CFA39-2C22-4D98-ACFC-0F7988E0A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760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F867F-A908-4D24-9C11-1BC69841D02B}" type="datetimeFigureOut">
              <a:rPr lang="en-US" smtClean="0"/>
              <a:t>11/26/2023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CFA39-2C22-4D98-ACFC-0F7988E0A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482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F867F-A908-4D24-9C11-1BC69841D02B}" type="datetimeFigureOut">
              <a:rPr lang="en-US" smtClean="0"/>
              <a:t>11/26/2023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CFA39-2C22-4D98-ACFC-0F7988E0A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25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F867F-A908-4D24-9C11-1BC69841D02B}" type="datetimeFigureOut">
              <a:rPr lang="en-US" smtClean="0"/>
              <a:t>11/26/2023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CFA39-2C22-4D98-ACFC-0F7988E0A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270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F867F-A908-4D24-9C11-1BC69841D02B}" type="datetimeFigureOut">
              <a:rPr lang="en-US" smtClean="0"/>
              <a:t>11/26/2023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CFA39-2C22-4D98-ACFC-0F7988E0A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384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F867F-A908-4D24-9C11-1BC69841D02B}" type="datetimeFigureOut">
              <a:rPr lang="en-US" smtClean="0"/>
              <a:t>11/26/2023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CFA39-2C22-4D98-ACFC-0F7988E0A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554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F867F-A908-4D24-9C11-1BC69841D02B}" type="datetimeFigureOut">
              <a:rPr lang="en-US" smtClean="0"/>
              <a:t>11/26/2023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CFA39-2C22-4D98-ACFC-0F7988E0A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732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F867F-A908-4D24-9C11-1BC69841D02B}" type="datetimeFigureOut">
              <a:rPr lang="en-US" smtClean="0"/>
              <a:t>11/26/2023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CFA39-2C22-4D98-ACFC-0F7988E0A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708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F867F-A908-4D24-9C11-1BC69841D02B}" type="datetimeFigureOut">
              <a:rPr lang="en-US" smtClean="0"/>
              <a:t>11/26/2023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CFA39-2C22-4D98-ACFC-0F7988E0A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97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F867F-A908-4D24-9C11-1BC69841D02B}" type="datetimeFigureOut">
              <a:rPr lang="en-US" smtClean="0"/>
              <a:t>11/26/2023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CFA39-2C22-4D98-ACFC-0F7988E0A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243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F867F-A908-4D24-9C11-1BC69841D02B}" type="datetimeFigureOut">
              <a:rPr lang="en-US" smtClean="0"/>
              <a:t>11/26/2023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CFA39-2C22-4D98-ACFC-0F7988E0A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985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EF867F-A908-4D24-9C11-1BC69841D02B}" type="datetimeFigureOut">
              <a:rPr lang="en-US" smtClean="0"/>
              <a:t>11/26/2023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9CFA39-2C22-4D98-ACFC-0F7988E0A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914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Chapter 5:  CPU Scheduling: The Gantt Chart for the schedule, turnaround time, waiting time )</a:t>
            </a:r>
          </a:p>
          <a:p>
            <a:pPr>
              <a:buFontTx/>
              <a:buChar char="-"/>
            </a:pPr>
            <a:r>
              <a:rPr lang="en-US" dirty="0"/>
              <a:t>FCFS</a:t>
            </a:r>
          </a:p>
          <a:p>
            <a:pPr>
              <a:buFontTx/>
              <a:buChar char="-"/>
            </a:pPr>
            <a:r>
              <a:rPr lang="en-US" dirty="0"/>
              <a:t>SJF </a:t>
            </a:r>
          </a:p>
          <a:p>
            <a:pPr>
              <a:buFontTx/>
              <a:buChar char="-"/>
            </a:pPr>
            <a:r>
              <a:rPr lang="en-US" dirty="0"/>
              <a:t>SRTF</a:t>
            </a:r>
          </a:p>
          <a:p>
            <a:pPr>
              <a:buFontTx/>
              <a:buChar char="-"/>
            </a:pPr>
            <a:r>
              <a:rPr lang="en-US" dirty="0"/>
              <a:t>RR</a:t>
            </a:r>
          </a:p>
          <a:p>
            <a:pPr marL="0" indent="0">
              <a:buNone/>
            </a:pPr>
            <a:r>
              <a:rPr lang="en-US" altLang="en-US" dirty="0"/>
              <a:t>Chapter 8:  Deadlocks</a:t>
            </a:r>
          </a:p>
          <a:p>
            <a:pPr>
              <a:buFontTx/>
              <a:buChar char="-"/>
            </a:pPr>
            <a:r>
              <a:rPr lang="en-US" altLang="en-US" dirty="0"/>
              <a:t>Banker</a:t>
            </a:r>
            <a:r>
              <a:rPr lang="ja-JP" altLang="en-US" dirty="0"/>
              <a:t>’</a:t>
            </a:r>
            <a:r>
              <a:rPr lang="en-US" altLang="ja-JP" dirty="0"/>
              <a:t>s Algorithm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872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452" y="548948"/>
            <a:ext cx="11619322" cy="1732339"/>
          </a:xfrm>
        </p:spPr>
        <p:txBody>
          <a:bodyPr>
            <a:normAutofit/>
          </a:bodyPr>
          <a:lstStyle/>
          <a:p>
            <a:r>
              <a:rPr lang="en-US" sz="3600" dirty="0"/>
              <a:t>Consider the following snapshot of a system with 4 types of resources: 9 A, 9 B, 8 C, 6 D. What is the content of the matrix Need? Is the system in a safe state?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2416054"/>
              </p:ext>
            </p:extLst>
          </p:nvPr>
        </p:nvGraphicFramePr>
        <p:xfrm>
          <a:off x="398697" y="2379718"/>
          <a:ext cx="6925172" cy="2801922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684715">
                  <a:extLst>
                    <a:ext uri="{9D8B030D-6E8A-4147-A177-3AD203B41FA5}">
                      <a16:colId xmlns:a16="http://schemas.microsoft.com/office/drawing/2014/main" val="1530000080"/>
                    </a:ext>
                  </a:extLst>
                </a:gridCol>
                <a:gridCol w="3172232">
                  <a:extLst>
                    <a:ext uri="{9D8B030D-6E8A-4147-A177-3AD203B41FA5}">
                      <a16:colId xmlns:a16="http://schemas.microsoft.com/office/drawing/2014/main" val="2054607865"/>
                    </a:ext>
                  </a:extLst>
                </a:gridCol>
                <a:gridCol w="3068225">
                  <a:extLst>
                    <a:ext uri="{9D8B030D-6E8A-4147-A177-3AD203B41FA5}">
                      <a16:colId xmlns:a16="http://schemas.microsoft.com/office/drawing/2014/main" val="610547396"/>
                    </a:ext>
                  </a:extLst>
                </a:gridCol>
              </a:tblGrid>
              <a:tr h="800547"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Process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Allocation</a:t>
                      </a:r>
                      <a:endParaRPr lang="en-US" sz="1100">
                        <a:effectLst/>
                      </a:endParaRPr>
                    </a:p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A	B	C	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Max</a:t>
                      </a:r>
                      <a:endParaRPr lang="en-US" sz="1100" dirty="0">
                        <a:effectLst/>
                      </a:endParaRPr>
                    </a:p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A	B	C	D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83383909"/>
                  </a:ext>
                </a:extLst>
              </a:tr>
              <a:tr h="400275"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P1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	2	0	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4	4	1	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44039612"/>
                  </a:ext>
                </a:extLst>
              </a:tr>
              <a:tr h="400275"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P2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	0	1	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7	5	6	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1070684"/>
                  </a:ext>
                </a:extLst>
              </a:tr>
              <a:tr h="400275"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P3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	1	1	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	2	5	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39153106"/>
                  </a:ext>
                </a:extLst>
              </a:tr>
              <a:tr h="400275"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P4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2	2	0	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4	2	3	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42625294"/>
                  </a:ext>
                </a:extLst>
              </a:tr>
              <a:tr h="400275"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P5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	2	0	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7	4	5	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887440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B88B878-2014-E0C6-71B9-8A0BDDEE0A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7335916"/>
              </p:ext>
            </p:extLst>
          </p:nvPr>
        </p:nvGraphicFramePr>
        <p:xfrm>
          <a:off x="7312316" y="2493471"/>
          <a:ext cx="4480987" cy="262049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61621">
                  <a:extLst>
                    <a:ext uri="{9D8B030D-6E8A-4147-A177-3AD203B41FA5}">
                      <a16:colId xmlns:a16="http://schemas.microsoft.com/office/drawing/2014/main" val="2218086588"/>
                    </a:ext>
                  </a:extLst>
                </a:gridCol>
                <a:gridCol w="852569">
                  <a:extLst>
                    <a:ext uri="{9D8B030D-6E8A-4147-A177-3AD203B41FA5}">
                      <a16:colId xmlns:a16="http://schemas.microsoft.com/office/drawing/2014/main" val="1863285273"/>
                    </a:ext>
                  </a:extLst>
                </a:gridCol>
                <a:gridCol w="847116">
                  <a:extLst>
                    <a:ext uri="{9D8B030D-6E8A-4147-A177-3AD203B41FA5}">
                      <a16:colId xmlns:a16="http://schemas.microsoft.com/office/drawing/2014/main" val="3509418998"/>
                    </a:ext>
                  </a:extLst>
                </a:gridCol>
                <a:gridCol w="883472">
                  <a:extLst>
                    <a:ext uri="{9D8B030D-6E8A-4147-A177-3AD203B41FA5}">
                      <a16:colId xmlns:a16="http://schemas.microsoft.com/office/drawing/2014/main" val="1114216354"/>
                    </a:ext>
                  </a:extLst>
                </a:gridCol>
                <a:gridCol w="836209">
                  <a:extLst>
                    <a:ext uri="{9D8B030D-6E8A-4147-A177-3AD203B41FA5}">
                      <a16:colId xmlns:a16="http://schemas.microsoft.com/office/drawing/2014/main" val="1117227779"/>
                    </a:ext>
                  </a:extLst>
                </a:gridCol>
              </a:tblGrid>
              <a:tr h="37435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A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B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C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63066605"/>
                  </a:ext>
                </a:extLst>
              </a:tr>
              <a:tr h="37435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P1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53633880"/>
                  </a:ext>
                </a:extLst>
              </a:tr>
              <a:tr h="37435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P2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     P1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12967249"/>
                  </a:ext>
                </a:extLst>
              </a:tr>
              <a:tr h="37435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P3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    P3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61565676"/>
                  </a:ext>
                </a:extLst>
              </a:tr>
              <a:tr h="37435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P4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    P4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0709826"/>
                  </a:ext>
                </a:extLst>
              </a:tr>
              <a:tr h="37435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P5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   P5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39051124"/>
                  </a:ext>
                </a:extLst>
              </a:tr>
              <a:tr h="37435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   P2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3500328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2103E0E-9D39-6357-C139-740B0C1C78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8865282"/>
              </p:ext>
            </p:extLst>
          </p:nvPr>
        </p:nvGraphicFramePr>
        <p:xfrm>
          <a:off x="3131706" y="5181640"/>
          <a:ext cx="4480987" cy="13089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61621">
                  <a:extLst>
                    <a:ext uri="{9D8B030D-6E8A-4147-A177-3AD203B41FA5}">
                      <a16:colId xmlns:a16="http://schemas.microsoft.com/office/drawing/2014/main" val="2218086588"/>
                    </a:ext>
                  </a:extLst>
                </a:gridCol>
                <a:gridCol w="852569">
                  <a:extLst>
                    <a:ext uri="{9D8B030D-6E8A-4147-A177-3AD203B41FA5}">
                      <a16:colId xmlns:a16="http://schemas.microsoft.com/office/drawing/2014/main" val="1863285273"/>
                    </a:ext>
                  </a:extLst>
                </a:gridCol>
                <a:gridCol w="847116">
                  <a:extLst>
                    <a:ext uri="{9D8B030D-6E8A-4147-A177-3AD203B41FA5}">
                      <a16:colId xmlns:a16="http://schemas.microsoft.com/office/drawing/2014/main" val="3509418998"/>
                    </a:ext>
                  </a:extLst>
                </a:gridCol>
                <a:gridCol w="883472">
                  <a:extLst>
                    <a:ext uri="{9D8B030D-6E8A-4147-A177-3AD203B41FA5}">
                      <a16:colId xmlns:a16="http://schemas.microsoft.com/office/drawing/2014/main" val="1114216354"/>
                    </a:ext>
                  </a:extLst>
                </a:gridCol>
                <a:gridCol w="836209">
                  <a:extLst>
                    <a:ext uri="{9D8B030D-6E8A-4147-A177-3AD203B41FA5}">
                      <a16:colId xmlns:a16="http://schemas.microsoft.com/office/drawing/2014/main" val="1117227779"/>
                    </a:ext>
                  </a:extLst>
                </a:gridCol>
              </a:tblGrid>
              <a:tr h="21816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A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B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C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63066605"/>
                  </a:ext>
                </a:extLst>
              </a:tr>
              <a:tr h="21816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P1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53633880"/>
                  </a:ext>
                </a:extLst>
              </a:tr>
              <a:tr h="21816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P2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12967249"/>
                  </a:ext>
                </a:extLst>
              </a:tr>
              <a:tr h="21816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P3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61565676"/>
                  </a:ext>
                </a:extLst>
              </a:tr>
              <a:tr h="21816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P4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0709826"/>
                  </a:ext>
                </a:extLst>
              </a:tr>
              <a:tr h="21816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P5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390511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918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Available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Need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Safe state: P1 </a:t>
            </a:r>
            <a:r>
              <a:rPr lang="en-US" b="1" dirty="0">
                <a:sym typeface="Wingdings" panose="05000000000000000000" pitchFamily="2" charset="2"/>
              </a:rPr>
              <a:t></a:t>
            </a:r>
            <a:r>
              <a:rPr lang="en-US" b="1" dirty="0"/>
              <a:t> P3 </a:t>
            </a:r>
            <a:r>
              <a:rPr lang="en-US" b="1" dirty="0">
                <a:sym typeface="Wingdings" panose="05000000000000000000" pitchFamily="2" charset="2"/>
              </a:rPr>
              <a:t></a:t>
            </a:r>
            <a:r>
              <a:rPr lang="en-US" b="1" dirty="0"/>
              <a:t> P4 </a:t>
            </a:r>
            <a:r>
              <a:rPr lang="en-US" b="1" dirty="0">
                <a:sym typeface="Wingdings" panose="05000000000000000000" pitchFamily="2" charset="2"/>
              </a:rPr>
              <a:t></a:t>
            </a:r>
            <a:r>
              <a:rPr lang="en-US" b="1" dirty="0"/>
              <a:t> P5 </a:t>
            </a:r>
            <a:r>
              <a:rPr lang="en-US" b="1" dirty="0">
                <a:sym typeface="Wingdings" panose="05000000000000000000" pitchFamily="2" charset="2"/>
              </a:rPr>
              <a:t></a:t>
            </a:r>
            <a:r>
              <a:rPr lang="en-US" b="1" dirty="0"/>
              <a:t> P2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4305141"/>
              </p:ext>
            </p:extLst>
          </p:nvPr>
        </p:nvGraphicFramePr>
        <p:xfrm>
          <a:off x="1733099" y="2391132"/>
          <a:ext cx="3098062" cy="6214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78596">
                  <a:extLst>
                    <a:ext uri="{9D8B030D-6E8A-4147-A177-3AD203B41FA5}">
                      <a16:colId xmlns:a16="http://schemas.microsoft.com/office/drawing/2014/main" val="2897438009"/>
                    </a:ext>
                  </a:extLst>
                </a:gridCol>
                <a:gridCol w="765538">
                  <a:extLst>
                    <a:ext uri="{9D8B030D-6E8A-4147-A177-3AD203B41FA5}">
                      <a16:colId xmlns:a16="http://schemas.microsoft.com/office/drawing/2014/main" val="1237203470"/>
                    </a:ext>
                  </a:extLst>
                </a:gridCol>
                <a:gridCol w="760641">
                  <a:extLst>
                    <a:ext uri="{9D8B030D-6E8A-4147-A177-3AD203B41FA5}">
                      <a16:colId xmlns:a16="http://schemas.microsoft.com/office/drawing/2014/main" val="3524655855"/>
                    </a:ext>
                  </a:extLst>
                </a:gridCol>
                <a:gridCol w="793287">
                  <a:extLst>
                    <a:ext uri="{9D8B030D-6E8A-4147-A177-3AD203B41FA5}">
                      <a16:colId xmlns:a16="http://schemas.microsoft.com/office/drawing/2014/main" val="3461282278"/>
                    </a:ext>
                  </a:extLst>
                </a:gridCol>
              </a:tblGrid>
              <a:tr h="31072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A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B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C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80074880"/>
                  </a:ext>
                </a:extLst>
              </a:tr>
              <a:tr h="31072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64667722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2891628"/>
              </p:ext>
            </p:extLst>
          </p:nvPr>
        </p:nvGraphicFramePr>
        <p:xfrm>
          <a:off x="3049366" y="4205261"/>
          <a:ext cx="4480987" cy="13089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61621">
                  <a:extLst>
                    <a:ext uri="{9D8B030D-6E8A-4147-A177-3AD203B41FA5}">
                      <a16:colId xmlns:a16="http://schemas.microsoft.com/office/drawing/2014/main" val="2218086588"/>
                    </a:ext>
                  </a:extLst>
                </a:gridCol>
                <a:gridCol w="852569">
                  <a:extLst>
                    <a:ext uri="{9D8B030D-6E8A-4147-A177-3AD203B41FA5}">
                      <a16:colId xmlns:a16="http://schemas.microsoft.com/office/drawing/2014/main" val="1863285273"/>
                    </a:ext>
                  </a:extLst>
                </a:gridCol>
                <a:gridCol w="847116">
                  <a:extLst>
                    <a:ext uri="{9D8B030D-6E8A-4147-A177-3AD203B41FA5}">
                      <a16:colId xmlns:a16="http://schemas.microsoft.com/office/drawing/2014/main" val="3509418998"/>
                    </a:ext>
                  </a:extLst>
                </a:gridCol>
                <a:gridCol w="883472">
                  <a:extLst>
                    <a:ext uri="{9D8B030D-6E8A-4147-A177-3AD203B41FA5}">
                      <a16:colId xmlns:a16="http://schemas.microsoft.com/office/drawing/2014/main" val="1114216354"/>
                    </a:ext>
                  </a:extLst>
                </a:gridCol>
                <a:gridCol w="836209">
                  <a:extLst>
                    <a:ext uri="{9D8B030D-6E8A-4147-A177-3AD203B41FA5}">
                      <a16:colId xmlns:a16="http://schemas.microsoft.com/office/drawing/2014/main" val="1117227779"/>
                    </a:ext>
                  </a:extLst>
                </a:gridCol>
              </a:tblGrid>
              <a:tr h="21816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A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B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C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63066605"/>
                  </a:ext>
                </a:extLst>
              </a:tr>
              <a:tr h="21816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P1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53633880"/>
                  </a:ext>
                </a:extLst>
              </a:tr>
              <a:tr h="21816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P2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12967249"/>
                  </a:ext>
                </a:extLst>
              </a:tr>
              <a:tr h="21816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P3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61565676"/>
                  </a:ext>
                </a:extLst>
              </a:tr>
              <a:tr h="21816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P4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0709826"/>
                  </a:ext>
                </a:extLst>
              </a:tr>
              <a:tr h="21816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P5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390511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2641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081" y="365125"/>
            <a:ext cx="11489086" cy="1460500"/>
          </a:xfrm>
        </p:spPr>
        <p:txBody>
          <a:bodyPr>
            <a:noAutofit/>
          </a:bodyPr>
          <a:lstStyle/>
          <a:p>
            <a:r>
              <a:rPr lang="en-US" sz="3500" dirty="0"/>
              <a:t>Assume that you have following processes, their arrival times and burst times. For FCFS scheduling algorithms, determine the waiting times for each process and the average waiting times.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0213959"/>
              </p:ext>
            </p:extLst>
          </p:nvPr>
        </p:nvGraphicFramePr>
        <p:xfrm>
          <a:off x="2259106" y="2254214"/>
          <a:ext cx="7207623" cy="29045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77503">
                  <a:extLst>
                    <a:ext uri="{9D8B030D-6E8A-4147-A177-3AD203B41FA5}">
                      <a16:colId xmlns:a16="http://schemas.microsoft.com/office/drawing/2014/main" val="1747110589"/>
                    </a:ext>
                  </a:extLst>
                </a:gridCol>
                <a:gridCol w="3128810">
                  <a:extLst>
                    <a:ext uri="{9D8B030D-6E8A-4147-A177-3AD203B41FA5}">
                      <a16:colId xmlns:a16="http://schemas.microsoft.com/office/drawing/2014/main" val="1607377251"/>
                    </a:ext>
                  </a:extLst>
                </a:gridCol>
                <a:gridCol w="2701310">
                  <a:extLst>
                    <a:ext uri="{9D8B030D-6E8A-4147-A177-3AD203B41FA5}">
                      <a16:colId xmlns:a16="http://schemas.microsoft.com/office/drawing/2014/main" val="421723834"/>
                    </a:ext>
                  </a:extLst>
                </a:gridCol>
              </a:tblGrid>
              <a:tr h="41493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Job</a:t>
                      </a:r>
                      <a:endParaRPr lang="en-US" sz="120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Arrival Time</a:t>
                      </a:r>
                      <a:endParaRPr lang="en-US" sz="120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CPU burst</a:t>
                      </a:r>
                      <a:endParaRPr lang="en-US" sz="120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1093774"/>
                  </a:ext>
                </a:extLst>
              </a:tr>
              <a:tr h="41493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J1</a:t>
                      </a:r>
                      <a:endParaRPr lang="en-US" sz="120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US" sz="120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5</a:t>
                      </a:r>
                      <a:endParaRPr lang="en-US" sz="120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79310497"/>
                  </a:ext>
                </a:extLst>
              </a:tr>
              <a:tr h="41493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J2</a:t>
                      </a:r>
                      <a:endParaRPr lang="en-US" sz="120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</a:t>
                      </a:r>
                      <a:endParaRPr lang="en-US" sz="120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6</a:t>
                      </a:r>
                      <a:endParaRPr lang="en-US" sz="120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49622587"/>
                  </a:ext>
                </a:extLst>
              </a:tr>
              <a:tr h="41493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J3</a:t>
                      </a:r>
                      <a:endParaRPr lang="en-US" sz="120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4</a:t>
                      </a:r>
                      <a:endParaRPr lang="en-US" sz="120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8</a:t>
                      </a:r>
                      <a:endParaRPr lang="en-US" sz="1200" dirty="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37411579"/>
                  </a:ext>
                </a:extLst>
              </a:tr>
              <a:tr h="41493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J4</a:t>
                      </a:r>
                      <a:endParaRPr lang="en-US" sz="120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10</a:t>
                      </a:r>
                      <a:endParaRPr lang="en-US" sz="120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4</a:t>
                      </a:r>
                      <a:endParaRPr lang="en-US" sz="120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82892104"/>
                  </a:ext>
                </a:extLst>
              </a:tr>
              <a:tr h="41493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J5</a:t>
                      </a:r>
                      <a:endParaRPr lang="en-US" sz="120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12</a:t>
                      </a:r>
                      <a:endParaRPr lang="en-US" sz="120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US" sz="120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85663482"/>
                  </a:ext>
                </a:extLst>
              </a:tr>
              <a:tr h="41493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J6</a:t>
                      </a:r>
                      <a:endParaRPr lang="en-US" sz="120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15</a:t>
                      </a:r>
                      <a:endParaRPr lang="en-US" sz="120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3</a:t>
                      </a:r>
                      <a:endParaRPr lang="en-US" sz="1200" dirty="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68830650"/>
                  </a:ext>
                </a:extLst>
              </a:tr>
            </a:tbl>
          </a:graphicData>
        </a:graphic>
      </p:graphicFrame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966DCC44-3148-8145-D583-04DEBD1C99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60670951"/>
              </p:ext>
            </p:extLst>
          </p:nvPr>
        </p:nvGraphicFramePr>
        <p:xfrm>
          <a:off x="1945780" y="5587369"/>
          <a:ext cx="7350372" cy="65218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1998">
                  <a:extLst>
                    <a:ext uri="{9D8B030D-6E8A-4147-A177-3AD203B41FA5}">
                      <a16:colId xmlns:a16="http://schemas.microsoft.com/office/drawing/2014/main" val="1116758109"/>
                    </a:ext>
                  </a:extLst>
                </a:gridCol>
                <a:gridCol w="271998">
                  <a:extLst>
                    <a:ext uri="{9D8B030D-6E8A-4147-A177-3AD203B41FA5}">
                      <a16:colId xmlns:a16="http://schemas.microsoft.com/office/drawing/2014/main" val="2469162129"/>
                    </a:ext>
                  </a:extLst>
                </a:gridCol>
                <a:gridCol w="272712">
                  <a:extLst>
                    <a:ext uri="{9D8B030D-6E8A-4147-A177-3AD203B41FA5}">
                      <a16:colId xmlns:a16="http://schemas.microsoft.com/office/drawing/2014/main" val="1827621166"/>
                    </a:ext>
                  </a:extLst>
                </a:gridCol>
                <a:gridCol w="271998">
                  <a:extLst>
                    <a:ext uri="{9D8B030D-6E8A-4147-A177-3AD203B41FA5}">
                      <a16:colId xmlns:a16="http://schemas.microsoft.com/office/drawing/2014/main" val="4192377585"/>
                    </a:ext>
                  </a:extLst>
                </a:gridCol>
                <a:gridCol w="271998">
                  <a:extLst>
                    <a:ext uri="{9D8B030D-6E8A-4147-A177-3AD203B41FA5}">
                      <a16:colId xmlns:a16="http://schemas.microsoft.com/office/drawing/2014/main" val="2534664114"/>
                    </a:ext>
                  </a:extLst>
                </a:gridCol>
                <a:gridCol w="272712">
                  <a:extLst>
                    <a:ext uri="{9D8B030D-6E8A-4147-A177-3AD203B41FA5}">
                      <a16:colId xmlns:a16="http://schemas.microsoft.com/office/drawing/2014/main" val="451707309"/>
                    </a:ext>
                  </a:extLst>
                </a:gridCol>
                <a:gridCol w="271998">
                  <a:extLst>
                    <a:ext uri="{9D8B030D-6E8A-4147-A177-3AD203B41FA5}">
                      <a16:colId xmlns:a16="http://schemas.microsoft.com/office/drawing/2014/main" val="2066960426"/>
                    </a:ext>
                  </a:extLst>
                </a:gridCol>
                <a:gridCol w="271998">
                  <a:extLst>
                    <a:ext uri="{9D8B030D-6E8A-4147-A177-3AD203B41FA5}">
                      <a16:colId xmlns:a16="http://schemas.microsoft.com/office/drawing/2014/main" val="1340491954"/>
                    </a:ext>
                  </a:extLst>
                </a:gridCol>
                <a:gridCol w="272712">
                  <a:extLst>
                    <a:ext uri="{9D8B030D-6E8A-4147-A177-3AD203B41FA5}">
                      <a16:colId xmlns:a16="http://schemas.microsoft.com/office/drawing/2014/main" val="1909699790"/>
                    </a:ext>
                  </a:extLst>
                </a:gridCol>
                <a:gridCol w="271998">
                  <a:extLst>
                    <a:ext uri="{9D8B030D-6E8A-4147-A177-3AD203B41FA5}">
                      <a16:colId xmlns:a16="http://schemas.microsoft.com/office/drawing/2014/main" val="591336361"/>
                    </a:ext>
                  </a:extLst>
                </a:gridCol>
                <a:gridCol w="271998">
                  <a:extLst>
                    <a:ext uri="{9D8B030D-6E8A-4147-A177-3AD203B41FA5}">
                      <a16:colId xmlns:a16="http://schemas.microsoft.com/office/drawing/2014/main" val="3199079674"/>
                    </a:ext>
                  </a:extLst>
                </a:gridCol>
                <a:gridCol w="272712">
                  <a:extLst>
                    <a:ext uri="{9D8B030D-6E8A-4147-A177-3AD203B41FA5}">
                      <a16:colId xmlns:a16="http://schemas.microsoft.com/office/drawing/2014/main" val="2395426672"/>
                    </a:ext>
                  </a:extLst>
                </a:gridCol>
                <a:gridCol w="271998">
                  <a:extLst>
                    <a:ext uri="{9D8B030D-6E8A-4147-A177-3AD203B41FA5}">
                      <a16:colId xmlns:a16="http://schemas.microsoft.com/office/drawing/2014/main" val="1682416399"/>
                    </a:ext>
                  </a:extLst>
                </a:gridCol>
                <a:gridCol w="271998">
                  <a:extLst>
                    <a:ext uri="{9D8B030D-6E8A-4147-A177-3AD203B41FA5}">
                      <a16:colId xmlns:a16="http://schemas.microsoft.com/office/drawing/2014/main" val="947198817"/>
                    </a:ext>
                  </a:extLst>
                </a:gridCol>
                <a:gridCol w="272712">
                  <a:extLst>
                    <a:ext uri="{9D8B030D-6E8A-4147-A177-3AD203B41FA5}">
                      <a16:colId xmlns:a16="http://schemas.microsoft.com/office/drawing/2014/main" val="219128011"/>
                    </a:ext>
                  </a:extLst>
                </a:gridCol>
                <a:gridCol w="271998">
                  <a:extLst>
                    <a:ext uri="{9D8B030D-6E8A-4147-A177-3AD203B41FA5}">
                      <a16:colId xmlns:a16="http://schemas.microsoft.com/office/drawing/2014/main" val="205287308"/>
                    </a:ext>
                  </a:extLst>
                </a:gridCol>
                <a:gridCol w="271998">
                  <a:extLst>
                    <a:ext uri="{9D8B030D-6E8A-4147-A177-3AD203B41FA5}">
                      <a16:colId xmlns:a16="http://schemas.microsoft.com/office/drawing/2014/main" val="3497853526"/>
                    </a:ext>
                  </a:extLst>
                </a:gridCol>
                <a:gridCol w="272712">
                  <a:extLst>
                    <a:ext uri="{9D8B030D-6E8A-4147-A177-3AD203B41FA5}">
                      <a16:colId xmlns:a16="http://schemas.microsoft.com/office/drawing/2014/main" val="1488256473"/>
                    </a:ext>
                  </a:extLst>
                </a:gridCol>
                <a:gridCol w="271998">
                  <a:extLst>
                    <a:ext uri="{9D8B030D-6E8A-4147-A177-3AD203B41FA5}">
                      <a16:colId xmlns:a16="http://schemas.microsoft.com/office/drawing/2014/main" val="1982012069"/>
                    </a:ext>
                  </a:extLst>
                </a:gridCol>
                <a:gridCol w="271998">
                  <a:extLst>
                    <a:ext uri="{9D8B030D-6E8A-4147-A177-3AD203B41FA5}">
                      <a16:colId xmlns:a16="http://schemas.microsoft.com/office/drawing/2014/main" val="1450336349"/>
                    </a:ext>
                  </a:extLst>
                </a:gridCol>
                <a:gridCol w="272712">
                  <a:extLst>
                    <a:ext uri="{9D8B030D-6E8A-4147-A177-3AD203B41FA5}">
                      <a16:colId xmlns:a16="http://schemas.microsoft.com/office/drawing/2014/main" val="2471774850"/>
                    </a:ext>
                  </a:extLst>
                </a:gridCol>
                <a:gridCol w="271998">
                  <a:extLst>
                    <a:ext uri="{9D8B030D-6E8A-4147-A177-3AD203B41FA5}">
                      <a16:colId xmlns:a16="http://schemas.microsoft.com/office/drawing/2014/main" val="847189181"/>
                    </a:ext>
                  </a:extLst>
                </a:gridCol>
                <a:gridCol w="271998">
                  <a:extLst>
                    <a:ext uri="{9D8B030D-6E8A-4147-A177-3AD203B41FA5}">
                      <a16:colId xmlns:a16="http://schemas.microsoft.com/office/drawing/2014/main" val="3108905705"/>
                    </a:ext>
                  </a:extLst>
                </a:gridCol>
                <a:gridCol w="272712">
                  <a:extLst>
                    <a:ext uri="{9D8B030D-6E8A-4147-A177-3AD203B41FA5}">
                      <a16:colId xmlns:a16="http://schemas.microsoft.com/office/drawing/2014/main" val="3599285932"/>
                    </a:ext>
                  </a:extLst>
                </a:gridCol>
                <a:gridCol w="271998">
                  <a:extLst>
                    <a:ext uri="{9D8B030D-6E8A-4147-A177-3AD203B41FA5}">
                      <a16:colId xmlns:a16="http://schemas.microsoft.com/office/drawing/2014/main" val="1638554768"/>
                    </a:ext>
                  </a:extLst>
                </a:gridCol>
                <a:gridCol w="271998">
                  <a:extLst>
                    <a:ext uri="{9D8B030D-6E8A-4147-A177-3AD203B41FA5}">
                      <a16:colId xmlns:a16="http://schemas.microsoft.com/office/drawing/2014/main" val="3849075114"/>
                    </a:ext>
                  </a:extLst>
                </a:gridCol>
                <a:gridCol w="272712">
                  <a:extLst>
                    <a:ext uri="{9D8B030D-6E8A-4147-A177-3AD203B41FA5}">
                      <a16:colId xmlns:a16="http://schemas.microsoft.com/office/drawing/2014/main" val="3010048109"/>
                    </a:ext>
                  </a:extLst>
                </a:gridCol>
              </a:tblGrid>
              <a:tr h="652185"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J1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J2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J3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J4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J5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J6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7128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5812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FCFS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9901278"/>
              </p:ext>
            </p:extLst>
          </p:nvPr>
        </p:nvGraphicFramePr>
        <p:xfrm>
          <a:off x="1638091" y="1755452"/>
          <a:ext cx="7350372" cy="65218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1998">
                  <a:extLst>
                    <a:ext uri="{9D8B030D-6E8A-4147-A177-3AD203B41FA5}">
                      <a16:colId xmlns:a16="http://schemas.microsoft.com/office/drawing/2014/main" val="1116758109"/>
                    </a:ext>
                  </a:extLst>
                </a:gridCol>
                <a:gridCol w="271998">
                  <a:extLst>
                    <a:ext uri="{9D8B030D-6E8A-4147-A177-3AD203B41FA5}">
                      <a16:colId xmlns:a16="http://schemas.microsoft.com/office/drawing/2014/main" val="2469162129"/>
                    </a:ext>
                  </a:extLst>
                </a:gridCol>
                <a:gridCol w="272712">
                  <a:extLst>
                    <a:ext uri="{9D8B030D-6E8A-4147-A177-3AD203B41FA5}">
                      <a16:colId xmlns:a16="http://schemas.microsoft.com/office/drawing/2014/main" val="1827621166"/>
                    </a:ext>
                  </a:extLst>
                </a:gridCol>
                <a:gridCol w="271998">
                  <a:extLst>
                    <a:ext uri="{9D8B030D-6E8A-4147-A177-3AD203B41FA5}">
                      <a16:colId xmlns:a16="http://schemas.microsoft.com/office/drawing/2014/main" val="4192377585"/>
                    </a:ext>
                  </a:extLst>
                </a:gridCol>
                <a:gridCol w="271998">
                  <a:extLst>
                    <a:ext uri="{9D8B030D-6E8A-4147-A177-3AD203B41FA5}">
                      <a16:colId xmlns:a16="http://schemas.microsoft.com/office/drawing/2014/main" val="2534664114"/>
                    </a:ext>
                  </a:extLst>
                </a:gridCol>
                <a:gridCol w="272712">
                  <a:extLst>
                    <a:ext uri="{9D8B030D-6E8A-4147-A177-3AD203B41FA5}">
                      <a16:colId xmlns:a16="http://schemas.microsoft.com/office/drawing/2014/main" val="451707309"/>
                    </a:ext>
                  </a:extLst>
                </a:gridCol>
                <a:gridCol w="271998">
                  <a:extLst>
                    <a:ext uri="{9D8B030D-6E8A-4147-A177-3AD203B41FA5}">
                      <a16:colId xmlns:a16="http://schemas.microsoft.com/office/drawing/2014/main" val="2066960426"/>
                    </a:ext>
                  </a:extLst>
                </a:gridCol>
                <a:gridCol w="271998">
                  <a:extLst>
                    <a:ext uri="{9D8B030D-6E8A-4147-A177-3AD203B41FA5}">
                      <a16:colId xmlns:a16="http://schemas.microsoft.com/office/drawing/2014/main" val="1340491954"/>
                    </a:ext>
                  </a:extLst>
                </a:gridCol>
                <a:gridCol w="272712">
                  <a:extLst>
                    <a:ext uri="{9D8B030D-6E8A-4147-A177-3AD203B41FA5}">
                      <a16:colId xmlns:a16="http://schemas.microsoft.com/office/drawing/2014/main" val="1909699790"/>
                    </a:ext>
                  </a:extLst>
                </a:gridCol>
                <a:gridCol w="271998">
                  <a:extLst>
                    <a:ext uri="{9D8B030D-6E8A-4147-A177-3AD203B41FA5}">
                      <a16:colId xmlns:a16="http://schemas.microsoft.com/office/drawing/2014/main" val="591336361"/>
                    </a:ext>
                  </a:extLst>
                </a:gridCol>
                <a:gridCol w="271998">
                  <a:extLst>
                    <a:ext uri="{9D8B030D-6E8A-4147-A177-3AD203B41FA5}">
                      <a16:colId xmlns:a16="http://schemas.microsoft.com/office/drawing/2014/main" val="3199079674"/>
                    </a:ext>
                  </a:extLst>
                </a:gridCol>
                <a:gridCol w="272712">
                  <a:extLst>
                    <a:ext uri="{9D8B030D-6E8A-4147-A177-3AD203B41FA5}">
                      <a16:colId xmlns:a16="http://schemas.microsoft.com/office/drawing/2014/main" val="2395426672"/>
                    </a:ext>
                  </a:extLst>
                </a:gridCol>
                <a:gridCol w="271998">
                  <a:extLst>
                    <a:ext uri="{9D8B030D-6E8A-4147-A177-3AD203B41FA5}">
                      <a16:colId xmlns:a16="http://schemas.microsoft.com/office/drawing/2014/main" val="1682416399"/>
                    </a:ext>
                  </a:extLst>
                </a:gridCol>
                <a:gridCol w="271998">
                  <a:extLst>
                    <a:ext uri="{9D8B030D-6E8A-4147-A177-3AD203B41FA5}">
                      <a16:colId xmlns:a16="http://schemas.microsoft.com/office/drawing/2014/main" val="947198817"/>
                    </a:ext>
                  </a:extLst>
                </a:gridCol>
                <a:gridCol w="272712">
                  <a:extLst>
                    <a:ext uri="{9D8B030D-6E8A-4147-A177-3AD203B41FA5}">
                      <a16:colId xmlns:a16="http://schemas.microsoft.com/office/drawing/2014/main" val="219128011"/>
                    </a:ext>
                  </a:extLst>
                </a:gridCol>
                <a:gridCol w="271998">
                  <a:extLst>
                    <a:ext uri="{9D8B030D-6E8A-4147-A177-3AD203B41FA5}">
                      <a16:colId xmlns:a16="http://schemas.microsoft.com/office/drawing/2014/main" val="205287308"/>
                    </a:ext>
                  </a:extLst>
                </a:gridCol>
                <a:gridCol w="271998">
                  <a:extLst>
                    <a:ext uri="{9D8B030D-6E8A-4147-A177-3AD203B41FA5}">
                      <a16:colId xmlns:a16="http://schemas.microsoft.com/office/drawing/2014/main" val="3497853526"/>
                    </a:ext>
                  </a:extLst>
                </a:gridCol>
                <a:gridCol w="272712">
                  <a:extLst>
                    <a:ext uri="{9D8B030D-6E8A-4147-A177-3AD203B41FA5}">
                      <a16:colId xmlns:a16="http://schemas.microsoft.com/office/drawing/2014/main" val="1488256473"/>
                    </a:ext>
                  </a:extLst>
                </a:gridCol>
                <a:gridCol w="271998">
                  <a:extLst>
                    <a:ext uri="{9D8B030D-6E8A-4147-A177-3AD203B41FA5}">
                      <a16:colId xmlns:a16="http://schemas.microsoft.com/office/drawing/2014/main" val="1982012069"/>
                    </a:ext>
                  </a:extLst>
                </a:gridCol>
                <a:gridCol w="271998">
                  <a:extLst>
                    <a:ext uri="{9D8B030D-6E8A-4147-A177-3AD203B41FA5}">
                      <a16:colId xmlns:a16="http://schemas.microsoft.com/office/drawing/2014/main" val="1450336349"/>
                    </a:ext>
                  </a:extLst>
                </a:gridCol>
                <a:gridCol w="272712">
                  <a:extLst>
                    <a:ext uri="{9D8B030D-6E8A-4147-A177-3AD203B41FA5}">
                      <a16:colId xmlns:a16="http://schemas.microsoft.com/office/drawing/2014/main" val="2471774850"/>
                    </a:ext>
                  </a:extLst>
                </a:gridCol>
                <a:gridCol w="271998">
                  <a:extLst>
                    <a:ext uri="{9D8B030D-6E8A-4147-A177-3AD203B41FA5}">
                      <a16:colId xmlns:a16="http://schemas.microsoft.com/office/drawing/2014/main" val="847189181"/>
                    </a:ext>
                  </a:extLst>
                </a:gridCol>
                <a:gridCol w="271998">
                  <a:extLst>
                    <a:ext uri="{9D8B030D-6E8A-4147-A177-3AD203B41FA5}">
                      <a16:colId xmlns:a16="http://schemas.microsoft.com/office/drawing/2014/main" val="3108905705"/>
                    </a:ext>
                  </a:extLst>
                </a:gridCol>
                <a:gridCol w="272712">
                  <a:extLst>
                    <a:ext uri="{9D8B030D-6E8A-4147-A177-3AD203B41FA5}">
                      <a16:colId xmlns:a16="http://schemas.microsoft.com/office/drawing/2014/main" val="3599285932"/>
                    </a:ext>
                  </a:extLst>
                </a:gridCol>
                <a:gridCol w="271998">
                  <a:extLst>
                    <a:ext uri="{9D8B030D-6E8A-4147-A177-3AD203B41FA5}">
                      <a16:colId xmlns:a16="http://schemas.microsoft.com/office/drawing/2014/main" val="1638554768"/>
                    </a:ext>
                  </a:extLst>
                </a:gridCol>
                <a:gridCol w="271998">
                  <a:extLst>
                    <a:ext uri="{9D8B030D-6E8A-4147-A177-3AD203B41FA5}">
                      <a16:colId xmlns:a16="http://schemas.microsoft.com/office/drawing/2014/main" val="3849075114"/>
                    </a:ext>
                  </a:extLst>
                </a:gridCol>
                <a:gridCol w="272712">
                  <a:extLst>
                    <a:ext uri="{9D8B030D-6E8A-4147-A177-3AD203B41FA5}">
                      <a16:colId xmlns:a16="http://schemas.microsoft.com/office/drawing/2014/main" val="3010048109"/>
                    </a:ext>
                  </a:extLst>
                </a:gridCol>
              </a:tblGrid>
              <a:tr h="652185"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J1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J2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J3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J4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J5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J6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7128123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118467"/>
              </p:ext>
            </p:extLst>
          </p:nvPr>
        </p:nvGraphicFramePr>
        <p:xfrm>
          <a:off x="1246909" y="2762756"/>
          <a:ext cx="8449643" cy="28850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56830">
                  <a:extLst>
                    <a:ext uri="{9D8B030D-6E8A-4147-A177-3AD203B41FA5}">
                      <a16:colId xmlns:a16="http://schemas.microsoft.com/office/drawing/2014/main" val="2874333124"/>
                    </a:ext>
                  </a:extLst>
                </a:gridCol>
                <a:gridCol w="2563166">
                  <a:extLst>
                    <a:ext uri="{9D8B030D-6E8A-4147-A177-3AD203B41FA5}">
                      <a16:colId xmlns:a16="http://schemas.microsoft.com/office/drawing/2014/main" val="3312681020"/>
                    </a:ext>
                  </a:extLst>
                </a:gridCol>
                <a:gridCol w="3729647">
                  <a:extLst>
                    <a:ext uri="{9D8B030D-6E8A-4147-A177-3AD203B41FA5}">
                      <a16:colId xmlns:a16="http://schemas.microsoft.com/office/drawing/2014/main" val="2356467727"/>
                    </a:ext>
                  </a:extLst>
                </a:gridCol>
              </a:tblGrid>
              <a:tr h="360626"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Job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Thời gian chờ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Thời gian hoàn thành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02622325"/>
                  </a:ext>
                </a:extLst>
              </a:tr>
              <a:tr h="360626"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J1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5 – 0 = 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33788271"/>
                  </a:ext>
                </a:extLst>
              </a:tr>
              <a:tr h="360626"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J2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5 – 3 = 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11 – 3 = 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386052"/>
                  </a:ext>
                </a:extLst>
              </a:tr>
              <a:tr h="360626"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J3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11 – 4 = 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19 – 4 = 15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78534559"/>
                  </a:ext>
                </a:extLst>
              </a:tr>
              <a:tr h="360626"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J4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19 – 10 = 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23 – 10 = 13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84886220"/>
                  </a:ext>
                </a:extLst>
              </a:tr>
              <a:tr h="360626"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J5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23 – 12 = 11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24 – 12 = 12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34283410"/>
                  </a:ext>
                </a:extLst>
              </a:tr>
              <a:tr h="360626"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J6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24 – 15 = 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27 – 15 = 12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59270012"/>
                  </a:ext>
                </a:extLst>
              </a:tr>
              <a:tr h="360626"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Trung Bình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6.33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10.83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915739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0936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527" y="365125"/>
            <a:ext cx="11676936" cy="1561472"/>
          </a:xfrm>
        </p:spPr>
        <p:txBody>
          <a:bodyPr>
            <a:noAutofit/>
          </a:bodyPr>
          <a:lstStyle/>
          <a:p>
            <a:r>
              <a:rPr lang="en-US" sz="3500" dirty="0"/>
              <a:t>Assume that you have following processes, their arrival times and burst times. For </a:t>
            </a:r>
            <a:r>
              <a:rPr lang="en-US" sz="3500" dirty="0">
                <a:highlight>
                  <a:srgbClr val="FFFF00"/>
                </a:highlight>
              </a:rPr>
              <a:t>SJF</a:t>
            </a:r>
            <a:r>
              <a:rPr lang="en-US" sz="3500" dirty="0"/>
              <a:t> non-preemptive scheduling algorithms, determine the waiting times for each process and the average waiting times.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1748494"/>
              </p:ext>
            </p:extLst>
          </p:nvPr>
        </p:nvGraphicFramePr>
        <p:xfrm>
          <a:off x="2273776" y="2195540"/>
          <a:ext cx="7041368" cy="29241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45728">
                  <a:extLst>
                    <a:ext uri="{9D8B030D-6E8A-4147-A177-3AD203B41FA5}">
                      <a16:colId xmlns:a16="http://schemas.microsoft.com/office/drawing/2014/main" val="4119963369"/>
                    </a:ext>
                  </a:extLst>
                </a:gridCol>
                <a:gridCol w="3056640">
                  <a:extLst>
                    <a:ext uri="{9D8B030D-6E8A-4147-A177-3AD203B41FA5}">
                      <a16:colId xmlns:a16="http://schemas.microsoft.com/office/drawing/2014/main" val="3364220472"/>
                    </a:ext>
                  </a:extLst>
                </a:gridCol>
                <a:gridCol w="2639000">
                  <a:extLst>
                    <a:ext uri="{9D8B030D-6E8A-4147-A177-3AD203B41FA5}">
                      <a16:colId xmlns:a16="http://schemas.microsoft.com/office/drawing/2014/main" val="309876574"/>
                    </a:ext>
                  </a:extLst>
                </a:gridCol>
              </a:tblGrid>
              <a:tr h="41773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Job</a:t>
                      </a:r>
                      <a:endParaRPr lang="en-US" sz="120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Arrival Time</a:t>
                      </a:r>
                      <a:endParaRPr lang="en-US" sz="1200" dirty="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CPU burst</a:t>
                      </a:r>
                      <a:endParaRPr lang="en-US" sz="120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32601171"/>
                  </a:ext>
                </a:extLst>
              </a:tr>
              <a:tr h="41773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J1</a:t>
                      </a:r>
                      <a:endParaRPr lang="en-US" sz="1200" dirty="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US" sz="120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5</a:t>
                      </a:r>
                      <a:endParaRPr lang="en-US" sz="120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58695029"/>
                  </a:ext>
                </a:extLst>
              </a:tr>
              <a:tr h="41773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J2</a:t>
                      </a:r>
                      <a:endParaRPr lang="en-US" sz="120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3</a:t>
                      </a:r>
                      <a:endParaRPr lang="en-US" sz="1200" dirty="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6</a:t>
                      </a:r>
                      <a:endParaRPr lang="en-US" sz="120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2682845"/>
                  </a:ext>
                </a:extLst>
              </a:tr>
              <a:tr h="41773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J3</a:t>
                      </a:r>
                      <a:endParaRPr lang="en-US" sz="120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4</a:t>
                      </a:r>
                      <a:endParaRPr lang="en-US" sz="1200" dirty="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8</a:t>
                      </a:r>
                      <a:endParaRPr lang="en-US" sz="1200" dirty="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82860700"/>
                  </a:ext>
                </a:extLst>
              </a:tr>
              <a:tr h="41773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J4</a:t>
                      </a:r>
                      <a:endParaRPr lang="en-US" sz="120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10</a:t>
                      </a:r>
                      <a:endParaRPr lang="en-US" sz="120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4</a:t>
                      </a:r>
                      <a:endParaRPr lang="en-US" sz="1200" dirty="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74443829"/>
                  </a:ext>
                </a:extLst>
              </a:tr>
              <a:tr h="41773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J5</a:t>
                      </a:r>
                      <a:endParaRPr lang="en-US" sz="120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12</a:t>
                      </a:r>
                      <a:endParaRPr lang="en-US" sz="120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1</a:t>
                      </a:r>
                      <a:endParaRPr lang="en-US" sz="1200" dirty="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9183502"/>
                  </a:ext>
                </a:extLst>
              </a:tr>
              <a:tr h="41773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J6</a:t>
                      </a:r>
                      <a:endParaRPr lang="en-US" sz="120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15</a:t>
                      </a:r>
                      <a:endParaRPr lang="en-US" sz="120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3</a:t>
                      </a:r>
                      <a:endParaRPr lang="en-US" sz="1200" dirty="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67553324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C4EBEBAA-3429-F011-A831-5987C8D6EC4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67262854"/>
              </p:ext>
            </p:extLst>
          </p:nvPr>
        </p:nvGraphicFramePr>
        <p:xfrm>
          <a:off x="1801646" y="5388607"/>
          <a:ext cx="7668198" cy="10482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3759">
                  <a:extLst>
                    <a:ext uri="{9D8B030D-6E8A-4147-A177-3AD203B41FA5}">
                      <a16:colId xmlns:a16="http://schemas.microsoft.com/office/drawing/2014/main" val="412891036"/>
                    </a:ext>
                  </a:extLst>
                </a:gridCol>
                <a:gridCol w="283759">
                  <a:extLst>
                    <a:ext uri="{9D8B030D-6E8A-4147-A177-3AD203B41FA5}">
                      <a16:colId xmlns:a16="http://schemas.microsoft.com/office/drawing/2014/main" val="2484598787"/>
                    </a:ext>
                  </a:extLst>
                </a:gridCol>
                <a:gridCol w="284504">
                  <a:extLst>
                    <a:ext uri="{9D8B030D-6E8A-4147-A177-3AD203B41FA5}">
                      <a16:colId xmlns:a16="http://schemas.microsoft.com/office/drawing/2014/main" val="1465481351"/>
                    </a:ext>
                  </a:extLst>
                </a:gridCol>
                <a:gridCol w="283759">
                  <a:extLst>
                    <a:ext uri="{9D8B030D-6E8A-4147-A177-3AD203B41FA5}">
                      <a16:colId xmlns:a16="http://schemas.microsoft.com/office/drawing/2014/main" val="2439531861"/>
                    </a:ext>
                  </a:extLst>
                </a:gridCol>
                <a:gridCol w="283759">
                  <a:extLst>
                    <a:ext uri="{9D8B030D-6E8A-4147-A177-3AD203B41FA5}">
                      <a16:colId xmlns:a16="http://schemas.microsoft.com/office/drawing/2014/main" val="3840158433"/>
                    </a:ext>
                  </a:extLst>
                </a:gridCol>
                <a:gridCol w="284504">
                  <a:extLst>
                    <a:ext uri="{9D8B030D-6E8A-4147-A177-3AD203B41FA5}">
                      <a16:colId xmlns:a16="http://schemas.microsoft.com/office/drawing/2014/main" val="3769749423"/>
                    </a:ext>
                  </a:extLst>
                </a:gridCol>
                <a:gridCol w="283759">
                  <a:extLst>
                    <a:ext uri="{9D8B030D-6E8A-4147-A177-3AD203B41FA5}">
                      <a16:colId xmlns:a16="http://schemas.microsoft.com/office/drawing/2014/main" val="2177134796"/>
                    </a:ext>
                  </a:extLst>
                </a:gridCol>
                <a:gridCol w="283759">
                  <a:extLst>
                    <a:ext uri="{9D8B030D-6E8A-4147-A177-3AD203B41FA5}">
                      <a16:colId xmlns:a16="http://schemas.microsoft.com/office/drawing/2014/main" val="3697080709"/>
                    </a:ext>
                  </a:extLst>
                </a:gridCol>
                <a:gridCol w="284504">
                  <a:extLst>
                    <a:ext uri="{9D8B030D-6E8A-4147-A177-3AD203B41FA5}">
                      <a16:colId xmlns:a16="http://schemas.microsoft.com/office/drawing/2014/main" val="245874001"/>
                    </a:ext>
                  </a:extLst>
                </a:gridCol>
                <a:gridCol w="283759">
                  <a:extLst>
                    <a:ext uri="{9D8B030D-6E8A-4147-A177-3AD203B41FA5}">
                      <a16:colId xmlns:a16="http://schemas.microsoft.com/office/drawing/2014/main" val="1604549734"/>
                    </a:ext>
                  </a:extLst>
                </a:gridCol>
                <a:gridCol w="283759">
                  <a:extLst>
                    <a:ext uri="{9D8B030D-6E8A-4147-A177-3AD203B41FA5}">
                      <a16:colId xmlns:a16="http://schemas.microsoft.com/office/drawing/2014/main" val="884104182"/>
                    </a:ext>
                  </a:extLst>
                </a:gridCol>
                <a:gridCol w="284504">
                  <a:extLst>
                    <a:ext uri="{9D8B030D-6E8A-4147-A177-3AD203B41FA5}">
                      <a16:colId xmlns:a16="http://schemas.microsoft.com/office/drawing/2014/main" val="4175935965"/>
                    </a:ext>
                  </a:extLst>
                </a:gridCol>
                <a:gridCol w="283759">
                  <a:extLst>
                    <a:ext uri="{9D8B030D-6E8A-4147-A177-3AD203B41FA5}">
                      <a16:colId xmlns:a16="http://schemas.microsoft.com/office/drawing/2014/main" val="1337148146"/>
                    </a:ext>
                  </a:extLst>
                </a:gridCol>
                <a:gridCol w="283759">
                  <a:extLst>
                    <a:ext uri="{9D8B030D-6E8A-4147-A177-3AD203B41FA5}">
                      <a16:colId xmlns:a16="http://schemas.microsoft.com/office/drawing/2014/main" val="3772654649"/>
                    </a:ext>
                  </a:extLst>
                </a:gridCol>
                <a:gridCol w="284504">
                  <a:extLst>
                    <a:ext uri="{9D8B030D-6E8A-4147-A177-3AD203B41FA5}">
                      <a16:colId xmlns:a16="http://schemas.microsoft.com/office/drawing/2014/main" val="2341671967"/>
                    </a:ext>
                  </a:extLst>
                </a:gridCol>
                <a:gridCol w="283759">
                  <a:extLst>
                    <a:ext uri="{9D8B030D-6E8A-4147-A177-3AD203B41FA5}">
                      <a16:colId xmlns:a16="http://schemas.microsoft.com/office/drawing/2014/main" val="203313303"/>
                    </a:ext>
                  </a:extLst>
                </a:gridCol>
                <a:gridCol w="283759">
                  <a:extLst>
                    <a:ext uri="{9D8B030D-6E8A-4147-A177-3AD203B41FA5}">
                      <a16:colId xmlns:a16="http://schemas.microsoft.com/office/drawing/2014/main" val="3579130991"/>
                    </a:ext>
                  </a:extLst>
                </a:gridCol>
                <a:gridCol w="284504">
                  <a:extLst>
                    <a:ext uri="{9D8B030D-6E8A-4147-A177-3AD203B41FA5}">
                      <a16:colId xmlns:a16="http://schemas.microsoft.com/office/drawing/2014/main" val="3543569111"/>
                    </a:ext>
                  </a:extLst>
                </a:gridCol>
                <a:gridCol w="283759">
                  <a:extLst>
                    <a:ext uri="{9D8B030D-6E8A-4147-A177-3AD203B41FA5}">
                      <a16:colId xmlns:a16="http://schemas.microsoft.com/office/drawing/2014/main" val="466305007"/>
                    </a:ext>
                  </a:extLst>
                </a:gridCol>
                <a:gridCol w="283759">
                  <a:extLst>
                    <a:ext uri="{9D8B030D-6E8A-4147-A177-3AD203B41FA5}">
                      <a16:colId xmlns:a16="http://schemas.microsoft.com/office/drawing/2014/main" val="471846666"/>
                    </a:ext>
                  </a:extLst>
                </a:gridCol>
                <a:gridCol w="284504">
                  <a:extLst>
                    <a:ext uri="{9D8B030D-6E8A-4147-A177-3AD203B41FA5}">
                      <a16:colId xmlns:a16="http://schemas.microsoft.com/office/drawing/2014/main" val="129669962"/>
                    </a:ext>
                  </a:extLst>
                </a:gridCol>
                <a:gridCol w="283759">
                  <a:extLst>
                    <a:ext uri="{9D8B030D-6E8A-4147-A177-3AD203B41FA5}">
                      <a16:colId xmlns:a16="http://schemas.microsoft.com/office/drawing/2014/main" val="2864836174"/>
                    </a:ext>
                  </a:extLst>
                </a:gridCol>
                <a:gridCol w="283759">
                  <a:extLst>
                    <a:ext uri="{9D8B030D-6E8A-4147-A177-3AD203B41FA5}">
                      <a16:colId xmlns:a16="http://schemas.microsoft.com/office/drawing/2014/main" val="641453343"/>
                    </a:ext>
                  </a:extLst>
                </a:gridCol>
                <a:gridCol w="284504">
                  <a:extLst>
                    <a:ext uri="{9D8B030D-6E8A-4147-A177-3AD203B41FA5}">
                      <a16:colId xmlns:a16="http://schemas.microsoft.com/office/drawing/2014/main" val="1671757138"/>
                    </a:ext>
                  </a:extLst>
                </a:gridCol>
                <a:gridCol w="283759">
                  <a:extLst>
                    <a:ext uri="{9D8B030D-6E8A-4147-A177-3AD203B41FA5}">
                      <a16:colId xmlns:a16="http://schemas.microsoft.com/office/drawing/2014/main" val="4210329173"/>
                    </a:ext>
                  </a:extLst>
                </a:gridCol>
                <a:gridCol w="283759">
                  <a:extLst>
                    <a:ext uri="{9D8B030D-6E8A-4147-A177-3AD203B41FA5}">
                      <a16:colId xmlns:a16="http://schemas.microsoft.com/office/drawing/2014/main" val="72528258"/>
                    </a:ext>
                  </a:extLst>
                </a:gridCol>
                <a:gridCol w="284504">
                  <a:extLst>
                    <a:ext uri="{9D8B030D-6E8A-4147-A177-3AD203B41FA5}">
                      <a16:colId xmlns:a16="http://schemas.microsoft.com/office/drawing/2014/main" val="2410853259"/>
                    </a:ext>
                  </a:extLst>
                </a:gridCol>
              </a:tblGrid>
              <a:tr h="1048262"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J1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J2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J4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J5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J6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J3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11348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106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1496"/>
            <a:ext cx="10515600" cy="1325563"/>
          </a:xfrm>
        </p:spPr>
        <p:txBody>
          <a:bodyPr/>
          <a:lstStyle/>
          <a:p>
            <a:r>
              <a:rPr lang="en-US" dirty="0"/>
              <a:t>SJF(Non-</a:t>
            </a:r>
            <a:r>
              <a:rPr lang="en-US" dirty="0" err="1"/>
              <a:t>Preemtive</a:t>
            </a:r>
            <a:r>
              <a:rPr lang="en-US" dirty="0"/>
              <a:t>)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7237489"/>
              </p:ext>
            </p:extLst>
          </p:nvPr>
        </p:nvGraphicFramePr>
        <p:xfrm>
          <a:off x="1437620" y="2136860"/>
          <a:ext cx="7668198" cy="10482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3759">
                  <a:extLst>
                    <a:ext uri="{9D8B030D-6E8A-4147-A177-3AD203B41FA5}">
                      <a16:colId xmlns:a16="http://schemas.microsoft.com/office/drawing/2014/main" val="412891036"/>
                    </a:ext>
                  </a:extLst>
                </a:gridCol>
                <a:gridCol w="283759">
                  <a:extLst>
                    <a:ext uri="{9D8B030D-6E8A-4147-A177-3AD203B41FA5}">
                      <a16:colId xmlns:a16="http://schemas.microsoft.com/office/drawing/2014/main" val="2484598787"/>
                    </a:ext>
                  </a:extLst>
                </a:gridCol>
                <a:gridCol w="284504">
                  <a:extLst>
                    <a:ext uri="{9D8B030D-6E8A-4147-A177-3AD203B41FA5}">
                      <a16:colId xmlns:a16="http://schemas.microsoft.com/office/drawing/2014/main" val="1465481351"/>
                    </a:ext>
                  </a:extLst>
                </a:gridCol>
                <a:gridCol w="283759">
                  <a:extLst>
                    <a:ext uri="{9D8B030D-6E8A-4147-A177-3AD203B41FA5}">
                      <a16:colId xmlns:a16="http://schemas.microsoft.com/office/drawing/2014/main" val="2439531861"/>
                    </a:ext>
                  </a:extLst>
                </a:gridCol>
                <a:gridCol w="283759">
                  <a:extLst>
                    <a:ext uri="{9D8B030D-6E8A-4147-A177-3AD203B41FA5}">
                      <a16:colId xmlns:a16="http://schemas.microsoft.com/office/drawing/2014/main" val="3840158433"/>
                    </a:ext>
                  </a:extLst>
                </a:gridCol>
                <a:gridCol w="284504">
                  <a:extLst>
                    <a:ext uri="{9D8B030D-6E8A-4147-A177-3AD203B41FA5}">
                      <a16:colId xmlns:a16="http://schemas.microsoft.com/office/drawing/2014/main" val="3769749423"/>
                    </a:ext>
                  </a:extLst>
                </a:gridCol>
                <a:gridCol w="283759">
                  <a:extLst>
                    <a:ext uri="{9D8B030D-6E8A-4147-A177-3AD203B41FA5}">
                      <a16:colId xmlns:a16="http://schemas.microsoft.com/office/drawing/2014/main" val="2177134796"/>
                    </a:ext>
                  </a:extLst>
                </a:gridCol>
                <a:gridCol w="283759">
                  <a:extLst>
                    <a:ext uri="{9D8B030D-6E8A-4147-A177-3AD203B41FA5}">
                      <a16:colId xmlns:a16="http://schemas.microsoft.com/office/drawing/2014/main" val="3697080709"/>
                    </a:ext>
                  </a:extLst>
                </a:gridCol>
                <a:gridCol w="284504">
                  <a:extLst>
                    <a:ext uri="{9D8B030D-6E8A-4147-A177-3AD203B41FA5}">
                      <a16:colId xmlns:a16="http://schemas.microsoft.com/office/drawing/2014/main" val="245874001"/>
                    </a:ext>
                  </a:extLst>
                </a:gridCol>
                <a:gridCol w="283759">
                  <a:extLst>
                    <a:ext uri="{9D8B030D-6E8A-4147-A177-3AD203B41FA5}">
                      <a16:colId xmlns:a16="http://schemas.microsoft.com/office/drawing/2014/main" val="1604549734"/>
                    </a:ext>
                  </a:extLst>
                </a:gridCol>
                <a:gridCol w="283759">
                  <a:extLst>
                    <a:ext uri="{9D8B030D-6E8A-4147-A177-3AD203B41FA5}">
                      <a16:colId xmlns:a16="http://schemas.microsoft.com/office/drawing/2014/main" val="884104182"/>
                    </a:ext>
                  </a:extLst>
                </a:gridCol>
                <a:gridCol w="284504">
                  <a:extLst>
                    <a:ext uri="{9D8B030D-6E8A-4147-A177-3AD203B41FA5}">
                      <a16:colId xmlns:a16="http://schemas.microsoft.com/office/drawing/2014/main" val="4175935965"/>
                    </a:ext>
                  </a:extLst>
                </a:gridCol>
                <a:gridCol w="283759">
                  <a:extLst>
                    <a:ext uri="{9D8B030D-6E8A-4147-A177-3AD203B41FA5}">
                      <a16:colId xmlns:a16="http://schemas.microsoft.com/office/drawing/2014/main" val="1337148146"/>
                    </a:ext>
                  </a:extLst>
                </a:gridCol>
                <a:gridCol w="283759">
                  <a:extLst>
                    <a:ext uri="{9D8B030D-6E8A-4147-A177-3AD203B41FA5}">
                      <a16:colId xmlns:a16="http://schemas.microsoft.com/office/drawing/2014/main" val="3772654649"/>
                    </a:ext>
                  </a:extLst>
                </a:gridCol>
                <a:gridCol w="284504">
                  <a:extLst>
                    <a:ext uri="{9D8B030D-6E8A-4147-A177-3AD203B41FA5}">
                      <a16:colId xmlns:a16="http://schemas.microsoft.com/office/drawing/2014/main" val="2341671967"/>
                    </a:ext>
                  </a:extLst>
                </a:gridCol>
                <a:gridCol w="283759">
                  <a:extLst>
                    <a:ext uri="{9D8B030D-6E8A-4147-A177-3AD203B41FA5}">
                      <a16:colId xmlns:a16="http://schemas.microsoft.com/office/drawing/2014/main" val="203313303"/>
                    </a:ext>
                  </a:extLst>
                </a:gridCol>
                <a:gridCol w="283759">
                  <a:extLst>
                    <a:ext uri="{9D8B030D-6E8A-4147-A177-3AD203B41FA5}">
                      <a16:colId xmlns:a16="http://schemas.microsoft.com/office/drawing/2014/main" val="3579130991"/>
                    </a:ext>
                  </a:extLst>
                </a:gridCol>
                <a:gridCol w="284504">
                  <a:extLst>
                    <a:ext uri="{9D8B030D-6E8A-4147-A177-3AD203B41FA5}">
                      <a16:colId xmlns:a16="http://schemas.microsoft.com/office/drawing/2014/main" val="3543569111"/>
                    </a:ext>
                  </a:extLst>
                </a:gridCol>
                <a:gridCol w="283759">
                  <a:extLst>
                    <a:ext uri="{9D8B030D-6E8A-4147-A177-3AD203B41FA5}">
                      <a16:colId xmlns:a16="http://schemas.microsoft.com/office/drawing/2014/main" val="466305007"/>
                    </a:ext>
                  </a:extLst>
                </a:gridCol>
                <a:gridCol w="283759">
                  <a:extLst>
                    <a:ext uri="{9D8B030D-6E8A-4147-A177-3AD203B41FA5}">
                      <a16:colId xmlns:a16="http://schemas.microsoft.com/office/drawing/2014/main" val="471846666"/>
                    </a:ext>
                  </a:extLst>
                </a:gridCol>
                <a:gridCol w="284504">
                  <a:extLst>
                    <a:ext uri="{9D8B030D-6E8A-4147-A177-3AD203B41FA5}">
                      <a16:colId xmlns:a16="http://schemas.microsoft.com/office/drawing/2014/main" val="129669962"/>
                    </a:ext>
                  </a:extLst>
                </a:gridCol>
                <a:gridCol w="283759">
                  <a:extLst>
                    <a:ext uri="{9D8B030D-6E8A-4147-A177-3AD203B41FA5}">
                      <a16:colId xmlns:a16="http://schemas.microsoft.com/office/drawing/2014/main" val="2864836174"/>
                    </a:ext>
                  </a:extLst>
                </a:gridCol>
                <a:gridCol w="283759">
                  <a:extLst>
                    <a:ext uri="{9D8B030D-6E8A-4147-A177-3AD203B41FA5}">
                      <a16:colId xmlns:a16="http://schemas.microsoft.com/office/drawing/2014/main" val="641453343"/>
                    </a:ext>
                  </a:extLst>
                </a:gridCol>
                <a:gridCol w="284504">
                  <a:extLst>
                    <a:ext uri="{9D8B030D-6E8A-4147-A177-3AD203B41FA5}">
                      <a16:colId xmlns:a16="http://schemas.microsoft.com/office/drawing/2014/main" val="1671757138"/>
                    </a:ext>
                  </a:extLst>
                </a:gridCol>
                <a:gridCol w="283759">
                  <a:extLst>
                    <a:ext uri="{9D8B030D-6E8A-4147-A177-3AD203B41FA5}">
                      <a16:colId xmlns:a16="http://schemas.microsoft.com/office/drawing/2014/main" val="4210329173"/>
                    </a:ext>
                  </a:extLst>
                </a:gridCol>
                <a:gridCol w="283759">
                  <a:extLst>
                    <a:ext uri="{9D8B030D-6E8A-4147-A177-3AD203B41FA5}">
                      <a16:colId xmlns:a16="http://schemas.microsoft.com/office/drawing/2014/main" val="72528258"/>
                    </a:ext>
                  </a:extLst>
                </a:gridCol>
                <a:gridCol w="284504">
                  <a:extLst>
                    <a:ext uri="{9D8B030D-6E8A-4147-A177-3AD203B41FA5}">
                      <a16:colId xmlns:a16="http://schemas.microsoft.com/office/drawing/2014/main" val="2410853259"/>
                    </a:ext>
                  </a:extLst>
                </a:gridCol>
              </a:tblGrid>
              <a:tr h="1048262"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J1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J2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J4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J5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J6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J3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1134865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3956066"/>
              </p:ext>
            </p:extLst>
          </p:nvPr>
        </p:nvGraphicFramePr>
        <p:xfrm>
          <a:off x="1916819" y="4051954"/>
          <a:ext cx="6703968" cy="24457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11234">
                  <a:extLst>
                    <a:ext uri="{9D8B030D-6E8A-4147-A177-3AD203B41FA5}">
                      <a16:colId xmlns:a16="http://schemas.microsoft.com/office/drawing/2014/main" val="1052671421"/>
                    </a:ext>
                  </a:extLst>
                </a:gridCol>
                <a:gridCol w="2033623">
                  <a:extLst>
                    <a:ext uri="{9D8B030D-6E8A-4147-A177-3AD203B41FA5}">
                      <a16:colId xmlns:a16="http://schemas.microsoft.com/office/drawing/2014/main" val="356024997"/>
                    </a:ext>
                  </a:extLst>
                </a:gridCol>
                <a:gridCol w="2959111">
                  <a:extLst>
                    <a:ext uri="{9D8B030D-6E8A-4147-A177-3AD203B41FA5}">
                      <a16:colId xmlns:a16="http://schemas.microsoft.com/office/drawing/2014/main" val="139217599"/>
                    </a:ext>
                  </a:extLst>
                </a:gridCol>
              </a:tblGrid>
              <a:tr h="287817"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Job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Thời gian chờ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Thời gian hoàn thành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03711559"/>
                  </a:ext>
                </a:extLst>
              </a:tr>
              <a:tr h="308275"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J1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5 – 0 = 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15986239"/>
                  </a:ext>
                </a:extLst>
              </a:tr>
              <a:tr h="308275"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J2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5 – 3 = 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11 – 3 = 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82073997"/>
                  </a:ext>
                </a:extLst>
              </a:tr>
              <a:tr h="308275"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J3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19 – 4 = 15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27 – 4 = 23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02464673"/>
                  </a:ext>
                </a:extLst>
              </a:tr>
              <a:tr h="308275"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J4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11 – 10 = 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15 – 10 = 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69980209"/>
                  </a:ext>
                </a:extLst>
              </a:tr>
              <a:tr h="308275"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J5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15 – 12 = 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16 – 12 = 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37058696"/>
                  </a:ext>
                </a:extLst>
              </a:tr>
              <a:tr h="308275"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J6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16 – 15 = 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19 – 15 = 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55593594"/>
                  </a:ext>
                </a:extLst>
              </a:tr>
              <a:tr h="308275"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>
                          <a:effectLst/>
                        </a:rPr>
                        <a:t>Trung Bình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3.67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6343650" algn="r"/>
                        </a:tabLst>
                      </a:pPr>
                      <a:r>
                        <a:rPr lang="en-US" sz="1200" dirty="0">
                          <a:effectLst/>
                        </a:rPr>
                        <a:t>8.167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827979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7596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en-US" dirty="0"/>
              <a:t>Chapter 9:  Main Memory</a:t>
            </a:r>
          </a:p>
          <a:p>
            <a:pPr marL="0" indent="0">
              <a:buNone/>
            </a:pPr>
            <a:r>
              <a:rPr lang="en-US" dirty="0"/>
              <a:t>1.</a:t>
            </a:r>
          </a:p>
          <a:p>
            <a:r>
              <a:rPr lang="en-US" altLang="en-US" b="1" dirty="0">
                <a:solidFill>
                  <a:srgbClr val="006699"/>
                </a:solidFill>
              </a:rPr>
              <a:t>First-fit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first</a:t>
            </a:r>
            <a:r>
              <a:rPr lang="en-US" altLang="en-US" dirty="0"/>
              <a:t> hole that is big enough</a:t>
            </a:r>
          </a:p>
          <a:p>
            <a:r>
              <a:rPr lang="en-US" altLang="en-US" b="1" dirty="0">
                <a:solidFill>
                  <a:srgbClr val="006699"/>
                </a:solidFill>
              </a:rPr>
              <a:t>Best-fit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smallest</a:t>
            </a:r>
            <a:r>
              <a:rPr lang="en-US" altLang="en-US" dirty="0"/>
              <a:t> hole that is big enough; must search entire list, unless ordered by size  </a:t>
            </a:r>
          </a:p>
          <a:p>
            <a:pPr lvl="1"/>
            <a:r>
              <a:rPr lang="en-US" altLang="en-US" dirty="0"/>
              <a:t>Produces the smallest leftover hole</a:t>
            </a:r>
          </a:p>
          <a:p>
            <a:r>
              <a:rPr lang="en-US" altLang="en-US" b="1" dirty="0">
                <a:solidFill>
                  <a:srgbClr val="006699"/>
                </a:solidFill>
              </a:rPr>
              <a:t>Worst-fit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largest</a:t>
            </a:r>
            <a:r>
              <a:rPr lang="en-US" altLang="en-US" dirty="0"/>
              <a:t> hole; must also search entire list  </a:t>
            </a:r>
          </a:p>
          <a:p>
            <a:pPr lvl="1"/>
            <a:r>
              <a:rPr lang="en-US" altLang="en-US" dirty="0"/>
              <a:t>Produces the largest leftover hole.</a:t>
            </a:r>
          </a:p>
          <a:p>
            <a:pPr marL="457200" lvl="1" indent="0">
              <a:buNone/>
            </a:pPr>
            <a:r>
              <a:rPr lang="en-US" altLang="en-US" dirty="0"/>
              <a:t>2.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a logical address space of eight pages of 1024 words each, mapped onto a physical memory of 32 frames. </a:t>
            </a:r>
          </a:p>
          <a:p>
            <a:pPr marL="514350" indent="-514350">
              <a:buAutoNum type="alpha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bits are there in the logical address?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How many bits are there in the physical address?</a:t>
            </a:r>
          </a:p>
          <a:p>
            <a:pPr marL="457200" lvl="1" indent="0">
              <a:buNone/>
            </a:pPr>
            <a:endParaRPr lang="en-US" altLang="en-US" dirty="0"/>
          </a:p>
          <a:p>
            <a:pPr marL="457200" lvl="1" indent="0"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15407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76963-D0F6-849D-105F-DFA63CFBD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5728"/>
            <a:ext cx="10515600" cy="1325563"/>
          </a:xfrm>
        </p:spPr>
        <p:txBody>
          <a:bodyPr>
            <a:noAutofit/>
          </a:bodyPr>
          <a:lstStyle/>
          <a:p>
            <a:r>
              <a:rPr lang="en-US" sz="3500" dirty="0"/>
              <a:t>. Given five memory partitions of 100 KB, 500 KB, 200 KB, 300 KB, and 600 KB (in order), how would each of the First-fit, Best-fit and worst fit place processes of 210 KB, 415 KB, 100 KB, and 586 KB (in order)?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99AF0-9875-281F-932A-275216DB8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196" y="2228654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First-fit	</a:t>
            </a:r>
          </a:p>
          <a:p>
            <a:pPr marL="0" indent="0">
              <a:buNone/>
            </a:pPr>
            <a:r>
              <a:rPr lang="en-US" sz="1400" dirty="0"/>
              <a:t>		100, 500, 200, 300, 600</a:t>
            </a:r>
          </a:p>
          <a:p>
            <a:pPr marL="0" indent="0">
              <a:buNone/>
            </a:pPr>
            <a:r>
              <a:rPr lang="en-US" sz="1400" dirty="0"/>
              <a:t>P1(210)	100, 290,200, 300, 600</a:t>
            </a:r>
          </a:p>
          <a:p>
            <a:pPr marL="0" indent="0">
              <a:buNone/>
            </a:pPr>
            <a:r>
              <a:rPr lang="en-US" sz="1400" dirty="0"/>
              <a:t>P2(415)	100, 290, 200, 300, 185</a:t>
            </a:r>
          </a:p>
          <a:p>
            <a:pPr marL="0" indent="0">
              <a:buNone/>
            </a:pPr>
            <a:r>
              <a:rPr lang="en-US" sz="1400" dirty="0"/>
              <a:t>P3(100)	0,  290, 200, 300, 185</a:t>
            </a:r>
          </a:p>
          <a:p>
            <a:pPr marL="0" indent="0">
              <a:buNone/>
            </a:pPr>
            <a:r>
              <a:rPr lang="en-US" sz="1400" dirty="0"/>
              <a:t>P4(586)	Wait</a:t>
            </a:r>
          </a:p>
          <a:p>
            <a:pPr marL="0" indent="0">
              <a:buNone/>
            </a:pPr>
            <a:r>
              <a:rPr lang="en-US" sz="1500" dirty="0"/>
              <a:t>Best-fit</a:t>
            </a:r>
          </a:p>
          <a:p>
            <a:pPr marL="0" indent="0">
              <a:buNone/>
            </a:pPr>
            <a:r>
              <a:rPr lang="en-US" sz="1500" dirty="0"/>
              <a:t>		100, 500, 200, 300, 600</a:t>
            </a:r>
          </a:p>
          <a:p>
            <a:pPr marL="0" indent="0">
              <a:buNone/>
            </a:pPr>
            <a:r>
              <a:rPr lang="en-US" sz="1500" dirty="0"/>
              <a:t>P1(210)	100, 500, 200, 90, 600</a:t>
            </a:r>
          </a:p>
          <a:p>
            <a:pPr marL="0" indent="0">
              <a:buNone/>
            </a:pPr>
            <a:r>
              <a:rPr lang="en-US" sz="1500" dirty="0"/>
              <a:t>P2(415)	100, 85, 200, 90, 600</a:t>
            </a:r>
          </a:p>
          <a:p>
            <a:pPr marL="0" indent="0">
              <a:buNone/>
            </a:pPr>
            <a:r>
              <a:rPr lang="en-US" sz="1500" dirty="0"/>
              <a:t>P3(100)	0, 85, 200, 90, 600</a:t>
            </a:r>
          </a:p>
          <a:p>
            <a:pPr marL="0" indent="0">
              <a:buNone/>
            </a:pPr>
            <a:r>
              <a:rPr lang="en-US" sz="1500" dirty="0"/>
              <a:t>P4(586)	0, 85, 200, 90, 14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21934A-2F2A-CE45-2990-FA7A938FF2A7}"/>
              </a:ext>
            </a:extLst>
          </p:cNvPr>
          <p:cNvSpPr txBox="1"/>
          <p:nvPr/>
        </p:nvSpPr>
        <p:spPr>
          <a:xfrm flipV="1">
            <a:off x="6582814" y="2323806"/>
            <a:ext cx="4903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D3417C-0BF0-38E7-CB73-7412737A3759}"/>
              </a:ext>
            </a:extLst>
          </p:cNvPr>
          <p:cNvSpPr txBox="1"/>
          <p:nvPr/>
        </p:nvSpPr>
        <p:spPr>
          <a:xfrm>
            <a:off x="4524330" y="3063890"/>
            <a:ext cx="6829470" cy="3062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Worst-fit</a:t>
            </a:r>
          </a:p>
          <a:p>
            <a:r>
              <a:rPr lang="en-US" sz="3500" dirty="0"/>
              <a:t>		100, 500, 200, 300, 600</a:t>
            </a:r>
          </a:p>
          <a:p>
            <a:r>
              <a:rPr lang="en-US" sz="3500" dirty="0"/>
              <a:t>P1(210)	100, 500, 200, 300, 390</a:t>
            </a:r>
          </a:p>
          <a:p>
            <a:r>
              <a:rPr lang="en-US" sz="3500" dirty="0"/>
              <a:t>P2(415)	100, 85, 200, 300, 390</a:t>
            </a:r>
          </a:p>
          <a:p>
            <a:r>
              <a:rPr lang="en-US" sz="3500" dirty="0"/>
              <a:t>P3(100)	100, 85, 200, 300, 290</a:t>
            </a:r>
          </a:p>
          <a:p>
            <a:r>
              <a:rPr lang="en-US" sz="3500" dirty="0"/>
              <a:t>P4(586) wait	</a:t>
            </a:r>
          </a:p>
        </p:txBody>
      </p:sp>
    </p:spTree>
    <p:extLst>
      <p:ext uri="{BB962C8B-B14F-4D97-AF65-F5344CB8AC3E}">
        <p14:creationId xmlns:p14="http://schemas.microsoft.com/office/powerpoint/2010/main" val="1587223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z="200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353646" y="1819032"/>
            <a:ext cx="7313595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tabLst>
                <a:tab pos="152400" algn="l"/>
                <a:tab pos="3200400" algn="l"/>
                <a:tab pos="624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tabLst>
                <a:tab pos="152400" algn="l"/>
                <a:tab pos="3200400" algn="l"/>
                <a:tab pos="624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tabLst>
                <a:tab pos="152400" algn="l"/>
                <a:tab pos="3200400" algn="l"/>
                <a:tab pos="624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tabLst>
                <a:tab pos="152400" algn="l"/>
                <a:tab pos="3200400" algn="l"/>
                <a:tab pos="624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tabLst>
                <a:tab pos="152400" algn="l"/>
                <a:tab pos="3200400" algn="l"/>
                <a:tab pos="624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52400" algn="l"/>
                <a:tab pos="3200400" algn="l"/>
                <a:tab pos="624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52400" algn="l"/>
                <a:tab pos="3200400" algn="l"/>
                <a:tab pos="624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52400" algn="l"/>
                <a:tab pos="3200400" algn="l"/>
                <a:tab pos="624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52400" algn="l"/>
                <a:tab pos="3200400" algn="l"/>
                <a:tab pos="624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Consider the following segment table</a:t>
            </a:r>
            <a:endParaRPr lang="en-US" altLang="en-US" sz="20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are the physical addresses for the following logical addresses: 0.31; 1.300; 2.10; 3.678; 4.1025</a:t>
            </a:r>
            <a:endParaRPr lang="en-US" altLang="en-US" sz="20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27861" y="3243132"/>
          <a:ext cx="3708400" cy="22186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67678">
                  <a:extLst>
                    <a:ext uri="{9D8B030D-6E8A-4147-A177-3AD203B41FA5}">
                      <a16:colId xmlns:a16="http://schemas.microsoft.com/office/drawing/2014/main" val="2125233100"/>
                    </a:ext>
                  </a:extLst>
                </a:gridCol>
                <a:gridCol w="1010714">
                  <a:extLst>
                    <a:ext uri="{9D8B030D-6E8A-4147-A177-3AD203B41FA5}">
                      <a16:colId xmlns:a16="http://schemas.microsoft.com/office/drawing/2014/main" val="3374226209"/>
                    </a:ext>
                  </a:extLst>
                </a:gridCol>
                <a:gridCol w="1230008">
                  <a:extLst>
                    <a:ext uri="{9D8B030D-6E8A-4147-A177-3AD203B41FA5}">
                      <a16:colId xmlns:a16="http://schemas.microsoft.com/office/drawing/2014/main" val="1418019837"/>
                    </a:ext>
                  </a:extLst>
                </a:gridCol>
              </a:tblGrid>
              <a:tr h="3411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400800" algn="r"/>
                        </a:tabLst>
                      </a:pPr>
                      <a:r>
                        <a:rPr lang="en-US" sz="1100" dirty="0">
                          <a:effectLst/>
                        </a:rPr>
                        <a:t>Segment</a:t>
                      </a:r>
                      <a:endParaRPr lang="en-US" sz="1200" dirty="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400800" algn="r"/>
                        </a:tabLst>
                      </a:pPr>
                      <a:r>
                        <a:rPr lang="en-US" sz="1100">
                          <a:effectLst/>
                        </a:rPr>
                        <a:t>Base</a:t>
                      </a:r>
                      <a:endParaRPr lang="en-US" sz="120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400800" algn="r"/>
                        </a:tabLst>
                      </a:pPr>
                      <a:r>
                        <a:rPr lang="en-US" sz="1100">
                          <a:effectLst/>
                        </a:rPr>
                        <a:t>Limit</a:t>
                      </a:r>
                      <a:endParaRPr lang="en-US" sz="120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47352152"/>
                  </a:ext>
                </a:extLst>
              </a:tr>
              <a:tr h="37551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400800" algn="r"/>
                        </a:tabLst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US" sz="120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400800" algn="r"/>
                        </a:tabLst>
                      </a:pPr>
                      <a:r>
                        <a:rPr lang="en-US" sz="1100">
                          <a:effectLst/>
                        </a:rPr>
                        <a:t>114</a:t>
                      </a:r>
                      <a:endParaRPr lang="en-US" sz="120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400800" algn="r"/>
                        </a:tabLst>
                      </a:pPr>
                      <a:r>
                        <a:rPr lang="en-US" sz="1100">
                          <a:effectLst/>
                        </a:rPr>
                        <a:t>64</a:t>
                      </a:r>
                      <a:endParaRPr lang="en-US" sz="120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60870608"/>
                  </a:ext>
                </a:extLst>
              </a:tr>
              <a:tr h="37551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400800" algn="r"/>
                        </a:tabLs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US" sz="120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400800" algn="r"/>
                        </a:tabLst>
                      </a:pPr>
                      <a:r>
                        <a:rPr lang="en-US" sz="1100">
                          <a:effectLst/>
                        </a:rPr>
                        <a:t>400</a:t>
                      </a:r>
                      <a:endParaRPr lang="en-US" sz="120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400800" algn="r"/>
                        </a:tabLst>
                      </a:pPr>
                      <a:r>
                        <a:rPr lang="en-US" sz="1100">
                          <a:effectLst/>
                        </a:rPr>
                        <a:t>200</a:t>
                      </a:r>
                      <a:endParaRPr lang="en-US" sz="120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52935867"/>
                  </a:ext>
                </a:extLst>
              </a:tr>
              <a:tr h="37551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400800" algn="r"/>
                        </a:tabLst>
                      </a:pPr>
                      <a:r>
                        <a:rPr lang="en-US" sz="1100">
                          <a:effectLst/>
                        </a:rPr>
                        <a:t>2</a:t>
                      </a:r>
                      <a:endParaRPr lang="en-US" sz="120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400800" algn="r"/>
                        </a:tabLst>
                      </a:pPr>
                      <a:r>
                        <a:rPr lang="en-US" sz="1100">
                          <a:effectLst/>
                        </a:rPr>
                        <a:t>1200</a:t>
                      </a:r>
                      <a:endParaRPr lang="en-US" sz="120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400800" algn="r"/>
                        </a:tabLst>
                      </a:pPr>
                      <a:r>
                        <a:rPr lang="en-US" sz="1100">
                          <a:effectLst/>
                        </a:rPr>
                        <a:t>19</a:t>
                      </a:r>
                      <a:endParaRPr lang="en-US" sz="120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81495408"/>
                  </a:ext>
                </a:extLst>
              </a:tr>
              <a:tr h="37551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400800" algn="r"/>
                        </a:tabLst>
                      </a:pPr>
                      <a:r>
                        <a:rPr lang="en-US" sz="1100">
                          <a:effectLst/>
                        </a:rPr>
                        <a:t>3</a:t>
                      </a:r>
                      <a:endParaRPr lang="en-US" sz="120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400800" algn="r"/>
                        </a:tabLst>
                      </a:pPr>
                      <a:r>
                        <a:rPr lang="en-US" sz="1100">
                          <a:effectLst/>
                        </a:rPr>
                        <a:t>1540</a:t>
                      </a:r>
                      <a:endParaRPr lang="en-US" sz="120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400800" algn="r"/>
                        </a:tabLst>
                      </a:pPr>
                      <a:r>
                        <a:rPr lang="en-US" sz="1100">
                          <a:effectLst/>
                        </a:rPr>
                        <a:t>800</a:t>
                      </a:r>
                      <a:endParaRPr lang="en-US" sz="120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34467362"/>
                  </a:ext>
                </a:extLst>
              </a:tr>
              <a:tr h="37551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400800" algn="r"/>
                        </a:tabLst>
                      </a:pPr>
                      <a:r>
                        <a:rPr lang="en-US" sz="1100">
                          <a:effectLst/>
                        </a:rPr>
                        <a:t>4</a:t>
                      </a:r>
                      <a:endParaRPr lang="en-US" sz="120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400800" algn="r"/>
                        </a:tabLst>
                      </a:pPr>
                      <a:r>
                        <a:rPr lang="en-US" sz="1100">
                          <a:effectLst/>
                        </a:rPr>
                        <a:t>1300</a:t>
                      </a:r>
                      <a:endParaRPr lang="en-US" sz="120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400800" algn="r"/>
                        </a:tabLst>
                      </a:pPr>
                      <a:r>
                        <a:rPr lang="en-US" sz="1100" dirty="0">
                          <a:effectLst/>
                        </a:rPr>
                        <a:t>768</a:t>
                      </a:r>
                      <a:endParaRPr lang="en-US" sz="1200" dirty="0">
                        <a:effectLst/>
                        <a:latin typeface="VNI-Times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373601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9262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285566" y="1192307"/>
            <a:ext cx="5096435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vi-VN" b="1" dirty="0">
                <a:latin typeface="Times New Roman" charset="0"/>
                <a:cs typeface="ＭＳ Ｐゴシック" charset="-128"/>
              </a:rPr>
              <a:t> </a:t>
            </a:r>
            <a:endParaRPr lang="en-US" dirty="0">
              <a:latin typeface="Times New Roman" charset="0"/>
              <a:cs typeface="ＭＳ Ｐゴシック" charset="-128"/>
            </a:endParaRPr>
          </a:p>
          <a:p>
            <a:r>
              <a:rPr lang="vi-VN" dirty="0">
                <a:latin typeface="Times New Roman" charset="0"/>
                <a:cs typeface="ＭＳ Ｐゴシック" charset="-128"/>
              </a:rPr>
              <a:t>0,31</a:t>
            </a:r>
            <a:endParaRPr lang="en-US" dirty="0">
              <a:latin typeface="Times New Roman" charset="0"/>
              <a:cs typeface="ＭＳ Ｐゴシック" charset="-128"/>
            </a:endParaRPr>
          </a:p>
          <a:p>
            <a:r>
              <a:rPr lang="vi-VN" dirty="0">
                <a:latin typeface="Times New Roman" charset="0"/>
                <a:cs typeface="ＭＳ Ｐゴシック" charset="-128"/>
              </a:rPr>
              <a:t>114 + 31 = 145</a:t>
            </a:r>
            <a:endParaRPr lang="en-US" dirty="0">
              <a:latin typeface="Times New Roman" charset="0"/>
              <a:cs typeface="ＭＳ Ｐゴシック" charset="-128"/>
            </a:endParaRPr>
          </a:p>
          <a:p>
            <a:r>
              <a:rPr lang="vi-VN" dirty="0">
                <a:latin typeface="Times New Roman" charset="0"/>
                <a:cs typeface="ＭＳ Ｐゴシック" charset="-128"/>
              </a:rPr>
              <a:t>1,300</a:t>
            </a:r>
            <a:endParaRPr lang="en-US" dirty="0">
              <a:latin typeface="Times New Roman" charset="0"/>
              <a:cs typeface="ＭＳ Ｐゴシック" charset="-128"/>
            </a:endParaRPr>
          </a:p>
          <a:p>
            <a:r>
              <a:rPr lang="vi-VN" dirty="0">
                <a:latin typeface="Times New Roman" charset="0"/>
                <a:cs typeface="ＭＳ Ｐゴシック" charset="-128"/>
              </a:rPr>
              <a:t>Illegal address</a:t>
            </a:r>
            <a:endParaRPr lang="en-US" dirty="0">
              <a:latin typeface="Times New Roman" charset="0"/>
              <a:cs typeface="ＭＳ Ｐゴシック" charset="-128"/>
            </a:endParaRPr>
          </a:p>
          <a:p>
            <a:r>
              <a:rPr lang="vi-VN" dirty="0">
                <a:latin typeface="Times New Roman" charset="0"/>
                <a:cs typeface="ＭＳ Ｐゴシック" charset="-128"/>
              </a:rPr>
              <a:t>2,10</a:t>
            </a:r>
            <a:endParaRPr lang="en-US" dirty="0">
              <a:latin typeface="Times New Roman" charset="0"/>
              <a:cs typeface="ＭＳ Ｐゴシック" charset="-128"/>
            </a:endParaRPr>
          </a:p>
          <a:p>
            <a:r>
              <a:rPr lang="vi-VN" dirty="0">
                <a:latin typeface="Times New Roman" charset="0"/>
                <a:cs typeface="ＭＳ Ｐゴシック" charset="-128"/>
              </a:rPr>
              <a:t>1200 + 10 = 1210</a:t>
            </a:r>
            <a:endParaRPr lang="en-US" dirty="0">
              <a:latin typeface="Times New Roman" charset="0"/>
              <a:cs typeface="ＭＳ Ｐゴシック" charset="-128"/>
            </a:endParaRPr>
          </a:p>
          <a:p>
            <a:r>
              <a:rPr lang="vi-VN" dirty="0">
                <a:latin typeface="Times New Roman" charset="0"/>
                <a:cs typeface="ＭＳ Ｐゴシック" charset="-128"/>
              </a:rPr>
              <a:t>3,678</a:t>
            </a:r>
            <a:endParaRPr lang="en-US" dirty="0">
              <a:latin typeface="Times New Roman" charset="0"/>
              <a:cs typeface="ＭＳ Ｐゴシック" charset="-128"/>
            </a:endParaRPr>
          </a:p>
          <a:p>
            <a:r>
              <a:rPr lang="vi-VN" dirty="0">
                <a:latin typeface="Times New Roman" charset="0"/>
                <a:cs typeface="ＭＳ Ｐゴシック" charset="-128"/>
              </a:rPr>
              <a:t>1540 + 678 = 2218</a:t>
            </a:r>
            <a:endParaRPr lang="en-US" dirty="0">
              <a:latin typeface="Times New Roman" charset="0"/>
              <a:cs typeface="ＭＳ Ｐゴシック" charset="-128"/>
            </a:endParaRPr>
          </a:p>
          <a:p>
            <a:r>
              <a:rPr lang="vi-VN" dirty="0">
                <a:latin typeface="Times New Roman" charset="0"/>
                <a:cs typeface="ＭＳ Ｐゴシック" charset="-128"/>
              </a:rPr>
              <a:t>4,1025</a:t>
            </a:r>
            <a:endParaRPr lang="en-US" dirty="0">
              <a:latin typeface="Times New Roman" charset="0"/>
              <a:cs typeface="ＭＳ Ｐゴシック" charset="-128"/>
            </a:endParaRPr>
          </a:p>
          <a:p>
            <a:r>
              <a:rPr lang="vi-VN" dirty="0">
                <a:latin typeface="Times New Roman" charset="0"/>
                <a:cs typeface="ＭＳ Ｐゴシック" charset="-128"/>
              </a:rPr>
              <a:t>Illegal address</a:t>
            </a:r>
            <a:endParaRPr lang="en-US" dirty="0">
              <a:latin typeface="Times New Roman" charset="0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55726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398060" y="1246095"/>
            <a:ext cx="598394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152400" algn="l"/>
                <a:tab pos="3200400" algn="l"/>
                <a:tab pos="6248400" algn="l"/>
              </a:tabLst>
            </a:pPr>
            <a:r>
              <a:rPr lang="en-US" altLang="en-US" dirty="0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are the physical addresses in the multi-partition for the following addresses: </a:t>
            </a:r>
          </a:p>
          <a:p>
            <a:pPr>
              <a:tabLst>
                <a:tab pos="152400" algn="l"/>
                <a:tab pos="3200400" algn="l"/>
                <a:tab pos="6248400" algn="l"/>
              </a:tabLst>
            </a:pPr>
            <a:r>
              <a:rPr lang="en-US" altLang="en-US" dirty="0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115, 256, 2048, 300, 512, 3002, 3000, 6234, 1024, 1111</a:t>
            </a:r>
            <a:r>
              <a:rPr lang="en-US" altLang="en-US" dirty="0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The base register is </a:t>
            </a:r>
            <a:r>
              <a:rPr lang="en-US" altLang="en-US" dirty="0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0x2357</a:t>
            </a:r>
            <a:r>
              <a:rPr lang="en-US" altLang="en-US" dirty="0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the limit register is </a:t>
            </a:r>
            <a:r>
              <a:rPr lang="en-US" altLang="en-US" dirty="0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5120</a:t>
            </a:r>
            <a:r>
              <a:rPr lang="en-US" altLang="en-US" dirty="0">
                <a:solidFill>
                  <a:srgbClr val="00008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213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177554" y="-89647"/>
            <a:ext cx="4119282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vi-VN" b="1" dirty="0">
                <a:latin typeface="Times New Roman" charset="0"/>
                <a:cs typeface="ＭＳ Ｐゴシック" charset="-128"/>
              </a:rPr>
              <a:t> </a:t>
            </a:r>
            <a:endParaRPr lang="en-US" dirty="0">
              <a:latin typeface="Times New Roman" charset="0"/>
              <a:cs typeface="ＭＳ Ｐゴシック" charset="-128"/>
            </a:endParaRPr>
          </a:p>
          <a:p>
            <a:r>
              <a:rPr lang="vi-VN" dirty="0">
                <a:latin typeface="Times New Roman" charset="0"/>
                <a:cs typeface="ＭＳ Ｐゴシック" charset="-128"/>
              </a:rPr>
              <a:t>Thanh ghi nền: 0x2357 = 9047</a:t>
            </a:r>
            <a:r>
              <a:rPr lang="en-US" dirty="0">
                <a:latin typeface="Times New Roman" charset="0"/>
                <a:cs typeface="ＭＳ Ｐゴシック" charset="-128"/>
              </a:rPr>
              <a:t> = 2*16^3+3*16^2+5*16+7</a:t>
            </a:r>
            <a:r>
              <a:rPr lang="vi-VN" dirty="0">
                <a:latin typeface="Times New Roman" charset="0"/>
                <a:cs typeface="ＭＳ Ｐゴシック" charset="-128"/>
              </a:rPr>
              <a:t>, thanh ghi giới hạn: 5120</a:t>
            </a:r>
            <a:endParaRPr lang="en-US" dirty="0">
              <a:latin typeface="Times New Roman" charset="0"/>
              <a:cs typeface="ＭＳ Ｐゴシック" charset="-128"/>
            </a:endParaRPr>
          </a:p>
          <a:p>
            <a:r>
              <a:rPr lang="vi-VN" dirty="0">
                <a:latin typeface="Times New Roman" charset="0"/>
                <a:cs typeface="ＭＳ Ｐゴシック" charset="-128"/>
              </a:rPr>
              <a:t>115</a:t>
            </a:r>
            <a:endParaRPr lang="en-US" dirty="0">
              <a:latin typeface="Times New Roman" charset="0"/>
              <a:cs typeface="ＭＳ Ｐゴシック" charset="-128"/>
            </a:endParaRPr>
          </a:p>
          <a:p>
            <a:r>
              <a:rPr lang="vi-VN" dirty="0">
                <a:latin typeface="Times New Roman" charset="0"/>
                <a:cs typeface="ＭＳ Ｐゴシック" charset="-128"/>
              </a:rPr>
              <a:t>9047 + 115 = 9162</a:t>
            </a:r>
            <a:endParaRPr lang="en-US" dirty="0">
              <a:latin typeface="Times New Roman" charset="0"/>
              <a:cs typeface="ＭＳ Ｐゴシック" charset="-128"/>
            </a:endParaRPr>
          </a:p>
          <a:p>
            <a:r>
              <a:rPr lang="vi-VN" dirty="0">
                <a:latin typeface="Times New Roman" charset="0"/>
                <a:cs typeface="ＭＳ Ｐゴシック" charset="-128"/>
              </a:rPr>
              <a:t>256</a:t>
            </a:r>
            <a:endParaRPr lang="en-US" dirty="0">
              <a:latin typeface="Times New Roman" charset="0"/>
              <a:cs typeface="ＭＳ Ｐゴシック" charset="-128"/>
            </a:endParaRPr>
          </a:p>
          <a:p>
            <a:r>
              <a:rPr lang="vi-VN" dirty="0">
                <a:latin typeface="Times New Roman" charset="0"/>
                <a:cs typeface="ＭＳ Ｐゴシック" charset="-128"/>
              </a:rPr>
              <a:t>9047 + 256 = 9303</a:t>
            </a:r>
            <a:endParaRPr lang="en-US" dirty="0">
              <a:latin typeface="Times New Roman" charset="0"/>
              <a:cs typeface="ＭＳ Ｐゴシック" charset="-128"/>
            </a:endParaRPr>
          </a:p>
          <a:p>
            <a:r>
              <a:rPr lang="vi-VN" dirty="0">
                <a:latin typeface="Times New Roman" charset="0"/>
                <a:cs typeface="ＭＳ Ｐゴシック" charset="-128"/>
              </a:rPr>
              <a:t>2048</a:t>
            </a:r>
            <a:endParaRPr lang="en-US" dirty="0">
              <a:latin typeface="Times New Roman" charset="0"/>
              <a:cs typeface="ＭＳ Ｐゴシック" charset="-128"/>
            </a:endParaRPr>
          </a:p>
          <a:p>
            <a:r>
              <a:rPr lang="vi-VN" dirty="0">
                <a:latin typeface="Times New Roman" charset="0"/>
                <a:cs typeface="ＭＳ Ｐゴシック" charset="-128"/>
              </a:rPr>
              <a:t>9047 + 2048 = 11095</a:t>
            </a:r>
            <a:endParaRPr lang="en-US" dirty="0">
              <a:latin typeface="Times New Roman" charset="0"/>
              <a:cs typeface="ＭＳ Ｐゴシック" charset="-128"/>
            </a:endParaRPr>
          </a:p>
          <a:p>
            <a:r>
              <a:rPr lang="vi-VN" dirty="0">
                <a:latin typeface="Times New Roman" charset="0"/>
                <a:cs typeface="ＭＳ Ｐゴシック" charset="-128"/>
              </a:rPr>
              <a:t>300</a:t>
            </a:r>
            <a:endParaRPr lang="en-US" dirty="0">
              <a:latin typeface="Times New Roman" charset="0"/>
              <a:cs typeface="ＭＳ Ｐゴシック" charset="-128"/>
            </a:endParaRPr>
          </a:p>
          <a:p>
            <a:r>
              <a:rPr lang="vi-VN" dirty="0">
                <a:latin typeface="Times New Roman" charset="0"/>
                <a:cs typeface="ＭＳ Ｐゴシック" charset="-128"/>
              </a:rPr>
              <a:t>9047 + 300 = 9347</a:t>
            </a:r>
            <a:endParaRPr lang="en-US" dirty="0">
              <a:latin typeface="Times New Roman" charset="0"/>
              <a:cs typeface="ＭＳ Ｐゴシック" charset="-128"/>
            </a:endParaRPr>
          </a:p>
          <a:p>
            <a:r>
              <a:rPr lang="vi-VN" dirty="0">
                <a:latin typeface="Times New Roman" charset="0"/>
                <a:cs typeface="ＭＳ Ｐゴシック" charset="-128"/>
              </a:rPr>
              <a:t>512</a:t>
            </a:r>
            <a:endParaRPr lang="en-US" dirty="0">
              <a:latin typeface="Times New Roman" charset="0"/>
              <a:cs typeface="ＭＳ Ｐゴシック" charset="-128"/>
            </a:endParaRPr>
          </a:p>
          <a:p>
            <a:r>
              <a:rPr lang="vi-VN" dirty="0">
                <a:latin typeface="Times New Roman" charset="0"/>
                <a:cs typeface="ＭＳ Ｐゴシック" charset="-128"/>
              </a:rPr>
              <a:t>9047 + 512 = 9559</a:t>
            </a:r>
            <a:endParaRPr lang="en-US" dirty="0">
              <a:latin typeface="Times New Roman" charset="0"/>
              <a:cs typeface="ＭＳ Ｐゴシック" charset="-128"/>
            </a:endParaRPr>
          </a:p>
          <a:p>
            <a:r>
              <a:rPr lang="vi-VN" dirty="0">
                <a:latin typeface="Times New Roman" charset="0"/>
                <a:cs typeface="ＭＳ Ｐゴシック" charset="-128"/>
              </a:rPr>
              <a:t>3002</a:t>
            </a:r>
            <a:endParaRPr lang="en-US" dirty="0">
              <a:latin typeface="Times New Roman" charset="0"/>
              <a:cs typeface="ＭＳ Ｐゴシック" charset="-128"/>
            </a:endParaRPr>
          </a:p>
          <a:p>
            <a:r>
              <a:rPr lang="vi-VN" dirty="0">
                <a:latin typeface="Times New Roman" charset="0"/>
                <a:cs typeface="ＭＳ Ｐゴシック" charset="-128"/>
              </a:rPr>
              <a:t>9047 + 3002 = 12049</a:t>
            </a:r>
            <a:endParaRPr lang="en-US" dirty="0">
              <a:latin typeface="Times New Roman" charset="0"/>
              <a:cs typeface="ＭＳ Ｐゴシック" charset="-128"/>
            </a:endParaRPr>
          </a:p>
          <a:p>
            <a:r>
              <a:rPr lang="vi-VN" dirty="0">
                <a:latin typeface="Times New Roman" charset="0"/>
                <a:cs typeface="ＭＳ Ｐゴシック" charset="-128"/>
              </a:rPr>
              <a:t>3000</a:t>
            </a:r>
            <a:endParaRPr lang="en-US" dirty="0">
              <a:latin typeface="Times New Roman" charset="0"/>
              <a:cs typeface="ＭＳ Ｐゴシック" charset="-128"/>
            </a:endParaRPr>
          </a:p>
          <a:p>
            <a:r>
              <a:rPr lang="vi-VN" dirty="0">
                <a:latin typeface="Times New Roman" charset="0"/>
                <a:cs typeface="ＭＳ Ｐゴシック" charset="-128"/>
              </a:rPr>
              <a:t>9047 + 3000 = 12047</a:t>
            </a:r>
            <a:endParaRPr lang="en-US" dirty="0">
              <a:latin typeface="Times New Roman" charset="0"/>
              <a:cs typeface="ＭＳ Ｐゴシック" charset="-128"/>
            </a:endParaRPr>
          </a:p>
          <a:p>
            <a:r>
              <a:rPr lang="vi-VN" dirty="0">
                <a:latin typeface="Times New Roman" charset="0"/>
                <a:cs typeface="ＭＳ Ｐゴシック" charset="-128"/>
              </a:rPr>
              <a:t>6234</a:t>
            </a:r>
            <a:endParaRPr lang="en-US" dirty="0">
              <a:latin typeface="Times New Roman" charset="0"/>
              <a:cs typeface="ＭＳ Ｐゴシック" charset="-128"/>
            </a:endParaRPr>
          </a:p>
          <a:p>
            <a:r>
              <a:rPr lang="vi-VN" dirty="0">
                <a:latin typeface="Times New Roman" charset="0"/>
                <a:cs typeface="ＭＳ Ｐゴシック" charset="-128"/>
              </a:rPr>
              <a:t>Illegal Address</a:t>
            </a:r>
            <a:endParaRPr lang="en-US" dirty="0">
              <a:latin typeface="Times New Roman" charset="0"/>
              <a:cs typeface="ＭＳ Ｐゴシック" charset="-128"/>
            </a:endParaRPr>
          </a:p>
          <a:p>
            <a:r>
              <a:rPr lang="vi-VN" dirty="0">
                <a:latin typeface="Times New Roman" charset="0"/>
                <a:cs typeface="ＭＳ Ｐゴシック" charset="-128"/>
              </a:rPr>
              <a:t>1024</a:t>
            </a:r>
            <a:endParaRPr lang="en-US" dirty="0">
              <a:latin typeface="Times New Roman" charset="0"/>
              <a:cs typeface="ＭＳ Ｐゴシック" charset="-128"/>
            </a:endParaRPr>
          </a:p>
          <a:p>
            <a:r>
              <a:rPr lang="vi-VN" dirty="0">
                <a:latin typeface="Times New Roman" charset="0"/>
                <a:cs typeface="ＭＳ Ｐゴシック" charset="-128"/>
              </a:rPr>
              <a:t>9047 + 1024 = 10071</a:t>
            </a:r>
            <a:endParaRPr lang="en-US" dirty="0">
              <a:latin typeface="Times New Roman" charset="0"/>
              <a:cs typeface="ＭＳ Ｐゴシック" charset="-128"/>
            </a:endParaRPr>
          </a:p>
          <a:p>
            <a:r>
              <a:rPr lang="vi-VN" dirty="0">
                <a:latin typeface="Times New Roman" charset="0"/>
                <a:cs typeface="ＭＳ Ｐゴシック" charset="-128"/>
              </a:rPr>
              <a:t>1111</a:t>
            </a:r>
            <a:endParaRPr lang="en-US" dirty="0">
              <a:latin typeface="Times New Roman" charset="0"/>
              <a:cs typeface="ＭＳ Ｐゴシック" charset="-128"/>
            </a:endParaRPr>
          </a:p>
          <a:p>
            <a:r>
              <a:rPr lang="vi-VN" dirty="0">
                <a:latin typeface="Times New Roman" charset="0"/>
                <a:cs typeface="ＭＳ Ｐゴシック" charset="-128"/>
              </a:rPr>
              <a:t>9047 + 1111 = 10158</a:t>
            </a:r>
            <a:endParaRPr lang="en-US" dirty="0">
              <a:latin typeface="Times New Roman" charset="0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293031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3BCD139-3A6D-4B81-8226-0503E6A635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Chapter 10:  Virtual Memory</a:t>
            </a:r>
          </a:p>
        </p:txBody>
      </p:sp>
    </p:spTree>
    <p:extLst>
      <p:ext uri="{BB962C8B-B14F-4D97-AF65-F5344CB8AC3E}">
        <p14:creationId xmlns:p14="http://schemas.microsoft.com/office/powerpoint/2010/main" val="38769003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FCA6CF77-12AF-4EC2-89B1-0E20EC3A22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18735" y="241529"/>
            <a:ext cx="7821612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First-In-First-Out (FIFO) Algorithm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6D1D5755-163C-4203-ABC8-2DA1622DF8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18736" y="1052514"/>
            <a:ext cx="7582515" cy="5762625"/>
          </a:xfrm>
        </p:spPr>
        <p:txBody>
          <a:bodyPr>
            <a:normAutofit/>
          </a:bodyPr>
          <a:lstStyle/>
          <a:p>
            <a:r>
              <a:rPr lang="en-US" altLang="en-US" dirty="0"/>
              <a:t>Reference string: </a:t>
            </a:r>
            <a:r>
              <a:rPr lang="en-US" altLang="en-US" b="1" dirty="0">
                <a:solidFill>
                  <a:srgbClr val="FF0000"/>
                </a:solidFill>
              </a:rPr>
              <a:t>7,0,1,2,0,3,0,4,2,3,0,3,0,3,2,1,2,0,1,7,0,1</a:t>
            </a:r>
            <a:endParaRPr lang="en-US" altLang="en-US" dirty="0"/>
          </a:p>
          <a:p>
            <a:r>
              <a:rPr lang="en-US" altLang="en-US" dirty="0"/>
              <a:t>3 frames (3 pages can be in memory at a time per process)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pPr>
              <a:buFont typeface="Monotype Sorts" pitchFamily="-84" charset="2"/>
              <a:buNone/>
            </a:pPr>
            <a:br>
              <a:rPr lang="en-US" altLang="en-US" dirty="0"/>
            </a:b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sz="800" dirty="0"/>
          </a:p>
          <a:p>
            <a:pPr>
              <a:buFont typeface="Monotype Sorts" pitchFamily="-84" charset="2"/>
              <a:buNone/>
            </a:pPr>
            <a:endParaRPr lang="en-US" altLang="en-US" sz="800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852440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FCA6CF77-12AF-4EC2-89B1-0E20EC3A22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18735" y="241529"/>
            <a:ext cx="7821612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First-In-First-Out (FIFO) Algorithm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6D1D5755-163C-4203-ABC8-2DA1622DF8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18736" y="1052514"/>
            <a:ext cx="7582515" cy="5762625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dirty="0"/>
              <a:t>Reference string: </a:t>
            </a:r>
            <a:r>
              <a:rPr lang="en-US" altLang="en-US" b="1" dirty="0">
                <a:solidFill>
                  <a:srgbClr val="FF0000"/>
                </a:solidFill>
              </a:rPr>
              <a:t>7,0,1,2,0,3,0,4,2,3,0,3,0,3,2,1,2,0,1,7,0,1</a:t>
            </a:r>
            <a:endParaRPr lang="en-US" altLang="en-US" dirty="0"/>
          </a:p>
          <a:p>
            <a:r>
              <a:rPr lang="en-US" altLang="en-US" dirty="0"/>
              <a:t>3 frames (3 pages can be in memory at a time per process)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pPr>
              <a:buFont typeface="Monotype Sorts" pitchFamily="-84" charset="2"/>
              <a:buNone/>
            </a:pPr>
            <a:br>
              <a:rPr lang="en-US" altLang="en-US" dirty="0"/>
            </a:b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sz="800" dirty="0"/>
          </a:p>
          <a:p>
            <a:pPr>
              <a:buFont typeface="Monotype Sorts" pitchFamily="-84" charset="2"/>
              <a:buNone/>
            </a:pPr>
            <a:endParaRPr lang="en-US" altLang="en-US" sz="800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r>
              <a:rPr lang="en-US" altLang="en-US" dirty="0"/>
              <a:t>Can vary by reference string: consider 1,2,3,4,1,2,5,1,2,3,4,5</a:t>
            </a:r>
          </a:p>
          <a:p>
            <a:pPr lvl="1"/>
            <a:r>
              <a:rPr lang="en-US" altLang="en-US" dirty="0"/>
              <a:t>Adding more frames can cause more page faults!</a:t>
            </a:r>
          </a:p>
          <a:p>
            <a:pPr lvl="2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Belady</a:t>
            </a:r>
            <a:r>
              <a:rPr lang="ja-JP" altLang="en-US" b="1" dirty="0">
                <a:solidFill>
                  <a:srgbClr val="006699"/>
                </a:solidFill>
                <a:latin typeface="+mj-lt"/>
              </a:rPr>
              <a:t>’</a:t>
            </a:r>
            <a:r>
              <a:rPr lang="en-US" altLang="ja-JP" b="1" dirty="0">
                <a:solidFill>
                  <a:srgbClr val="006699"/>
                </a:solidFill>
                <a:latin typeface="+mj-lt"/>
              </a:rPr>
              <a:t>s Anomaly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dirty="0"/>
              <a:t>How to track ages of pages? </a:t>
            </a:r>
          </a:p>
          <a:p>
            <a:pPr lvl="1"/>
            <a:r>
              <a:rPr lang="en-US" altLang="en-US" dirty="0"/>
              <a:t>Just use a FIFO queue</a:t>
            </a:r>
          </a:p>
        </p:txBody>
      </p:sp>
      <p:sp>
        <p:nvSpPr>
          <p:cNvPr id="38916" name="Text Box 16">
            <a:extLst>
              <a:ext uri="{FF2B5EF4-FFF2-40B4-BE49-F238E27FC236}">
                <a16:creationId xmlns:a16="http://schemas.microsoft.com/office/drawing/2014/main" id="{70D1F977-A605-4231-817D-50B414BD82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925" y="3546475"/>
            <a:ext cx="1697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</a:rPr>
              <a:t>15 page faults</a:t>
            </a:r>
          </a:p>
        </p:txBody>
      </p:sp>
      <p:pic>
        <p:nvPicPr>
          <p:cNvPr id="38917" name="Picture 1">
            <a:extLst>
              <a:ext uri="{FF2B5EF4-FFF2-40B4-BE49-F238E27FC236}">
                <a16:creationId xmlns:a16="http://schemas.microsoft.com/office/drawing/2014/main" id="{308629FE-BC55-408D-8CD8-72B5F69846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6782" y="2034381"/>
            <a:ext cx="5327650" cy="169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069687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76095923-7FD6-4706-A8FA-9ABF051469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73300" y="231422"/>
            <a:ext cx="79375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Optimal Algorithm (OPT)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25D0553F-9E25-4083-8F1B-77A52F70DB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63755" y="1119189"/>
            <a:ext cx="7495397" cy="2052637"/>
          </a:xfrm>
        </p:spPr>
        <p:txBody>
          <a:bodyPr>
            <a:normAutofit fontScale="85000" lnSpcReduction="20000"/>
          </a:bodyPr>
          <a:lstStyle/>
          <a:p>
            <a:pPr>
              <a:tabLst>
                <a:tab pos="1889125" algn="l"/>
              </a:tabLst>
            </a:pPr>
            <a:r>
              <a:rPr lang="en-US" altLang="en-US" dirty="0"/>
              <a:t>Replace page that will not be used for longest period of time</a:t>
            </a:r>
          </a:p>
          <a:p>
            <a:pPr lvl="1">
              <a:tabLst>
                <a:tab pos="1889125" algn="l"/>
              </a:tabLst>
            </a:pPr>
            <a:r>
              <a:rPr lang="en-US" altLang="en-US" dirty="0"/>
              <a:t>9 is optimal for the example</a:t>
            </a:r>
          </a:p>
          <a:p>
            <a:pPr>
              <a:tabLst>
                <a:tab pos="1889125" algn="l"/>
              </a:tabLst>
            </a:pPr>
            <a:r>
              <a:rPr lang="en-US" altLang="en-US" dirty="0"/>
              <a:t>How do you know this?</a:t>
            </a:r>
          </a:p>
          <a:p>
            <a:pPr lvl="1">
              <a:tabLst>
                <a:tab pos="1889125" algn="l"/>
              </a:tabLst>
            </a:pPr>
            <a:r>
              <a:rPr lang="en-US" altLang="en-US" dirty="0"/>
              <a:t>Can</a:t>
            </a:r>
            <a:r>
              <a:rPr lang="ja-JP" altLang="en-US" dirty="0"/>
              <a:t>’</a:t>
            </a:r>
            <a:r>
              <a:rPr lang="en-US" altLang="ja-JP" dirty="0"/>
              <a:t>t read the future</a:t>
            </a:r>
            <a:endParaRPr lang="en-US" altLang="en-US" dirty="0"/>
          </a:p>
          <a:p>
            <a:pPr>
              <a:tabLst>
                <a:tab pos="1889125" algn="l"/>
              </a:tabLst>
            </a:pPr>
            <a:r>
              <a:rPr lang="en-US" altLang="en-US" dirty="0"/>
              <a:t>Used for measuring how well your algorithm performs</a:t>
            </a:r>
          </a:p>
        </p:txBody>
      </p:sp>
      <p:pic>
        <p:nvPicPr>
          <p:cNvPr id="40964" name="Picture 3">
            <a:extLst>
              <a:ext uri="{FF2B5EF4-FFF2-40B4-BE49-F238E27FC236}">
                <a16:creationId xmlns:a16="http://schemas.microsoft.com/office/drawing/2014/main" id="{0C2DEEDF-7F2E-4341-B388-D272598501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6901" y="3171826"/>
            <a:ext cx="6259513" cy="210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34396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696FD466-53D6-40D8-87A0-F9D0699FA1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52774" y="185249"/>
            <a:ext cx="7673975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Least Recently Used (LRU) Algorithm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B3F137F8-4D5E-42D0-B9E4-ACCE3B23C8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01080" y="1260965"/>
            <a:ext cx="7751989" cy="4835525"/>
          </a:xfrm>
        </p:spPr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altLang="en-US" dirty="0"/>
              <a:t>Use past knowledge rather than future</a:t>
            </a:r>
          </a:p>
          <a:p>
            <a:pPr>
              <a:defRPr/>
            </a:pPr>
            <a:r>
              <a:rPr lang="en-US" altLang="en-US" dirty="0"/>
              <a:t>Replace page that has not been used in the most amount of time</a:t>
            </a:r>
          </a:p>
          <a:p>
            <a:pPr>
              <a:defRPr/>
            </a:pPr>
            <a:r>
              <a:rPr lang="en-US" altLang="en-US" dirty="0"/>
              <a:t>Associate time of last use with each page</a:t>
            </a:r>
          </a:p>
          <a:p>
            <a:pPr>
              <a:buFont typeface="Monotype Sorts" pitchFamily="-84" charset="2"/>
              <a:buNone/>
              <a:defRPr/>
            </a:pPr>
            <a:endParaRPr lang="en-US" altLang="en-US" dirty="0"/>
          </a:p>
          <a:p>
            <a:pPr>
              <a:buFont typeface="Monotype Sorts" pitchFamily="-84" charset="2"/>
              <a:buNone/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 marL="0" indent="0">
              <a:buNone/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r>
              <a:rPr lang="en-US" altLang="en-US" dirty="0"/>
              <a:t>12 faults – better than FIFO but worse than OPT</a:t>
            </a:r>
          </a:p>
          <a:p>
            <a:pPr>
              <a:defRPr/>
            </a:pPr>
            <a:r>
              <a:rPr lang="en-US" altLang="en-US" dirty="0"/>
              <a:t>Generally good algorithm and frequently used</a:t>
            </a:r>
          </a:p>
          <a:p>
            <a:pPr>
              <a:defRPr/>
            </a:pPr>
            <a:r>
              <a:rPr lang="en-US" altLang="en-US" dirty="0"/>
              <a:t>But how to implement?</a:t>
            </a:r>
          </a:p>
          <a:p>
            <a:pPr>
              <a:buFont typeface="Monotype Sorts" pitchFamily="-84" charset="2"/>
              <a:buNone/>
              <a:defRPr/>
            </a:pPr>
            <a:endParaRPr lang="en-US" altLang="en-US" dirty="0"/>
          </a:p>
        </p:txBody>
      </p:sp>
      <p:pic>
        <p:nvPicPr>
          <p:cNvPr id="41988" name="Picture 4" descr="9">
            <a:extLst>
              <a:ext uri="{FF2B5EF4-FFF2-40B4-BE49-F238E27FC236}">
                <a16:creationId xmlns:a16="http://schemas.microsoft.com/office/drawing/2014/main" id="{1C494269-8B4A-4BA9-9CC1-ED6087AC32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1363" y="2635546"/>
            <a:ext cx="6170612" cy="168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34631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1365</Words>
  <Application>Microsoft Office PowerPoint</Application>
  <PresentationFormat>Widescreen</PresentationFormat>
  <Paragraphs>476</Paragraphs>
  <Slides>18</Slides>
  <Notes>6</Notes>
  <HiddenSlides>2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Calibri</vt:lpstr>
      <vt:lpstr>Calibri Light</vt:lpstr>
      <vt:lpstr>Helvetica</vt:lpstr>
      <vt:lpstr>Monotype Sorts</vt:lpstr>
      <vt:lpstr>Tahoma</vt:lpstr>
      <vt:lpstr>Times New Roman</vt:lpstr>
      <vt:lpstr>VNI-Times</vt:lpstr>
      <vt:lpstr>Office Theme</vt:lpstr>
      <vt:lpstr>PowerPoint Presentation</vt:lpstr>
      <vt:lpstr>Consider the following snapshot of a system with 4 types of resources: 9 A, 9 B, 8 C, 6 D. What is the content of the matrix Need? Is the system in a safe state?</vt:lpstr>
      <vt:lpstr>PowerPoint Presentation</vt:lpstr>
      <vt:lpstr>Assume that you have following processes, their arrival times and burst times. For FCFS scheduling algorithms, determine the waiting times for each process and the average waiting times.</vt:lpstr>
      <vt:lpstr>FCFS</vt:lpstr>
      <vt:lpstr>Assume that you have following processes, their arrival times and burst times. For SJF non-preemptive scheduling algorithms, determine the waiting times for each process and the average waiting times.</vt:lpstr>
      <vt:lpstr>SJF(Non-Preemtive)</vt:lpstr>
      <vt:lpstr>PowerPoint Presentation</vt:lpstr>
      <vt:lpstr>. Given five memory partitions of 100 KB, 500 KB, 200 KB, 300 KB, and 600 KB (in order), how would each of the First-fit, Best-fit and worst fit place processes of 210 KB, 415 KB, 100 KB, and 586 KB (in order)?</vt:lpstr>
      <vt:lpstr>PowerPoint Presentation</vt:lpstr>
      <vt:lpstr>PowerPoint Presentation</vt:lpstr>
      <vt:lpstr>PowerPoint Presentation</vt:lpstr>
      <vt:lpstr>PowerPoint Presentation</vt:lpstr>
      <vt:lpstr>Chapter 10:  Virtual Memory</vt:lpstr>
      <vt:lpstr>First-In-First-Out (FIFO) Algorithm</vt:lpstr>
      <vt:lpstr>First-In-First-Out (FIFO) Algorithm</vt:lpstr>
      <vt:lpstr>Optimal Algorithm (OPT)</vt:lpstr>
      <vt:lpstr>Least Recently Used (LRU) Algorithm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PTHN</cp:lastModifiedBy>
  <cp:revision>14</cp:revision>
  <dcterms:created xsi:type="dcterms:W3CDTF">2021-05-31T16:11:11Z</dcterms:created>
  <dcterms:modified xsi:type="dcterms:W3CDTF">2023-11-26T03:52:41Z</dcterms:modified>
</cp:coreProperties>
</file>