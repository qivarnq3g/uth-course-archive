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2"/>
  </p:notesMasterIdLst>
  <p:sldIdLst>
    <p:sldId id="269" r:id="rId3"/>
    <p:sldId id="276" r:id="rId4"/>
    <p:sldId id="277" r:id="rId5"/>
    <p:sldId id="278" r:id="rId6"/>
    <p:sldId id="279" r:id="rId7"/>
    <p:sldId id="280" r:id="rId8"/>
    <p:sldId id="281" r:id="rId9"/>
    <p:sldId id="282" r:id="rId10"/>
    <p:sldId id="28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365"/>
    <a:srgbClr val="0000FF"/>
    <a:srgbClr val="0DAFB3"/>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00" autoAdjust="0"/>
  </p:normalViewPr>
  <p:slideViewPr>
    <p:cSldViewPr snapToGrid="0">
      <p:cViewPr varScale="1">
        <p:scale>
          <a:sx n="80" d="100"/>
          <a:sy n="80" d="100"/>
        </p:scale>
        <p:origin x="354" y="84"/>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10/16/2024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10/16/2024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10/16/2024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10/16/2024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10/16/2024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10/16/2024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10/16/2024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vuong.dangquoc@hus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hyperlink" Target="Phu%20luc%20huong%20dan%20viet%20de%20cuong%20nghien%20cuu%20khoa%20hoc.docx"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hyperlink" Target="http://www.baokhoahocquocte.com/p/phan-loai-tap-chi-quoc-te-theo-he-thong.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645" y="1407795"/>
            <a:ext cx="10121900" cy="1484630"/>
          </a:xfrm>
        </p:spPr>
        <p:txBody>
          <a:bodyPr>
            <a:normAutofit/>
          </a:bodyPr>
          <a:lstStyle/>
          <a:p>
            <a:pPr>
              <a:lnSpc>
                <a:spcPct val="140000"/>
              </a:lnSpc>
            </a:pPr>
            <a:r>
              <a:rPr lang="en-US" sz="2800">
                <a:solidFill>
                  <a:srgbClr val="EC141C"/>
                </a:solidFill>
                <a:latin typeface="Arial" panose="020B0604020202020204" pitchFamily="34" charset="0"/>
                <a:cs typeface="Arial" panose="020B0604020202020204" pitchFamily="34" charset="0"/>
              </a:rPr>
              <a:t>CHƯƠNG </a:t>
            </a:r>
            <a:r>
              <a:rPr lang="en-US" sz="2800" smtClean="0">
                <a:solidFill>
                  <a:srgbClr val="EC141C"/>
                </a:solidFill>
                <a:latin typeface="Arial" panose="020B0604020202020204" pitchFamily="34" charset="0"/>
                <a:cs typeface="Arial" panose="020B0604020202020204" pitchFamily="34" charset="0"/>
              </a:rPr>
              <a:t>3</a:t>
            </a:r>
            <a:r>
              <a:rPr lang="en-US" sz="2800">
                <a:solidFill>
                  <a:srgbClr val="EC141C"/>
                </a:solidFill>
                <a:latin typeface="Arial" panose="020B0604020202020204" pitchFamily="34" charset="0"/>
                <a:cs typeface="Arial" panose="020B0604020202020204" pitchFamily="34" charset="0"/>
              </a:rPr>
              <a:t/>
            </a:r>
            <a:br>
              <a:rPr lang="en-US" sz="2800">
                <a:solidFill>
                  <a:srgbClr val="EC141C"/>
                </a:solidFill>
                <a:latin typeface="Arial" panose="020B0604020202020204" pitchFamily="34" charset="0"/>
                <a:cs typeface="Arial" panose="020B0604020202020204" pitchFamily="34" charset="0"/>
              </a:rPr>
            </a:br>
            <a:r>
              <a:rPr lang="en-US" sz="2800">
                <a:solidFill>
                  <a:srgbClr val="0000FF"/>
                </a:solidFill>
                <a:latin typeface="Arial" panose="020B0604020202020204" pitchFamily="34" charset="0"/>
                <a:cs typeface="Arial" panose="020B0604020202020204" pitchFamily="34" charset="0"/>
              </a:rPr>
              <a:t> PHƯƠNG PHÁP NGHIÊN CỨU KHOA HỌC</a:t>
            </a:r>
          </a:p>
        </p:txBody>
      </p:sp>
      <p:sp>
        <p:nvSpPr>
          <p:cNvPr id="3" name="Subtitle 2"/>
          <p:cNvSpPr>
            <a:spLocks noGrp="1"/>
          </p:cNvSpPr>
          <p:nvPr>
            <p:ph type="subTitle" idx="1"/>
          </p:nvPr>
        </p:nvSpPr>
        <p:spPr>
          <a:xfrm>
            <a:off x="6384290" y="3602355"/>
            <a:ext cx="5350510" cy="1655445"/>
          </a:xfrm>
        </p:spPr>
        <p:txBody>
          <a:bodyPr>
            <a:normAutofit lnSpcReduction="10000"/>
          </a:bodyPr>
          <a:lstStyle/>
          <a:p>
            <a:pPr marL="246380" marR="5080" indent="-234315" algn="l">
              <a:lnSpc>
                <a:spcPct val="129000"/>
              </a:lnSpc>
              <a:spcBef>
                <a:spcPts val="305"/>
              </a:spcBef>
              <a:tabLst>
                <a:tab pos="1536700" algn="l"/>
              </a:tabLst>
            </a:pPr>
            <a:r>
              <a:rPr lang="en-US" sz="2000" b="1" spc="-5">
                <a:solidFill>
                  <a:srgbClr val="0000FF"/>
                </a:solidFill>
                <a:latin typeface="Arial" panose="020B0604020202020204"/>
                <a:cs typeface="Arial" panose="020B0604020202020204"/>
                <a:sym typeface="+mn-ea"/>
              </a:rPr>
              <a:t>Giảng viên: Võ Vĩnh Bảo</a:t>
            </a:r>
            <a:endParaRPr lang="en-US" sz="2000" b="1" spc="-15">
              <a:solidFill>
                <a:srgbClr val="0000FF"/>
              </a:solidFill>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rgbClr val="003D62"/>
                </a:solidFill>
                <a:latin typeface="Arial" panose="020B0604020202020204"/>
                <a:cs typeface="Arial" panose="020B0604020202020204"/>
                <a:sym typeface="+mn-ea"/>
              </a:rPr>
              <a:t>Email: </a:t>
            </a:r>
            <a:r>
              <a:rPr lang="en-US" sz="2000" spc="-5">
                <a:solidFill>
                  <a:sysClr val="windowText" lastClr="000000"/>
                </a:solidFill>
                <a:latin typeface="Arial" panose="020B0604020202020204"/>
                <a:cs typeface="Arial" panose="020B0604020202020204"/>
                <a:sym typeface="+mn-ea"/>
                <a:hlinkClick r:id="rId2"/>
              </a:rPr>
              <a:t>bao.vo@ut.edu.vn </a:t>
            </a:r>
            <a:r>
              <a:rPr lang="en-US" sz="2000" spc="-5">
                <a:solidFill>
                  <a:sysClr val="windowText" lastClr="000000"/>
                </a:solidFill>
                <a:latin typeface="Arial" panose="020B0604020202020204"/>
                <a:cs typeface="Arial" panose="020B0604020202020204"/>
                <a:sym typeface="+mn-ea"/>
              </a:rPr>
              <a:t> </a:t>
            </a:r>
            <a:endParaRPr lang="en-US" sz="2000" spc="-5">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ysClr val="windowText" lastClr="000000"/>
                </a:solidFill>
                <a:latin typeface="Arial" panose="020B0604020202020204"/>
                <a:cs typeface="Arial" panose="020B0604020202020204"/>
                <a:sym typeface="+mn-ea"/>
              </a:rPr>
              <a:t>Phone:</a:t>
            </a:r>
            <a:r>
              <a:rPr lang="en-US" sz="2000" spc="-10">
                <a:solidFill>
                  <a:sysClr val="windowText" lastClr="000000"/>
                </a:solidFill>
                <a:latin typeface="Arial" panose="020B0604020202020204"/>
                <a:cs typeface="Arial" panose="020B0604020202020204"/>
                <a:sym typeface="+mn-ea"/>
              </a:rPr>
              <a:t> </a:t>
            </a:r>
            <a:r>
              <a:rPr lang="en-US" sz="2000">
                <a:solidFill>
                  <a:sysClr val="windowText" lastClr="000000"/>
                </a:solidFill>
                <a:latin typeface="Arial" panose="020B0604020202020204"/>
                <a:cs typeface="Arial" panose="020B0604020202020204"/>
                <a:sym typeface="+mn-ea"/>
              </a:rPr>
              <a:t>091 8235236</a:t>
            </a:r>
            <a:endParaRPr lang="en-US" sz="2000">
              <a:latin typeface="Arial" panose="020B0604020202020204" pitchFamily="34" charset="0"/>
              <a:cs typeface="Arial" panose="020B0604020202020204" pitchFamily="34" charset="0"/>
            </a:endParaRP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PHƯƠNG PHÁP NGHIÊN CỨU KHOA HỌC</a:t>
            </a:r>
          </a:p>
        </p:txBody>
      </p:sp>
      <p:sp>
        <p:nvSpPr>
          <p:cNvPr id="3" name="Content Placeholder 2"/>
          <p:cNvSpPr>
            <a:spLocks noGrp="1"/>
          </p:cNvSpPr>
          <p:nvPr>
            <p:ph idx="1"/>
          </p:nvPr>
        </p:nvSpPr>
        <p:spPr>
          <a:xfrm>
            <a:off x="838200" y="1047750"/>
            <a:ext cx="11182350" cy="5544185"/>
          </a:xfrm>
        </p:spPr>
        <p:txBody>
          <a:bodyPr>
            <a:normAutofit/>
          </a:bodyPr>
          <a:lstStyle/>
          <a:p>
            <a:pPr marL="0" indent="0" algn="ctr">
              <a:lnSpc>
                <a:spcPct val="120000"/>
              </a:lnSpc>
              <a:buNone/>
            </a:pPr>
            <a:r>
              <a:rPr lang="en-US" b="1">
                <a:solidFill>
                  <a:srgbClr val="EC141C"/>
                </a:solidFill>
              </a:rPr>
              <a:t>NỘI DUNG CHƯƠNG </a:t>
            </a:r>
            <a:r>
              <a:rPr lang="en-US" b="1" smtClean="0">
                <a:solidFill>
                  <a:srgbClr val="EC141C"/>
                </a:solidFill>
              </a:rPr>
              <a:t>3</a:t>
            </a:r>
            <a:endParaRPr lang="en-US" b="1">
              <a:solidFill>
                <a:srgbClr val="EC141C"/>
              </a:solidFill>
            </a:endParaRPr>
          </a:p>
          <a:p>
            <a:pPr marL="0" indent="0" algn="ctr">
              <a:lnSpc>
                <a:spcPct val="120000"/>
              </a:lnSpc>
              <a:buNone/>
            </a:pPr>
            <a:endParaRPr lang="en-US" b="1">
              <a:solidFill>
                <a:srgbClr val="EC141C"/>
              </a:solidFill>
            </a:endParaRPr>
          </a:p>
          <a:p>
            <a:pPr marL="0" indent="0" algn="just">
              <a:lnSpc>
                <a:spcPct val="150000"/>
              </a:lnSpc>
              <a:buNone/>
            </a:pPr>
            <a:r>
              <a:rPr lang="en-US" sz="2400"/>
              <a:t>3</a:t>
            </a:r>
            <a:r>
              <a:rPr lang="en-US" sz="2400" smtClean="0"/>
              <a:t>.1</a:t>
            </a:r>
            <a:r>
              <a:rPr lang="en-US" sz="2400"/>
              <a:t>. Khái niệm về nghiên cứu khoa học</a:t>
            </a:r>
          </a:p>
          <a:p>
            <a:pPr marL="0" indent="0" algn="just">
              <a:lnSpc>
                <a:spcPct val="150000"/>
              </a:lnSpc>
              <a:buNone/>
            </a:pPr>
            <a:r>
              <a:rPr lang="en-US" sz="2400"/>
              <a:t>3</a:t>
            </a:r>
            <a:r>
              <a:rPr lang="en-US" sz="2400" smtClean="0"/>
              <a:t>.2</a:t>
            </a:r>
            <a:r>
              <a:rPr lang="en-US" sz="2400"/>
              <a:t>. Mục đích của nghiên cứu khoa học</a:t>
            </a:r>
          </a:p>
          <a:p>
            <a:pPr marL="0" indent="0" algn="just">
              <a:lnSpc>
                <a:spcPct val="150000"/>
              </a:lnSpc>
              <a:buNone/>
            </a:pPr>
            <a:r>
              <a:rPr lang="en-US" sz="2400"/>
              <a:t>3</a:t>
            </a:r>
            <a:r>
              <a:rPr lang="en-US" sz="2400" smtClean="0"/>
              <a:t>.3</a:t>
            </a:r>
            <a:r>
              <a:rPr lang="en-US" sz="2400"/>
              <a:t>. Phân loại nghiên cứu khoa học</a:t>
            </a:r>
          </a:p>
          <a:p>
            <a:pPr marL="0" indent="0" algn="just">
              <a:lnSpc>
                <a:spcPct val="150000"/>
              </a:lnSpc>
              <a:buNone/>
            </a:pPr>
            <a:r>
              <a:rPr lang="en-US" sz="2400"/>
              <a:t>3</a:t>
            </a:r>
            <a:r>
              <a:rPr lang="en-US" sz="2400" smtClean="0"/>
              <a:t>.4</a:t>
            </a:r>
            <a:r>
              <a:rPr lang="en-US" sz="2400"/>
              <a:t>. Quy trình nghiên cứu khoa học</a:t>
            </a:r>
          </a:p>
          <a:p>
            <a:pPr marL="0" indent="0" algn="just">
              <a:lnSpc>
                <a:spcPct val="150000"/>
              </a:lnSpc>
              <a:buNone/>
            </a:pPr>
            <a:r>
              <a:rPr lang="en-US" sz="2400"/>
              <a:t>3</a:t>
            </a:r>
            <a:r>
              <a:rPr lang="en-US" sz="2400" smtClean="0"/>
              <a:t>.5</a:t>
            </a:r>
            <a:r>
              <a:rPr lang="en-US" sz="2400"/>
              <a:t>. Sản phẩm của nghiên cứu khoa học</a:t>
            </a:r>
          </a:p>
        </p:txBody>
      </p:sp>
      <p:sp>
        <p:nvSpPr>
          <p:cNvPr id="4" name="Slide Number Placeholder 3"/>
          <p:cNvSpPr>
            <a:spLocks noGrp="1"/>
          </p:cNvSpPr>
          <p:nvPr>
            <p:ph type="sldNum" sz="quarter" idx="12"/>
          </p:nvPr>
        </p:nvSpPr>
        <p:spPr/>
        <p:txBody>
          <a:bodyPr/>
          <a:lstStyle/>
          <a:p>
            <a:fld id="{C36C28B4-5B52-467A-9173-204C9E91858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3</a:t>
            </a:fld>
            <a:endParaRPr lang="en-US"/>
          </a:p>
        </p:txBody>
      </p:sp>
      <p:sp>
        <p:nvSpPr>
          <p:cNvPr id="7" name="Text Box 6"/>
          <p:cNvSpPr txBox="1"/>
          <p:nvPr/>
        </p:nvSpPr>
        <p:spPr>
          <a:xfrm>
            <a:off x="332740" y="676910"/>
            <a:ext cx="8555355" cy="6007100"/>
          </a:xfrm>
          <a:prstGeom prst="rect">
            <a:avLst/>
          </a:prstGeom>
          <a:noFill/>
        </p:spPr>
        <p:txBody>
          <a:bodyPr wrap="square" rtlCol="0" anchor="t">
            <a:spAutoFit/>
          </a:bodyPr>
          <a:lstStyle/>
          <a:p>
            <a:pPr algn="just">
              <a:lnSpc>
                <a:spcPct val="130000"/>
              </a:lnSpc>
            </a:pPr>
            <a:r>
              <a:rPr lang="en-US" sz="2200" b="1" i="1">
                <a:solidFill>
                  <a:srgbClr val="FF0000"/>
                </a:solidFill>
                <a:latin typeface="Arial" panose="020B0604020202020204" pitchFamily="34" charset="0"/>
                <a:cs typeface="Arial" panose="020B0604020202020204" pitchFamily="34" charset="0"/>
              </a:rPr>
              <a:t>1. Khái niệm về nghiên cứu khoa học</a:t>
            </a:r>
          </a:p>
          <a:p>
            <a:pPr indent="457200" algn="just">
              <a:lnSpc>
                <a:spcPct val="130000"/>
              </a:lnSpc>
            </a:pPr>
            <a:r>
              <a:rPr lang="en-US" b="1" i="1">
                <a:solidFill>
                  <a:srgbClr val="076365"/>
                </a:solidFill>
                <a:latin typeface="Arial" panose="020B0604020202020204" pitchFamily="34" charset="0"/>
                <a:cs typeface="Arial" panose="020B0604020202020204" pitchFamily="34" charset="0"/>
              </a:rPr>
              <a:t>Khoa học</a:t>
            </a:r>
            <a:r>
              <a:rPr lang="en-US">
                <a:solidFill>
                  <a:srgbClr val="076365"/>
                </a:solidFill>
                <a:latin typeface="Arial" panose="020B0604020202020204" pitchFamily="34" charset="0"/>
                <a:cs typeface="Arial" panose="020B0604020202020204" pitchFamily="34" charset="0"/>
              </a:rPr>
              <a:t> trong tiếng Anh là </a:t>
            </a:r>
            <a:r>
              <a:rPr lang="en-US" b="1" i="1">
                <a:solidFill>
                  <a:srgbClr val="076365"/>
                </a:solidFill>
                <a:latin typeface="Arial" panose="020B0604020202020204" pitchFamily="34" charset="0"/>
                <a:cs typeface="Arial" panose="020B0604020202020204" pitchFamily="34" charset="0"/>
              </a:rPr>
              <a:t>Science</a:t>
            </a:r>
            <a:r>
              <a:rPr lang="en-US">
                <a:solidFill>
                  <a:srgbClr val="076365"/>
                </a:solidFill>
                <a:latin typeface="Arial" panose="020B0604020202020204" pitchFamily="34" charset="0"/>
                <a:cs typeface="Arial" panose="020B0604020202020204" pitchFamily="34" charset="0"/>
              </a:rPr>
              <a:t>. Theo Luật Khoa học và Công nghệ (Quốc hội, 2013), </a:t>
            </a:r>
            <a:r>
              <a:rPr lang="en-US" b="1" i="1">
                <a:solidFill>
                  <a:srgbClr val="FF0000"/>
                </a:solidFill>
                <a:latin typeface="Arial" panose="020B0604020202020204" pitchFamily="34" charset="0"/>
                <a:cs typeface="Arial" panose="020B0604020202020204" pitchFamily="34" charset="0"/>
              </a:rPr>
              <a:t>khoa học</a:t>
            </a:r>
            <a:r>
              <a:rPr lang="en-US">
                <a:solidFill>
                  <a:srgbClr val="076365"/>
                </a:solidFill>
                <a:latin typeface="Arial" panose="020B0604020202020204" pitchFamily="34" charset="0"/>
                <a:cs typeface="Arial" panose="020B0604020202020204" pitchFamily="34" charset="0"/>
              </a:rPr>
              <a:t> là hệ thống tri thức về bản chất, qui luật tồn tại và phát triển của sự vật, hiện tượng tự nhiên, xã hội và tư duy.</a:t>
            </a:r>
          </a:p>
          <a:p>
            <a:pPr indent="457200" algn="just">
              <a:lnSpc>
                <a:spcPct val="130000"/>
              </a:lnSpc>
            </a:pPr>
            <a:r>
              <a:rPr lang="en-US" b="1" i="1">
                <a:solidFill>
                  <a:srgbClr val="076365"/>
                </a:solidFill>
                <a:latin typeface="Arial" panose="020B0604020202020204" pitchFamily="34" charset="0"/>
                <a:cs typeface="Arial" panose="020B0604020202020204" pitchFamily="34" charset="0"/>
              </a:rPr>
              <a:t>Nghiên cứu khoa học</a:t>
            </a:r>
            <a:r>
              <a:rPr lang="en-US">
                <a:solidFill>
                  <a:srgbClr val="076365"/>
                </a:solidFill>
                <a:latin typeface="Arial" panose="020B0604020202020204" pitchFamily="34" charset="0"/>
                <a:cs typeface="Arial" panose="020B0604020202020204" pitchFamily="34" charset="0"/>
              </a:rPr>
              <a:t> là một quá trình tìm hiểu, khám phá và giải thích các hiện tượng, sự kiện, hoặc các quy luật tự nhiên và xã hội. Quá trình này được tiến hành dựa trên phương pháp luận khoa học nhằm đạt được những hiểu biết mới, góp phần vào sự phát triển của khoa học và công nghệ.</a:t>
            </a:r>
          </a:p>
          <a:p>
            <a:pPr algn="just">
              <a:lnSpc>
                <a:spcPct val="130000"/>
              </a:lnSpc>
            </a:pPr>
            <a:r>
              <a:rPr lang="en-US" sz="2200" b="1" i="1">
                <a:solidFill>
                  <a:srgbClr val="FF0000"/>
                </a:solidFill>
                <a:latin typeface="Arial" panose="020B0604020202020204" pitchFamily="34" charset="0"/>
                <a:cs typeface="Arial" panose="020B0604020202020204" pitchFamily="34" charset="0"/>
              </a:rPr>
              <a:t>2. Mục đích của nghiên cứu khoa học</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Tìm hiểu và giải thích các hiện tượng tự nhiên và xã hội.</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Phát hiện và mô tả các quy luật vận động và phát triển của sự vật, hiện tượng.</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Ứng dụng các kết quả nghiên cứu vào thực tiễn để giải quyết các vấn đề cụ thể.</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Đóng góp vào sự phát triển của khoa học và công nghệ, nâng cao chất lượng cuộc sống.</a:t>
            </a:r>
          </a:p>
        </p:txBody>
      </p:sp>
      <p:pic>
        <p:nvPicPr>
          <p:cNvPr id="8" name="Content Placeholder 7"/>
          <p:cNvPicPr>
            <a:picLocks noGrp="1" noChangeAspect="1"/>
          </p:cNvPicPr>
          <p:nvPr>
            <p:ph sz="half" idx="1"/>
          </p:nvPr>
        </p:nvPicPr>
        <p:blipFill>
          <a:blip r:embed="rId4"/>
          <a:stretch>
            <a:fillRect/>
          </a:stretch>
        </p:blipFill>
        <p:spPr>
          <a:xfrm>
            <a:off x="8995410" y="876935"/>
            <a:ext cx="3052445" cy="1717040"/>
          </a:xfrm>
          <a:prstGeom prst="rect">
            <a:avLst/>
          </a:prstGeom>
        </p:spPr>
      </p:pic>
      <p:pic>
        <p:nvPicPr>
          <p:cNvPr id="9" name="Content Placeholder 8"/>
          <p:cNvPicPr>
            <a:picLocks noGrp="1" noChangeAspect="1"/>
          </p:cNvPicPr>
          <p:nvPr>
            <p:ph sz="half" idx="2"/>
            <p:custDataLst>
              <p:tags r:id="rId1"/>
            </p:custDataLst>
          </p:nvPr>
        </p:nvPicPr>
        <p:blipFill>
          <a:blip r:embed="rId5"/>
          <a:stretch>
            <a:fillRect/>
          </a:stretch>
        </p:blipFill>
        <p:spPr>
          <a:xfrm>
            <a:off x="8972550" y="2670175"/>
            <a:ext cx="3095625" cy="1703705"/>
          </a:xfrm>
          <a:prstGeom prst="rect">
            <a:avLst/>
          </a:prstGeom>
        </p:spPr>
      </p:pic>
      <p:pic>
        <p:nvPicPr>
          <p:cNvPr id="10" name="Picture 9"/>
          <p:cNvPicPr>
            <a:picLocks noChangeAspect="1"/>
          </p:cNvPicPr>
          <p:nvPr/>
        </p:nvPicPr>
        <p:blipFill>
          <a:blip r:embed="rId6"/>
          <a:stretch>
            <a:fillRect/>
          </a:stretch>
        </p:blipFill>
        <p:spPr>
          <a:xfrm>
            <a:off x="8992235" y="4576445"/>
            <a:ext cx="3074035" cy="1730375"/>
          </a:xfrm>
          <a:prstGeom prst="rect">
            <a:avLst/>
          </a:prstGeom>
        </p:spPr>
      </p:pic>
      <p:sp>
        <p:nvSpPr>
          <p:cNvPr id="12" name="Title 11"/>
          <p:cNvSpPr>
            <a:spLocks noGrp="1"/>
          </p:cNvSpPr>
          <p:nvPr>
            <p:ph type="title"/>
            <p:custDataLst>
              <p:tags r:id="rId2"/>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PHƯƠNG PHÁP NGHIÊN CỨU KHOA HỌC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4</a:t>
            </a:fld>
            <a:endParaRPr lang="en-US"/>
          </a:p>
        </p:txBody>
      </p:sp>
      <p:sp>
        <p:nvSpPr>
          <p:cNvPr id="3" name="Text Box 2"/>
          <p:cNvSpPr txBox="1"/>
          <p:nvPr/>
        </p:nvSpPr>
        <p:spPr>
          <a:xfrm>
            <a:off x="290830" y="669290"/>
            <a:ext cx="7075805" cy="5972175"/>
          </a:xfrm>
          <a:prstGeom prst="rect">
            <a:avLst/>
          </a:prstGeom>
          <a:noFill/>
        </p:spPr>
        <p:txBody>
          <a:bodyPr wrap="square" rtlCol="0" anchor="t">
            <a:noAutofit/>
          </a:bodyPr>
          <a:lstStyle/>
          <a:p>
            <a:pPr algn="just">
              <a:lnSpc>
                <a:spcPct val="120000"/>
              </a:lnSpc>
            </a:pPr>
            <a:r>
              <a:rPr lang="en-US" sz="2200" b="1" i="1">
                <a:solidFill>
                  <a:srgbClr val="FF0000"/>
                </a:solidFill>
                <a:latin typeface="Arial" panose="020B0604020202020204" pitchFamily="34" charset="0"/>
                <a:cs typeface="Arial" panose="020B0604020202020204" pitchFamily="34" charset="0"/>
              </a:rPr>
              <a:t>3. Phân loại nghiên cứu khoa học</a:t>
            </a:r>
          </a:p>
          <a:p>
            <a:pPr algn="just">
              <a:lnSpc>
                <a:spcPct val="120000"/>
              </a:lnSpc>
            </a:pPr>
            <a:r>
              <a:rPr lang="en-US">
                <a:solidFill>
                  <a:srgbClr val="076365"/>
                </a:solidFill>
                <a:latin typeface="Arial" panose="020B0604020202020204" pitchFamily="34" charset="0"/>
                <a:cs typeface="Arial" panose="020B0604020202020204" pitchFamily="34" charset="0"/>
              </a:rPr>
              <a:t>Nghiên cứu khoa học có thể được phân loại theo:</a:t>
            </a:r>
          </a:p>
          <a:p>
            <a:pPr algn="just">
              <a:lnSpc>
                <a:spcPct val="120000"/>
              </a:lnSpc>
            </a:pPr>
            <a:r>
              <a:rPr lang="en-US" b="1" i="1">
                <a:solidFill>
                  <a:srgbClr val="076365"/>
                </a:solidFill>
                <a:latin typeface="Arial" panose="020B0604020202020204" pitchFamily="34" charset="0"/>
                <a:cs typeface="Arial" panose="020B0604020202020204" pitchFamily="34" charset="0"/>
              </a:rPr>
              <a:t>Theo tính ứng dụng:</a:t>
            </a:r>
            <a:endParaRPr lang="en-US">
              <a:solidFill>
                <a:srgbClr val="076365"/>
              </a:solidFill>
              <a:latin typeface="Arial" panose="020B0604020202020204" pitchFamily="34" charset="0"/>
              <a:cs typeface="Arial" panose="020B0604020202020204" pitchFamily="34" charset="0"/>
            </a:endParaRPr>
          </a:p>
          <a:p>
            <a:pPr indent="457200" algn="just">
              <a:lnSpc>
                <a:spcPct val="120000"/>
              </a:lnSpc>
            </a:pPr>
            <a:r>
              <a:rPr lang="en-US" b="1" i="1">
                <a:solidFill>
                  <a:srgbClr val="FF0000"/>
                </a:solidFill>
                <a:latin typeface="Arial" panose="020B0604020202020204" pitchFamily="34" charset="0"/>
                <a:cs typeface="Arial" panose="020B0604020202020204" pitchFamily="34" charset="0"/>
              </a:rPr>
              <a:t>- Nghiên cứu cơ bản (Lý thuyết):</a:t>
            </a:r>
            <a:r>
              <a:rPr lang="en-US">
                <a:solidFill>
                  <a:srgbClr val="076365"/>
                </a:solidFill>
                <a:latin typeface="Arial" panose="020B0604020202020204" pitchFamily="34" charset="0"/>
                <a:cs typeface="Arial" panose="020B0604020202020204" pitchFamily="34" charset="0"/>
              </a:rPr>
              <a:t> Nhằm mở rộng hiểu biết và tri thức chung mà không nhất thiết phải có ứng dụng ngay lập tức.</a:t>
            </a:r>
          </a:p>
          <a:p>
            <a:pPr indent="457200" algn="just">
              <a:lnSpc>
                <a:spcPct val="120000"/>
              </a:lnSpc>
            </a:pPr>
            <a:r>
              <a:rPr lang="en-US" b="1" i="1">
                <a:solidFill>
                  <a:srgbClr val="FF0000"/>
                </a:solidFill>
                <a:latin typeface="Arial" panose="020B0604020202020204" pitchFamily="34" charset="0"/>
                <a:cs typeface="Arial" panose="020B0604020202020204" pitchFamily="34" charset="0"/>
              </a:rPr>
              <a:t>- Nghiên cứu ứng dụng (Thực nghiệm):</a:t>
            </a:r>
            <a:r>
              <a:rPr lang="en-US">
                <a:solidFill>
                  <a:srgbClr val="076365"/>
                </a:solidFill>
                <a:latin typeface="Arial" panose="020B0604020202020204" pitchFamily="34" charset="0"/>
                <a:cs typeface="Arial" panose="020B0604020202020204" pitchFamily="34" charset="0"/>
              </a:rPr>
              <a:t> Hướng tới giải quyết các vấn đề cụ thể trong thực tế, nhằm tạo ra các sản phẩm, công nghệ, phương pháp mới.</a:t>
            </a:r>
          </a:p>
          <a:p>
            <a:pPr algn="just">
              <a:lnSpc>
                <a:spcPct val="120000"/>
              </a:lnSpc>
            </a:pPr>
            <a:r>
              <a:rPr lang="en-US" b="1" i="1">
                <a:solidFill>
                  <a:srgbClr val="076365"/>
                </a:solidFill>
                <a:latin typeface="Arial" panose="020B0604020202020204" pitchFamily="34" charset="0"/>
                <a:cs typeface="Arial" panose="020B0604020202020204" pitchFamily="34" charset="0"/>
              </a:rPr>
              <a:t>Theo phương pháp nghiên cứu:</a:t>
            </a:r>
            <a:endParaRPr lang="en-US">
              <a:solidFill>
                <a:srgbClr val="076365"/>
              </a:solidFill>
              <a:latin typeface="Arial" panose="020B0604020202020204" pitchFamily="34" charset="0"/>
              <a:cs typeface="Arial" panose="020B0604020202020204" pitchFamily="34" charset="0"/>
            </a:endParaRPr>
          </a:p>
          <a:p>
            <a:pPr indent="457200" algn="just">
              <a:lnSpc>
                <a:spcPct val="120000"/>
              </a:lnSpc>
            </a:pPr>
            <a:r>
              <a:rPr lang="en-US" b="1" i="1">
                <a:solidFill>
                  <a:srgbClr val="FF0000"/>
                </a:solidFill>
                <a:latin typeface="Arial" panose="020B0604020202020204" pitchFamily="34" charset="0"/>
                <a:cs typeface="Arial" panose="020B0604020202020204" pitchFamily="34" charset="0"/>
              </a:rPr>
              <a:t>- Nghiên cứu định tính:</a:t>
            </a:r>
            <a:r>
              <a:rPr lang="en-US">
                <a:solidFill>
                  <a:srgbClr val="076365"/>
                </a:solidFill>
                <a:latin typeface="Arial" panose="020B0604020202020204" pitchFamily="34" charset="0"/>
                <a:cs typeface="Arial" panose="020B0604020202020204" pitchFamily="34" charset="0"/>
              </a:rPr>
              <a:t> Tập trung vào việc hiểu sâu sắc về các hiện tượng, sự kiện qua phân tích, mô tả chi tiết.</a:t>
            </a:r>
          </a:p>
          <a:p>
            <a:pPr indent="457200" algn="just">
              <a:lnSpc>
                <a:spcPct val="120000"/>
              </a:lnSpc>
            </a:pPr>
            <a:r>
              <a:rPr lang="en-US" b="1" i="1">
                <a:solidFill>
                  <a:srgbClr val="FF0000"/>
                </a:solidFill>
                <a:latin typeface="Arial" panose="020B0604020202020204" pitchFamily="34" charset="0"/>
                <a:cs typeface="Arial" panose="020B0604020202020204" pitchFamily="34" charset="0"/>
              </a:rPr>
              <a:t>- Nghiên cứu định lượng:</a:t>
            </a:r>
            <a:r>
              <a:rPr lang="en-US">
                <a:solidFill>
                  <a:srgbClr val="076365"/>
                </a:solidFill>
                <a:latin typeface="Arial" panose="020B0604020202020204" pitchFamily="34" charset="0"/>
                <a:cs typeface="Arial" panose="020B0604020202020204" pitchFamily="34" charset="0"/>
              </a:rPr>
              <a:t> Sử dụng các phương pháp thống kê, toán học để đo lường, phân tích các dữ liệu số liệu.</a:t>
            </a:r>
          </a:p>
          <a:p>
            <a:pPr algn="just">
              <a:lnSpc>
                <a:spcPct val="120000"/>
              </a:lnSpc>
            </a:pPr>
            <a:r>
              <a:rPr lang="en-US" b="1" i="1">
                <a:solidFill>
                  <a:srgbClr val="076365"/>
                </a:solidFill>
                <a:latin typeface="Arial" panose="020B0604020202020204" pitchFamily="34" charset="0"/>
                <a:cs typeface="Arial" panose="020B0604020202020204" pitchFamily="34" charset="0"/>
              </a:rPr>
              <a:t>Theo lĩnh vực nghiên cứu:</a:t>
            </a:r>
          </a:p>
          <a:p>
            <a:pPr indent="457200" algn="just">
              <a:lnSpc>
                <a:spcPct val="120000"/>
              </a:lnSpc>
            </a:pPr>
            <a:r>
              <a:rPr lang="en-US" b="1" i="1">
                <a:solidFill>
                  <a:srgbClr val="FF0000"/>
                </a:solidFill>
                <a:latin typeface="Arial" panose="020B0604020202020204" pitchFamily="34" charset="0"/>
                <a:cs typeface="Arial" panose="020B0604020202020204" pitchFamily="34" charset="0"/>
              </a:rPr>
              <a:t>- Khoa học tự nhiên:</a:t>
            </a:r>
            <a:r>
              <a:rPr lang="en-US">
                <a:solidFill>
                  <a:srgbClr val="076365"/>
                </a:solidFill>
                <a:latin typeface="Arial" panose="020B0604020202020204" pitchFamily="34" charset="0"/>
                <a:cs typeface="Arial" panose="020B0604020202020204" pitchFamily="34" charset="0"/>
              </a:rPr>
              <a:t> Nghiên cứu về các hiện tượng tự nhiên, như vật lý, hóa học, sinh học.</a:t>
            </a:r>
          </a:p>
          <a:p>
            <a:pPr indent="457200" algn="just">
              <a:lnSpc>
                <a:spcPct val="120000"/>
              </a:lnSpc>
            </a:pPr>
            <a:r>
              <a:rPr lang="en-US" b="1" i="1">
                <a:solidFill>
                  <a:srgbClr val="FF0000"/>
                </a:solidFill>
                <a:latin typeface="Arial" panose="020B0604020202020204" pitchFamily="34" charset="0"/>
                <a:cs typeface="Arial" panose="020B0604020202020204" pitchFamily="34" charset="0"/>
              </a:rPr>
              <a:t>- Khoa học xã hội:</a:t>
            </a:r>
            <a:r>
              <a:rPr lang="en-US">
                <a:solidFill>
                  <a:srgbClr val="076365"/>
                </a:solidFill>
                <a:latin typeface="Arial" panose="020B0604020202020204" pitchFamily="34" charset="0"/>
                <a:cs typeface="Arial" panose="020B0604020202020204" pitchFamily="34" charset="0"/>
              </a:rPr>
              <a:t> Nghiên cứu về các hiện tượng xã hội, như kinh tế, chính trị, xã hội học.</a:t>
            </a:r>
          </a:p>
        </p:txBody>
      </p:sp>
      <p:pic>
        <p:nvPicPr>
          <p:cNvPr id="7" name="Content Placeholder 6"/>
          <p:cNvPicPr>
            <a:picLocks noGrp="1" noChangeAspect="1"/>
          </p:cNvPicPr>
          <p:nvPr>
            <p:ph sz="half" idx="1"/>
            <p:custDataLst>
              <p:tags r:id="rId1"/>
            </p:custDataLst>
          </p:nvPr>
        </p:nvPicPr>
        <p:blipFill>
          <a:blip r:embed="rId4"/>
          <a:stretch>
            <a:fillRect/>
          </a:stretch>
        </p:blipFill>
        <p:spPr>
          <a:xfrm>
            <a:off x="7588885" y="856615"/>
            <a:ext cx="4522470" cy="2496185"/>
          </a:xfrm>
          <a:prstGeom prst="rect">
            <a:avLst/>
          </a:prstGeom>
        </p:spPr>
      </p:pic>
      <p:pic>
        <p:nvPicPr>
          <p:cNvPr id="8" name="Content Placeholder 7"/>
          <p:cNvPicPr>
            <a:picLocks noGrp="1" noChangeAspect="1"/>
          </p:cNvPicPr>
          <p:nvPr>
            <p:ph sz="half" idx="2"/>
          </p:nvPr>
        </p:nvPicPr>
        <p:blipFill>
          <a:blip r:embed="rId5"/>
          <a:stretch>
            <a:fillRect/>
          </a:stretch>
        </p:blipFill>
        <p:spPr>
          <a:xfrm>
            <a:off x="7599680" y="3390900"/>
            <a:ext cx="4493895" cy="2996565"/>
          </a:xfrm>
          <a:prstGeom prst="rect">
            <a:avLst/>
          </a:prstGeom>
        </p:spPr>
      </p:pic>
      <p:sp>
        <p:nvSpPr>
          <p:cNvPr id="10" name="Title 9"/>
          <p:cNvSpPr>
            <a:spLocks noGrp="1"/>
          </p:cNvSpPr>
          <p:nvPr>
            <p:ph type="title"/>
            <p:custDataLst>
              <p:tags r:id="rId2"/>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PHƯƠNG PHÁP NGHIÊN CỨU KHOA HỌC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5</a:t>
            </a:fld>
            <a:endParaRPr lang="en-US"/>
          </a:p>
        </p:txBody>
      </p:sp>
      <p:sp>
        <p:nvSpPr>
          <p:cNvPr id="3" name="Text Box 2"/>
          <p:cNvSpPr txBox="1"/>
          <p:nvPr/>
        </p:nvSpPr>
        <p:spPr>
          <a:xfrm>
            <a:off x="87630" y="4521200"/>
            <a:ext cx="11623040" cy="2381885"/>
          </a:xfrm>
          <a:prstGeom prst="rect">
            <a:avLst/>
          </a:prstGeom>
          <a:noFill/>
        </p:spPr>
        <p:txBody>
          <a:bodyPr wrap="square" rtlCol="0" anchor="t">
            <a:noAutofit/>
          </a:bodyPr>
          <a:lstStyle/>
          <a:p>
            <a:pPr indent="457200" algn="just">
              <a:lnSpc>
                <a:spcPct val="110000"/>
              </a:lnSpc>
            </a:pPr>
            <a:r>
              <a:rPr lang="en-US" b="1" i="1">
                <a:solidFill>
                  <a:srgbClr val="076365"/>
                </a:solidFill>
                <a:latin typeface="Arial" panose="020B0604020202020204" pitchFamily="34" charset="0"/>
                <a:cs typeface="Arial" panose="020B0604020202020204" pitchFamily="34" charset="0"/>
                <a:sym typeface="+mn-ea"/>
              </a:rPr>
              <a:t>Bước 4 - </a:t>
            </a:r>
            <a:r>
              <a:rPr lang="en-US" b="1" i="1">
                <a:solidFill>
                  <a:srgbClr val="076365"/>
                </a:solidFill>
                <a:latin typeface="Arial" panose="020B0604020202020204" pitchFamily="34" charset="0"/>
                <a:cs typeface="Arial" panose="020B0604020202020204" pitchFamily="34" charset="0"/>
              </a:rPr>
              <a:t>Tổ chức triển khai nghiên cứu:</a:t>
            </a:r>
            <a:r>
              <a:rPr lang="en-US">
                <a:solidFill>
                  <a:srgbClr val="076365"/>
                </a:solidFill>
                <a:latin typeface="Arial" panose="020B0604020202020204" pitchFamily="34" charset="0"/>
                <a:cs typeface="Arial" panose="020B0604020202020204" pitchFamily="34" charset="0"/>
              </a:rPr>
              <a:t> Tiến hành thu thập dữ liệu theo kế hoạch, sử dụng các công cụ và phương pháp đã xác định; Xử lý và phân tích dữ liệu thu thập được để kiểm định giả thuyết; Đưa ra kết luận từ kết quả nghiên cứu, đề xuất các kiến nghị và ứng dụng thực tiễn.</a:t>
            </a:r>
          </a:p>
          <a:p>
            <a:pPr indent="457200" algn="just">
              <a:lnSpc>
                <a:spcPct val="110000"/>
              </a:lnSpc>
            </a:pPr>
            <a:r>
              <a:rPr lang="en-US" b="1" i="1">
                <a:solidFill>
                  <a:srgbClr val="076365"/>
                </a:solidFill>
                <a:latin typeface="Arial" panose="020B0604020202020204" pitchFamily="34" charset="0"/>
                <a:cs typeface="Arial" panose="020B0604020202020204" pitchFamily="34" charset="0"/>
                <a:sym typeface="+mn-ea"/>
              </a:rPr>
              <a:t>Bước 5 - </a:t>
            </a:r>
            <a:r>
              <a:rPr lang="en-US" b="1" i="1">
                <a:solidFill>
                  <a:srgbClr val="076365"/>
                </a:solidFill>
                <a:latin typeface="Arial" panose="020B0604020202020204" pitchFamily="34" charset="0"/>
                <a:cs typeface="Arial" panose="020B0604020202020204" pitchFamily="34" charset="0"/>
              </a:rPr>
              <a:t>Trình bày, giải thích số liệu và viết báo cáo kết quả nghiên cứu:</a:t>
            </a:r>
            <a:r>
              <a:rPr lang="en-US">
                <a:solidFill>
                  <a:srgbClr val="076365"/>
                </a:solidFill>
                <a:latin typeface="Arial" panose="020B0604020202020204" pitchFamily="34" charset="0"/>
                <a:cs typeface="Arial" panose="020B0604020202020204" pitchFamily="34" charset="0"/>
              </a:rPr>
              <a:t> Trình bày kết quả nghiên cứu dưới dạng báo cáo, bài viết khoa học hoặc công trình nghiên cứu.</a:t>
            </a:r>
          </a:p>
        </p:txBody>
      </p:sp>
      <p:pic>
        <p:nvPicPr>
          <p:cNvPr id="18" name="Content Placeholder 17"/>
          <p:cNvPicPr>
            <a:picLocks noGrp="1" noChangeAspect="1"/>
          </p:cNvPicPr>
          <p:nvPr>
            <p:ph idx="1"/>
            <p:custDataLst>
              <p:tags r:id="rId1"/>
            </p:custDataLst>
          </p:nvPr>
        </p:nvPicPr>
        <p:blipFill>
          <a:blip r:embed="rId4"/>
          <a:stretch>
            <a:fillRect/>
          </a:stretch>
        </p:blipFill>
        <p:spPr>
          <a:xfrm>
            <a:off x="5050790" y="979170"/>
            <a:ext cx="7115810" cy="3050540"/>
          </a:xfrm>
          <a:prstGeom prst="rect">
            <a:avLst/>
          </a:prstGeom>
        </p:spPr>
      </p:pic>
      <p:sp>
        <p:nvSpPr>
          <p:cNvPr id="19" name="Text Box 18"/>
          <p:cNvSpPr txBox="1"/>
          <p:nvPr/>
        </p:nvSpPr>
        <p:spPr>
          <a:xfrm>
            <a:off x="226060" y="719455"/>
            <a:ext cx="6096000" cy="497205"/>
          </a:xfrm>
          <a:prstGeom prst="rect">
            <a:avLst/>
          </a:prstGeom>
          <a:noFill/>
        </p:spPr>
        <p:txBody>
          <a:bodyPr wrap="square" rtlCol="0">
            <a:spAutoFit/>
          </a:bodyPr>
          <a:lstStyle/>
          <a:p>
            <a:pPr algn="just">
              <a:lnSpc>
                <a:spcPct val="120000"/>
              </a:lnSpc>
            </a:pPr>
            <a:r>
              <a:rPr lang="en-US" sz="2200" b="1" i="1">
                <a:solidFill>
                  <a:srgbClr val="FF0000"/>
                </a:solidFill>
                <a:latin typeface="Arial" panose="020B0604020202020204" pitchFamily="34" charset="0"/>
                <a:cs typeface="Arial" panose="020B0604020202020204" pitchFamily="34" charset="0"/>
                <a:sym typeface="+mn-ea"/>
              </a:rPr>
              <a:t>4. Quy trình nghiên cứu khoa học</a:t>
            </a:r>
            <a:endParaRPr lang="en-US" sz="2200" b="1" i="1">
              <a:solidFill>
                <a:srgbClr val="FF0000"/>
              </a:solidFill>
              <a:latin typeface="Arial" panose="020B0604020202020204" pitchFamily="34" charset="0"/>
              <a:cs typeface="Arial" panose="020B0604020202020204" pitchFamily="34" charset="0"/>
            </a:endParaRPr>
          </a:p>
        </p:txBody>
      </p:sp>
      <p:sp>
        <p:nvSpPr>
          <p:cNvPr id="20" name="Text Box 19"/>
          <p:cNvSpPr txBox="1"/>
          <p:nvPr/>
        </p:nvSpPr>
        <p:spPr>
          <a:xfrm>
            <a:off x="119380" y="1148715"/>
            <a:ext cx="4913630" cy="3415030"/>
          </a:xfrm>
          <a:prstGeom prst="rect">
            <a:avLst/>
          </a:prstGeom>
          <a:noFill/>
        </p:spPr>
        <p:txBody>
          <a:bodyPr wrap="square" rtlCol="0">
            <a:spAutoFit/>
          </a:bodyPr>
          <a:lstStyle/>
          <a:p>
            <a:pPr algn="just">
              <a:lnSpc>
                <a:spcPct val="100000"/>
              </a:lnSpc>
            </a:pPr>
            <a:r>
              <a:rPr lang="en-US">
                <a:solidFill>
                  <a:srgbClr val="076365"/>
                </a:solidFill>
                <a:latin typeface="Arial" panose="020B0604020202020204" pitchFamily="34" charset="0"/>
                <a:cs typeface="Arial" panose="020B0604020202020204" pitchFamily="34" charset="0"/>
                <a:sym typeface="+mn-ea"/>
              </a:rPr>
              <a:t>Quy trình nghiên cứu khoa học bao gồm các bước cơ bản sau:</a:t>
            </a:r>
            <a:endParaRPr lang="en-US">
              <a:solidFill>
                <a:srgbClr val="076365"/>
              </a:solidFill>
              <a:latin typeface="Arial" panose="020B0604020202020204" pitchFamily="34" charset="0"/>
              <a:cs typeface="Arial" panose="020B0604020202020204" pitchFamily="34" charset="0"/>
            </a:endParaRPr>
          </a:p>
          <a:p>
            <a:pPr indent="457200" algn="just">
              <a:lnSpc>
                <a:spcPct val="100000"/>
              </a:lnSpc>
            </a:pPr>
            <a:r>
              <a:rPr lang="en-US" b="1" i="1">
                <a:solidFill>
                  <a:srgbClr val="076365"/>
                </a:solidFill>
                <a:latin typeface="Arial" panose="020B0604020202020204" pitchFamily="34" charset="0"/>
                <a:cs typeface="Arial" panose="020B0604020202020204" pitchFamily="34" charset="0"/>
                <a:sym typeface="+mn-ea"/>
              </a:rPr>
              <a:t>Bước 1</a:t>
            </a:r>
            <a:r>
              <a:rPr lang="en-US">
                <a:solidFill>
                  <a:srgbClr val="076365"/>
                </a:solidFill>
                <a:latin typeface="Arial" panose="020B0604020202020204" pitchFamily="34" charset="0"/>
                <a:cs typeface="Arial" panose="020B0604020202020204" pitchFamily="34" charset="0"/>
                <a:sym typeface="+mn-ea"/>
              </a:rPr>
              <a:t> - </a:t>
            </a:r>
            <a:r>
              <a:rPr lang="en-US" b="1" i="1">
                <a:solidFill>
                  <a:srgbClr val="076365"/>
                </a:solidFill>
                <a:latin typeface="Arial" panose="020B0604020202020204" pitchFamily="34" charset="0"/>
                <a:cs typeface="Arial" panose="020B0604020202020204" pitchFamily="34" charset="0"/>
                <a:sym typeface="+mn-ea"/>
              </a:rPr>
              <a:t>Xác định vấn đề nghiên cứu:</a:t>
            </a:r>
            <a:r>
              <a:rPr lang="en-US">
                <a:solidFill>
                  <a:srgbClr val="076365"/>
                </a:solidFill>
                <a:latin typeface="Arial" panose="020B0604020202020204" pitchFamily="34" charset="0"/>
                <a:cs typeface="Arial" panose="020B0604020202020204" pitchFamily="34" charset="0"/>
                <a:sym typeface="+mn-ea"/>
              </a:rPr>
              <a:t> Nhận diện và xác định rõ vấn đề cần nghiên cứu, đặt câu hỏi nghiên cứu cụ thể.</a:t>
            </a:r>
            <a:endParaRPr lang="en-US">
              <a:solidFill>
                <a:srgbClr val="076365"/>
              </a:solidFill>
              <a:latin typeface="Arial" panose="020B0604020202020204" pitchFamily="34" charset="0"/>
              <a:cs typeface="Arial" panose="020B0604020202020204" pitchFamily="34" charset="0"/>
            </a:endParaRPr>
          </a:p>
          <a:p>
            <a:pPr indent="457200" algn="just">
              <a:lnSpc>
                <a:spcPct val="100000"/>
              </a:lnSpc>
            </a:pPr>
            <a:r>
              <a:rPr lang="en-US" b="1" i="1">
                <a:solidFill>
                  <a:srgbClr val="076365"/>
                </a:solidFill>
                <a:latin typeface="Arial" panose="020B0604020202020204" pitchFamily="34" charset="0"/>
                <a:cs typeface="Arial" panose="020B0604020202020204" pitchFamily="34" charset="0"/>
                <a:sym typeface="+mn-ea"/>
              </a:rPr>
              <a:t>Bước 2 - Tổng quan tài liệu (cơ sở lý thuyết và các nghiên cứu trước):</a:t>
            </a:r>
            <a:r>
              <a:rPr lang="en-US">
                <a:solidFill>
                  <a:srgbClr val="076365"/>
                </a:solidFill>
                <a:latin typeface="Arial" panose="020B0604020202020204" pitchFamily="34" charset="0"/>
                <a:cs typeface="Arial" panose="020B0604020202020204" pitchFamily="34" charset="0"/>
                <a:sym typeface="+mn-ea"/>
              </a:rPr>
              <a:t> là để thu thập cơ sở lý thuyết về vấn đề nghiên cứu và thu thập thông tin về các nghiên cứu trước</a:t>
            </a:r>
          </a:p>
          <a:p>
            <a:pPr indent="457200" algn="just">
              <a:lnSpc>
                <a:spcPct val="100000"/>
              </a:lnSpc>
            </a:pPr>
            <a:r>
              <a:rPr lang="en-US" b="1" i="1">
                <a:solidFill>
                  <a:srgbClr val="076365"/>
                </a:solidFill>
                <a:latin typeface="Arial" panose="020B0604020202020204" pitchFamily="34" charset="0"/>
                <a:cs typeface="Arial" panose="020B0604020202020204" pitchFamily="34" charset="0"/>
                <a:sym typeface="+mn-ea"/>
              </a:rPr>
              <a:t>Bước 3 - Chọn tên đề tài và xây dựng đề cương:</a:t>
            </a:r>
            <a:r>
              <a:rPr lang="en-US">
                <a:solidFill>
                  <a:srgbClr val="076365"/>
                </a:solidFill>
                <a:latin typeface="Arial" panose="020B0604020202020204" pitchFamily="34" charset="0"/>
                <a:cs typeface="Arial" panose="020B0604020202020204" pitchFamily="34" charset="0"/>
                <a:sym typeface="+mn-ea"/>
              </a:rPr>
              <a:t> Xác định đề tài, công cụ nghiên cứu và </a:t>
            </a:r>
            <a:r>
              <a:rPr lang="en-US">
                <a:solidFill>
                  <a:srgbClr val="076365"/>
                </a:solidFill>
                <a:latin typeface="Arial" panose="020B0604020202020204" pitchFamily="34" charset="0"/>
                <a:cs typeface="Arial" panose="020B0604020202020204" pitchFamily="34" charset="0"/>
                <a:sym typeface="+mn-ea"/>
                <a:hlinkClick r:id="rId5" action="ppaction://hlinkfile"/>
              </a:rPr>
              <a:t>lập đề cương kế hoạch thực hiện</a:t>
            </a:r>
            <a:r>
              <a:rPr lang="en-US">
                <a:solidFill>
                  <a:srgbClr val="076365"/>
                </a:solidFill>
                <a:latin typeface="Arial" panose="020B0604020202020204" pitchFamily="34" charset="0"/>
                <a:cs typeface="Arial" panose="020B0604020202020204" pitchFamily="34" charset="0"/>
                <a:sym typeface="+mn-ea"/>
              </a:rPr>
              <a:t>.</a:t>
            </a:r>
            <a:endParaRPr lang="en-US">
              <a:solidFill>
                <a:srgbClr val="076365"/>
              </a:solidFill>
              <a:latin typeface="Arial" panose="020B0604020202020204" pitchFamily="34" charset="0"/>
              <a:cs typeface="Arial" panose="020B0604020202020204" pitchFamily="34" charset="0"/>
            </a:endParaRPr>
          </a:p>
        </p:txBody>
      </p:sp>
      <p:sp>
        <p:nvSpPr>
          <p:cNvPr id="22" name="Title 21"/>
          <p:cNvSpPr>
            <a:spLocks noGrp="1"/>
          </p:cNvSpPr>
          <p:nvPr>
            <p:ph type="title"/>
            <p:custDataLst>
              <p:tags r:id="rId2"/>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PHƯƠNG PHÁP NGHIÊN CỨU KHOA HỌC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6</a:t>
            </a:fld>
            <a:endParaRPr lang="en-US"/>
          </a:p>
        </p:txBody>
      </p:sp>
      <p:sp>
        <p:nvSpPr>
          <p:cNvPr id="3" name="Text Box 2"/>
          <p:cNvSpPr txBox="1"/>
          <p:nvPr/>
        </p:nvSpPr>
        <p:spPr>
          <a:xfrm>
            <a:off x="460375" y="857885"/>
            <a:ext cx="5702935" cy="5212715"/>
          </a:xfrm>
          <a:prstGeom prst="rect">
            <a:avLst/>
          </a:prstGeom>
          <a:noFill/>
        </p:spPr>
        <p:txBody>
          <a:bodyPr wrap="square" rtlCol="0" anchor="t">
            <a:spAutoFit/>
          </a:bodyPr>
          <a:lstStyle/>
          <a:p>
            <a:pPr algn="just">
              <a:lnSpc>
                <a:spcPct val="140000"/>
              </a:lnSpc>
            </a:pPr>
            <a:r>
              <a:rPr lang="en-US" sz="2200" b="1" i="1">
                <a:solidFill>
                  <a:srgbClr val="FF0000"/>
                </a:solidFill>
                <a:latin typeface="Arial" panose="020B0604020202020204" pitchFamily="34" charset="0"/>
                <a:cs typeface="Arial" panose="020B0604020202020204" pitchFamily="34" charset="0"/>
              </a:rPr>
              <a:t>5. Sản phẩm của nghiên cứu khoa học</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Sản phẩm của nghiên cứu khoa học là những tri thức, thông tin mới được kiểm chứng và công bố qua các </a:t>
            </a:r>
            <a:r>
              <a:rPr lang="en-US" b="1" i="1">
                <a:solidFill>
                  <a:srgbClr val="076365"/>
                </a:solidFill>
                <a:latin typeface="Arial" panose="020B0604020202020204" pitchFamily="34" charset="0"/>
                <a:cs typeface="Arial" panose="020B0604020202020204" pitchFamily="34" charset="0"/>
              </a:rPr>
              <a:t>công trình nghiên cứu</a:t>
            </a:r>
            <a:r>
              <a:rPr lang="en-US">
                <a:solidFill>
                  <a:srgbClr val="076365"/>
                </a:solidFill>
                <a:latin typeface="Arial" panose="020B0604020202020204" pitchFamily="34" charset="0"/>
                <a:cs typeface="Arial" panose="020B0604020202020204" pitchFamily="34" charset="0"/>
              </a:rPr>
              <a:t>, </a:t>
            </a:r>
            <a:r>
              <a:rPr lang="en-US" b="1" i="1">
                <a:solidFill>
                  <a:srgbClr val="076365"/>
                </a:solidFill>
                <a:latin typeface="Arial" panose="020B0604020202020204" pitchFamily="34" charset="0"/>
                <a:cs typeface="Arial" panose="020B0604020202020204" pitchFamily="34" charset="0"/>
              </a:rPr>
              <a:t>bài báo khoa học</a:t>
            </a:r>
            <a:r>
              <a:rPr lang="en-US">
                <a:solidFill>
                  <a:srgbClr val="076365"/>
                </a:solidFill>
                <a:latin typeface="Arial" panose="020B0604020202020204" pitchFamily="34" charset="0"/>
                <a:cs typeface="Arial" panose="020B0604020202020204" pitchFamily="34" charset="0"/>
              </a:rPr>
              <a:t>, </a:t>
            </a:r>
            <a:r>
              <a:rPr lang="en-US" b="1" i="1">
                <a:solidFill>
                  <a:srgbClr val="076365"/>
                </a:solidFill>
                <a:latin typeface="Arial" panose="020B0604020202020204" pitchFamily="34" charset="0"/>
                <a:cs typeface="Arial" panose="020B0604020202020204" pitchFamily="34" charset="0"/>
              </a:rPr>
              <a:t>luận án</a:t>
            </a:r>
            <a:r>
              <a:rPr lang="en-US">
                <a:solidFill>
                  <a:srgbClr val="076365"/>
                </a:solidFill>
                <a:latin typeface="Arial" panose="020B0604020202020204" pitchFamily="34" charset="0"/>
                <a:cs typeface="Arial" panose="020B0604020202020204" pitchFamily="34" charset="0"/>
              </a:rPr>
              <a:t>, </a:t>
            </a:r>
            <a:r>
              <a:rPr lang="en-US" b="1" i="1">
                <a:solidFill>
                  <a:srgbClr val="076365"/>
                </a:solidFill>
                <a:latin typeface="Arial" panose="020B0604020202020204" pitchFamily="34" charset="0"/>
                <a:cs typeface="Arial" panose="020B0604020202020204" pitchFamily="34" charset="0"/>
              </a:rPr>
              <a:t>sách chuyên khảo</a:t>
            </a:r>
            <a:r>
              <a:rPr lang="en-US">
                <a:solidFill>
                  <a:srgbClr val="076365"/>
                </a:solidFill>
                <a:latin typeface="Arial" panose="020B0604020202020204" pitchFamily="34" charset="0"/>
                <a:cs typeface="Arial" panose="020B0604020202020204" pitchFamily="34" charset="0"/>
              </a:rPr>
              <a:t>. Những sản phẩm này đóng góp vào kho tàng tri thức của nhân loại, đồng thời có thể được ứng dụng vào thực tiễn để giải quyết các vấn đề cụ thể, cải thiện chất lượng cuộc sống, thúc đẩy sự phát triển kinh tế, xã hội.</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Ngoài ra, nghiên cứu khoa học còn tạo ra các công nghệ, phương pháp mới, nâng cao trình độ và kỹ năng của các nhà nghiên cứu, góp phần đào tạo nguồn nhân lực chất lượng cao cho xã hội.</a:t>
            </a:r>
          </a:p>
        </p:txBody>
      </p:sp>
      <p:pic>
        <p:nvPicPr>
          <p:cNvPr id="5" name="Content Placeholder 4"/>
          <p:cNvPicPr>
            <a:picLocks noGrp="1" noChangeAspect="1"/>
          </p:cNvPicPr>
          <p:nvPr>
            <p:ph sz="half" idx="1"/>
            <p:custDataLst>
              <p:tags r:id="rId1"/>
            </p:custDataLst>
          </p:nvPr>
        </p:nvPicPr>
        <p:blipFill>
          <a:blip r:embed="rId5"/>
          <a:stretch>
            <a:fillRect/>
          </a:stretch>
        </p:blipFill>
        <p:spPr>
          <a:xfrm>
            <a:off x="6801485" y="818515"/>
            <a:ext cx="4510405" cy="2737485"/>
          </a:xfrm>
          <a:prstGeom prst="rect">
            <a:avLst/>
          </a:prstGeom>
        </p:spPr>
      </p:pic>
      <p:pic>
        <p:nvPicPr>
          <p:cNvPr id="6" name="Content Placeholder 5"/>
          <p:cNvPicPr>
            <a:picLocks noGrp="1" noChangeAspect="1"/>
          </p:cNvPicPr>
          <p:nvPr>
            <p:ph sz="half" idx="2"/>
            <p:custDataLst>
              <p:tags r:id="rId2"/>
            </p:custDataLst>
          </p:nvPr>
        </p:nvPicPr>
        <p:blipFill>
          <a:blip r:embed="rId6"/>
          <a:stretch>
            <a:fillRect/>
          </a:stretch>
        </p:blipFill>
        <p:spPr>
          <a:xfrm>
            <a:off x="6779260" y="3715385"/>
            <a:ext cx="4596130" cy="2889250"/>
          </a:xfrm>
          <a:prstGeom prst="rect">
            <a:avLst/>
          </a:prstGeom>
        </p:spPr>
      </p:pic>
      <p:sp>
        <p:nvSpPr>
          <p:cNvPr id="8" name="Title 7"/>
          <p:cNvSpPr>
            <a:spLocks noGrp="1"/>
          </p:cNvSpPr>
          <p:nvPr>
            <p:ph type="title"/>
            <p:custDataLst>
              <p:tags r:id="rId3"/>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PHƯƠNG PHÁP NGHIÊN CỨU KHOA HỌC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Phân loại tạp chí khoa học theo chất lượng</a:t>
            </a:r>
          </a:p>
        </p:txBody>
      </p:sp>
      <p:sp>
        <p:nvSpPr>
          <p:cNvPr id="4" name="Slide Number Placeholder 3"/>
          <p:cNvSpPr>
            <a:spLocks noGrp="1"/>
          </p:cNvSpPr>
          <p:nvPr>
            <p:ph type="sldNum" sz="quarter" idx="12"/>
          </p:nvPr>
        </p:nvSpPr>
        <p:spPr/>
        <p:txBody>
          <a:bodyPr/>
          <a:lstStyle/>
          <a:p>
            <a:fld id="{C36C28B4-5B52-467A-9173-204C9E91858B}" type="slidenum">
              <a:rPr lang="en-US" smtClean="0"/>
              <a:t>7</a:t>
            </a:fld>
            <a:endParaRPr lang="en-US"/>
          </a:p>
        </p:txBody>
      </p:sp>
      <p:pic>
        <p:nvPicPr>
          <p:cNvPr id="3" name="Content Placeholder 2"/>
          <p:cNvPicPr>
            <a:picLocks noGrp="1" noChangeAspect="1"/>
          </p:cNvPicPr>
          <p:nvPr>
            <p:ph idx="1"/>
            <p:custDataLst>
              <p:tags r:id="rId1"/>
            </p:custDataLst>
          </p:nvPr>
        </p:nvPicPr>
        <p:blipFill>
          <a:blip r:embed="rId3"/>
          <a:stretch>
            <a:fillRect/>
          </a:stretch>
        </p:blipFill>
        <p:spPr>
          <a:xfrm>
            <a:off x="5777230" y="1085215"/>
            <a:ext cx="6096000" cy="5010150"/>
          </a:xfrm>
          <a:prstGeom prst="rect">
            <a:avLst/>
          </a:prstGeom>
        </p:spPr>
      </p:pic>
      <p:sp>
        <p:nvSpPr>
          <p:cNvPr id="5" name="Text Box 4"/>
          <p:cNvSpPr txBox="1"/>
          <p:nvPr/>
        </p:nvSpPr>
        <p:spPr>
          <a:xfrm>
            <a:off x="119380" y="847725"/>
            <a:ext cx="5680710" cy="5077460"/>
          </a:xfrm>
          <a:prstGeom prst="rect">
            <a:avLst/>
          </a:prstGeom>
          <a:noFill/>
        </p:spPr>
        <p:txBody>
          <a:bodyPr wrap="square" rtlCol="0" anchor="t">
            <a:spAutoFit/>
          </a:bodyPr>
          <a:lstStyle/>
          <a:p>
            <a:pPr indent="457200" algn="just">
              <a:lnSpc>
                <a:spcPct val="100000"/>
              </a:lnSpc>
            </a:pPr>
            <a:r>
              <a:rPr lang="en-US">
                <a:solidFill>
                  <a:srgbClr val="076365"/>
                </a:solidFill>
                <a:latin typeface="Arial" panose="020B0604020202020204" pitchFamily="34" charset="0"/>
                <a:cs typeface="Arial" panose="020B0604020202020204" pitchFamily="34" charset="0"/>
              </a:rPr>
              <a:t>Viện Thông tin khoa học (Institute for Scientific Information, ISI) của Mỹ đã đề xuất sự phân loại các tạp chí khoa học trên thế giới theo chất lượng và được thừa nhận rộng rãi. Chỉ số ISI đang được dùng như một thước đo quan trọng để đánh giá chất lượng nghiên cứu tại một số nước đang phát triển, trong đó có Việt Nam.</a:t>
            </a:r>
          </a:p>
          <a:p>
            <a:pPr indent="457200" algn="just">
              <a:lnSpc>
                <a:spcPct val="100000"/>
              </a:lnSpc>
            </a:pPr>
            <a:r>
              <a:rPr lang="en-US">
                <a:solidFill>
                  <a:srgbClr val="076365"/>
                </a:solidFill>
                <a:latin typeface="Arial" panose="020B0604020202020204" pitchFamily="34" charset="0"/>
                <a:cs typeface="Arial" panose="020B0604020202020204" pitchFamily="34" charset="0"/>
              </a:rPr>
              <a:t>Lúc đầu (năm 1960), nhóm ISI chỉ bao gồm tập hợp SCI (Science Citation Index) gồm khoảng 4000 tạp chí khoa học tự nhiên, kỹ thuật, công nghệ, có chất lượng cao nhất trên thế giới. Về sau mở rộng thành SCIE (Science Citation Index Expanded) gồm khoảng 7000 tạp chí khoa học tự nhiên, kỹ thuật, công nghệ, bao hàm cả SCI, SSCI (Social Science Citation Index), A&amp;HCI (Arts &amp; Humanities Citation Index), ISI = SCIE + SSCI + A&amp;HCI, gồm khoảng 10000 tạp chí khoa học có chất lượng cao, trong tổng số hàng trăm nghìn tạp chí trên thế giới.</a:t>
            </a:r>
          </a:p>
        </p:txBody>
      </p:sp>
      <p:sp>
        <p:nvSpPr>
          <p:cNvPr id="6" name="Text Box 5"/>
          <p:cNvSpPr txBox="1"/>
          <p:nvPr/>
        </p:nvSpPr>
        <p:spPr>
          <a:xfrm>
            <a:off x="236220" y="6013450"/>
            <a:ext cx="5521325" cy="645160"/>
          </a:xfrm>
          <a:prstGeom prst="rect">
            <a:avLst/>
          </a:prstGeom>
          <a:noFill/>
        </p:spPr>
        <p:txBody>
          <a:bodyPr wrap="square" rtlCol="0" anchor="t">
            <a:spAutoFit/>
          </a:bodyPr>
          <a:lstStyle/>
          <a:p>
            <a:r>
              <a:rPr lang="en-US">
                <a:hlinkClick r:id="rId4"/>
              </a:rPr>
              <a:t>http://www.baokhoahocquocte.com/p/phan-loai-tap-chi-quoc-te-theo-he-thong.html</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a:latin typeface="Arial" panose="020B0604020202020204" pitchFamily="34" charset="0"/>
                <a:cs typeface="Arial" panose="020B0604020202020204" pitchFamily="34" charset="0"/>
              </a:rPr>
              <a:t>CÂU HỎI CHƯƠNG </a:t>
            </a:r>
            <a:r>
              <a:rPr lang="en-US" sz="3335" smtClean="0">
                <a:latin typeface="Arial" panose="020B0604020202020204" pitchFamily="34" charset="0"/>
                <a:cs typeface="Arial" panose="020B0604020202020204" pitchFamily="34" charset="0"/>
              </a:rPr>
              <a:t>3</a:t>
            </a:r>
            <a:endParaRPr lang="en-US" sz="3335">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8</a:t>
            </a:fld>
            <a:endParaRPr lang="en-US"/>
          </a:p>
        </p:txBody>
      </p:sp>
      <p:sp>
        <p:nvSpPr>
          <p:cNvPr id="5" name="Text Box 4"/>
          <p:cNvSpPr txBox="1"/>
          <p:nvPr/>
        </p:nvSpPr>
        <p:spPr>
          <a:xfrm>
            <a:off x="300355" y="805815"/>
            <a:ext cx="11643360" cy="5737860"/>
          </a:xfrm>
          <a:prstGeom prst="rect">
            <a:avLst/>
          </a:prstGeom>
          <a:noFill/>
        </p:spPr>
        <p:txBody>
          <a:bodyPr wrap="square" rtlCol="0" anchor="t">
            <a:spAutoFit/>
          </a:bodyPr>
          <a:lstStyle/>
          <a:p>
            <a:pPr>
              <a:lnSpc>
                <a:spcPct val="120000"/>
              </a:lnSpc>
            </a:pPr>
            <a:r>
              <a:rPr lang="en-US">
                <a:solidFill>
                  <a:srgbClr val="076365"/>
                </a:solidFill>
                <a:latin typeface="Arial" panose="020B0604020202020204" pitchFamily="34" charset="0"/>
                <a:cs typeface="Arial" panose="020B0604020202020204" pitchFamily="34" charset="0"/>
              </a:rPr>
              <a:t>1. Nghiên cứu khoa học là gì? Hãy giải thích khái niệm này.</a:t>
            </a:r>
          </a:p>
          <a:p>
            <a:pPr>
              <a:lnSpc>
                <a:spcPct val="120000"/>
              </a:lnSpc>
            </a:pPr>
            <a:r>
              <a:rPr lang="en-US">
                <a:solidFill>
                  <a:srgbClr val="076365"/>
                </a:solidFill>
                <a:latin typeface="Arial" panose="020B0604020202020204" pitchFamily="34" charset="0"/>
                <a:cs typeface="Arial" panose="020B0604020202020204" pitchFamily="34" charset="0"/>
              </a:rPr>
              <a:t>2. Tại sao nghiên cứu khoa học lại quan trọng trong việc phát triển tri thức và công nghệ?</a:t>
            </a:r>
          </a:p>
          <a:p>
            <a:pPr>
              <a:lnSpc>
                <a:spcPct val="120000"/>
              </a:lnSpc>
            </a:pPr>
            <a:r>
              <a:rPr lang="en-US">
                <a:solidFill>
                  <a:srgbClr val="076365"/>
                </a:solidFill>
                <a:latin typeface="Arial" panose="020B0604020202020204" pitchFamily="34" charset="0"/>
                <a:cs typeface="Arial" panose="020B0604020202020204" pitchFamily="34" charset="0"/>
              </a:rPr>
              <a:t>3. Đưa ra một ví dụ minh họa cho một quá trình nghiên cứu khoa học.</a:t>
            </a:r>
          </a:p>
          <a:p>
            <a:pPr>
              <a:lnSpc>
                <a:spcPct val="120000"/>
              </a:lnSpc>
            </a:pPr>
            <a:r>
              <a:rPr lang="en-US">
                <a:solidFill>
                  <a:srgbClr val="076365"/>
                </a:solidFill>
                <a:latin typeface="Arial" panose="020B0604020202020204" pitchFamily="34" charset="0"/>
                <a:cs typeface="Arial" panose="020B0604020202020204" pitchFamily="34" charset="0"/>
              </a:rPr>
              <a:t>4. Những mục đích chính của nghiên cứu khoa học là gì?</a:t>
            </a:r>
          </a:p>
          <a:p>
            <a:pPr>
              <a:lnSpc>
                <a:spcPct val="120000"/>
              </a:lnSpc>
            </a:pPr>
            <a:r>
              <a:rPr lang="en-US">
                <a:solidFill>
                  <a:srgbClr val="076365"/>
                </a:solidFill>
                <a:latin typeface="Arial" panose="020B0604020202020204" pitchFamily="34" charset="0"/>
                <a:cs typeface="Arial" panose="020B0604020202020204" pitchFamily="34" charset="0"/>
              </a:rPr>
              <a:t>5. Làm thế nào để các kết quả nghiên cứu khoa học có thể ứng dụng vào thực tiễn?</a:t>
            </a:r>
          </a:p>
          <a:p>
            <a:pPr>
              <a:lnSpc>
                <a:spcPct val="120000"/>
              </a:lnSpc>
            </a:pPr>
            <a:r>
              <a:rPr lang="en-US">
                <a:solidFill>
                  <a:srgbClr val="076365"/>
                </a:solidFill>
                <a:latin typeface="Arial" panose="020B0604020202020204" pitchFamily="34" charset="0"/>
                <a:cs typeface="Arial" panose="020B0604020202020204" pitchFamily="34" charset="0"/>
              </a:rPr>
              <a:t>6. Bạn hãy nêu ra một nghiên cứu khoa học đã đóng góp quan trọng vào việc nâng cao chất lượng cuộc sống.</a:t>
            </a:r>
          </a:p>
          <a:p>
            <a:pPr>
              <a:lnSpc>
                <a:spcPct val="120000"/>
              </a:lnSpc>
            </a:pPr>
            <a:r>
              <a:rPr lang="en-US">
                <a:solidFill>
                  <a:srgbClr val="076365"/>
                </a:solidFill>
                <a:latin typeface="Arial" panose="020B0604020202020204" pitchFamily="34" charset="0"/>
                <a:cs typeface="Arial" panose="020B0604020202020204" pitchFamily="34" charset="0"/>
              </a:rPr>
              <a:t>7. Nghiên cứu khoa học có thể được phân loại theo những tiêu chí nào?</a:t>
            </a:r>
          </a:p>
          <a:p>
            <a:pPr>
              <a:lnSpc>
                <a:spcPct val="120000"/>
              </a:lnSpc>
            </a:pPr>
            <a:r>
              <a:rPr lang="en-US">
                <a:solidFill>
                  <a:srgbClr val="076365"/>
                </a:solidFill>
                <a:latin typeface="Arial" panose="020B0604020202020204" pitchFamily="34" charset="0"/>
                <a:cs typeface="Arial" panose="020B0604020202020204" pitchFamily="34" charset="0"/>
              </a:rPr>
              <a:t>8. So sánh giữa nghiên cứu cơ bản và nghiên cứu ứng dụng.</a:t>
            </a:r>
          </a:p>
          <a:p>
            <a:pPr>
              <a:lnSpc>
                <a:spcPct val="120000"/>
              </a:lnSpc>
            </a:pPr>
            <a:r>
              <a:rPr lang="en-US">
                <a:solidFill>
                  <a:srgbClr val="076365"/>
                </a:solidFill>
                <a:latin typeface="Arial" panose="020B0604020202020204" pitchFamily="34" charset="0"/>
                <a:cs typeface="Arial" panose="020B0604020202020204" pitchFamily="34" charset="0"/>
              </a:rPr>
              <a:t>9. Phân biệt giữa nghiên cứu định tính và nghiên cứu định lượng.</a:t>
            </a:r>
          </a:p>
          <a:p>
            <a:pPr>
              <a:lnSpc>
                <a:spcPct val="120000"/>
              </a:lnSpc>
            </a:pPr>
            <a:r>
              <a:rPr lang="en-US">
                <a:solidFill>
                  <a:srgbClr val="076365"/>
                </a:solidFill>
                <a:latin typeface="Arial" panose="020B0604020202020204" pitchFamily="34" charset="0"/>
                <a:cs typeface="Arial" panose="020B0604020202020204" pitchFamily="34" charset="0"/>
              </a:rPr>
              <a:t>10. Đưa ra ví dụ cụ thể cho mỗi loại nghiên cứu theo lĩnh vực (khoa học tự nhiên và khoa học xã hội).</a:t>
            </a:r>
          </a:p>
          <a:p>
            <a:pPr>
              <a:lnSpc>
                <a:spcPct val="120000"/>
              </a:lnSpc>
            </a:pPr>
            <a:r>
              <a:rPr lang="en-US">
                <a:solidFill>
                  <a:srgbClr val="076365"/>
                </a:solidFill>
                <a:latin typeface="Arial" panose="020B0604020202020204" pitchFamily="34" charset="0"/>
                <a:cs typeface="Arial" panose="020B0604020202020204" pitchFamily="34" charset="0"/>
              </a:rPr>
              <a:t>11. Quy trình nghiên cứu khoa học bao gồm những bước cơ bản nào?</a:t>
            </a:r>
          </a:p>
          <a:p>
            <a:pPr>
              <a:lnSpc>
                <a:spcPct val="120000"/>
              </a:lnSpc>
            </a:pPr>
            <a:r>
              <a:rPr lang="en-US">
                <a:solidFill>
                  <a:srgbClr val="076365"/>
                </a:solidFill>
                <a:latin typeface="Arial" panose="020B0604020202020204" pitchFamily="34" charset="0"/>
                <a:cs typeface="Arial" panose="020B0604020202020204" pitchFamily="34" charset="0"/>
              </a:rPr>
              <a:t>12. Tại sao bước xác định vấn đề nghiên cứu lại quan trọng?</a:t>
            </a:r>
          </a:p>
          <a:p>
            <a:pPr>
              <a:lnSpc>
                <a:spcPct val="120000"/>
              </a:lnSpc>
            </a:pPr>
            <a:r>
              <a:rPr lang="en-US">
                <a:solidFill>
                  <a:srgbClr val="076365"/>
                </a:solidFill>
                <a:latin typeface="Arial" panose="020B0604020202020204" pitchFamily="34" charset="0"/>
                <a:cs typeface="Arial" panose="020B0604020202020204" pitchFamily="34" charset="0"/>
              </a:rPr>
              <a:t>13. Bước tổng quan tài liệu có vai trò gì trong quá trình nghiên cứu khoa học?</a:t>
            </a:r>
          </a:p>
          <a:p>
            <a:pPr>
              <a:lnSpc>
                <a:spcPct val="120000"/>
              </a:lnSpc>
            </a:pPr>
            <a:r>
              <a:rPr lang="en-US">
                <a:solidFill>
                  <a:srgbClr val="076365"/>
                </a:solidFill>
                <a:latin typeface="Arial" panose="020B0604020202020204" pitchFamily="34" charset="0"/>
                <a:cs typeface="Arial" panose="020B0604020202020204" pitchFamily="34" charset="0"/>
              </a:rPr>
              <a:t>14. Bạn hãy mô tả chi tiết bước trình bày và viết báo cáo kết quả nghiên cứu.</a:t>
            </a:r>
          </a:p>
          <a:p>
            <a:pPr>
              <a:lnSpc>
                <a:spcPct val="120000"/>
              </a:lnSpc>
            </a:pPr>
            <a:r>
              <a:rPr lang="en-US">
                <a:solidFill>
                  <a:srgbClr val="076365"/>
                </a:solidFill>
                <a:latin typeface="Arial" panose="020B0604020202020204" pitchFamily="34" charset="0"/>
                <a:cs typeface="Arial" panose="020B0604020202020204" pitchFamily="34" charset="0"/>
              </a:rPr>
              <a:t>15. Sản phẩm của nghiên cứu khoa học là gì?</a:t>
            </a:r>
          </a:p>
          <a:p>
            <a:pPr>
              <a:lnSpc>
                <a:spcPct val="120000"/>
              </a:lnSpc>
            </a:pPr>
            <a:r>
              <a:rPr lang="en-US">
                <a:solidFill>
                  <a:srgbClr val="076365"/>
                </a:solidFill>
                <a:latin typeface="Arial" panose="020B0604020202020204" pitchFamily="34" charset="0"/>
                <a:cs typeface="Arial" panose="020B0604020202020204" pitchFamily="34" charset="0"/>
              </a:rPr>
              <a:t>16. Những sản phẩm này có ý nghĩa như thế nào đối với sự phát triển của khoa học và xã hội?</a:t>
            </a:r>
          </a:p>
          <a:p>
            <a:pPr>
              <a:lnSpc>
                <a:spcPct val="120000"/>
              </a:lnSpc>
            </a:pPr>
            <a:r>
              <a:rPr lang="en-US">
                <a:solidFill>
                  <a:srgbClr val="076365"/>
                </a:solidFill>
                <a:latin typeface="Arial" panose="020B0604020202020204" pitchFamily="34" charset="0"/>
                <a:cs typeface="Arial" panose="020B0604020202020204" pitchFamily="34" charset="0"/>
              </a:rPr>
              <a:t>17. Bạn hãy liệt kê các loại sản phẩm khoa học và giải thích vai trò của mỗi loại.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a:latin typeface="Arial" panose="020B0604020202020204" pitchFamily="34" charset="0"/>
                <a:cs typeface="Arial" panose="020B0604020202020204" pitchFamily="34" charset="0"/>
              </a:rPr>
              <a:t>BÀI TẬP CHƯƠNG </a:t>
            </a:r>
            <a:r>
              <a:rPr lang="en-US" sz="3335" smtClean="0">
                <a:latin typeface="Arial" panose="020B0604020202020204" pitchFamily="34" charset="0"/>
                <a:cs typeface="Arial" panose="020B0604020202020204" pitchFamily="34" charset="0"/>
              </a:rPr>
              <a:t>3</a:t>
            </a:r>
            <a:endParaRPr lang="en-US" sz="3335">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9</a:t>
            </a:fld>
            <a:endParaRPr lang="en-US"/>
          </a:p>
        </p:txBody>
      </p:sp>
      <p:sp>
        <p:nvSpPr>
          <p:cNvPr id="5" name="Text Box 4"/>
          <p:cNvSpPr txBox="1"/>
          <p:nvPr/>
        </p:nvSpPr>
        <p:spPr>
          <a:xfrm>
            <a:off x="300355" y="805815"/>
            <a:ext cx="11643360" cy="5573395"/>
          </a:xfrm>
          <a:prstGeom prst="rect">
            <a:avLst/>
          </a:prstGeom>
          <a:noFill/>
        </p:spPr>
        <p:txBody>
          <a:bodyPr wrap="square" rtlCol="0" anchor="t">
            <a:spAutoFit/>
          </a:bodyPr>
          <a:lstStyle/>
          <a:p>
            <a:pPr algn="just">
              <a:lnSpc>
                <a:spcPct val="110000"/>
              </a:lnSpc>
            </a:pPr>
            <a:r>
              <a:rPr lang="en-US">
                <a:solidFill>
                  <a:srgbClr val="076365"/>
                </a:solidFill>
                <a:latin typeface="Arial" panose="020B0604020202020204" pitchFamily="34" charset="0"/>
                <a:cs typeface="Arial" panose="020B0604020202020204" pitchFamily="34" charset="0"/>
              </a:rPr>
              <a:t>Bài tập 1: Phân tích một nghiên cứu khoa học thực tế</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Chọn một bài báo khoa học hoặc một công trình nghiên cứu bất kỳ.</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Đọc và tóm tắt nội dung chính của bài báo/công trình.</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Xác định và phân tích các bước trong quy trình nghiên cứu khoa học đã được áp dụng.</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Đánh giá các sản phẩm của nghiên cứu đó và ý nghĩa của chúng.</a:t>
            </a:r>
          </a:p>
          <a:p>
            <a:pPr algn="just">
              <a:lnSpc>
                <a:spcPct val="110000"/>
              </a:lnSpc>
            </a:pPr>
            <a:r>
              <a:rPr lang="en-US">
                <a:solidFill>
                  <a:srgbClr val="076365"/>
                </a:solidFill>
                <a:latin typeface="Arial" panose="020B0604020202020204" pitchFamily="34" charset="0"/>
                <a:cs typeface="Arial" panose="020B0604020202020204" pitchFamily="34" charset="0"/>
              </a:rPr>
              <a:t>Bài tập 2: Thiết kế một nghiên cứu khoa học</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Lựa chọn một vấn đề hoặc câu hỏi nghiên cứu cụ thể.</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Viết một kế hoạch nghiên cứu bao gồm: xác định vấn đề, xây dựng giả thuyết, phương pháp nghiên cứu, kế hoạch thu thập dữ liệu, và cách phân tích dữ liệu.</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Trình bày cách bạn sẽ kiểm định giả thuyết và dự kiến các kết quả nghiên cứu.</a:t>
            </a:r>
          </a:p>
          <a:p>
            <a:pPr algn="just">
              <a:lnSpc>
                <a:spcPct val="110000"/>
              </a:lnSpc>
            </a:pPr>
            <a:r>
              <a:rPr lang="en-US">
                <a:solidFill>
                  <a:srgbClr val="076365"/>
                </a:solidFill>
                <a:latin typeface="Arial" panose="020B0604020202020204" pitchFamily="34" charset="0"/>
                <a:cs typeface="Arial" panose="020B0604020202020204" pitchFamily="34" charset="0"/>
              </a:rPr>
              <a:t>Bài tập 3: So sánh các loại nghiên cứu khoa học</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Viết một bài tiểu luận so sánh giữa nghiên cứu cơ bản và nghiên cứu ứng dụng.</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Phân tích những ưu và nhược điểm của từng loại nghiên cứu.</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Đưa ra ví dụ minh họa và bàn luận về tính ứng dụng của mỗi loại nghiên cứu trong thực tiễn.</a:t>
            </a:r>
          </a:p>
          <a:p>
            <a:pPr algn="just">
              <a:lnSpc>
                <a:spcPct val="110000"/>
              </a:lnSpc>
            </a:pPr>
            <a:r>
              <a:rPr lang="en-US">
                <a:solidFill>
                  <a:srgbClr val="076365"/>
                </a:solidFill>
                <a:latin typeface="Arial" panose="020B0604020202020204" pitchFamily="34" charset="0"/>
                <a:cs typeface="Arial" panose="020B0604020202020204" pitchFamily="34" charset="0"/>
              </a:rPr>
              <a:t>Bài tập 4: Đánh giá sản phẩm của nghiên cứu khoa học</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Chọn một công nghệ hoặc phương pháp mới được phát triển từ kết quả nghiên cứu khoa học.</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Phân tích quy trình nghiên cứu đã dẫn đến sự phát triển của công nghệ/phương pháp đó.</a:t>
            </a:r>
          </a:p>
          <a:p>
            <a:pPr marL="742950" lvl="1" indent="-285750" algn="just">
              <a:lnSpc>
                <a:spcPct val="11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Đánh giá tác động của sản phẩm nghiên cứu đó đối với cộng đồng và xã hội.</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1737</Words>
  <Application>Microsoft Office PowerPoint</Application>
  <PresentationFormat>Widescreen</PresentationFormat>
  <Paragraphs>95</Paragraphs>
  <Slides>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Arial</vt:lpstr>
      <vt:lpstr>Calibri</vt:lpstr>
      <vt:lpstr>Calibri Light</vt:lpstr>
      <vt:lpstr>Cambria</vt:lpstr>
      <vt:lpstr>Courier New</vt:lpstr>
      <vt:lpstr>Tahoma</vt:lpstr>
      <vt:lpstr>Wingdings</vt:lpstr>
      <vt:lpstr>Office Theme</vt:lpstr>
      <vt:lpstr>Custom Design</vt:lpstr>
      <vt:lpstr>CHƯƠNG 3  PHƯƠNG PHÁP NGHIÊN CỨU KHOA HỌC</vt:lpstr>
      <vt:lpstr>PHƯƠNG PHÁP NGHIÊN CỨU KHOA HỌC</vt:lpstr>
      <vt:lpstr>PHƯƠNG PHÁP NGHIÊN CỨU KHOA HỌC</vt:lpstr>
      <vt:lpstr>PHƯƠNG PHÁP NGHIÊN CỨU KHOA HỌC</vt:lpstr>
      <vt:lpstr>PHƯƠNG PHÁP NGHIÊN CỨU KHOA HỌC</vt:lpstr>
      <vt:lpstr>PHƯƠNG PHÁP NGHIÊN CỨU KHOA HỌC</vt:lpstr>
      <vt:lpstr>Phân loại tạp chí khoa học theo chất lượng</vt:lpstr>
      <vt:lpstr>CÂU HỎI CHƯƠNG 3</vt:lpstr>
      <vt:lpstr>BÀI TẬP CHƯƠNG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37</cp:revision>
  <dcterms:created xsi:type="dcterms:W3CDTF">2024-06-28T03:54:00Z</dcterms:created>
  <dcterms:modified xsi:type="dcterms:W3CDTF">2024-10-15T21:54:56Z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622A56224D074594A1F767FB4F6D5FEC_13</vt:lpwstr>
  </property>
  <property fmtid="{D5CDD505-2E9C-101B-9397-08002B2CF9AE}" pid="3" name="KSOProductBuildVer">
    <vt:lpwstr>1033-12.2.0.17545</vt:lpwstr>
  </property>
</Properties>
</file>