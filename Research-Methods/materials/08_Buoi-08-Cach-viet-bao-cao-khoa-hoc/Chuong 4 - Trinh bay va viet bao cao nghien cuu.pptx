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2"/>
  </p:notesMasterIdLst>
  <p:sldIdLst>
    <p:sldId id="269" r:id="rId3"/>
    <p:sldId id="276" r:id="rId4"/>
    <p:sldId id="277" r:id="rId5"/>
    <p:sldId id="278" r:id="rId6"/>
    <p:sldId id="281" r:id="rId7"/>
    <p:sldId id="279" r:id="rId8"/>
    <p:sldId id="280" r:id="rId9"/>
    <p:sldId id="282" r:id="rId10"/>
    <p:sldId id="283" r:id="rId11"/>
    <p:sldId id="284" r:id="rId12"/>
    <p:sldId id="285" r:id="rId13"/>
    <p:sldId id="287" r:id="rId14"/>
    <p:sldId id="288" r:id="rId15"/>
    <p:sldId id="289" r:id="rId16"/>
    <p:sldId id="290" r:id="rId17"/>
    <p:sldId id="291" r:id="rId18"/>
    <p:sldId id="292" r:id="rId19"/>
    <p:sldId id="293" r:id="rId20"/>
    <p:sldId id="29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76365"/>
    <a:srgbClr val="0DAFB3"/>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00" autoAdjust="0"/>
  </p:normalViewPr>
  <p:slideViewPr>
    <p:cSldViewPr snapToGrid="0">
      <p:cViewPr varScale="1">
        <p:scale>
          <a:sx n="85" d="100"/>
          <a:sy n="85" d="100"/>
        </p:scale>
        <p:origin x="156" y="96"/>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12/3/2024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12/3/2024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12/3/2024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12/3/2024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12/3/2024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12/3/2024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vuong.dangquoc@hus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Phu%20luc%20huong%20dan%20trich%20dan%20va%20chong%20dao%20van.docx"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Phu%20luc%20huong%20dan%20trich%20dan%20va%20chong%20dao%20van.doc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Phu%20luc%20huong%20dan%20trich%20dan%20va%20chong%20dao%20van.docx"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645" y="1407795"/>
            <a:ext cx="10121900" cy="1484630"/>
          </a:xfrm>
        </p:spPr>
        <p:txBody>
          <a:bodyPr>
            <a:normAutofit/>
          </a:bodyPr>
          <a:lstStyle/>
          <a:p>
            <a:pPr>
              <a:lnSpc>
                <a:spcPct val="140000"/>
              </a:lnSpc>
            </a:pPr>
            <a:r>
              <a:rPr lang="en-US" sz="2800">
                <a:solidFill>
                  <a:srgbClr val="EC141C"/>
                </a:solidFill>
                <a:latin typeface="Arial" panose="020B0604020202020204" pitchFamily="34" charset="0"/>
                <a:cs typeface="Arial" panose="020B0604020202020204" pitchFamily="34" charset="0"/>
              </a:rPr>
              <a:t>CHƯƠNG </a:t>
            </a:r>
            <a:r>
              <a:rPr lang="en-US" sz="2800" smtClean="0">
                <a:solidFill>
                  <a:srgbClr val="EC141C"/>
                </a:solidFill>
                <a:latin typeface="Arial" panose="020B0604020202020204" pitchFamily="34" charset="0"/>
                <a:cs typeface="Arial" panose="020B0604020202020204" pitchFamily="34" charset="0"/>
              </a:rPr>
              <a:t>4</a:t>
            </a:r>
            <a:r>
              <a:rPr lang="en-US" sz="2800">
                <a:solidFill>
                  <a:srgbClr val="EC141C"/>
                </a:solidFill>
                <a:latin typeface="Arial" panose="020B0604020202020204" pitchFamily="34" charset="0"/>
                <a:cs typeface="Arial" panose="020B0604020202020204" pitchFamily="34" charset="0"/>
              </a:rPr>
              <a:t/>
            </a:r>
            <a:br>
              <a:rPr lang="en-US" sz="2800">
                <a:solidFill>
                  <a:srgbClr val="EC141C"/>
                </a:solidFill>
                <a:latin typeface="Arial" panose="020B0604020202020204" pitchFamily="34" charset="0"/>
                <a:cs typeface="Arial" panose="020B0604020202020204" pitchFamily="34" charset="0"/>
              </a:rPr>
            </a:br>
            <a:r>
              <a:rPr lang="en-US" sz="2800">
                <a:solidFill>
                  <a:srgbClr val="0000FF"/>
                </a:solidFill>
                <a:latin typeface="Arial" panose="020B0604020202020204" pitchFamily="34" charset="0"/>
                <a:cs typeface="Arial" panose="020B0604020202020204" pitchFamily="34" charset="0"/>
              </a:rPr>
              <a:t> TRÌNH BÀY VÀ VIẾT BÁO CÁO NGHIÊN CỨU</a:t>
            </a:r>
          </a:p>
        </p:txBody>
      </p:sp>
      <p:sp>
        <p:nvSpPr>
          <p:cNvPr id="3" name="Subtitle 2"/>
          <p:cNvSpPr>
            <a:spLocks noGrp="1"/>
          </p:cNvSpPr>
          <p:nvPr>
            <p:ph type="subTitle" idx="1"/>
          </p:nvPr>
        </p:nvSpPr>
        <p:spPr>
          <a:xfrm>
            <a:off x="6384290" y="3602355"/>
            <a:ext cx="5350510" cy="1655445"/>
          </a:xfrm>
        </p:spPr>
        <p:txBody>
          <a:bodyPr>
            <a:normAutofit lnSpcReduction="10000"/>
          </a:bodyPr>
          <a:lstStyle/>
          <a:p>
            <a:pPr marL="246380" marR="5080" indent="-234315" algn="l">
              <a:lnSpc>
                <a:spcPct val="129000"/>
              </a:lnSpc>
              <a:spcBef>
                <a:spcPts val="305"/>
              </a:spcBef>
              <a:tabLst>
                <a:tab pos="1536700" algn="l"/>
              </a:tabLst>
            </a:pPr>
            <a:r>
              <a:rPr lang="en-US" sz="2000" b="1" spc="-5">
                <a:solidFill>
                  <a:srgbClr val="0000FF"/>
                </a:solidFill>
                <a:latin typeface="Arial" panose="020B0604020202020204"/>
                <a:cs typeface="Arial" panose="020B0604020202020204"/>
                <a:sym typeface="+mn-ea"/>
              </a:rPr>
              <a:t>Giảng viên: Võ Vĩnh Bảo</a:t>
            </a:r>
            <a:endParaRPr lang="en-US" sz="2000" b="1" spc="-15">
              <a:solidFill>
                <a:srgbClr val="0000FF"/>
              </a:solidFill>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rgbClr val="003D62"/>
                </a:solidFill>
                <a:latin typeface="Arial" panose="020B0604020202020204"/>
                <a:cs typeface="Arial" panose="020B0604020202020204"/>
                <a:sym typeface="+mn-ea"/>
              </a:rPr>
              <a:t>Email: </a:t>
            </a:r>
            <a:r>
              <a:rPr lang="en-US" sz="2000" spc="-5">
                <a:solidFill>
                  <a:sysClr val="windowText" lastClr="000000"/>
                </a:solidFill>
                <a:latin typeface="Arial" panose="020B0604020202020204"/>
                <a:cs typeface="Arial" panose="020B0604020202020204"/>
                <a:sym typeface="+mn-ea"/>
                <a:hlinkClick r:id="rId2"/>
              </a:rPr>
              <a:t>bao.vo@ut.edu.vn </a:t>
            </a:r>
            <a:r>
              <a:rPr lang="en-US" sz="2000" spc="-5">
                <a:solidFill>
                  <a:sysClr val="windowText" lastClr="000000"/>
                </a:solidFill>
                <a:latin typeface="Arial" panose="020B0604020202020204"/>
                <a:cs typeface="Arial" panose="020B0604020202020204"/>
                <a:sym typeface="+mn-ea"/>
              </a:rPr>
              <a:t> </a:t>
            </a:r>
            <a:endParaRPr lang="en-US" sz="2000" spc="-5">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ysClr val="windowText" lastClr="000000"/>
                </a:solidFill>
                <a:latin typeface="Arial" panose="020B0604020202020204"/>
                <a:cs typeface="Arial" panose="020B0604020202020204"/>
                <a:sym typeface="+mn-ea"/>
              </a:rPr>
              <a:t>Phone:</a:t>
            </a:r>
            <a:r>
              <a:rPr lang="en-US" sz="2000" spc="-10">
                <a:solidFill>
                  <a:sysClr val="windowText" lastClr="000000"/>
                </a:solidFill>
                <a:latin typeface="Arial" panose="020B0604020202020204"/>
                <a:cs typeface="Arial" panose="020B0604020202020204"/>
                <a:sym typeface="+mn-ea"/>
              </a:rPr>
              <a:t> </a:t>
            </a:r>
            <a:r>
              <a:rPr lang="en-US" sz="2000">
                <a:solidFill>
                  <a:sysClr val="windowText" lastClr="000000"/>
                </a:solidFill>
                <a:latin typeface="Arial" panose="020B0604020202020204"/>
                <a:cs typeface="Arial" panose="020B0604020202020204"/>
                <a:sym typeface="+mn-ea"/>
              </a:rPr>
              <a:t>091 8235236</a:t>
            </a:r>
            <a:endParaRPr lang="en-US" sz="2000">
              <a:latin typeface="Arial" panose="020B0604020202020204" pitchFamily="34" charset="0"/>
              <a:cs typeface="Arial" panose="020B0604020202020204" pitchFamily="34" charset="0"/>
            </a:endParaRP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TRÌNH BÀY VÀ VIẾT BÁO CÁO NGHIÊN CỨU</a:t>
            </a:r>
          </a:p>
        </p:txBody>
      </p:sp>
      <p:sp>
        <p:nvSpPr>
          <p:cNvPr id="3" name="Content Placeholder 2"/>
          <p:cNvSpPr>
            <a:spLocks noGrp="1"/>
          </p:cNvSpPr>
          <p:nvPr>
            <p:ph idx="1"/>
          </p:nvPr>
        </p:nvSpPr>
        <p:spPr>
          <a:xfrm>
            <a:off x="838200" y="1047750"/>
            <a:ext cx="11182350" cy="5544185"/>
          </a:xfrm>
        </p:spPr>
        <p:txBody>
          <a:bodyPr>
            <a:normAutofit/>
          </a:bodyPr>
          <a:lstStyle/>
          <a:p>
            <a:pPr marL="0" indent="0" algn="ctr">
              <a:lnSpc>
                <a:spcPct val="120000"/>
              </a:lnSpc>
              <a:buNone/>
            </a:pPr>
            <a:r>
              <a:rPr lang="en-US" b="1">
                <a:solidFill>
                  <a:srgbClr val="EC141C"/>
                </a:solidFill>
              </a:rPr>
              <a:t>NỘI DUNG CHƯƠNG </a:t>
            </a:r>
            <a:r>
              <a:rPr lang="en-US" b="1" smtClean="0">
                <a:solidFill>
                  <a:srgbClr val="EC141C"/>
                </a:solidFill>
              </a:rPr>
              <a:t>4</a:t>
            </a:r>
            <a:endParaRPr lang="en-US" b="1">
              <a:solidFill>
                <a:srgbClr val="EC141C"/>
              </a:solidFill>
            </a:endParaRPr>
          </a:p>
          <a:p>
            <a:pPr marL="0" indent="0" algn="ctr">
              <a:lnSpc>
                <a:spcPct val="120000"/>
              </a:lnSpc>
              <a:buNone/>
            </a:pPr>
            <a:endParaRPr lang="en-US" b="1">
              <a:solidFill>
                <a:srgbClr val="EC141C"/>
              </a:solidFill>
            </a:endParaRPr>
          </a:p>
          <a:p>
            <a:pPr marL="0" indent="0" algn="just">
              <a:lnSpc>
                <a:spcPct val="150000"/>
              </a:lnSpc>
              <a:buNone/>
            </a:pPr>
            <a:r>
              <a:rPr lang="en-US" sz="2400"/>
              <a:t>4</a:t>
            </a:r>
            <a:r>
              <a:rPr lang="en-US" sz="2400" smtClean="0"/>
              <a:t>.1</a:t>
            </a:r>
            <a:r>
              <a:rPr lang="en-US" sz="2400"/>
              <a:t>. Cấu trúc của một báo cáo nghiên cứu</a:t>
            </a:r>
          </a:p>
          <a:p>
            <a:pPr marL="0" indent="0" algn="just">
              <a:lnSpc>
                <a:spcPct val="150000"/>
              </a:lnSpc>
              <a:buNone/>
            </a:pPr>
            <a:r>
              <a:rPr lang="en-US" sz="2400"/>
              <a:t>4</a:t>
            </a:r>
            <a:r>
              <a:rPr lang="en-US" sz="2400" smtClean="0"/>
              <a:t>.2</a:t>
            </a:r>
            <a:r>
              <a:rPr lang="en-US" sz="2400"/>
              <a:t>. </a:t>
            </a:r>
            <a:r>
              <a:rPr lang="en-US" sz="2400" smtClean="0"/>
              <a:t>Kỹ thuật viết tóm tắt, giới thiệu, phương pháp, kết quả</a:t>
            </a:r>
            <a:endParaRPr lang="en-US" sz="2400"/>
          </a:p>
        </p:txBody>
      </p:sp>
      <p:sp>
        <p:nvSpPr>
          <p:cNvPr id="4" name="Slide Number Placeholder 3"/>
          <p:cNvSpPr>
            <a:spLocks noGrp="1"/>
          </p:cNvSpPr>
          <p:nvPr>
            <p:ph type="sldNum" sz="quarter" idx="12"/>
          </p:nvPr>
        </p:nvSpPr>
        <p:spPr/>
        <p:txBody>
          <a:bodyPr/>
          <a:lstStyle/>
          <a:p>
            <a:fld id="{C36C28B4-5B52-467A-9173-204C9E91858B}" type="slidenum">
              <a:rPr lang="en-US" smtClean="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a:t>
            </a:r>
            <a:r>
              <a:rPr lang="en-US" sz="2665" smtClean="0">
                <a:solidFill>
                  <a:srgbClr val="076365"/>
                </a:solidFill>
                <a:latin typeface="Arial" panose="020B0604020202020204" pitchFamily="34" charset="0"/>
                <a:cs typeface="Arial" panose="020B0604020202020204" pitchFamily="34" charset="0"/>
                <a:sym typeface="+mn-ea"/>
              </a:rPr>
              <a:t>.1</a:t>
            </a:r>
            <a:r>
              <a:rPr lang="en-US" sz="2665">
                <a:solidFill>
                  <a:srgbClr val="076365"/>
                </a:solidFill>
                <a:latin typeface="Arial" panose="020B0604020202020204" pitchFamily="34" charset="0"/>
                <a:cs typeface="Arial" panose="020B0604020202020204" pitchFamily="34" charset="0"/>
                <a:sym typeface="+mn-ea"/>
              </a:rPr>
              <a:t>. Cấu trúc của một báo cáo nghiên cứu</a:t>
            </a:r>
          </a:p>
        </p:txBody>
      </p:sp>
      <p:sp>
        <p:nvSpPr>
          <p:cNvPr id="4" name="Slide Number Placeholder 3"/>
          <p:cNvSpPr>
            <a:spLocks noGrp="1"/>
          </p:cNvSpPr>
          <p:nvPr>
            <p:ph type="sldNum" sz="quarter" idx="12"/>
          </p:nvPr>
        </p:nvSpPr>
        <p:spPr/>
        <p:txBody>
          <a:bodyPr/>
          <a:lstStyle/>
          <a:p>
            <a:fld id="{C36C28B4-5B52-467A-9173-204C9E91858B}" type="slidenum">
              <a:rPr lang="en-US" smtClean="0"/>
              <a:t>3</a:t>
            </a:fld>
            <a:endParaRPr lang="en-US"/>
          </a:p>
        </p:txBody>
      </p:sp>
      <p:sp>
        <p:nvSpPr>
          <p:cNvPr id="6" name="Text Box 5"/>
          <p:cNvSpPr txBox="1"/>
          <p:nvPr/>
        </p:nvSpPr>
        <p:spPr>
          <a:xfrm>
            <a:off x="300355" y="742315"/>
            <a:ext cx="11728450" cy="5785485"/>
          </a:xfrm>
          <a:prstGeom prst="rect">
            <a:avLst/>
          </a:prstGeom>
          <a:noFill/>
        </p:spPr>
        <p:txBody>
          <a:bodyPr wrap="square" rtlCol="0" anchor="t">
            <a:spAutoFit/>
          </a:bodyPr>
          <a:lstStyle/>
          <a:p>
            <a:pPr algn="just">
              <a:lnSpc>
                <a:spcPct val="130000"/>
              </a:lnSpc>
              <a:spcBef>
                <a:spcPts val="1000"/>
              </a:spcBef>
              <a:buFont typeface="Wingdings" panose="05000000000000000000" pitchFamily="2" charset="2"/>
              <a:buNone/>
            </a:pPr>
            <a:r>
              <a:rPr lang="en-US" sz="2400" b="1" i="1">
                <a:solidFill>
                  <a:srgbClr val="FF0000"/>
                </a:solidFill>
                <a:latin typeface="Arial" panose="020B0604020202020204" pitchFamily="34" charset="0"/>
                <a:cs typeface="Arial" panose="020B0604020202020204" pitchFamily="34" charset="0"/>
                <a:sym typeface="+mn-ea"/>
              </a:rPr>
              <a:t>1. Cấu trúc bài báo cáo nghiên cứu chung:</a:t>
            </a:r>
          </a:p>
          <a:p>
            <a:pPr marL="342900" indent="-342900" algn="just">
              <a:lnSpc>
                <a:spcPct val="130000"/>
              </a:lnSpc>
              <a:spcBef>
                <a:spcPts val="1000"/>
              </a:spcBef>
              <a:buFont typeface="Wingdings" panose="05000000000000000000" charset="0"/>
              <a:buChar char="Ø"/>
            </a:pPr>
            <a:r>
              <a:rPr lang="en-US" sz="2400" b="1">
                <a:solidFill>
                  <a:srgbClr val="076365"/>
                </a:solidFill>
                <a:latin typeface="Arial" panose="020B0604020202020204" pitchFamily="34" charset="0"/>
                <a:cs typeface="Arial" panose="020B0604020202020204" pitchFamily="34" charset="0"/>
                <a:sym typeface="+mn-ea"/>
              </a:rPr>
              <a:t>Tên đề tài: </a:t>
            </a:r>
            <a:r>
              <a:rPr lang="en-US" sz="2400">
                <a:solidFill>
                  <a:srgbClr val="076365"/>
                </a:solidFill>
                <a:latin typeface="Arial" panose="020B0604020202020204" pitchFamily="34" charset="0"/>
                <a:cs typeface="Arial" panose="020B0604020202020204" pitchFamily="34" charset="0"/>
                <a:sym typeface="+mn-ea"/>
              </a:rPr>
              <a:t>Phản ánh cô đọng nhất nội dung nghiên cứu của đề tài</a:t>
            </a:r>
          </a:p>
          <a:p>
            <a:pPr marL="342900" indent="-342900" algn="just">
              <a:lnSpc>
                <a:spcPct val="130000"/>
              </a:lnSpc>
              <a:spcBef>
                <a:spcPts val="1000"/>
              </a:spcBef>
              <a:buFont typeface="Wingdings" panose="05000000000000000000" charset="0"/>
              <a:buChar char="Ø"/>
            </a:pPr>
            <a:r>
              <a:rPr lang="en-US" sz="2400" b="1">
                <a:solidFill>
                  <a:srgbClr val="076365"/>
                </a:solidFill>
                <a:latin typeface="Arial" panose="020B0604020202020204" pitchFamily="34" charset="0"/>
                <a:cs typeface="Arial" panose="020B0604020202020204" pitchFamily="34" charset="0"/>
                <a:sym typeface="+mn-ea"/>
              </a:rPr>
              <a:t>Tóm tắt: </a:t>
            </a:r>
            <a:r>
              <a:rPr lang="en-US" sz="2400">
                <a:solidFill>
                  <a:srgbClr val="076365"/>
                </a:solidFill>
                <a:latin typeface="Arial" panose="020B0604020202020204" pitchFamily="34" charset="0"/>
                <a:cs typeface="Arial" panose="020B0604020202020204" pitchFamily="34" charset="0"/>
                <a:sym typeface="+mn-ea"/>
              </a:rPr>
              <a:t>Phần này tóm tắt ngắn gọn mục đích của bài viết, dữ liệu trình bày và kết luận chính của tác giả. </a:t>
            </a:r>
            <a:endParaRPr lang="en-US" sz="2400" b="1">
              <a:solidFill>
                <a:srgbClr val="076365"/>
              </a:solidFill>
              <a:latin typeface="Arial" panose="020B0604020202020204" pitchFamily="34" charset="0"/>
              <a:cs typeface="Arial" panose="020B0604020202020204" pitchFamily="34" charset="0"/>
              <a:sym typeface="+mn-ea"/>
            </a:endParaRPr>
          </a:p>
          <a:p>
            <a:pPr marL="342900" indent="-342900" algn="just">
              <a:lnSpc>
                <a:spcPct val="130000"/>
              </a:lnSpc>
              <a:spcBef>
                <a:spcPts val="1000"/>
              </a:spcBef>
              <a:buFont typeface="Wingdings" panose="05000000000000000000" charset="0"/>
              <a:buChar char="Ø"/>
            </a:pPr>
            <a:r>
              <a:rPr lang="en-US" sz="2400" b="1">
                <a:solidFill>
                  <a:srgbClr val="076365"/>
                </a:solidFill>
                <a:latin typeface="Arial" panose="020B0604020202020204" pitchFamily="34" charset="0"/>
                <a:cs typeface="Arial" panose="020B0604020202020204" pitchFamily="34" charset="0"/>
                <a:sym typeface="+mn-ea"/>
              </a:rPr>
              <a:t>Nội dung</a:t>
            </a:r>
            <a:r>
              <a:rPr lang="en-US" sz="2400">
                <a:solidFill>
                  <a:srgbClr val="076365"/>
                </a:solidFill>
                <a:latin typeface="Arial" panose="020B0604020202020204" pitchFamily="34" charset="0"/>
                <a:cs typeface="Arial" panose="020B0604020202020204" pitchFamily="34" charset="0"/>
                <a:sym typeface="+mn-ea"/>
              </a:rPr>
              <a:t> (có thể theo kết cấu 3 chương </a:t>
            </a:r>
            <a:r>
              <a:rPr lang="en-US" sz="2400" smtClean="0">
                <a:solidFill>
                  <a:srgbClr val="076365"/>
                </a:solidFill>
                <a:latin typeface="Arial" panose="020B0604020202020204" pitchFamily="34" charset="0"/>
                <a:cs typeface="Arial" panose="020B0604020202020204" pitchFamily="34" charset="0"/>
                <a:sym typeface="+mn-ea"/>
              </a:rPr>
              <a:t>đến </a:t>
            </a:r>
            <a:r>
              <a:rPr lang="en-US" sz="2400">
                <a:solidFill>
                  <a:srgbClr val="076365"/>
                </a:solidFill>
                <a:latin typeface="Arial" panose="020B0604020202020204" pitchFamily="34" charset="0"/>
                <a:cs typeface="Arial" panose="020B0604020202020204" pitchFamily="34" charset="0"/>
                <a:sym typeface="+mn-ea"/>
              </a:rPr>
              <a:t>5 chương)</a:t>
            </a:r>
          </a:p>
          <a:p>
            <a:pPr marL="342900" indent="-342900" algn="just">
              <a:lnSpc>
                <a:spcPct val="130000"/>
              </a:lnSpc>
              <a:spcBef>
                <a:spcPts val="1000"/>
              </a:spcBef>
              <a:buFont typeface="Wingdings" panose="05000000000000000000" charset="0"/>
              <a:buChar char="Ø"/>
            </a:pPr>
            <a:r>
              <a:rPr lang="en-US" sz="2400" b="1">
                <a:solidFill>
                  <a:srgbClr val="076365"/>
                </a:solidFill>
                <a:latin typeface="Arial" panose="020B0604020202020204" pitchFamily="34" charset="0"/>
                <a:cs typeface="Arial" panose="020B0604020202020204" pitchFamily="34" charset="0"/>
                <a:sym typeface="+mn-ea"/>
              </a:rPr>
              <a:t>Tài liệu tham khảo </a:t>
            </a:r>
            <a:r>
              <a:rPr lang="en-US" sz="2400">
                <a:solidFill>
                  <a:srgbClr val="076365"/>
                </a:solidFill>
                <a:latin typeface="Arial" panose="020B0604020202020204" pitchFamily="34" charset="0"/>
                <a:cs typeface="Arial" panose="020B0604020202020204" pitchFamily="34" charset="0"/>
                <a:sym typeface="+mn-ea"/>
              </a:rPr>
              <a:t>(ghi theo thứ tự: Tên tác giả, năm xuất bản, tên tác phẩm/tài liệu, số trang của phần tài liệu đã tham khảo, nơi xuất bản)</a:t>
            </a:r>
          </a:p>
          <a:p>
            <a:pPr marL="342900" indent="-342900" algn="just">
              <a:lnSpc>
                <a:spcPct val="130000"/>
              </a:lnSpc>
              <a:spcBef>
                <a:spcPts val="1000"/>
              </a:spcBef>
              <a:buFont typeface="Wingdings" panose="05000000000000000000" charset="0"/>
              <a:buChar char="Ø"/>
            </a:pPr>
            <a:r>
              <a:rPr lang="en-US" sz="2400" b="1">
                <a:solidFill>
                  <a:srgbClr val="076365"/>
                </a:solidFill>
                <a:latin typeface="Arial" panose="020B0604020202020204" pitchFamily="34" charset="0"/>
                <a:cs typeface="Arial" panose="020B0604020202020204" pitchFamily="34" charset="0"/>
                <a:sym typeface="+mn-ea"/>
              </a:rPr>
              <a:t>Phụ lục</a:t>
            </a:r>
          </a:p>
          <a:p>
            <a:pPr indent="457200" algn="just">
              <a:lnSpc>
                <a:spcPct val="130000"/>
              </a:lnSpc>
              <a:spcBef>
                <a:spcPts val="1000"/>
              </a:spcBef>
              <a:buFont typeface="Wingdings" panose="05000000000000000000" charset="0"/>
              <a:buNone/>
            </a:pPr>
            <a:r>
              <a:rPr lang="en-US" sz="2400">
                <a:solidFill>
                  <a:srgbClr val="076365"/>
                </a:solidFill>
                <a:latin typeface="Arial" panose="020B0604020202020204" pitchFamily="34" charset="0"/>
                <a:cs typeface="Arial" panose="020B0604020202020204" pitchFamily="34" charset="0"/>
                <a:sym typeface="+mn-ea"/>
              </a:rPr>
              <a:t>- Mẫu phiếu điều tra/khảo sát</a:t>
            </a:r>
          </a:p>
          <a:p>
            <a:pPr indent="457200" algn="just">
              <a:lnSpc>
                <a:spcPct val="130000"/>
              </a:lnSpc>
              <a:spcBef>
                <a:spcPts val="1000"/>
              </a:spcBef>
              <a:buFont typeface="Wingdings" panose="05000000000000000000" charset="0"/>
              <a:buNone/>
            </a:pPr>
            <a:r>
              <a:rPr lang="en-US" sz="2400">
                <a:solidFill>
                  <a:srgbClr val="076365"/>
                </a:solidFill>
                <a:latin typeface="Arial" panose="020B0604020202020204" pitchFamily="34" charset="0"/>
                <a:cs typeface="Arial" panose="020B0604020202020204" pitchFamily="34" charset="0"/>
                <a:sym typeface="+mn-ea"/>
              </a:rPr>
              <a:t>- Kết quả điều tra/khảo sát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4.1. Cấu trúc của một báo cáo nghiên cứu</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6" name="Text Box 5"/>
          <p:cNvSpPr txBox="1"/>
          <p:nvPr/>
        </p:nvSpPr>
        <p:spPr>
          <a:xfrm>
            <a:off x="300355" y="742315"/>
            <a:ext cx="11728450" cy="4094454"/>
          </a:xfrm>
          <a:prstGeom prst="rect">
            <a:avLst/>
          </a:prstGeom>
          <a:noFill/>
        </p:spPr>
        <p:txBody>
          <a:bodyPr wrap="square" rtlCol="0" anchor="t">
            <a:spAutoFit/>
          </a:bodyPr>
          <a:lstStyle/>
          <a:p>
            <a:pPr algn="just">
              <a:lnSpc>
                <a:spcPct val="130000"/>
              </a:lnSpc>
              <a:spcBef>
                <a:spcPts val="1000"/>
              </a:spcBef>
              <a:buFont typeface="Wingdings" panose="05000000000000000000" pitchFamily="2" charset="2"/>
              <a:buNone/>
            </a:pPr>
            <a:r>
              <a:rPr lang="en-US" sz="2400" b="1" i="1">
                <a:solidFill>
                  <a:srgbClr val="FF0000"/>
                </a:solidFill>
                <a:latin typeface="Arial" panose="020B0604020202020204" pitchFamily="34" charset="0"/>
                <a:cs typeface="Arial" panose="020B0604020202020204" pitchFamily="34" charset="0"/>
                <a:sym typeface="+mn-ea"/>
              </a:rPr>
              <a:t>2. Cấu </a:t>
            </a:r>
            <a:r>
              <a:rPr lang="en-US" sz="2400" b="1" i="1" smtClean="0">
                <a:solidFill>
                  <a:srgbClr val="FF0000"/>
                </a:solidFill>
                <a:latin typeface="Arial" panose="020B0604020202020204" pitchFamily="34" charset="0"/>
                <a:cs typeface="Arial" panose="020B0604020202020204" pitchFamily="34" charset="0"/>
                <a:sym typeface="+mn-ea"/>
              </a:rPr>
              <a:t>trúc thuyết minh </a:t>
            </a:r>
            <a:r>
              <a:rPr lang="en-US" sz="2400" b="1" i="1">
                <a:solidFill>
                  <a:srgbClr val="FF0000"/>
                </a:solidFill>
                <a:latin typeface="Arial" panose="020B0604020202020204" pitchFamily="34" charset="0"/>
                <a:cs typeface="Arial" panose="020B0604020202020204" pitchFamily="34" charset="0"/>
                <a:sym typeface="+mn-ea"/>
              </a:rPr>
              <a:t>báo cáo nghiên cứu 3 chương:</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Lời nói đầu</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Chương 1: Cơ sở lý </a:t>
            </a:r>
            <a:r>
              <a:rPr lang="en-US" sz="2400" smtClean="0">
                <a:solidFill>
                  <a:srgbClr val="076365"/>
                </a:solidFill>
                <a:latin typeface="Arial" panose="020B0604020202020204" pitchFamily="34" charset="0"/>
                <a:cs typeface="Arial" panose="020B0604020202020204" pitchFamily="34" charset="0"/>
                <a:sym typeface="+mn-ea"/>
              </a:rPr>
              <a:t>thuyết và thực trạng </a:t>
            </a:r>
            <a:r>
              <a:rPr lang="en-US" sz="2400">
                <a:solidFill>
                  <a:srgbClr val="076365"/>
                </a:solidFill>
                <a:latin typeface="Arial" panose="020B0604020202020204" pitchFamily="34" charset="0"/>
                <a:cs typeface="Arial" panose="020B0604020202020204" pitchFamily="34" charset="0"/>
                <a:sym typeface="+mn-ea"/>
              </a:rPr>
              <a:t>về vấn đề nghiên cứu</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Chương 2: </a:t>
            </a:r>
            <a:r>
              <a:rPr lang="en-US" sz="2400" smtClean="0">
                <a:solidFill>
                  <a:srgbClr val="076365"/>
                </a:solidFill>
                <a:latin typeface="Arial" panose="020B0604020202020204" pitchFamily="34" charset="0"/>
                <a:cs typeface="Arial" panose="020B0604020202020204" pitchFamily="34" charset="0"/>
                <a:sym typeface="+mn-ea"/>
              </a:rPr>
              <a:t>Nghiên cứu lý thuyết &amp; thực nghiệm về </a:t>
            </a:r>
            <a:r>
              <a:rPr lang="en-US" sz="2400">
                <a:solidFill>
                  <a:srgbClr val="076365"/>
                </a:solidFill>
                <a:latin typeface="Arial" panose="020B0604020202020204" pitchFamily="34" charset="0"/>
                <a:cs typeface="Arial" panose="020B0604020202020204" pitchFamily="34" charset="0"/>
                <a:sym typeface="+mn-ea"/>
              </a:rPr>
              <a:t>vấn </a:t>
            </a:r>
            <a:r>
              <a:rPr lang="en-US" sz="2400" smtClean="0">
                <a:solidFill>
                  <a:srgbClr val="076365"/>
                </a:solidFill>
                <a:latin typeface="Arial" panose="020B0604020202020204" pitchFamily="34" charset="0"/>
                <a:cs typeface="Arial" panose="020B0604020202020204" pitchFamily="34" charset="0"/>
                <a:sym typeface="+mn-ea"/>
              </a:rPr>
              <a:t>đề</a:t>
            </a:r>
            <a:endParaRPr lang="en-US" sz="2400">
              <a:solidFill>
                <a:srgbClr val="076365"/>
              </a:solidFill>
              <a:latin typeface="Arial" panose="020B0604020202020204" pitchFamily="34" charset="0"/>
              <a:cs typeface="Arial" panose="020B0604020202020204" pitchFamily="34" charset="0"/>
              <a:sym typeface="+mn-ea"/>
            </a:endParaRP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Chương 3: </a:t>
            </a:r>
            <a:r>
              <a:rPr lang="en-US" sz="2400" smtClean="0">
                <a:solidFill>
                  <a:srgbClr val="076365"/>
                </a:solidFill>
                <a:latin typeface="Arial" panose="020B0604020202020204" pitchFamily="34" charset="0"/>
                <a:cs typeface="Arial" panose="020B0604020202020204" pitchFamily="34" charset="0"/>
                <a:sym typeface="+mn-ea"/>
              </a:rPr>
              <a:t>Phân tích, đánh giá, nêu </a:t>
            </a:r>
            <a:r>
              <a:rPr lang="en-US" sz="2400">
                <a:solidFill>
                  <a:srgbClr val="076365"/>
                </a:solidFill>
                <a:latin typeface="Arial" panose="020B0604020202020204" pitchFamily="34" charset="0"/>
                <a:cs typeface="Arial" panose="020B0604020202020204" pitchFamily="34" charset="0"/>
                <a:sym typeface="+mn-ea"/>
              </a:rPr>
              <a:t>quan điểm, phương hướng, đề xuất giải pháp…</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Kết luận và kiến </a:t>
            </a:r>
            <a:r>
              <a:rPr lang="en-US" sz="2400" smtClean="0">
                <a:solidFill>
                  <a:srgbClr val="076365"/>
                </a:solidFill>
                <a:latin typeface="Arial" panose="020B0604020202020204" pitchFamily="34" charset="0"/>
                <a:cs typeface="Arial" panose="020B0604020202020204" pitchFamily="34" charset="0"/>
                <a:sym typeface="+mn-ea"/>
              </a:rPr>
              <a:t>nghị</a:t>
            </a:r>
            <a:endParaRPr lang="en-US" sz="2400">
              <a:solidFill>
                <a:srgbClr val="076365"/>
              </a:solidFill>
              <a:latin typeface="Arial" panose="020B0604020202020204" pitchFamily="34" charset="0"/>
              <a:cs typeface="Arial" panose="020B0604020202020204" pitchFamily="34" charset="0"/>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a:t>
            </a:r>
            <a:r>
              <a:rPr lang="en-US" sz="2665" smtClean="0">
                <a:solidFill>
                  <a:srgbClr val="076365"/>
                </a:solidFill>
                <a:latin typeface="Arial" panose="020B0604020202020204" pitchFamily="34" charset="0"/>
                <a:cs typeface="Arial" panose="020B0604020202020204" pitchFamily="34" charset="0"/>
                <a:sym typeface="+mn-ea"/>
              </a:rPr>
              <a:t>.1</a:t>
            </a:r>
            <a:r>
              <a:rPr lang="en-US" sz="2665">
                <a:solidFill>
                  <a:srgbClr val="076365"/>
                </a:solidFill>
                <a:latin typeface="Arial" panose="020B0604020202020204" pitchFamily="34" charset="0"/>
                <a:cs typeface="Arial" panose="020B0604020202020204" pitchFamily="34" charset="0"/>
                <a:sym typeface="+mn-ea"/>
              </a:rPr>
              <a:t>. Cấu trúc của một báo cáo nghiên cứu</a:t>
            </a:r>
          </a:p>
        </p:txBody>
      </p:sp>
      <p:sp>
        <p:nvSpPr>
          <p:cNvPr id="6" name="Text Box 5"/>
          <p:cNvSpPr txBox="1"/>
          <p:nvPr/>
        </p:nvSpPr>
        <p:spPr>
          <a:xfrm>
            <a:off x="300355" y="742315"/>
            <a:ext cx="11728450" cy="4702826"/>
          </a:xfrm>
          <a:prstGeom prst="rect">
            <a:avLst/>
          </a:prstGeom>
          <a:noFill/>
        </p:spPr>
        <p:txBody>
          <a:bodyPr wrap="square" rtlCol="0" anchor="t">
            <a:spAutoFit/>
          </a:bodyPr>
          <a:lstStyle/>
          <a:p>
            <a:pPr algn="just">
              <a:lnSpc>
                <a:spcPct val="130000"/>
              </a:lnSpc>
              <a:spcBef>
                <a:spcPts val="1000"/>
              </a:spcBef>
              <a:buFont typeface="Wingdings" panose="05000000000000000000" pitchFamily="2" charset="2"/>
              <a:buNone/>
            </a:pPr>
            <a:r>
              <a:rPr lang="en-US" sz="2400" b="1" i="1">
                <a:solidFill>
                  <a:srgbClr val="FF0000"/>
                </a:solidFill>
                <a:latin typeface="Arial" panose="020B0604020202020204" pitchFamily="34" charset="0"/>
                <a:cs typeface="Arial" panose="020B0604020202020204" pitchFamily="34" charset="0"/>
                <a:sym typeface="+mn-ea"/>
              </a:rPr>
              <a:t>3</a:t>
            </a:r>
            <a:r>
              <a:rPr lang="en-US" sz="2400" b="1" i="1" smtClean="0">
                <a:solidFill>
                  <a:srgbClr val="FF0000"/>
                </a:solidFill>
                <a:latin typeface="Arial" panose="020B0604020202020204" pitchFamily="34" charset="0"/>
                <a:cs typeface="Arial" panose="020B0604020202020204" pitchFamily="34" charset="0"/>
                <a:sym typeface="+mn-ea"/>
              </a:rPr>
              <a:t>. </a:t>
            </a:r>
            <a:r>
              <a:rPr lang="en-US" sz="2400" b="1" i="1">
                <a:solidFill>
                  <a:srgbClr val="FF0000"/>
                </a:solidFill>
                <a:latin typeface="Arial" panose="020B0604020202020204" pitchFamily="34" charset="0"/>
                <a:cs typeface="Arial" panose="020B0604020202020204" pitchFamily="34" charset="0"/>
                <a:sym typeface="+mn-ea"/>
              </a:rPr>
              <a:t>Cấu </a:t>
            </a:r>
            <a:r>
              <a:rPr lang="en-US" sz="2400" b="1" i="1" smtClean="0">
                <a:solidFill>
                  <a:srgbClr val="FF0000"/>
                </a:solidFill>
                <a:latin typeface="Arial" panose="020B0604020202020204" pitchFamily="34" charset="0"/>
                <a:cs typeface="Arial" panose="020B0604020202020204" pitchFamily="34" charset="0"/>
                <a:sym typeface="+mn-ea"/>
              </a:rPr>
              <a:t>trúc thuyết minh </a:t>
            </a:r>
            <a:r>
              <a:rPr lang="en-US" sz="2400" b="1" i="1">
                <a:solidFill>
                  <a:srgbClr val="FF0000"/>
                </a:solidFill>
                <a:latin typeface="Arial" panose="020B0604020202020204" pitchFamily="34" charset="0"/>
                <a:cs typeface="Arial" panose="020B0604020202020204" pitchFamily="34" charset="0"/>
                <a:sym typeface="+mn-ea"/>
              </a:rPr>
              <a:t>báo cáo nghiên cứu </a:t>
            </a:r>
            <a:r>
              <a:rPr lang="en-US" sz="2400" b="1" i="1" smtClean="0">
                <a:solidFill>
                  <a:srgbClr val="FF0000"/>
                </a:solidFill>
                <a:latin typeface="Arial" panose="020B0604020202020204" pitchFamily="34" charset="0"/>
                <a:cs typeface="Arial" panose="020B0604020202020204" pitchFamily="34" charset="0"/>
                <a:sym typeface="+mn-ea"/>
              </a:rPr>
              <a:t>4 </a:t>
            </a:r>
            <a:r>
              <a:rPr lang="en-US" sz="2400" b="1" i="1">
                <a:solidFill>
                  <a:srgbClr val="FF0000"/>
                </a:solidFill>
                <a:latin typeface="Arial" panose="020B0604020202020204" pitchFamily="34" charset="0"/>
                <a:cs typeface="Arial" panose="020B0604020202020204" pitchFamily="34" charset="0"/>
                <a:sym typeface="+mn-ea"/>
              </a:rPr>
              <a:t>chương:</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Lời nói đầu</a:t>
            </a:r>
          </a:p>
          <a:p>
            <a:pPr marL="342900" indent="-342900" algn="just">
              <a:lnSpc>
                <a:spcPct val="130000"/>
              </a:lnSpc>
              <a:spcBef>
                <a:spcPts val="1000"/>
              </a:spcBef>
              <a:buFont typeface="Wingdings" panose="05000000000000000000" charset="0"/>
              <a:buChar char="Ø"/>
            </a:pPr>
            <a:r>
              <a:rPr lang="en-US" sz="2400" smtClean="0">
                <a:solidFill>
                  <a:srgbClr val="076365"/>
                </a:solidFill>
                <a:latin typeface="Arial" panose="020B0604020202020204" pitchFamily="34" charset="0"/>
                <a:cs typeface="Arial" panose="020B0604020202020204" pitchFamily="34" charset="0"/>
                <a:sym typeface="+mn-ea"/>
              </a:rPr>
              <a:t>Chương 1: Tổng quan về vấn đề nghiên cứu</a:t>
            </a:r>
          </a:p>
          <a:p>
            <a:pPr marL="342900" indent="-342900" algn="just">
              <a:lnSpc>
                <a:spcPct val="130000"/>
              </a:lnSpc>
              <a:spcBef>
                <a:spcPts val="1000"/>
              </a:spcBef>
              <a:buFont typeface="Wingdings" panose="05000000000000000000" charset="0"/>
              <a:buChar char="Ø"/>
            </a:pPr>
            <a:r>
              <a:rPr lang="en-US" sz="2400" smtClean="0">
                <a:solidFill>
                  <a:srgbClr val="076365"/>
                </a:solidFill>
                <a:latin typeface="Arial" panose="020B0604020202020204" pitchFamily="34" charset="0"/>
                <a:cs typeface="Arial" panose="020B0604020202020204" pitchFamily="34" charset="0"/>
                <a:sym typeface="+mn-ea"/>
              </a:rPr>
              <a:t>Chương </a:t>
            </a:r>
            <a:r>
              <a:rPr lang="en-US" sz="2400">
                <a:solidFill>
                  <a:srgbClr val="076365"/>
                </a:solidFill>
                <a:latin typeface="Arial" panose="020B0604020202020204" pitchFamily="34" charset="0"/>
                <a:cs typeface="Arial" panose="020B0604020202020204" pitchFamily="34" charset="0"/>
                <a:sym typeface="+mn-ea"/>
              </a:rPr>
              <a:t>2</a:t>
            </a:r>
            <a:r>
              <a:rPr lang="en-US" sz="2400" smtClean="0">
                <a:solidFill>
                  <a:srgbClr val="076365"/>
                </a:solidFill>
                <a:latin typeface="Arial" panose="020B0604020202020204" pitchFamily="34" charset="0"/>
                <a:cs typeface="Arial" panose="020B0604020202020204" pitchFamily="34" charset="0"/>
                <a:sym typeface="+mn-ea"/>
              </a:rPr>
              <a:t>: Nghiên cứu lý thuyết về </a:t>
            </a:r>
            <a:r>
              <a:rPr lang="en-US" sz="2400">
                <a:solidFill>
                  <a:srgbClr val="076365"/>
                </a:solidFill>
                <a:latin typeface="Arial" panose="020B0604020202020204" pitchFamily="34" charset="0"/>
                <a:cs typeface="Arial" panose="020B0604020202020204" pitchFamily="34" charset="0"/>
                <a:sym typeface="+mn-ea"/>
              </a:rPr>
              <a:t>vấn đề nghiên cứu</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Chương </a:t>
            </a:r>
            <a:r>
              <a:rPr lang="en-US" sz="2400" smtClean="0">
                <a:solidFill>
                  <a:srgbClr val="076365"/>
                </a:solidFill>
                <a:latin typeface="Arial" panose="020B0604020202020204" pitchFamily="34" charset="0"/>
                <a:cs typeface="Arial" panose="020B0604020202020204" pitchFamily="34" charset="0"/>
                <a:sym typeface="+mn-ea"/>
              </a:rPr>
              <a:t>3: Nghiên cứu thực nghiệm &amp; ứng dụng về </a:t>
            </a:r>
            <a:r>
              <a:rPr lang="en-US" sz="2400">
                <a:solidFill>
                  <a:srgbClr val="076365"/>
                </a:solidFill>
                <a:latin typeface="Arial" panose="020B0604020202020204" pitchFamily="34" charset="0"/>
                <a:cs typeface="Arial" panose="020B0604020202020204" pitchFamily="34" charset="0"/>
                <a:sym typeface="+mn-ea"/>
              </a:rPr>
              <a:t>vấn </a:t>
            </a:r>
            <a:r>
              <a:rPr lang="en-US" sz="2400" smtClean="0">
                <a:solidFill>
                  <a:srgbClr val="076365"/>
                </a:solidFill>
                <a:latin typeface="Arial" panose="020B0604020202020204" pitchFamily="34" charset="0"/>
                <a:cs typeface="Arial" panose="020B0604020202020204" pitchFamily="34" charset="0"/>
                <a:sym typeface="+mn-ea"/>
              </a:rPr>
              <a:t>đề nghiên cứu</a:t>
            </a:r>
            <a:endParaRPr lang="en-US" sz="2400">
              <a:solidFill>
                <a:srgbClr val="076365"/>
              </a:solidFill>
              <a:latin typeface="Arial" panose="020B0604020202020204" pitchFamily="34" charset="0"/>
              <a:cs typeface="Arial" panose="020B0604020202020204" pitchFamily="34" charset="0"/>
              <a:sym typeface="+mn-ea"/>
            </a:endParaRP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Chương </a:t>
            </a:r>
            <a:r>
              <a:rPr lang="en-US" sz="2400" smtClean="0">
                <a:solidFill>
                  <a:srgbClr val="076365"/>
                </a:solidFill>
                <a:latin typeface="Arial" panose="020B0604020202020204" pitchFamily="34" charset="0"/>
                <a:cs typeface="Arial" panose="020B0604020202020204" pitchFamily="34" charset="0"/>
                <a:sym typeface="+mn-ea"/>
              </a:rPr>
              <a:t>4: Phân tích, đánh giá, nêu </a:t>
            </a:r>
            <a:r>
              <a:rPr lang="en-US" sz="2400">
                <a:solidFill>
                  <a:srgbClr val="076365"/>
                </a:solidFill>
                <a:latin typeface="Arial" panose="020B0604020202020204" pitchFamily="34" charset="0"/>
                <a:cs typeface="Arial" panose="020B0604020202020204" pitchFamily="34" charset="0"/>
                <a:sym typeface="+mn-ea"/>
              </a:rPr>
              <a:t>quan điểm, </a:t>
            </a:r>
            <a:r>
              <a:rPr lang="en-US" sz="2400" smtClean="0">
                <a:solidFill>
                  <a:srgbClr val="076365"/>
                </a:solidFill>
                <a:latin typeface="Arial" panose="020B0604020202020204" pitchFamily="34" charset="0"/>
                <a:cs typeface="Arial" panose="020B0604020202020204" pitchFamily="34" charset="0"/>
                <a:sym typeface="+mn-ea"/>
              </a:rPr>
              <a:t>nêu phương </a:t>
            </a:r>
            <a:r>
              <a:rPr lang="en-US" sz="2400">
                <a:solidFill>
                  <a:srgbClr val="076365"/>
                </a:solidFill>
                <a:latin typeface="Arial" panose="020B0604020202020204" pitchFamily="34" charset="0"/>
                <a:cs typeface="Arial" panose="020B0604020202020204" pitchFamily="34" charset="0"/>
                <a:sym typeface="+mn-ea"/>
              </a:rPr>
              <a:t>hướng, đề xuất giải pháp…</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Kết luận và kiến </a:t>
            </a:r>
            <a:r>
              <a:rPr lang="en-US" sz="2400" smtClean="0">
                <a:solidFill>
                  <a:srgbClr val="076365"/>
                </a:solidFill>
                <a:latin typeface="Arial" panose="020B0604020202020204" pitchFamily="34" charset="0"/>
                <a:cs typeface="Arial" panose="020B0604020202020204" pitchFamily="34" charset="0"/>
                <a:sym typeface="+mn-ea"/>
              </a:rPr>
              <a:t>nghị</a:t>
            </a:r>
            <a:endParaRPr lang="en-US" sz="2400">
              <a:solidFill>
                <a:srgbClr val="076365"/>
              </a:solidFill>
              <a:latin typeface="Arial" panose="020B0604020202020204" pitchFamily="34" charset="0"/>
              <a:cs typeface="Arial" panose="020B0604020202020204" pitchFamily="34" charset="0"/>
              <a:sym typeface="+mn-ea"/>
            </a:endParaRPr>
          </a:p>
        </p:txBody>
      </p:sp>
    </p:spTree>
    <p:extLst>
      <p:ext uri="{BB962C8B-B14F-4D97-AF65-F5344CB8AC3E}">
        <p14:creationId xmlns:p14="http://schemas.microsoft.com/office/powerpoint/2010/main" val="19747372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4.1. Cấu trúc của một báo cáo nghiên cứu</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6</a:t>
            </a:fld>
            <a:endParaRPr lang="en-US"/>
          </a:p>
        </p:txBody>
      </p:sp>
      <p:sp>
        <p:nvSpPr>
          <p:cNvPr id="6" name="Text Box 5"/>
          <p:cNvSpPr txBox="1"/>
          <p:nvPr/>
        </p:nvSpPr>
        <p:spPr>
          <a:xfrm>
            <a:off x="300355" y="742315"/>
            <a:ext cx="11728450" cy="4831066"/>
          </a:xfrm>
          <a:prstGeom prst="rect">
            <a:avLst/>
          </a:prstGeom>
          <a:noFill/>
        </p:spPr>
        <p:txBody>
          <a:bodyPr wrap="square" rtlCol="0" anchor="t">
            <a:spAutoFit/>
          </a:bodyPr>
          <a:lstStyle/>
          <a:p>
            <a:pPr algn="just">
              <a:lnSpc>
                <a:spcPct val="130000"/>
              </a:lnSpc>
              <a:spcBef>
                <a:spcPts val="1000"/>
              </a:spcBef>
              <a:buFont typeface="Wingdings" panose="05000000000000000000" pitchFamily="2" charset="2"/>
              <a:buNone/>
            </a:pPr>
            <a:r>
              <a:rPr lang="en-US" sz="2400" b="1" i="1">
                <a:solidFill>
                  <a:srgbClr val="FF0000"/>
                </a:solidFill>
                <a:latin typeface="Arial" panose="020B0604020202020204" pitchFamily="34" charset="0"/>
                <a:cs typeface="Arial" panose="020B0604020202020204" pitchFamily="34" charset="0"/>
                <a:sym typeface="+mn-ea"/>
              </a:rPr>
              <a:t>4</a:t>
            </a:r>
            <a:r>
              <a:rPr lang="en-US" sz="2400" b="1" i="1" smtClean="0">
                <a:solidFill>
                  <a:srgbClr val="FF0000"/>
                </a:solidFill>
                <a:latin typeface="Arial" panose="020B0604020202020204" pitchFamily="34" charset="0"/>
                <a:cs typeface="Arial" panose="020B0604020202020204" pitchFamily="34" charset="0"/>
                <a:sym typeface="+mn-ea"/>
              </a:rPr>
              <a:t>. </a:t>
            </a:r>
            <a:r>
              <a:rPr lang="en-US" sz="2400" b="1" i="1">
                <a:solidFill>
                  <a:srgbClr val="FF0000"/>
                </a:solidFill>
                <a:latin typeface="Arial" panose="020B0604020202020204" pitchFamily="34" charset="0"/>
                <a:cs typeface="Arial" panose="020B0604020202020204" pitchFamily="34" charset="0"/>
                <a:sym typeface="+mn-ea"/>
              </a:rPr>
              <a:t>Cấu trúc bài bài </a:t>
            </a:r>
            <a:r>
              <a:rPr lang="en-US" sz="2400" b="1" i="1" smtClean="0">
                <a:solidFill>
                  <a:srgbClr val="FF0000"/>
                </a:solidFill>
                <a:latin typeface="Arial" panose="020B0604020202020204" pitchFamily="34" charset="0"/>
                <a:cs typeface="Arial" panose="020B0604020202020204" pitchFamily="34" charset="0"/>
                <a:sym typeface="+mn-ea"/>
              </a:rPr>
              <a:t>báo đăng tạp chí:</a:t>
            </a:r>
            <a:endParaRPr lang="en-US" sz="2400" b="1" i="1">
              <a:solidFill>
                <a:srgbClr val="FF0000"/>
              </a:solidFill>
              <a:latin typeface="Arial" panose="020B0604020202020204" pitchFamily="34" charset="0"/>
              <a:cs typeface="Arial" panose="020B0604020202020204" pitchFamily="34" charset="0"/>
              <a:sym typeface="+mn-ea"/>
            </a:endParaRP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1. Đặt vấn đề</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2. </a:t>
            </a:r>
            <a:r>
              <a:rPr lang="en-US" sz="2400" smtClean="0">
                <a:solidFill>
                  <a:srgbClr val="076365"/>
                </a:solidFill>
                <a:latin typeface="Arial" panose="020B0604020202020204" pitchFamily="34" charset="0"/>
                <a:cs typeface="Arial" panose="020B0604020202020204" pitchFamily="34" charset="0"/>
                <a:sym typeface="+mn-ea"/>
              </a:rPr>
              <a:t>Cơ sở lý thuyết và định hướng</a:t>
            </a: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giải </a:t>
            </a:r>
            <a:r>
              <a:rPr lang="en-US" sz="2400">
                <a:solidFill>
                  <a:srgbClr val="076365"/>
                </a:solidFill>
                <a:latin typeface="Arial" panose="020B0604020202020204" pitchFamily="34" charset="0"/>
                <a:cs typeface="Arial" panose="020B0604020202020204" pitchFamily="34" charset="0"/>
                <a:sym typeface="+mn-ea"/>
              </a:rPr>
              <a:t>quyết vấn đề</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3. </a:t>
            </a:r>
            <a:r>
              <a:rPr lang="en-US" sz="2400" smtClean="0">
                <a:solidFill>
                  <a:srgbClr val="076365"/>
                </a:solidFill>
                <a:latin typeface="Arial" panose="020B0604020202020204" pitchFamily="34" charset="0"/>
                <a:cs typeface="Arial" panose="020B0604020202020204" pitchFamily="34" charset="0"/>
                <a:sym typeface="+mn-ea"/>
              </a:rPr>
              <a:t>Nghiên cứu lý thuyết và thực nghiệm</a:t>
            </a:r>
            <a:endParaRPr lang="en-US" sz="2400">
              <a:solidFill>
                <a:srgbClr val="076365"/>
              </a:solidFill>
              <a:latin typeface="Arial" panose="020B0604020202020204" pitchFamily="34" charset="0"/>
              <a:cs typeface="Arial" panose="020B0604020202020204" pitchFamily="34" charset="0"/>
              <a:sym typeface="+mn-ea"/>
            </a:endParaRP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4. Kết quả đạt được</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5. Những hạn </a:t>
            </a:r>
            <a:r>
              <a:rPr lang="en-US" sz="2400" smtClean="0">
                <a:solidFill>
                  <a:srgbClr val="076365"/>
                </a:solidFill>
                <a:latin typeface="Arial" panose="020B0604020202020204" pitchFamily="34" charset="0"/>
                <a:cs typeface="Arial" panose="020B0604020202020204" pitchFamily="34" charset="0"/>
                <a:sym typeface="+mn-ea"/>
              </a:rPr>
              <a:t>chế, giới hạn </a:t>
            </a:r>
            <a:r>
              <a:rPr lang="en-US" sz="2400">
                <a:solidFill>
                  <a:srgbClr val="076365"/>
                </a:solidFill>
                <a:latin typeface="Arial" panose="020B0604020202020204" pitchFamily="34" charset="0"/>
                <a:cs typeface="Arial" panose="020B0604020202020204" pitchFamily="34" charset="0"/>
                <a:sym typeface="+mn-ea"/>
              </a:rPr>
              <a:t>trong quá trình thực hiện</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6. Kết luận</a:t>
            </a:r>
          </a:p>
          <a:p>
            <a:pPr marL="342900" indent="-342900" algn="just">
              <a:lnSpc>
                <a:spcPct val="130000"/>
              </a:lnSpc>
              <a:spcBef>
                <a:spcPts val="1000"/>
              </a:spcBef>
              <a:buFont typeface="Wingdings" panose="05000000000000000000" charset="0"/>
              <a:buChar char="Ø"/>
            </a:pPr>
            <a:r>
              <a:rPr lang="en-US" sz="2400">
                <a:solidFill>
                  <a:srgbClr val="076365"/>
                </a:solidFill>
                <a:latin typeface="Arial" panose="020B0604020202020204" pitchFamily="34" charset="0"/>
                <a:cs typeface="Arial" panose="020B0604020202020204" pitchFamily="34" charset="0"/>
                <a:sym typeface="+mn-ea"/>
              </a:rPr>
              <a:t>7. Tài liệu tham khảo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a:t>
            </a:r>
            <a:r>
              <a:rPr lang="en-US" sz="2665" smtClean="0">
                <a:solidFill>
                  <a:srgbClr val="076365"/>
                </a:solidFill>
                <a:latin typeface="Arial" panose="020B0604020202020204" pitchFamily="34" charset="0"/>
                <a:cs typeface="Arial" panose="020B0604020202020204" pitchFamily="34" charset="0"/>
                <a:sym typeface="+mn-ea"/>
              </a:rPr>
              <a:t>Kỹ thuật viết tóm tắt, giới thiệu, phương pháp, kết quả</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7</a:t>
            </a:fld>
            <a:endParaRPr lang="en-US"/>
          </a:p>
        </p:txBody>
      </p:sp>
      <p:sp>
        <p:nvSpPr>
          <p:cNvPr id="6" name="Text Box 5"/>
          <p:cNvSpPr txBox="1"/>
          <p:nvPr/>
        </p:nvSpPr>
        <p:spPr>
          <a:xfrm>
            <a:off x="300355" y="742315"/>
            <a:ext cx="11728450" cy="4483279"/>
          </a:xfrm>
          <a:prstGeom prst="rect">
            <a:avLst/>
          </a:prstGeom>
          <a:noFill/>
        </p:spPr>
        <p:txBody>
          <a:bodyPr wrap="square" rtlCol="0" anchor="t">
            <a:spAutoFit/>
          </a:bodyPr>
          <a:lstStyle/>
          <a:p>
            <a:pPr algn="just">
              <a:lnSpc>
                <a:spcPct val="150000"/>
              </a:lnSpc>
              <a:spcBef>
                <a:spcPts val="1000"/>
              </a:spcBef>
              <a:buFont typeface="Wingdings" panose="05000000000000000000" pitchFamily="2" charset="2"/>
              <a:buNone/>
            </a:pPr>
            <a:r>
              <a:rPr lang="en-US" sz="2400" u="sng" smtClean="0">
                <a:solidFill>
                  <a:srgbClr val="076365"/>
                </a:solidFill>
                <a:latin typeface="Arial" panose="020B0604020202020204" pitchFamily="34" charset="0"/>
                <a:cs typeface="Arial" panose="020B0604020202020204" pitchFamily="34" charset="0"/>
                <a:sym typeface="+mn-ea"/>
                <a:hlinkClick r:id="rId2" action="ppaction://hlinkfile"/>
              </a:rPr>
              <a:t>4.2.1 Kỹ thuật viết tóm tắt </a:t>
            </a:r>
            <a:endParaRPr lang="en-US" sz="2400" u="sng" smtClean="0">
              <a:solidFill>
                <a:srgbClr val="076365"/>
              </a:solidFill>
              <a:latin typeface="Arial" panose="020B0604020202020204" pitchFamily="34" charset="0"/>
              <a:cs typeface="Arial" panose="020B0604020202020204" pitchFamily="34" charset="0"/>
              <a:sym typeface="+mn-ea"/>
            </a:endParaRPr>
          </a:p>
          <a:p>
            <a:pPr algn="just">
              <a:lnSpc>
                <a:spcPct val="150000"/>
              </a:lnSpc>
              <a:spcBef>
                <a:spcPts val="1000"/>
              </a:spcBef>
              <a:buFont typeface="Wingdings" panose="05000000000000000000" pitchFamily="2" charset="2"/>
              <a:buNone/>
            </a:pPr>
            <a:r>
              <a:rPr lang="en-US" sz="2400" smtClean="0">
                <a:solidFill>
                  <a:srgbClr val="076365"/>
                </a:solidFill>
                <a:latin typeface="Arial" panose="020B0604020202020204" pitchFamily="34" charset="0"/>
                <a:cs typeface="Arial" panose="020B0604020202020204" pitchFamily="34" charset="0"/>
                <a:sym typeface="+mn-ea"/>
              </a:rPr>
              <a:t>	- Xác định từ khóa</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Xác định nội dung cốt lõi (thường là nội dung thực hiện nghiên cứu và những kết luận quan trọng)</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Chốt lại một số ý mang tính giải thích thêm về lý thuyết - thực tại - tồn tại (không nên quá nhiều)</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Cố gắng viết ngắn gọn, ưu tiên sử dụng câu ở thể bị động</a:t>
            </a:r>
            <a:endParaRPr lang="en-US" sz="2400">
              <a:solidFill>
                <a:srgbClr val="076365"/>
              </a:solidFill>
              <a:latin typeface="Arial" panose="020B0604020202020204" pitchFamily="34" charset="0"/>
              <a:cs typeface="Arial" panose="020B0604020202020204" pitchFamily="34" charset="0"/>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a:t>
            </a:r>
            <a:r>
              <a:rPr lang="en-US" sz="2665" smtClean="0">
                <a:solidFill>
                  <a:srgbClr val="076365"/>
                </a:solidFill>
                <a:latin typeface="Arial" panose="020B0604020202020204" pitchFamily="34" charset="0"/>
                <a:cs typeface="Arial" panose="020B0604020202020204" pitchFamily="34" charset="0"/>
                <a:sym typeface="+mn-ea"/>
              </a:rPr>
              <a:t>Kỹ thuật viết tóm tắt, giới thiệu, phương pháp, kết quả</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8</a:t>
            </a:fld>
            <a:endParaRPr lang="en-US"/>
          </a:p>
        </p:txBody>
      </p:sp>
      <p:sp>
        <p:nvSpPr>
          <p:cNvPr id="6" name="Text Box 5"/>
          <p:cNvSpPr txBox="1"/>
          <p:nvPr/>
        </p:nvSpPr>
        <p:spPr>
          <a:xfrm>
            <a:off x="300355" y="742315"/>
            <a:ext cx="11728450" cy="6104235"/>
          </a:xfrm>
          <a:prstGeom prst="rect">
            <a:avLst/>
          </a:prstGeom>
          <a:noFill/>
        </p:spPr>
        <p:txBody>
          <a:bodyPr wrap="square" rtlCol="0" anchor="t">
            <a:spAutoFit/>
          </a:bodyPr>
          <a:lstStyle/>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hlinkClick r:id="rId2" action="ppaction://hlinkfile"/>
              </a:rPr>
              <a:t>4.2.2</a:t>
            </a:r>
            <a:r>
              <a:rPr lang="en-US" sz="2400" u="sng" smtClean="0">
                <a:solidFill>
                  <a:srgbClr val="076365"/>
                </a:solidFill>
                <a:latin typeface="Arial" panose="020B0604020202020204" pitchFamily="34" charset="0"/>
                <a:cs typeface="Arial" panose="020B0604020202020204" pitchFamily="34" charset="0"/>
                <a:sym typeface="+mn-ea"/>
                <a:hlinkClick r:id="rId2" action="ppaction://hlinkfile"/>
              </a:rPr>
              <a:t> Kỹ thuật viết giới thiệu đề tài </a:t>
            </a:r>
            <a:endParaRPr lang="en-US" sz="2400" u="sng" smtClean="0">
              <a:solidFill>
                <a:srgbClr val="076365"/>
              </a:solidFill>
              <a:latin typeface="Arial" panose="020B0604020202020204" pitchFamily="34" charset="0"/>
              <a:cs typeface="Arial" panose="020B0604020202020204" pitchFamily="34" charset="0"/>
              <a:sym typeface="+mn-ea"/>
            </a:endParaRPr>
          </a:p>
          <a:p>
            <a:pPr algn="just">
              <a:lnSpc>
                <a:spcPct val="150000"/>
              </a:lnSpc>
              <a:spcBef>
                <a:spcPts val="1000"/>
              </a:spcBef>
              <a:buFont typeface="Wingdings" panose="05000000000000000000" pitchFamily="2" charset="2"/>
              <a:buNone/>
            </a:pPr>
            <a:r>
              <a:rPr lang="en-US" sz="2400" smtClean="0">
                <a:solidFill>
                  <a:srgbClr val="076365"/>
                </a:solidFill>
                <a:latin typeface="Arial" panose="020B0604020202020204" pitchFamily="34" charset="0"/>
                <a:cs typeface="Arial" panose="020B0604020202020204" pitchFamily="34" charset="0"/>
                <a:sym typeface="+mn-ea"/>
              </a:rPr>
              <a:t>	- Xác định các nghiên cứu đã có</a:t>
            </a:r>
          </a:p>
          <a:p>
            <a:pPr algn="just">
              <a:lnSpc>
                <a:spcPct val="150000"/>
              </a:lnSpc>
              <a:spcBef>
                <a:spcPts val="1000"/>
              </a:spcBef>
              <a:buFont typeface="Wingdings" panose="05000000000000000000" pitchFamily="2" charset="2"/>
              <a:buNone/>
            </a:pPr>
            <a:r>
              <a:rPr lang="en-US" sz="2400" smtClean="0">
                <a:solidFill>
                  <a:srgbClr val="076365"/>
                </a:solidFill>
                <a:latin typeface="Arial" panose="020B0604020202020204" pitchFamily="34" charset="0"/>
                <a:cs typeface="Arial" panose="020B0604020202020204" pitchFamily="34" charset="0"/>
                <a:sym typeface="+mn-ea"/>
              </a:rPr>
              <a:t>	- Xác định các vướng mắc, tồn tại trong thực tế</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Nêu bật sự cần thiết phải nghiên cứu</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Cố gắng viết rõ từng phần, ưu tiên sử dụng câu ở thể bị động</a:t>
            </a:r>
          </a:p>
          <a:p>
            <a:pPr algn="just">
              <a:lnSpc>
                <a:spcPct val="150000"/>
              </a:lnSpc>
              <a:spcBef>
                <a:spcPts val="1000"/>
              </a:spcBef>
            </a:pPr>
            <a:r>
              <a:rPr lang="en-US" sz="2400" u="sng">
                <a:solidFill>
                  <a:schemeClr val="accent1">
                    <a:lumMod val="75000"/>
                  </a:schemeClr>
                </a:solidFill>
                <a:latin typeface="Arial" panose="020B0604020202020204" pitchFamily="34" charset="0"/>
                <a:cs typeface="Arial" panose="020B0604020202020204" pitchFamily="34" charset="0"/>
                <a:sym typeface="+mn-ea"/>
              </a:rPr>
              <a:t>4.2.3 Kỹ thuật trình bày phương pháp nghiên cứu</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 Xác định </a:t>
            </a:r>
            <a:r>
              <a:rPr lang="en-US" sz="2400" smtClean="0">
                <a:solidFill>
                  <a:srgbClr val="076365"/>
                </a:solidFill>
                <a:latin typeface="Arial" panose="020B0604020202020204" pitchFamily="34" charset="0"/>
                <a:cs typeface="Arial" panose="020B0604020202020204" pitchFamily="34" charset="0"/>
                <a:sym typeface="+mn-ea"/>
              </a:rPr>
              <a:t>loại hình nghiên cứu: lý thuyết - thực nghiệm - kết hợp...</a:t>
            </a:r>
            <a:endParaRPr lang="en-US" sz="2400">
              <a:solidFill>
                <a:srgbClr val="076365"/>
              </a:solidFill>
              <a:latin typeface="Arial" panose="020B0604020202020204" pitchFamily="34" charset="0"/>
              <a:cs typeface="Arial" panose="020B0604020202020204" pitchFamily="34" charset="0"/>
              <a:sym typeface="+mn-ea"/>
            </a:endParaRP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 Xác định </a:t>
            </a:r>
            <a:r>
              <a:rPr lang="en-US" sz="2400" smtClean="0">
                <a:solidFill>
                  <a:srgbClr val="076365"/>
                </a:solidFill>
                <a:latin typeface="Arial" panose="020B0604020202020204" pitchFamily="34" charset="0"/>
                <a:cs typeface="Arial" panose="020B0604020202020204" pitchFamily="34" charset="0"/>
                <a:sym typeface="+mn-ea"/>
              </a:rPr>
              <a:t>các hỗ trợ cần thiết cho nghiên cứu: thiết bị, kinh phí,.....</a:t>
            </a:r>
            <a:endParaRPr lang="en-US" sz="2400">
              <a:solidFill>
                <a:srgbClr val="076365"/>
              </a:solidFill>
              <a:latin typeface="Arial" panose="020B0604020202020204" pitchFamily="34" charset="0"/>
              <a:cs typeface="Arial" panose="020B0604020202020204" pitchFamily="34" charset="0"/>
              <a:sym typeface="+mn-ea"/>
            </a:endParaRP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 Cố gắng viết rõ </a:t>
            </a:r>
            <a:r>
              <a:rPr lang="en-US" sz="2400" smtClean="0">
                <a:solidFill>
                  <a:srgbClr val="076365"/>
                </a:solidFill>
                <a:latin typeface="Arial" panose="020B0604020202020204" pitchFamily="34" charset="0"/>
                <a:cs typeface="Arial" panose="020B0604020202020204" pitchFamily="34" charset="0"/>
                <a:sym typeface="+mn-ea"/>
              </a:rPr>
              <a:t>giới hạn nghiên cứu</a:t>
            </a:r>
            <a:endParaRPr lang="en-US" sz="2400">
              <a:solidFill>
                <a:srgbClr val="076365"/>
              </a:solidFill>
              <a:latin typeface="Arial" panose="020B0604020202020204" pitchFamily="34" charset="0"/>
              <a:cs typeface="Arial" panose="020B0604020202020204" pitchFamily="34" charset="0"/>
              <a:sym typeface="+mn-ea"/>
            </a:endParaRPr>
          </a:p>
        </p:txBody>
      </p:sp>
    </p:spTree>
    <p:extLst>
      <p:ext uri="{BB962C8B-B14F-4D97-AF65-F5344CB8AC3E}">
        <p14:creationId xmlns:p14="http://schemas.microsoft.com/office/powerpoint/2010/main" val="40569465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4</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a:t>
            </a:r>
            <a:r>
              <a:rPr lang="en-US" sz="2665" smtClean="0">
                <a:solidFill>
                  <a:srgbClr val="076365"/>
                </a:solidFill>
                <a:latin typeface="Arial" panose="020B0604020202020204" pitchFamily="34" charset="0"/>
                <a:cs typeface="Arial" panose="020B0604020202020204" pitchFamily="34" charset="0"/>
                <a:sym typeface="+mn-ea"/>
              </a:rPr>
              <a:t>Kỹ thuật viết tóm tắt, giới thiệu, phương pháp, kết quả</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9</a:t>
            </a:fld>
            <a:endParaRPr lang="en-US"/>
          </a:p>
        </p:txBody>
      </p:sp>
      <p:sp>
        <p:nvSpPr>
          <p:cNvPr id="6" name="Text Box 5"/>
          <p:cNvSpPr txBox="1"/>
          <p:nvPr/>
        </p:nvSpPr>
        <p:spPr>
          <a:xfrm>
            <a:off x="300355" y="742315"/>
            <a:ext cx="11728450" cy="4611519"/>
          </a:xfrm>
          <a:prstGeom prst="rect">
            <a:avLst/>
          </a:prstGeom>
          <a:noFill/>
        </p:spPr>
        <p:txBody>
          <a:bodyPr wrap="square" rtlCol="0" anchor="t">
            <a:spAutoFit/>
          </a:bodyPr>
          <a:lstStyle/>
          <a:p>
            <a:pPr algn="just">
              <a:lnSpc>
                <a:spcPct val="150000"/>
              </a:lnSpc>
              <a:spcBef>
                <a:spcPts val="1000"/>
              </a:spcBef>
              <a:buFont typeface="Wingdings" panose="05000000000000000000" pitchFamily="2" charset="2"/>
              <a:buNone/>
            </a:pPr>
            <a:r>
              <a:rPr lang="en-US" sz="2400" u="sng" smtClean="0">
                <a:solidFill>
                  <a:srgbClr val="076365"/>
                </a:solidFill>
                <a:latin typeface="Arial" panose="020B0604020202020204" pitchFamily="34" charset="0"/>
                <a:cs typeface="Arial" panose="020B0604020202020204" pitchFamily="34" charset="0"/>
                <a:sym typeface="+mn-ea"/>
                <a:hlinkClick r:id="rId2" action="ppaction://hlinkfile"/>
              </a:rPr>
              <a:t>4.2.4 </a:t>
            </a:r>
            <a:r>
              <a:rPr lang="en-US" sz="2400" u="sng" smtClean="0">
                <a:solidFill>
                  <a:srgbClr val="076365"/>
                </a:solidFill>
                <a:latin typeface="Arial" panose="020B0604020202020204" pitchFamily="34" charset="0"/>
                <a:cs typeface="Arial" panose="020B0604020202020204" pitchFamily="34" charset="0"/>
                <a:sym typeface="+mn-ea"/>
                <a:hlinkClick r:id="rId2" action="ppaction://hlinkfile"/>
              </a:rPr>
              <a:t>Kỹ thuật viết kết quả nghiên cứu </a:t>
            </a:r>
            <a:endParaRPr lang="en-US" sz="2400" u="sng" smtClean="0">
              <a:solidFill>
                <a:srgbClr val="076365"/>
              </a:solidFill>
              <a:latin typeface="Arial" panose="020B0604020202020204" pitchFamily="34" charset="0"/>
              <a:cs typeface="Arial" panose="020B0604020202020204" pitchFamily="34" charset="0"/>
              <a:sym typeface="+mn-ea"/>
            </a:endParaRPr>
          </a:p>
          <a:p>
            <a:pPr algn="just">
              <a:lnSpc>
                <a:spcPct val="150000"/>
              </a:lnSpc>
              <a:spcBef>
                <a:spcPts val="1000"/>
              </a:spcBef>
              <a:buFont typeface="Wingdings" panose="05000000000000000000" pitchFamily="2" charset="2"/>
              <a:buNone/>
            </a:pPr>
            <a:r>
              <a:rPr lang="en-US" sz="2400" smtClean="0">
                <a:solidFill>
                  <a:srgbClr val="076365"/>
                </a:solidFill>
                <a:latin typeface="Arial" panose="020B0604020202020204" pitchFamily="34" charset="0"/>
                <a:cs typeface="Arial" panose="020B0604020202020204" pitchFamily="34" charset="0"/>
                <a:sym typeface="+mn-ea"/>
              </a:rPr>
              <a:t>	- Trình bày về phương thức thực hiện nghiên cứu</a:t>
            </a:r>
          </a:p>
          <a:p>
            <a:pPr algn="just">
              <a:lnSpc>
                <a:spcPct val="150000"/>
              </a:lnSpc>
              <a:spcBef>
                <a:spcPts val="1000"/>
              </a:spcBef>
              <a:buFont typeface="Wingdings" panose="05000000000000000000" pitchFamily="2" charset="2"/>
              <a:buNone/>
            </a:pPr>
            <a:r>
              <a:rPr lang="en-US" sz="2400" smtClean="0">
                <a:solidFill>
                  <a:srgbClr val="076365"/>
                </a:solidFill>
                <a:latin typeface="Arial" panose="020B0604020202020204" pitchFamily="34" charset="0"/>
                <a:cs typeface="Arial" panose="020B0604020202020204" pitchFamily="34" charset="0"/>
                <a:sym typeface="+mn-ea"/>
              </a:rPr>
              <a:t>	- Ưu tiên trình bày số liệu dạng biểu đồ, đồ thị, </a:t>
            </a:r>
            <a:r>
              <a:rPr lang="en-US" sz="2400">
                <a:solidFill>
                  <a:srgbClr val="076365"/>
                </a:solidFill>
                <a:latin typeface="Arial" panose="020B0604020202020204" pitchFamily="34" charset="0"/>
                <a:cs typeface="Arial" panose="020B0604020202020204" pitchFamily="34" charset="0"/>
                <a:sym typeface="+mn-ea"/>
              </a:rPr>
              <a:t>bảng </a:t>
            </a:r>
            <a:r>
              <a:rPr lang="en-US" sz="2400" smtClean="0">
                <a:solidFill>
                  <a:srgbClr val="076365"/>
                </a:solidFill>
                <a:latin typeface="Arial" panose="020B0604020202020204" pitchFamily="34" charset="0"/>
                <a:cs typeface="Arial" panose="020B0604020202020204" pitchFamily="34" charset="0"/>
                <a:sym typeface="+mn-ea"/>
              </a:rPr>
              <a:t>biểu</a:t>
            </a:r>
            <a:r>
              <a:rPr lang="en-US" sz="2400">
                <a:solidFill>
                  <a:srgbClr val="076365"/>
                </a:solidFill>
                <a:latin typeface="Arial" panose="020B0604020202020204" pitchFamily="34" charset="0"/>
                <a:cs typeface="Arial" panose="020B0604020202020204" pitchFamily="34" charset="0"/>
                <a:sym typeface="+mn-ea"/>
              </a:rPr>
              <a:t>.</a:t>
            </a:r>
            <a:endParaRPr lang="en-US" sz="2400" smtClean="0">
              <a:solidFill>
                <a:srgbClr val="076365"/>
              </a:solidFill>
              <a:latin typeface="Arial" panose="020B0604020202020204" pitchFamily="34" charset="0"/>
              <a:cs typeface="Arial" panose="020B0604020202020204" pitchFamily="34" charset="0"/>
              <a:sym typeface="+mn-ea"/>
            </a:endParaRP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Nên so sánh kết quả thực hiện với những nghiên cứu đã có</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Trình bày kết quả trong 1 -&gt; 2 chương, mỗi chương không nên ít hơn 30 trang, không nên dài quá 70 trang.</a:t>
            </a:r>
          </a:p>
          <a:p>
            <a:pPr algn="just">
              <a:lnSpc>
                <a:spcPct val="150000"/>
              </a:lnSpc>
              <a:spcBef>
                <a:spcPts val="1000"/>
              </a:spcBef>
              <a:buFont typeface="Wingdings" panose="05000000000000000000" pitchFamily="2" charset="2"/>
              <a:buNone/>
            </a:pPr>
            <a:r>
              <a:rPr lang="en-US" sz="2400">
                <a:solidFill>
                  <a:srgbClr val="076365"/>
                </a:solidFill>
                <a:latin typeface="Arial" panose="020B0604020202020204" pitchFamily="34" charset="0"/>
                <a:cs typeface="Arial" panose="020B0604020202020204" pitchFamily="34" charset="0"/>
                <a:sym typeface="+mn-ea"/>
              </a:rPr>
              <a:t>	</a:t>
            </a:r>
            <a:r>
              <a:rPr lang="en-US" sz="2400" smtClean="0">
                <a:solidFill>
                  <a:srgbClr val="076365"/>
                </a:solidFill>
                <a:latin typeface="Arial" panose="020B0604020202020204" pitchFamily="34" charset="0"/>
                <a:cs typeface="Arial" panose="020B0604020202020204" pitchFamily="34" charset="0"/>
                <a:sym typeface="+mn-ea"/>
              </a:rPr>
              <a:t>- Phần cuối mỗi chương cần có bình luận, nêu ý kiến của tác giả về kết quả</a:t>
            </a:r>
          </a:p>
        </p:txBody>
      </p:sp>
    </p:spTree>
    <p:extLst>
      <p:ext uri="{BB962C8B-B14F-4D97-AF65-F5344CB8AC3E}">
        <p14:creationId xmlns:p14="http://schemas.microsoft.com/office/powerpoint/2010/main" val="4501153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lgn="just">
              <a:lnSpc>
                <a:spcPct val="130000"/>
              </a:lnSpc>
              <a:spcBef>
                <a:spcPts val="600"/>
              </a:spcBef>
              <a:buNone/>
            </a:pPr>
            <a:r>
              <a:rPr lang="en-US" b="1" u="sng" smtClean="0"/>
              <a:t>Trích </a:t>
            </a:r>
            <a:r>
              <a:rPr lang="en-US" b="1" u="sng"/>
              <a:t>dẫn và vấn đề đạo văn</a:t>
            </a:r>
            <a:endParaRPr lang="en-US" u="sng"/>
          </a:p>
          <a:p>
            <a:pPr marL="0" indent="0" algn="just">
              <a:lnSpc>
                <a:spcPct val="130000"/>
              </a:lnSpc>
              <a:spcBef>
                <a:spcPts val="600"/>
              </a:spcBef>
              <a:buNone/>
            </a:pPr>
            <a:r>
              <a:rPr lang="en-US" smtClean="0"/>
              <a:t>	Đạo </a:t>
            </a:r>
            <a:r>
              <a:rPr lang="en-US"/>
              <a:t>văn (plagiarism) được định nghĩa là một đoạn văn bản được sao chép từ người khác và được coi là sản phẩm của chính mình hoặc lấy ý tưởng, ngôn ngữ của người khác như thể là đó là những ý tưởng và ngôn ngữ của chính </a:t>
            </a:r>
            <a:r>
              <a:rPr lang="en-US" smtClean="0"/>
              <a:t>mình. </a:t>
            </a:r>
            <a:r>
              <a:rPr lang="en-US"/>
              <a:t>Trong nghiên cứu khoa học, đạo văn là một vấn đề nghiêm trọng và bị cấm theo nguyên tắc liêm chính khoa học. Đạo văn mặc dù đôi khi xảy ra một cách cố ý, nhưng đôi khi vẫn xảy ra với những người thiếu hiểu biết về các nguyên tắc trích dẫn</a:t>
            </a:r>
            <a:r>
              <a:rPr lang="en-US" smtClean="0"/>
              <a:t>.</a:t>
            </a: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10</a:t>
            </a:fld>
            <a:endParaRPr lang="en-US"/>
          </a:p>
        </p:txBody>
      </p:sp>
    </p:spTree>
    <p:extLst>
      <p:ext uri="{BB962C8B-B14F-4D97-AF65-F5344CB8AC3E}">
        <p14:creationId xmlns:p14="http://schemas.microsoft.com/office/powerpoint/2010/main" val="1101153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lgn="just">
              <a:lnSpc>
                <a:spcPct val="130000"/>
              </a:lnSpc>
              <a:buNone/>
            </a:pPr>
            <a:r>
              <a:rPr lang="en-US" smtClean="0"/>
              <a:t>	Trích </a:t>
            </a:r>
            <a:r>
              <a:rPr lang="en-US"/>
              <a:t>dẫn trong nghiên cứu khoa học là cách mà chúng ta khai thác, sử dụng ý tưởng hoặc kết quả nghiên cứu của người khác để xây dựng cơ sở lý luận làm nền tảng lý thuyết cho nghiên cứu của mình hoặc dùng các ý tưởng đó để chứng minh cho luận điểm của mình. Trong nghiên cứu khoa học, đặc biệt trong phần cơ sở lý luận của một bài báo khoa học, thiếu trích dẫn đồng nghĩa với thiếu chứng cứ thuyết phục để lập luận cho phần nền tảng lý </a:t>
            </a:r>
            <a:r>
              <a:rPr lang="en-US" smtClean="0"/>
              <a:t>thuyết.</a:t>
            </a: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11</a:t>
            </a:fld>
            <a:endParaRPr lang="en-US"/>
          </a:p>
        </p:txBody>
      </p:sp>
    </p:spTree>
    <p:extLst>
      <p:ext uri="{BB962C8B-B14F-4D97-AF65-F5344CB8AC3E}">
        <p14:creationId xmlns:p14="http://schemas.microsoft.com/office/powerpoint/2010/main" val="27866132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lgn="just">
              <a:buNone/>
            </a:pPr>
            <a:r>
              <a:rPr lang="en-US" b="1" u="sng" smtClean="0"/>
              <a:t>Tại </a:t>
            </a:r>
            <a:r>
              <a:rPr lang="en-US" b="1" u="sng"/>
              <a:t>sao phải trích dẫn</a:t>
            </a:r>
            <a:endParaRPr lang="en-US" u="sng"/>
          </a:p>
          <a:p>
            <a:pPr marL="0" indent="0" algn="just">
              <a:lnSpc>
                <a:spcPct val="130000"/>
              </a:lnSpc>
              <a:buNone/>
            </a:pPr>
            <a:r>
              <a:rPr lang="en-US" smtClean="0"/>
              <a:t>	Trích </a:t>
            </a:r>
            <a:r>
              <a:rPr lang="en-US"/>
              <a:t>dẫn cho phép nhà khoa học diễn giải các ý tưởng và luận cứ khoa học, đánh giá, bình luận và thiết lập được các mối liên hệ giữa các kết quả nghiên cứu với những kết quả đã được công bố trước </a:t>
            </a:r>
            <a:r>
              <a:rPr lang="en-US" smtClean="0"/>
              <a:t>đó. </a:t>
            </a:r>
            <a:r>
              <a:rPr lang="en-US"/>
              <a:t>Việc trích dẫn các tài liệu liên quan còn chứng minh nhà khoa học làm việc một cách nghiêm túc đối với công trình nghiên cứu của mình, thường xuyên cập nhật kiến thức chuyên ngành mới hoặc xem xét nghiên cứu đó có cùng kết quả với các nghiên cứu về cùng một vấn đề hay lĩnh vực hay không để tìm ra chỗ trống trong nghiên cứu (research gap). </a:t>
            </a:r>
          </a:p>
        </p:txBody>
      </p:sp>
      <p:sp>
        <p:nvSpPr>
          <p:cNvPr id="4" name="Slide Number Placeholder 3"/>
          <p:cNvSpPr>
            <a:spLocks noGrp="1"/>
          </p:cNvSpPr>
          <p:nvPr>
            <p:ph type="sldNum" sz="quarter" idx="12"/>
          </p:nvPr>
        </p:nvSpPr>
        <p:spPr/>
        <p:txBody>
          <a:bodyPr/>
          <a:lstStyle/>
          <a:p>
            <a:fld id="{C36C28B4-5B52-467A-9173-204C9E91858B}" type="slidenum">
              <a:rPr lang="en-US" smtClean="0"/>
              <a:t>12</a:t>
            </a:fld>
            <a:endParaRPr lang="en-US"/>
          </a:p>
        </p:txBody>
      </p:sp>
    </p:spTree>
    <p:extLst>
      <p:ext uri="{BB962C8B-B14F-4D97-AF65-F5344CB8AC3E}">
        <p14:creationId xmlns:p14="http://schemas.microsoft.com/office/powerpoint/2010/main" val="23114052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lgn="just">
              <a:buNone/>
            </a:pPr>
            <a:r>
              <a:rPr lang="en-US" b="1" u="sng" smtClean="0"/>
              <a:t>Tại </a:t>
            </a:r>
            <a:r>
              <a:rPr lang="en-US" b="1" u="sng"/>
              <a:t>sao phải trích dẫn</a:t>
            </a:r>
            <a:endParaRPr lang="en-US" u="sng"/>
          </a:p>
          <a:p>
            <a:pPr marL="0" indent="0" algn="just">
              <a:lnSpc>
                <a:spcPct val="130000"/>
              </a:lnSpc>
              <a:buNone/>
            </a:pPr>
            <a:r>
              <a:rPr lang="en-US" smtClean="0"/>
              <a:t>	</a:t>
            </a:r>
            <a:r>
              <a:rPr lang="en-US"/>
              <a:t>Trong một bài nói chuyện trước công chúng, bạn có thể dễ dàng nêu ý tưởng của mình mà ít ai bắt bạn phải chứng minh luận điểm mà bạn trình bày</a:t>
            </a:r>
            <a:r>
              <a:rPr lang="en-US" smtClean="0"/>
              <a:t>. Nhưng </a:t>
            </a:r>
            <a:r>
              <a:rPr lang="en-US"/>
              <a:t>nếu bạn đưa nó vào nội dung của một bài báo khoa </a:t>
            </a:r>
            <a:r>
              <a:rPr lang="en-US" smtClean="0"/>
              <a:t>học, </a:t>
            </a:r>
            <a:r>
              <a:rPr lang="en-US"/>
              <a:t>sẽ phải trả lời các câu hỏi của các độc giả như “luận điểm này từ nghiên cứu nào?” “nghiên cứu nào đã chứng minh luận điểm đó là đùng</a:t>
            </a:r>
            <a:r>
              <a:rPr lang="en-US" smtClean="0"/>
              <a:t>?”. </a:t>
            </a: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13</a:t>
            </a:fld>
            <a:endParaRPr lang="en-US"/>
          </a:p>
        </p:txBody>
      </p:sp>
    </p:spTree>
    <p:extLst>
      <p:ext uri="{BB962C8B-B14F-4D97-AF65-F5344CB8AC3E}">
        <p14:creationId xmlns:p14="http://schemas.microsoft.com/office/powerpoint/2010/main" val="29946436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buNone/>
            </a:pPr>
            <a:r>
              <a:rPr lang="en-US" b="1" u="sng" smtClean="0"/>
              <a:t>Nguyên </a:t>
            </a:r>
            <a:r>
              <a:rPr lang="en-US" b="1" u="sng"/>
              <a:t>tắc trích dẫn</a:t>
            </a:r>
            <a:endParaRPr lang="en-US" u="sng"/>
          </a:p>
          <a:p>
            <a:pPr marL="0" indent="0" algn="just">
              <a:lnSpc>
                <a:spcPct val="130000"/>
              </a:lnSpc>
              <a:buNone/>
            </a:pPr>
            <a:r>
              <a:rPr lang="en-US"/>
              <a:t>	</a:t>
            </a:r>
            <a:r>
              <a:rPr lang="en-US" b="1" i="1" smtClean="0"/>
              <a:t>Trích </a:t>
            </a:r>
            <a:r>
              <a:rPr lang="en-US" b="1" i="1"/>
              <a:t>dẫn tài liệu gốc được đọc trực tiếp: </a:t>
            </a:r>
            <a:r>
              <a:rPr lang="en-US"/>
              <a:t>Việc trích dẫn tài liệu gốc là cách tác giả tôn trọng kết quả nghiên cứu của một nhà khoa học khác. Trích dẫn tài liệu gốc còn chứng minh tác giả có có hội đọc bài báo nguyên thủy (original) và những ý tưởng, luận cứ được sử dụng trong trích dẫn được chính tác giả thẩm định, không qua bước trung gian nào và điều đó tránh ý tưởng nguyên thuỷ bị “tam sao thất bản”.</a:t>
            </a:r>
          </a:p>
        </p:txBody>
      </p:sp>
      <p:sp>
        <p:nvSpPr>
          <p:cNvPr id="4" name="Slide Number Placeholder 3"/>
          <p:cNvSpPr>
            <a:spLocks noGrp="1"/>
          </p:cNvSpPr>
          <p:nvPr>
            <p:ph type="sldNum" sz="quarter" idx="12"/>
          </p:nvPr>
        </p:nvSpPr>
        <p:spPr/>
        <p:txBody>
          <a:bodyPr/>
          <a:lstStyle/>
          <a:p>
            <a:fld id="{C36C28B4-5B52-467A-9173-204C9E91858B}" type="slidenum">
              <a:rPr lang="en-US" smtClean="0"/>
              <a:t>14</a:t>
            </a:fld>
            <a:endParaRPr lang="en-US"/>
          </a:p>
        </p:txBody>
      </p:sp>
    </p:spTree>
    <p:extLst>
      <p:ext uri="{BB962C8B-B14F-4D97-AF65-F5344CB8AC3E}">
        <p14:creationId xmlns:p14="http://schemas.microsoft.com/office/powerpoint/2010/main" val="39775858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buNone/>
            </a:pPr>
            <a:r>
              <a:rPr lang="en-US" b="1" u="sng" smtClean="0"/>
              <a:t>Nguyên </a:t>
            </a:r>
            <a:r>
              <a:rPr lang="en-US" b="1" u="sng"/>
              <a:t>tắc trích dẫn</a:t>
            </a:r>
            <a:endParaRPr lang="en-US" u="sng"/>
          </a:p>
          <a:p>
            <a:pPr marL="0" indent="0" algn="just">
              <a:lnSpc>
                <a:spcPct val="130000"/>
              </a:lnSpc>
              <a:buNone/>
            </a:pPr>
            <a:r>
              <a:rPr lang="en-US"/>
              <a:t>	</a:t>
            </a:r>
            <a:r>
              <a:rPr lang="en-US" b="1" i="1" smtClean="0"/>
              <a:t>Hạn </a:t>
            </a:r>
            <a:r>
              <a:rPr lang="en-US" b="1" i="1"/>
              <a:t>chế trích dẫn nguyên văn: </a:t>
            </a:r>
            <a:r>
              <a:rPr lang="en-US"/>
              <a:t>Trong một số trường hợp, thực hiện trích dẫn nguyên văn vì tác giả thấy cần thiết giữ ý tưởng nguyên bản và không muốn làm sai lệch cách sử dụng ngôn ngữ của bản gốc. </a:t>
            </a:r>
            <a:r>
              <a:rPr lang="en-US" smtClean="0"/>
              <a:t>Người </a:t>
            </a:r>
            <a:r>
              <a:rPr lang="en-US"/>
              <a:t>phản biện hoặc độc giả sẽ đánh giá cao khi tác giả bài báo trích dẫn ý tưởng bằng kỹ năng tổng hợp (tức là trích dẫn 1 ý tưởng bằng nhiều nguồn tài liệu khác nhau) và kỹ năng diễn giải bằng ngôn ngữ riêng của mình mà vẫn giữ lại được luận điểm gốc của tài liệu trích dẫn.</a:t>
            </a:r>
          </a:p>
          <a:p>
            <a:pPr marL="0" indent="0" algn="just">
              <a:lnSpc>
                <a:spcPct val="130000"/>
              </a:lnSpc>
              <a:buNone/>
            </a:pP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15</a:t>
            </a:fld>
            <a:endParaRPr lang="en-US"/>
          </a:p>
        </p:txBody>
      </p:sp>
    </p:spTree>
    <p:extLst>
      <p:ext uri="{BB962C8B-B14F-4D97-AF65-F5344CB8AC3E}">
        <p14:creationId xmlns:p14="http://schemas.microsoft.com/office/powerpoint/2010/main" val="18760617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buNone/>
            </a:pPr>
            <a:r>
              <a:rPr lang="en-US" b="1" u="sng" smtClean="0"/>
              <a:t>Nguyên </a:t>
            </a:r>
            <a:r>
              <a:rPr lang="en-US" b="1" u="sng"/>
              <a:t>tắc trích dẫn</a:t>
            </a:r>
            <a:endParaRPr lang="en-US" u="sng"/>
          </a:p>
          <a:p>
            <a:pPr marL="0" indent="0" algn="just">
              <a:lnSpc>
                <a:spcPct val="130000"/>
              </a:lnSpc>
              <a:buNone/>
            </a:pPr>
            <a:r>
              <a:rPr lang="en-US"/>
              <a:t>	</a:t>
            </a:r>
            <a:r>
              <a:rPr lang="en-US" b="1" i="1" smtClean="0"/>
              <a:t>Không </a:t>
            </a:r>
            <a:r>
              <a:rPr lang="en-US" b="1" i="1"/>
              <a:t>trích dẫn tài liệu người viết chưa đọc: </a:t>
            </a:r>
            <a:r>
              <a:rPr lang="en-US"/>
              <a:t>Trong một số trường hợp, người làm nghiên cứu lấy ý tưởng, luận điểm của một tác giả khác thông qua bên thứ ba mà hoàn toàn chưa tiếp cận tài liệu gốc. Hiếm khi hoặc không có phản biện nào bắt tác giả phải chứng minh các luận điểm, ý tưởng đó được trích dẫn từ tài liệu gốc. Tuy nhiên, việc trích dẫn từ nguồn thứ cấp nhưng sử dụng nguyên tắc trích dẫn tài liệu gốc cũng được xem là không liêm chính trong nghiên cứu khoa học</a:t>
            </a:r>
            <a:r>
              <a:rPr lang="en-US" smtClean="0"/>
              <a:t>.</a:t>
            </a:r>
            <a:endParaRPr lang="en-US"/>
          </a:p>
          <a:p>
            <a:pPr marL="0" indent="0" algn="just">
              <a:lnSpc>
                <a:spcPct val="130000"/>
              </a:lnSpc>
              <a:buNone/>
            </a:pP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16</a:t>
            </a:fld>
            <a:endParaRPr lang="en-US"/>
          </a:p>
        </p:txBody>
      </p:sp>
    </p:spTree>
    <p:extLst>
      <p:ext uri="{BB962C8B-B14F-4D97-AF65-F5344CB8AC3E}">
        <p14:creationId xmlns:p14="http://schemas.microsoft.com/office/powerpoint/2010/main" val="3258412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buNone/>
            </a:pPr>
            <a:r>
              <a:rPr lang="en-US" b="1" u="sng" smtClean="0"/>
              <a:t>Nguyên </a:t>
            </a:r>
            <a:r>
              <a:rPr lang="en-US" b="1" u="sng"/>
              <a:t>tắc trích dẫn</a:t>
            </a:r>
            <a:endParaRPr lang="en-US" u="sng"/>
          </a:p>
          <a:p>
            <a:pPr marL="0" indent="0" algn="just">
              <a:lnSpc>
                <a:spcPct val="130000"/>
              </a:lnSpc>
              <a:buNone/>
            </a:pPr>
            <a:r>
              <a:rPr lang="en-US"/>
              <a:t>	</a:t>
            </a:r>
            <a:r>
              <a:rPr lang="en-US" b="1" i="1"/>
              <a:t>Chỉ những tài liệu được trích dẫn trong nội dung bài báo hoặc công trình nghiên cứu mới được thống kê vào tài liệu tham khảo: </a:t>
            </a:r>
            <a:r>
              <a:rPr lang="en-US"/>
              <a:t>Có một số trường hợp không hiểu nguyên tắc trích dẫn nên tác giả thống kê các tài liệu tham khảo khi cho rằng những tài liệu đó là có giá trị, liên quan đến nội dung nghiên cứu nhưng lại không sử dụng trong nội dung bài báo của mình. </a:t>
            </a:r>
          </a:p>
          <a:p>
            <a:pPr marL="0" indent="0" algn="just">
              <a:lnSpc>
                <a:spcPct val="130000"/>
              </a:lnSpc>
              <a:buNone/>
            </a:pP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17</a:t>
            </a:fld>
            <a:endParaRPr lang="en-US"/>
          </a:p>
        </p:txBody>
      </p:sp>
    </p:spTree>
    <p:extLst>
      <p:ext uri="{BB962C8B-B14F-4D97-AF65-F5344CB8AC3E}">
        <p14:creationId xmlns:p14="http://schemas.microsoft.com/office/powerpoint/2010/main" val="15247875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buNone/>
            </a:pPr>
            <a:r>
              <a:rPr lang="en-US" b="1" u="sng" smtClean="0"/>
              <a:t>Nguyên </a:t>
            </a:r>
            <a:r>
              <a:rPr lang="en-US" b="1" u="sng"/>
              <a:t>tắc trích dẫn</a:t>
            </a:r>
            <a:endParaRPr lang="en-US" u="sng"/>
          </a:p>
          <a:p>
            <a:pPr marL="0" indent="0" algn="just">
              <a:lnSpc>
                <a:spcPct val="130000"/>
              </a:lnSpc>
              <a:buNone/>
            </a:pPr>
            <a:r>
              <a:rPr lang="en-US"/>
              <a:t>	</a:t>
            </a:r>
            <a:r>
              <a:rPr lang="en-US" b="1" i="1"/>
              <a:t>Không trích dẫn các nguồn tài liệu không tin cậy:</a:t>
            </a:r>
            <a:r>
              <a:rPr lang="en-US"/>
              <a:t> Về mặt nguyên tắc, các nhà khoa học có thể trích dẫn những nguồn thông tin kể cả bằng lời chứ không nhất thiết là thông tin từ các bài báo khoa học chính thống. Tuy nhiên, việc trích dẫn thông tin không chính thống chỉ được áp dụng trong những trường hợp đặc biệt. Nguyên tắc chung là thông tin phải được trích dẫn từ các nguồn tài liệu có kiểm chứng (ví dụ như bài báo khoa học, sách nghiên cứu,…). Những thông tin từ các báo phổ thông, từ từ điển, từ bách khoa toàn thư mở (như Wikipedia) không được khuyến khích sử dụng. </a:t>
            </a:r>
          </a:p>
          <a:p>
            <a:pPr marL="0" indent="0" algn="just">
              <a:lnSpc>
                <a:spcPct val="130000"/>
              </a:lnSpc>
              <a:buNone/>
            </a:pP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18</a:t>
            </a:fld>
            <a:endParaRPr lang="en-US"/>
          </a:p>
        </p:txBody>
      </p:sp>
    </p:spTree>
    <p:extLst>
      <p:ext uri="{BB962C8B-B14F-4D97-AF65-F5344CB8AC3E}">
        <p14:creationId xmlns:p14="http://schemas.microsoft.com/office/powerpoint/2010/main" val="28814800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smtClean="0">
                <a:latin typeface="Arial" panose="020B0604020202020204" pitchFamily="34" charset="0"/>
                <a:cs typeface="Arial" panose="020B0604020202020204" pitchFamily="34" charset="0"/>
                <a:sym typeface="+mn-ea"/>
              </a:rPr>
              <a:t>4.3. </a:t>
            </a:r>
            <a:r>
              <a:rPr lang="en-US" sz="2700">
                <a:latin typeface="Arial" panose="020B0604020202020204" pitchFamily="34" charset="0"/>
                <a:cs typeface="Arial" panose="020B0604020202020204" pitchFamily="34" charset="0"/>
                <a:sym typeface="+mn-ea"/>
              </a:rPr>
              <a:t>Kỹ thuật </a:t>
            </a:r>
            <a:r>
              <a:rPr lang="en-US" sz="2700" smtClean="0">
                <a:latin typeface="Arial" panose="020B0604020202020204" pitchFamily="34" charset="0"/>
                <a:cs typeface="Arial" panose="020B0604020202020204" pitchFamily="34" charset="0"/>
                <a:sym typeface="+mn-ea"/>
              </a:rPr>
              <a:t>trích dẫn chống đạo văn</a:t>
            </a:r>
            <a:endParaRPr lang="en-US" sz="2700"/>
          </a:p>
        </p:txBody>
      </p:sp>
      <p:sp>
        <p:nvSpPr>
          <p:cNvPr id="3" name="Content Placeholder 2"/>
          <p:cNvSpPr>
            <a:spLocks noGrp="1"/>
          </p:cNvSpPr>
          <p:nvPr>
            <p:ph idx="1"/>
          </p:nvPr>
        </p:nvSpPr>
        <p:spPr/>
        <p:txBody>
          <a:bodyPr/>
          <a:lstStyle/>
          <a:p>
            <a:pPr marL="0" indent="0">
              <a:buNone/>
            </a:pPr>
            <a:r>
              <a:rPr lang="en-US" b="1" u="sng" smtClean="0"/>
              <a:t>Nguyên </a:t>
            </a:r>
            <a:r>
              <a:rPr lang="en-US" b="1" u="sng"/>
              <a:t>tắc trích dẫn</a:t>
            </a:r>
            <a:endParaRPr lang="en-US" u="sng"/>
          </a:p>
          <a:p>
            <a:pPr marL="0" indent="0" algn="just">
              <a:lnSpc>
                <a:spcPct val="130000"/>
              </a:lnSpc>
              <a:buNone/>
            </a:pPr>
            <a:r>
              <a:rPr lang="en-US"/>
              <a:t>	</a:t>
            </a:r>
            <a:r>
              <a:rPr lang="en-US" b="1" i="1"/>
              <a:t>Không sử dụng học vị, chức danh và địa chỉ cơ quan khi trích dẫn:</a:t>
            </a:r>
            <a:r>
              <a:rPr lang="en-US"/>
              <a:t> Các học vị và chức danh như “Tiến sĩ”, “Giáo sư” không đi kèm với tên tác giả khi trích dẫn. Ví dụ: Không viết “Tiến sĩ Nguyễn Văn A trong một báo cáo khoa học đã khẳng định rằng…” hoặc “GS. Nguyễn Văn B của Đại học Quốc gia Hà Nội trong một nghiên cứu đã chỉ ra rằng…”</a:t>
            </a:r>
            <a:r>
              <a:rPr lang="en-US" smtClean="0"/>
              <a:t> </a:t>
            </a:r>
            <a:endParaRPr lang="en-US"/>
          </a:p>
          <a:p>
            <a:pPr marL="0" indent="0" algn="just">
              <a:lnSpc>
                <a:spcPct val="130000"/>
              </a:lnSpc>
              <a:buNone/>
            </a:pP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19</a:t>
            </a:fld>
            <a:endParaRPr lang="en-US"/>
          </a:p>
        </p:txBody>
      </p:sp>
    </p:spTree>
    <p:extLst>
      <p:ext uri="{BB962C8B-B14F-4D97-AF65-F5344CB8AC3E}">
        <p14:creationId xmlns:p14="http://schemas.microsoft.com/office/powerpoint/2010/main" val="37132833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TotalTime>
  <Words>659</Words>
  <Application>Microsoft Office PowerPoint</Application>
  <PresentationFormat>Widescreen</PresentationFormat>
  <Paragraphs>112</Paragraphs>
  <Slides>19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Cambria</vt:lpstr>
      <vt:lpstr>Courier New</vt:lpstr>
      <vt:lpstr>Tahoma</vt:lpstr>
      <vt:lpstr>Wingdings</vt:lpstr>
      <vt:lpstr>Office Theme</vt:lpstr>
      <vt:lpstr>Custom Design</vt:lpstr>
      <vt:lpstr>CHƯƠNG 4  TRÌNH BÀY VÀ VIẾT BÁO CÁO NGHIÊN CỨU</vt:lpstr>
      <vt:lpstr>TRÌNH BÀY VÀ VIẾT BÁO CÁO NGHIÊN CỨU</vt:lpstr>
      <vt:lpstr>4.1. Cấu trúc của một báo cáo nghiên cứu</vt:lpstr>
      <vt:lpstr>4.1. Cấu trúc của một báo cáo nghiên cứu</vt:lpstr>
      <vt:lpstr>4.1. Cấu trúc của một báo cáo nghiên cứu</vt:lpstr>
      <vt:lpstr>4.1. Cấu trúc của một báo cáo nghiên cứu</vt:lpstr>
      <vt:lpstr>4.2. Kỹ thuật viết tóm tắt, giới thiệu, phương pháp, kết quả</vt:lpstr>
      <vt:lpstr>4.2. Kỹ thuật viết tóm tắt, giới thiệu, phương pháp, kết quả</vt:lpstr>
      <vt:lpstr>4.2. Kỹ thuật viết tóm tắt, giới thiệu, phương pháp, kết quả</vt:lpstr>
      <vt:lpstr>4.3. Kỹ thuật trích dẫn chống đạo văn</vt:lpstr>
      <vt:lpstr>4.3. Kỹ thuật trích dẫn chống đạo văn</vt:lpstr>
      <vt:lpstr>4.3. Kỹ thuật trích dẫn chống đạo văn</vt:lpstr>
      <vt:lpstr>4.3. Kỹ thuật trích dẫn chống đạo văn</vt:lpstr>
      <vt:lpstr>4.3. Kỹ thuật trích dẫn chống đạo văn</vt:lpstr>
      <vt:lpstr>4.3. Kỹ thuật trích dẫn chống đạo văn</vt:lpstr>
      <vt:lpstr>4.3. Kỹ thuật trích dẫn chống đạo văn</vt:lpstr>
      <vt:lpstr>4.3. Kỹ thuật trích dẫn chống đạo văn</vt:lpstr>
      <vt:lpstr>4.3. Kỹ thuật trích dẫn chống đạo văn</vt:lpstr>
      <vt:lpstr>4.3. Kỹ thuật trích dẫn chống đạo văn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56</cp:revision>
  <dcterms:created xsi:type="dcterms:W3CDTF">2024-06-28T03:54:00Z</dcterms:created>
  <dcterms:modified xsi:type="dcterms:W3CDTF">2024-12-03T02:24:49Z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38A758BAD1B74BA1B9E4301C2047CA4A_13</vt:lpwstr>
  </property>
  <property fmtid="{D5CDD505-2E9C-101B-9397-08002B2CF9AE}" pid="3" name="KSOProductBuildVer">
    <vt:lpwstr>1033-12.2.0.17545</vt:lpwstr>
  </property>
</Properties>
</file>