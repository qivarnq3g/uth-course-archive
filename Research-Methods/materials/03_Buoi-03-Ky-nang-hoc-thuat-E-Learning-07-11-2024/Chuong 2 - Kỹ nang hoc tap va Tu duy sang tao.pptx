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0"/>
  </p:notesMasterIdLst>
  <p:sldIdLst>
    <p:sldId id="269" r:id="rId3"/>
    <p:sldId id="276" r:id="rId4"/>
    <p:sldId id="277" r:id="rId5"/>
    <p:sldId id="278" r:id="rId6"/>
    <p:sldId id="279" r:id="rId7"/>
    <p:sldId id="280" r:id="rId8"/>
    <p:sldId id="281" r:id="rId9"/>
    <p:sldId id="282" r:id="rId10"/>
    <p:sldId id="284" r:id="rId11"/>
    <p:sldId id="287" r:id="rId12"/>
    <p:sldId id="288" r:id="rId13"/>
    <p:sldId id="283" r:id="rId14"/>
    <p:sldId id="285" r:id="rId15"/>
    <p:sldId id="286" r:id="rId16"/>
    <p:sldId id="289" r:id="rId17"/>
    <p:sldId id="290" r:id="rId18"/>
    <p:sldId id="291" r:id="rId19"/>
    <p:sldId id="292" r:id="rId20"/>
    <p:sldId id="295" r:id="rId21"/>
    <p:sldId id="296" r:id="rId22"/>
    <p:sldId id="297" r:id="rId23"/>
    <p:sldId id="298" r:id="rId24"/>
    <p:sldId id="299" r:id="rId25"/>
    <p:sldId id="303" r:id="rId26"/>
    <p:sldId id="304" r:id="rId27"/>
    <p:sldId id="305" r:id="rId28"/>
    <p:sldId id="30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6365"/>
    <a:srgbClr val="0000FF"/>
    <a:srgbClr val="0DAFB3"/>
    <a:srgbClr val="EC141C"/>
    <a:srgbClr val="129498"/>
    <a:srgbClr val="DAF7FE"/>
    <a:srgbClr val="0A898C"/>
    <a:srgbClr val="0A9195"/>
    <a:srgbClr val="1998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00" autoAdjust="0"/>
  </p:normalViewPr>
  <p:slideViewPr>
    <p:cSldViewPr snapToGrid="0">
      <p:cViewPr varScale="1">
        <p:scale>
          <a:sx n="80" d="100"/>
          <a:sy n="80" d="100"/>
        </p:scale>
        <p:origin x="354" y="84"/>
      </p:cViewPr>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468340-3059-40EF-9160-57AC746D5666}" type="datetimeFigureOut">
              <a:rPr lang="en-US" smtClean="0"/>
              <a:t>10/8/2024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8058F-5A0C-48C3-9E1E-A582E275123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p:cNvSpPr/>
          <p:nvPr userDrawn="1"/>
        </p:nvSpPr>
        <p:spPr>
          <a:xfrm>
            <a:off x="0" y="-9674"/>
            <a:ext cx="12192000" cy="727094"/>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vi-VN" sz="18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sp>
        <p:nvSpPr>
          <p:cNvPr id="2" name="Title 1"/>
          <p:cNvSpPr>
            <a:spLocks noGrp="1"/>
          </p:cNvSpPr>
          <p:nvPr>
            <p:ph type="ctrTitle"/>
          </p:nvPr>
        </p:nvSpPr>
        <p:spPr>
          <a:xfrm>
            <a:off x="2786062" y="1466720"/>
            <a:ext cx="8886825" cy="1019175"/>
          </a:xfrm>
        </p:spPr>
        <p:txBody>
          <a:bodyPr anchor="b">
            <a:normAutofit/>
          </a:bodyPr>
          <a:lstStyle>
            <a:lvl1pPr algn="ctr">
              <a:defRPr sz="5400" b="1">
                <a:solidFill>
                  <a:srgbClr val="C00000"/>
                </a:solidFill>
              </a:defRPr>
            </a:lvl1pPr>
          </a:lstStyle>
          <a:p>
            <a:r>
              <a:rPr lang="en-US" smtClean="0"/>
              <a:t>Click to edit Master title style</a:t>
            </a:r>
            <a:endParaRPr lang="en-US"/>
          </a:p>
        </p:txBody>
      </p:sp>
      <p:sp>
        <p:nvSpPr>
          <p:cNvPr id="3" name="Subtitle 2"/>
          <p:cNvSpPr>
            <a:spLocks noGrp="1"/>
          </p:cNvSpPr>
          <p:nvPr>
            <p:ph type="subTitle" idx="1"/>
          </p:nvPr>
        </p:nvSpPr>
        <p:spPr>
          <a:xfrm>
            <a:off x="4648200" y="3602038"/>
            <a:ext cx="7086600" cy="1655762"/>
          </a:xfrm>
        </p:spPr>
        <p:txBody>
          <a:bodyPr/>
          <a:lstStyle>
            <a:lvl1pPr marL="0" indent="0" algn="r">
              <a:buNone/>
              <a:defRPr sz="2400">
                <a:solidFill>
                  <a:srgbClr val="0A919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ECE94F-11F9-45E4-8D06-0AC4D6BFEED6}" type="datetime1">
              <a:rPr lang="en-US" smtClean="0"/>
              <a:t>10/8/2024</a:t>
            </a:fld>
            <a:endParaRPr lang="en-US"/>
          </a:p>
        </p:txBody>
      </p:sp>
      <p:sp>
        <p:nvSpPr>
          <p:cNvPr id="6" name="Slide Number Placeholder 5"/>
          <p:cNvSpPr>
            <a:spLocks noGrp="1"/>
          </p:cNvSpPr>
          <p:nvPr>
            <p:ph type="sldNum" sz="quarter" idx="12"/>
          </p:nvPr>
        </p:nvSpPr>
        <p:spPr>
          <a:xfrm>
            <a:off x="8991600" y="6350000"/>
            <a:ext cx="2743200" cy="365125"/>
          </a:xfrm>
        </p:spPr>
        <p:txBody>
          <a:bodyPr/>
          <a:lstStyle/>
          <a:p>
            <a:fld id="{C36C28B4-5B52-467A-9173-204C9E91858B}" type="slidenum">
              <a:rPr lang="en-US" smtClean="0"/>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 y="428624"/>
            <a:ext cx="7160862" cy="6429376"/>
          </a:xfrm>
          <a:prstGeom prst="rect">
            <a:avLst/>
          </a:prstGeom>
        </p:spPr>
      </p:pic>
      <p:pic>
        <p:nvPicPr>
          <p:cNvPr id="9" name="Picture 5" descr="Text&#10;&#10;Description automatically generated"/>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9674"/>
            <a:ext cx="2381308" cy="72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76365"/>
                </a:solidFill>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marL="457200" indent="-457200">
              <a:buFont typeface="Wingdings" panose="05000000000000000000" pitchFamily="2" charset="2"/>
              <a:buChar char="Ø"/>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F8F7E1-8BCE-45EF-A868-64AE44F67317}" type="datetime1">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C389AF-00FE-4C46-88EE-7D3AF84DEE91}" type="datetime1">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9FE1B9B-9546-49BB-A231-2D228B447CF9}" type="datetime1">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BA853D1-AF0A-4441-9936-92D33E013A0A}" type="datetime1">
              <a:rPr lang="en-US" smtClean="0"/>
              <a:t>10/8/2024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E3D3556-4644-4EAE-97C5-9EDFC621DEA3}" type="datetime1">
              <a:rPr lang="en-US" smtClean="0"/>
              <a:t>10/8/2024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B14698-A7AC-4D25-A5BB-F10E7085E25B}" type="datetime1">
              <a:rPr lang="en-US" smtClean="0"/>
              <a:t>10/8/2024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D2C327B-78CE-4235-8E05-A364819A1895}" type="datetime1">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8AB2EC0-C644-4862-8A09-4D5DF9D6F1F0}" type="datetime1">
              <a:rPr lang="en-US" smtClean="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285DDE-73E1-456C-BB9E-29746C5C4DAE}" type="datetime1">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0F215B-B3B9-495F-A814-E7D4D370FE67}" type="datetime1">
              <a:rPr lang="en-US" smtClean="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892"/>
            <a:ext cx="9144000" cy="2387600"/>
          </a:xfrm>
        </p:spPr>
        <p:txBody>
          <a:bodyPr anchor="b"/>
          <a:lstStyle>
            <a:lvl1pPr algn="ctr">
              <a:defRPr sz="4000"/>
            </a:lvl1pPr>
          </a:lstStyle>
          <a:p>
            <a:r>
              <a:rPr lang="en-US"/>
              <a:t>Click to edit Master title style</a:t>
            </a:r>
          </a:p>
        </p:txBody>
      </p:sp>
      <p:sp>
        <p:nvSpPr>
          <p:cNvPr id="3" name="Subtitle 2"/>
          <p:cNvSpPr>
            <a:spLocks noGrp="1"/>
          </p:cNvSpPr>
          <p:nvPr>
            <p:ph type="subTitle" idx="1"/>
          </p:nvPr>
        </p:nvSpPr>
        <p:spPr>
          <a:xfrm>
            <a:off x="1524000" y="3602567"/>
            <a:ext cx="9144000" cy="1655233"/>
          </a:xfrm>
        </p:spPr>
        <p:txBody>
          <a:bodyPr/>
          <a:lstStyle>
            <a:lvl1pPr marL="0" indent="0" algn="ctr">
              <a:buNone/>
              <a:defRPr sz="1600"/>
            </a:lvl1pPr>
            <a:lvl2pPr marL="304800" indent="0" algn="ctr">
              <a:buNone/>
              <a:defRPr sz="1335"/>
            </a:lvl2pPr>
            <a:lvl3pPr marL="609600" indent="0" algn="ctr">
              <a:buNone/>
              <a:defRPr sz="1200"/>
            </a:lvl3pPr>
            <a:lvl4pPr marL="914400" indent="0" algn="ctr">
              <a:buNone/>
              <a:defRPr sz="1065"/>
            </a:lvl4pPr>
            <a:lvl5pPr marL="1219200" indent="0" algn="ctr">
              <a:buNone/>
              <a:defRPr sz="1065"/>
            </a:lvl5pPr>
            <a:lvl6pPr marL="1524000" indent="0" algn="ctr">
              <a:buNone/>
              <a:defRPr sz="1065"/>
            </a:lvl6pPr>
            <a:lvl7pPr marL="1828800" indent="0" algn="ctr">
              <a:buNone/>
              <a:defRPr sz="1065"/>
            </a:lvl7pPr>
            <a:lvl8pPr marL="2133600" indent="0" algn="ctr">
              <a:buNone/>
              <a:defRPr sz="1065"/>
            </a:lvl8pPr>
            <a:lvl9pPr marL="2438400" indent="0" algn="ctr">
              <a:buNone/>
              <a:defRPr sz="1065"/>
            </a:lvl9pPr>
          </a:lstStyle>
          <a:p>
            <a:r>
              <a:rPr lang="en-US"/>
              <a:t>Click to edit Master subtitle style</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10267"/>
            <a:ext cx="10515600" cy="2852209"/>
          </a:xfrm>
        </p:spPr>
        <p:txBody>
          <a:bodyPr anchor="b"/>
          <a:lstStyle>
            <a:lvl1pPr>
              <a:defRPr sz="4000"/>
            </a:lvl1pPr>
          </a:lstStyle>
          <a:p>
            <a:r>
              <a:rPr lang="en-US"/>
              <a:t>Click to edit Master title style</a:t>
            </a:r>
          </a:p>
        </p:txBody>
      </p:sp>
      <p:sp>
        <p:nvSpPr>
          <p:cNvPr id="3" name="Text Placeholder 2"/>
          <p:cNvSpPr>
            <a:spLocks noGrp="1"/>
          </p:cNvSpPr>
          <p:nvPr>
            <p:ph type="body" idx="1"/>
          </p:nvPr>
        </p:nvSpPr>
        <p:spPr>
          <a:xfrm>
            <a:off x="831850" y="4589992"/>
            <a:ext cx="10515600" cy="1499658"/>
          </a:xfrm>
        </p:spPr>
        <p:txBody>
          <a:bodyPr/>
          <a:lstStyle>
            <a:lvl1pPr marL="0" indent="0">
              <a:buNone/>
              <a:defRPr sz="1600">
                <a:solidFill>
                  <a:schemeClr val="tx1">
                    <a:tint val="75000"/>
                  </a:schemeClr>
                </a:solidFill>
              </a:defRPr>
            </a:lvl1pPr>
            <a:lvl2pPr marL="304800" indent="0">
              <a:buNone/>
              <a:defRPr sz="1335">
                <a:solidFill>
                  <a:schemeClr val="tx1">
                    <a:tint val="75000"/>
                  </a:schemeClr>
                </a:solidFill>
              </a:defRPr>
            </a:lvl2pPr>
            <a:lvl3pPr marL="609600" indent="0">
              <a:buNone/>
              <a:defRPr sz="1200">
                <a:solidFill>
                  <a:schemeClr val="tx1">
                    <a:tint val="75000"/>
                  </a:schemeClr>
                </a:solidFill>
              </a:defRPr>
            </a:lvl3pPr>
            <a:lvl4pPr marL="914400" indent="0">
              <a:buNone/>
              <a:defRPr sz="1065">
                <a:solidFill>
                  <a:schemeClr val="tx1">
                    <a:tint val="75000"/>
                  </a:schemeClr>
                </a:solidFill>
              </a:defRPr>
            </a:lvl4pPr>
            <a:lvl5pPr marL="1219200" indent="0">
              <a:buNone/>
              <a:defRPr sz="1065">
                <a:solidFill>
                  <a:schemeClr val="tx1">
                    <a:tint val="75000"/>
                  </a:schemeClr>
                </a:solidFill>
              </a:defRPr>
            </a:lvl5pPr>
            <a:lvl6pPr marL="1524000" indent="0">
              <a:buNone/>
              <a:defRPr sz="1065">
                <a:solidFill>
                  <a:schemeClr val="tx1">
                    <a:tint val="75000"/>
                  </a:schemeClr>
                </a:solidFill>
              </a:defRPr>
            </a:lvl6pPr>
            <a:lvl7pPr marL="1828800" indent="0">
              <a:buNone/>
              <a:defRPr sz="1065">
                <a:solidFill>
                  <a:schemeClr val="tx1">
                    <a:tint val="75000"/>
                  </a:schemeClr>
                </a:solidFill>
              </a:defRPr>
            </a:lvl7pPr>
            <a:lvl8pPr marL="2133600" indent="0">
              <a:buNone/>
              <a:defRPr sz="1065">
                <a:solidFill>
                  <a:schemeClr val="tx1">
                    <a:tint val="75000"/>
                  </a:schemeClr>
                </a:solidFill>
              </a:defRPr>
            </a:lvl8pPr>
            <a:lvl9pPr marL="2438400" indent="0">
              <a:buNone/>
              <a:defRPr sz="106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207000" cy="4351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825625"/>
            <a:ext cx="5207000" cy="4351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10/8/2024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6091"/>
          </a:xfrm>
        </p:spPr>
        <p:txBody>
          <a:bodyPr/>
          <a:lstStyle/>
          <a:p>
            <a:r>
              <a:rPr lang="en-US"/>
              <a:t>Click to edit Master title style</a:t>
            </a:r>
          </a:p>
        </p:txBody>
      </p:sp>
      <p:sp>
        <p:nvSpPr>
          <p:cNvPr id="3" name="Text Placeholder 2"/>
          <p:cNvSpPr>
            <a:spLocks noGrp="1"/>
          </p:cNvSpPr>
          <p:nvPr>
            <p:ph type="body" idx="1"/>
          </p:nvPr>
        </p:nvSpPr>
        <p:spPr>
          <a:xfrm>
            <a:off x="840317" y="1681692"/>
            <a:ext cx="5157259" cy="823383"/>
          </a:xfrm>
        </p:spPr>
        <p:txBody>
          <a:bodyPr anchor="b"/>
          <a:lstStyle>
            <a:lvl1pPr marL="0" indent="0">
              <a:buNone/>
              <a:defRPr sz="1600" b="1"/>
            </a:lvl1pPr>
            <a:lvl2pPr marL="304800" indent="0">
              <a:buNone/>
              <a:defRPr sz="1335" b="1"/>
            </a:lvl2pPr>
            <a:lvl3pPr marL="609600" indent="0">
              <a:buNone/>
              <a:defRPr sz="1200" b="1"/>
            </a:lvl3pPr>
            <a:lvl4pPr marL="914400" indent="0">
              <a:buNone/>
              <a:defRPr sz="1065" b="1"/>
            </a:lvl4pPr>
            <a:lvl5pPr marL="1219200" indent="0">
              <a:buNone/>
              <a:defRPr sz="1065" b="1"/>
            </a:lvl5pPr>
            <a:lvl6pPr marL="1524000" indent="0">
              <a:buNone/>
              <a:defRPr sz="1065" b="1"/>
            </a:lvl6pPr>
            <a:lvl7pPr marL="1828800" indent="0">
              <a:buNone/>
              <a:defRPr sz="1065" b="1"/>
            </a:lvl7pPr>
            <a:lvl8pPr marL="2133600" indent="0">
              <a:buNone/>
              <a:defRPr sz="1065" b="1"/>
            </a:lvl8pPr>
            <a:lvl9pPr marL="2438400" indent="0">
              <a:buNone/>
              <a:defRPr sz="1065" b="1"/>
            </a:lvl9pPr>
          </a:lstStyle>
          <a:p>
            <a:pPr lvl="0"/>
            <a:r>
              <a:rPr lang="en-US"/>
              <a:t>Click to edit Master text styles</a:t>
            </a:r>
          </a:p>
        </p:txBody>
      </p:sp>
      <p:sp>
        <p:nvSpPr>
          <p:cNvPr id="4" name="Content Placeholder 3"/>
          <p:cNvSpPr>
            <a:spLocks noGrp="1"/>
          </p:cNvSpPr>
          <p:nvPr>
            <p:ph sz="half" idx="2"/>
          </p:nvPr>
        </p:nvSpPr>
        <p:spPr>
          <a:xfrm>
            <a:off x="840317" y="2505076"/>
            <a:ext cx="5157259" cy="3685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692"/>
            <a:ext cx="5183717" cy="823383"/>
          </a:xfrm>
        </p:spPr>
        <p:txBody>
          <a:bodyPr anchor="b"/>
          <a:lstStyle>
            <a:lvl1pPr marL="0" indent="0">
              <a:buNone/>
              <a:defRPr sz="1600" b="1"/>
            </a:lvl1pPr>
            <a:lvl2pPr marL="304800" indent="0">
              <a:buNone/>
              <a:defRPr sz="1335" b="1"/>
            </a:lvl2pPr>
            <a:lvl3pPr marL="609600" indent="0">
              <a:buNone/>
              <a:defRPr sz="1200" b="1"/>
            </a:lvl3pPr>
            <a:lvl4pPr marL="914400" indent="0">
              <a:buNone/>
              <a:defRPr sz="1065" b="1"/>
            </a:lvl4pPr>
            <a:lvl5pPr marL="1219200" indent="0">
              <a:buNone/>
              <a:defRPr sz="1065" b="1"/>
            </a:lvl5pPr>
            <a:lvl6pPr marL="1524000" indent="0">
              <a:buNone/>
              <a:defRPr sz="1065" b="1"/>
            </a:lvl6pPr>
            <a:lvl7pPr marL="1828800" indent="0">
              <a:buNone/>
              <a:defRPr sz="1065" b="1"/>
            </a:lvl7pPr>
            <a:lvl8pPr marL="2133600" indent="0">
              <a:buNone/>
              <a:defRPr sz="1065" b="1"/>
            </a:lvl8pPr>
            <a:lvl9pPr marL="2438400" indent="0">
              <a:buNone/>
              <a:defRPr sz="1065" b="1"/>
            </a:lvl9pPr>
          </a:lstStyle>
          <a:p>
            <a:pPr lvl="0"/>
            <a:r>
              <a:rPr lang="en-US"/>
              <a:t>Click to edit Master text styles</a:t>
            </a:r>
          </a:p>
        </p:txBody>
      </p:sp>
      <p:sp>
        <p:nvSpPr>
          <p:cNvPr id="6" name="Content Placeholder 5"/>
          <p:cNvSpPr>
            <a:spLocks noGrp="1"/>
          </p:cNvSpPr>
          <p:nvPr>
            <p:ph sz="quarter" idx="4"/>
          </p:nvPr>
        </p:nvSpPr>
        <p:spPr>
          <a:xfrm>
            <a:off x="6172200" y="2505076"/>
            <a:ext cx="5183717" cy="3685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10/8/2024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60960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6666"/>
                </a:solidFill>
              </a:defRPr>
            </a:lvl1pPr>
          </a:lstStyle>
          <a:p>
            <a:r>
              <a:rPr lang="en-US"/>
              <a:t>Click to edit Master title style</a:t>
            </a:r>
          </a:p>
        </p:txBody>
      </p:sp>
      <p:sp>
        <p:nvSpPr>
          <p:cNvPr id="3" name="Date Placeholder 2"/>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10/8/2024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60960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10/8/2024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60960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1709" cy="1600200"/>
          </a:xfrm>
        </p:spPr>
        <p:txBody>
          <a:bodyPr anchor="b"/>
          <a:lstStyle>
            <a:lvl1pPr>
              <a:defRPr sz="2135"/>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2135"/>
            </a:lvl1pPr>
            <a:lvl2pPr>
              <a:defRPr sz="1865"/>
            </a:lvl2pPr>
            <a:lvl3pPr>
              <a:defRPr sz="1600"/>
            </a:lvl3pPr>
            <a:lvl4pPr>
              <a:defRPr sz="1335"/>
            </a:lvl4pPr>
            <a:lvl5pPr>
              <a:defRPr sz="1335"/>
            </a:lvl5pPr>
            <a:lvl6pPr>
              <a:defRPr sz="1335"/>
            </a:lvl6pPr>
            <a:lvl7pPr>
              <a:defRPr sz="1335"/>
            </a:lvl7pPr>
            <a:lvl8pPr>
              <a:defRPr sz="1335"/>
            </a:lvl8pPr>
            <a:lvl9pPr>
              <a:defRPr sz="133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1709" cy="3812117"/>
          </a:xfrm>
        </p:spPr>
        <p:txBody>
          <a:bodyPr/>
          <a:lstStyle>
            <a:lvl1pPr marL="0" indent="0">
              <a:buNone/>
              <a:defRPr sz="1065"/>
            </a:lvl1pPr>
            <a:lvl2pPr marL="304800" indent="0">
              <a:buNone/>
              <a:defRPr sz="935"/>
            </a:lvl2pPr>
            <a:lvl3pPr marL="609600" indent="0">
              <a:buNone/>
              <a:defRPr sz="800"/>
            </a:lvl3pPr>
            <a:lvl4pPr marL="914400" indent="0">
              <a:buNone/>
              <a:defRPr sz="665"/>
            </a:lvl4pPr>
            <a:lvl5pPr marL="1219200" indent="0">
              <a:buNone/>
              <a:defRPr sz="665"/>
            </a:lvl5pPr>
            <a:lvl6pPr marL="1524000" indent="0">
              <a:buNone/>
              <a:defRPr sz="665"/>
            </a:lvl6pPr>
            <a:lvl7pPr marL="1828800" indent="0">
              <a:buNone/>
              <a:defRPr sz="665"/>
            </a:lvl7pPr>
            <a:lvl8pPr marL="2133600" indent="0">
              <a:buNone/>
              <a:defRPr sz="665"/>
            </a:lvl8pPr>
            <a:lvl9pPr marL="2438400" indent="0">
              <a:buNone/>
              <a:defRPr sz="665"/>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10/8/2024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1709" cy="1600200"/>
          </a:xfrm>
        </p:spPr>
        <p:txBody>
          <a:bodyPr anchor="b"/>
          <a:lstStyle>
            <a:lvl1pPr>
              <a:defRPr sz="2135"/>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2135"/>
            </a:lvl1pPr>
            <a:lvl2pPr marL="304800" indent="0">
              <a:buNone/>
              <a:defRPr sz="1865"/>
            </a:lvl2pPr>
            <a:lvl3pPr marL="609600" indent="0">
              <a:buNone/>
              <a:defRPr sz="1600"/>
            </a:lvl3pPr>
            <a:lvl4pPr marL="914400" indent="0">
              <a:buNone/>
              <a:defRPr sz="1335"/>
            </a:lvl4pPr>
            <a:lvl5pPr marL="1219200" indent="0">
              <a:buNone/>
              <a:defRPr sz="1335"/>
            </a:lvl5pPr>
            <a:lvl6pPr marL="1524000" indent="0">
              <a:buNone/>
              <a:defRPr sz="1335"/>
            </a:lvl6pPr>
            <a:lvl7pPr marL="1828800" indent="0">
              <a:buNone/>
              <a:defRPr sz="1335"/>
            </a:lvl7pPr>
            <a:lvl8pPr marL="2133600" indent="0">
              <a:buNone/>
              <a:defRPr sz="1335"/>
            </a:lvl8pPr>
            <a:lvl9pPr marL="2438400" indent="0">
              <a:buNone/>
              <a:defRPr sz="1335"/>
            </a:lvl9pPr>
          </a:lstStyle>
          <a:p>
            <a:endParaRPr lang="en-US"/>
          </a:p>
        </p:txBody>
      </p:sp>
      <p:sp>
        <p:nvSpPr>
          <p:cNvPr id="4" name="Text Placeholder 3"/>
          <p:cNvSpPr>
            <a:spLocks noGrp="1"/>
          </p:cNvSpPr>
          <p:nvPr>
            <p:ph type="body" sz="half" idx="2"/>
          </p:nvPr>
        </p:nvSpPr>
        <p:spPr>
          <a:xfrm>
            <a:off x="840317" y="2057400"/>
            <a:ext cx="3931709" cy="3812117"/>
          </a:xfrm>
        </p:spPr>
        <p:txBody>
          <a:bodyPr/>
          <a:lstStyle>
            <a:lvl1pPr marL="0" indent="0">
              <a:buNone/>
              <a:defRPr sz="1065"/>
            </a:lvl1pPr>
            <a:lvl2pPr marL="304800" indent="0">
              <a:buNone/>
              <a:defRPr sz="935"/>
            </a:lvl2pPr>
            <a:lvl3pPr marL="609600" indent="0">
              <a:buNone/>
              <a:defRPr sz="800"/>
            </a:lvl3pPr>
            <a:lvl4pPr marL="914400" indent="0">
              <a:buNone/>
              <a:defRPr sz="665"/>
            </a:lvl4pPr>
            <a:lvl5pPr marL="1219200" indent="0">
              <a:buNone/>
              <a:defRPr sz="665"/>
            </a:lvl5pPr>
            <a:lvl6pPr marL="1524000" indent="0">
              <a:buNone/>
              <a:defRPr sz="665"/>
            </a:lvl6pPr>
            <a:lvl7pPr marL="1828800" indent="0">
              <a:buNone/>
              <a:defRPr sz="665"/>
            </a:lvl7pPr>
            <a:lvl8pPr marL="2133600" indent="0">
              <a:buNone/>
              <a:defRPr sz="665"/>
            </a:lvl8pPr>
            <a:lvl9pPr marL="2438400" indent="0">
              <a:buNone/>
              <a:defRPr sz="665"/>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10/8/2024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236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85100" cy="58123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9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0000">
              <a:schemeClr val="bg1">
                <a:alpha val="92000"/>
              </a:schemeClr>
            </a:gs>
            <a:gs pos="100000">
              <a:schemeClr val="accent4">
                <a:lumMod val="20000"/>
                <a:lumOff val="80000"/>
              </a:schemeClr>
            </a:gs>
          </a:gsLst>
          <a:lin ang="54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047750"/>
            <a:ext cx="11182350" cy="512921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A705CD-6935-4F7F-BF25-1C6CC2649FC0}" type="datetime1">
              <a:rPr lang="en-US" smtClean="0"/>
              <a:t>10/8/2024</a:t>
            </a:fld>
            <a:endParaRPr lang="en-US"/>
          </a:p>
        </p:txBody>
      </p:sp>
      <p:sp>
        <p:nvSpPr>
          <p:cNvPr id="5" name="Footer Placeholder 4"/>
          <p:cNvSpPr>
            <a:spLocks noGrp="1"/>
          </p:cNvSpPr>
          <p:nvPr>
            <p:ph type="ftr" sz="quarter" idx="3"/>
          </p:nvPr>
        </p:nvSpPr>
        <p:spPr>
          <a:xfrm>
            <a:off x="3733800" y="6356350"/>
            <a:ext cx="531495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27735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6C28B4-5B52-467A-9173-204C9E91858B}" type="slidenum">
              <a:rPr lang="en-US" smtClean="0"/>
              <a:t>‹#›</a:t>
            </a:fld>
            <a:endParaRPr lang="en-US"/>
          </a:p>
        </p:txBody>
      </p:sp>
      <p:sp>
        <p:nvSpPr>
          <p:cNvPr id="7" name="Rectangle 6"/>
          <p:cNvSpPr/>
          <p:nvPr userDrawn="1"/>
        </p:nvSpPr>
        <p:spPr>
          <a:xfrm>
            <a:off x="0" y="-9674"/>
            <a:ext cx="12192000" cy="727094"/>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vi-VN" sz="18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pic>
        <p:nvPicPr>
          <p:cNvPr id="8" name="Picture 5" descr="Text&#10;&#10;Description automatically generated"/>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9674"/>
            <a:ext cx="2381308" cy="72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381309" y="85650"/>
            <a:ext cx="9324916" cy="555494"/>
          </a:xfrm>
          <a:prstGeom prst="rect">
            <a:avLst/>
          </a:prstGeom>
        </p:spPr>
        <p:txBody>
          <a:bodyPr vert="horz" lIns="91440" tIns="45720" rIns="91440" bIns="45720" rtlCol="0" anchor="ctr">
            <a:normAutofit/>
          </a:bodyPr>
          <a:lstStyle/>
          <a:p>
            <a:r>
              <a:rPr lang="en-US" smtClean="0"/>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lnSpc>
          <a:spcPct val="90000"/>
        </a:lnSpc>
        <a:spcBef>
          <a:spcPct val="0"/>
        </a:spcBef>
        <a:buNone/>
        <a:defRPr sz="4400" b="1" kern="1200">
          <a:solidFill>
            <a:srgbClr val="0A898C"/>
          </a:solidFill>
          <a:latin typeface="+mj-lt"/>
          <a:ea typeface="+mj-ea"/>
          <a:cs typeface="+mj-cs"/>
        </a:defRPr>
      </a:lvl1pPr>
    </p:titleStyle>
    <p:bodyStyle>
      <a:lvl1pPr marL="457200" indent="-457200" algn="l" defTabSz="914400" rtl="0" eaLnBrk="1" latinLnBrk="0" hangingPunct="1">
        <a:lnSpc>
          <a:spcPct val="90000"/>
        </a:lnSpc>
        <a:spcBef>
          <a:spcPts val="1000"/>
        </a:spcBef>
        <a:buFont typeface="Wingdings" panose="05000000000000000000" pitchFamily="2" charset="2"/>
        <a:buChar char="v"/>
        <a:defRPr sz="2800" kern="1200">
          <a:solidFill>
            <a:srgbClr val="076365"/>
          </a:solidFill>
          <a:latin typeface="+mn-lt"/>
          <a:ea typeface="+mn-ea"/>
          <a:cs typeface="+mn-cs"/>
        </a:defRPr>
      </a:lvl1pPr>
      <a:lvl2pPr marL="800100" indent="-342900" algn="l" defTabSz="914400" rtl="0" eaLnBrk="1" latinLnBrk="0" hangingPunct="1">
        <a:lnSpc>
          <a:spcPct val="90000"/>
        </a:lnSpc>
        <a:spcBef>
          <a:spcPts val="500"/>
        </a:spcBef>
        <a:buFont typeface="Wingdings" panose="05000000000000000000" pitchFamily="2" charset="2"/>
        <a:buChar char="§"/>
        <a:defRPr sz="2400" kern="1200">
          <a:solidFill>
            <a:srgbClr val="076365"/>
          </a:solidFill>
          <a:latin typeface="+mn-lt"/>
          <a:ea typeface="+mn-ea"/>
          <a:cs typeface="+mn-cs"/>
        </a:defRPr>
      </a:lvl2pPr>
      <a:lvl3pPr marL="1257300" indent="-342900" algn="l" defTabSz="914400" rtl="0" eaLnBrk="1" latinLnBrk="0" hangingPunct="1">
        <a:lnSpc>
          <a:spcPct val="90000"/>
        </a:lnSpc>
        <a:spcBef>
          <a:spcPts val="500"/>
        </a:spcBef>
        <a:buFont typeface="Courier New" panose="02070309020205020404" pitchFamily="49" charset="0"/>
        <a:buChar char="o"/>
        <a:defRPr sz="2000" kern="1200">
          <a:solidFill>
            <a:srgbClr val="07636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7636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7636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889000"/>
            <a:ext cx="10998200" cy="52884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800">
                <a:solidFill>
                  <a:schemeClr val="tx1">
                    <a:tint val="75000"/>
                  </a:schemeClr>
                </a:solidFill>
              </a:defRPr>
            </a:lvl1pPr>
          </a:lstStyle>
          <a:p>
            <a:pPr defTabSz="609600"/>
            <a:fld id="{5017DB02-EE08-43A7-9F96-CB2F01FDFDE1}" type="datetimeFigureOut">
              <a:rPr lang="en-US" smtClean="0">
                <a:solidFill>
                  <a:prstClr val="black">
                    <a:tint val="75000"/>
                  </a:prstClr>
                </a:solidFill>
              </a:rPr>
              <a:t>10/8/2024</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defRPr>
            </a:lvl1pPr>
          </a:lstStyle>
          <a:p>
            <a:pPr defTabSz="609600"/>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3175000" cy="365125"/>
          </a:xfrm>
          <a:prstGeom prst="rect">
            <a:avLst/>
          </a:prstGeom>
        </p:spPr>
        <p:txBody>
          <a:bodyPr vert="horz" lIns="91440" tIns="45720" rIns="91440" bIns="45720" rtlCol="0" anchor="ctr"/>
          <a:lstStyle>
            <a:lvl1pPr algn="r">
              <a:defRPr sz="800">
                <a:solidFill>
                  <a:schemeClr val="tx1">
                    <a:tint val="75000"/>
                  </a:schemeClr>
                </a:solidFill>
              </a:defRPr>
            </a:lvl1p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
        <p:nvSpPr>
          <p:cNvPr id="7" name="Rectangle 6"/>
          <p:cNvSpPr/>
          <p:nvPr userDrawn="1"/>
        </p:nvSpPr>
        <p:spPr>
          <a:xfrm>
            <a:off x="0" y="-6450"/>
            <a:ext cx="12191701" cy="727077"/>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609600" rtl="0" eaLnBrk="0" fontAlgn="base" latinLnBrk="0" hangingPunct="0">
              <a:lnSpc>
                <a:spcPct val="100000"/>
              </a:lnSpc>
              <a:spcBef>
                <a:spcPct val="0"/>
              </a:spcBef>
              <a:spcAft>
                <a:spcPct val="0"/>
              </a:spcAft>
              <a:buClrTx/>
              <a:buSzTx/>
              <a:buFontTx/>
              <a:buNone/>
              <a:defRPr/>
            </a:pPr>
            <a:endParaRPr kumimoji="0" lang="vi-VN" sz="12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pic>
        <p:nvPicPr>
          <p:cNvPr id="8" name="Picture 5" descr="Text&#10;&#10;Description automatically generated"/>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33350" y="1"/>
            <a:ext cx="2381250"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514600" y="55033"/>
            <a:ext cx="9321800" cy="625475"/>
          </a:xfrm>
          <a:prstGeom prst="rect">
            <a:avLst/>
          </a:prstGeom>
        </p:spPr>
        <p:txBody>
          <a:bodyPr vert="horz" lIns="91440" tIns="45720" rIns="91440" bIns="45720" rtlCol="0" anchor="ctr">
            <a:normAutofit/>
          </a:bodyPr>
          <a:lstStyle/>
          <a:p>
            <a:r>
              <a:rPr lang="en-US"/>
              <a:t>Click to edit Master title style</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6096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152400" indent="-152400" algn="l" defTabSz="609600" rtl="0" eaLnBrk="1" latinLnBrk="0" hangingPunct="1">
        <a:lnSpc>
          <a:spcPct val="90000"/>
        </a:lnSpc>
        <a:spcBef>
          <a:spcPts val="665"/>
        </a:spcBef>
        <a:buFont typeface="Arial" panose="020B0604020202020204" pitchFamily="34" charset="0"/>
        <a:buChar char="•"/>
        <a:defRPr sz="2935" kern="1200">
          <a:solidFill>
            <a:schemeClr val="tx1"/>
          </a:solidFill>
          <a:latin typeface="+mn-lt"/>
          <a:ea typeface="+mn-ea"/>
          <a:cs typeface="+mn-cs"/>
        </a:defRPr>
      </a:lvl1pPr>
      <a:lvl2pPr marL="457200" indent="-152400" algn="l" defTabSz="609600" rtl="0" eaLnBrk="1" latinLnBrk="0" hangingPunct="1">
        <a:lnSpc>
          <a:spcPct val="90000"/>
        </a:lnSpc>
        <a:spcBef>
          <a:spcPts val="335"/>
        </a:spcBef>
        <a:buFont typeface="Arial" panose="020B0604020202020204" pitchFamily="34" charset="0"/>
        <a:buChar char="•"/>
        <a:defRPr sz="2665" kern="1200">
          <a:solidFill>
            <a:schemeClr val="tx1"/>
          </a:solidFill>
          <a:latin typeface="+mn-lt"/>
          <a:ea typeface="+mn-ea"/>
          <a:cs typeface="+mn-cs"/>
        </a:defRPr>
      </a:lvl2pPr>
      <a:lvl3pPr marL="762000" indent="-152400" algn="l" defTabSz="609600" rtl="0" eaLnBrk="1" latinLnBrk="0" hangingPunct="1">
        <a:lnSpc>
          <a:spcPct val="90000"/>
        </a:lnSpc>
        <a:spcBef>
          <a:spcPts val="335"/>
        </a:spcBef>
        <a:buFont typeface="Arial" panose="020B0604020202020204" pitchFamily="34" charset="0"/>
        <a:buChar char="•"/>
        <a:defRPr sz="2400" kern="1200">
          <a:solidFill>
            <a:schemeClr val="tx1"/>
          </a:solidFill>
          <a:latin typeface="+mn-lt"/>
          <a:ea typeface="+mn-ea"/>
          <a:cs typeface="+mn-cs"/>
        </a:defRPr>
      </a:lvl3pPr>
      <a:lvl4pPr marL="1066800" indent="-152400" algn="l" defTabSz="609600" rtl="0" eaLnBrk="1" latinLnBrk="0" hangingPunct="1">
        <a:lnSpc>
          <a:spcPct val="90000"/>
        </a:lnSpc>
        <a:spcBef>
          <a:spcPts val="335"/>
        </a:spcBef>
        <a:buFont typeface="Arial" panose="020B0604020202020204" pitchFamily="34" charset="0"/>
        <a:buChar char="•"/>
        <a:defRPr sz="2135" kern="1200">
          <a:solidFill>
            <a:schemeClr val="tx1"/>
          </a:solidFill>
          <a:latin typeface="+mn-lt"/>
          <a:ea typeface="+mn-ea"/>
          <a:cs typeface="+mn-cs"/>
        </a:defRPr>
      </a:lvl4pPr>
      <a:lvl5pPr marL="1371600" indent="-152400" algn="l" defTabSz="609600" rtl="0" eaLnBrk="1" latinLnBrk="0" hangingPunct="1">
        <a:lnSpc>
          <a:spcPct val="90000"/>
        </a:lnSpc>
        <a:spcBef>
          <a:spcPts val="335"/>
        </a:spcBef>
        <a:buFont typeface="Arial" panose="020B0604020202020204" pitchFamily="34" charset="0"/>
        <a:buChar char="•"/>
        <a:defRPr sz="2135" kern="1200">
          <a:solidFill>
            <a:schemeClr val="tx1"/>
          </a:solidFill>
          <a:latin typeface="+mn-lt"/>
          <a:ea typeface="+mn-ea"/>
          <a:cs typeface="+mn-cs"/>
        </a:defRPr>
      </a:lvl5pPr>
      <a:lvl6pPr marL="16764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6pPr>
      <a:lvl7pPr marL="19812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7pPr>
      <a:lvl8pPr marL="22860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8pPr>
      <a:lvl9pPr marL="25908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vl9pPr marL="2438400" algn="l" defTabSz="6096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vuong.dangquoc@hust.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4.xml"/><Relationship Id="rId1" Type="http://schemas.openxmlformats.org/officeDocument/2006/relationships/tags" Target="../tags/tag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6.xml"/><Relationship Id="rId7" Type="http://schemas.openxmlformats.org/officeDocument/2006/relationships/image" Target="../media/image11.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0.png"/><Relationship Id="rId5" Type="http://schemas.openxmlformats.org/officeDocument/2006/relationships/slideLayout" Target="../slideLayouts/slideLayout4.xml"/><Relationship Id="rId4"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2.xml"/><Relationship Id="rId7" Type="http://schemas.openxmlformats.org/officeDocument/2006/relationships/image" Target="../media/image15.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4.png"/><Relationship Id="rId5" Type="http://schemas.openxmlformats.org/officeDocument/2006/relationships/slideLayout" Target="../slideLayouts/slideLayout4.xml"/><Relationship Id="rId4" Type="http://schemas.openxmlformats.org/officeDocument/2006/relationships/tags" Target="../tags/tag1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4.xml"/><Relationship Id="rId1" Type="http://schemas.openxmlformats.org/officeDocument/2006/relationships/tags" Target="../tags/tag20.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s>
</file>

<file path=ppt/slides/_rels/slide14.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28.xml"/><Relationship Id="rId7" Type="http://schemas.openxmlformats.org/officeDocument/2006/relationships/image" Target="../media/image24.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23.png"/><Relationship Id="rId5" Type="http://schemas.openxmlformats.org/officeDocument/2006/relationships/slideLayout" Target="../slideLayouts/slideLayout2.xml"/><Relationship Id="rId4" Type="http://schemas.openxmlformats.org/officeDocument/2006/relationships/tags" Target="../tags/tag29.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4.xml"/><Relationship Id="rId1" Type="http://schemas.openxmlformats.org/officeDocument/2006/relationships/tags" Target="../tags/tag32.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31645" y="1407795"/>
            <a:ext cx="10121900" cy="1484630"/>
          </a:xfrm>
        </p:spPr>
        <p:txBody>
          <a:bodyPr>
            <a:normAutofit/>
          </a:bodyPr>
          <a:lstStyle/>
          <a:p>
            <a:pPr>
              <a:lnSpc>
                <a:spcPct val="140000"/>
              </a:lnSpc>
            </a:pPr>
            <a:r>
              <a:rPr lang="en-US" sz="2800">
                <a:solidFill>
                  <a:srgbClr val="EC141C"/>
                </a:solidFill>
                <a:latin typeface="Arial" panose="020B0604020202020204" pitchFamily="34" charset="0"/>
                <a:cs typeface="Arial" panose="020B0604020202020204" pitchFamily="34" charset="0"/>
              </a:rPr>
              <a:t>CHƯƠNG </a:t>
            </a:r>
            <a:r>
              <a:rPr lang="en-US" sz="2800" smtClean="0">
                <a:solidFill>
                  <a:srgbClr val="EC141C"/>
                </a:solidFill>
                <a:latin typeface="Arial" panose="020B0604020202020204" pitchFamily="34" charset="0"/>
                <a:cs typeface="Arial" panose="020B0604020202020204" pitchFamily="34" charset="0"/>
              </a:rPr>
              <a:t>2</a:t>
            </a:r>
            <a:r>
              <a:rPr lang="en-US" sz="2800">
                <a:solidFill>
                  <a:srgbClr val="EC141C"/>
                </a:solidFill>
                <a:latin typeface="Arial" panose="020B0604020202020204" pitchFamily="34" charset="0"/>
                <a:cs typeface="Arial" panose="020B0604020202020204" pitchFamily="34" charset="0"/>
              </a:rPr>
              <a:t/>
            </a:r>
            <a:br>
              <a:rPr lang="en-US" sz="2800">
                <a:solidFill>
                  <a:srgbClr val="EC141C"/>
                </a:solidFill>
                <a:latin typeface="Arial" panose="020B0604020202020204" pitchFamily="34" charset="0"/>
                <a:cs typeface="Arial" panose="020B0604020202020204" pitchFamily="34" charset="0"/>
              </a:rPr>
            </a:br>
            <a:r>
              <a:rPr lang="en-US" sz="2800">
                <a:solidFill>
                  <a:srgbClr val="0000FF"/>
                </a:solidFill>
                <a:latin typeface="Arial" panose="020B0604020202020204" pitchFamily="34" charset="0"/>
                <a:cs typeface="Arial" panose="020B0604020202020204" pitchFamily="34" charset="0"/>
              </a:rPr>
              <a:t>KỸ NĂNG </a:t>
            </a:r>
            <a:r>
              <a:rPr lang="en-US" sz="2800" smtClean="0">
                <a:solidFill>
                  <a:srgbClr val="0000FF"/>
                </a:solidFill>
                <a:latin typeface="Arial" panose="020B0604020202020204" pitchFamily="34" charset="0"/>
                <a:cs typeface="Arial" panose="020B0604020202020204" pitchFamily="34" charset="0"/>
              </a:rPr>
              <a:t>HỌC THUẬT</a:t>
            </a:r>
            <a:endParaRPr lang="en-US" sz="2800">
              <a:solidFill>
                <a:srgbClr val="0000FF"/>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384290" y="3602355"/>
            <a:ext cx="5350510" cy="1655445"/>
          </a:xfrm>
        </p:spPr>
        <p:txBody>
          <a:bodyPr>
            <a:normAutofit lnSpcReduction="10000"/>
          </a:bodyPr>
          <a:lstStyle/>
          <a:p>
            <a:pPr marL="246380" marR="5080" indent="-234315" algn="l">
              <a:lnSpc>
                <a:spcPct val="129000"/>
              </a:lnSpc>
              <a:spcBef>
                <a:spcPts val="305"/>
              </a:spcBef>
              <a:tabLst>
                <a:tab pos="1536700" algn="l"/>
              </a:tabLst>
            </a:pPr>
            <a:r>
              <a:rPr lang="en-US" sz="2000" b="1" spc="-5">
                <a:solidFill>
                  <a:srgbClr val="0000FF"/>
                </a:solidFill>
                <a:latin typeface="Arial" panose="020B0604020202020204"/>
                <a:cs typeface="Arial" panose="020B0604020202020204"/>
                <a:sym typeface="+mn-ea"/>
              </a:rPr>
              <a:t>Giảng viên: Võ Vĩnh Bảo</a:t>
            </a:r>
            <a:endParaRPr lang="en-US" sz="2000" b="1" spc="-15">
              <a:solidFill>
                <a:srgbClr val="0000FF"/>
              </a:solidFill>
              <a:latin typeface="Arial" panose="020B0604020202020204"/>
              <a:cs typeface="Arial" panose="020B0604020202020204"/>
            </a:endParaRPr>
          </a:p>
          <a:p>
            <a:pPr marL="246380" marR="5080" indent="-234315" algn="l">
              <a:lnSpc>
                <a:spcPct val="129000"/>
              </a:lnSpc>
              <a:spcBef>
                <a:spcPts val="305"/>
              </a:spcBef>
              <a:tabLst>
                <a:tab pos="1536700" algn="l"/>
              </a:tabLst>
            </a:pPr>
            <a:r>
              <a:rPr lang="en-US" sz="2000">
                <a:solidFill>
                  <a:srgbClr val="003D62"/>
                </a:solidFill>
                <a:latin typeface="Arial" panose="020B0604020202020204"/>
                <a:cs typeface="Arial" panose="020B0604020202020204"/>
                <a:sym typeface="+mn-ea"/>
              </a:rPr>
              <a:t>Email: </a:t>
            </a:r>
            <a:r>
              <a:rPr lang="en-US" sz="2000" spc="-5">
                <a:solidFill>
                  <a:sysClr val="windowText" lastClr="000000"/>
                </a:solidFill>
                <a:latin typeface="Arial" panose="020B0604020202020204"/>
                <a:cs typeface="Arial" panose="020B0604020202020204"/>
                <a:sym typeface="+mn-ea"/>
                <a:hlinkClick r:id="rId2"/>
              </a:rPr>
              <a:t>bao.vo@ut.edu.vn </a:t>
            </a:r>
            <a:r>
              <a:rPr lang="en-US" sz="2000" spc="-5">
                <a:solidFill>
                  <a:sysClr val="windowText" lastClr="000000"/>
                </a:solidFill>
                <a:latin typeface="Arial" panose="020B0604020202020204"/>
                <a:cs typeface="Arial" panose="020B0604020202020204"/>
                <a:sym typeface="+mn-ea"/>
              </a:rPr>
              <a:t> </a:t>
            </a:r>
            <a:endParaRPr lang="en-US" sz="2000" spc="-5">
              <a:latin typeface="Arial" panose="020B0604020202020204"/>
              <a:cs typeface="Arial" panose="020B0604020202020204"/>
            </a:endParaRPr>
          </a:p>
          <a:p>
            <a:pPr marL="246380" marR="5080" indent="-234315" algn="l">
              <a:lnSpc>
                <a:spcPct val="129000"/>
              </a:lnSpc>
              <a:spcBef>
                <a:spcPts val="305"/>
              </a:spcBef>
              <a:tabLst>
                <a:tab pos="1536700" algn="l"/>
              </a:tabLst>
            </a:pPr>
            <a:r>
              <a:rPr lang="en-US" sz="2000">
                <a:solidFill>
                  <a:sysClr val="windowText" lastClr="000000"/>
                </a:solidFill>
                <a:latin typeface="Arial" panose="020B0604020202020204"/>
                <a:cs typeface="Arial" panose="020B0604020202020204"/>
                <a:sym typeface="+mn-ea"/>
              </a:rPr>
              <a:t>Phone:</a:t>
            </a:r>
            <a:r>
              <a:rPr lang="en-US" sz="2000" spc="-10">
                <a:solidFill>
                  <a:sysClr val="windowText" lastClr="000000"/>
                </a:solidFill>
                <a:latin typeface="Arial" panose="020B0604020202020204"/>
                <a:cs typeface="Arial" panose="020B0604020202020204"/>
                <a:sym typeface="+mn-ea"/>
              </a:rPr>
              <a:t> </a:t>
            </a:r>
            <a:r>
              <a:rPr lang="en-US" sz="2000">
                <a:solidFill>
                  <a:sysClr val="windowText" lastClr="000000"/>
                </a:solidFill>
                <a:latin typeface="Arial" panose="020B0604020202020204"/>
                <a:cs typeface="Arial" panose="020B0604020202020204"/>
                <a:sym typeface="+mn-ea"/>
              </a:rPr>
              <a:t>091 8235236</a:t>
            </a:r>
            <a:endParaRPr lang="en-US" sz="2000">
              <a:latin typeface="Arial" panose="020B0604020202020204" pitchFamily="34" charset="0"/>
              <a:cs typeface="Arial" panose="020B0604020202020204" pitchFamily="34" charset="0"/>
            </a:endParaRPr>
          </a:p>
        </p:txBody>
      </p:sp>
      <p:sp>
        <p:nvSpPr>
          <p:cNvPr id="4" name="TextBox 3"/>
          <p:cNvSpPr txBox="1"/>
          <p:nvPr/>
        </p:nvSpPr>
        <p:spPr>
          <a:xfrm>
            <a:off x="2438399" y="104355"/>
            <a:ext cx="9582150" cy="475615"/>
          </a:xfrm>
          <a:prstGeom prst="rect">
            <a:avLst/>
          </a:prstGeom>
          <a:noFill/>
        </p:spPr>
        <p:txBody>
          <a:bodyPr wrap="square" rtlCol="0">
            <a:spAutoFit/>
          </a:bodyPr>
          <a:lstStyle/>
          <a:p>
            <a:r>
              <a:rPr lang="en-US" sz="2500" b="1" smtClean="0">
                <a:solidFill>
                  <a:srgbClr val="129498"/>
                </a:solidFill>
                <a:latin typeface="Arial" panose="020B0604020202020204" pitchFamily="34" charset="0"/>
                <a:ea typeface="Tahoma" panose="020B0604030504040204" pitchFamily="34" charset="0"/>
                <a:cs typeface="Arial" panose="020B0604020202020204" pitchFamily="34" charset="0"/>
              </a:rPr>
              <a:t>TRƯỜNG ĐẠI HỌC GIAO THÔNG VẬN TẢI TP. HỒ CHÍ MINH</a:t>
            </a:r>
          </a:p>
        </p:txBody>
      </p:sp>
      <p:sp>
        <p:nvSpPr>
          <p:cNvPr id="5" name="Slide Number Placeholder 4"/>
          <p:cNvSpPr>
            <a:spLocks noGrp="1"/>
          </p:cNvSpPr>
          <p:nvPr>
            <p:ph type="sldNum" sz="quarter" idx="12"/>
          </p:nvPr>
        </p:nvSpPr>
        <p:spPr/>
        <p:txBody>
          <a:bodyPr/>
          <a:lstStyle/>
          <a:p>
            <a:r>
              <a:rPr lang="en-US"/>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KỸ NĂNG HỌC TẬP VÀ TƯ DUY SÁNG TẠO</a:t>
            </a:r>
          </a:p>
        </p:txBody>
      </p:sp>
      <p:sp>
        <p:nvSpPr>
          <p:cNvPr id="3" name="Content Placeholder 2"/>
          <p:cNvSpPr>
            <a:spLocks noGrp="1"/>
          </p:cNvSpPr>
          <p:nvPr>
            <p:ph idx="1"/>
          </p:nvPr>
        </p:nvSpPr>
        <p:spPr>
          <a:xfrm>
            <a:off x="838200" y="1047750"/>
            <a:ext cx="11182350" cy="5544185"/>
          </a:xfrm>
        </p:spPr>
        <p:txBody>
          <a:bodyPr>
            <a:normAutofit/>
          </a:bodyPr>
          <a:lstStyle/>
          <a:p>
            <a:pPr marL="0" indent="0" algn="ctr">
              <a:lnSpc>
                <a:spcPct val="120000"/>
              </a:lnSpc>
              <a:buNone/>
            </a:pPr>
            <a:r>
              <a:rPr lang="en-US" b="1">
                <a:solidFill>
                  <a:srgbClr val="EC141C"/>
                </a:solidFill>
              </a:rPr>
              <a:t>NỘI DUNG CHƯƠNG </a:t>
            </a:r>
            <a:r>
              <a:rPr lang="en-US" b="1" smtClean="0">
                <a:solidFill>
                  <a:srgbClr val="EC141C"/>
                </a:solidFill>
              </a:rPr>
              <a:t>2</a:t>
            </a:r>
            <a:endParaRPr lang="en-US" b="1">
              <a:solidFill>
                <a:srgbClr val="EC141C"/>
              </a:solidFill>
            </a:endParaRPr>
          </a:p>
          <a:p>
            <a:pPr marL="0" indent="0" algn="ctr">
              <a:lnSpc>
                <a:spcPct val="120000"/>
              </a:lnSpc>
              <a:buNone/>
            </a:pPr>
            <a:endParaRPr lang="en-US" b="1">
              <a:solidFill>
                <a:srgbClr val="EC141C"/>
              </a:solidFill>
            </a:endParaRPr>
          </a:p>
          <a:p>
            <a:pPr marL="0" indent="0" algn="just">
              <a:lnSpc>
                <a:spcPct val="150000"/>
              </a:lnSpc>
              <a:buNone/>
            </a:pPr>
            <a:r>
              <a:rPr lang="en-US" sz="2400"/>
              <a:t>2</a:t>
            </a:r>
            <a:r>
              <a:rPr lang="en-US" sz="2400" smtClean="0"/>
              <a:t>.1</a:t>
            </a:r>
            <a:r>
              <a:rPr lang="en-US" sz="2400"/>
              <a:t>. Phát triển kỹ năng đọc và ghi chép</a:t>
            </a:r>
          </a:p>
          <a:p>
            <a:pPr marL="0" indent="0" algn="just">
              <a:lnSpc>
                <a:spcPct val="150000"/>
              </a:lnSpc>
              <a:buNone/>
            </a:pPr>
            <a:r>
              <a:rPr lang="en-US" sz="2400"/>
              <a:t>2</a:t>
            </a:r>
            <a:r>
              <a:rPr lang="en-US" sz="2400" smtClean="0"/>
              <a:t>.2</a:t>
            </a:r>
            <a:r>
              <a:rPr lang="en-US" sz="2400"/>
              <a:t>. Phát triển kỹ năng tư duy phản biện</a:t>
            </a:r>
          </a:p>
          <a:p>
            <a:pPr marL="0" indent="0" algn="just">
              <a:lnSpc>
                <a:spcPct val="150000"/>
              </a:lnSpc>
              <a:buNone/>
            </a:pPr>
            <a:r>
              <a:rPr lang="en-US" sz="2400"/>
              <a:t>2</a:t>
            </a:r>
            <a:r>
              <a:rPr lang="en-US" sz="2400" smtClean="0"/>
              <a:t>.3</a:t>
            </a:r>
            <a:r>
              <a:rPr lang="en-US" sz="2400"/>
              <a:t>. Tư duy sáng tạo trong học tập</a:t>
            </a:r>
          </a:p>
        </p:txBody>
      </p:sp>
      <p:sp>
        <p:nvSpPr>
          <p:cNvPr id="4" name="Slide Number Placeholder 3"/>
          <p:cNvSpPr>
            <a:spLocks noGrp="1"/>
          </p:cNvSpPr>
          <p:nvPr>
            <p:ph type="sldNum" sz="quarter" idx="12"/>
          </p:nvPr>
        </p:nvSpPr>
        <p:spPr/>
        <p:txBody>
          <a:bodyPr/>
          <a:lstStyle/>
          <a:p>
            <a:fld id="{C36C28B4-5B52-467A-9173-204C9E91858B}"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2</a:t>
            </a:r>
            <a:r>
              <a:rPr lang="en-US" sz="2665" smtClean="0">
                <a:solidFill>
                  <a:srgbClr val="076365"/>
                </a:solidFill>
                <a:latin typeface="Arial" panose="020B0604020202020204" pitchFamily="34" charset="0"/>
                <a:cs typeface="Arial" panose="020B0604020202020204" pitchFamily="34" charset="0"/>
                <a:sym typeface="+mn-ea"/>
              </a:rPr>
              <a:t>.1</a:t>
            </a:r>
            <a:r>
              <a:rPr lang="en-US" sz="2665">
                <a:solidFill>
                  <a:srgbClr val="076365"/>
                </a:solidFill>
                <a:latin typeface="Arial" panose="020B0604020202020204" pitchFamily="34" charset="0"/>
                <a:cs typeface="Arial" panose="020B0604020202020204" pitchFamily="34" charset="0"/>
                <a:sym typeface="+mn-ea"/>
              </a:rPr>
              <a:t>. Phát triển kỹ năng đọc và ghi chép</a:t>
            </a:r>
          </a:p>
        </p:txBody>
      </p:sp>
      <p:sp>
        <p:nvSpPr>
          <p:cNvPr id="3" name="Content Placeholder 2"/>
          <p:cNvSpPr>
            <a:spLocks noGrp="1"/>
          </p:cNvSpPr>
          <p:nvPr>
            <p:ph sz="half" idx="1"/>
          </p:nvPr>
        </p:nvSpPr>
        <p:spPr>
          <a:xfrm>
            <a:off x="210185" y="728980"/>
            <a:ext cx="7736840" cy="6151245"/>
          </a:xfrm>
        </p:spPr>
        <p:txBody>
          <a:bodyPr>
            <a:noAutofit/>
          </a:bodyPr>
          <a:lstStyle/>
          <a:p>
            <a:pPr marL="0" indent="457200" algn="just">
              <a:lnSpc>
                <a:spcPct val="100000"/>
              </a:lnSpc>
              <a:buNone/>
            </a:pPr>
            <a:r>
              <a:rPr lang="en-US" sz="1800">
                <a:latin typeface="Arial" panose="020B0604020202020204" pitchFamily="34" charset="0"/>
                <a:cs typeface="Arial" panose="020B0604020202020204" pitchFamily="34" charset="0"/>
              </a:rPr>
              <a:t>Đối với hầu hết các môn học trong giáo dục đại học, việc đọc và ghi chép là những nhiệm vụ thiết yếu. Chúng thường chiếm phần lớn thời gian tự học của sinh viên.</a:t>
            </a:r>
          </a:p>
          <a:p>
            <a:pPr marL="0" indent="457200" algn="just">
              <a:lnSpc>
                <a:spcPct val="100000"/>
              </a:lnSpc>
              <a:buNone/>
            </a:pPr>
            <a:r>
              <a:rPr lang="en-US" sz="1800">
                <a:latin typeface="Arial" panose="020B0604020202020204" pitchFamily="34" charset="0"/>
                <a:cs typeface="Arial" panose="020B0604020202020204" pitchFamily="34" charset="0"/>
              </a:rPr>
              <a:t>Mặc dù hầu hết sinh viên đã đọc từ khi còn nhỏ, việc đọc ở cấp độ nâng cao vẫn mang lại nhiều thách thức lớn. Thông thường, những thách thức này bao gồm:</a:t>
            </a:r>
          </a:p>
          <a:p>
            <a:pPr marL="0" indent="457200" algn="just">
              <a:lnSpc>
                <a:spcPct val="100000"/>
              </a:lnSpc>
              <a:buNone/>
            </a:pPr>
            <a:r>
              <a:rPr lang="en-US" sz="1800">
                <a:latin typeface="Arial" panose="020B0604020202020204" pitchFamily="34" charset="0"/>
                <a:cs typeface="Arial" panose="020B0604020202020204" pitchFamily="34" charset="0"/>
              </a:rPr>
              <a:t>- Đối phó với khối lượng đọc lớn</a:t>
            </a:r>
          </a:p>
          <a:p>
            <a:pPr marL="0" indent="457200" algn="just">
              <a:lnSpc>
                <a:spcPct val="100000"/>
              </a:lnSpc>
              <a:buNone/>
            </a:pPr>
            <a:r>
              <a:rPr lang="en-US" sz="1800">
                <a:latin typeface="Arial" panose="020B0604020202020204" pitchFamily="34" charset="0"/>
                <a:cs typeface="Arial" panose="020B0604020202020204" pitchFamily="34" charset="0"/>
              </a:rPr>
              <a:t>- Lựa chọn những gì cần đọc</a:t>
            </a:r>
          </a:p>
          <a:p>
            <a:pPr marL="0" indent="457200" algn="just">
              <a:lnSpc>
                <a:spcPct val="100000"/>
              </a:lnSpc>
              <a:buNone/>
            </a:pPr>
            <a:r>
              <a:rPr lang="en-US" sz="1800">
                <a:latin typeface="Arial" panose="020B0604020202020204" pitchFamily="34" charset="0"/>
                <a:cs typeface="Arial" panose="020B0604020202020204" pitchFamily="34" charset="0"/>
              </a:rPr>
              <a:t>- Quyết định những gì cần sử dụng từ những gì đã đọc</a:t>
            </a:r>
          </a:p>
          <a:p>
            <a:pPr marL="0" indent="457200" algn="just">
              <a:lnSpc>
                <a:spcPct val="100000"/>
              </a:lnSpc>
              <a:buNone/>
            </a:pPr>
            <a:r>
              <a:rPr lang="en-US" sz="1800">
                <a:latin typeface="Arial" panose="020B0604020202020204" pitchFamily="34" charset="0"/>
                <a:cs typeface="Arial" panose="020B0604020202020204" pitchFamily="34" charset="0"/>
              </a:rPr>
              <a:t>- Hoàn thành việc đọc đúng thời gian</a:t>
            </a:r>
          </a:p>
          <a:p>
            <a:pPr marL="0" indent="457200" algn="just">
              <a:lnSpc>
                <a:spcPct val="100000"/>
              </a:lnSpc>
              <a:buNone/>
            </a:pPr>
            <a:r>
              <a:rPr lang="en-US" sz="1800">
                <a:latin typeface="Arial" panose="020B0604020202020204" pitchFamily="34" charset="0"/>
                <a:cs typeface="Arial" panose="020B0604020202020204" pitchFamily="34" charset="0"/>
              </a:rPr>
              <a:t>- Hiểu rõ tài liệu khó</a:t>
            </a:r>
          </a:p>
          <a:p>
            <a:pPr marL="0" indent="457200" algn="just">
              <a:lnSpc>
                <a:spcPct val="100000"/>
              </a:lnSpc>
              <a:buNone/>
            </a:pPr>
            <a:r>
              <a:rPr lang="en-US" sz="1800">
                <a:latin typeface="Arial" panose="020B0604020202020204" pitchFamily="34" charset="0"/>
                <a:cs typeface="Arial" panose="020B0604020202020204" pitchFamily="34" charset="0"/>
              </a:rPr>
              <a:t>- Làm quen với phong cách và từ vựng của các văn bản học thuật chuyên ngành - những điều này có thể phá vỡ các mô hình đọc đã được thiết lập</a:t>
            </a:r>
          </a:p>
          <a:p>
            <a:pPr marL="0" indent="457200" algn="just">
              <a:lnSpc>
                <a:spcPct val="100000"/>
              </a:lnSpc>
              <a:buNone/>
            </a:pPr>
            <a:r>
              <a:rPr lang="en-US" sz="1800">
                <a:latin typeface="Arial" panose="020B0604020202020204" pitchFamily="34" charset="0"/>
                <a:cs typeface="Arial" panose="020B0604020202020204" pitchFamily="34" charset="0"/>
              </a:rPr>
              <a:t>- Lo ngại về tốc độ đọc</a:t>
            </a:r>
          </a:p>
          <a:p>
            <a:pPr marL="0" indent="457200" algn="just">
              <a:lnSpc>
                <a:spcPct val="100000"/>
              </a:lnSpc>
              <a:buNone/>
            </a:pPr>
            <a:r>
              <a:rPr lang="en-US" sz="1800">
                <a:latin typeface="Arial" panose="020B0604020202020204" pitchFamily="34" charset="0"/>
                <a:cs typeface="Arial" panose="020B0604020202020204" pitchFamily="34" charset="0"/>
              </a:rPr>
              <a:t>- Diễn giải văn bản với sự phê phán đầy đủ</a:t>
            </a:r>
          </a:p>
          <a:p>
            <a:pPr marL="0" indent="457200" algn="just">
              <a:lnSpc>
                <a:spcPct val="100000"/>
              </a:lnSpc>
              <a:buNone/>
            </a:pPr>
            <a:r>
              <a:rPr lang="en-US" sz="1800">
                <a:latin typeface="Arial" panose="020B0604020202020204" pitchFamily="34" charset="0"/>
                <a:cs typeface="Arial" panose="020B0604020202020204" pitchFamily="34" charset="0"/>
              </a:rPr>
              <a:t>- Ghi nhớ hoặc có thể tìm lại tài liệu đã đọc.</a:t>
            </a:r>
          </a:p>
        </p:txBody>
      </p:sp>
      <p:sp>
        <p:nvSpPr>
          <p:cNvPr id="4" name="Slide Number Placeholder 3"/>
          <p:cNvSpPr>
            <a:spLocks noGrp="1"/>
          </p:cNvSpPr>
          <p:nvPr>
            <p:ph type="sldNum" sz="quarter" idx="12"/>
          </p:nvPr>
        </p:nvSpPr>
        <p:spPr/>
        <p:txBody>
          <a:bodyPr/>
          <a:lstStyle/>
          <a:p>
            <a:fld id="{C36C28B4-5B52-467A-9173-204C9E91858B}" type="slidenum">
              <a:rPr lang="en-US" smtClean="0"/>
              <a:t>3</a:t>
            </a:fld>
            <a:endParaRPr lang="en-US"/>
          </a:p>
        </p:txBody>
      </p:sp>
      <p:pic>
        <p:nvPicPr>
          <p:cNvPr id="5" name="Content Placeholder 4"/>
          <p:cNvPicPr>
            <a:picLocks noGrp="1" noChangeAspect="1"/>
          </p:cNvPicPr>
          <p:nvPr>
            <p:ph sz="half" idx="2"/>
            <p:custDataLst>
              <p:tags r:id="rId1"/>
            </p:custDataLst>
          </p:nvPr>
        </p:nvPicPr>
        <p:blipFill>
          <a:blip r:embed="rId3"/>
          <a:stretch>
            <a:fillRect/>
          </a:stretch>
        </p:blipFill>
        <p:spPr>
          <a:xfrm>
            <a:off x="8188325" y="1329055"/>
            <a:ext cx="3703320" cy="426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2</a:t>
            </a:r>
            <a:r>
              <a:rPr lang="en-US" sz="2665" smtClean="0">
                <a:solidFill>
                  <a:srgbClr val="076365"/>
                </a:solidFill>
                <a:latin typeface="Arial" panose="020B0604020202020204" pitchFamily="34" charset="0"/>
                <a:cs typeface="Arial" panose="020B0604020202020204" pitchFamily="34" charset="0"/>
                <a:sym typeface="+mn-ea"/>
              </a:rPr>
              <a:t>.1</a:t>
            </a:r>
            <a:r>
              <a:rPr lang="en-US" sz="2665">
                <a:solidFill>
                  <a:srgbClr val="076365"/>
                </a:solidFill>
                <a:latin typeface="Arial" panose="020B0604020202020204" pitchFamily="34" charset="0"/>
                <a:cs typeface="Arial" panose="020B0604020202020204" pitchFamily="34" charset="0"/>
                <a:sym typeface="+mn-ea"/>
              </a:rPr>
              <a:t>. Phát triển kỹ năng đọc và ghi chép</a:t>
            </a:r>
          </a:p>
        </p:txBody>
      </p:sp>
      <p:sp>
        <p:nvSpPr>
          <p:cNvPr id="4" name="Slide Number Placeholder 3"/>
          <p:cNvSpPr>
            <a:spLocks noGrp="1"/>
          </p:cNvSpPr>
          <p:nvPr>
            <p:ph type="sldNum" sz="quarter" idx="12"/>
          </p:nvPr>
        </p:nvSpPr>
        <p:spPr/>
        <p:txBody>
          <a:bodyPr/>
          <a:lstStyle/>
          <a:p>
            <a:fld id="{C36C28B4-5B52-467A-9173-204C9E91858B}" type="slidenum">
              <a:rPr lang="en-US" smtClean="0"/>
              <a:t>4</a:t>
            </a:fld>
            <a:endParaRPr lang="en-US"/>
          </a:p>
        </p:txBody>
      </p:sp>
      <p:sp>
        <p:nvSpPr>
          <p:cNvPr id="5" name="Text Box 4"/>
          <p:cNvSpPr txBox="1"/>
          <p:nvPr/>
        </p:nvSpPr>
        <p:spPr>
          <a:xfrm>
            <a:off x="247015" y="795020"/>
            <a:ext cx="5978525" cy="5571490"/>
          </a:xfrm>
          <a:prstGeom prst="rect">
            <a:avLst/>
          </a:prstGeom>
          <a:noFill/>
        </p:spPr>
        <p:txBody>
          <a:bodyPr wrap="square" rtlCol="0" anchor="t">
            <a:spAutoFit/>
          </a:bodyPr>
          <a:lstStyle/>
          <a:p>
            <a:pPr indent="457200" algn="just">
              <a:lnSpc>
                <a:spcPct val="180000"/>
              </a:lnSpc>
            </a:pPr>
            <a:r>
              <a:rPr lang="en-US">
                <a:solidFill>
                  <a:srgbClr val="076365"/>
                </a:solidFill>
                <a:latin typeface="Arial" panose="020B0604020202020204" pitchFamily="34" charset="0"/>
                <a:cs typeface="Arial" panose="020B0604020202020204" pitchFamily="34" charset="0"/>
              </a:rPr>
              <a:t>Tương tự, hầu hết sinh viên đã quen với việc ghi chép. Tuy nhiên, nếu họ không tự ghi chép bằng các chiến lược hiệu quả, họ sẽ lãng phí thời gian, không thể tìm thấy tài liệu đã học và không hiểu rõ và nhớ kỹ tài liệu đã được học trong khóa học. Cách mà bạn ghi chép có thể ảnh hưởng đáng kể đến khả năng tìm, nhớ lại và áp dụng thông tin trong các ngữ cảnh thực tiễn, chẳng hạn như trong các kỳ thi, nơi làm việc, phòng thí nghiệm hoặc studio.</a:t>
            </a:r>
          </a:p>
          <a:p>
            <a:pPr indent="457200" algn="just">
              <a:lnSpc>
                <a:spcPct val="180000"/>
              </a:lnSpc>
            </a:pPr>
            <a:r>
              <a:rPr lang="en-US">
                <a:solidFill>
                  <a:srgbClr val="076365"/>
                </a:solidFill>
                <a:latin typeface="Arial" panose="020B0604020202020204" pitchFamily="34" charset="0"/>
                <a:cs typeface="Arial" panose="020B0604020202020204" pitchFamily="34" charset="0"/>
              </a:rPr>
              <a:t>Chương này xem xét hai kỹ năng thiết yếu là đọc và ghi chép từ góc độ học tập ở bậc đại học.</a:t>
            </a:r>
          </a:p>
        </p:txBody>
      </p:sp>
      <p:pic>
        <p:nvPicPr>
          <p:cNvPr id="8" name="Content Placeholder 7"/>
          <p:cNvPicPr>
            <a:picLocks noGrp="1" noChangeAspect="1"/>
          </p:cNvPicPr>
          <p:nvPr>
            <p:ph sz="half" idx="1"/>
          </p:nvPr>
        </p:nvPicPr>
        <p:blipFill>
          <a:blip r:embed="rId3"/>
          <a:stretch>
            <a:fillRect/>
          </a:stretch>
        </p:blipFill>
        <p:spPr>
          <a:xfrm>
            <a:off x="6812915" y="922020"/>
            <a:ext cx="4806315" cy="2691765"/>
          </a:xfrm>
          <a:prstGeom prst="rect">
            <a:avLst/>
          </a:prstGeom>
        </p:spPr>
      </p:pic>
      <p:pic>
        <p:nvPicPr>
          <p:cNvPr id="9" name="Content Placeholder 8"/>
          <p:cNvPicPr>
            <a:picLocks noGrp="1" noChangeAspect="1"/>
          </p:cNvPicPr>
          <p:nvPr>
            <p:ph sz="half" idx="2"/>
            <p:custDataLst>
              <p:tags r:id="rId1"/>
            </p:custDataLst>
          </p:nvPr>
        </p:nvPicPr>
        <p:blipFill>
          <a:blip r:embed="rId4"/>
          <a:stretch>
            <a:fillRect/>
          </a:stretch>
        </p:blipFill>
        <p:spPr>
          <a:xfrm>
            <a:off x="6587490" y="3712210"/>
            <a:ext cx="5181600" cy="26650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Phát triển kỹ năng đọc</a:t>
            </a:r>
          </a:p>
        </p:txBody>
      </p:sp>
      <p:sp>
        <p:nvSpPr>
          <p:cNvPr id="4" name="Slide Number Placeholder 3"/>
          <p:cNvSpPr>
            <a:spLocks noGrp="1"/>
          </p:cNvSpPr>
          <p:nvPr>
            <p:ph type="sldNum" sz="quarter" idx="12"/>
          </p:nvPr>
        </p:nvSpPr>
        <p:spPr/>
        <p:txBody>
          <a:bodyPr/>
          <a:lstStyle/>
          <a:p>
            <a:fld id="{C36C28B4-5B52-467A-9173-204C9E91858B}" type="slidenum">
              <a:rPr lang="en-US" smtClean="0"/>
              <a:t>5</a:t>
            </a:fld>
            <a:endParaRPr lang="en-US"/>
          </a:p>
        </p:txBody>
      </p:sp>
      <p:sp>
        <p:nvSpPr>
          <p:cNvPr id="5" name="Text Box 4"/>
          <p:cNvSpPr txBox="1"/>
          <p:nvPr/>
        </p:nvSpPr>
        <p:spPr>
          <a:xfrm>
            <a:off x="268605" y="838200"/>
            <a:ext cx="11654790" cy="460375"/>
          </a:xfrm>
          <a:prstGeom prst="rect">
            <a:avLst/>
          </a:prstGeom>
          <a:noFill/>
        </p:spPr>
        <p:txBody>
          <a:bodyPr wrap="square" rtlCol="0" anchor="t">
            <a:spAutoFit/>
          </a:bodyPr>
          <a:lstStyle/>
          <a:p>
            <a:r>
              <a:rPr lang="en-US" sz="2400" b="1" i="1">
                <a:solidFill>
                  <a:srgbClr val="FF0000"/>
                </a:solidFill>
                <a:latin typeface="Arial" panose="020B0604020202020204" pitchFamily="34" charset="0"/>
                <a:cs typeface="Arial" panose="020B0604020202020204" pitchFamily="34" charset="0"/>
              </a:rPr>
              <a:t>1. Xác định và lựa chọn tài liệu liên quan khi đọc</a:t>
            </a:r>
          </a:p>
        </p:txBody>
      </p:sp>
      <p:sp>
        <p:nvSpPr>
          <p:cNvPr id="6" name="Text Box 5"/>
          <p:cNvSpPr txBox="1"/>
          <p:nvPr/>
        </p:nvSpPr>
        <p:spPr>
          <a:xfrm>
            <a:off x="236855" y="1315720"/>
            <a:ext cx="9067165" cy="5354320"/>
          </a:xfrm>
          <a:prstGeom prst="rect">
            <a:avLst/>
          </a:prstGeom>
          <a:noFill/>
        </p:spPr>
        <p:txBody>
          <a:bodyPr wrap="square" rtlCol="0" anchor="t">
            <a:spAutoFit/>
          </a:bodyPr>
          <a:lstStyle/>
          <a:p>
            <a:pPr indent="457200" algn="just"/>
            <a:r>
              <a:rPr lang="en-US" b="1">
                <a:solidFill>
                  <a:srgbClr val="FF0000"/>
                </a:solidFill>
                <a:latin typeface="Arial" panose="020B0604020202020204" pitchFamily="34" charset="0"/>
                <a:cs typeface="Arial" panose="020B0604020202020204" pitchFamily="34" charset="0"/>
              </a:rPr>
              <a:t>Đánh giá mức độ phù hợp của tài liệu</a:t>
            </a:r>
          </a:p>
          <a:p>
            <a:pPr indent="457200" algn="just"/>
            <a:r>
              <a:rPr lang="en-US" b="1">
                <a:solidFill>
                  <a:srgbClr val="076365"/>
                </a:solidFill>
                <a:latin typeface="Arial" panose="020B0604020202020204" pitchFamily="34" charset="0"/>
                <a:cs typeface="Arial" panose="020B0604020202020204" pitchFamily="34" charset="0"/>
              </a:rPr>
              <a:t>Kiểm tra tiêu đề và tóm tắt:</a:t>
            </a:r>
            <a:r>
              <a:rPr lang="en-US">
                <a:solidFill>
                  <a:srgbClr val="076365"/>
                </a:solidFill>
                <a:latin typeface="Arial" panose="020B0604020202020204" pitchFamily="34" charset="0"/>
                <a:cs typeface="Arial" panose="020B0604020202020204" pitchFamily="34" charset="0"/>
              </a:rPr>
              <a:t> Bắt đầu bằng việc xem xét tiêu đề, tóm tắt và mục lục của tài liệu để xác định liệu nội dung có liên quan đến chủ đề nghiên cứu của bạn hay không. Những phần này thường cung cấp một cái nhìn tổng quan về những gì tài liệu đề cập.</a:t>
            </a:r>
          </a:p>
          <a:p>
            <a:pPr indent="457200" algn="just"/>
            <a:r>
              <a:rPr lang="en-US" b="1">
                <a:solidFill>
                  <a:srgbClr val="076365"/>
                </a:solidFill>
                <a:latin typeface="Arial" panose="020B0604020202020204" pitchFamily="34" charset="0"/>
                <a:cs typeface="Arial" panose="020B0604020202020204" pitchFamily="34" charset="0"/>
              </a:rPr>
              <a:t>Đánh giá nguồn tài liệu:</a:t>
            </a:r>
            <a:r>
              <a:rPr lang="en-US">
                <a:solidFill>
                  <a:srgbClr val="076365"/>
                </a:solidFill>
                <a:latin typeface="Arial" panose="020B0604020202020204" pitchFamily="34" charset="0"/>
                <a:cs typeface="Arial" panose="020B0604020202020204" pitchFamily="34" charset="0"/>
              </a:rPr>
              <a:t> Xác định uy tín của tác giả và nhà xuất bản. Tài liệu từ các tác giả và nhà xuất bản uy tín thường có độ tin cậy cao hơn và được chấp nhận rộng rãi trong giới học thuật.</a:t>
            </a:r>
          </a:p>
          <a:p>
            <a:pPr indent="457200" algn="just"/>
            <a:r>
              <a:rPr lang="en-US" b="1">
                <a:solidFill>
                  <a:srgbClr val="FF0000"/>
                </a:solidFill>
                <a:latin typeface="Arial" panose="020B0604020202020204" pitchFamily="34" charset="0"/>
                <a:cs typeface="Arial" panose="020B0604020202020204" pitchFamily="34" charset="0"/>
              </a:rPr>
              <a:t>Sử dụng các chiến lược đọc hiệu quả</a:t>
            </a:r>
          </a:p>
          <a:p>
            <a:pPr indent="457200" algn="just"/>
            <a:r>
              <a:rPr lang="en-US" b="1">
                <a:solidFill>
                  <a:srgbClr val="076365"/>
                </a:solidFill>
                <a:latin typeface="Arial" panose="020B0604020202020204" pitchFamily="34" charset="0"/>
                <a:cs typeface="Arial" panose="020B0604020202020204" pitchFamily="34" charset="0"/>
              </a:rPr>
              <a:t>Đọc lướt và đọc quét</a:t>
            </a:r>
            <a:r>
              <a:rPr lang="en-US">
                <a:solidFill>
                  <a:srgbClr val="076365"/>
                </a:solidFill>
                <a:latin typeface="Arial" panose="020B0604020202020204" pitchFamily="34" charset="0"/>
                <a:cs typeface="Arial" panose="020B0604020202020204" pitchFamily="34" charset="0"/>
              </a:rPr>
              <a:t> (Skimming and Scanning): Đọc lướt qua toàn bộ tài liệu để nắm bắt các ý chính và cấu trúc tổng thể. Sử dụng kỹ thuật đọc quét để tìm kiếm các từ khóa, câu hỏi nghiên cứu, và các phần có liên quan trực tiếp đến chủ đề của bạn.</a:t>
            </a:r>
          </a:p>
          <a:p>
            <a:pPr indent="457200" algn="just"/>
            <a:r>
              <a:rPr lang="en-US" b="1">
                <a:solidFill>
                  <a:srgbClr val="076365"/>
                </a:solidFill>
                <a:latin typeface="Arial" panose="020B0604020202020204" pitchFamily="34" charset="0"/>
                <a:cs typeface="Arial" panose="020B0604020202020204" pitchFamily="34" charset="0"/>
              </a:rPr>
              <a:t>Đọc chọn lọc:</a:t>
            </a:r>
            <a:r>
              <a:rPr lang="en-US">
                <a:solidFill>
                  <a:srgbClr val="076365"/>
                </a:solidFill>
                <a:latin typeface="Arial" panose="020B0604020202020204" pitchFamily="34" charset="0"/>
                <a:cs typeface="Arial" panose="020B0604020202020204" pitchFamily="34" charset="0"/>
              </a:rPr>
              <a:t> Tập trung đọc các phần cụ thể của tài liệu có liên quan đến câu hỏi nghiên cứu của bạn. Điều này giúp tiết kiệm thời gian và năng lượng, tránh việc đọc quá nhiều thông tin không cần thiết.</a:t>
            </a:r>
          </a:p>
          <a:p>
            <a:pPr indent="457200" algn="just"/>
            <a:r>
              <a:rPr lang="en-US" b="1">
                <a:solidFill>
                  <a:srgbClr val="FF0000"/>
                </a:solidFill>
                <a:latin typeface="Arial" panose="020B0604020202020204" pitchFamily="34" charset="0"/>
                <a:cs typeface="Arial" panose="020B0604020202020204" pitchFamily="34" charset="0"/>
              </a:rPr>
              <a:t>Ghi chú và tổ chức thông tin</a:t>
            </a:r>
            <a:endParaRPr lang="en-US">
              <a:solidFill>
                <a:srgbClr val="FF0000"/>
              </a:solidFill>
              <a:latin typeface="Arial" panose="020B0604020202020204" pitchFamily="34" charset="0"/>
              <a:cs typeface="Arial" panose="020B0604020202020204" pitchFamily="34" charset="0"/>
            </a:endParaRPr>
          </a:p>
          <a:p>
            <a:pPr indent="457200" algn="just"/>
            <a:r>
              <a:rPr lang="en-US" b="1">
                <a:solidFill>
                  <a:srgbClr val="076365"/>
                </a:solidFill>
                <a:latin typeface="Arial" panose="020B0604020202020204" pitchFamily="34" charset="0"/>
                <a:cs typeface="Arial" panose="020B0604020202020204" pitchFamily="34" charset="0"/>
              </a:rPr>
              <a:t>Ghi chú có hệ thống:</a:t>
            </a:r>
            <a:r>
              <a:rPr lang="en-US">
                <a:solidFill>
                  <a:srgbClr val="076365"/>
                </a:solidFill>
                <a:latin typeface="Arial" panose="020B0604020202020204" pitchFamily="34" charset="0"/>
                <a:cs typeface="Arial" panose="020B0604020202020204" pitchFamily="34" charset="0"/>
              </a:rPr>
              <a:t> Sử dụng các kỹ thuật ghi chú hiệu quả như phương pháp Cornell hoặc sơ đồ tư duy để ghi lại các ý chính, luận điểm quan trọng và nguồn tham khảo. Điều này giúp bạn dễ dàng tìm lại thông tin khi cần thiết.</a:t>
            </a:r>
          </a:p>
        </p:txBody>
      </p:sp>
      <p:pic>
        <p:nvPicPr>
          <p:cNvPr id="7" name="Content Placeholder 6"/>
          <p:cNvPicPr>
            <a:picLocks noGrp="1" noChangeAspect="1"/>
          </p:cNvPicPr>
          <p:nvPr>
            <p:ph sz="half" idx="1"/>
          </p:nvPr>
        </p:nvPicPr>
        <p:blipFill>
          <a:blip r:embed="rId3"/>
          <a:stretch>
            <a:fillRect/>
          </a:stretch>
        </p:blipFill>
        <p:spPr>
          <a:xfrm>
            <a:off x="9321165" y="2668905"/>
            <a:ext cx="2839085" cy="1590040"/>
          </a:xfrm>
          <a:prstGeom prst="rect">
            <a:avLst/>
          </a:prstGeom>
        </p:spPr>
      </p:pic>
      <p:pic>
        <p:nvPicPr>
          <p:cNvPr id="8" name="Content Placeholder 7"/>
          <p:cNvPicPr>
            <a:picLocks noGrp="1" noChangeAspect="1"/>
          </p:cNvPicPr>
          <p:nvPr>
            <p:ph sz="half" idx="2"/>
          </p:nvPr>
        </p:nvPicPr>
        <p:blipFill>
          <a:blip r:embed="rId4"/>
          <a:stretch>
            <a:fillRect/>
          </a:stretch>
        </p:blipFill>
        <p:spPr>
          <a:xfrm>
            <a:off x="9304020" y="953770"/>
            <a:ext cx="2857500" cy="1600200"/>
          </a:xfrm>
          <a:prstGeom prst="rect">
            <a:avLst/>
          </a:prstGeom>
        </p:spPr>
      </p:pic>
      <p:pic>
        <p:nvPicPr>
          <p:cNvPr id="9" name="Picture 8"/>
          <p:cNvPicPr>
            <a:picLocks noChangeAspect="1"/>
          </p:cNvPicPr>
          <p:nvPr>
            <p:custDataLst>
              <p:tags r:id="rId1"/>
            </p:custDataLst>
          </p:nvPr>
        </p:nvPicPr>
        <p:blipFill>
          <a:blip r:embed="rId5"/>
          <a:stretch>
            <a:fillRect/>
          </a:stretch>
        </p:blipFill>
        <p:spPr>
          <a:xfrm>
            <a:off x="9316085" y="4326255"/>
            <a:ext cx="2802255" cy="21024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36C28B4-5B52-467A-9173-204C9E91858B}" type="slidenum">
              <a:rPr lang="en-US" smtClean="0"/>
              <a:t>6</a:t>
            </a:fld>
            <a:endParaRPr lang="en-US"/>
          </a:p>
        </p:txBody>
      </p:sp>
      <p:sp>
        <p:nvSpPr>
          <p:cNvPr id="5" name="Text Box 4"/>
          <p:cNvSpPr txBox="1"/>
          <p:nvPr/>
        </p:nvSpPr>
        <p:spPr>
          <a:xfrm>
            <a:off x="332105" y="729615"/>
            <a:ext cx="11523345" cy="6035675"/>
          </a:xfrm>
          <a:prstGeom prst="rect">
            <a:avLst/>
          </a:prstGeom>
          <a:noFill/>
        </p:spPr>
        <p:txBody>
          <a:bodyPr wrap="square" rtlCol="0" anchor="t">
            <a:noAutofit/>
          </a:bodyPr>
          <a:lstStyle/>
          <a:p>
            <a:pPr algn="just">
              <a:lnSpc>
                <a:spcPct val="100000"/>
              </a:lnSpc>
            </a:pPr>
            <a:r>
              <a:rPr lang="en-US" sz="2400" b="1" i="1">
                <a:solidFill>
                  <a:srgbClr val="FF0000"/>
                </a:solidFill>
                <a:latin typeface="Arial" panose="020B0604020202020204" pitchFamily="34" charset="0"/>
                <a:cs typeface="Arial" panose="020B0604020202020204" pitchFamily="34" charset="0"/>
              </a:rPr>
              <a:t>2. Bạn có phải là người đọc thông minh?</a:t>
            </a:r>
          </a:p>
          <a:p>
            <a:pPr algn="just">
              <a:lnSpc>
                <a:spcPct val="170000"/>
              </a:lnSpc>
            </a:pPr>
            <a:r>
              <a:rPr lang="en-US">
                <a:solidFill>
                  <a:srgbClr val="076365"/>
                </a:solidFill>
                <a:latin typeface="Arial" panose="020B0604020202020204" pitchFamily="34" charset="0"/>
                <a:cs typeface="Arial" panose="020B0604020202020204" pitchFamily="34" charset="0"/>
              </a:rPr>
              <a:t>Bạn có sử dụng các chiến lược đọc hiệu quả không? Bạn có sử dụng những điều sau đây không?</a:t>
            </a:r>
          </a:p>
          <a:p>
            <a:pPr algn="just">
              <a:lnSpc>
                <a:spcPct val="90000"/>
              </a:lnSpc>
            </a:pPr>
            <a:r>
              <a:rPr lang="en-US" b="1">
                <a:solidFill>
                  <a:srgbClr val="FF0000"/>
                </a:solidFill>
                <a:latin typeface="Arial" panose="020B0604020202020204" pitchFamily="34" charset="0"/>
                <a:cs typeface="Arial" panose="020B0604020202020204" pitchFamily="34" charset="0"/>
              </a:rPr>
              <a:t>Biết chính xác bạn đang tìm kiếm điều gì</a:t>
            </a:r>
          </a:p>
          <a:p>
            <a:pPr indent="457200" algn="just">
              <a:lnSpc>
                <a:spcPct val="90000"/>
              </a:lnSpc>
            </a:pPr>
            <a:r>
              <a:rPr lang="en-US">
                <a:solidFill>
                  <a:srgbClr val="076365"/>
                </a:solidFill>
                <a:latin typeface="Arial" panose="020B0604020202020204" pitchFamily="34" charset="0"/>
                <a:cs typeface="Arial" panose="020B0604020202020204" pitchFamily="34" charset="0"/>
              </a:rPr>
              <a:t>- Tôi có xem xét các câu hỏi mà tôi đang cố gắng trả lời không?</a:t>
            </a:r>
          </a:p>
          <a:p>
            <a:pPr indent="457200" algn="just">
              <a:lnSpc>
                <a:spcPct val="90000"/>
              </a:lnSpc>
            </a:pPr>
            <a:r>
              <a:rPr lang="en-US">
                <a:solidFill>
                  <a:srgbClr val="076365"/>
                </a:solidFill>
                <a:latin typeface="Arial" panose="020B0604020202020204" pitchFamily="34" charset="0"/>
                <a:cs typeface="Arial" panose="020B0604020202020204" pitchFamily="34" charset="0"/>
              </a:rPr>
              <a:t>- Tôi có xem xét thông tin tôi cần là gì không?</a:t>
            </a:r>
          </a:p>
          <a:p>
            <a:pPr algn="just">
              <a:lnSpc>
                <a:spcPct val="90000"/>
              </a:lnSpc>
            </a:pPr>
            <a:r>
              <a:rPr lang="en-US" b="1">
                <a:solidFill>
                  <a:srgbClr val="FF0000"/>
                </a:solidFill>
                <a:latin typeface="Arial" panose="020B0604020202020204" pitchFamily="34" charset="0"/>
                <a:cs typeface="Arial" panose="020B0604020202020204" pitchFamily="34" charset="0"/>
              </a:rPr>
              <a:t>Sử dụng danh sách đọc một cách có chọn lọc</a:t>
            </a:r>
          </a:p>
          <a:p>
            <a:pPr indent="457200" algn="just">
              <a:lnSpc>
                <a:spcPct val="90000"/>
              </a:lnSpc>
            </a:pPr>
            <a:r>
              <a:rPr lang="en-US">
                <a:solidFill>
                  <a:srgbClr val="076365"/>
                </a:solidFill>
                <a:latin typeface="Arial" panose="020B0604020202020204" pitchFamily="34" charset="0"/>
                <a:cs typeface="Arial" panose="020B0604020202020204" pitchFamily="34" charset="0"/>
              </a:rPr>
              <a:t>- Tôi có sử dụng danh sách đọc được đề xuất không?</a:t>
            </a:r>
          </a:p>
          <a:p>
            <a:pPr indent="457200" algn="just">
              <a:lnSpc>
                <a:spcPct val="90000"/>
              </a:lnSpc>
            </a:pPr>
            <a:r>
              <a:rPr lang="en-US">
                <a:solidFill>
                  <a:srgbClr val="076365"/>
                </a:solidFill>
                <a:latin typeface="Arial" panose="020B0604020202020204" pitchFamily="34" charset="0"/>
                <a:cs typeface="Arial" panose="020B0604020202020204" pitchFamily="34" charset="0"/>
              </a:rPr>
              <a:t>- Tôi có biết những gì tôi cần đọc không?</a:t>
            </a:r>
          </a:p>
          <a:p>
            <a:pPr algn="just">
              <a:lnSpc>
                <a:spcPct val="90000"/>
              </a:lnSpc>
            </a:pPr>
            <a:r>
              <a:rPr lang="en-US" b="1">
                <a:solidFill>
                  <a:srgbClr val="FF0000"/>
                </a:solidFill>
                <a:latin typeface="Arial" panose="020B0604020202020204" pitchFamily="34" charset="0"/>
                <a:cs typeface="Arial" panose="020B0604020202020204" pitchFamily="34" charset="0"/>
              </a:rPr>
              <a:t>Kiểm tra các nguồn tài liệu để đảm bảo sự phù hợp</a:t>
            </a:r>
          </a:p>
          <a:p>
            <a:pPr indent="457200" algn="just">
              <a:lnSpc>
                <a:spcPct val="90000"/>
              </a:lnSpc>
            </a:pPr>
            <a:r>
              <a:rPr lang="en-US">
                <a:solidFill>
                  <a:srgbClr val="076365"/>
                </a:solidFill>
                <a:latin typeface="Arial" panose="020B0604020202020204" pitchFamily="34" charset="0"/>
                <a:cs typeface="Arial" panose="020B0604020202020204" pitchFamily="34" charset="0"/>
              </a:rPr>
              <a:t>- Tôi có sử dụng mục lục không?</a:t>
            </a:r>
          </a:p>
          <a:p>
            <a:pPr indent="457200" algn="just">
              <a:lnSpc>
                <a:spcPct val="90000"/>
              </a:lnSpc>
            </a:pPr>
            <a:r>
              <a:rPr lang="en-US">
                <a:solidFill>
                  <a:srgbClr val="076365"/>
                </a:solidFill>
                <a:latin typeface="Arial" panose="020B0604020202020204" pitchFamily="34" charset="0"/>
                <a:cs typeface="Arial" panose="020B0604020202020204" pitchFamily="34" charset="0"/>
              </a:rPr>
              <a:t>- Tôi có nhanh hơn sau khi thực hành không?</a:t>
            </a:r>
          </a:p>
          <a:p>
            <a:pPr algn="just">
              <a:lnSpc>
                <a:spcPct val="90000"/>
              </a:lnSpc>
            </a:pPr>
            <a:r>
              <a:rPr lang="en-US" b="1">
                <a:solidFill>
                  <a:srgbClr val="FF0000"/>
                </a:solidFill>
                <a:latin typeface="Arial" panose="020B0604020202020204" pitchFamily="34" charset="0"/>
                <a:cs typeface="Arial" panose="020B0604020202020204" pitchFamily="34" charset="0"/>
              </a:rPr>
              <a:t>Chọn phần liên quan của sách</a:t>
            </a:r>
          </a:p>
          <a:p>
            <a:pPr indent="457200" algn="just">
              <a:lnSpc>
                <a:spcPct val="90000"/>
              </a:lnSpc>
            </a:pPr>
            <a:r>
              <a:rPr lang="en-US">
                <a:solidFill>
                  <a:srgbClr val="076365"/>
                </a:solidFill>
                <a:latin typeface="Arial" panose="020B0604020202020204" pitchFamily="34" charset="0"/>
                <a:cs typeface="Arial" panose="020B0604020202020204" pitchFamily="34" charset="0"/>
              </a:rPr>
              <a:t>- Tôi có đọc lướt qua sách nhanh chóng không?</a:t>
            </a:r>
          </a:p>
          <a:p>
            <a:pPr indent="457200" algn="just">
              <a:lnSpc>
                <a:spcPct val="90000"/>
              </a:lnSpc>
            </a:pPr>
            <a:r>
              <a:rPr lang="en-US">
                <a:solidFill>
                  <a:srgbClr val="076365"/>
                </a:solidFill>
                <a:latin typeface="Arial" panose="020B0604020202020204" pitchFamily="34" charset="0"/>
                <a:cs typeface="Arial" panose="020B0604020202020204" pitchFamily="34" charset="0"/>
              </a:rPr>
              <a:t>- Tôi có sử dụng mục lục, tiêu đề và tiêu đề phụ để định hướng không?</a:t>
            </a:r>
          </a:p>
          <a:p>
            <a:pPr indent="457200" algn="just">
              <a:lnSpc>
                <a:spcPct val="90000"/>
              </a:lnSpc>
            </a:pPr>
            <a:r>
              <a:rPr lang="en-US">
                <a:solidFill>
                  <a:srgbClr val="076365"/>
                </a:solidFill>
                <a:latin typeface="Arial" panose="020B0604020202020204" pitchFamily="34" charset="0"/>
                <a:cs typeface="Arial" panose="020B0604020202020204" pitchFamily="34" charset="0"/>
              </a:rPr>
              <a:t>- Tôi có đánh dấu, sử dụng thẻ nhớ hoặc đánh dấu các phần quan trọng để dễ dàng tìm thấy sau này không</a:t>
            </a:r>
            <a:r>
              <a:rPr lang="en-US">
                <a:solidFill>
                  <a:srgbClr val="FF0000"/>
                </a:solidFill>
                <a:latin typeface="Arial" panose="020B0604020202020204" pitchFamily="34" charset="0"/>
                <a:cs typeface="Arial" panose="020B0604020202020204" pitchFamily="34" charset="0"/>
              </a:rPr>
              <a:t>?</a:t>
            </a:r>
          </a:p>
          <a:p>
            <a:pPr algn="just">
              <a:lnSpc>
                <a:spcPct val="90000"/>
              </a:lnSpc>
            </a:pPr>
            <a:r>
              <a:rPr lang="en-US" b="1">
                <a:solidFill>
                  <a:srgbClr val="FF0000"/>
                </a:solidFill>
                <a:latin typeface="Arial" panose="020B0604020202020204" pitchFamily="34" charset="0"/>
                <a:cs typeface="Arial" panose="020B0604020202020204" pitchFamily="34" charset="0"/>
              </a:rPr>
              <a:t>Chọn phần liên quan của trang</a:t>
            </a:r>
          </a:p>
          <a:p>
            <a:pPr indent="457200" algn="just">
              <a:lnSpc>
                <a:spcPct val="90000"/>
              </a:lnSpc>
            </a:pPr>
            <a:r>
              <a:rPr lang="en-US">
                <a:solidFill>
                  <a:srgbClr val="076365"/>
                </a:solidFill>
                <a:latin typeface="Arial" panose="020B0604020202020204" pitchFamily="34" charset="0"/>
                <a:cs typeface="Arial" panose="020B0604020202020204" pitchFamily="34" charset="0"/>
              </a:rPr>
              <a:t>Tôi có đọc tiêu đề của chương không?</a:t>
            </a:r>
          </a:p>
          <a:p>
            <a:pPr indent="457200" algn="just">
              <a:lnSpc>
                <a:spcPct val="90000"/>
              </a:lnSpc>
            </a:pPr>
            <a:r>
              <a:rPr lang="en-US">
                <a:solidFill>
                  <a:srgbClr val="076365"/>
                </a:solidFill>
                <a:latin typeface="Arial" panose="020B0604020202020204" pitchFamily="34" charset="0"/>
                <a:cs typeface="Arial" panose="020B0604020202020204" pitchFamily="34" charset="0"/>
              </a:rPr>
              <a:t>Tôi có đọc các tiêu đề phụ không?</a:t>
            </a:r>
          </a:p>
          <a:p>
            <a:pPr indent="457200" algn="just">
              <a:lnSpc>
                <a:spcPct val="90000"/>
              </a:lnSpc>
            </a:pPr>
            <a:r>
              <a:rPr lang="en-US">
                <a:solidFill>
                  <a:srgbClr val="076365"/>
                </a:solidFill>
                <a:latin typeface="Arial" panose="020B0604020202020204" pitchFamily="34" charset="0"/>
                <a:cs typeface="Arial" panose="020B0604020202020204" pitchFamily="34" charset="0"/>
              </a:rPr>
              <a:t>Tôi có đọc câu đầu tiên của mỗi đoạn văn không (câu này nên giới thiệu chủ đề hoặc ý tưởng)?</a:t>
            </a:r>
          </a:p>
          <a:p>
            <a:pPr indent="457200" algn="just">
              <a:lnSpc>
                <a:spcPct val="90000"/>
              </a:lnSpc>
            </a:pPr>
            <a:r>
              <a:rPr lang="en-US">
                <a:solidFill>
                  <a:srgbClr val="076365"/>
                </a:solidFill>
                <a:latin typeface="Arial" panose="020B0604020202020204" pitchFamily="34" charset="0"/>
                <a:cs typeface="Arial" panose="020B0604020202020204" pitchFamily="34" charset="0"/>
              </a:rPr>
              <a:t>Tôi có xem các biểu đồ, đồ thị hoặc biểu đồ không?</a:t>
            </a:r>
          </a:p>
          <a:p>
            <a:pPr indent="457200" algn="just">
              <a:lnSpc>
                <a:spcPct val="90000"/>
              </a:lnSpc>
            </a:pPr>
            <a:r>
              <a:rPr lang="en-US">
                <a:solidFill>
                  <a:srgbClr val="076365"/>
                </a:solidFill>
                <a:latin typeface="Arial" panose="020B0604020202020204" pitchFamily="34" charset="0"/>
                <a:cs typeface="Arial" panose="020B0604020202020204" pitchFamily="34" charset="0"/>
              </a:rPr>
              <a:t>Tôi có đọc tóm tắt hoặc kết luận không?​</a:t>
            </a:r>
          </a:p>
        </p:txBody>
      </p:sp>
      <p:pic>
        <p:nvPicPr>
          <p:cNvPr id="6" name="Content Placeholder 5"/>
          <p:cNvPicPr>
            <a:picLocks noGrp="1" noChangeAspect="1"/>
          </p:cNvPicPr>
          <p:nvPr>
            <p:ph sz="half" idx="1"/>
            <p:custDataLst>
              <p:tags r:id="rId1"/>
            </p:custDataLst>
          </p:nvPr>
        </p:nvPicPr>
        <p:blipFill>
          <a:blip r:embed="rId6"/>
          <a:stretch>
            <a:fillRect/>
          </a:stretch>
        </p:blipFill>
        <p:spPr>
          <a:xfrm>
            <a:off x="10554335" y="699770"/>
            <a:ext cx="1466850" cy="1193800"/>
          </a:xfrm>
          <a:prstGeom prst="rect">
            <a:avLst/>
          </a:prstGeom>
        </p:spPr>
      </p:pic>
      <p:pic>
        <p:nvPicPr>
          <p:cNvPr id="7" name="Content Placeholder 6"/>
          <p:cNvPicPr>
            <a:picLocks noGrp="1" noChangeAspect="1"/>
          </p:cNvPicPr>
          <p:nvPr>
            <p:ph sz="half" idx="2"/>
            <p:custDataLst>
              <p:tags r:id="rId2"/>
            </p:custDataLst>
          </p:nvPr>
        </p:nvPicPr>
        <p:blipFill>
          <a:blip r:embed="rId7"/>
          <a:stretch>
            <a:fillRect/>
          </a:stretch>
        </p:blipFill>
        <p:spPr>
          <a:xfrm>
            <a:off x="6678295" y="2108835"/>
            <a:ext cx="3738245" cy="2091055"/>
          </a:xfrm>
          <a:prstGeom prst="rect">
            <a:avLst/>
          </a:prstGeom>
        </p:spPr>
      </p:pic>
      <p:pic>
        <p:nvPicPr>
          <p:cNvPr id="8" name="Picture 7"/>
          <p:cNvPicPr>
            <a:picLocks noChangeAspect="1"/>
          </p:cNvPicPr>
          <p:nvPr>
            <p:custDataLst>
              <p:tags r:id="rId3"/>
            </p:custDataLst>
          </p:nvPr>
        </p:nvPicPr>
        <p:blipFill>
          <a:blip r:embed="rId8"/>
          <a:stretch>
            <a:fillRect/>
          </a:stretch>
        </p:blipFill>
        <p:spPr>
          <a:xfrm>
            <a:off x="10671810" y="2422525"/>
            <a:ext cx="1219200" cy="1524000"/>
          </a:xfrm>
          <a:prstGeom prst="rect">
            <a:avLst/>
          </a:prstGeom>
        </p:spPr>
      </p:pic>
      <p:sp>
        <p:nvSpPr>
          <p:cNvPr id="10" name="Title 9"/>
          <p:cNvSpPr>
            <a:spLocks noGrp="1"/>
          </p:cNvSpPr>
          <p:nvPr>
            <p:ph type="title"/>
            <p:custDataLst>
              <p:tags r:id="rId4"/>
            </p:custDataLst>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Phát triển kỹ năng đọc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36C28B4-5B52-467A-9173-204C9E91858B}" type="slidenum">
              <a:rPr lang="en-US" smtClean="0"/>
              <a:t>7</a:t>
            </a:fld>
            <a:endParaRPr lang="en-US"/>
          </a:p>
        </p:txBody>
      </p:sp>
      <p:sp>
        <p:nvSpPr>
          <p:cNvPr id="5" name="Text Box 4"/>
          <p:cNvSpPr txBox="1"/>
          <p:nvPr/>
        </p:nvSpPr>
        <p:spPr>
          <a:xfrm>
            <a:off x="247650" y="795655"/>
            <a:ext cx="11760835" cy="460375"/>
          </a:xfrm>
          <a:prstGeom prst="rect">
            <a:avLst/>
          </a:prstGeom>
          <a:noFill/>
        </p:spPr>
        <p:txBody>
          <a:bodyPr wrap="square" rtlCol="0" anchor="t">
            <a:spAutoFit/>
          </a:bodyPr>
          <a:lstStyle/>
          <a:p>
            <a:r>
              <a:rPr lang="en-US" sz="2400" b="1" i="1">
                <a:solidFill>
                  <a:srgbClr val="FF0000"/>
                </a:solidFill>
                <a:latin typeface="Arial" panose="020B0604020202020204" pitchFamily="34" charset="0"/>
                <a:cs typeface="Arial" panose="020B0604020202020204" pitchFamily="34" charset="0"/>
              </a:rPr>
              <a:t>3. Tăng cường sự hiểu biết của bạn về những gì bạn đọc</a:t>
            </a:r>
          </a:p>
        </p:txBody>
      </p:sp>
      <p:sp>
        <p:nvSpPr>
          <p:cNvPr id="6" name="Text Box 5"/>
          <p:cNvSpPr txBox="1"/>
          <p:nvPr/>
        </p:nvSpPr>
        <p:spPr>
          <a:xfrm>
            <a:off x="332740" y="1229995"/>
            <a:ext cx="11643995" cy="5631180"/>
          </a:xfrm>
          <a:prstGeom prst="rect">
            <a:avLst/>
          </a:prstGeom>
          <a:noFill/>
        </p:spPr>
        <p:txBody>
          <a:bodyPr wrap="square" rtlCol="0" anchor="t">
            <a:spAutoFit/>
          </a:bodyPr>
          <a:lstStyle/>
          <a:p>
            <a:pPr algn="just"/>
            <a:r>
              <a:rPr lang="en-US" b="1">
                <a:solidFill>
                  <a:srgbClr val="FF0000"/>
                </a:solidFill>
                <a:latin typeface="Arial" panose="020B0604020202020204" pitchFamily="34" charset="0"/>
                <a:cs typeface="Arial" panose="020B0604020202020204" pitchFamily="34" charset="0"/>
              </a:rPr>
              <a:t>Kiểm tra sự hiểu biết của bạn</a:t>
            </a:r>
          </a:p>
          <a:p>
            <a:pPr indent="457200" algn="just"/>
            <a:r>
              <a:rPr lang="en-US">
                <a:solidFill>
                  <a:srgbClr val="076365"/>
                </a:solidFill>
                <a:latin typeface="Arial" panose="020B0604020202020204" pitchFamily="34" charset="0"/>
                <a:cs typeface="Arial" panose="020B0604020202020204" pitchFamily="34" charset="0"/>
              </a:rPr>
              <a:t>- Nhớ một cách tổng quát mà không cần nhìn vào văn bản?</a:t>
            </a:r>
          </a:p>
          <a:p>
            <a:pPr indent="457200" algn="just"/>
            <a:r>
              <a:rPr lang="en-US">
                <a:solidFill>
                  <a:srgbClr val="076365"/>
                </a:solidFill>
                <a:latin typeface="Arial" panose="020B0604020202020204" pitchFamily="34" charset="0"/>
                <a:cs typeface="Arial" panose="020B0604020202020204" pitchFamily="34" charset="0"/>
              </a:rPr>
              <a:t>- Nói nó bằng vài câu mà không cần nhìn?</a:t>
            </a:r>
          </a:p>
          <a:p>
            <a:pPr indent="457200" algn="just"/>
            <a:r>
              <a:rPr lang="en-US">
                <a:solidFill>
                  <a:srgbClr val="076365"/>
                </a:solidFill>
                <a:latin typeface="Arial" panose="020B0604020202020204" pitchFamily="34" charset="0"/>
                <a:cs typeface="Arial" panose="020B0604020202020204" pitchFamily="34" charset="0"/>
              </a:rPr>
              <a:t>- Giải thích nó thành tiếng (cho người thật hoặc tưởng tượng)?</a:t>
            </a:r>
          </a:p>
          <a:p>
            <a:pPr indent="457200" algn="just"/>
            <a:r>
              <a:rPr lang="en-US">
                <a:solidFill>
                  <a:srgbClr val="076365"/>
                </a:solidFill>
                <a:latin typeface="Arial" panose="020B0604020202020204" pitchFamily="34" charset="0"/>
                <a:cs typeface="Arial" panose="020B0604020202020204" pitchFamily="34" charset="0"/>
              </a:rPr>
              <a:t>- Biến nó thành các câu hỏi và câu trả lời? (Bạn có thể sử dụng chúng để làm thẻ nhớ khi ôn tập).</a:t>
            </a:r>
          </a:p>
          <a:p>
            <a:pPr indent="457200" algn="just"/>
            <a:r>
              <a:rPr lang="en-US">
                <a:solidFill>
                  <a:srgbClr val="076365"/>
                </a:solidFill>
                <a:latin typeface="Arial" panose="020B0604020202020204" pitchFamily="34" charset="0"/>
                <a:cs typeface="Arial" panose="020B0604020202020204" pitchFamily="34" charset="0"/>
              </a:rPr>
              <a:t>- Tái tạo nó dưới dạng sơ đồ hoặc infographic (hoặc qua biểu diễn nếu phù hợp với tài liệu).</a:t>
            </a:r>
          </a:p>
          <a:p>
            <a:pPr algn="just"/>
            <a:r>
              <a:rPr lang="en-US" b="1">
                <a:solidFill>
                  <a:srgbClr val="FF0000"/>
                </a:solidFill>
                <a:latin typeface="Arial" panose="020B0604020202020204" pitchFamily="34" charset="0"/>
                <a:cs typeface="Arial" panose="020B0604020202020204" pitchFamily="34" charset="0"/>
              </a:rPr>
              <a:t>Nhắm đến việc nắm bắt ý tưởng</a:t>
            </a:r>
          </a:p>
          <a:p>
            <a:pPr indent="457200" algn="just"/>
            <a:r>
              <a:rPr lang="en-US">
                <a:solidFill>
                  <a:srgbClr val="076365"/>
                </a:solidFill>
                <a:latin typeface="Arial" panose="020B0604020202020204" pitchFamily="34" charset="0"/>
                <a:cs typeface="Arial" panose="020B0604020202020204" pitchFamily="34" charset="0"/>
              </a:rPr>
              <a:t>- Đọc nhanh một cách hợp lý để bạn có thể nắm bắt những ý chính. Đọc quá chậm hoặc dừng lại thường xuyên để tra nghĩa của từ mới có thể làm khó khăn trong việc nắm bắt thông điệp chính. Nếu có những điều bạn không hiểu ngay lúc đầu, hãy đánh dấu chúng và quay lại sau. Chúng có thể rõ ràng hơn khi bạn đọc tiếp. Nếu không, bạn có thể làm việc qua các phần liên quan chậm hơn, tra từ và khái niệm mà bạn không chắc chắn.</a:t>
            </a:r>
          </a:p>
          <a:p>
            <a:pPr algn="just"/>
            <a:r>
              <a:rPr lang="en-US" b="1">
                <a:solidFill>
                  <a:srgbClr val="FF0000"/>
                </a:solidFill>
                <a:latin typeface="Arial" panose="020B0604020202020204" pitchFamily="34" charset="0"/>
                <a:cs typeface="Arial" panose="020B0604020202020204" pitchFamily="34" charset="0"/>
              </a:rPr>
              <a:t>Tìm kiếm manh mối</a:t>
            </a:r>
          </a:p>
          <a:p>
            <a:pPr indent="457200" algn="just"/>
            <a:r>
              <a:rPr lang="en-US">
                <a:solidFill>
                  <a:srgbClr val="076365"/>
                </a:solidFill>
                <a:latin typeface="Arial" panose="020B0604020202020204" pitchFamily="34" charset="0"/>
                <a:cs typeface="Arial" panose="020B0604020202020204" pitchFamily="34" charset="0"/>
              </a:rPr>
              <a:t>- Lời giới thiệu và kết luận của văn bản, chương hoặc phần giúp thiết lập bối cảnh. Các tiêu đề và tiêu đề phụ có thể gợi ý về những khối kiến thức quan trọng và ý chính trong văn bản.</a:t>
            </a:r>
          </a:p>
          <a:p>
            <a:pPr algn="just"/>
            <a:r>
              <a:rPr lang="en-US" b="1">
                <a:solidFill>
                  <a:srgbClr val="FF0000"/>
                </a:solidFill>
                <a:latin typeface="Arial" panose="020B0604020202020204" pitchFamily="34" charset="0"/>
                <a:cs typeface="Arial" panose="020B0604020202020204" pitchFamily="34" charset="0"/>
              </a:rPr>
              <a:t>Kiểm tra bối cảnh của nó</a:t>
            </a:r>
          </a:p>
          <a:p>
            <a:pPr indent="457200" algn="just"/>
            <a:r>
              <a:rPr lang="en-US">
                <a:solidFill>
                  <a:srgbClr val="076365"/>
                </a:solidFill>
                <a:latin typeface="Arial" panose="020B0604020202020204" pitchFamily="34" charset="0"/>
                <a:cs typeface="Arial" panose="020B0604020202020204" pitchFamily="34" charset="0"/>
              </a:rPr>
              <a:t>- Hiểu rõ ngữ cảnh có thể làm tài liệu dễ hiểu hơn. Ai đã viết nó? Mục đích của họ khi viết là gì? Họ đang cố gắng chứng minh lập luận nào hoặc giải quyết vấn đề nào? Họ có những mục tiêu cụ thể nào trong tâm trí?</a:t>
            </a:r>
          </a:p>
          <a:p>
            <a:pPr algn="just"/>
            <a:r>
              <a:rPr lang="en-US" b="1">
                <a:solidFill>
                  <a:srgbClr val="FF0000"/>
                </a:solidFill>
                <a:latin typeface="Arial" panose="020B0604020202020204" pitchFamily="34" charset="0"/>
                <a:cs typeface="Arial" panose="020B0604020202020204" pitchFamily="34" charset="0"/>
              </a:rPr>
              <a:t>Đánh dấu chọn lọc</a:t>
            </a:r>
          </a:p>
          <a:p>
            <a:pPr indent="457200" algn="just"/>
            <a:r>
              <a:rPr lang="en-US">
                <a:solidFill>
                  <a:srgbClr val="076365"/>
                </a:solidFill>
                <a:latin typeface="Arial" panose="020B0604020202020204" pitchFamily="34" charset="0"/>
                <a:cs typeface="Arial" panose="020B0604020202020204" pitchFamily="34" charset="0"/>
              </a:rPr>
              <a:t>- Nếu bạn gạch chân hoặc đánh dấu mọi thứ, cái gì sẽ nổi bật là quan trọng. Xác định một vài từ khóa hoặc tiêu đề quan trọng. Ghi chú bằng sao hoặc nhận xét để chỉ ra những điểm quan trọng nhất.</a:t>
            </a:r>
          </a:p>
        </p:txBody>
      </p:sp>
      <p:pic>
        <p:nvPicPr>
          <p:cNvPr id="7" name="Content Placeholder 6"/>
          <p:cNvPicPr>
            <a:picLocks noGrp="1" noChangeAspect="1"/>
          </p:cNvPicPr>
          <p:nvPr>
            <p:ph idx="1"/>
            <p:custDataLst>
              <p:tags r:id="rId1"/>
            </p:custDataLst>
          </p:nvPr>
        </p:nvPicPr>
        <p:blipFill>
          <a:blip r:embed="rId4"/>
          <a:stretch>
            <a:fillRect/>
          </a:stretch>
        </p:blipFill>
        <p:spPr>
          <a:xfrm>
            <a:off x="9395460" y="739140"/>
            <a:ext cx="2320925" cy="1570990"/>
          </a:xfrm>
          <a:prstGeom prst="rect">
            <a:avLst/>
          </a:prstGeom>
        </p:spPr>
      </p:pic>
      <p:sp>
        <p:nvSpPr>
          <p:cNvPr id="9" name="Title 8"/>
          <p:cNvSpPr>
            <a:spLocks noGrp="1"/>
          </p:cNvSpPr>
          <p:nvPr>
            <p:ph type="title"/>
            <p:custDataLst>
              <p:tags r:id="rId2"/>
            </p:custDataLst>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Phát triển kỹ năng đọc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36C28B4-5B52-467A-9173-204C9E91858B}" type="slidenum">
              <a:rPr lang="en-US" smtClean="0"/>
              <a:t>8</a:t>
            </a:fld>
            <a:endParaRPr lang="en-US"/>
          </a:p>
        </p:txBody>
      </p:sp>
      <p:sp>
        <p:nvSpPr>
          <p:cNvPr id="5" name="Text Box 4"/>
          <p:cNvSpPr txBox="1"/>
          <p:nvPr/>
        </p:nvSpPr>
        <p:spPr>
          <a:xfrm>
            <a:off x="333375" y="719455"/>
            <a:ext cx="7065645" cy="5487035"/>
          </a:xfrm>
          <a:prstGeom prst="rect">
            <a:avLst/>
          </a:prstGeom>
          <a:noFill/>
        </p:spPr>
        <p:txBody>
          <a:bodyPr wrap="square" rtlCol="0" anchor="t">
            <a:spAutoFit/>
          </a:bodyPr>
          <a:lstStyle/>
          <a:p>
            <a:pPr algn="just">
              <a:lnSpc>
                <a:spcPct val="130000"/>
              </a:lnSpc>
            </a:pPr>
            <a:r>
              <a:rPr lang="en-US" b="1" i="1">
                <a:solidFill>
                  <a:srgbClr val="FF0000"/>
                </a:solidFill>
                <a:latin typeface="Arial" panose="020B0604020202020204" pitchFamily="34" charset="0"/>
                <a:cs typeface="Arial" panose="020B0604020202020204" pitchFamily="34" charset="0"/>
              </a:rPr>
              <a:t>Sử dụng chiến lược học tập C.R.E.A.M</a:t>
            </a:r>
            <a:r>
              <a:rPr lang="en-US">
                <a:solidFill>
                  <a:srgbClr val="076365"/>
                </a:solidFill>
                <a:latin typeface="Arial" panose="020B0604020202020204" pitchFamily="34" charset="0"/>
                <a:cs typeface="Arial" panose="020B0604020202020204" pitchFamily="34" charset="0"/>
              </a:rPr>
              <a:t> trong sách "The Study Skills Handbook" của Stella Cottrell vào việc đọc của mình:</a:t>
            </a:r>
          </a:p>
          <a:p>
            <a:pPr indent="457200" algn="just">
              <a:lnSpc>
                <a:spcPct val="130000"/>
              </a:lnSpc>
            </a:pPr>
            <a:r>
              <a:rPr lang="en-US" b="1">
                <a:solidFill>
                  <a:srgbClr val="076365"/>
                </a:solidFill>
                <a:latin typeface="Arial" panose="020B0604020202020204" pitchFamily="34" charset="0"/>
                <a:cs typeface="Arial" panose="020B0604020202020204" pitchFamily="34" charset="0"/>
              </a:rPr>
              <a:t>C – Creative (Sáng tạo):</a:t>
            </a:r>
            <a:r>
              <a:rPr lang="en-US">
                <a:solidFill>
                  <a:srgbClr val="076365"/>
                </a:solidFill>
                <a:latin typeface="Arial" panose="020B0604020202020204" pitchFamily="34" charset="0"/>
                <a:cs typeface="Arial" panose="020B0604020202020204" pitchFamily="34" charset="0"/>
              </a:rPr>
              <a:t> Có sự tự tin để áp dụng trí tưởng tượng vào việc học và giải quyết vấn đề.</a:t>
            </a:r>
          </a:p>
          <a:p>
            <a:pPr indent="457200" algn="just">
              <a:lnSpc>
                <a:spcPct val="130000"/>
              </a:lnSpc>
            </a:pPr>
            <a:r>
              <a:rPr lang="en-US" b="1">
                <a:solidFill>
                  <a:srgbClr val="076365"/>
                </a:solidFill>
                <a:latin typeface="Arial" panose="020B0604020202020204" pitchFamily="34" charset="0"/>
                <a:cs typeface="Arial" panose="020B0604020202020204" pitchFamily="34" charset="0"/>
              </a:rPr>
              <a:t>R – Reflective (Phản biện): </a:t>
            </a:r>
            <a:r>
              <a:rPr lang="en-US">
                <a:solidFill>
                  <a:srgbClr val="076365"/>
                </a:solidFill>
                <a:latin typeface="Arial" panose="020B0604020202020204" pitchFamily="34" charset="0"/>
                <a:cs typeface="Arial" panose="020B0604020202020204" pitchFamily="34" charset="0"/>
              </a:rPr>
              <a:t>Có khả năng suy ngẫm về trải nghiệm của mình, phân tích và đánh giá hiệu suất của bản thân, và rút ra bài học từ đó.</a:t>
            </a:r>
          </a:p>
          <a:p>
            <a:pPr indent="457200" algn="just">
              <a:lnSpc>
                <a:spcPct val="130000"/>
              </a:lnSpc>
            </a:pPr>
            <a:r>
              <a:rPr lang="en-US" b="1">
                <a:solidFill>
                  <a:srgbClr val="076365"/>
                </a:solidFill>
                <a:latin typeface="Arial" panose="020B0604020202020204" pitchFamily="34" charset="0"/>
                <a:cs typeface="Arial" panose="020B0604020202020204" pitchFamily="34" charset="0"/>
              </a:rPr>
              <a:t>E – Effective (Hiệu quả): </a:t>
            </a:r>
            <a:r>
              <a:rPr lang="en-US">
                <a:solidFill>
                  <a:srgbClr val="076365"/>
                </a:solidFill>
                <a:latin typeface="Arial" panose="020B0604020202020204" pitchFamily="34" charset="0"/>
                <a:cs typeface="Arial" panose="020B0604020202020204" pitchFamily="34" charset="0"/>
              </a:rPr>
              <a:t>Tổ chức thời gian, không gian, ưu tiên, trạng thái tâm trí, tài nguyên và việc sử dụng công nghệ để đạt được lợi ích tối đa.</a:t>
            </a:r>
          </a:p>
          <a:p>
            <a:pPr indent="457200" algn="just">
              <a:lnSpc>
                <a:spcPct val="130000"/>
              </a:lnSpc>
            </a:pPr>
            <a:r>
              <a:rPr lang="en-US" b="1">
                <a:solidFill>
                  <a:srgbClr val="076365"/>
                </a:solidFill>
                <a:latin typeface="Arial" panose="020B0604020202020204" pitchFamily="34" charset="0"/>
                <a:cs typeface="Arial" panose="020B0604020202020204" pitchFamily="34" charset="0"/>
              </a:rPr>
              <a:t>A – Active (Chủ động): </a:t>
            </a:r>
            <a:r>
              <a:rPr lang="en-US">
                <a:solidFill>
                  <a:srgbClr val="076365"/>
                </a:solidFill>
                <a:latin typeface="Arial" panose="020B0604020202020204" pitchFamily="34" charset="0"/>
                <a:cs typeface="Arial" panose="020B0604020202020204" pitchFamily="34" charset="0"/>
              </a:rPr>
              <a:t>Tham gia tích cực cả về mặt thể chất và tinh thần trong việc hiểu những gì bạn học.</a:t>
            </a:r>
          </a:p>
          <a:p>
            <a:pPr indent="457200" algn="just">
              <a:lnSpc>
                <a:spcPct val="130000"/>
              </a:lnSpc>
            </a:pPr>
            <a:r>
              <a:rPr lang="en-US" b="1">
                <a:solidFill>
                  <a:srgbClr val="076365"/>
                </a:solidFill>
                <a:latin typeface="Arial" panose="020B0604020202020204" pitchFamily="34" charset="0"/>
                <a:cs typeface="Arial" panose="020B0604020202020204" pitchFamily="34" charset="0"/>
              </a:rPr>
              <a:t>M – Motivated (Động lực): </a:t>
            </a:r>
            <a:r>
              <a:rPr lang="en-US">
                <a:solidFill>
                  <a:srgbClr val="076365"/>
                </a:solidFill>
                <a:latin typeface="Arial" panose="020B0604020202020204" pitchFamily="34" charset="0"/>
                <a:cs typeface="Arial" panose="020B0604020202020204" pitchFamily="34" charset="0"/>
              </a:rPr>
              <a:t>Rõ ràng về các kết quả bạn muốn đạt được, các bước cần thực hiện để đạt được chúng và những gì bạn sẽ làm để duy trì sự tham gia và nhiệt huyết​</a:t>
            </a:r>
          </a:p>
        </p:txBody>
      </p:sp>
      <p:pic>
        <p:nvPicPr>
          <p:cNvPr id="6" name="Content Placeholder 5"/>
          <p:cNvPicPr>
            <a:picLocks noGrp="1" noChangeAspect="1"/>
          </p:cNvPicPr>
          <p:nvPr>
            <p:ph sz="half" idx="1"/>
            <p:custDataLst>
              <p:tags r:id="rId1"/>
            </p:custDataLst>
          </p:nvPr>
        </p:nvPicPr>
        <p:blipFill>
          <a:blip r:embed="rId6"/>
          <a:stretch>
            <a:fillRect/>
          </a:stretch>
        </p:blipFill>
        <p:spPr>
          <a:xfrm>
            <a:off x="7575550" y="3896995"/>
            <a:ext cx="2057400" cy="2806700"/>
          </a:xfrm>
          <a:prstGeom prst="rect">
            <a:avLst/>
          </a:prstGeom>
        </p:spPr>
      </p:pic>
      <p:pic>
        <p:nvPicPr>
          <p:cNvPr id="7" name="Content Placeholder 6"/>
          <p:cNvPicPr>
            <a:picLocks noGrp="1" noChangeAspect="1"/>
          </p:cNvPicPr>
          <p:nvPr>
            <p:ph sz="half" idx="2"/>
            <p:custDataLst>
              <p:tags r:id="rId2"/>
            </p:custDataLst>
          </p:nvPr>
        </p:nvPicPr>
        <p:blipFill>
          <a:blip r:embed="rId7"/>
          <a:stretch>
            <a:fillRect/>
          </a:stretch>
        </p:blipFill>
        <p:spPr>
          <a:xfrm>
            <a:off x="7513320" y="847090"/>
            <a:ext cx="4617720" cy="2964180"/>
          </a:xfrm>
          <a:prstGeom prst="rect">
            <a:avLst/>
          </a:prstGeom>
        </p:spPr>
      </p:pic>
      <p:pic>
        <p:nvPicPr>
          <p:cNvPr id="9" name="Picture 8"/>
          <p:cNvPicPr>
            <a:picLocks noChangeAspect="1"/>
          </p:cNvPicPr>
          <p:nvPr>
            <p:custDataLst>
              <p:tags r:id="rId3"/>
            </p:custDataLst>
          </p:nvPr>
        </p:nvPicPr>
        <p:blipFill>
          <a:blip r:embed="rId8"/>
          <a:stretch>
            <a:fillRect/>
          </a:stretch>
        </p:blipFill>
        <p:spPr>
          <a:xfrm>
            <a:off x="9736455" y="3863975"/>
            <a:ext cx="2346960" cy="2856865"/>
          </a:xfrm>
          <a:prstGeom prst="rect">
            <a:avLst/>
          </a:prstGeom>
        </p:spPr>
      </p:pic>
      <p:sp>
        <p:nvSpPr>
          <p:cNvPr id="11" name="Title 10"/>
          <p:cNvSpPr>
            <a:spLocks noGrp="1"/>
          </p:cNvSpPr>
          <p:nvPr>
            <p:ph type="title"/>
            <p:custDataLst>
              <p:tags r:id="rId4"/>
            </p:custDataLst>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Phát triển kỹ năng đọc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36C28B4-5B52-467A-9173-204C9E91858B}" type="slidenum">
              <a:rPr lang="en-US" smtClean="0"/>
              <a:t>9</a:t>
            </a:fld>
            <a:endParaRPr lang="en-US"/>
          </a:p>
        </p:txBody>
      </p:sp>
      <p:sp>
        <p:nvSpPr>
          <p:cNvPr id="6" name="Title 5"/>
          <p:cNvSpPr>
            <a:spLocks noGrp="1"/>
          </p:cNvSpPr>
          <p:nvPr>
            <p:ph type="title"/>
            <p:custDataLst>
              <p:tags r:id="rId1"/>
            </p:custDataLst>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Chiến lược đọc</a:t>
            </a:r>
          </a:p>
        </p:txBody>
      </p:sp>
      <p:sp>
        <p:nvSpPr>
          <p:cNvPr id="7" name="Text Box 6"/>
          <p:cNvSpPr txBox="1"/>
          <p:nvPr/>
        </p:nvSpPr>
        <p:spPr>
          <a:xfrm>
            <a:off x="321945" y="780415"/>
            <a:ext cx="8427720" cy="5911850"/>
          </a:xfrm>
          <a:prstGeom prst="rect">
            <a:avLst/>
          </a:prstGeom>
          <a:noFill/>
        </p:spPr>
        <p:txBody>
          <a:bodyPr wrap="square" rtlCol="0" anchor="t">
            <a:spAutoFit/>
          </a:bodyPr>
          <a:lstStyle/>
          <a:p>
            <a:pPr algn="just">
              <a:lnSpc>
                <a:spcPct val="110000"/>
              </a:lnSpc>
            </a:pPr>
            <a:r>
              <a:rPr lang="en-US" sz="2000" b="1" i="1">
                <a:solidFill>
                  <a:srgbClr val="FF0000"/>
                </a:solidFill>
                <a:latin typeface="Arial" panose="020B0604020202020204" pitchFamily="34" charset="0"/>
                <a:cs typeface="Arial" panose="020B0604020202020204" pitchFamily="34" charset="0"/>
              </a:rPr>
              <a:t>Chiến lược đọc phản biện (Critical Reading)</a:t>
            </a:r>
          </a:p>
          <a:p>
            <a:pPr algn="just">
              <a:lnSpc>
                <a:spcPct val="110000"/>
              </a:lnSpc>
            </a:pPr>
            <a:r>
              <a:rPr lang="en-US">
                <a:solidFill>
                  <a:srgbClr val="076365"/>
                </a:solidFill>
                <a:latin typeface="Arial" panose="020B0604020202020204" pitchFamily="34" charset="0"/>
                <a:cs typeface="Arial" panose="020B0604020202020204" pitchFamily="34" charset="0"/>
              </a:rPr>
              <a:t>Dưới đây là một số chiến lược đọc phản biện hiệu quả dành cho bạn:</a:t>
            </a:r>
          </a:p>
          <a:p>
            <a:pPr algn="just">
              <a:lnSpc>
                <a:spcPct val="110000"/>
              </a:lnSpc>
            </a:pPr>
            <a:r>
              <a:rPr lang="en-US" b="1">
                <a:solidFill>
                  <a:srgbClr val="076365"/>
                </a:solidFill>
                <a:latin typeface="Arial" panose="020B0604020202020204" pitchFamily="34" charset="0"/>
                <a:cs typeface="Arial" panose="020B0604020202020204" pitchFamily="34" charset="0"/>
              </a:rPr>
              <a:t>1. Xem trước (Previewing):</a:t>
            </a:r>
            <a:r>
              <a:rPr lang="en-US">
                <a:solidFill>
                  <a:srgbClr val="076365"/>
                </a:solidFill>
                <a:latin typeface="Arial" panose="020B0604020202020204" pitchFamily="34" charset="0"/>
                <a:cs typeface="Arial" panose="020B0604020202020204" pitchFamily="34" charset="0"/>
              </a:rPr>
              <a:t> Tác giả là ai? Mục đích của tác giả là gì? Độc giả mà tác giả hướng tới là ai?</a:t>
            </a:r>
          </a:p>
          <a:p>
            <a:pPr algn="just">
              <a:lnSpc>
                <a:spcPct val="110000"/>
              </a:lnSpc>
            </a:pPr>
            <a:r>
              <a:rPr lang="en-US" b="1">
                <a:solidFill>
                  <a:srgbClr val="076365"/>
                </a:solidFill>
                <a:latin typeface="Arial" panose="020B0604020202020204" pitchFamily="34" charset="0"/>
                <a:cs typeface="Arial" panose="020B0604020202020204" pitchFamily="34" charset="0"/>
              </a:rPr>
              <a:t>2. Ngữ cảnh hóa: </a:t>
            </a:r>
            <a:r>
              <a:rPr lang="en-US">
                <a:solidFill>
                  <a:srgbClr val="076365"/>
                </a:solidFill>
                <a:latin typeface="Arial" panose="020B0604020202020204" pitchFamily="34" charset="0"/>
                <a:cs typeface="Arial" panose="020B0604020202020204" pitchFamily="34" charset="0"/>
              </a:rPr>
              <a:t>Thiết lập ngữ cảnh hay nghiên cứu văn bản bao gồm việc khám phá khung tham chiếu lịch sử, văn hóa và tiểu sử của văn bản.</a:t>
            </a:r>
          </a:p>
          <a:p>
            <a:pPr algn="just">
              <a:lnSpc>
                <a:spcPct val="110000"/>
              </a:lnSpc>
            </a:pPr>
            <a:r>
              <a:rPr lang="en-US" b="1">
                <a:solidFill>
                  <a:srgbClr val="076365"/>
                </a:solidFill>
                <a:latin typeface="Arial" panose="020B0604020202020204" pitchFamily="34" charset="0"/>
                <a:cs typeface="Arial" panose="020B0604020202020204" pitchFamily="34" charset="0"/>
              </a:rPr>
              <a:t>3. Điều tra</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Chủ đề-Văn bản (đại diện cho chủ đề hoặc văn bản đang được thảo luận)</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Thực tế cá nhân (đại diện cho kinh nghiệm của riêng bạn)</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Thực tế bên ngoài (đại diện cho các khái niệm về xã hội có quy mô lớn hơn)</a:t>
            </a:r>
          </a:p>
          <a:p>
            <a:pPr algn="just">
              <a:lnSpc>
                <a:spcPct val="110000"/>
              </a:lnSpc>
            </a:pPr>
            <a:r>
              <a:rPr lang="en-US" b="1">
                <a:solidFill>
                  <a:srgbClr val="076365"/>
                </a:solidFill>
                <a:latin typeface="Arial" panose="020B0604020202020204" pitchFamily="34" charset="0"/>
                <a:cs typeface="Arial" panose="020B0604020202020204" pitchFamily="34" charset="0"/>
              </a:rPr>
              <a:t>4. Tóm tắt (Synopsizing)</a:t>
            </a:r>
          </a:p>
          <a:p>
            <a:pPr algn="just">
              <a:lnSpc>
                <a:spcPct val="110000"/>
              </a:lnSpc>
            </a:pPr>
            <a:r>
              <a:rPr lang="en-US" b="1">
                <a:solidFill>
                  <a:srgbClr val="076365"/>
                </a:solidFill>
                <a:latin typeface="Arial" panose="020B0604020202020204" pitchFamily="34" charset="0"/>
                <a:cs typeface="Arial" panose="020B0604020202020204" pitchFamily="34" charset="0"/>
              </a:rPr>
              <a:t>5. Tương quan với các văn bản có liên quan</a:t>
            </a:r>
          </a:p>
          <a:p>
            <a:pPr algn="just">
              <a:lnSpc>
                <a:spcPct val="110000"/>
              </a:lnSpc>
            </a:pPr>
            <a:r>
              <a:rPr lang="en-US" b="1">
                <a:solidFill>
                  <a:srgbClr val="076365"/>
                </a:solidFill>
                <a:latin typeface="Arial" panose="020B0604020202020204" pitchFamily="34" charset="0"/>
                <a:cs typeface="Arial" panose="020B0604020202020204" pitchFamily="34" charset="0"/>
              </a:rPr>
              <a:t>6. Đánh giá một lập luận:</a:t>
            </a:r>
            <a:r>
              <a:rPr lang="en-US">
                <a:solidFill>
                  <a:srgbClr val="076365"/>
                </a:solidFill>
                <a:latin typeface="Arial" panose="020B0604020202020204" pitchFamily="34" charset="0"/>
                <a:cs typeface="Arial" panose="020B0604020202020204" pitchFamily="34" charset="0"/>
              </a:rPr>
              <a:t> bằng 4 bước sau:</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Bạn nên xem kỹ các hướng dẫn và lập luận</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Sau đó, chỉ ra các giả định và yêu cầu của lập luận</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Bây giờ bạn nên nghĩ về các giải thích ngược lại và ví dụ về các lập luận.</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Cuối cùng, hãy tự hỏi bản thân về những thay đổi có thể được thực hiện.</a:t>
            </a:r>
          </a:p>
          <a:p>
            <a:pPr algn="just">
              <a:lnSpc>
                <a:spcPct val="110000"/>
              </a:lnSpc>
            </a:pPr>
            <a:r>
              <a:rPr lang="en-US" b="1">
                <a:solidFill>
                  <a:srgbClr val="076365"/>
                </a:solidFill>
                <a:latin typeface="Arial" panose="020B0604020202020204" pitchFamily="34" charset="0"/>
                <a:cs typeface="Arial" panose="020B0604020202020204" pitchFamily="34" charset="0"/>
              </a:rPr>
              <a:t>7. Kích hoạt kiến ​​thức trước đó</a:t>
            </a:r>
          </a:p>
        </p:txBody>
      </p:sp>
      <p:sp>
        <p:nvSpPr>
          <p:cNvPr id="8" name="Cloud Callout 7"/>
          <p:cNvSpPr/>
          <p:nvPr/>
        </p:nvSpPr>
        <p:spPr>
          <a:xfrm>
            <a:off x="8816975" y="734060"/>
            <a:ext cx="3300730" cy="3865245"/>
          </a:xfrm>
          <a:prstGeom prst="cloudCallout">
            <a:avLst/>
          </a:prstGeom>
        </p:spPr>
        <p:style>
          <a:lnRef idx="0">
            <a:srgbClr val="FFFFFF"/>
          </a:lnRef>
          <a:fillRef idx="1">
            <a:schemeClr val="accent1"/>
          </a:fillRef>
          <a:effectRef idx="0">
            <a:srgbClr val="FFFFFF"/>
          </a:effectRef>
          <a:fontRef idx="minor">
            <a:schemeClr val="lt1"/>
          </a:fontRef>
        </p:style>
        <p:txBody>
          <a:bodyPr rtlCol="0" anchor="ctr"/>
          <a:lstStyle/>
          <a:p>
            <a:pPr indent="457200" algn="just"/>
            <a:r>
              <a:rPr lang="en-US" i="1">
                <a:latin typeface="Arial" panose="020B0604020202020204" pitchFamily="34" charset="0"/>
                <a:cs typeface="Arial" panose="020B0604020202020204" pitchFamily="34" charset="0"/>
              </a:rPr>
              <a:t>Đây là phương pháp đọc một văn bản trong khi ta định hình trong đầu một số khái niệm đã được tiếp thu trước đó. Điều này sẽ cho phép bạn hiểu rõ hơn về văn bản.</a:t>
            </a:r>
          </a:p>
        </p:txBody>
      </p:sp>
      <p:pic>
        <p:nvPicPr>
          <p:cNvPr id="9" name="Content Placeholder 8"/>
          <p:cNvPicPr>
            <a:picLocks noGrp="1" noChangeAspect="1"/>
          </p:cNvPicPr>
          <p:nvPr>
            <p:ph idx="1"/>
            <p:custDataLst>
              <p:tags r:id="rId2"/>
            </p:custDataLst>
          </p:nvPr>
        </p:nvPicPr>
        <p:blipFill>
          <a:blip r:embed="rId4"/>
          <a:stretch>
            <a:fillRect/>
          </a:stretch>
        </p:blipFill>
        <p:spPr>
          <a:xfrm>
            <a:off x="9420860" y="5113655"/>
            <a:ext cx="1800225" cy="13182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36C28B4-5B52-467A-9173-204C9E91858B}" type="slidenum">
              <a:rPr lang="en-US" smtClean="0"/>
              <a:t>10</a:t>
            </a:fld>
            <a:endParaRPr lang="en-US"/>
          </a:p>
        </p:txBody>
      </p:sp>
      <p:sp>
        <p:nvSpPr>
          <p:cNvPr id="6" name="Title 5"/>
          <p:cNvSpPr>
            <a:spLocks noGrp="1"/>
          </p:cNvSpPr>
          <p:nvPr>
            <p:ph type="title"/>
            <p:custDataLst>
              <p:tags r:id="rId1"/>
            </p:custDataLst>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Chiến lược đọc</a:t>
            </a:r>
          </a:p>
        </p:txBody>
      </p:sp>
      <p:sp>
        <p:nvSpPr>
          <p:cNvPr id="7" name="Text Box 6"/>
          <p:cNvSpPr txBox="1"/>
          <p:nvPr/>
        </p:nvSpPr>
        <p:spPr>
          <a:xfrm>
            <a:off x="321945" y="729615"/>
            <a:ext cx="8427720" cy="5607685"/>
          </a:xfrm>
          <a:prstGeom prst="rect">
            <a:avLst/>
          </a:prstGeom>
          <a:noFill/>
        </p:spPr>
        <p:txBody>
          <a:bodyPr wrap="square" rtlCol="0" anchor="t">
            <a:spAutoFit/>
          </a:bodyPr>
          <a:lstStyle/>
          <a:p>
            <a:pPr algn="just">
              <a:lnSpc>
                <a:spcPct val="110000"/>
              </a:lnSpc>
            </a:pPr>
            <a:r>
              <a:rPr lang="en-US" sz="2000" b="1" i="1">
                <a:solidFill>
                  <a:srgbClr val="FF0000"/>
                </a:solidFill>
                <a:latin typeface="Arial" panose="020B0604020202020204" pitchFamily="34" charset="0"/>
                <a:cs typeface="Arial" panose="020B0604020202020204" pitchFamily="34" charset="0"/>
              </a:rPr>
              <a:t>Chiến lược đọc học thuật (Academic Reading Strategies)</a:t>
            </a:r>
          </a:p>
          <a:p>
            <a:pPr algn="just">
              <a:lnSpc>
                <a:spcPct val="110000"/>
              </a:lnSpc>
            </a:pPr>
            <a:r>
              <a:rPr lang="en-US">
                <a:solidFill>
                  <a:srgbClr val="076365"/>
                </a:solidFill>
                <a:latin typeface="Arial" panose="020B0604020202020204" pitchFamily="34" charset="0"/>
                <a:cs typeface="Arial" panose="020B0604020202020204" pitchFamily="34" charset="0"/>
              </a:rPr>
              <a:t>Dưới đây là một số chiến lược đọc học thuật:</a:t>
            </a:r>
          </a:p>
          <a:p>
            <a:pPr algn="just">
              <a:lnSpc>
                <a:spcPct val="110000"/>
              </a:lnSpc>
            </a:pPr>
            <a:r>
              <a:rPr lang="en-US" b="1">
                <a:solidFill>
                  <a:srgbClr val="076365"/>
                </a:solidFill>
                <a:latin typeface="Arial" panose="020B0604020202020204" pitchFamily="34" charset="0"/>
                <a:cs typeface="Arial" panose="020B0604020202020204" pitchFamily="34" charset="0"/>
              </a:rPr>
              <a:t>1. Scanning: </a:t>
            </a:r>
            <a:r>
              <a:rPr lang="en-US">
                <a:solidFill>
                  <a:srgbClr val="076365"/>
                </a:solidFill>
                <a:latin typeface="Arial" panose="020B0604020202020204" pitchFamily="34" charset="0"/>
                <a:cs typeface="Arial" panose="020B0604020202020204" pitchFamily="34" charset="0"/>
              </a:rPr>
              <a:t>là quá trình quét:</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Tìm ra các từ khóa từ câu hỏi.</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Bạn nên scan riêng cho từng câu hỏi.</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Khi bạn định vị lại từ khóa, hãy xem qua các đoạn văn bản xung quanh.</a:t>
            </a:r>
          </a:p>
          <a:p>
            <a:pPr algn="just">
              <a:lnSpc>
                <a:spcPct val="110000"/>
              </a:lnSpc>
            </a:pPr>
            <a:r>
              <a:rPr lang="en-US" b="1">
                <a:solidFill>
                  <a:srgbClr val="076365"/>
                </a:solidFill>
                <a:latin typeface="Arial" panose="020B0604020202020204" pitchFamily="34" charset="0"/>
                <a:cs typeface="Arial" panose="020B0604020202020204" pitchFamily="34" charset="0"/>
              </a:rPr>
              <a:t>2. Skimming: </a:t>
            </a:r>
            <a:r>
              <a:rPr lang="en-US">
                <a:solidFill>
                  <a:srgbClr val="076365"/>
                </a:solidFill>
                <a:latin typeface="Arial" panose="020B0604020202020204" pitchFamily="34" charset="0"/>
                <a:cs typeface="Arial" panose="020B0604020202020204" pitchFamily="34" charset="0"/>
              </a:rPr>
              <a:t>Đây là một kỹ thuật gần như tương đồng với kỹ thuật scanning, nhưng mục đích của nó là </a:t>
            </a:r>
            <a:r>
              <a:rPr lang="en-US" b="1">
                <a:solidFill>
                  <a:srgbClr val="FF0000"/>
                </a:solidFill>
                <a:latin typeface="Arial" panose="020B0604020202020204" pitchFamily="34" charset="0"/>
                <a:cs typeface="Arial" panose="020B0604020202020204" pitchFamily="34" charset="0"/>
              </a:rPr>
              <a:t>thu thập các điểm chính</a:t>
            </a:r>
            <a:r>
              <a:rPr lang="en-US">
                <a:solidFill>
                  <a:srgbClr val="076365"/>
                </a:solidFill>
                <a:latin typeface="Arial" panose="020B0604020202020204" pitchFamily="34" charset="0"/>
                <a:cs typeface="Arial" panose="020B0604020202020204" pitchFamily="34" charset="0"/>
              </a:rPr>
              <a:t> của văn bản từ một góc nhìn rộng hơn. Người đọc lướt tốt không đọc lướt (skim) mọi thứ. Bạn có thể làm điều đó một cách khôn ngoan bằng cách giảm tốc độ đọc của mình ở những phần như:</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Đoạn văn giới thiệu và kết luận</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Câu chủ đề</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Những từ không quen thuộc</a:t>
            </a:r>
          </a:p>
          <a:p>
            <a:pPr algn="just">
              <a:lnSpc>
                <a:spcPct val="110000"/>
              </a:lnSpc>
            </a:pPr>
            <a:r>
              <a:rPr lang="en-US" b="1">
                <a:solidFill>
                  <a:srgbClr val="076365"/>
                </a:solidFill>
                <a:latin typeface="Arial" panose="020B0604020202020204" pitchFamily="34" charset="0"/>
                <a:cs typeface="Arial" panose="020B0604020202020204" pitchFamily="34" charset="0"/>
              </a:rPr>
              <a:t>3. Đọc chuyên sâu</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Nó liên quan đến việc đọc từng câu hơn là đọc từng từ một.</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Bạn nên đọc chi tiết từng câu từ đầu đến cuối và qua đó, phân tích ý nghĩa hoàn chỉnh của văn bản.</a:t>
            </a:r>
          </a:p>
        </p:txBody>
      </p:sp>
      <p:sp>
        <p:nvSpPr>
          <p:cNvPr id="8" name="Cloud Callout 7"/>
          <p:cNvSpPr/>
          <p:nvPr/>
        </p:nvSpPr>
        <p:spPr>
          <a:xfrm>
            <a:off x="8816975" y="734060"/>
            <a:ext cx="3300730" cy="4098290"/>
          </a:xfrm>
          <a:prstGeom prst="cloudCallout">
            <a:avLst/>
          </a:prstGeom>
        </p:spPr>
        <p:style>
          <a:lnRef idx="0">
            <a:srgbClr val="FFFFFF"/>
          </a:lnRef>
          <a:fillRef idx="1">
            <a:schemeClr val="accent1"/>
          </a:fillRef>
          <a:effectRef idx="0">
            <a:srgbClr val="FFFFFF"/>
          </a:effectRef>
          <a:fontRef idx="minor">
            <a:schemeClr val="lt1"/>
          </a:fontRef>
        </p:style>
        <p:txBody>
          <a:bodyPr rtlCol="0" anchor="ctr"/>
          <a:lstStyle/>
          <a:p>
            <a:pPr indent="457200" algn="just"/>
            <a:r>
              <a:rPr lang="en-US" sz="1700" i="1">
                <a:latin typeface="Arial" panose="020B0604020202020204" pitchFamily="34" charset="0"/>
                <a:cs typeface="Arial" panose="020B0604020202020204" pitchFamily="34" charset="0"/>
              </a:rPr>
              <a:t>Là một sinh viên, một trong những thách thức lớn nhất bạn phải đối mặt là hoàn thành việc đọc các văn bản học thuật. Vì vậy, nếu bạn biết các chiến lược đọc học thuật khác nhau, bạn sẽ yêu thích việc đọc chúng</a:t>
            </a:r>
          </a:p>
        </p:txBody>
      </p:sp>
      <p:pic>
        <p:nvPicPr>
          <p:cNvPr id="9" name="Content Placeholder 8"/>
          <p:cNvPicPr>
            <a:picLocks noGrp="1" noChangeAspect="1"/>
          </p:cNvPicPr>
          <p:nvPr>
            <p:ph idx="1"/>
            <p:custDataLst>
              <p:tags r:id="rId2"/>
            </p:custDataLst>
          </p:nvPr>
        </p:nvPicPr>
        <p:blipFill>
          <a:blip r:embed="rId4"/>
          <a:stretch>
            <a:fillRect/>
          </a:stretch>
        </p:blipFill>
        <p:spPr>
          <a:xfrm>
            <a:off x="9420860" y="5113655"/>
            <a:ext cx="1800225" cy="13182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36C28B4-5B52-467A-9173-204C9E91858B}" type="slidenum">
              <a:rPr lang="en-US" smtClean="0"/>
              <a:t>11</a:t>
            </a:fld>
            <a:endParaRPr lang="en-US"/>
          </a:p>
        </p:txBody>
      </p:sp>
      <p:sp>
        <p:nvSpPr>
          <p:cNvPr id="6" name="Title 5"/>
          <p:cNvSpPr>
            <a:spLocks noGrp="1"/>
          </p:cNvSpPr>
          <p:nvPr>
            <p:ph type="title"/>
            <p:custDataLst>
              <p:tags r:id="rId1"/>
            </p:custDataLst>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Chiến lược đọc</a:t>
            </a:r>
          </a:p>
        </p:txBody>
      </p:sp>
      <p:sp>
        <p:nvSpPr>
          <p:cNvPr id="7" name="Text Box 6"/>
          <p:cNvSpPr txBox="1"/>
          <p:nvPr/>
        </p:nvSpPr>
        <p:spPr>
          <a:xfrm>
            <a:off x="321945" y="729615"/>
            <a:ext cx="8427720" cy="4693920"/>
          </a:xfrm>
          <a:prstGeom prst="rect">
            <a:avLst/>
          </a:prstGeom>
          <a:noFill/>
        </p:spPr>
        <p:txBody>
          <a:bodyPr wrap="square" rtlCol="0" anchor="t">
            <a:spAutoFit/>
          </a:bodyPr>
          <a:lstStyle/>
          <a:p>
            <a:pPr algn="just">
              <a:lnSpc>
                <a:spcPct val="110000"/>
              </a:lnSpc>
            </a:pPr>
            <a:r>
              <a:rPr lang="en-US" sz="2000" b="1" i="1">
                <a:solidFill>
                  <a:srgbClr val="FF0000"/>
                </a:solidFill>
                <a:latin typeface="Arial" panose="020B0604020202020204" pitchFamily="34" charset="0"/>
                <a:cs typeface="Arial" panose="020B0604020202020204" pitchFamily="34" charset="0"/>
              </a:rPr>
              <a:t>Chiến lược đọc SQ3R</a:t>
            </a:r>
          </a:p>
          <a:p>
            <a:pPr algn="just">
              <a:lnSpc>
                <a:spcPct val="110000"/>
              </a:lnSpc>
            </a:pPr>
            <a:r>
              <a:rPr lang="en-US">
                <a:solidFill>
                  <a:srgbClr val="076365"/>
                </a:solidFill>
                <a:latin typeface="Arial" panose="020B0604020202020204" pitchFamily="34" charset="0"/>
                <a:cs typeface="Arial" panose="020B0604020202020204" pitchFamily="34" charset="0"/>
              </a:rPr>
              <a:t>SQ3R là một chiến lược đọc nổi tiếng. Nó có thể được áp dụng cho nhiều mục đích đọc vì nó linh hoạt và có tính đến nhu cầu thay đổi tốc độ đọc.</a:t>
            </a:r>
          </a:p>
          <a:p>
            <a:pPr algn="just">
              <a:lnSpc>
                <a:spcPct val="110000"/>
              </a:lnSpc>
            </a:pPr>
            <a:endParaRPr lang="en-US">
              <a:solidFill>
                <a:srgbClr val="076365"/>
              </a:solidFill>
              <a:latin typeface="Arial" panose="020B0604020202020204" pitchFamily="34" charset="0"/>
              <a:cs typeface="Arial" panose="020B0604020202020204" pitchFamily="34" charset="0"/>
            </a:endParaRPr>
          </a:p>
          <a:p>
            <a:pPr algn="just">
              <a:lnSpc>
                <a:spcPct val="110000"/>
              </a:lnSpc>
            </a:pPr>
            <a:r>
              <a:rPr lang="en-US">
                <a:solidFill>
                  <a:srgbClr val="076365"/>
                </a:solidFill>
                <a:latin typeface="Arial" panose="020B0604020202020204" pitchFamily="34" charset="0"/>
                <a:cs typeface="Arial" panose="020B0604020202020204" pitchFamily="34" charset="0"/>
              </a:rPr>
              <a:t>Từ SQ3R là viết tắt của:</a:t>
            </a:r>
          </a:p>
          <a:p>
            <a:pPr algn="just">
              <a:lnSpc>
                <a:spcPct val="110000"/>
              </a:lnSpc>
            </a:pPr>
            <a:endParaRPr lang="en-US">
              <a:solidFill>
                <a:srgbClr val="076365"/>
              </a:solidFill>
              <a:latin typeface="Arial" panose="020B0604020202020204" pitchFamily="34" charset="0"/>
              <a:cs typeface="Arial" panose="020B0604020202020204" pitchFamily="34" charset="0"/>
            </a:endParaRPr>
          </a:p>
          <a:p>
            <a:pPr algn="just">
              <a:lnSpc>
                <a:spcPct val="110000"/>
              </a:lnSpc>
            </a:pPr>
            <a:r>
              <a:rPr lang="en-US">
                <a:solidFill>
                  <a:srgbClr val="076365"/>
                </a:solidFill>
                <a:latin typeface="Arial" panose="020B0604020202020204" pitchFamily="34" charset="0"/>
                <a:cs typeface="Arial" panose="020B0604020202020204" pitchFamily="34" charset="0"/>
              </a:rPr>
              <a:t>1. Khảo sát (Survey)</a:t>
            </a:r>
          </a:p>
          <a:p>
            <a:pPr algn="just">
              <a:lnSpc>
                <a:spcPct val="110000"/>
              </a:lnSpc>
            </a:pPr>
            <a:endParaRPr lang="en-US">
              <a:solidFill>
                <a:srgbClr val="076365"/>
              </a:solidFill>
              <a:latin typeface="Arial" panose="020B0604020202020204" pitchFamily="34" charset="0"/>
              <a:cs typeface="Arial" panose="020B0604020202020204" pitchFamily="34" charset="0"/>
            </a:endParaRPr>
          </a:p>
          <a:p>
            <a:pPr algn="just">
              <a:lnSpc>
                <a:spcPct val="110000"/>
              </a:lnSpc>
            </a:pPr>
            <a:r>
              <a:rPr lang="en-US">
                <a:solidFill>
                  <a:srgbClr val="076365"/>
                </a:solidFill>
                <a:latin typeface="Arial" panose="020B0604020202020204" pitchFamily="34" charset="0"/>
                <a:cs typeface="Arial" panose="020B0604020202020204" pitchFamily="34" charset="0"/>
              </a:rPr>
              <a:t>2. Đặt câu hỏi (Question)</a:t>
            </a:r>
          </a:p>
          <a:p>
            <a:pPr algn="just">
              <a:lnSpc>
                <a:spcPct val="110000"/>
              </a:lnSpc>
            </a:pPr>
            <a:endParaRPr lang="en-US">
              <a:solidFill>
                <a:srgbClr val="076365"/>
              </a:solidFill>
              <a:latin typeface="Arial" panose="020B0604020202020204" pitchFamily="34" charset="0"/>
              <a:cs typeface="Arial" panose="020B0604020202020204" pitchFamily="34" charset="0"/>
            </a:endParaRPr>
          </a:p>
          <a:p>
            <a:pPr algn="just">
              <a:lnSpc>
                <a:spcPct val="110000"/>
              </a:lnSpc>
            </a:pPr>
            <a:r>
              <a:rPr lang="en-US">
                <a:solidFill>
                  <a:srgbClr val="076365"/>
                </a:solidFill>
                <a:latin typeface="Arial" panose="020B0604020202020204" pitchFamily="34" charset="0"/>
                <a:cs typeface="Arial" panose="020B0604020202020204" pitchFamily="34" charset="0"/>
              </a:rPr>
              <a:t>3. Đọc (Read)</a:t>
            </a:r>
          </a:p>
          <a:p>
            <a:pPr algn="just">
              <a:lnSpc>
                <a:spcPct val="110000"/>
              </a:lnSpc>
            </a:pPr>
            <a:endParaRPr lang="en-US">
              <a:solidFill>
                <a:srgbClr val="076365"/>
              </a:solidFill>
              <a:latin typeface="Arial" panose="020B0604020202020204" pitchFamily="34" charset="0"/>
              <a:cs typeface="Arial" panose="020B0604020202020204" pitchFamily="34" charset="0"/>
            </a:endParaRPr>
          </a:p>
          <a:p>
            <a:pPr algn="just">
              <a:lnSpc>
                <a:spcPct val="110000"/>
              </a:lnSpc>
            </a:pPr>
            <a:r>
              <a:rPr lang="en-US">
                <a:solidFill>
                  <a:srgbClr val="076365"/>
                </a:solidFill>
                <a:latin typeface="Arial" panose="020B0604020202020204" pitchFamily="34" charset="0"/>
                <a:cs typeface="Arial" panose="020B0604020202020204" pitchFamily="34" charset="0"/>
              </a:rPr>
              <a:t>4. Hồi tưởng (Recall)</a:t>
            </a:r>
          </a:p>
          <a:p>
            <a:pPr algn="just">
              <a:lnSpc>
                <a:spcPct val="110000"/>
              </a:lnSpc>
            </a:pPr>
            <a:endParaRPr lang="en-US">
              <a:solidFill>
                <a:srgbClr val="076365"/>
              </a:solidFill>
              <a:latin typeface="Arial" panose="020B0604020202020204" pitchFamily="34" charset="0"/>
              <a:cs typeface="Arial" panose="020B0604020202020204" pitchFamily="34" charset="0"/>
            </a:endParaRPr>
          </a:p>
          <a:p>
            <a:pPr algn="just">
              <a:lnSpc>
                <a:spcPct val="110000"/>
              </a:lnSpc>
            </a:pPr>
            <a:r>
              <a:rPr lang="en-US">
                <a:solidFill>
                  <a:srgbClr val="076365"/>
                </a:solidFill>
                <a:latin typeface="Arial" panose="020B0604020202020204" pitchFamily="34" charset="0"/>
                <a:cs typeface="Arial" panose="020B0604020202020204" pitchFamily="34" charset="0"/>
              </a:rPr>
              <a:t>5. Ôn tập (Review)</a:t>
            </a:r>
          </a:p>
        </p:txBody>
      </p:sp>
      <p:sp>
        <p:nvSpPr>
          <p:cNvPr id="8" name="Cloud Callout 7"/>
          <p:cNvSpPr/>
          <p:nvPr/>
        </p:nvSpPr>
        <p:spPr>
          <a:xfrm>
            <a:off x="8816975" y="734060"/>
            <a:ext cx="3300730" cy="4098290"/>
          </a:xfrm>
          <a:prstGeom prst="cloudCallout">
            <a:avLst/>
          </a:prstGeom>
        </p:spPr>
        <p:style>
          <a:lnRef idx="0">
            <a:srgbClr val="FFFFFF"/>
          </a:lnRef>
          <a:fillRef idx="1">
            <a:schemeClr val="accent1"/>
          </a:fillRef>
          <a:effectRef idx="0">
            <a:srgbClr val="FFFFFF"/>
          </a:effectRef>
          <a:fontRef idx="minor">
            <a:schemeClr val="lt1"/>
          </a:fontRef>
        </p:style>
        <p:txBody>
          <a:bodyPr rtlCol="0" anchor="ctr"/>
          <a:lstStyle/>
          <a:p>
            <a:pPr indent="457200" algn="just"/>
            <a:r>
              <a:rPr lang="en-US" sz="1700" i="1">
                <a:latin typeface="Arial" panose="020B0604020202020204" pitchFamily="34" charset="0"/>
                <a:cs typeface="Arial" panose="020B0604020202020204" pitchFamily="34" charset="0"/>
              </a:rPr>
              <a:t>Đọc là một kỹ năng có thể được coi là thành tựu cả đời. Vì vậy, bằng cách sử dụng khôn ngoan các chiến lược đọc hiểu hiệu quả, bạn có thể cải thiện kỹ năng suốt đời của mình, cái sẽ giúp chúng ta tiết kiệm được thời gian.</a:t>
            </a:r>
          </a:p>
        </p:txBody>
      </p:sp>
      <p:pic>
        <p:nvPicPr>
          <p:cNvPr id="9" name="Content Placeholder 8"/>
          <p:cNvPicPr>
            <a:picLocks noGrp="1" noChangeAspect="1"/>
          </p:cNvPicPr>
          <p:nvPr>
            <p:ph sz="half" idx="1"/>
            <p:custDataLst>
              <p:tags r:id="rId2"/>
            </p:custDataLst>
          </p:nvPr>
        </p:nvPicPr>
        <p:blipFill>
          <a:blip r:embed="rId4"/>
          <a:stretch>
            <a:fillRect/>
          </a:stretch>
        </p:blipFill>
        <p:spPr>
          <a:xfrm>
            <a:off x="9230995" y="5214620"/>
            <a:ext cx="2106930" cy="1543050"/>
          </a:xfrm>
          <a:prstGeom prst="rect">
            <a:avLst/>
          </a:prstGeom>
        </p:spPr>
      </p:pic>
      <p:pic>
        <p:nvPicPr>
          <p:cNvPr id="2" name="Content Placeholder 1"/>
          <p:cNvPicPr>
            <a:picLocks noGrp="1" noChangeAspect="1"/>
          </p:cNvPicPr>
          <p:nvPr>
            <p:ph sz="half" idx="2"/>
          </p:nvPr>
        </p:nvPicPr>
        <p:blipFill>
          <a:blip r:embed="rId5"/>
          <a:stretch>
            <a:fillRect/>
          </a:stretch>
        </p:blipFill>
        <p:spPr>
          <a:xfrm>
            <a:off x="3636645" y="2334260"/>
            <a:ext cx="5181600" cy="3886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36C28B4-5B52-467A-9173-204C9E91858B}" type="slidenum">
              <a:rPr lang="en-US" smtClean="0"/>
              <a:t>12</a:t>
            </a:fld>
            <a:endParaRPr lang="en-US"/>
          </a:p>
        </p:txBody>
      </p:sp>
      <p:sp>
        <p:nvSpPr>
          <p:cNvPr id="6" name="Title 5"/>
          <p:cNvSpPr>
            <a:spLocks noGrp="1"/>
          </p:cNvSpPr>
          <p:nvPr>
            <p:ph type="title"/>
            <p:custDataLst>
              <p:tags r:id="rId1"/>
            </p:custDataLst>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Phát triển kỹ năng ghi chép</a:t>
            </a:r>
          </a:p>
        </p:txBody>
      </p:sp>
      <p:sp>
        <p:nvSpPr>
          <p:cNvPr id="7" name="Text Box 6"/>
          <p:cNvSpPr txBox="1"/>
          <p:nvPr/>
        </p:nvSpPr>
        <p:spPr>
          <a:xfrm>
            <a:off x="280035" y="805180"/>
            <a:ext cx="7320280" cy="4054475"/>
          </a:xfrm>
          <a:prstGeom prst="rect">
            <a:avLst/>
          </a:prstGeom>
          <a:noFill/>
        </p:spPr>
        <p:txBody>
          <a:bodyPr wrap="square" rtlCol="0" anchor="t">
            <a:noAutofit/>
          </a:bodyPr>
          <a:lstStyle/>
          <a:p>
            <a:pPr algn="just">
              <a:lnSpc>
                <a:spcPct val="140000"/>
              </a:lnSpc>
            </a:pPr>
            <a:r>
              <a:rPr lang="en-US" sz="2400" b="1" i="1">
                <a:solidFill>
                  <a:srgbClr val="FF0000"/>
                </a:solidFill>
                <a:latin typeface="Arial" panose="020B0604020202020204" pitchFamily="34" charset="0"/>
                <a:cs typeface="Arial" panose="020B0604020202020204" pitchFamily="34" charset="0"/>
              </a:rPr>
              <a:t>Tại sao cần ghi chép?</a:t>
            </a:r>
          </a:p>
          <a:p>
            <a:pPr algn="just">
              <a:lnSpc>
                <a:spcPct val="140000"/>
              </a:lnSpc>
            </a:pPr>
            <a:r>
              <a:rPr lang="en-US">
                <a:solidFill>
                  <a:srgbClr val="076365"/>
                </a:solidFill>
                <a:latin typeface="Arial" panose="020B0604020202020204" pitchFamily="34" charset="0"/>
                <a:cs typeface="Arial" panose="020B0604020202020204" pitchFamily="34" charset="0"/>
              </a:rPr>
              <a:t>Lý do cần ghi chú:</a:t>
            </a:r>
          </a:p>
          <a:p>
            <a:pPr indent="457200" algn="just">
              <a:lnSpc>
                <a:spcPct val="140000"/>
              </a:lnSpc>
            </a:pPr>
            <a:r>
              <a:rPr lang="en-US">
                <a:solidFill>
                  <a:srgbClr val="076365"/>
                </a:solidFill>
                <a:latin typeface="Arial" panose="020B0604020202020204" pitchFamily="34" charset="0"/>
                <a:cs typeface="Arial" panose="020B0604020202020204" pitchFamily="34" charset="0"/>
              </a:rPr>
              <a:t>- Lưu giữ thông tin quan trọng cho tương lai: Ghi chú giúp bạn giữ lại những điểm quan trọng và nguồn thông tin để sử dụng sau này.</a:t>
            </a:r>
          </a:p>
          <a:p>
            <a:pPr indent="457200" algn="just">
              <a:lnSpc>
                <a:spcPct val="140000"/>
              </a:lnSpc>
            </a:pPr>
            <a:r>
              <a:rPr lang="en-US">
                <a:solidFill>
                  <a:srgbClr val="076365"/>
                </a:solidFill>
                <a:latin typeface="Arial" panose="020B0604020202020204" pitchFamily="34" charset="0"/>
                <a:cs typeface="Arial" panose="020B0604020202020204" pitchFamily="34" charset="0"/>
              </a:rPr>
              <a:t>- Giúp hoàn thành bài tập: Ghi chú giúp dòng ý tưởng trôi chảy, hỗ trợ lập kế hoạch và tổ chức thông tin. Nó giúp bạn bắt đầu và tiếp tục công việc.</a:t>
            </a:r>
          </a:p>
          <a:p>
            <a:pPr indent="457200" algn="just">
              <a:lnSpc>
                <a:spcPct val="140000"/>
              </a:lnSpc>
            </a:pPr>
            <a:r>
              <a:rPr lang="en-US">
                <a:solidFill>
                  <a:srgbClr val="076365"/>
                </a:solidFill>
                <a:latin typeface="Arial" panose="020B0604020202020204" pitchFamily="34" charset="0"/>
                <a:cs typeface="Arial" panose="020B0604020202020204" pitchFamily="34" charset="0"/>
              </a:rPr>
              <a:t>- Giúp hiểu bài: Ghi chú đòi hỏi bạn phải tập trung vào việc chọn thông tin, suy nghĩ về cách tất cả các phần thông tin liên kết với nhau và xây dựng mức độ chi tiết từ các khái niệm và thông tin cốt lõi.</a:t>
            </a:r>
          </a:p>
          <a:p>
            <a:pPr indent="457200" algn="just">
              <a:lnSpc>
                <a:spcPct val="140000"/>
              </a:lnSpc>
            </a:pPr>
            <a:r>
              <a:rPr lang="en-US">
                <a:solidFill>
                  <a:srgbClr val="076365"/>
                </a:solidFill>
                <a:latin typeface="Arial" panose="020B0604020202020204" pitchFamily="34" charset="0"/>
                <a:cs typeface="Arial" panose="020B0604020202020204" pitchFamily="34" charset="0"/>
              </a:rPr>
              <a:t>- Giúp ôn thi: Tài liệu đã được tổ chức tốt sẽ giúp bạn ôn thi dễ dàng hơn và nhiều thông tin đã được ghi nhớ.</a:t>
            </a:r>
          </a:p>
          <a:p>
            <a:pPr indent="457200" algn="just">
              <a:lnSpc>
                <a:spcPct val="140000"/>
              </a:lnSpc>
            </a:pPr>
            <a:r>
              <a:rPr lang="en-US">
                <a:solidFill>
                  <a:srgbClr val="076365"/>
                </a:solidFill>
                <a:latin typeface="Arial" panose="020B0604020202020204" pitchFamily="34" charset="0"/>
                <a:cs typeface="Arial" panose="020B0604020202020204" pitchFamily="34" charset="0"/>
              </a:rPr>
              <a:t>- Giúp ghi nhớ: Tóm tắt tài liệu giúp bạn nhớ chúng tốt hơn. Việc viết tay cũng giúp bạn nhớ tốt hơn là gõ máy tính.</a:t>
            </a:r>
          </a:p>
        </p:txBody>
      </p:sp>
      <p:pic>
        <p:nvPicPr>
          <p:cNvPr id="8" name="Content Placeholder 7"/>
          <p:cNvPicPr>
            <a:picLocks noGrp="1" noChangeAspect="1"/>
          </p:cNvPicPr>
          <p:nvPr>
            <p:ph sz="half" idx="1"/>
          </p:nvPr>
        </p:nvPicPr>
        <p:blipFill>
          <a:blip r:embed="rId3"/>
          <a:stretch>
            <a:fillRect/>
          </a:stretch>
        </p:blipFill>
        <p:spPr>
          <a:xfrm>
            <a:off x="7738745" y="817245"/>
            <a:ext cx="4286885" cy="2744470"/>
          </a:xfrm>
          <a:prstGeom prst="rect">
            <a:avLst/>
          </a:prstGeom>
        </p:spPr>
      </p:pic>
      <p:pic>
        <p:nvPicPr>
          <p:cNvPr id="9" name="Content Placeholder 8"/>
          <p:cNvPicPr>
            <a:picLocks noGrp="1" noChangeAspect="1"/>
          </p:cNvPicPr>
          <p:nvPr>
            <p:ph sz="half" idx="2"/>
          </p:nvPr>
        </p:nvPicPr>
        <p:blipFill>
          <a:blip r:embed="rId4"/>
          <a:stretch>
            <a:fillRect/>
          </a:stretch>
        </p:blipFill>
        <p:spPr>
          <a:xfrm>
            <a:off x="7735570" y="3677920"/>
            <a:ext cx="4303395" cy="29241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36C28B4-5B52-467A-9173-204C9E91858B}" type="slidenum">
              <a:rPr lang="en-US" smtClean="0"/>
              <a:t>13</a:t>
            </a:fld>
            <a:endParaRPr lang="en-US"/>
          </a:p>
        </p:txBody>
      </p:sp>
      <p:sp>
        <p:nvSpPr>
          <p:cNvPr id="5" name="Text Box 4"/>
          <p:cNvSpPr txBox="1"/>
          <p:nvPr/>
        </p:nvSpPr>
        <p:spPr>
          <a:xfrm>
            <a:off x="386080" y="753110"/>
            <a:ext cx="11612245" cy="6000750"/>
          </a:xfrm>
          <a:prstGeom prst="rect">
            <a:avLst/>
          </a:prstGeom>
          <a:noFill/>
        </p:spPr>
        <p:txBody>
          <a:bodyPr wrap="square" rtlCol="0" anchor="t">
            <a:spAutoFit/>
          </a:bodyPr>
          <a:lstStyle/>
          <a:p>
            <a:pPr algn="just"/>
            <a:r>
              <a:rPr lang="en-US" sz="2400" b="1" i="1">
                <a:solidFill>
                  <a:srgbClr val="FF0000"/>
                </a:solidFill>
                <a:latin typeface="Arial" panose="020B0604020202020204" pitchFamily="34" charset="0"/>
                <a:cs typeface="Arial" panose="020B0604020202020204" pitchFamily="34" charset="0"/>
              </a:rPr>
              <a:t>Làm sao để ghi chép hiệu quà?</a:t>
            </a:r>
          </a:p>
          <a:p>
            <a:pPr algn="just"/>
            <a:r>
              <a:rPr lang="en-US" b="1">
                <a:solidFill>
                  <a:srgbClr val="076365"/>
                </a:solidFill>
                <a:latin typeface="Arial" panose="020B0604020202020204" pitchFamily="34" charset="0"/>
                <a:cs typeface="Arial" panose="020B0604020202020204" pitchFamily="34" charset="0"/>
              </a:rPr>
              <a:t>Lựa chọn thông tin:</a:t>
            </a:r>
            <a:r>
              <a:rPr lang="en-US">
                <a:solidFill>
                  <a:srgbClr val="076365"/>
                </a:solidFill>
                <a:latin typeface="Arial" panose="020B0604020202020204" pitchFamily="34" charset="0"/>
                <a:cs typeface="Arial" panose="020B0604020202020204" pitchFamily="34" charset="0"/>
              </a:rPr>
              <a:t> Ghi lại chỉ những gì bạn cần. </a:t>
            </a:r>
          </a:p>
          <a:p>
            <a:pPr indent="457200" algn="just"/>
            <a:r>
              <a:rPr lang="en-US">
                <a:solidFill>
                  <a:srgbClr val="076365"/>
                </a:solidFill>
                <a:latin typeface="Arial" panose="020B0604020202020204" pitchFamily="34" charset="0"/>
                <a:cs typeface="Arial" panose="020B0604020202020204" pitchFamily="34" charset="0"/>
              </a:rPr>
              <a:t>- Tôi thực sự cần thông tin này không? Nếu có, phần nào chính xác?</a:t>
            </a:r>
          </a:p>
          <a:p>
            <a:pPr indent="457200" algn="just"/>
            <a:r>
              <a:rPr lang="en-US">
                <a:solidFill>
                  <a:srgbClr val="076365"/>
                </a:solidFill>
                <a:latin typeface="Arial" panose="020B0604020202020204" pitchFamily="34" charset="0"/>
                <a:cs typeface="Arial" panose="020B0604020202020204" pitchFamily="34" charset="0"/>
              </a:rPr>
              <a:t>- Tôi sẽ thực sự sử dụng nó khi nào và như thế nào?</a:t>
            </a:r>
          </a:p>
          <a:p>
            <a:pPr indent="457200" algn="just"/>
            <a:r>
              <a:rPr lang="en-US">
                <a:solidFill>
                  <a:srgbClr val="076365"/>
                </a:solidFill>
                <a:latin typeface="Arial" panose="020B0604020202020204" pitchFamily="34" charset="0"/>
                <a:cs typeface="Arial" panose="020B0604020202020204" pitchFamily="34" charset="0"/>
              </a:rPr>
              <a:t>- Tôi đã ghi chú thông tin tương tự trước đây chưa?</a:t>
            </a:r>
          </a:p>
          <a:p>
            <a:pPr indent="457200" algn="just"/>
            <a:r>
              <a:rPr lang="en-US">
                <a:solidFill>
                  <a:srgbClr val="076365"/>
                </a:solidFill>
                <a:latin typeface="Arial" panose="020B0604020202020204" pitchFamily="34" charset="0"/>
                <a:cs typeface="Arial" panose="020B0604020202020204" pitchFamily="34" charset="0"/>
              </a:rPr>
              <a:t>- Những câu hỏi nào tôi muốn trả lời bằng thông tin này?</a:t>
            </a:r>
          </a:p>
          <a:p>
            <a:pPr algn="just"/>
            <a:r>
              <a:rPr lang="en-US" b="1">
                <a:solidFill>
                  <a:srgbClr val="076365"/>
                </a:solidFill>
                <a:latin typeface="Arial" panose="020B0604020202020204" pitchFamily="34" charset="0"/>
                <a:cs typeface="Arial" panose="020B0604020202020204" pitchFamily="34" charset="0"/>
              </a:rPr>
              <a:t>Tổ chức ghi chú của bạn:</a:t>
            </a:r>
          </a:p>
          <a:p>
            <a:pPr indent="457200" algn="just"/>
            <a:r>
              <a:rPr lang="en-US">
                <a:solidFill>
                  <a:srgbClr val="076365"/>
                </a:solidFill>
                <a:latin typeface="Arial" panose="020B0604020202020204" pitchFamily="34" charset="0"/>
                <a:cs typeface="Arial" panose="020B0604020202020204" pitchFamily="34" charset="0"/>
              </a:rPr>
              <a:t>- Sử dụng một thư mục riêng cho từng môn học.</a:t>
            </a:r>
          </a:p>
          <a:p>
            <a:pPr indent="457200" algn="just"/>
            <a:r>
              <a:rPr lang="en-US">
                <a:solidFill>
                  <a:srgbClr val="076365"/>
                </a:solidFill>
                <a:latin typeface="Arial" panose="020B0604020202020204" pitchFamily="34" charset="0"/>
                <a:cs typeface="Arial" panose="020B0604020202020204" pitchFamily="34" charset="0"/>
              </a:rPr>
              <a:t>- Sắp xếp các điểm dưới các tiêu đề hoặc câu hỏi.</a:t>
            </a:r>
          </a:p>
          <a:p>
            <a:pPr indent="457200" algn="just"/>
            <a:r>
              <a:rPr lang="en-US">
                <a:solidFill>
                  <a:srgbClr val="076365"/>
                </a:solidFill>
                <a:latin typeface="Arial" panose="020B0604020202020204" pitchFamily="34" charset="0"/>
                <a:cs typeface="Arial" panose="020B0604020202020204" pitchFamily="34" charset="0"/>
              </a:rPr>
              <a:t>- Đánh số và dán nhãn các trang để bạn có thể tìm thấy chúng dễ dàng.</a:t>
            </a:r>
          </a:p>
          <a:p>
            <a:pPr indent="457200" algn="just"/>
            <a:r>
              <a:rPr lang="en-US">
                <a:solidFill>
                  <a:srgbClr val="076365"/>
                </a:solidFill>
                <a:latin typeface="Arial" panose="020B0604020202020204" pitchFamily="34" charset="0"/>
                <a:cs typeface="Arial" panose="020B0604020202020204" pitchFamily="34" charset="0"/>
              </a:rPr>
              <a:t>- Giữ một trang mục lục cập nhật ở đầu mỗi tập tin hoặc thư mục.</a:t>
            </a:r>
          </a:p>
          <a:p>
            <a:pPr algn="just"/>
            <a:r>
              <a:rPr lang="en-US" b="1">
                <a:solidFill>
                  <a:srgbClr val="076365"/>
                </a:solidFill>
                <a:latin typeface="Arial" panose="020B0604020202020204" pitchFamily="34" charset="0"/>
                <a:cs typeface="Arial" panose="020B0604020202020204" pitchFamily="34" charset="0"/>
              </a:rPr>
              <a:t>Các chiến lược hữu ích:</a:t>
            </a:r>
          </a:p>
          <a:p>
            <a:pPr indent="457200" algn="just"/>
            <a:r>
              <a:rPr lang="en-US">
                <a:solidFill>
                  <a:srgbClr val="076365"/>
                </a:solidFill>
                <a:latin typeface="Arial" panose="020B0604020202020204" pitchFamily="34" charset="0"/>
                <a:cs typeface="Arial" panose="020B0604020202020204" pitchFamily="34" charset="0"/>
              </a:rPr>
              <a:t>- Ghi lại từ khóa và ý chính.</a:t>
            </a:r>
          </a:p>
          <a:p>
            <a:pPr indent="457200" algn="just"/>
            <a:r>
              <a:rPr lang="en-US">
                <a:solidFill>
                  <a:srgbClr val="076365"/>
                </a:solidFill>
                <a:latin typeface="Arial" panose="020B0604020202020204" pitchFamily="34" charset="0"/>
                <a:cs typeface="Arial" panose="020B0604020202020204" pitchFamily="34" charset="0"/>
              </a:rPr>
              <a:t>- Viết câu ngắn gọn, không viết thành câu hoàn chỉnh.</a:t>
            </a:r>
          </a:p>
          <a:p>
            <a:pPr indent="457200" algn="just"/>
            <a:r>
              <a:rPr lang="en-US">
                <a:solidFill>
                  <a:srgbClr val="076365"/>
                </a:solidFill>
                <a:latin typeface="Arial" panose="020B0604020202020204" pitchFamily="34" charset="0"/>
                <a:cs typeface="Arial" panose="020B0604020202020204" pitchFamily="34" charset="0"/>
              </a:rPr>
              <a:t>- Sử dụng các chữ viết tắt; Sử dụng tiêu đề.</a:t>
            </a:r>
          </a:p>
          <a:p>
            <a:pPr indent="457200" algn="just"/>
            <a:r>
              <a:rPr lang="en-US">
                <a:solidFill>
                  <a:srgbClr val="076365"/>
                </a:solidFill>
                <a:latin typeface="Arial" panose="020B0604020202020204" pitchFamily="34" charset="0"/>
                <a:cs typeface="Arial" panose="020B0604020202020204" pitchFamily="34" charset="0"/>
              </a:rPr>
              <a:t>- Làm cho trang ghi chú dễ nhớ bằng cách sử dụng màu sắc, hình minh họa, v.v.</a:t>
            </a:r>
          </a:p>
          <a:p>
            <a:pPr indent="457200" algn="just"/>
            <a:r>
              <a:rPr lang="en-US">
                <a:solidFill>
                  <a:srgbClr val="076365"/>
                </a:solidFill>
                <a:latin typeface="Arial" panose="020B0604020202020204" pitchFamily="34" charset="0"/>
                <a:cs typeface="Arial" panose="020B0604020202020204" pitchFamily="34" charset="0"/>
              </a:rPr>
              <a:t>- Liên kết các điểm bằng cách sử dụng mũi tên, dòng đứt nét, màu sắc, số, hộp.</a:t>
            </a:r>
          </a:p>
          <a:p>
            <a:pPr algn="just"/>
            <a:r>
              <a:rPr lang="en-US" b="1">
                <a:solidFill>
                  <a:srgbClr val="076365"/>
                </a:solidFill>
                <a:latin typeface="Arial" panose="020B0604020202020204" pitchFamily="34" charset="0"/>
                <a:cs typeface="Arial" panose="020B0604020202020204" pitchFamily="34" charset="0"/>
              </a:rPr>
              <a:t>Ghi chú nguồn thông tin chính xác:</a:t>
            </a:r>
          </a:p>
          <a:p>
            <a:pPr indent="457200" algn="just"/>
            <a:r>
              <a:rPr lang="en-US">
                <a:solidFill>
                  <a:srgbClr val="076365"/>
                </a:solidFill>
                <a:latin typeface="Arial" panose="020B0604020202020204" pitchFamily="34" charset="0"/>
                <a:cs typeface="Arial" panose="020B0604020202020204" pitchFamily="34" charset="0"/>
              </a:rPr>
              <a:t>Viết chính xác các trích dẫn và tên thật.</a:t>
            </a:r>
          </a:p>
          <a:p>
            <a:pPr indent="457200" algn="just"/>
            <a:r>
              <a:rPr lang="en-US">
                <a:solidFill>
                  <a:srgbClr val="076365"/>
                </a:solidFill>
                <a:latin typeface="Arial" panose="020B0604020202020204" pitchFamily="34" charset="0"/>
                <a:cs typeface="Arial" panose="020B0604020202020204" pitchFamily="34" charset="0"/>
              </a:rPr>
              <a:t>Nếu bạn ghi chú trực tiếp từ văn bản, hãy sử dụng một màu khác để không quên rằng đó không phải là công việc của bạn.</a:t>
            </a:r>
          </a:p>
        </p:txBody>
      </p:sp>
      <p:sp>
        <p:nvSpPr>
          <p:cNvPr id="8" name="Cloud Callout 7"/>
          <p:cNvSpPr/>
          <p:nvPr>
            <p:custDataLst>
              <p:tags r:id="rId1"/>
            </p:custDataLst>
          </p:nvPr>
        </p:nvSpPr>
        <p:spPr>
          <a:xfrm>
            <a:off x="8316595" y="734060"/>
            <a:ext cx="3801110" cy="4555490"/>
          </a:xfrm>
          <a:prstGeom prst="cloudCallout">
            <a:avLst>
              <a:gd name="adj1" fmla="val -2071"/>
              <a:gd name="adj2" fmla="val 39903"/>
            </a:avLst>
          </a:prstGeom>
        </p:spPr>
        <p:style>
          <a:lnRef idx="0">
            <a:srgbClr val="FFFFFF"/>
          </a:lnRef>
          <a:fillRef idx="1">
            <a:schemeClr val="accent1"/>
          </a:fillRef>
          <a:effectRef idx="0">
            <a:srgbClr val="FFFFFF"/>
          </a:effectRef>
          <a:fontRef idx="minor">
            <a:schemeClr val="lt1"/>
          </a:fontRef>
        </p:style>
        <p:txBody>
          <a:bodyPr rtlCol="0" anchor="ctr"/>
          <a:lstStyle/>
          <a:p>
            <a:pPr indent="457200" algn="just"/>
            <a:r>
              <a:rPr lang="en-US" sz="1700" i="1">
                <a:latin typeface="Arial" panose="020B0604020202020204" pitchFamily="34" charset="0"/>
                <a:cs typeface="Arial" panose="020B0604020202020204" pitchFamily="34" charset="0"/>
              </a:rPr>
              <a:t>Ghi chú không chỉ là công cụ hữu ích để lưu giữ thông tin mà còn giúp bạn hiểu bài sâu hơn, hỗ trợ hoàn thành bài tập, ôn thi và ghi nhớ tốt hơn. Để ghi chú hiệu quả, bạn cần chọn lọc thông tin, tổ chức ghi chú hợp lý và sử dụng các chiến lược ghi chú một cách thông minh​</a:t>
            </a:r>
          </a:p>
        </p:txBody>
      </p:sp>
      <p:sp>
        <p:nvSpPr>
          <p:cNvPr id="11" name="Title 10"/>
          <p:cNvSpPr>
            <a:spLocks noGrp="1"/>
          </p:cNvSpPr>
          <p:nvPr>
            <p:ph type="title"/>
            <p:custDataLst>
              <p:tags r:id="rId2"/>
            </p:custDataLst>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Phát triển kỹ năng ghi chép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03 phương pháp ghi chép hiệu quả</a:t>
            </a:r>
          </a:p>
        </p:txBody>
      </p:sp>
      <p:sp>
        <p:nvSpPr>
          <p:cNvPr id="4" name="Slide Number Placeholder 3"/>
          <p:cNvSpPr>
            <a:spLocks noGrp="1"/>
          </p:cNvSpPr>
          <p:nvPr>
            <p:ph type="sldNum" sz="quarter" idx="12"/>
          </p:nvPr>
        </p:nvSpPr>
        <p:spPr/>
        <p:txBody>
          <a:bodyPr/>
          <a:lstStyle/>
          <a:p>
            <a:fld id="{C36C28B4-5B52-467A-9173-204C9E91858B}" type="slidenum">
              <a:rPr lang="en-US" smtClean="0"/>
              <a:t>14</a:t>
            </a:fld>
            <a:endParaRPr lang="en-US"/>
          </a:p>
        </p:txBody>
      </p:sp>
      <p:sp>
        <p:nvSpPr>
          <p:cNvPr id="6" name="Text Box 5"/>
          <p:cNvSpPr txBox="1"/>
          <p:nvPr>
            <p:custDataLst>
              <p:tags r:id="rId1"/>
            </p:custDataLst>
          </p:nvPr>
        </p:nvSpPr>
        <p:spPr>
          <a:xfrm>
            <a:off x="290195" y="836930"/>
            <a:ext cx="7810500" cy="5619115"/>
          </a:xfrm>
          <a:prstGeom prst="rect">
            <a:avLst/>
          </a:prstGeom>
          <a:noFill/>
        </p:spPr>
        <p:txBody>
          <a:bodyPr wrap="square" rtlCol="0" anchor="t">
            <a:noAutofit/>
          </a:bodyPr>
          <a:lstStyle/>
          <a:p>
            <a:pPr algn="just">
              <a:lnSpc>
                <a:spcPct val="110000"/>
              </a:lnSpc>
            </a:pPr>
            <a:r>
              <a:rPr lang="en-US" sz="2200" b="1" i="1">
                <a:solidFill>
                  <a:srgbClr val="FF0000"/>
                </a:solidFill>
                <a:latin typeface="Arial" panose="020B0604020202020204" pitchFamily="34" charset="0"/>
                <a:cs typeface="Arial" panose="020B0604020202020204" pitchFamily="34" charset="0"/>
                <a:sym typeface="+mn-ea"/>
              </a:rPr>
              <a:t>1. Phương pháp sơ đồ tư duy (Mind-mapping Method)</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Mindmap hay còn được gọi là sơ đồ tư duy, là một trong những phương thức tự ghi chép lên giấy bằng hình ảnh và kết hợp với nhiều màu sắc và nét vẽ để tạo ra hình tượng hoá kiến trúc.</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Mindmap (sơ đồ tư duy) là một trong những phương thức dùng để tận dụng khả năng ghi nhận hình ảnh của bộ não. Mindmap là phương pháp dùng để ghi nhớ chi tiết hay tổng hợp để phân tích một vấn đề nào đó thành một dạng lược đồ phân nhánh.</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Phương pháp này khai thác khả năng ghi nhớ và liên hệ các dữ kiện lại với nhau bằng cách sử dụng màu sắc và nét vẽ. Một cấu trúc cơ bản được phát triển rộng ra từ trung tâm, chúng dùng các đường kẻ, các biểu tượng, từ ngữ và hình ảnh theo một bộ các quy tắc đơn giản, cơ bản, tự nhiên và dễ hiểu. </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Với một Mindmap, một danh sách dài những thông tin đơn điệu có thể biến thành một bản đồ đầy màu sắc, sinh động, dễ nhớ, được tổ chức chặt chẽ. Nó kết hợp nhịp nhàng với cơ chế hoạt động tự nhiên của não chúng ta. Việc nhớ và gợi lại thông tin sau này sẽ dễ dàng, đáng tin cậy hơn so với khi sử dụng kỹ thuật ghi chép truyền thống.</a:t>
            </a:r>
          </a:p>
        </p:txBody>
      </p:sp>
      <p:pic>
        <p:nvPicPr>
          <p:cNvPr id="7" name="Content Placeholder 6"/>
          <p:cNvPicPr>
            <a:picLocks noGrp="1" noChangeAspect="1"/>
          </p:cNvPicPr>
          <p:nvPr>
            <p:ph sz="half" idx="1"/>
            <p:custDataLst>
              <p:tags r:id="rId2"/>
            </p:custDataLst>
          </p:nvPr>
        </p:nvPicPr>
        <p:blipFill>
          <a:blip r:embed="rId5"/>
          <a:stretch>
            <a:fillRect/>
          </a:stretch>
        </p:blipFill>
        <p:spPr>
          <a:xfrm>
            <a:off x="8154670" y="1129665"/>
            <a:ext cx="3891915" cy="2729230"/>
          </a:xfrm>
          <a:prstGeom prst="rect">
            <a:avLst/>
          </a:prstGeom>
        </p:spPr>
      </p:pic>
      <p:pic>
        <p:nvPicPr>
          <p:cNvPr id="8" name="Content Placeholder 7"/>
          <p:cNvPicPr>
            <a:picLocks noGrp="1" noChangeAspect="1"/>
          </p:cNvPicPr>
          <p:nvPr>
            <p:ph sz="half" idx="2"/>
            <p:custDataLst>
              <p:tags r:id="rId3"/>
            </p:custDataLst>
          </p:nvPr>
        </p:nvPicPr>
        <p:blipFill>
          <a:blip r:embed="rId6"/>
          <a:stretch>
            <a:fillRect/>
          </a:stretch>
        </p:blipFill>
        <p:spPr>
          <a:xfrm>
            <a:off x="8141970" y="3879850"/>
            <a:ext cx="3903980" cy="27959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03 phương pháp ghi chép hiệu quả</a:t>
            </a:r>
          </a:p>
        </p:txBody>
      </p:sp>
      <p:sp>
        <p:nvSpPr>
          <p:cNvPr id="5" name="Text Box 4"/>
          <p:cNvSpPr txBox="1"/>
          <p:nvPr>
            <p:custDataLst>
              <p:tags r:id="rId1"/>
            </p:custDataLst>
          </p:nvPr>
        </p:nvSpPr>
        <p:spPr>
          <a:xfrm>
            <a:off x="290195" y="836930"/>
            <a:ext cx="5957570" cy="5619115"/>
          </a:xfrm>
          <a:prstGeom prst="rect">
            <a:avLst/>
          </a:prstGeom>
          <a:noFill/>
        </p:spPr>
        <p:txBody>
          <a:bodyPr wrap="square" rtlCol="0" anchor="t">
            <a:noAutofit/>
          </a:bodyPr>
          <a:lstStyle/>
          <a:p>
            <a:pPr algn="just">
              <a:lnSpc>
                <a:spcPct val="130000"/>
              </a:lnSpc>
            </a:pPr>
            <a:r>
              <a:rPr lang="en-US" sz="2400" b="1" i="1">
                <a:solidFill>
                  <a:srgbClr val="FF0000"/>
                </a:solidFill>
                <a:latin typeface="Arial" panose="020B0604020202020204" pitchFamily="34" charset="0"/>
                <a:cs typeface="Arial" panose="020B0604020202020204" pitchFamily="34" charset="0"/>
                <a:sym typeface="+mn-ea"/>
              </a:rPr>
              <a:t>Các bước lập Sơ Đồ Tư Duy </a:t>
            </a:r>
          </a:p>
          <a:p>
            <a:pPr algn="just">
              <a:lnSpc>
                <a:spcPct val="130000"/>
              </a:lnSpc>
            </a:pPr>
            <a:r>
              <a:rPr lang="en-US">
                <a:solidFill>
                  <a:srgbClr val="076365"/>
                </a:solidFill>
                <a:latin typeface="Arial" panose="020B0604020202020204" pitchFamily="34" charset="0"/>
                <a:cs typeface="Arial" panose="020B0604020202020204" pitchFamily="34" charset="0"/>
                <a:sym typeface="+mn-ea"/>
              </a:rPr>
              <a:t>Bước 1: Xác định từ khóa</a:t>
            </a:r>
          </a:p>
          <a:p>
            <a:pPr algn="just">
              <a:lnSpc>
                <a:spcPct val="130000"/>
              </a:lnSpc>
            </a:pPr>
            <a:r>
              <a:rPr lang="en-US">
                <a:solidFill>
                  <a:srgbClr val="076365"/>
                </a:solidFill>
                <a:latin typeface="Arial" panose="020B0604020202020204" pitchFamily="34" charset="0"/>
                <a:cs typeface="Arial" panose="020B0604020202020204" pitchFamily="34" charset="0"/>
                <a:sym typeface="+mn-ea"/>
              </a:rPr>
              <a:t>Bước 2: Vẽ chủ đề ở trung tâm</a:t>
            </a:r>
          </a:p>
          <a:p>
            <a:pPr algn="just">
              <a:lnSpc>
                <a:spcPct val="130000"/>
              </a:lnSpc>
            </a:pPr>
            <a:r>
              <a:rPr lang="en-US">
                <a:solidFill>
                  <a:srgbClr val="076365"/>
                </a:solidFill>
                <a:latin typeface="Arial" panose="020B0604020202020204" pitchFamily="34" charset="0"/>
                <a:cs typeface="Arial" panose="020B0604020202020204" pitchFamily="34" charset="0"/>
                <a:sym typeface="+mn-ea"/>
              </a:rPr>
              <a:t>Bước 3: Vẽ thêm các tiêu đề phụ (nhánh cấp 1)</a:t>
            </a:r>
          </a:p>
          <a:p>
            <a:pPr algn="just">
              <a:lnSpc>
                <a:spcPct val="130000"/>
              </a:lnSpc>
            </a:pPr>
            <a:r>
              <a:rPr lang="en-US">
                <a:solidFill>
                  <a:srgbClr val="076365"/>
                </a:solidFill>
                <a:latin typeface="Arial" panose="020B0604020202020204" pitchFamily="34" charset="0"/>
                <a:cs typeface="Arial" panose="020B0604020202020204" pitchFamily="34" charset="0"/>
                <a:sym typeface="+mn-ea"/>
              </a:rPr>
              <a:t>Bước 4: Vẽ các nhánh cấp 2, cấp 3, …</a:t>
            </a:r>
          </a:p>
          <a:p>
            <a:pPr algn="just">
              <a:lnSpc>
                <a:spcPct val="130000"/>
              </a:lnSpc>
            </a:pPr>
            <a:r>
              <a:rPr lang="en-US">
                <a:solidFill>
                  <a:srgbClr val="076365"/>
                </a:solidFill>
                <a:latin typeface="Arial" panose="020B0604020202020204" pitchFamily="34" charset="0"/>
                <a:cs typeface="Arial" panose="020B0604020202020204" pitchFamily="34" charset="0"/>
                <a:sym typeface="+mn-ea"/>
              </a:rPr>
              <a:t>Bước 5: Thêm các hình ảnh minh họa</a:t>
            </a:r>
          </a:p>
        </p:txBody>
      </p:sp>
      <p:pic>
        <p:nvPicPr>
          <p:cNvPr id="9" name="Content Placeholder 8"/>
          <p:cNvPicPr>
            <a:picLocks noGrp="1" noChangeAspect="1"/>
          </p:cNvPicPr>
          <p:nvPr>
            <p:ph sz="half" idx="1"/>
            <p:custDataLst>
              <p:tags r:id="rId2"/>
            </p:custDataLst>
          </p:nvPr>
        </p:nvPicPr>
        <p:blipFill>
          <a:blip r:embed="rId6"/>
          <a:stretch>
            <a:fillRect/>
          </a:stretch>
        </p:blipFill>
        <p:spPr>
          <a:xfrm>
            <a:off x="6184265" y="843915"/>
            <a:ext cx="5611495" cy="3149600"/>
          </a:xfrm>
          <a:prstGeom prst="rect">
            <a:avLst/>
          </a:prstGeom>
        </p:spPr>
      </p:pic>
      <p:pic>
        <p:nvPicPr>
          <p:cNvPr id="10" name="Content Placeholder 9"/>
          <p:cNvPicPr>
            <a:picLocks noGrp="1" noChangeAspect="1"/>
          </p:cNvPicPr>
          <p:nvPr>
            <p:ph sz="half" idx="2"/>
            <p:custDataLst>
              <p:tags r:id="rId3"/>
            </p:custDataLst>
          </p:nvPr>
        </p:nvPicPr>
        <p:blipFill>
          <a:blip r:embed="rId7"/>
          <a:stretch>
            <a:fillRect/>
          </a:stretch>
        </p:blipFill>
        <p:spPr>
          <a:xfrm>
            <a:off x="528320" y="3443605"/>
            <a:ext cx="4697095" cy="3197225"/>
          </a:xfrm>
          <a:prstGeom prst="rect">
            <a:avLst/>
          </a:prstGeom>
        </p:spPr>
      </p:pic>
      <p:pic>
        <p:nvPicPr>
          <p:cNvPr id="11" name="Picture 10"/>
          <p:cNvPicPr>
            <a:picLocks noChangeAspect="1"/>
          </p:cNvPicPr>
          <p:nvPr>
            <p:custDataLst>
              <p:tags r:id="rId4"/>
            </p:custDataLst>
          </p:nvPr>
        </p:nvPicPr>
        <p:blipFill>
          <a:blip r:embed="rId8"/>
          <a:stretch>
            <a:fillRect/>
          </a:stretch>
        </p:blipFill>
        <p:spPr>
          <a:xfrm>
            <a:off x="5716905" y="4019550"/>
            <a:ext cx="5113655" cy="27000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03 phương pháp ghi chép hiệu quả</a:t>
            </a:r>
          </a:p>
        </p:txBody>
      </p:sp>
      <p:sp>
        <p:nvSpPr>
          <p:cNvPr id="3" name="Text Box 2"/>
          <p:cNvSpPr txBox="1"/>
          <p:nvPr/>
        </p:nvSpPr>
        <p:spPr>
          <a:xfrm>
            <a:off x="252095" y="774700"/>
            <a:ext cx="7522845" cy="5640705"/>
          </a:xfrm>
          <a:prstGeom prst="rect">
            <a:avLst/>
          </a:prstGeom>
          <a:noFill/>
        </p:spPr>
        <p:txBody>
          <a:bodyPr wrap="square" rtlCol="0" anchor="t">
            <a:spAutoFit/>
          </a:bodyPr>
          <a:lstStyle/>
          <a:p>
            <a:pPr algn="just">
              <a:lnSpc>
                <a:spcPct val="110000"/>
              </a:lnSpc>
            </a:pPr>
            <a:r>
              <a:rPr lang="en-US" sz="2200" b="1" i="1">
                <a:solidFill>
                  <a:srgbClr val="FF0000"/>
                </a:solidFill>
                <a:latin typeface="Arial" panose="020B0604020202020204" pitchFamily="34" charset="0"/>
                <a:cs typeface="Arial" panose="020B0604020202020204" pitchFamily="34" charset="0"/>
              </a:rPr>
              <a:t>2. Phương pháp ghi chép Cornell (Cornell Method)</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Phương pháp ghi chép Cornell được nghiên cứu vào những năm 1950 tại Đại học Cornell, và đây là một trong những phương pháp ghi chú phổ biến nhất hiện nay. </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Trong phương pháp này, trang giấy sẽ được chia thành 3 phần:</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Một cột hẹp được gọi là phần gợi ý (chiếm 30% chiều ngang của tờ giấy);</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Một cột rộng hơn cho các ghi chú thực tế của bạn (chiếm 70% chiều ngang của tờ giấy);</a:t>
            </a:r>
          </a:p>
          <a:p>
            <a:pPr indent="457200" algn="just">
              <a:lnSpc>
                <a:spcPct val="110000"/>
              </a:lnSpc>
            </a:pPr>
            <a:r>
              <a:rPr lang="en-US">
                <a:solidFill>
                  <a:srgbClr val="076365"/>
                </a:solidFill>
                <a:latin typeface="Arial" panose="020B0604020202020204" pitchFamily="34" charset="0"/>
                <a:cs typeface="Arial" panose="020B0604020202020204" pitchFamily="34" charset="0"/>
              </a:rPr>
              <a:t>- Một bảng tóm tắt ở dưới cùng.</a:t>
            </a:r>
          </a:p>
          <a:p>
            <a:pPr indent="457200" algn="just">
              <a:lnSpc>
                <a:spcPct val="110000"/>
              </a:lnSpc>
            </a:pPr>
            <a:r>
              <a:rPr lang="en-US" b="1">
                <a:solidFill>
                  <a:srgbClr val="076365"/>
                </a:solidFill>
                <a:latin typeface="Arial" panose="020B0604020202020204" pitchFamily="34" charset="0"/>
                <a:cs typeface="Arial" panose="020B0604020202020204" pitchFamily="34" charset="0"/>
              </a:rPr>
              <a:t>- Phần gợi ý</a:t>
            </a:r>
            <a:r>
              <a:rPr lang="en-US">
                <a:solidFill>
                  <a:srgbClr val="076365"/>
                </a:solidFill>
                <a:latin typeface="Arial" panose="020B0604020202020204" pitchFamily="34" charset="0"/>
                <a:cs typeface="Arial" panose="020B0604020202020204" pitchFamily="34" charset="0"/>
              </a:rPr>
              <a:t> là phần mà bạn ghi vào các ý chính, từ khóa, câu hỏi kiểm tra tiềm năng và hơn thế nữa. Phần này dành để giúp bạn nhớ lại các chủ đề và ý tưởng lớn hơn.</a:t>
            </a:r>
          </a:p>
          <a:p>
            <a:pPr indent="457200" algn="just">
              <a:lnSpc>
                <a:spcPct val="110000"/>
              </a:lnSpc>
            </a:pPr>
            <a:r>
              <a:rPr lang="en-US" b="1">
                <a:solidFill>
                  <a:srgbClr val="076365"/>
                </a:solidFill>
                <a:latin typeface="Arial" panose="020B0604020202020204" pitchFamily="34" charset="0"/>
                <a:cs typeface="Arial" panose="020B0604020202020204" pitchFamily="34" charset="0"/>
              </a:rPr>
              <a:t>- Phần ghi chú</a:t>
            </a:r>
            <a:r>
              <a:rPr lang="en-US">
                <a:solidFill>
                  <a:srgbClr val="076365"/>
                </a:solidFill>
                <a:latin typeface="Arial" panose="020B0604020202020204" pitchFamily="34" charset="0"/>
                <a:cs typeface="Arial" panose="020B0604020202020204" pitchFamily="34" charset="0"/>
              </a:rPr>
              <a:t> được dành để mở rộng và giải thích những nội dung có trong phần gợi ý. Tất cả những gì bạn nghe được sẽ ghi hết vào cột này</a:t>
            </a:r>
          </a:p>
          <a:p>
            <a:pPr indent="457200" algn="just">
              <a:lnSpc>
                <a:spcPct val="110000"/>
              </a:lnSpc>
            </a:pPr>
            <a:r>
              <a:rPr lang="en-US" b="1">
                <a:solidFill>
                  <a:srgbClr val="076365"/>
                </a:solidFill>
                <a:latin typeface="Arial" panose="020B0604020202020204" pitchFamily="34" charset="0"/>
                <a:cs typeface="Arial" panose="020B0604020202020204" pitchFamily="34" charset="0"/>
              </a:rPr>
              <a:t>- Phần tóm tắt</a:t>
            </a:r>
            <a:r>
              <a:rPr lang="en-US">
                <a:solidFill>
                  <a:srgbClr val="076365"/>
                </a:solidFill>
                <a:latin typeface="Arial" panose="020B0604020202020204" pitchFamily="34" charset="0"/>
                <a:cs typeface="Arial" panose="020B0604020202020204" pitchFamily="34" charset="0"/>
              </a:rPr>
              <a:t> là phần bạn viết tất cả thông tin trong một hoặc hai câu ngắn gọn. </a:t>
            </a:r>
          </a:p>
        </p:txBody>
      </p:sp>
      <p:pic>
        <p:nvPicPr>
          <p:cNvPr id="6" name="Content Placeholder 5"/>
          <p:cNvPicPr>
            <a:picLocks noGrp="1" noChangeAspect="1"/>
          </p:cNvPicPr>
          <p:nvPr>
            <p:ph idx="1"/>
            <p:custDataLst>
              <p:tags r:id="rId1"/>
            </p:custDataLst>
          </p:nvPr>
        </p:nvPicPr>
        <p:blipFill>
          <a:blip r:embed="rId3"/>
          <a:stretch>
            <a:fillRect/>
          </a:stretch>
        </p:blipFill>
        <p:spPr>
          <a:xfrm>
            <a:off x="7761605" y="1421130"/>
            <a:ext cx="4342765" cy="38506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03 phương pháp ghi chép hiệu quả</a:t>
            </a:r>
          </a:p>
        </p:txBody>
      </p:sp>
      <p:sp>
        <p:nvSpPr>
          <p:cNvPr id="3" name="Text Box 2"/>
          <p:cNvSpPr txBox="1"/>
          <p:nvPr/>
        </p:nvSpPr>
        <p:spPr>
          <a:xfrm>
            <a:off x="236855" y="772795"/>
            <a:ext cx="5307965" cy="5829935"/>
          </a:xfrm>
          <a:prstGeom prst="rect">
            <a:avLst/>
          </a:prstGeom>
          <a:noFill/>
        </p:spPr>
        <p:txBody>
          <a:bodyPr wrap="square" rtlCol="0" anchor="t">
            <a:spAutoFit/>
          </a:bodyPr>
          <a:lstStyle/>
          <a:p>
            <a:pPr algn="just">
              <a:lnSpc>
                <a:spcPct val="120000"/>
              </a:lnSpc>
            </a:pPr>
            <a:r>
              <a:rPr lang="en-US" sz="2200" b="1" i="1">
                <a:solidFill>
                  <a:srgbClr val="FF0000"/>
                </a:solidFill>
                <a:latin typeface="Arial" panose="020B0604020202020204" pitchFamily="34" charset="0"/>
                <a:cs typeface="Arial" panose="020B0604020202020204" pitchFamily="34" charset="0"/>
              </a:rPr>
              <a:t>3. Phương pháp lập dàn ý (Outline Method)</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Lập dàn ý là một trong những phương pháp ghi chép đơn giản nhất mà bất kỳ ai cũng có thể áp dụng được mà không gặp phải vấn đề gì. Trên thực tế, phương pháp lập dàn ý được lấy cảm hứng từ phương pháp ghi chú Cornell vì giữa chúng có một vài điểm điểm tương đồng.</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Khi sử dụng phương pháp lập dàn ý, ý tưởng là chọn bốn hoặc năm điểm chính sẽ được đề cập trong một bài học cụ thể . Dưới những điểm chính đó, bạn viết những điểm phụ chuyên sâu hơn dựa trên những gì đang được thảo luận về các chủ đề đó. Và điểm đặc biệt ở phương pháp này là mối quan hệ giữa các phần khác nhau được thực hiện thông qua việc thụt lề.</a:t>
            </a:r>
          </a:p>
          <a:p>
            <a:pPr algn="just"/>
            <a:endParaRPr lang="en-US">
              <a:solidFill>
                <a:srgbClr val="076365"/>
              </a:solidFill>
              <a:latin typeface="Arial" panose="020B0604020202020204" pitchFamily="34" charset="0"/>
              <a:cs typeface="Arial" panose="020B0604020202020204" pitchFamily="34" charset="0"/>
            </a:endParaRPr>
          </a:p>
        </p:txBody>
      </p:sp>
      <p:pic>
        <p:nvPicPr>
          <p:cNvPr id="4" name="Content Placeholder 3"/>
          <p:cNvPicPr>
            <a:picLocks noGrp="1" noChangeAspect="1"/>
          </p:cNvPicPr>
          <p:nvPr>
            <p:ph idx="1"/>
            <p:custDataLst>
              <p:tags r:id="rId1"/>
            </p:custDataLst>
          </p:nvPr>
        </p:nvPicPr>
        <p:blipFill>
          <a:blip r:embed="rId3"/>
          <a:stretch>
            <a:fillRect/>
          </a:stretch>
        </p:blipFill>
        <p:spPr>
          <a:xfrm>
            <a:off x="5561965" y="1945005"/>
            <a:ext cx="6482080" cy="34029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2</a:t>
            </a:r>
            <a:r>
              <a:rPr lang="en-US" sz="2665" smtClean="0">
                <a:solidFill>
                  <a:srgbClr val="076365"/>
                </a:solidFill>
                <a:latin typeface="Arial" panose="020B0604020202020204" pitchFamily="34" charset="0"/>
                <a:cs typeface="Arial" panose="020B0604020202020204" pitchFamily="34" charset="0"/>
                <a:sym typeface="+mn-ea"/>
              </a:rPr>
              <a:t>.2</a:t>
            </a:r>
            <a:r>
              <a:rPr lang="en-US" sz="2665">
                <a:solidFill>
                  <a:srgbClr val="076365"/>
                </a:solidFill>
                <a:latin typeface="Arial" panose="020B0604020202020204" pitchFamily="34" charset="0"/>
                <a:cs typeface="Arial" panose="020B0604020202020204" pitchFamily="34" charset="0"/>
                <a:sym typeface="+mn-ea"/>
              </a:rPr>
              <a:t>. Phát triển kỹ năng tư duy phản biện</a:t>
            </a:r>
          </a:p>
        </p:txBody>
      </p:sp>
      <p:sp>
        <p:nvSpPr>
          <p:cNvPr id="3" name="Text Box 2"/>
          <p:cNvSpPr txBox="1"/>
          <p:nvPr/>
        </p:nvSpPr>
        <p:spPr>
          <a:xfrm>
            <a:off x="269240" y="803910"/>
            <a:ext cx="8117840" cy="5908040"/>
          </a:xfrm>
          <a:prstGeom prst="rect">
            <a:avLst/>
          </a:prstGeom>
          <a:noFill/>
        </p:spPr>
        <p:txBody>
          <a:bodyPr wrap="square" rtlCol="0" anchor="t">
            <a:spAutoFit/>
          </a:bodyPr>
          <a:lstStyle/>
          <a:p>
            <a:pPr algn="just"/>
            <a:r>
              <a:rPr lang="en-US" b="1" i="1">
                <a:solidFill>
                  <a:srgbClr val="FF0000"/>
                </a:solidFill>
                <a:latin typeface="Arial" panose="020B0604020202020204" pitchFamily="34" charset="0"/>
                <a:cs typeface="Arial" panose="020B0604020202020204" pitchFamily="34" charset="0"/>
              </a:rPr>
              <a:t>Phản biện là gì?</a:t>
            </a:r>
          </a:p>
          <a:p>
            <a:pPr indent="457200" algn="just"/>
            <a:r>
              <a:rPr lang="en-US">
                <a:solidFill>
                  <a:srgbClr val="076365"/>
                </a:solidFill>
                <a:latin typeface="Arial" panose="020B0604020202020204" pitchFamily="34" charset="0"/>
                <a:cs typeface="Arial" panose="020B0604020202020204" pitchFamily="34" charset="0"/>
              </a:rPr>
              <a:t>Phản biện là quá trình sử dụng lập luận, chứng cứ và logic để bác bỏ hoặc đối luận với một quan điểm, ý kiến hoặc tuyên bố nào đó. Nó liên quan đến việc cung cấp lý do và bằng chứng để chứng minh rằng một quan điểm nào đó là sai hoặc không hợp lý. Phản biện thường được thực hiện bằng cách sử dụng các luận điểm logic và thông tin thực tế để chứng minh một quan điểm mới, hoặc để bác bỏ hoặc chỉnh sửa một quan điểm hiện tại.</a:t>
            </a:r>
          </a:p>
          <a:p>
            <a:pPr algn="just"/>
            <a:r>
              <a:rPr lang="en-US" b="1" i="1">
                <a:solidFill>
                  <a:srgbClr val="FF0000"/>
                </a:solidFill>
                <a:latin typeface="Arial" panose="020B0604020202020204" pitchFamily="34" charset="0"/>
                <a:cs typeface="Arial" panose="020B0604020202020204" pitchFamily="34" charset="0"/>
              </a:rPr>
              <a:t>Tư duy phản biện là gì?</a:t>
            </a:r>
          </a:p>
          <a:p>
            <a:pPr indent="457200" algn="just"/>
            <a:r>
              <a:rPr lang="en-US">
                <a:solidFill>
                  <a:srgbClr val="076365"/>
                </a:solidFill>
                <a:latin typeface="Arial" panose="020B0604020202020204" pitchFamily="34" charset="0"/>
                <a:cs typeface="Arial" panose="020B0604020202020204" pitchFamily="34" charset="0"/>
              </a:rPr>
              <a:t>Tư duy phản biện (Critical Thinking) là quá trình tư duy phân tích đưa ra những đánh giá hợp lý, lập luận logic và được cân nhắc kỹ lưỡng thông qua khả năng đặt những câu hỏi như tại sao, làm thế nào, bằng cách gì, như thế nào,... về những gì được đọc, nghe, nói hoặc viết.</a:t>
            </a:r>
          </a:p>
          <a:p>
            <a:pPr indent="457200" algn="just"/>
            <a:r>
              <a:rPr lang="en-US">
                <a:solidFill>
                  <a:srgbClr val="076365"/>
                </a:solidFill>
                <a:latin typeface="Arial" panose="020B0604020202020204" pitchFamily="34" charset="0"/>
                <a:cs typeface="Arial" panose="020B0604020202020204" pitchFamily="34" charset="0"/>
              </a:rPr>
              <a:t>Tư duy phản biện được xây dựng dựa trên những lý tưởng trí tuệ phổ quát, bao gồm: sự rõ ràng, đúng đắn, chính xác, nhất quán, phù hợp, bằng chứng vững chắc, lập luận xuất sắc, sâu sắc và công bằng. Điều này đòi hỏi phải xem xét lại những yếu tố tư duy tiềm ẩn trong mọi lập luận: vấn đề, mục đích, giả định, hậu quả và ý nghĩa, hệ quy chiếu,...</a:t>
            </a:r>
          </a:p>
          <a:p>
            <a:pPr indent="457200" algn="just"/>
            <a:r>
              <a:rPr lang="en-US">
                <a:solidFill>
                  <a:srgbClr val="076365"/>
                </a:solidFill>
                <a:latin typeface="Arial" panose="020B0604020202020204" pitchFamily="34" charset="0"/>
                <a:cs typeface="Arial" panose="020B0604020202020204" pitchFamily="34" charset="0"/>
              </a:rPr>
              <a:t>Tư duy phản biện rất hữu ích trong nhiều tình huống, bao gồm đánh giá thông tin trên phương tiện truyền thông, tham gia vào cuộc thảo luận và tranh luận xây dựng, đưa ra quyết định thông minh dựa trên thông tin có sẵn và cải thiện khả năng giải quyết vấn đề.</a:t>
            </a:r>
          </a:p>
        </p:txBody>
      </p:sp>
      <p:pic>
        <p:nvPicPr>
          <p:cNvPr id="4" name="Content Placeholder 3"/>
          <p:cNvPicPr>
            <a:picLocks noGrp="1" noChangeAspect="1"/>
          </p:cNvPicPr>
          <p:nvPr>
            <p:ph sz="half" idx="1"/>
          </p:nvPr>
        </p:nvPicPr>
        <p:blipFill>
          <a:blip r:embed="rId2"/>
          <a:stretch>
            <a:fillRect/>
          </a:stretch>
        </p:blipFill>
        <p:spPr>
          <a:xfrm>
            <a:off x="8400415" y="1417320"/>
            <a:ext cx="3732530" cy="2495550"/>
          </a:xfrm>
          <a:prstGeom prst="rect">
            <a:avLst/>
          </a:prstGeom>
        </p:spPr>
      </p:pic>
      <p:pic>
        <p:nvPicPr>
          <p:cNvPr id="5" name="Content Placeholder 4"/>
          <p:cNvPicPr>
            <a:picLocks noGrp="1" noChangeAspect="1"/>
          </p:cNvPicPr>
          <p:nvPr>
            <p:ph sz="half" idx="2"/>
          </p:nvPr>
        </p:nvPicPr>
        <p:blipFill>
          <a:blip r:embed="rId3"/>
          <a:stretch>
            <a:fillRect/>
          </a:stretch>
        </p:blipFill>
        <p:spPr>
          <a:xfrm>
            <a:off x="8355330" y="4165600"/>
            <a:ext cx="3674110" cy="20764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2</a:t>
            </a:r>
            <a:r>
              <a:rPr lang="en-US" sz="2665" smtClean="0">
                <a:solidFill>
                  <a:srgbClr val="076365"/>
                </a:solidFill>
                <a:latin typeface="Arial" panose="020B0604020202020204" pitchFamily="34" charset="0"/>
                <a:cs typeface="Arial" panose="020B0604020202020204" pitchFamily="34" charset="0"/>
                <a:sym typeface="+mn-ea"/>
              </a:rPr>
              <a:t>.2</a:t>
            </a:r>
            <a:r>
              <a:rPr lang="en-US" sz="2665">
                <a:solidFill>
                  <a:srgbClr val="076365"/>
                </a:solidFill>
                <a:latin typeface="Arial" panose="020B0604020202020204" pitchFamily="34" charset="0"/>
                <a:cs typeface="Arial" panose="020B0604020202020204" pitchFamily="34" charset="0"/>
                <a:sym typeface="+mn-ea"/>
              </a:rPr>
              <a:t>. Phát triển kỹ năng tư duy phản biện</a:t>
            </a:r>
          </a:p>
        </p:txBody>
      </p:sp>
      <p:sp>
        <p:nvSpPr>
          <p:cNvPr id="3" name="Text Box 2"/>
          <p:cNvSpPr txBox="1"/>
          <p:nvPr/>
        </p:nvSpPr>
        <p:spPr>
          <a:xfrm>
            <a:off x="151130" y="763270"/>
            <a:ext cx="11855450" cy="5969635"/>
          </a:xfrm>
          <a:prstGeom prst="rect">
            <a:avLst/>
          </a:prstGeom>
          <a:noFill/>
        </p:spPr>
        <p:txBody>
          <a:bodyPr wrap="square" rtlCol="0" anchor="t">
            <a:spAutoFit/>
          </a:bodyPr>
          <a:lstStyle/>
          <a:p>
            <a:pPr algn="just"/>
            <a:r>
              <a:rPr lang="en-US" sz="2200" b="1" i="1">
                <a:solidFill>
                  <a:srgbClr val="FF0000"/>
                </a:solidFill>
                <a:latin typeface="Arial" panose="020B0604020202020204" pitchFamily="34" charset="0"/>
                <a:cs typeface="Arial" panose="020B0604020202020204" pitchFamily="34" charset="0"/>
              </a:rPr>
              <a:t>6 Cấp độ trong tư duy phản biện (Critical Thinking)</a:t>
            </a:r>
          </a:p>
          <a:p>
            <a:pPr indent="457200" algn="just"/>
            <a:r>
              <a:rPr lang="en-US" b="1">
                <a:solidFill>
                  <a:srgbClr val="076365"/>
                </a:solidFill>
                <a:latin typeface="Arial" panose="020B0604020202020204" pitchFamily="34" charset="0"/>
                <a:cs typeface="Arial" panose="020B0604020202020204" pitchFamily="34" charset="0"/>
              </a:rPr>
              <a:t>Cấp độ 1</a:t>
            </a:r>
            <a:r>
              <a:rPr lang="en-US">
                <a:solidFill>
                  <a:srgbClr val="076365"/>
                </a:solidFill>
                <a:latin typeface="Arial" panose="020B0604020202020204" pitchFamily="34" charset="0"/>
                <a:cs typeface="Arial" panose="020B0604020202020204" pitchFamily="34" charset="0"/>
              </a:rPr>
              <a:t> - The Unreflective Thinker: Ở cấp độ này, chúng ta có thể hiểu rằng tư duy phản biện không hề tồn tại. Một người không phản ánh được suy nghĩ của bản thân, chỉ hành động dựa vào những ý kiến của người khác. Họ bốc đồng, thiếu những kỹ năng quan trọng để phân tích những suy nghĩ của mình.</a:t>
            </a:r>
          </a:p>
          <a:p>
            <a:pPr indent="457200" algn="just"/>
            <a:r>
              <a:rPr lang="en-US" b="1">
                <a:solidFill>
                  <a:srgbClr val="076365"/>
                </a:solidFill>
                <a:latin typeface="Arial" panose="020B0604020202020204" pitchFamily="34" charset="0"/>
                <a:cs typeface="Arial" panose="020B0604020202020204" pitchFamily="34" charset="0"/>
              </a:rPr>
              <a:t>Cấp độ 2 </a:t>
            </a:r>
            <a:r>
              <a:rPr lang="en-US">
                <a:solidFill>
                  <a:srgbClr val="076365"/>
                </a:solidFill>
                <a:latin typeface="Arial" panose="020B0604020202020204" pitchFamily="34" charset="0"/>
                <a:cs typeface="Arial" panose="020B0604020202020204" pitchFamily="34" charset="0"/>
              </a:rPr>
              <a:t>- The Challenged Thinker: Những người ở cấp độ này đã có nhận thức sâu sắc về tầm quan trọng của tư duy phản biện, đồng thời nhận ra thiếu sót này của bản thân. Họ cũng có ý thức khắc phục bằng cách đưa ra những suy nghĩ, quan điểm, góc nhìn khách quan, tuy nhiên vẫn còn hời hợt, không thực sự tập trung.</a:t>
            </a:r>
          </a:p>
          <a:p>
            <a:pPr indent="457200" algn="just"/>
            <a:r>
              <a:rPr lang="en-US" b="1">
                <a:solidFill>
                  <a:srgbClr val="076365"/>
                </a:solidFill>
                <a:latin typeface="Arial" panose="020B0604020202020204" pitchFamily="34" charset="0"/>
                <a:cs typeface="Arial" panose="020B0604020202020204" pitchFamily="34" charset="0"/>
              </a:rPr>
              <a:t>Cấp độ 3</a:t>
            </a:r>
            <a:r>
              <a:rPr lang="en-US">
                <a:solidFill>
                  <a:srgbClr val="076365"/>
                </a:solidFill>
                <a:latin typeface="Arial" panose="020B0604020202020204" pitchFamily="34" charset="0"/>
                <a:cs typeface="Arial" panose="020B0604020202020204" pitchFamily="34" charset="0"/>
              </a:rPr>
              <a:t> - The Beginning Thinker: Ở cấp độ thứ 3 này, mỗi cá nhân sẽ chủ động kiểm soát những suy nghĩ, hành vi của họ trong các lĩnh vực rộng lớn hơn. Họ hiểu rằng những suy nghĩ của mình có thể có những điểm mù và các hạn chế nên tìm cách khắc phục những vấn đề này.</a:t>
            </a:r>
          </a:p>
          <a:p>
            <a:pPr indent="457200" algn="just"/>
            <a:r>
              <a:rPr lang="en-US" b="1">
                <a:solidFill>
                  <a:srgbClr val="076365"/>
                </a:solidFill>
                <a:latin typeface="Arial" panose="020B0604020202020204" pitchFamily="34" charset="0"/>
                <a:cs typeface="Arial" panose="020B0604020202020204" pitchFamily="34" charset="0"/>
              </a:rPr>
              <a:t>Cấp độ 4</a:t>
            </a:r>
            <a:r>
              <a:rPr lang="en-US">
                <a:solidFill>
                  <a:srgbClr val="076365"/>
                </a:solidFill>
                <a:latin typeface="Arial" panose="020B0604020202020204" pitchFamily="34" charset="0"/>
                <a:cs typeface="Arial" panose="020B0604020202020204" pitchFamily="34" charset="0"/>
              </a:rPr>
              <a:t> - The Practical Thinker: Một người đạt cấp độ tư duy ở mức này sẽ dễ dàng nhận ra thiếu sót của bản thân và tự phát triển một số kỹ năng cần thiết để giải quyết chúng. Họ sẽ rèn luyện thói quen suy nghĩ tốt hơn, bằng cách phát triển một kế hoạch bài bản, có hệ thống các phương pháp thực hành nhằm thực hiện các bước cải tiến tăng dần và có kiểm soát.</a:t>
            </a:r>
          </a:p>
          <a:p>
            <a:pPr indent="457200" algn="just"/>
            <a:r>
              <a:rPr lang="en-US" b="1">
                <a:solidFill>
                  <a:srgbClr val="076365"/>
                </a:solidFill>
                <a:latin typeface="Arial" panose="020B0604020202020204" pitchFamily="34" charset="0"/>
                <a:cs typeface="Arial" panose="020B0604020202020204" pitchFamily="34" charset="0"/>
              </a:rPr>
              <a:t>Cấp độ 5</a:t>
            </a:r>
            <a:r>
              <a:rPr lang="en-US">
                <a:solidFill>
                  <a:srgbClr val="076365"/>
                </a:solidFill>
                <a:latin typeface="Arial" panose="020B0604020202020204" pitchFamily="34" charset="0"/>
                <a:cs typeface="Arial" panose="020B0604020202020204" pitchFamily="34" charset="0"/>
              </a:rPr>
              <a:t> - The Advanced thinker: Những người ở cấp độ này có tư duy phản biện gần như trở thành một thói quen khi nhìn vào các vấn đề trong cuộc sống. Họ thường có thể phát hiện ra những định kiến trong suy nghĩ, hiểu biết của chính họ và từ quan điểm của người khác. Những người này luôn nghiêm khắc trong việc tự phê bình, đồng thời có những kế hoạch bài bản trong quá trình cải thiện bản thân.</a:t>
            </a:r>
          </a:p>
          <a:p>
            <a:pPr indent="457200" algn="just"/>
            <a:r>
              <a:rPr lang="en-US" b="1">
                <a:solidFill>
                  <a:srgbClr val="076365"/>
                </a:solidFill>
                <a:latin typeface="Arial" panose="020B0604020202020204" pitchFamily="34" charset="0"/>
                <a:cs typeface="Arial" panose="020B0604020202020204" pitchFamily="34" charset="0"/>
              </a:rPr>
              <a:t>Cấp độ 6 </a:t>
            </a:r>
            <a:r>
              <a:rPr lang="en-US">
                <a:solidFill>
                  <a:srgbClr val="076365"/>
                </a:solidFill>
                <a:latin typeface="Arial" panose="020B0604020202020204" pitchFamily="34" charset="0"/>
                <a:cs typeface="Arial" panose="020B0604020202020204" pitchFamily="34" charset="0"/>
              </a:rPr>
              <a:t>- The Master Thinker: Đây là cấp độ mà tư duy phản biện đã trở thành một kiểu phản xạ của não bộ, những người đạt đến cấp độ này chính là những người có tư duy bậc thầy trong việc kiểm soát hoàn toàn cách họ đưa ra quyết định và xử lý thông tin.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2</a:t>
            </a:r>
            <a:r>
              <a:rPr lang="en-US" sz="2665" smtClean="0">
                <a:solidFill>
                  <a:srgbClr val="076365"/>
                </a:solidFill>
                <a:latin typeface="Arial" panose="020B0604020202020204" pitchFamily="34" charset="0"/>
                <a:cs typeface="Arial" panose="020B0604020202020204" pitchFamily="34" charset="0"/>
                <a:sym typeface="+mn-ea"/>
              </a:rPr>
              <a:t>.2</a:t>
            </a:r>
            <a:r>
              <a:rPr lang="en-US" sz="2665">
                <a:solidFill>
                  <a:srgbClr val="076365"/>
                </a:solidFill>
                <a:latin typeface="Arial" panose="020B0604020202020204" pitchFamily="34" charset="0"/>
                <a:cs typeface="Arial" panose="020B0604020202020204" pitchFamily="34" charset="0"/>
                <a:sym typeface="+mn-ea"/>
              </a:rPr>
              <a:t>. Phát triển kỹ năng tư duy phản biện</a:t>
            </a:r>
          </a:p>
        </p:txBody>
      </p:sp>
      <p:sp>
        <p:nvSpPr>
          <p:cNvPr id="3" name="Text Box 2"/>
          <p:cNvSpPr txBox="1"/>
          <p:nvPr/>
        </p:nvSpPr>
        <p:spPr>
          <a:xfrm>
            <a:off x="300990" y="701040"/>
            <a:ext cx="11696700" cy="6222365"/>
          </a:xfrm>
          <a:prstGeom prst="rect">
            <a:avLst/>
          </a:prstGeom>
          <a:noFill/>
        </p:spPr>
        <p:txBody>
          <a:bodyPr wrap="square" rtlCol="0" anchor="t">
            <a:spAutoFit/>
          </a:bodyPr>
          <a:lstStyle/>
          <a:p>
            <a:pPr algn="just">
              <a:lnSpc>
                <a:spcPct val="110000"/>
              </a:lnSpc>
            </a:pPr>
            <a:r>
              <a:rPr lang="en-US" sz="2200" b="1" i="1">
                <a:solidFill>
                  <a:srgbClr val="FF0000"/>
                </a:solidFill>
                <a:latin typeface="Arial" panose="020B0604020202020204" pitchFamily="34" charset="0"/>
                <a:cs typeface="Arial" panose="020B0604020202020204" pitchFamily="34" charset="0"/>
              </a:rPr>
              <a:t>Các kỹ năng cần có để phát triển tư duy phản biện</a:t>
            </a:r>
          </a:p>
          <a:p>
            <a:pPr algn="just">
              <a:lnSpc>
                <a:spcPct val="110000"/>
              </a:lnSpc>
            </a:pPr>
            <a:r>
              <a:rPr lang="en-US" b="1">
                <a:solidFill>
                  <a:srgbClr val="076365"/>
                </a:solidFill>
                <a:latin typeface="Arial" panose="020B0604020202020204" pitchFamily="34" charset="0"/>
                <a:cs typeface="Arial" panose="020B0604020202020204" pitchFamily="34" charset="0"/>
              </a:rPr>
              <a:t>1. Kỹ năng quan sát: </a:t>
            </a:r>
            <a:r>
              <a:rPr lang="en-US">
                <a:solidFill>
                  <a:srgbClr val="076365"/>
                </a:solidFill>
                <a:latin typeface="Arial" panose="020B0604020202020204" pitchFamily="34" charset="0"/>
                <a:cs typeface="Arial" panose="020B0604020202020204" pitchFamily="34" charset="0"/>
              </a:rPr>
              <a:t>Khi quan sát một vấn đề, tình huống, chúng ta có thể thu thập nhiều thông tin, dữ kiện quan trọng để có cái nhìn toàn diện hơn. Điều này giúp phân tích, đánh giá, đưa ra lập luận logic và hợp lý. Kỹ năng quan sát đồng thời cũng giúp phát hiện những điểm không rõ ràng, những mâu thuẫn trong vấn đề, để từ đó đưa ra nhận định đáng tin cậy hơn.</a:t>
            </a:r>
          </a:p>
          <a:p>
            <a:pPr algn="just">
              <a:lnSpc>
                <a:spcPct val="110000"/>
              </a:lnSpc>
            </a:pPr>
            <a:r>
              <a:rPr lang="en-US" b="1">
                <a:solidFill>
                  <a:srgbClr val="076365"/>
                </a:solidFill>
                <a:latin typeface="Arial" panose="020B0604020202020204" pitchFamily="34" charset="0"/>
                <a:cs typeface="Arial" panose="020B0604020202020204" pitchFamily="34" charset="0"/>
              </a:rPr>
              <a:t>2. Kỹ năng giao tiếp: </a:t>
            </a:r>
            <a:r>
              <a:rPr lang="en-US">
                <a:solidFill>
                  <a:srgbClr val="076365"/>
                </a:solidFill>
                <a:latin typeface="Arial" panose="020B0604020202020204" pitchFamily="34" charset="0"/>
                <a:cs typeface="Arial" panose="020B0604020202020204" pitchFamily="34" charset="0"/>
              </a:rPr>
              <a:t>Kỹ năng giao tiếp giúp mỗi cá nhân truyền đạt những ý kiến, quan điểm, lập luận một cách rõ ràng, logic và thuyết phục. Đồng thời biết cách lắng nghe, phân tích và hiểu được quan điểm của người khác, kỹ năng giao tiếp còn giúp xử lý các xung đột, thảo luận theo hướng xây dựng, tìm kiếm giải pháp.</a:t>
            </a:r>
          </a:p>
          <a:p>
            <a:pPr algn="just">
              <a:lnSpc>
                <a:spcPct val="110000"/>
              </a:lnSpc>
            </a:pPr>
            <a:r>
              <a:rPr lang="en-US" b="1">
                <a:solidFill>
                  <a:srgbClr val="076365"/>
                </a:solidFill>
                <a:latin typeface="Arial" panose="020B0604020202020204" pitchFamily="34" charset="0"/>
                <a:cs typeface="Arial" panose="020B0604020202020204" pitchFamily="34" charset="0"/>
              </a:rPr>
              <a:t>3. Kỹ năng phân tích: </a:t>
            </a:r>
            <a:r>
              <a:rPr lang="en-US">
                <a:solidFill>
                  <a:srgbClr val="076365"/>
                </a:solidFill>
                <a:latin typeface="Arial" panose="020B0604020202020204" pitchFamily="34" charset="0"/>
                <a:cs typeface="Arial" panose="020B0604020202020204" pitchFamily="34" charset="0"/>
              </a:rPr>
              <a:t>Kỹ năng phân tích giúp phân rã một vấn đề thành các phần nhỏ, nhằm hiểu sâu hơn về bản chất bên trong. Kỹ năng này cũng giúp đánh giá tính logic, độ chính xác của các nguồn thông tin, tài liệu, đồng thời cung cấp khả năng suy luận một cách chính xác, điều này hỗ trợ rất nhiều cho tư duy phản biện.</a:t>
            </a:r>
          </a:p>
          <a:p>
            <a:pPr algn="just">
              <a:lnSpc>
                <a:spcPct val="110000"/>
              </a:lnSpc>
            </a:pPr>
            <a:r>
              <a:rPr lang="en-US" b="1">
                <a:solidFill>
                  <a:srgbClr val="076365"/>
                </a:solidFill>
                <a:latin typeface="Arial" panose="020B0604020202020204" pitchFamily="34" charset="0"/>
                <a:cs typeface="Arial" panose="020B0604020202020204" pitchFamily="34" charset="0"/>
              </a:rPr>
              <a:t>4. Kỹ năng đàm phán: </a:t>
            </a:r>
            <a:r>
              <a:rPr lang="en-US">
                <a:solidFill>
                  <a:srgbClr val="076365"/>
                </a:solidFill>
                <a:latin typeface="Arial" panose="020B0604020202020204" pitchFamily="34" charset="0"/>
                <a:cs typeface="Arial" panose="020B0604020202020204" pitchFamily="34" charset="0"/>
              </a:rPr>
              <a:t>Quá trình đàm phán cũng thường phải đặt những câu hỏi, phân tích, đánh giá nhiều quan điểm, giúp mỗi cá nhân tự tin hơn trong việc đưa ra quyết định.</a:t>
            </a:r>
          </a:p>
          <a:p>
            <a:pPr algn="just">
              <a:lnSpc>
                <a:spcPct val="110000"/>
              </a:lnSpc>
            </a:pPr>
            <a:r>
              <a:rPr lang="en-US" b="1">
                <a:solidFill>
                  <a:srgbClr val="076365"/>
                </a:solidFill>
                <a:latin typeface="Arial" panose="020B0604020202020204" pitchFamily="34" charset="0"/>
                <a:cs typeface="Arial" panose="020B0604020202020204" pitchFamily="34" charset="0"/>
              </a:rPr>
              <a:t>5. Kỹ năng giải quyết vấn đề: </a:t>
            </a:r>
            <a:r>
              <a:rPr lang="en-US">
                <a:solidFill>
                  <a:srgbClr val="076365"/>
                </a:solidFill>
                <a:latin typeface="Arial" panose="020B0604020202020204" pitchFamily="34" charset="0"/>
                <a:cs typeface="Arial" panose="020B0604020202020204" pitchFamily="34" charset="0"/>
              </a:rPr>
              <a:t>Kỹ năng giải quyết vấn đề xuất sắc giúp mỗi người tiếp cận với vấn đề một cách cấu trúc và có hệ thống. Kỹ năng này là yếu tố không thể thiếu để hình thành và phát triển tư duy phản biện.</a:t>
            </a:r>
          </a:p>
          <a:p>
            <a:pPr algn="just">
              <a:lnSpc>
                <a:spcPct val="110000"/>
              </a:lnSpc>
            </a:pPr>
            <a:r>
              <a:rPr lang="en-US" b="1">
                <a:solidFill>
                  <a:srgbClr val="076365"/>
                </a:solidFill>
                <a:latin typeface="Arial" panose="020B0604020202020204" pitchFamily="34" charset="0"/>
                <a:cs typeface="Arial" panose="020B0604020202020204" pitchFamily="34" charset="0"/>
              </a:rPr>
              <a:t>6. Suy luận: </a:t>
            </a:r>
            <a:r>
              <a:rPr lang="en-US">
                <a:solidFill>
                  <a:srgbClr val="076365"/>
                </a:solidFill>
                <a:latin typeface="Arial" panose="020B0604020202020204" pitchFamily="34" charset="0"/>
                <a:cs typeface="Arial" panose="020B0604020202020204" pitchFamily="34" charset="0"/>
              </a:rPr>
              <a:t>Suy luận là quá trình suy nghĩ, phân tích để đưa ra kết luận từ những dữ liệu, chứng cứ có sẵn. Trong tư duy phản biện, suy luận giúp đánh giá dữ liệu, đưa ra những luận điểm rõ ràng, quyết định hợp lý và logic. Suy luận đồng thời cũng giúp phát hiện và đối mặt với những điểm mâu thuẫn hoặc những giả định chưa hợp lý. Đây là yếu tố hỗ trợ rất nhiều trong tư duy phản biện, giúp đưa ra những kết luận logic và có căn cứ.</a:t>
            </a:r>
          </a:p>
          <a:p>
            <a:pPr algn="just"/>
            <a:endParaRPr lang="en-US">
              <a:solidFill>
                <a:srgbClr val="076365"/>
              </a:solidFill>
              <a:latin typeface="Arial" panose="020B0604020202020204" pitchFamily="34" charset="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2</a:t>
            </a:r>
            <a:r>
              <a:rPr lang="en-US" sz="2665" smtClean="0">
                <a:solidFill>
                  <a:srgbClr val="076365"/>
                </a:solidFill>
                <a:latin typeface="Arial" panose="020B0604020202020204" pitchFamily="34" charset="0"/>
                <a:cs typeface="Arial" panose="020B0604020202020204" pitchFamily="34" charset="0"/>
                <a:sym typeface="+mn-ea"/>
              </a:rPr>
              <a:t>.2</a:t>
            </a:r>
            <a:r>
              <a:rPr lang="en-US" sz="2665">
                <a:solidFill>
                  <a:srgbClr val="076365"/>
                </a:solidFill>
                <a:latin typeface="Arial" panose="020B0604020202020204" pitchFamily="34" charset="0"/>
                <a:cs typeface="Arial" panose="020B0604020202020204" pitchFamily="34" charset="0"/>
                <a:sym typeface="+mn-ea"/>
              </a:rPr>
              <a:t>. Phát triển kỹ năng tư duy phản biện</a:t>
            </a:r>
          </a:p>
        </p:txBody>
      </p:sp>
      <p:sp>
        <p:nvSpPr>
          <p:cNvPr id="3" name="Text Box 2"/>
          <p:cNvSpPr txBox="1"/>
          <p:nvPr/>
        </p:nvSpPr>
        <p:spPr>
          <a:xfrm>
            <a:off x="342900" y="858520"/>
            <a:ext cx="6564630" cy="2595245"/>
          </a:xfrm>
          <a:prstGeom prst="rect">
            <a:avLst/>
          </a:prstGeom>
          <a:noFill/>
        </p:spPr>
        <p:txBody>
          <a:bodyPr wrap="square" rtlCol="0" anchor="t">
            <a:spAutoFit/>
          </a:bodyPr>
          <a:lstStyle/>
          <a:p>
            <a:pPr>
              <a:lnSpc>
                <a:spcPct val="110000"/>
              </a:lnSpc>
            </a:pPr>
            <a:r>
              <a:rPr lang="en-US" sz="2200" b="1" i="1">
                <a:solidFill>
                  <a:srgbClr val="FF0000"/>
                </a:solidFill>
                <a:latin typeface="Arial" panose="020B0604020202020204" pitchFamily="34" charset="0"/>
                <a:cs typeface="Arial" panose="020B0604020202020204" pitchFamily="34" charset="0"/>
              </a:rPr>
              <a:t>Cách rèn luyện kỹ năng tư duy phản biện</a:t>
            </a:r>
          </a:p>
          <a:p>
            <a:pPr>
              <a:lnSpc>
                <a:spcPct val="110000"/>
              </a:lnSpc>
            </a:pPr>
            <a:r>
              <a:rPr lang="en-US">
                <a:solidFill>
                  <a:srgbClr val="076365"/>
                </a:solidFill>
                <a:latin typeface="Arial" panose="020B0604020202020204" pitchFamily="34" charset="0"/>
                <a:cs typeface="Arial" panose="020B0604020202020204" pitchFamily="34" charset="0"/>
              </a:rPr>
              <a:t>1. Đọc nhiều sách, tin tức</a:t>
            </a:r>
          </a:p>
          <a:p>
            <a:pPr>
              <a:lnSpc>
                <a:spcPct val="110000"/>
              </a:lnSpc>
            </a:pPr>
            <a:r>
              <a:rPr lang="en-US">
                <a:solidFill>
                  <a:srgbClr val="076365"/>
                </a:solidFill>
                <a:latin typeface="Arial" panose="020B0604020202020204" pitchFamily="34" charset="0"/>
                <a:cs typeface="Arial" panose="020B0604020202020204" pitchFamily="34" charset="0"/>
              </a:rPr>
              <a:t>2. Thảo luận với người khác</a:t>
            </a:r>
          </a:p>
          <a:p>
            <a:pPr>
              <a:lnSpc>
                <a:spcPct val="110000"/>
              </a:lnSpc>
            </a:pPr>
            <a:r>
              <a:rPr lang="en-US">
                <a:solidFill>
                  <a:srgbClr val="076365"/>
                </a:solidFill>
                <a:latin typeface="Arial" panose="020B0604020202020204" pitchFamily="34" charset="0"/>
                <a:cs typeface="Arial" panose="020B0604020202020204" pitchFamily="34" charset="0"/>
              </a:rPr>
              <a:t>3. Luôn đặt câu hỏi</a:t>
            </a:r>
          </a:p>
          <a:p>
            <a:pPr>
              <a:lnSpc>
                <a:spcPct val="110000"/>
              </a:lnSpc>
            </a:pPr>
            <a:r>
              <a:rPr lang="en-US">
                <a:solidFill>
                  <a:srgbClr val="076365"/>
                </a:solidFill>
                <a:latin typeface="Arial" panose="020B0604020202020204" pitchFamily="34" charset="0"/>
                <a:cs typeface="Arial" panose="020B0604020202020204" pitchFamily="34" charset="0"/>
              </a:rPr>
              <a:t>4. Đọc và viết các bài luận</a:t>
            </a:r>
          </a:p>
          <a:p>
            <a:pPr>
              <a:lnSpc>
                <a:spcPct val="110000"/>
              </a:lnSpc>
            </a:pPr>
            <a:r>
              <a:rPr lang="en-US">
                <a:solidFill>
                  <a:srgbClr val="076365"/>
                </a:solidFill>
                <a:latin typeface="Arial" panose="020B0604020202020204" pitchFamily="34" charset="0"/>
                <a:cs typeface="Arial" panose="020B0604020202020204" pitchFamily="34" charset="0"/>
              </a:rPr>
              <a:t>5. Thực hành giải quyết vấn đề</a:t>
            </a:r>
          </a:p>
          <a:p>
            <a:pPr>
              <a:lnSpc>
                <a:spcPct val="110000"/>
              </a:lnSpc>
            </a:pPr>
            <a:r>
              <a:rPr lang="en-US">
                <a:solidFill>
                  <a:srgbClr val="076365"/>
                </a:solidFill>
                <a:latin typeface="Arial" panose="020B0604020202020204" pitchFamily="34" charset="0"/>
                <a:cs typeface="Arial" panose="020B0604020202020204" pitchFamily="34" charset="0"/>
              </a:rPr>
              <a:t>6. Sử dụng số liệu dẫn chứng</a:t>
            </a:r>
          </a:p>
          <a:p>
            <a:pPr>
              <a:lnSpc>
                <a:spcPct val="110000"/>
              </a:lnSpc>
            </a:pPr>
            <a:r>
              <a:rPr lang="en-US">
                <a:solidFill>
                  <a:srgbClr val="076365"/>
                </a:solidFill>
                <a:latin typeface="Arial" panose="020B0604020202020204" pitchFamily="34" charset="0"/>
                <a:cs typeface="Arial" panose="020B0604020202020204" pitchFamily="34" charset="0"/>
              </a:rPr>
              <a:t>7. Thử nghiệm các phương pháp tư duy phản biện khác nhau</a:t>
            </a:r>
          </a:p>
        </p:txBody>
      </p:sp>
      <p:pic>
        <p:nvPicPr>
          <p:cNvPr id="5" name="Content Placeholder 4"/>
          <p:cNvPicPr>
            <a:picLocks noGrp="1" noChangeAspect="1"/>
          </p:cNvPicPr>
          <p:nvPr>
            <p:ph sz="half" idx="1"/>
          </p:nvPr>
        </p:nvPicPr>
        <p:blipFill>
          <a:blip r:embed="rId3"/>
          <a:stretch>
            <a:fillRect/>
          </a:stretch>
        </p:blipFill>
        <p:spPr>
          <a:xfrm>
            <a:off x="1179195" y="3458845"/>
            <a:ext cx="4840605" cy="3227070"/>
          </a:xfrm>
          <a:prstGeom prst="rect">
            <a:avLst/>
          </a:prstGeom>
        </p:spPr>
      </p:pic>
      <p:pic>
        <p:nvPicPr>
          <p:cNvPr id="8" name="Content Placeholder 7"/>
          <p:cNvPicPr>
            <a:picLocks noGrp="1" noChangeAspect="1"/>
          </p:cNvPicPr>
          <p:nvPr>
            <p:ph sz="half" idx="2"/>
            <p:custDataLst>
              <p:tags r:id="rId1"/>
            </p:custDataLst>
          </p:nvPr>
        </p:nvPicPr>
        <p:blipFill>
          <a:blip r:embed="rId4"/>
          <a:stretch>
            <a:fillRect/>
          </a:stretch>
        </p:blipFill>
        <p:spPr>
          <a:xfrm>
            <a:off x="7466330" y="796925"/>
            <a:ext cx="4029710" cy="59048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2</a:t>
            </a:r>
            <a:r>
              <a:rPr lang="en-US" sz="2665" smtClean="0">
                <a:solidFill>
                  <a:srgbClr val="076365"/>
                </a:solidFill>
                <a:latin typeface="Arial" panose="020B0604020202020204" pitchFamily="34" charset="0"/>
                <a:cs typeface="Arial" panose="020B0604020202020204" pitchFamily="34" charset="0"/>
                <a:sym typeface="+mn-ea"/>
              </a:rPr>
              <a:t>.2</a:t>
            </a:r>
            <a:r>
              <a:rPr lang="en-US" sz="2665">
                <a:solidFill>
                  <a:srgbClr val="076365"/>
                </a:solidFill>
                <a:latin typeface="Arial" panose="020B0604020202020204" pitchFamily="34" charset="0"/>
                <a:cs typeface="Arial" panose="020B0604020202020204" pitchFamily="34" charset="0"/>
                <a:sym typeface="+mn-ea"/>
              </a:rPr>
              <a:t>. Phát triển kỹ năng tư duy phản biện</a:t>
            </a:r>
          </a:p>
        </p:txBody>
      </p:sp>
      <p:sp>
        <p:nvSpPr>
          <p:cNvPr id="3" name="Text Box 2"/>
          <p:cNvSpPr txBox="1"/>
          <p:nvPr/>
        </p:nvSpPr>
        <p:spPr>
          <a:xfrm>
            <a:off x="354330" y="713105"/>
            <a:ext cx="11536680" cy="5640705"/>
          </a:xfrm>
          <a:prstGeom prst="rect">
            <a:avLst/>
          </a:prstGeom>
          <a:noFill/>
        </p:spPr>
        <p:txBody>
          <a:bodyPr wrap="square" rtlCol="0" anchor="t">
            <a:spAutoFit/>
          </a:bodyPr>
          <a:lstStyle/>
          <a:p>
            <a:pPr algn="just">
              <a:lnSpc>
                <a:spcPct val="110000"/>
              </a:lnSpc>
            </a:pPr>
            <a:r>
              <a:rPr lang="en-US" sz="2200" b="1" i="1">
                <a:solidFill>
                  <a:srgbClr val="FF0000"/>
                </a:solidFill>
                <a:latin typeface="Arial" panose="020B0604020202020204" pitchFamily="34" charset="0"/>
                <a:cs typeface="Arial" panose="020B0604020202020204" pitchFamily="34" charset="0"/>
              </a:rPr>
              <a:t>Rào cản khi phát triển tư duy phản biện</a:t>
            </a:r>
          </a:p>
          <a:p>
            <a:pPr indent="457200" algn="just">
              <a:lnSpc>
                <a:spcPct val="110000"/>
              </a:lnSpc>
            </a:pPr>
            <a:r>
              <a:rPr lang="en-US" b="1">
                <a:solidFill>
                  <a:srgbClr val="076365"/>
                </a:solidFill>
                <a:latin typeface="Arial" panose="020B0604020202020204" pitchFamily="34" charset="0"/>
                <a:cs typeface="Arial" panose="020B0604020202020204" pitchFamily="34" charset="0"/>
              </a:rPr>
              <a:t>Thói quen:</a:t>
            </a:r>
            <a:r>
              <a:rPr lang="en-US">
                <a:solidFill>
                  <a:srgbClr val="076365"/>
                </a:solidFill>
                <a:latin typeface="Arial" panose="020B0604020202020204" pitchFamily="34" charset="0"/>
                <a:cs typeface="Arial" panose="020B0604020202020204" pitchFamily="34" charset="0"/>
              </a:rPr>
              <a:t> Chúng ta thường có thói quen nhìn nhận vấn đề một cách qua loa và chủ quan, điều này có ảnh hưởng lớn tới tư duy phản biện bởi không thể phân tích, đánh giá và đưa ra những lập luận đúng đắn.</a:t>
            </a:r>
          </a:p>
          <a:p>
            <a:pPr indent="457200" algn="just">
              <a:lnSpc>
                <a:spcPct val="110000"/>
              </a:lnSpc>
            </a:pPr>
            <a:r>
              <a:rPr lang="en-US" b="1">
                <a:solidFill>
                  <a:srgbClr val="076365"/>
                </a:solidFill>
                <a:latin typeface="Arial" panose="020B0604020202020204" pitchFamily="34" charset="0"/>
                <a:cs typeface="Arial" panose="020B0604020202020204" pitchFamily="34" charset="0"/>
              </a:rPr>
              <a:t>Cái “tôi”:</a:t>
            </a:r>
            <a:r>
              <a:rPr lang="en-US">
                <a:solidFill>
                  <a:srgbClr val="076365"/>
                </a:solidFill>
                <a:latin typeface="Arial" panose="020B0604020202020204" pitchFamily="34" charset="0"/>
                <a:cs typeface="Arial" panose="020B0604020202020204" pitchFamily="34" charset="0"/>
              </a:rPr>
              <a:t> Đây là yếu tố dễ khiến nhiều người bị ảo tưởng sức mạnh, họ không sẵn sàng lắng nghe, tiếp thu quan điểm của người khác. Điều này gây cản trở rất lớn đến quá trình hình thành, phát triển tư duy phản biện, bởi bản ngã ấy không cho họ tiếp nhận thêm bất kỳ kiến thức, quan điểm khác, khiến tư duy luôn theo lối mòn và mang tính chủ quan nhiều hơn.</a:t>
            </a:r>
          </a:p>
          <a:p>
            <a:pPr indent="457200" algn="just">
              <a:lnSpc>
                <a:spcPct val="110000"/>
              </a:lnSpc>
            </a:pPr>
            <a:r>
              <a:rPr lang="en-US" b="1">
                <a:solidFill>
                  <a:srgbClr val="076365"/>
                </a:solidFill>
                <a:latin typeface="Arial" panose="020B0604020202020204" pitchFamily="34" charset="0"/>
                <a:cs typeface="Arial" panose="020B0604020202020204" pitchFamily="34" charset="0"/>
              </a:rPr>
              <a:t>Bảo thủ:</a:t>
            </a:r>
            <a:r>
              <a:rPr lang="en-US">
                <a:solidFill>
                  <a:srgbClr val="076365"/>
                </a:solidFill>
                <a:latin typeface="Arial" panose="020B0604020202020204" pitchFamily="34" charset="0"/>
                <a:cs typeface="Arial" panose="020B0604020202020204" pitchFamily="34" charset="0"/>
              </a:rPr>
              <a:t> Những người này luôn từ chối lắng nghe, tiếp thu và luôn cho rằng mình đúng, khiến tư duy phản biện không thể cải thiện. Khi gặp bất cứ vấn đề gì, họ sẽ cố gắng bảo vệ những ý kiến mà mình cho là đúng, đắm chìm trong một tư duy sai lệch.</a:t>
            </a:r>
          </a:p>
          <a:p>
            <a:pPr indent="457200" algn="just">
              <a:lnSpc>
                <a:spcPct val="110000"/>
              </a:lnSpc>
            </a:pPr>
            <a:r>
              <a:rPr lang="en-US" b="1">
                <a:solidFill>
                  <a:srgbClr val="076365"/>
                </a:solidFill>
                <a:latin typeface="Arial" panose="020B0604020202020204" pitchFamily="34" charset="0"/>
                <a:cs typeface="Arial" panose="020B0604020202020204" pitchFamily="34" charset="0"/>
              </a:rPr>
              <a:t>Lười biếng:</a:t>
            </a:r>
            <a:r>
              <a:rPr lang="en-US">
                <a:solidFill>
                  <a:srgbClr val="076365"/>
                </a:solidFill>
                <a:latin typeface="Arial" panose="020B0604020202020204" pitchFamily="34" charset="0"/>
                <a:cs typeface="Arial" panose="020B0604020202020204" pitchFamily="34" charset="0"/>
              </a:rPr>
              <a:t> Những người có bản chất lười biếng rất ghét việc suy nghĩ, tranh luận hay đưa ra chính kiến của bản thân. Điều này lâu dần sẽ gây ra sự thiếu tự tin, thiếu trách nhiệm, không còn muốn tư duy quá nhiều, luôn phó mặc mọi sự cho người khác.</a:t>
            </a:r>
          </a:p>
          <a:p>
            <a:pPr indent="457200" algn="just">
              <a:lnSpc>
                <a:spcPct val="110000"/>
              </a:lnSpc>
            </a:pPr>
            <a:r>
              <a:rPr lang="en-US" b="1">
                <a:solidFill>
                  <a:srgbClr val="076365"/>
                </a:solidFill>
                <a:latin typeface="Arial" panose="020B0604020202020204" pitchFamily="34" charset="0"/>
                <a:cs typeface="Arial" panose="020B0604020202020204" pitchFamily="34" charset="0"/>
              </a:rPr>
              <a:t>Tư duy “bầy đàn”: </a:t>
            </a:r>
            <a:r>
              <a:rPr lang="en-US">
                <a:solidFill>
                  <a:srgbClr val="076365"/>
                </a:solidFill>
                <a:latin typeface="Arial" panose="020B0604020202020204" pitchFamily="34" charset="0"/>
                <a:cs typeface="Arial" panose="020B0604020202020204" pitchFamily="34" charset="0"/>
              </a:rPr>
              <a:t>Tư duy này khiến mỗi cá nhân bị giới hạn trong một phạm vi nhất định, không thể thoát ra để đưa ra những suy nghĩ, chính kiến. Trên thực tế, trong một đám đông, việc có bao nhiêu người đồng ý với kết luận còn quan trọng hơn bản chất đúng sai của vấn đề. Do đó, tư duy bầy đàn về lâu dài sẽ đánh mất những tố chất riêng của mỗi cá nhân, các thành viên trong một nhóm, một tập thể sẽ ngại sự khác biệt, bởi không đủ tự tin, không chắc chắn về năng lực, thói quen làm theo người khác, ngại đổi mới.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2</a:t>
            </a:r>
            <a:r>
              <a:rPr lang="en-US" sz="2665" smtClean="0">
                <a:solidFill>
                  <a:srgbClr val="076365"/>
                </a:solidFill>
                <a:latin typeface="Arial" panose="020B0604020202020204" pitchFamily="34" charset="0"/>
                <a:cs typeface="Arial" panose="020B0604020202020204" pitchFamily="34" charset="0"/>
                <a:sym typeface="+mn-ea"/>
              </a:rPr>
              <a:t>.3</a:t>
            </a:r>
            <a:r>
              <a:rPr lang="en-US" sz="2665">
                <a:solidFill>
                  <a:srgbClr val="076365"/>
                </a:solidFill>
                <a:latin typeface="Arial" panose="020B0604020202020204" pitchFamily="34" charset="0"/>
                <a:cs typeface="Arial" panose="020B0604020202020204" pitchFamily="34" charset="0"/>
                <a:sym typeface="+mn-ea"/>
              </a:rPr>
              <a:t>. Tư duy sáng tạo trong học tập</a:t>
            </a:r>
          </a:p>
        </p:txBody>
      </p:sp>
      <p:sp>
        <p:nvSpPr>
          <p:cNvPr id="3" name="Text Box 2"/>
          <p:cNvSpPr txBox="1"/>
          <p:nvPr/>
        </p:nvSpPr>
        <p:spPr>
          <a:xfrm>
            <a:off x="332105" y="715010"/>
            <a:ext cx="11675110" cy="5750560"/>
          </a:xfrm>
          <a:prstGeom prst="rect">
            <a:avLst/>
          </a:prstGeom>
          <a:noFill/>
        </p:spPr>
        <p:txBody>
          <a:bodyPr wrap="square" rtlCol="0" anchor="t">
            <a:noAutofit/>
          </a:bodyPr>
          <a:lstStyle/>
          <a:p>
            <a:pPr algn="just"/>
            <a:r>
              <a:rPr lang="en-US" sz="2200" b="1" i="1">
                <a:solidFill>
                  <a:srgbClr val="FF0000"/>
                </a:solidFill>
                <a:latin typeface="Arial" panose="020B0604020202020204" pitchFamily="34" charset="0"/>
                <a:cs typeface="Arial" panose="020B0604020202020204" pitchFamily="34" charset="0"/>
              </a:rPr>
              <a:t>Sáng tạo là gì?</a:t>
            </a:r>
          </a:p>
          <a:p>
            <a:pPr indent="457200" algn="just"/>
            <a:r>
              <a:rPr lang="en-US">
                <a:solidFill>
                  <a:srgbClr val="076365"/>
                </a:solidFill>
                <a:latin typeface="Arial" panose="020B0604020202020204" pitchFamily="34" charset="0"/>
                <a:cs typeface="Arial" panose="020B0604020202020204" pitchFamily="34" charset="0"/>
              </a:rPr>
              <a:t>Sáng tạo là quá trình tạo ra cái mới, khám phá ý tưởng mới hoặc phát triển điều gì đó một cách độc đáo. Nó thường được liên kết với trí tuệ, khả năng tưởng tượng, sự đổi mới và năng lực thích ứng với môi trường thay đổi.  Sáng tạo có thể xuất hiện ở nhiều lĩnh vực khác nhau, từ nghệ thuật, thiết kế, khoa học, kỹ thuật, kinh doanh, cho đến các hoạt động giáo dục và xã hội.</a:t>
            </a:r>
          </a:p>
          <a:p>
            <a:pPr indent="457200" algn="just"/>
            <a:r>
              <a:rPr lang="en-US">
                <a:solidFill>
                  <a:srgbClr val="076365"/>
                </a:solidFill>
                <a:latin typeface="Arial" panose="020B0604020202020204" pitchFamily="34" charset="0"/>
                <a:cs typeface="Arial" panose="020B0604020202020204" pitchFamily="34" charset="0"/>
              </a:rPr>
              <a:t>Ví dụ về sự sáng tạo: Phát minh ra chiếc điện thoại di động đã thay đổi cách chúng ta liên lạc và kết nối với nhau; Sáng tạo ra các tác phẩm nghệ thuật đã mang lại niềm vui và cảm xúc cho con người; Phát triển các phương pháp giáo dục mới đã giúp học sinh tiếp thu kiến thức một cách hiệu quả hơn; Tìm ra các giải pháp kinh doanh mới đã giúp doanh nghiệp phát triển và thành công.</a:t>
            </a:r>
          </a:p>
          <a:p>
            <a:pPr algn="just"/>
            <a:r>
              <a:rPr lang="en-US" sz="2200" b="1" i="1">
                <a:solidFill>
                  <a:srgbClr val="FF0000"/>
                </a:solidFill>
                <a:latin typeface="Arial" panose="020B0604020202020204" pitchFamily="34" charset="0"/>
                <a:cs typeface="Arial" panose="020B0604020202020204" pitchFamily="34" charset="0"/>
              </a:rPr>
              <a:t>Tư duy sáng tạo là gì?</a:t>
            </a:r>
          </a:p>
          <a:p>
            <a:pPr indent="457200" algn="just"/>
            <a:r>
              <a:rPr lang="en-US">
                <a:solidFill>
                  <a:srgbClr val="076365"/>
                </a:solidFill>
                <a:latin typeface="Arial" panose="020B0604020202020204" pitchFamily="34" charset="0"/>
                <a:cs typeface="Arial" panose="020B0604020202020204" pitchFamily="34" charset="0"/>
              </a:rPr>
              <a:t>Tư duy sáng tạo là quá trình suy nghĩ tạo ra những ý tưởng, giải pháp, biện pháp phù hợp để khơi gợi sự sáng tạo. Trong đó, con người sử dụng trí tưởng tượng, kiến thức, kinh nghiệm và kỹ năng của mình để tạo ra những ý tưởng mới mẻ, đột phá và có giá trị. Tư duy sáng tạo yêu cầu sự linh hoạt, tò mò, khả năng tưởng tượng và sẵn sàng thử nghiệm những ý tưởng mới. Đây được xem là một kỹ năng quan trọng trong thế giới hiện đại, khi con người đang bị đe dọa bởi trí tuệ nhân tạo, kỹ thuật số,... kỹ năng này sẽ giúp con người tìm ra những giải pháp tốt hơn cho các thách thức, cải tiến đời sống của mình. </a:t>
            </a:r>
          </a:p>
          <a:p>
            <a:pPr indent="457200" algn="just"/>
            <a:r>
              <a:rPr lang="en-US">
                <a:solidFill>
                  <a:srgbClr val="076365"/>
                </a:solidFill>
                <a:latin typeface="Arial" panose="020B0604020202020204" pitchFamily="34" charset="0"/>
                <a:cs typeface="Arial" panose="020B0604020202020204" pitchFamily="34" charset="0"/>
              </a:rPr>
              <a:t>Tư duy sáng tạo không chỉ dành riêng cho những nhà thiết kế, nghệ sĩ hay nhà khoa học, mà còn có thể áp dụng trong nhiều lĩnh vực cuộc sống. Đó có thể là cách giải quyết vấn đề trong công việc, cách thiết kế sản phẩm mới, hoặc thậm chí là cách tổ chức một sự kiện độc đáo. Tư duy sáng tạo giúp mở rộng tầm nhìn, đem lại sự đột phá và đổi mới, giúp tiến bộ và phát triển trong xã hội và kinh tế.</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2</a:t>
            </a:r>
            <a:r>
              <a:rPr lang="en-US" sz="2665" smtClean="0">
                <a:solidFill>
                  <a:srgbClr val="076365"/>
                </a:solidFill>
                <a:latin typeface="Arial" panose="020B0604020202020204" pitchFamily="34" charset="0"/>
                <a:cs typeface="Arial" panose="020B0604020202020204" pitchFamily="34" charset="0"/>
                <a:sym typeface="+mn-ea"/>
              </a:rPr>
              <a:t>.3</a:t>
            </a:r>
            <a:r>
              <a:rPr lang="en-US" sz="2665">
                <a:solidFill>
                  <a:srgbClr val="076365"/>
                </a:solidFill>
                <a:latin typeface="Arial" panose="020B0604020202020204" pitchFamily="34" charset="0"/>
                <a:cs typeface="Arial" panose="020B0604020202020204" pitchFamily="34" charset="0"/>
                <a:sym typeface="+mn-ea"/>
              </a:rPr>
              <a:t>. Tư duy sáng tạo trong học tập</a:t>
            </a:r>
          </a:p>
        </p:txBody>
      </p:sp>
      <p:sp>
        <p:nvSpPr>
          <p:cNvPr id="3" name="Text Box 2"/>
          <p:cNvSpPr txBox="1"/>
          <p:nvPr/>
        </p:nvSpPr>
        <p:spPr>
          <a:xfrm>
            <a:off x="300990" y="701675"/>
            <a:ext cx="8556625" cy="5969635"/>
          </a:xfrm>
          <a:prstGeom prst="rect">
            <a:avLst/>
          </a:prstGeom>
          <a:noFill/>
        </p:spPr>
        <p:txBody>
          <a:bodyPr wrap="square" rtlCol="0" anchor="t">
            <a:spAutoFit/>
          </a:bodyPr>
          <a:lstStyle/>
          <a:p>
            <a:pPr algn="just"/>
            <a:r>
              <a:rPr lang="en-US" sz="2200" b="1" i="1">
                <a:solidFill>
                  <a:srgbClr val="FF0000"/>
                </a:solidFill>
                <a:latin typeface="Arial" panose="020B0604020202020204" pitchFamily="34" charset="0"/>
                <a:cs typeface="Arial" panose="020B0604020202020204" pitchFamily="34" charset="0"/>
              </a:rPr>
              <a:t>Đặc điểm của sáng tạo</a:t>
            </a:r>
          </a:p>
          <a:p>
            <a:pPr algn="just"/>
            <a:r>
              <a:rPr lang="en-US" b="1">
                <a:solidFill>
                  <a:srgbClr val="076365"/>
                </a:solidFill>
                <a:latin typeface="Arial" panose="020B0604020202020204" pitchFamily="34" charset="0"/>
                <a:cs typeface="Arial" panose="020B0604020202020204" pitchFamily="34" charset="0"/>
              </a:rPr>
              <a:t>1. Giàu trí tưởng tượng (Imaginative): </a:t>
            </a:r>
            <a:r>
              <a:rPr lang="en-US">
                <a:solidFill>
                  <a:srgbClr val="076365"/>
                </a:solidFill>
                <a:latin typeface="Arial" panose="020B0604020202020204" pitchFamily="34" charset="0"/>
                <a:cs typeface="Arial" panose="020B0604020202020204" pitchFamily="34" charset="0"/>
              </a:rPr>
              <a:t>Tư duy sáng tạo giàu trí tưởng tượng, bởi nó khai phóng ra những điều tưởng chừng như không hề tồn tại. Chính vì vậy, muốn có được tư duy sáng tạo xuất sắc, cần phải có trí tưởng tượng không giới hạn để vẽ ra bức tranh độc đáo, mới mẻ với nhiều người.</a:t>
            </a:r>
          </a:p>
          <a:p>
            <a:pPr algn="just"/>
            <a:r>
              <a:rPr lang="en-US" b="1">
                <a:solidFill>
                  <a:srgbClr val="076365"/>
                </a:solidFill>
                <a:latin typeface="Arial" panose="020B0604020202020204" pitchFamily="34" charset="0"/>
                <a:cs typeface="Arial" panose="020B0604020202020204" pitchFamily="34" charset="0"/>
              </a:rPr>
              <a:t>2. Mục đích (Purposeful): </a:t>
            </a:r>
            <a:r>
              <a:rPr lang="en-US">
                <a:solidFill>
                  <a:srgbClr val="076365"/>
                </a:solidFill>
                <a:latin typeface="Arial" panose="020B0604020202020204" pitchFamily="34" charset="0"/>
                <a:cs typeface="Arial" panose="020B0604020202020204" pitchFamily="34" charset="0"/>
              </a:rPr>
              <a:t>Tư duy sáng tạo chỉ có giá trị khi nó có mục đích, mục tiêu rõ ràng. Nếu chỉ là những mơ mộng viển vông, xa rời thực tế và không thể biến thành những hành động cụ thể, đó chưa được gọi là một tư duy sáng tạo đúng. </a:t>
            </a:r>
          </a:p>
          <a:p>
            <a:pPr algn="just"/>
            <a:r>
              <a:rPr lang="en-US" b="1">
                <a:solidFill>
                  <a:srgbClr val="076365"/>
                </a:solidFill>
                <a:latin typeface="Arial" panose="020B0604020202020204" pitchFamily="34" charset="0"/>
                <a:cs typeface="Arial" panose="020B0604020202020204" pitchFamily="34" charset="0"/>
              </a:rPr>
              <a:t>3. Tính độc đáo (Original): </a:t>
            </a:r>
            <a:r>
              <a:rPr lang="en-US">
                <a:solidFill>
                  <a:srgbClr val="076365"/>
                </a:solidFill>
                <a:latin typeface="Arial" panose="020B0604020202020204" pitchFamily="34" charset="0"/>
                <a:cs typeface="Arial" panose="020B0604020202020204" pitchFamily="34" charset="0"/>
              </a:rPr>
              <a:t>Tính độc đáo trong tư duy sáng tạo là một đặc điểm không thể thiếu. Người có tư duy sáng tạo thường có khả năng suy nghĩ ngoài khuôn khổ, đưa ra những ý tưởng mới và đột phá, tìm ra các giải pháp khác biệt cho các vấn đề thường gặp. Tính độc đáo trong tư duy sáng tạo cũng không chỉ đơn thuần là việc tạo ra những thứ mới mà còn liên quan đến việc kết hợp, tùy biến và cải tiến từ những ý tưởng hiện có.</a:t>
            </a:r>
          </a:p>
          <a:p>
            <a:pPr algn="just"/>
            <a:r>
              <a:rPr lang="en-US" b="1">
                <a:solidFill>
                  <a:srgbClr val="076365"/>
                </a:solidFill>
                <a:latin typeface="Arial" panose="020B0604020202020204" pitchFamily="34" charset="0"/>
                <a:cs typeface="Arial" panose="020B0604020202020204" pitchFamily="34" charset="0"/>
              </a:rPr>
              <a:t>4. Có giá trị (Of value): </a:t>
            </a:r>
            <a:r>
              <a:rPr lang="en-US">
                <a:solidFill>
                  <a:srgbClr val="076365"/>
                </a:solidFill>
                <a:latin typeface="Arial" panose="020B0604020202020204" pitchFamily="34" charset="0"/>
                <a:cs typeface="Arial" panose="020B0604020202020204" pitchFamily="34" charset="0"/>
              </a:rPr>
              <a:t>Sáng tạo phải tạo ra giá trị, phục vụ được một mong muốn hay giải quyết được vấn đề cụ thể. Tuy nhiên, tư duy sáng tạo mà phục vụ cho những mục đích không có giá trị, thậm chí là có hại thì sẽ có những tác động tiêu cực. Có thể nói, giá trị là một đặc điểm quan trọng nhưng đây là một phạm trù chưa thật sự rõ ràng, có thể có giá trị với người này nhưng gây hại tới người khác. Chính vì vậy, cần xác định đúng tiêu chí đánh giá về giá trị của sự sáng tạo.</a:t>
            </a:r>
          </a:p>
        </p:txBody>
      </p:sp>
      <p:pic>
        <p:nvPicPr>
          <p:cNvPr id="4" name="Content Placeholder 3"/>
          <p:cNvPicPr>
            <a:picLocks noGrp="1" noChangeAspect="1"/>
          </p:cNvPicPr>
          <p:nvPr>
            <p:ph sz="half" idx="1"/>
          </p:nvPr>
        </p:nvPicPr>
        <p:blipFill>
          <a:blip r:embed="rId2"/>
          <a:stretch>
            <a:fillRect/>
          </a:stretch>
        </p:blipFill>
        <p:spPr>
          <a:xfrm>
            <a:off x="8898890" y="2622550"/>
            <a:ext cx="3227705" cy="1694815"/>
          </a:xfrm>
          <a:prstGeom prst="rect">
            <a:avLst/>
          </a:prstGeom>
        </p:spPr>
      </p:pic>
      <p:pic>
        <p:nvPicPr>
          <p:cNvPr id="5" name="Content Placeholder 4"/>
          <p:cNvPicPr>
            <a:picLocks noGrp="1" noChangeAspect="1"/>
          </p:cNvPicPr>
          <p:nvPr>
            <p:ph sz="half" idx="2"/>
          </p:nvPr>
        </p:nvPicPr>
        <p:blipFill>
          <a:blip r:embed="rId3"/>
          <a:stretch>
            <a:fillRect/>
          </a:stretch>
        </p:blipFill>
        <p:spPr>
          <a:xfrm>
            <a:off x="8888095" y="4389755"/>
            <a:ext cx="3180080" cy="2271395"/>
          </a:xfrm>
          <a:prstGeom prst="rect">
            <a:avLst/>
          </a:prstGeom>
        </p:spPr>
      </p:pic>
      <p:pic>
        <p:nvPicPr>
          <p:cNvPr id="6" name="Picture 5"/>
          <p:cNvPicPr>
            <a:picLocks noChangeAspect="1"/>
          </p:cNvPicPr>
          <p:nvPr/>
        </p:nvPicPr>
        <p:blipFill>
          <a:blip r:embed="rId4"/>
          <a:stretch>
            <a:fillRect/>
          </a:stretch>
        </p:blipFill>
        <p:spPr>
          <a:xfrm>
            <a:off x="8868410" y="699135"/>
            <a:ext cx="3273425" cy="18827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2</a:t>
            </a:r>
            <a:r>
              <a:rPr lang="en-US" sz="2665" smtClean="0">
                <a:solidFill>
                  <a:srgbClr val="076365"/>
                </a:solidFill>
                <a:latin typeface="Arial" panose="020B0604020202020204" pitchFamily="34" charset="0"/>
                <a:cs typeface="Arial" panose="020B0604020202020204" pitchFamily="34" charset="0"/>
                <a:sym typeface="+mn-ea"/>
              </a:rPr>
              <a:t>.3</a:t>
            </a:r>
            <a:r>
              <a:rPr lang="en-US" sz="2665">
                <a:solidFill>
                  <a:srgbClr val="076365"/>
                </a:solidFill>
                <a:latin typeface="Arial" panose="020B0604020202020204" pitchFamily="34" charset="0"/>
                <a:cs typeface="Arial" panose="020B0604020202020204" pitchFamily="34" charset="0"/>
                <a:sym typeface="+mn-ea"/>
              </a:rPr>
              <a:t>. Tư duy sáng tạo trong học tập</a:t>
            </a:r>
          </a:p>
        </p:txBody>
      </p:sp>
      <p:sp>
        <p:nvSpPr>
          <p:cNvPr id="3" name="Text Box 2"/>
          <p:cNvSpPr txBox="1"/>
          <p:nvPr/>
        </p:nvSpPr>
        <p:spPr>
          <a:xfrm>
            <a:off x="363855" y="727710"/>
            <a:ext cx="11623675" cy="5969635"/>
          </a:xfrm>
          <a:prstGeom prst="rect">
            <a:avLst/>
          </a:prstGeom>
          <a:noFill/>
        </p:spPr>
        <p:txBody>
          <a:bodyPr wrap="square" rtlCol="0" anchor="t">
            <a:spAutoFit/>
          </a:bodyPr>
          <a:lstStyle/>
          <a:p>
            <a:pPr algn="just"/>
            <a:r>
              <a:rPr lang="en-US" sz="2200" b="1" i="1">
                <a:solidFill>
                  <a:srgbClr val="FF0000"/>
                </a:solidFill>
                <a:latin typeface="Arial" panose="020B0604020202020204" pitchFamily="34" charset="0"/>
                <a:cs typeface="Arial" panose="020B0604020202020204" pitchFamily="34" charset="0"/>
              </a:rPr>
              <a:t>Cách rèn luyện kỹ năng tư duy sáng tạo</a:t>
            </a:r>
          </a:p>
          <a:p>
            <a:pPr indent="457200" algn="just"/>
            <a:r>
              <a:rPr lang="en-US" b="1">
                <a:solidFill>
                  <a:srgbClr val="076365"/>
                </a:solidFill>
                <a:latin typeface="Arial" panose="020B0604020202020204" pitchFamily="34" charset="0"/>
                <a:cs typeface="Arial" panose="020B0604020202020204" pitchFamily="34" charset="0"/>
              </a:rPr>
              <a:t>1. Brainstorming:</a:t>
            </a:r>
            <a:r>
              <a:rPr lang="en-US">
                <a:solidFill>
                  <a:srgbClr val="076365"/>
                </a:solidFill>
                <a:latin typeface="Arial" panose="020B0604020202020204" pitchFamily="34" charset="0"/>
                <a:cs typeface="Arial" panose="020B0604020202020204" pitchFamily="34" charset="0"/>
              </a:rPr>
              <a:t> cũng có thể giúp rèn luyện kỹ năng tư duy sáng tạo một cách hiệu quả. Đối với những người mới bắt đầu, động não không yêu cầu một cấu trúc quá cứng nhắc để thực thi. Kỹ thuật này có thể rất hữu ích trong các vấn đề đòi hỏi một giải pháp sáng tạo. Mục tiêu chính là làm việc với một nhóm người và đưa ra các ý tưởng mà không bị can thiệp. Ý tưởng chung của Brainstorming là khi có quá nhiều giải pháp tiềm năng sáng tạo, chúng ta có thể dễ dàng có được giải pháp chất lượng cao nhất.</a:t>
            </a:r>
          </a:p>
          <a:p>
            <a:pPr indent="457200" algn="just"/>
            <a:r>
              <a:rPr lang="en-US" b="1">
                <a:solidFill>
                  <a:srgbClr val="076365"/>
                </a:solidFill>
                <a:latin typeface="Arial" panose="020B0604020202020204" pitchFamily="34" charset="0"/>
                <a:cs typeface="Arial" panose="020B0604020202020204" pitchFamily="34" charset="0"/>
              </a:rPr>
              <a:t>2. Tư duy đa chiều: </a:t>
            </a:r>
            <a:r>
              <a:rPr lang="en-US">
                <a:solidFill>
                  <a:srgbClr val="076365"/>
                </a:solidFill>
                <a:latin typeface="Arial" panose="020B0604020202020204" pitchFamily="34" charset="0"/>
                <a:cs typeface="Arial" panose="020B0604020202020204" pitchFamily="34" charset="0"/>
              </a:rPr>
              <a:t>Đôi khi, câu trả lời cho một vấn đề không phải trước mặt, mà là bên cạnh. Tư duy đa chiều là một cách tuyệt vời để rèn luyện kỹ năng tư duy sáng tạo của bản thân, nó liên quan đến việc nhìn vào những lĩnh vực, lập luận ít rõ ràng hơn. Nếu đặt mình dưới những khía cạnh khác nhau hoặc lật ngược vấn đề để nhìn theo hướng khác thì cách rèn luyện này có thể rất hiệu quả. Khía cạnh quan trọng nhất của quá trình này là đi đến nơi mà bản thân thường không lựa chọn.</a:t>
            </a:r>
          </a:p>
          <a:p>
            <a:pPr indent="457200" algn="just"/>
            <a:r>
              <a:rPr lang="en-US" b="1">
                <a:solidFill>
                  <a:srgbClr val="076365"/>
                </a:solidFill>
                <a:latin typeface="Arial" panose="020B0604020202020204" pitchFamily="34" charset="0"/>
                <a:cs typeface="Arial" panose="020B0604020202020204" pitchFamily="34" charset="0"/>
              </a:rPr>
              <a:t>3. Sử dụng sơ đồ tư duy:</a:t>
            </a:r>
            <a:r>
              <a:rPr lang="en-US">
                <a:solidFill>
                  <a:srgbClr val="076365"/>
                </a:solidFill>
                <a:latin typeface="Arial" panose="020B0604020202020204" pitchFamily="34" charset="0"/>
                <a:cs typeface="Arial" panose="020B0604020202020204" pitchFamily="34" charset="0"/>
              </a:rPr>
              <a:t> Bản đồ tư duy cũng giúp sắp xếp lại các ý tưởng và đưa ra kết luận một cách tự nhiên. Bên cạnh đó, vì sơ đồ tư duy về cơ bản là một đồ họa thông tin, nên những người không tham gia trực tiếp vào quá trình này vẫn có thể dễ dàng hiểu được nó.</a:t>
            </a:r>
          </a:p>
          <a:p>
            <a:pPr indent="457200" algn="just"/>
            <a:r>
              <a:rPr lang="en-US" b="1">
                <a:solidFill>
                  <a:srgbClr val="076365"/>
                </a:solidFill>
                <a:latin typeface="Arial" panose="020B0604020202020204" pitchFamily="34" charset="0"/>
                <a:cs typeface="Arial" panose="020B0604020202020204" pitchFamily="34" charset="0"/>
              </a:rPr>
              <a:t>4. Thách thức những gì hiện đang hoạt động: </a:t>
            </a:r>
            <a:r>
              <a:rPr lang="en-US">
                <a:solidFill>
                  <a:srgbClr val="076365"/>
                </a:solidFill>
                <a:latin typeface="Arial" panose="020B0604020202020204" pitchFamily="34" charset="0"/>
                <a:cs typeface="Arial" panose="020B0604020202020204" pitchFamily="34" charset="0"/>
              </a:rPr>
              <a:t>Hãy suy nghĩ về cách mà chúng ta có thể mở rộng hoặc cải thiện quy trình hiện tại. Bản thân sẽ làm gì nếu có nhiều nguồn lực hơn? Làm gì nếu có ít tài nguyên hơn? Sẽ thế nào nếu dự án này diễn ra vào một thời điểm khác? Đối tượng mục tiêu khác thì sao?</a:t>
            </a:r>
          </a:p>
          <a:p>
            <a:pPr indent="457200" algn="just"/>
            <a:r>
              <a:rPr lang="en-US" b="1">
                <a:solidFill>
                  <a:srgbClr val="076365"/>
                </a:solidFill>
                <a:latin typeface="Arial" panose="020B0604020202020204" pitchFamily="34" charset="0"/>
                <a:cs typeface="Arial" panose="020B0604020202020204" pitchFamily="34" charset="0"/>
              </a:rPr>
              <a:t>5. Viết blog, viết nhật ký:</a:t>
            </a:r>
            <a:r>
              <a:rPr lang="en-US">
                <a:solidFill>
                  <a:srgbClr val="076365"/>
                </a:solidFill>
                <a:latin typeface="Arial" panose="020B0604020202020204" pitchFamily="34" charset="0"/>
                <a:cs typeface="Arial" panose="020B0604020202020204" pitchFamily="34" charset="0"/>
              </a:rPr>
              <a:t> Khuyến khích kỹ năng tư duy sáng tạo. Khi viết, chúng ta tập trung vào cảm xúc của bản thân hay việc tìm kiếm các ý tưởng mới, đồng thời biết cách phân tích, tổ chức suy nghĩ một cách rõ ràng và logic. Viết nhật ký, blog cũng giúp ghi lại những suy nghĩ của bản thân, khiến chúng ta nhớ lại những trải nghiệm và cảm xúc của mình.</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CÂU HỎI CHƯƠNG </a:t>
            </a:r>
            <a:r>
              <a:rPr lang="en-US" sz="2665" smtClean="0">
                <a:solidFill>
                  <a:srgbClr val="076365"/>
                </a:solidFill>
                <a:latin typeface="Arial" panose="020B0604020202020204" pitchFamily="34" charset="0"/>
                <a:cs typeface="Arial" panose="020B0604020202020204" pitchFamily="34" charset="0"/>
                <a:sym typeface="+mn-ea"/>
              </a:rPr>
              <a:t>2</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3" name="Text Box 2"/>
          <p:cNvSpPr txBox="1"/>
          <p:nvPr/>
        </p:nvSpPr>
        <p:spPr>
          <a:xfrm>
            <a:off x="396240" y="725805"/>
            <a:ext cx="11548745" cy="5487035"/>
          </a:xfrm>
          <a:prstGeom prst="rect">
            <a:avLst/>
          </a:prstGeom>
          <a:noFill/>
        </p:spPr>
        <p:txBody>
          <a:bodyPr wrap="square" rtlCol="0" anchor="t">
            <a:spAutoFit/>
          </a:bodyPr>
          <a:lstStyle/>
          <a:p>
            <a:pPr algn="just">
              <a:lnSpc>
                <a:spcPct val="130000"/>
              </a:lnSpc>
            </a:pPr>
            <a:r>
              <a:rPr lang="en-US">
                <a:solidFill>
                  <a:srgbClr val="076365"/>
                </a:solidFill>
                <a:latin typeface="Arial" panose="020B0604020202020204" pitchFamily="34" charset="0"/>
                <a:cs typeface="Arial" panose="020B0604020202020204" pitchFamily="34" charset="0"/>
              </a:rPr>
              <a:t>1. Tại sao việc đọc và ghi chép là những nhiệm vụ thiết yếu trong giáo dục đại học?</a:t>
            </a:r>
          </a:p>
          <a:p>
            <a:pPr algn="just">
              <a:lnSpc>
                <a:spcPct val="130000"/>
              </a:lnSpc>
            </a:pPr>
            <a:r>
              <a:rPr lang="en-US">
                <a:solidFill>
                  <a:srgbClr val="076365"/>
                </a:solidFill>
                <a:latin typeface="Arial" panose="020B0604020202020204" pitchFamily="34" charset="0"/>
                <a:cs typeface="Arial" panose="020B0604020202020204" pitchFamily="34" charset="0"/>
              </a:rPr>
              <a:t>2. Nêu những thách thức chính mà sinh viên thường gặp phải khi đọc ở cấp độ nâng cao.</a:t>
            </a:r>
          </a:p>
          <a:p>
            <a:pPr algn="just">
              <a:lnSpc>
                <a:spcPct val="130000"/>
              </a:lnSpc>
            </a:pPr>
            <a:r>
              <a:rPr lang="en-US">
                <a:solidFill>
                  <a:srgbClr val="076365"/>
                </a:solidFill>
                <a:latin typeface="Arial" panose="020B0604020202020204" pitchFamily="34" charset="0"/>
                <a:cs typeface="Arial" panose="020B0604020202020204" pitchFamily="34" charset="0"/>
              </a:rPr>
              <a:t>3. Trình bày các bước cơ bản để xác định và lựa chọn tài liệu liên quan khi đọc.</a:t>
            </a:r>
          </a:p>
          <a:p>
            <a:pPr algn="just">
              <a:lnSpc>
                <a:spcPct val="130000"/>
              </a:lnSpc>
            </a:pPr>
            <a:r>
              <a:rPr lang="en-US">
                <a:solidFill>
                  <a:srgbClr val="076365"/>
                </a:solidFill>
                <a:latin typeface="Arial" panose="020B0604020202020204" pitchFamily="34" charset="0"/>
                <a:cs typeface="Arial" panose="020B0604020202020204" pitchFamily="34" charset="0"/>
              </a:rPr>
              <a:t>4. Bạn có phải là người đọc thông minh không? Hãy tự đánh giá dựa trên các tiêu chí đã được đề cập trong bài.</a:t>
            </a:r>
          </a:p>
          <a:p>
            <a:pPr algn="just">
              <a:lnSpc>
                <a:spcPct val="130000"/>
              </a:lnSpc>
            </a:pPr>
            <a:r>
              <a:rPr lang="en-US">
                <a:solidFill>
                  <a:srgbClr val="076365"/>
                </a:solidFill>
                <a:latin typeface="Arial" panose="020B0604020202020204" pitchFamily="34" charset="0"/>
                <a:cs typeface="Arial" panose="020B0604020202020204" pitchFamily="34" charset="0"/>
              </a:rPr>
              <a:t>5. Nêu các chiến lược đọc phản biện hiệu quả.</a:t>
            </a:r>
          </a:p>
          <a:p>
            <a:pPr algn="just">
              <a:lnSpc>
                <a:spcPct val="130000"/>
              </a:lnSpc>
            </a:pPr>
            <a:r>
              <a:rPr lang="en-US">
                <a:solidFill>
                  <a:srgbClr val="076365"/>
                </a:solidFill>
                <a:latin typeface="Arial" panose="020B0604020202020204" pitchFamily="34" charset="0"/>
                <a:cs typeface="Arial" panose="020B0604020202020204" pitchFamily="34" charset="0"/>
              </a:rPr>
              <a:t>6. Giải thích chiến lược đọc SQ3R và cách áp dụng nó trong việc học.</a:t>
            </a:r>
          </a:p>
          <a:p>
            <a:pPr algn="just">
              <a:lnSpc>
                <a:spcPct val="130000"/>
              </a:lnSpc>
            </a:pPr>
            <a:r>
              <a:rPr lang="en-US">
                <a:solidFill>
                  <a:srgbClr val="076365"/>
                </a:solidFill>
                <a:latin typeface="Arial" panose="020B0604020202020204" pitchFamily="34" charset="0"/>
                <a:cs typeface="Arial" panose="020B0604020202020204" pitchFamily="34" charset="0"/>
              </a:rPr>
              <a:t>7. Tại sao cần ghi chép khi học tập ở bậc đại học?</a:t>
            </a:r>
          </a:p>
          <a:p>
            <a:pPr algn="just">
              <a:lnSpc>
                <a:spcPct val="130000"/>
              </a:lnSpc>
            </a:pPr>
            <a:r>
              <a:rPr lang="en-US">
                <a:solidFill>
                  <a:srgbClr val="076365"/>
                </a:solidFill>
                <a:latin typeface="Arial" panose="020B0604020202020204" pitchFamily="34" charset="0"/>
                <a:cs typeface="Arial" panose="020B0604020202020204" pitchFamily="34" charset="0"/>
              </a:rPr>
              <a:t>8. Làm thế nào để ghi chép hiệu quả?</a:t>
            </a:r>
          </a:p>
          <a:p>
            <a:pPr algn="just">
              <a:lnSpc>
                <a:spcPct val="130000"/>
              </a:lnSpc>
            </a:pPr>
            <a:r>
              <a:rPr lang="en-US">
                <a:solidFill>
                  <a:srgbClr val="076365"/>
                </a:solidFill>
                <a:latin typeface="Arial" panose="020B0604020202020204" pitchFamily="34" charset="0"/>
                <a:cs typeface="Arial" panose="020B0604020202020204" pitchFamily="34" charset="0"/>
              </a:rPr>
              <a:t>9. So sánh ba phương pháp ghi chép: sơ đồ tư duy, phương pháp Cornell và phương pháp lập dàn ý.</a:t>
            </a:r>
          </a:p>
          <a:p>
            <a:pPr algn="just">
              <a:lnSpc>
                <a:spcPct val="130000"/>
              </a:lnSpc>
            </a:pPr>
            <a:r>
              <a:rPr lang="en-US">
                <a:solidFill>
                  <a:srgbClr val="076365"/>
                </a:solidFill>
                <a:latin typeface="Arial" panose="020B0604020202020204" pitchFamily="34" charset="0"/>
                <a:cs typeface="Arial" panose="020B0604020202020204" pitchFamily="34" charset="0"/>
              </a:rPr>
              <a:t>10. Tư duy phản biện là gì và tại sao nó quan trọng trong học tập?</a:t>
            </a:r>
          </a:p>
          <a:p>
            <a:pPr algn="just">
              <a:lnSpc>
                <a:spcPct val="130000"/>
              </a:lnSpc>
            </a:pPr>
            <a:r>
              <a:rPr lang="en-US">
                <a:solidFill>
                  <a:srgbClr val="076365"/>
                </a:solidFill>
                <a:latin typeface="Arial" panose="020B0604020202020204" pitchFamily="34" charset="0"/>
                <a:cs typeface="Arial" panose="020B0604020202020204" pitchFamily="34" charset="0"/>
              </a:rPr>
              <a:t>11. Nêu các bước để phát triển tư duy phản biện hiệu quả.</a:t>
            </a:r>
          </a:p>
          <a:p>
            <a:pPr algn="just">
              <a:lnSpc>
                <a:spcPct val="130000"/>
              </a:lnSpc>
            </a:pPr>
            <a:r>
              <a:rPr lang="en-US">
                <a:solidFill>
                  <a:srgbClr val="076365"/>
                </a:solidFill>
                <a:latin typeface="Arial" panose="020B0604020202020204" pitchFamily="34" charset="0"/>
                <a:cs typeface="Arial" panose="020B0604020202020204" pitchFamily="34" charset="0"/>
              </a:rPr>
              <a:t>12. Bạn có thể áp dụng chiến lược nào để cải thiện khả năng tư duy phản biện của mình?</a:t>
            </a:r>
          </a:p>
          <a:p>
            <a:pPr algn="just">
              <a:lnSpc>
                <a:spcPct val="130000"/>
              </a:lnSpc>
            </a:pPr>
            <a:r>
              <a:rPr lang="en-US">
                <a:solidFill>
                  <a:srgbClr val="076365"/>
                </a:solidFill>
                <a:latin typeface="Arial" panose="020B0604020202020204" pitchFamily="34" charset="0"/>
                <a:cs typeface="Arial" panose="020B0604020202020204" pitchFamily="34" charset="0"/>
              </a:rPr>
              <a:t>13. Tư duy sáng tạo là gì và tại sao nó quan trọng trong học tập?</a:t>
            </a:r>
          </a:p>
          <a:p>
            <a:pPr algn="just">
              <a:lnSpc>
                <a:spcPct val="130000"/>
              </a:lnSpc>
            </a:pPr>
            <a:r>
              <a:rPr lang="en-US">
                <a:solidFill>
                  <a:srgbClr val="076365"/>
                </a:solidFill>
                <a:latin typeface="Arial" panose="020B0604020202020204" pitchFamily="34" charset="0"/>
                <a:cs typeface="Arial" panose="020B0604020202020204" pitchFamily="34" charset="0"/>
              </a:rPr>
              <a:t>14. Nêu các chiến lược để phát triển tư duy sáng tạo.</a:t>
            </a:r>
          </a:p>
          <a:p>
            <a:pPr algn="just">
              <a:lnSpc>
                <a:spcPct val="130000"/>
              </a:lnSpc>
            </a:pPr>
            <a:r>
              <a:rPr lang="en-US">
                <a:solidFill>
                  <a:srgbClr val="076365"/>
                </a:solidFill>
                <a:latin typeface="Arial" panose="020B0604020202020204" pitchFamily="34" charset="0"/>
                <a:cs typeface="Arial" panose="020B0604020202020204" pitchFamily="34" charset="0"/>
              </a:rPr>
              <a:t>15. Làm thế nào để áp dụng tư duy sáng tạo vào việc giải quyết vấn đề học tập?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CÂU HỎI CHƯƠNG </a:t>
            </a:r>
            <a:r>
              <a:rPr lang="en-US" sz="2665" smtClean="0">
                <a:solidFill>
                  <a:srgbClr val="076365"/>
                </a:solidFill>
                <a:latin typeface="Arial" panose="020B0604020202020204" pitchFamily="34" charset="0"/>
                <a:cs typeface="Arial" panose="020B0604020202020204" pitchFamily="34" charset="0"/>
                <a:sym typeface="+mn-ea"/>
              </a:rPr>
              <a:t>2</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3" name="Text Box 2"/>
          <p:cNvSpPr txBox="1"/>
          <p:nvPr/>
        </p:nvSpPr>
        <p:spPr>
          <a:xfrm>
            <a:off x="396240" y="725805"/>
            <a:ext cx="11548745" cy="5846445"/>
          </a:xfrm>
          <a:prstGeom prst="rect">
            <a:avLst/>
          </a:prstGeom>
          <a:noFill/>
        </p:spPr>
        <p:txBody>
          <a:bodyPr wrap="square" rtlCol="0" anchor="t">
            <a:spAutoFit/>
          </a:bodyPr>
          <a:lstStyle/>
          <a:p>
            <a:pPr algn="just">
              <a:lnSpc>
                <a:spcPct val="130000"/>
              </a:lnSpc>
            </a:pPr>
            <a:r>
              <a:rPr lang="en-US">
                <a:solidFill>
                  <a:srgbClr val="076365"/>
                </a:solidFill>
                <a:latin typeface="Arial" panose="020B0604020202020204" pitchFamily="34" charset="0"/>
                <a:cs typeface="Arial" panose="020B0604020202020204" pitchFamily="34" charset="0"/>
              </a:rPr>
              <a:t>Bài tập thực hành</a:t>
            </a:r>
          </a:p>
          <a:p>
            <a:pPr algn="just">
              <a:lnSpc>
                <a:spcPct val="130000"/>
              </a:lnSpc>
            </a:pPr>
            <a:r>
              <a:rPr lang="en-US">
                <a:solidFill>
                  <a:srgbClr val="076365"/>
                </a:solidFill>
                <a:latin typeface="Arial" panose="020B0604020202020204" pitchFamily="34" charset="0"/>
                <a:cs typeface="Arial" panose="020B0604020202020204" pitchFamily="34" charset="0"/>
              </a:rPr>
              <a:t>1. Bài tập phát triển kỹ năng đọc và ghi chép:</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Chọn một bài báo học thuật liên quan đến môn học của bạn và thực hiện các bước sau:</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Đọc lướt qua toàn bộ bài báo để nắm bắt các ý chính và cấu trúc tổng thể.</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Sử dụng kỹ thuật đọc quét để tìm kiếm các từ khóa và câu hỏi nghiên cứu.</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Ghi chú các ý chính bằng phương pháp Cornell.</a:t>
            </a:r>
          </a:p>
          <a:p>
            <a:pPr algn="just">
              <a:lnSpc>
                <a:spcPct val="130000"/>
              </a:lnSpc>
            </a:pPr>
            <a:r>
              <a:rPr lang="en-US">
                <a:solidFill>
                  <a:srgbClr val="076365"/>
                </a:solidFill>
                <a:latin typeface="Arial" panose="020B0604020202020204" pitchFamily="34" charset="0"/>
                <a:cs typeface="Arial" panose="020B0604020202020204" pitchFamily="34" charset="0"/>
              </a:rPr>
              <a:t>2. Bài tập phát triển kỹ năng tư duy phản biện:</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Đọc một đoạn văn bản và thực hiện các bước sau:</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Xem trước tác giả và mục đích của đoạn văn bản.</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Ngữ cảnh hóa đoạn văn bản bằng cách khám phá khung tham chiếu lịch sử, văn hóa và tiểu sử.</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Tóm tắt đoạn văn bản và so sánh nó với các văn bản liên quan.</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Đánh giá lập luận của tác giả bằng cách chỉ ra các giả định và yêu cầu của lập luận.</a:t>
            </a:r>
          </a:p>
          <a:p>
            <a:pPr algn="just">
              <a:lnSpc>
                <a:spcPct val="130000"/>
              </a:lnSpc>
            </a:pPr>
            <a:r>
              <a:rPr lang="en-US">
                <a:solidFill>
                  <a:srgbClr val="076365"/>
                </a:solidFill>
                <a:latin typeface="Arial" panose="020B0604020202020204" pitchFamily="34" charset="0"/>
                <a:cs typeface="Arial" panose="020B0604020202020204" pitchFamily="34" charset="0"/>
              </a:rPr>
              <a:t>3. Bài tập phát triển tư duy sáng tạo:</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Chọn một vấn đề trong học tập mà bạn gặp phải và áp dụng các bước sau để giải quyết:</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Sử dụng sơ đồ tư duy để phân tích vấn đề và tìm kiếm giải pháp.</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 Thực hiện kế hoạch giải quyết vấn đề và đánh giá hiệu quả của nó.</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7208</Words>
  <Application>Microsoft Office PowerPoint</Application>
  <PresentationFormat>Widescreen</PresentationFormat>
  <Paragraphs>293</Paragraphs>
  <Slides>27</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27</vt:i4>
      </vt:variant>
    </vt:vector>
  </HeadingPairs>
  <TitlesOfParts>
    <vt:vector size="36" baseType="lpstr">
      <vt:lpstr>Arial</vt:lpstr>
      <vt:lpstr>Calibri</vt:lpstr>
      <vt:lpstr>Calibri Light</vt:lpstr>
      <vt:lpstr>Cambria</vt:lpstr>
      <vt:lpstr>Courier New</vt:lpstr>
      <vt:lpstr>Tahoma</vt:lpstr>
      <vt:lpstr>Wingdings</vt:lpstr>
      <vt:lpstr>Office Theme</vt:lpstr>
      <vt:lpstr>Custom Design</vt:lpstr>
      <vt:lpstr>CHƯƠNG 2 KỸ NĂNG HỌC THUẬT</vt:lpstr>
      <vt:lpstr>KỸ NĂNG HỌC TẬP VÀ TƯ DUY SÁNG TẠO</vt:lpstr>
      <vt:lpstr>2.1. Phát triển kỹ năng đọc và ghi chép</vt:lpstr>
      <vt:lpstr>2.1. Phát triển kỹ năng đọc và ghi chép</vt:lpstr>
      <vt:lpstr>Phát triển kỹ năng đọc</vt:lpstr>
      <vt:lpstr>Phát triển kỹ năng đọc</vt:lpstr>
      <vt:lpstr>Phát triển kỹ năng đọc</vt:lpstr>
      <vt:lpstr>Phát triển kỹ năng đọc</vt:lpstr>
      <vt:lpstr>Chiến lược đọc</vt:lpstr>
      <vt:lpstr>Chiến lược đọc</vt:lpstr>
      <vt:lpstr>Chiến lược đọc</vt:lpstr>
      <vt:lpstr>Phát triển kỹ năng ghi chép</vt:lpstr>
      <vt:lpstr>Phát triển kỹ năng ghi chép</vt:lpstr>
      <vt:lpstr>03 phương pháp ghi chép hiệu quả</vt:lpstr>
      <vt:lpstr>03 phương pháp ghi chép hiệu quả</vt:lpstr>
      <vt:lpstr>03 phương pháp ghi chép hiệu quả</vt:lpstr>
      <vt:lpstr>03 phương pháp ghi chép hiệu quả</vt:lpstr>
      <vt:lpstr>2.2. Phát triển kỹ năng tư duy phản biện</vt:lpstr>
      <vt:lpstr>2.2. Phát triển kỹ năng tư duy phản biện</vt:lpstr>
      <vt:lpstr>2.2. Phát triển kỹ năng tư duy phản biện</vt:lpstr>
      <vt:lpstr>2.2. Phát triển kỹ năng tư duy phản biện</vt:lpstr>
      <vt:lpstr>2.2. Phát triển kỹ năng tư duy phản biện</vt:lpstr>
      <vt:lpstr>2.3. Tư duy sáng tạo trong học tập</vt:lpstr>
      <vt:lpstr>2.3. Tư duy sáng tạo trong học tập</vt:lpstr>
      <vt:lpstr>2.3. Tư duy sáng tạo trong học tập</vt:lpstr>
      <vt:lpstr>CÂU HỎI CHƯƠNG 2</vt:lpstr>
      <vt:lpstr>CÂU HỎI CHƯƠNG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vnha</dc:creator>
  <cp:lastModifiedBy>Vo Vinh Bao</cp:lastModifiedBy>
  <cp:revision>43</cp:revision>
  <dcterms:created xsi:type="dcterms:W3CDTF">2024-06-28T03:54:00Z</dcterms:created>
  <dcterms:modified xsi:type="dcterms:W3CDTF">2024-10-08T14:17:00Z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259C52171B5F4A65838641F0385F5D91_13</vt:lpwstr>
  </property>
  <property fmtid="{D5CDD505-2E9C-101B-9397-08002B2CF9AE}" pid="3" name="KSOProductBuildVer">
    <vt:lpwstr>1033-12.2.0.17153</vt:lpwstr>
  </property>
</Properties>
</file>