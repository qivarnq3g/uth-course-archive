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1"/>
  </p:notesMasterIdLst>
  <p:sldIdLst>
    <p:sldId id="256" r:id="rId3"/>
    <p:sldId id="269" r:id="rId4"/>
    <p:sldId id="277" r:id="rId5"/>
    <p:sldId id="279" r:id="rId6"/>
    <p:sldId id="280" r:id="rId7"/>
    <p:sldId id="282" r:id="rId8"/>
    <p:sldId id="281" r:id="rId9"/>
    <p:sldId id="284" r:id="rId10"/>
    <p:sldId id="285" r:id="rId11"/>
    <p:sldId id="283" r:id="rId12"/>
    <p:sldId id="288" r:id="rId13"/>
    <p:sldId id="289" r:id="rId14"/>
    <p:sldId id="290" r:id="rId15"/>
    <p:sldId id="291" r:id="rId16"/>
    <p:sldId id="292" r:id="rId17"/>
    <p:sldId id="293" r:id="rId18"/>
    <p:sldId id="295" r:id="rId19"/>
    <p:sldId id="296" r:id="rId20"/>
    <p:sldId id="297" r:id="rId21"/>
    <p:sldId id="298" r:id="rId22"/>
    <p:sldId id="299" r:id="rId23"/>
    <p:sldId id="300" r:id="rId24"/>
    <p:sldId id="301" r:id="rId25"/>
    <p:sldId id="302" r:id="rId26"/>
    <p:sldId id="304" r:id="rId27"/>
    <p:sldId id="303" r:id="rId28"/>
    <p:sldId id="307" r:id="rId29"/>
    <p:sldId id="30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6365"/>
    <a:srgbClr val="0000FF"/>
    <a:srgbClr val="0DAFB3"/>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00" autoAdjust="0"/>
  </p:normalViewPr>
  <p:slideViewPr>
    <p:cSldViewPr snapToGrid="0">
      <p:cViewPr varScale="1">
        <p:scale>
          <a:sx n="80" d="100"/>
          <a:sy n="80" d="100"/>
        </p:scale>
        <p:origin x="354" y="84"/>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9/24/2024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9/24/2024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9/24/2024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9/24/2024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9/24/2024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9/24/2024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9/24/2024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vuong.dangquoc@hus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7.jpe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6.png"/><Relationship Id="rId5" Type="http://schemas.openxmlformats.org/officeDocument/2006/relationships/tags" Target="../tags/tag11.xml"/><Relationship Id="rId10" Type="http://schemas.openxmlformats.org/officeDocument/2006/relationships/image" Target="../media/image5.png"/><Relationship Id="rId4" Type="http://schemas.openxmlformats.org/officeDocument/2006/relationships/tags" Target="../tags/tag10.xml"/><Relationship Id="rId9"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8.jpe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Layout" Target="../slideLayouts/slideLayout2.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27.xml"/><Relationship Id="rId7"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s/_rels/slide8.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image" Target="../media/image10.jpeg"/><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11.jpe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slideLayout" Target="../slideLayouts/slideLayout2.xml"/><Relationship Id="rId5" Type="http://schemas.openxmlformats.org/officeDocument/2006/relationships/tags" Target="../tags/tag48.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media/image13.png"/><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notesSlide" Target="../notesSlides/notesSlide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slideLayout" Target="../slideLayouts/slideLayout2.xml"/><Relationship Id="rId5" Type="http://schemas.openxmlformats.org/officeDocument/2006/relationships/tags" Target="../tags/tag60.xml"/><Relationship Id="rId15" Type="http://schemas.openxmlformats.org/officeDocument/2006/relationships/image" Target="../media/image15.png"/><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image" Target="../media/image16.png"/><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s>
</file>

<file path=ppt/slides/_rels/slide13.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image" Target="../media/image17.png"/><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s>
</file>

<file path=ppt/slides/_rels/slide14.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8.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slideLayout" Target="../slideLayouts/slideLayout2.xml"/><Relationship Id="rId2" Type="http://schemas.openxmlformats.org/officeDocument/2006/relationships/tags" Target="../tags/tag89.xml"/><Relationship Id="rId16" Type="http://schemas.openxmlformats.org/officeDocument/2006/relationships/image" Target="../media/image21.jpeg"/><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image" Target="../media/image20.png"/><Relationship Id="rId10" Type="http://schemas.openxmlformats.org/officeDocument/2006/relationships/tags" Target="../tags/tag97.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tags" Target="../tags/tag106.xml"/><Relationship Id="rId3" Type="http://schemas.openxmlformats.org/officeDocument/2006/relationships/tags" Target="../tags/tag101.xml"/><Relationship Id="rId7" Type="http://schemas.openxmlformats.org/officeDocument/2006/relationships/tags" Target="../tags/tag105.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5" Type="http://schemas.openxmlformats.org/officeDocument/2006/relationships/tags" Target="../tags/tag103.xml"/><Relationship Id="rId10" Type="http://schemas.openxmlformats.org/officeDocument/2006/relationships/slideLayout" Target="../slideLayouts/slideLayout2.xml"/><Relationship Id="rId4" Type="http://schemas.openxmlformats.org/officeDocument/2006/relationships/tags" Target="../tags/tag102.xml"/><Relationship Id="rId9" Type="http://schemas.openxmlformats.org/officeDocument/2006/relationships/tags" Target="../tags/tag107.xml"/></Relationships>
</file>

<file path=ppt/slides/_rels/slide16.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image" Target="../media/image22.png"/><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slideLayout" Target="../slideLayouts/slideLayout2.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s>
</file>

<file path=ppt/slides/_rels/slide17.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image" Target="../media/image23.png"/><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5" Type="http://schemas.openxmlformats.org/officeDocument/2006/relationships/tags" Target="../tags/tag123.xml"/><Relationship Id="rId10" Type="http://schemas.openxmlformats.org/officeDocument/2006/relationships/tags" Target="../tags/tag128.xml"/><Relationship Id="rId4" Type="http://schemas.openxmlformats.org/officeDocument/2006/relationships/tags" Target="../tags/tag122.xml"/><Relationship Id="rId9" Type="http://schemas.openxmlformats.org/officeDocument/2006/relationships/tags" Target="../tags/tag127.xml"/></Relationships>
</file>

<file path=ppt/slides/_rels/slide18.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12.jpeg"/><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tags" Target="../tags/tag145.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tags" Target="../tags/tag144.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5" Type="http://schemas.openxmlformats.org/officeDocument/2006/relationships/image" Target="../media/image24.png"/><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tags" Target="../tags/tag158.xml"/><Relationship Id="rId18" Type="http://schemas.openxmlformats.org/officeDocument/2006/relationships/tags" Target="../tags/tag163.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17" Type="http://schemas.openxmlformats.org/officeDocument/2006/relationships/tags" Target="../tags/tag162.xml"/><Relationship Id="rId2" Type="http://schemas.openxmlformats.org/officeDocument/2006/relationships/tags" Target="../tags/tag147.xml"/><Relationship Id="rId16" Type="http://schemas.openxmlformats.org/officeDocument/2006/relationships/tags" Target="../tags/tag161.xml"/><Relationship Id="rId20" Type="http://schemas.openxmlformats.org/officeDocument/2006/relationships/image" Target="../media/image25.png"/><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5" Type="http://schemas.openxmlformats.org/officeDocument/2006/relationships/tags" Target="../tags/tag160.xml"/><Relationship Id="rId10" Type="http://schemas.openxmlformats.org/officeDocument/2006/relationships/tags" Target="../tags/tag155.xml"/><Relationship Id="rId19" Type="http://schemas.openxmlformats.org/officeDocument/2006/relationships/slideLayout" Target="../slideLayouts/slideLayout2.xml"/><Relationship Id="rId4" Type="http://schemas.openxmlformats.org/officeDocument/2006/relationships/tags" Target="../tags/tag149.xml"/><Relationship Id="rId9" Type="http://schemas.openxmlformats.org/officeDocument/2006/relationships/tags" Target="../tags/tag154.xml"/><Relationship Id="rId14" Type="http://schemas.openxmlformats.org/officeDocument/2006/relationships/tags" Target="../tags/tag159.xml"/></Relationships>
</file>

<file path=ppt/slides/_rels/slide21.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tags" Target="../tags/tag176.xml"/><Relationship Id="rId18" Type="http://schemas.openxmlformats.org/officeDocument/2006/relationships/tags" Target="../tags/tag181.xml"/><Relationship Id="rId26" Type="http://schemas.openxmlformats.org/officeDocument/2006/relationships/image" Target="../media/image26.jpeg"/><Relationship Id="rId3" Type="http://schemas.openxmlformats.org/officeDocument/2006/relationships/tags" Target="../tags/tag166.xml"/><Relationship Id="rId21" Type="http://schemas.openxmlformats.org/officeDocument/2006/relationships/tags" Target="../tags/tag184.xml"/><Relationship Id="rId7" Type="http://schemas.openxmlformats.org/officeDocument/2006/relationships/tags" Target="../tags/tag170.xml"/><Relationship Id="rId12" Type="http://schemas.openxmlformats.org/officeDocument/2006/relationships/tags" Target="../tags/tag175.xml"/><Relationship Id="rId17" Type="http://schemas.openxmlformats.org/officeDocument/2006/relationships/tags" Target="../tags/tag180.xml"/><Relationship Id="rId25" Type="http://schemas.openxmlformats.org/officeDocument/2006/relationships/slideLayout" Target="../slideLayouts/slideLayout2.xml"/><Relationship Id="rId2" Type="http://schemas.openxmlformats.org/officeDocument/2006/relationships/tags" Target="../tags/tag165.xml"/><Relationship Id="rId16" Type="http://schemas.openxmlformats.org/officeDocument/2006/relationships/tags" Target="../tags/tag179.xml"/><Relationship Id="rId20" Type="http://schemas.openxmlformats.org/officeDocument/2006/relationships/tags" Target="../tags/tag183.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24" Type="http://schemas.openxmlformats.org/officeDocument/2006/relationships/tags" Target="../tags/tag187.xml"/><Relationship Id="rId5" Type="http://schemas.openxmlformats.org/officeDocument/2006/relationships/tags" Target="../tags/tag168.xml"/><Relationship Id="rId15" Type="http://schemas.openxmlformats.org/officeDocument/2006/relationships/tags" Target="../tags/tag178.xml"/><Relationship Id="rId23" Type="http://schemas.openxmlformats.org/officeDocument/2006/relationships/tags" Target="../tags/tag186.xml"/><Relationship Id="rId10" Type="http://schemas.openxmlformats.org/officeDocument/2006/relationships/tags" Target="../tags/tag173.xml"/><Relationship Id="rId19" Type="http://schemas.openxmlformats.org/officeDocument/2006/relationships/tags" Target="../tags/tag182.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tags" Target="../tags/tag177.xml"/><Relationship Id="rId22" Type="http://schemas.openxmlformats.org/officeDocument/2006/relationships/tags" Target="../tags/tag185.xml"/></Relationships>
</file>

<file path=ppt/slides/_rels/slide22.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3" Type="http://schemas.openxmlformats.org/officeDocument/2006/relationships/tags" Target="../tags/tag190.xml"/><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image" Target="../media/image27.jpeg"/><Relationship Id="rId2" Type="http://schemas.openxmlformats.org/officeDocument/2006/relationships/tags" Target="../tags/tag189.xml"/><Relationship Id="rId16" Type="http://schemas.openxmlformats.org/officeDocument/2006/relationships/slideLayout" Target="../slideLayouts/slideLayout2.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5" Type="http://schemas.openxmlformats.org/officeDocument/2006/relationships/tags" Target="../tags/tag192.xml"/><Relationship Id="rId15" Type="http://schemas.openxmlformats.org/officeDocument/2006/relationships/tags" Target="../tags/tag202.xml"/><Relationship Id="rId10" Type="http://schemas.openxmlformats.org/officeDocument/2006/relationships/tags" Target="../tags/tag197.xml"/><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s>
</file>

<file path=ppt/slides/_rels/slide23.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slideLayout" Target="../slideLayouts/slideLayout2.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tags" Target="../tags/tag214.xml"/><Relationship Id="rId17" Type="http://schemas.openxmlformats.org/officeDocument/2006/relationships/image" Target="../media/image31.jpeg"/><Relationship Id="rId2" Type="http://schemas.openxmlformats.org/officeDocument/2006/relationships/tags" Target="../tags/tag204.xml"/><Relationship Id="rId16" Type="http://schemas.openxmlformats.org/officeDocument/2006/relationships/image" Target="../media/image30.png"/><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tags" Target="../tags/tag213.xml"/><Relationship Id="rId5" Type="http://schemas.openxmlformats.org/officeDocument/2006/relationships/tags" Target="../tags/tag207.xml"/><Relationship Id="rId15" Type="http://schemas.openxmlformats.org/officeDocument/2006/relationships/image" Target="../media/image29.png"/><Relationship Id="rId10" Type="http://schemas.openxmlformats.org/officeDocument/2006/relationships/tags" Target="../tags/tag212.xml"/><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tags" Target="../tags/tag222.xml"/><Relationship Id="rId3" Type="http://schemas.openxmlformats.org/officeDocument/2006/relationships/tags" Target="../tags/tag217.xml"/><Relationship Id="rId7" Type="http://schemas.openxmlformats.org/officeDocument/2006/relationships/tags" Target="../tags/tag22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9"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3" Type="http://schemas.openxmlformats.org/officeDocument/2006/relationships/tags" Target="../tags/tag235.xml"/><Relationship Id="rId18" Type="http://schemas.openxmlformats.org/officeDocument/2006/relationships/tags" Target="../tags/tag240.xml"/><Relationship Id="rId26" Type="http://schemas.openxmlformats.org/officeDocument/2006/relationships/tags" Target="../tags/tag248.xml"/><Relationship Id="rId21" Type="http://schemas.openxmlformats.org/officeDocument/2006/relationships/tags" Target="../tags/tag243.xml"/><Relationship Id="rId34" Type="http://schemas.openxmlformats.org/officeDocument/2006/relationships/image" Target="../media/image33.png"/><Relationship Id="rId7" Type="http://schemas.openxmlformats.org/officeDocument/2006/relationships/tags" Target="../tags/tag229.xml"/><Relationship Id="rId12" Type="http://schemas.openxmlformats.org/officeDocument/2006/relationships/tags" Target="../tags/tag234.xml"/><Relationship Id="rId17" Type="http://schemas.openxmlformats.org/officeDocument/2006/relationships/tags" Target="../tags/tag239.xml"/><Relationship Id="rId25" Type="http://schemas.openxmlformats.org/officeDocument/2006/relationships/tags" Target="../tags/tag247.xml"/><Relationship Id="rId33" Type="http://schemas.openxmlformats.org/officeDocument/2006/relationships/image" Target="../media/image32.png"/><Relationship Id="rId38" Type="http://schemas.openxmlformats.org/officeDocument/2006/relationships/image" Target="../media/image37.png"/><Relationship Id="rId2" Type="http://schemas.openxmlformats.org/officeDocument/2006/relationships/tags" Target="../tags/tag224.xml"/><Relationship Id="rId16" Type="http://schemas.openxmlformats.org/officeDocument/2006/relationships/tags" Target="../tags/tag238.xml"/><Relationship Id="rId20" Type="http://schemas.openxmlformats.org/officeDocument/2006/relationships/tags" Target="../tags/tag242.xml"/><Relationship Id="rId29" Type="http://schemas.openxmlformats.org/officeDocument/2006/relationships/tags" Target="../tags/tag251.xml"/><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tags" Target="../tags/tag233.xml"/><Relationship Id="rId24" Type="http://schemas.openxmlformats.org/officeDocument/2006/relationships/tags" Target="../tags/tag246.xml"/><Relationship Id="rId32" Type="http://schemas.openxmlformats.org/officeDocument/2006/relationships/slideLayout" Target="../slideLayouts/slideLayout2.xml"/><Relationship Id="rId37" Type="http://schemas.openxmlformats.org/officeDocument/2006/relationships/image" Target="../media/image36.png"/><Relationship Id="rId5" Type="http://schemas.openxmlformats.org/officeDocument/2006/relationships/tags" Target="../tags/tag227.xml"/><Relationship Id="rId15" Type="http://schemas.openxmlformats.org/officeDocument/2006/relationships/tags" Target="../tags/tag237.xml"/><Relationship Id="rId23" Type="http://schemas.openxmlformats.org/officeDocument/2006/relationships/tags" Target="../tags/tag245.xml"/><Relationship Id="rId28" Type="http://schemas.openxmlformats.org/officeDocument/2006/relationships/tags" Target="../tags/tag250.xml"/><Relationship Id="rId36" Type="http://schemas.openxmlformats.org/officeDocument/2006/relationships/image" Target="../media/image35.png"/><Relationship Id="rId10" Type="http://schemas.openxmlformats.org/officeDocument/2006/relationships/tags" Target="../tags/tag232.xml"/><Relationship Id="rId19" Type="http://schemas.openxmlformats.org/officeDocument/2006/relationships/tags" Target="../tags/tag241.xml"/><Relationship Id="rId31" Type="http://schemas.openxmlformats.org/officeDocument/2006/relationships/tags" Target="../tags/tag253.xml"/><Relationship Id="rId4" Type="http://schemas.openxmlformats.org/officeDocument/2006/relationships/tags" Target="../tags/tag226.xml"/><Relationship Id="rId9" Type="http://schemas.openxmlformats.org/officeDocument/2006/relationships/tags" Target="../tags/tag231.xml"/><Relationship Id="rId14" Type="http://schemas.openxmlformats.org/officeDocument/2006/relationships/tags" Target="../tags/tag236.xml"/><Relationship Id="rId22" Type="http://schemas.openxmlformats.org/officeDocument/2006/relationships/tags" Target="../tags/tag244.xml"/><Relationship Id="rId27" Type="http://schemas.openxmlformats.org/officeDocument/2006/relationships/tags" Target="../tags/tag249.xml"/><Relationship Id="rId30" Type="http://schemas.openxmlformats.org/officeDocument/2006/relationships/tags" Target="../tags/tag252.xml"/><Relationship Id="rId35" Type="http://schemas.openxmlformats.org/officeDocument/2006/relationships/image" Target="../media/image34.png"/><Relationship Id="rId8" Type="http://schemas.openxmlformats.org/officeDocument/2006/relationships/tags" Target="../tags/tag230.xml"/><Relationship Id="rId3" Type="http://schemas.openxmlformats.org/officeDocument/2006/relationships/tags" Target="../tags/tag225.xml"/></Relationships>
</file>

<file path=ppt/slides/_rels/slide26.xml.rels><?xml version="1.0" encoding="UTF-8" standalone="yes"?>
<Relationships xmlns="http://schemas.openxmlformats.org/package/2006/relationships"><Relationship Id="rId8" Type="http://schemas.openxmlformats.org/officeDocument/2006/relationships/tags" Target="../tags/tag261.xml"/><Relationship Id="rId13" Type="http://schemas.openxmlformats.org/officeDocument/2006/relationships/tags" Target="../tags/tag266.xml"/><Relationship Id="rId18" Type="http://schemas.openxmlformats.org/officeDocument/2006/relationships/tags" Target="../tags/tag271.xml"/><Relationship Id="rId3" Type="http://schemas.openxmlformats.org/officeDocument/2006/relationships/tags" Target="../tags/tag256.xml"/><Relationship Id="rId21" Type="http://schemas.openxmlformats.org/officeDocument/2006/relationships/tags" Target="../tags/tag274.xml"/><Relationship Id="rId7" Type="http://schemas.openxmlformats.org/officeDocument/2006/relationships/tags" Target="../tags/tag260.xml"/><Relationship Id="rId12" Type="http://schemas.openxmlformats.org/officeDocument/2006/relationships/tags" Target="../tags/tag265.xml"/><Relationship Id="rId17" Type="http://schemas.openxmlformats.org/officeDocument/2006/relationships/tags" Target="../tags/tag270.xml"/><Relationship Id="rId2" Type="http://schemas.openxmlformats.org/officeDocument/2006/relationships/tags" Target="../tags/tag255.xml"/><Relationship Id="rId16" Type="http://schemas.openxmlformats.org/officeDocument/2006/relationships/tags" Target="../tags/tag269.xml"/><Relationship Id="rId20" Type="http://schemas.openxmlformats.org/officeDocument/2006/relationships/tags" Target="../tags/tag273.xml"/><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tags" Target="../tags/tag264.xml"/><Relationship Id="rId5" Type="http://schemas.openxmlformats.org/officeDocument/2006/relationships/tags" Target="../tags/tag258.xml"/><Relationship Id="rId15" Type="http://schemas.openxmlformats.org/officeDocument/2006/relationships/tags" Target="../tags/tag268.xml"/><Relationship Id="rId23" Type="http://schemas.openxmlformats.org/officeDocument/2006/relationships/slideLayout" Target="../slideLayouts/slideLayout2.xml"/><Relationship Id="rId10" Type="http://schemas.openxmlformats.org/officeDocument/2006/relationships/tags" Target="../tags/tag263.xml"/><Relationship Id="rId19" Type="http://schemas.openxmlformats.org/officeDocument/2006/relationships/tags" Target="../tags/tag272.xml"/><Relationship Id="rId4" Type="http://schemas.openxmlformats.org/officeDocument/2006/relationships/tags" Target="../tags/tag257.xml"/><Relationship Id="rId9" Type="http://schemas.openxmlformats.org/officeDocument/2006/relationships/tags" Target="../tags/tag262.xml"/><Relationship Id="rId14" Type="http://schemas.openxmlformats.org/officeDocument/2006/relationships/tags" Target="../tags/tag267.xml"/><Relationship Id="rId22" Type="http://schemas.openxmlformats.org/officeDocument/2006/relationships/tags" Target="../tags/tag275.xml"/></Relationships>
</file>

<file path=ppt/slides/_rels/slide27.xml.rels><?xml version="1.0" encoding="UTF-8" standalone="yes"?>
<Relationships xmlns="http://schemas.openxmlformats.org/package/2006/relationships"><Relationship Id="rId8" Type="http://schemas.openxmlformats.org/officeDocument/2006/relationships/tags" Target="../tags/tag283.xml"/><Relationship Id="rId13" Type="http://schemas.openxmlformats.org/officeDocument/2006/relationships/tags" Target="../tags/tag288.xml"/><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tags" Target="../tags/tag287.xml"/><Relationship Id="rId17" Type="http://schemas.openxmlformats.org/officeDocument/2006/relationships/image" Target="../media/image38.png"/><Relationship Id="rId2" Type="http://schemas.openxmlformats.org/officeDocument/2006/relationships/tags" Target="../tags/tag277.xml"/><Relationship Id="rId16" Type="http://schemas.openxmlformats.org/officeDocument/2006/relationships/slideLayout" Target="../slideLayouts/slideLayout2.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tags" Target="../tags/tag286.xml"/><Relationship Id="rId5" Type="http://schemas.openxmlformats.org/officeDocument/2006/relationships/tags" Target="../tags/tag280.xml"/><Relationship Id="rId15" Type="http://schemas.openxmlformats.org/officeDocument/2006/relationships/tags" Target="../tags/tag290.xml"/><Relationship Id="rId10" Type="http://schemas.openxmlformats.org/officeDocument/2006/relationships/tags" Target="../tags/tag285.xml"/><Relationship Id="rId4" Type="http://schemas.openxmlformats.org/officeDocument/2006/relationships/tags" Target="../tags/tag279.xml"/><Relationship Id="rId9" Type="http://schemas.openxmlformats.org/officeDocument/2006/relationships/tags" Target="../tags/tag284.xml"/><Relationship Id="rId14" Type="http://schemas.openxmlformats.org/officeDocument/2006/relationships/tags" Target="../tags/tag28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3415" y="1407795"/>
            <a:ext cx="9930130" cy="1484630"/>
          </a:xfrm>
        </p:spPr>
        <p:txBody>
          <a:bodyPr>
            <a:normAutofit fontScale="90000"/>
          </a:bodyPr>
          <a:lstStyle/>
          <a:p>
            <a:pPr>
              <a:lnSpc>
                <a:spcPct val="140000"/>
              </a:lnSpc>
            </a:pPr>
            <a:r>
              <a:rPr lang="en-US" sz="3890">
                <a:solidFill>
                  <a:srgbClr val="EC141C"/>
                </a:solidFill>
                <a:latin typeface="Arial" panose="020B0604020202020204" pitchFamily="34" charset="0"/>
                <a:cs typeface="Arial" panose="020B0604020202020204" pitchFamily="34" charset="0"/>
              </a:rPr>
              <a:t>PHƯƠNG PHÁP NGHIÊN CỨU</a:t>
            </a:r>
            <a:br>
              <a:rPr lang="en-US" sz="3890">
                <a:solidFill>
                  <a:srgbClr val="EC141C"/>
                </a:solidFill>
                <a:latin typeface="Arial" panose="020B0604020202020204" pitchFamily="34" charset="0"/>
                <a:cs typeface="Arial" panose="020B0604020202020204" pitchFamily="34" charset="0"/>
              </a:rPr>
            </a:br>
            <a:r>
              <a:rPr lang="en-US" sz="3335">
                <a:solidFill>
                  <a:srgbClr val="0000FF"/>
                </a:solidFill>
                <a:latin typeface="Arial" panose="020B0604020202020204" pitchFamily="34" charset="0"/>
                <a:cs typeface="Arial" panose="020B0604020202020204" pitchFamily="34" charset="0"/>
              </a:rPr>
              <a:t>RESEARCH METHODS</a:t>
            </a:r>
          </a:p>
        </p:txBody>
      </p:sp>
      <p:sp>
        <p:nvSpPr>
          <p:cNvPr id="3" name="Subtitle 2"/>
          <p:cNvSpPr>
            <a:spLocks noGrp="1"/>
          </p:cNvSpPr>
          <p:nvPr>
            <p:ph type="subTitle" idx="1"/>
          </p:nvPr>
        </p:nvSpPr>
        <p:spPr>
          <a:xfrm>
            <a:off x="6384290" y="3602355"/>
            <a:ext cx="5350510" cy="1655445"/>
          </a:xfrm>
        </p:spPr>
        <p:txBody>
          <a:bodyPr>
            <a:normAutofit lnSpcReduction="10000"/>
          </a:bodyPr>
          <a:lstStyle/>
          <a:p>
            <a:pPr marL="246380" marR="5080" indent="-234315" algn="l">
              <a:lnSpc>
                <a:spcPct val="129000"/>
              </a:lnSpc>
              <a:spcBef>
                <a:spcPts val="305"/>
              </a:spcBef>
              <a:tabLst>
                <a:tab pos="1536700" algn="l"/>
              </a:tabLst>
            </a:pPr>
            <a:r>
              <a:rPr lang="en-US" sz="2000" b="1" spc="-5">
                <a:solidFill>
                  <a:srgbClr val="0000FF"/>
                </a:solidFill>
                <a:latin typeface="Arial" panose="020B0604020202020204"/>
                <a:cs typeface="Arial" panose="020B0604020202020204"/>
                <a:sym typeface="+mn-ea"/>
              </a:rPr>
              <a:t>Giảng viên: Võ Vĩnh Bảo</a:t>
            </a:r>
            <a:endParaRPr lang="en-US" sz="2000" b="1" spc="-15">
              <a:solidFill>
                <a:srgbClr val="0000FF"/>
              </a:solidFill>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rgbClr val="003D62"/>
                </a:solidFill>
                <a:latin typeface="Arial" panose="020B0604020202020204"/>
                <a:cs typeface="Arial" panose="020B0604020202020204"/>
                <a:sym typeface="+mn-ea"/>
              </a:rPr>
              <a:t>Email: </a:t>
            </a:r>
            <a:r>
              <a:rPr lang="en-US" sz="2000" spc="-5">
                <a:solidFill>
                  <a:sysClr val="windowText" lastClr="000000"/>
                </a:solidFill>
                <a:latin typeface="Arial" panose="020B0604020202020204"/>
                <a:cs typeface="Arial" panose="020B0604020202020204"/>
                <a:sym typeface="+mn-ea"/>
                <a:hlinkClick r:id="rId2"/>
              </a:rPr>
              <a:t>bao.vo@ut.edu.vn </a:t>
            </a:r>
            <a:r>
              <a:rPr lang="en-US" sz="2000" spc="-5">
                <a:solidFill>
                  <a:sysClr val="windowText" lastClr="000000"/>
                </a:solidFill>
                <a:latin typeface="Arial" panose="020B0604020202020204"/>
                <a:cs typeface="Arial" panose="020B0604020202020204"/>
                <a:sym typeface="+mn-ea"/>
              </a:rPr>
              <a:t> </a:t>
            </a:r>
            <a:endParaRPr lang="en-US" sz="2000" spc="-5">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ysClr val="windowText" lastClr="000000"/>
                </a:solidFill>
                <a:latin typeface="Arial" panose="020B0604020202020204"/>
                <a:cs typeface="Arial" panose="020B0604020202020204"/>
                <a:sym typeface="+mn-ea"/>
              </a:rPr>
              <a:t>Phone:</a:t>
            </a:r>
            <a:r>
              <a:rPr lang="en-US" sz="2000" spc="-10">
                <a:solidFill>
                  <a:sysClr val="windowText" lastClr="000000"/>
                </a:solidFill>
                <a:latin typeface="Arial" panose="020B0604020202020204"/>
                <a:cs typeface="Arial" panose="020B0604020202020204"/>
                <a:sym typeface="+mn-ea"/>
              </a:rPr>
              <a:t> </a:t>
            </a:r>
            <a:r>
              <a:rPr lang="en-US" sz="2000">
                <a:solidFill>
                  <a:sysClr val="windowText" lastClr="000000"/>
                </a:solidFill>
                <a:latin typeface="Arial" panose="020B0604020202020204"/>
                <a:cs typeface="Arial" panose="020B0604020202020204"/>
                <a:sym typeface="+mn-ea"/>
              </a:rPr>
              <a:t>091 8235236</a:t>
            </a:r>
            <a:endParaRPr lang="en-US" sz="2000">
              <a:latin typeface="Arial" panose="020B0604020202020204" pitchFamily="34" charset="0"/>
              <a:cs typeface="Arial" panose="020B0604020202020204" pitchFamily="34" charset="0"/>
            </a:endParaRP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645" y="1407795"/>
            <a:ext cx="10121900" cy="1484630"/>
          </a:xfrm>
        </p:spPr>
        <p:txBody>
          <a:bodyPr>
            <a:normAutofit/>
          </a:bodyPr>
          <a:lstStyle/>
          <a:p>
            <a:pPr>
              <a:lnSpc>
                <a:spcPct val="140000"/>
              </a:lnSpc>
            </a:pPr>
            <a:r>
              <a:rPr lang="en-US" sz="2800">
                <a:solidFill>
                  <a:srgbClr val="EC141C"/>
                </a:solidFill>
                <a:latin typeface="Arial" panose="020B0604020202020204" pitchFamily="34" charset="0"/>
                <a:cs typeface="Arial" panose="020B0604020202020204" pitchFamily="34" charset="0"/>
              </a:rPr>
              <a:t>CHƯƠNG 1</a:t>
            </a:r>
            <a:br>
              <a:rPr lang="en-US" sz="2800">
                <a:solidFill>
                  <a:srgbClr val="EC141C"/>
                </a:solidFill>
                <a:latin typeface="Arial" panose="020B0604020202020204" pitchFamily="34" charset="0"/>
                <a:cs typeface="Arial" panose="020B0604020202020204" pitchFamily="34" charset="0"/>
              </a:rPr>
            </a:br>
            <a:r>
              <a:rPr lang="en-US" sz="2800">
                <a:solidFill>
                  <a:srgbClr val="0000FF"/>
                </a:solidFill>
                <a:latin typeface="Arial" panose="020B0604020202020204" pitchFamily="34" charset="0"/>
                <a:cs typeface="Arial" panose="020B0604020202020204" pitchFamily="34" charset="0"/>
              </a:rPr>
              <a:t>TỔNG QUAN VỀ HỌC ĐẠI HỌC</a:t>
            </a: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
        <p:nvSpPr>
          <p:cNvPr id="7" name="Content Placeholder 2"/>
          <p:cNvSpPr txBox="1">
            <a:spLocks/>
          </p:cNvSpPr>
          <p:nvPr/>
        </p:nvSpPr>
        <p:spPr>
          <a:xfrm>
            <a:off x="5510463" y="3460674"/>
            <a:ext cx="6224337" cy="2946734"/>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Wingdings" panose="05000000000000000000" pitchFamily="2" charset="2"/>
              <a:buNone/>
              <a:defRPr sz="2400" kern="1200">
                <a:solidFill>
                  <a:srgbClr val="0A9195"/>
                </a:solidFill>
                <a:latin typeface="+mn-lt"/>
                <a:ea typeface="+mn-ea"/>
                <a:cs typeface="+mn-cs"/>
              </a:defRPr>
            </a:lvl1pPr>
            <a:lvl2pPr marL="457200" indent="0" algn="ctr" defTabSz="914400" rtl="0" eaLnBrk="1" latinLnBrk="0" hangingPunct="1">
              <a:lnSpc>
                <a:spcPct val="90000"/>
              </a:lnSpc>
              <a:spcBef>
                <a:spcPts val="500"/>
              </a:spcBef>
              <a:buFont typeface="Wingdings" panose="05000000000000000000" pitchFamily="2" charset="2"/>
              <a:buNone/>
              <a:defRPr sz="2000" kern="1200">
                <a:solidFill>
                  <a:srgbClr val="076365"/>
                </a:solidFill>
                <a:latin typeface="+mn-lt"/>
                <a:ea typeface="+mn-ea"/>
                <a:cs typeface="+mn-cs"/>
              </a:defRPr>
            </a:lvl2pPr>
            <a:lvl3pPr marL="914400" indent="0" algn="ctr" defTabSz="914400" rtl="0" eaLnBrk="1" latinLnBrk="0" hangingPunct="1">
              <a:lnSpc>
                <a:spcPct val="90000"/>
              </a:lnSpc>
              <a:spcBef>
                <a:spcPts val="500"/>
              </a:spcBef>
              <a:buFont typeface="Courier New" panose="02070309020205020404" pitchFamily="49" charset="0"/>
              <a:buNone/>
              <a:defRPr sz="1800" kern="1200">
                <a:solidFill>
                  <a:srgbClr val="076365"/>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76365"/>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76365"/>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20000"/>
              </a:lnSpc>
            </a:pPr>
            <a:r>
              <a:rPr lang="en-US" b="1" smtClean="0">
                <a:solidFill>
                  <a:srgbClr val="EC141C"/>
                </a:solidFill>
              </a:rPr>
              <a:t>NỘI DUNG CHƯƠNG 1</a:t>
            </a:r>
          </a:p>
          <a:p>
            <a:pPr algn="just">
              <a:lnSpc>
                <a:spcPct val="150000"/>
              </a:lnSpc>
            </a:pPr>
            <a:r>
              <a:rPr lang="en-US" smtClean="0"/>
              <a:t>1.1. Đại học khác với THPT như thế nào?</a:t>
            </a:r>
          </a:p>
          <a:p>
            <a:pPr algn="just">
              <a:lnSpc>
                <a:spcPct val="150000"/>
              </a:lnSpc>
            </a:pPr>
            <a:r>
              <a:rPr lang="en-US" smtClean="0"/>
              <a:t>1.2. Những kỳ vọng đối với một sinh viên đại học</a:t>
            </a:r>
          </a:p>
          <a:p>
            <a:pPr algn="just">
              <a:lnSpc>
                <a:spcPct val="150000"/>
              </a:lnSpc>
            </a:pPr>
            <a:r>
              <a:rPr lang="en-US" smtClean="0"/>
              <a:t>1.3. Học để làm gì?</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3</a:t>
            </a:fld>
            <a:endParaRPr lang="en-US"/>
          </a:p>
        </p:txBody>
      </p:sp>
      <p:sp>
        <p:nvSpPr>
          <p:cNvPr id="6" name="object 2"/>
          <p:cNvSpPr txBox="1">
            <a:spLocks noGrp="1"/>
          </p:cNvSpPr>
          <p:nvPr>
            <p:custDataLst>
              <p:tags r:id="rId1"/>
            </p:custDataLst>
          </p:nvPr>
        </p:nvSpPr>
        <p:spPr>
          <a:xfrm>
            <a:off x="591143" y="1809855"/>
            <a:ext cx="5849938" cy="1612900"/>
          </a:xfrm>
          <a:prstGeom prst="rect">
            <a:avLst/>
          </a:prstGeom>
        </p:spPr>
        <p:txBody>
          <a:bodyPr vert="horz" wrap="square" lIns="0" tIns="12699" rIns="0" bIns="0" rtlCol="0">
            <a:spAutoFit/>
          </a:bodyPr>
          <a:lstStyle>
            <a:lvl1pPr>
              <a:defRPr sz="3665" b="1" i="0">
                <a:solidFill>
                  <a:srgbClr val="4471C4"/>
                </a:solidFill>
                <a:latin typeface="Roboto"/>
                <a:ea typeface="+mn-ea"/>
                <a:cs typeface="Roboto"/>
              </a:defRPr>
            </a:lvl1pPr>
          </a:lstStyle>
          <a:p>
            <a:pPr marL="12700">
              <a:lnSpc>
                <a:spcPct val="100000"/>
              </a:lnSpc>
              <a:spcBef>
                <a:spcPts val="120"/>
              </a:spcBef>
            </a:pPr>
            <a:r>
              <a:rPr sz="5085" dirty="0">
                <a:solidFill>
                  <a:srgbClr val="076365"/>
                </a:solidFill>
                <a:latin typeface="Arial" panose="020B0604020202020204"/>
                <a:cs typeface="Arial" panose="020B0604020202020204"/>
              </a:rPr>
              <a:t>Đại</a:t>
            </a:r>
            <a:r>
              <a:rPr sz="5085" spc="-235" dirty="0">
                <a:solidFill>
                  <a:srgbClr val="076365"/>
                </a:solidFill>
                <a:latin typeface="Arial" panose="020B0604020202020204"/>
                <a:cs typeface="Arial" panose="020B0604020202020204"/>
              </a:rPr>
              <a:t> </a:t>
            </a:r>
            <a:r>
              <a:rPr sz="5085" dirty="0">
                <a:solidFill>
                  <a:srgbClr val="076365"/>
                </a:solidFill>
                <a:latin typeface="Arial" panose="020B0604020202020204"/>
                <a:cs typeface="Arial" panose="020B0604020202020204"/>
              </a:rPr>
              <a:t>học</a:t>
            </a:r>
            <a:r>
              <a:rPr sz="5085" spc="-229" dirty="0">
                <a:solidFill>
                  <a:srgbClr val="076365"/>
                </a:solidFill>
                <a:latin typeface="Arial" panose="020B0604020202020204"/>
                <a:cs typeface="Arial" panose="020B0604020202020204"/>
              </a:rPr>
              <a:t> </a:t>
            </a:r>
            <a:r>
              <a:rPr sz="5085" dirty="0">
                <a:solidFill>
                  <a:srgbClr val="076365"/>
                </a:solidFill>
                <a:latin typeface="Arial" panose="020B0604020202020204"/>
                <a:cs typeface="Arial" panose="020B0604020202020204"/>
              </a:rPr>
              <a:t>khác</a:t>
            </a:r>
            <a:r>
              <a:rPr sz="5085" spc="-240" dirty="0">
                <a:solidFill>
                  <a:srgbClr val="076365"/>
                </a:solidFill>
                <a:latin typeface="Arial" panose="020B0604020202020204"/>
                <a:cs typeface="Arial" panose="020B0604020202020204"/>
              </a:rPr>
              <a:t> </a:t>
            </a:r>
            <a:r>
              <a:rPr sz="5085" spc="-310" dirty="0">
                <a:solidFill>
                  <a:srgbClr val="076365"/>
                </a:solidFill>
                <a:latin typeface="Arial" panose="020B0604020202020204"/>
                <a:cs typeface="Arial" panose="020B0604020202020204"/>
              </a:rPr>
              <a:t>với</a:t>
            </a:r>
            <a:endParaRPr sz="5085">
              <a:solidFill>
                <a:srgbClr val="076365"/>
              </a:solidFill>
              <a:latin typeface="Arial" panose="020B0604020202020204"/>
              <a:cs typeface="Arial" panose="020B0604020202020204"/>
            </a:endParaRPr>
          </a:p>
          <a:p>
            <a:pPr marL="12700">
              <a:lnSpc>
                <a:spcPct val="100000"/>
              </a:lnSpc>
              <a:spcBef>
                <a:spcPts val="275"/>
              </a:spcBef>
            </a:pPr>
            <a:r>
              <a:rPr sz="5085" dirty="0">
                <a:solidFill>
                  <a:srgbClr val="076365"/>
                </a:solidFill>
                <a:latin typeface="Arial" panose="020B0604020202020204"/>
                <a:cs typeface="Arial" panose="020B0604020202020204"/>
              </a:rPr>
              <a:t>THPT</a:t>
            </a:r>
            <a:r>
              <a:rPr sz="5085" spc="-240" dirty="0">
                <a:solidFill>
                  <a:srgbClr val="076365"/>
                </a:solidFill>
                <a:latin typeface="Arial" panose="020B0604020202020204"/>
                <a:cs typeface="Arial" panose="020B0604020202020204"/>
              </a:rPr>
              <a:t> </a:t>
            </a:r>
            <a:r>
              <a:rPr sz="5085" spc="-250" dirty="0">
                <a:solidFill>
                  <a:srgbClr val="076365"/>
                </a:solidFill>
                <a:latin typeface="Arial" panose="020B0604020202020204"/>
                <a:cs typeface="Arial" panose="020B0604020202020204"/>
              </a:rPr>
              <a:t>như </a:t>
            </a:r>
            <a:r>
              <a:rPr sz="5085" spc="180" dirty="0">
                <a:solidFill>
                  <a:srgbClr val="076365"/>
                </a:solidFill>
                <a:latin typeface="Arial" panose="020B0604020202020204"/>
                <a:cs typeface="Arial" panose="020B0604020202020204"/>
              </a:rPr>
              <a:t>thế</a:t>
            </a:r>
            <a:r>
              <a:rPr sz="5085" spc="-235" dirty="0">
                <a:solidFill>
                  <a:srgbClr val="076365"/>
                </a:solidFill>
                <a:latin typeface="Arial" panose="020B0604020202020204"/>
                <a:cs typeface="Arial" panose="020B0604020202020204"/>
              </a:rPr>
              <a:t> </a:t>
            </a:r>
            <a:r>
              <a:rPr sz="5085" spc="-140" dirty="0">
                <a:solidFill>
                  <a:srgbClr val="076365"/>
                </a:solidFill>
                <a:latin typeface="Arial" panose="020B0604020202020204"/>
                <a:cs typeface="Arial" panose="020B0604020202020204"/>
              </a:rPr>
              <a:t>nào?</a:t>
            </a:r>
          </a:p>
        </p:txBody>
      </p:sp>
      <p:pic>
        <p:nvPicPr>
          <p:cNvPr id="7" name="object 4"/>
          <p:cNvPicPr/>
          <p:nvPr>
            <p:custDataLst>
              <p:tags r:id="rId2"/>
            </p:custDataLst>
          </p:nvPr>
        </p:nvPicPr>
        <p:blipFill>
          <a:blip r:embed="rId5" cstate="print"/>
          <a:stretch>
            <a:fillRect/>
          </a:stretch>
        </p:blipFill>
        <p:spPr>
          <a:xfrm>
            <a:off x="7358380" y="723900"/>
            <a:ext cx="4791710" cy="6126480"/>
          </a:xfrm>
          <a:prstGeom prst="rect">
            <a:avLst/>
          </a:prstGeom>
        </p:spPr>
      </p:pic>
      <p:sp>
        <p:nvSpPr>
          <p:cNvPr id="10" name="Title 9"/>
          <p:cNvSpPr>
            <a:spLocks noGrp="1"/>
          </p:cNvSpPr>
          <p:nvPr>
            <p:ph type="title"/>
            <p:custDataLst>
              <p:tags r:id="rId3"/>
            </p:custDataLst>
          </p:nvPr>
        </p:nvSpPr>
        <p:spPr/>
        <p:txBody>
          <a:bodyPr>
            <a:normAutofit/>
          </a:bodyPr>
          <a:lstStyle/>
          <a:p>
            <a:r>
              <a:rPr lang="en-US" sz="2665">
                <a:latin typeface="Arial" panose="020B0604020202020204" pitchFamily="34" charset="0"/>
                <a:cs typeface="Arial" panose="020B0604020202020204" pitchFamily="34" charset="0"/>
              </a:rPr>
              <a:t>TỔNG QUAN VỀ HỌC ĐẠI HỌC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1.1. Đại học khác với THPT như thế nào?</a:t>
            </a:r>
            <a:endParaRPr lang="en-US" sz="2665">
              <a:latin typeface="Arial" panose="020B0604020202020204" pitchFamily="34" charset="0"/>
              <a:cs typeface="Arial" panose="020B0604020202020204" pitchFamily="34" charset="0"/>
            </a:endParaRPr>
          </a:p>
        </p:txBody>
      </p:sp>
      <p:sp>
        <p:nvSpPr>
          <p:cNvPr id="3" name="object 2"/>
          <p:cNvSpPr txBox="1">
            <a:spLocks noGrp="1"/>
          </p:cNvSpPr>
          <p:nvPr>
            <p:custDataLst>
              <p:tags r:id="rId1"/>
            </p:custDataLst>
          </p:nvPr>
        </p:nvSpPr>
        <p:spPr>
          <a:xfrm>
            <a:off x="348183" y="879424"/>
            <a:ext cx="5981065" cy="631825"/>
          </a:xfrm>
          <a:prstGeom prst="rect">
            <a:avLst/>
          </a:prstGeom>
        </p:spPr>
        <p:txBody>
          <a:bodyPr vert="horz" wrap="square" lIns="0" tIns="16510" rIns="0" bIns="0" rtlCol="0">
            <a:spAutoFit/>
          </a:bodyPr>
          <a:lstStyle>
            <a:lvl1pPr>
              <a:defRPr sz="4400" b="1" i="0">
                <a:solidFill>
                  <a:srgbClr val="4471C4"/>
                </a:solidFill>
                <a:latin typeface="Roboto"/>
                <a:ea typeface="+mn-ea"/>
                <a:cs typeface="Roboto"/>
              </a:defRPr>
            </a:lvl1pPr>
          </a:lstStyle>
          <a:p>
            <a:pPr marL="12700">
              <a:lnSpc>
                <a:spcPct val="100000"/>
              </a:lnSpc>
              <a:spcBef>
                <a:spcPts val="130"/>
              </a:spcBef>
            </a:pPr>
            <a:r>
              <a:rPr sz="4000" dirty="0">
                <a:solidFill>
                  <a:srgbClr val="0000FF"/>
                </a:solidFill>
                <a:latin typeface="Arial" panose="020B0604020202020204" pitchFamily="34" charset="0"/>
                <a:cs typeface="Arial" panose="020B0604020202020204" pitchFamily="34" charset="0"/>
              </a:rPr>
              <a:t>Phương</a:t>
            </a:r>
            <a:r>
              <a:rPr sz="4000" spc="-30" dirty="0">
                <a:solidFill>
                  <a:srgbClr val="0000FF"/>
                </a:solidFill>
                <a:latin typeface="Arial" panose="020B0604020202020204" pitchFamily="34" charset="0"/>
                <a:cs typeface="Arial" panose="020B0604020202020204" pitchFamily="34" charset="0"/>
              </a:rPr>
              <a:t> </a:t>
            </a:r>
            <a:r>
              <a:rPr sz="4000" dirty="0">
                <a:solidFill>
                  <a:srgbClr val="0000FF"/>
                </a:solidFill>
                <a:latin typeface="Arial" panose="020B0604020202020204" pitchFamily="34" charset="0"/>
                <a:cs typeface="Arial" panose="020B0604020202020204" pitchFamily="34" charset="0"/>
              </a:rPr>
              <a:t>pháp</a:t>
            </a:r>
            <a:r>
              <a:rPr sz="4000" spc="-30" dirty="0">
                <a:solidFill>
                  <a:srgbClr val="0000FF"/>
                </a:solidFill>
                <a:latin typeface="Arial" panose="020B0604020202020204" pitchFamily="34" charset="0"/>
                <a:cs typeface="Arial" panose="020B0604020202020204" pitchFamily="34" charset="0"/>
              </a:rPr>
              <a:t> </a:t>
            </a:r>
            <a:r>
              <a:rPr sz="4000" dirty="0">
                <a:solidFill>
                  <a:srgbClr val="0000FF"/>
                </a:solidFill>
                <a:latin typeface="Arial" panose="020B0604020202020204" pitchFamily="34" charset="0"/>
                <a:cs typeface="Arial" panose="020B0604020202020204" pitchFamily="34" charset="0"/>
              </a:rPr>
              <a:t>giảng</a:t>
            </a:r>
            <a:r>
              <a:rPr sz="4000" spc="-10" dirty="0">
                <a:solidFill>
                  <a:srgbClr val="0000FF"/>
                </a:solidFill>
                <a:latin typeface="Arial" panose="020B0604020202020204" pitchFamily="34" charset="0"/>
                <a:cs typeface="Arial" panose="020B0604020202020204" pitchFamily="34" charset="0"/>
              </a:rPr>
              <a:t> </a:t>
            </a:r>
            <a:r>
              <a:rPr sz="4000" spc="-25" dirty="0">
                <a:solidFill>
                  <a:srgbClr val="0000FF"/>
                </a:solidFill>
                <a:latin typeface="Arial" panose="020B0604020202020204" pitchFamily="34" charset="0"/>
                <a:cs typeface="Arial" panose="020B0604020202020204" pitchFamily="34" charset="0"/>
              </a:rPr>
              <a:t>dạy</a:t>
            </a:r>
          </a:p>
        </p:txBody>
      </p:sp>
      <p:sp>
        <p:nvSpPr>
          <p:cNvPr id="5" name="object 3"/>
          <p:cNvSpPr txBox="1"/>
          <p:nvPr>
            <p:custDataLst>
              <p:tags r:id="rId2"/>
            </p:custDataLst>
          </p:nvPr>
        </p:nvSpPr>
        <p:spPr>
          <a:xfrm>
            <a:off x="652983" y="1772538"/>
            <a:ext cx="761365" cy="363855"/>
          </a:xfrm>
          <a:prstGeom prst="rect">
            <a:avLst/>
          </a:prstGeom>
        </p:spPr>
        <p:txBody>
          <a:bodyPr vert="horz" wrap="square" lIns="0" tIns="15240" rIns="0" bIns="0" rtlCol="0">
            <a:spAutoFit/>
          </a:bodyPr>
          <a:lstStyle/>
          <a:p>
            <a:pPr marL="12700">
              <a:lnSpc>
                <a:spcPct val="100000"/>
              </a:lnSpc>
              <a:spcBef>
                <a:spcPts val="120"/>
              </a:spcBef>
            </a:pPr>
            <a:r>
              <a:rPr sz="2200" b="1" spc="-20" dirty="0">
                <a:solidFill>
                  <a:srgbClr val="076365"/>
                </a:solidFill>
                <a:latin typeface="Arial" panose="020B0604020202020204"/>
                <a:cs typeface="Arial" panose="020B0604020202020204"/>
              </a:rPr>
              <a:t>THPT</a:t>
            </a:r>
          </a:p>
        </p:txBody>
      </p:sp>
      <p:sp>
        <p:nvSpPr>
          <p:cNvPr id="9" name="object 5"/>
          <p:cNvSpPr txBox="1"/>
          <p:nvPr>
            <p:custDataLst>
              <p:tags r:id="rId3"/>
            </p:custDataLst>
          </p:nvPr>
        </p:nvSpPr>
        <p:spPr>
          <a:xfrm>
            <a:off x="6843648" y="1731898"/>
            <a:ext cx="1030605" cy="363855"/>
          </a:xfrm>
          <a:prstGeom prst="rect">
            <a:avLst/>
          </a:prstGeom>
        </p:spPr>
        <p:txBody>
          <a:bodyPr vert="horz" wrap="square" lIns="0" tIns="15240" rIns="0" bIns="0" rtlCol="0">
            <a:spAutoFit/>
          </a:bodyPr>
          <a:lstStyle/>
          <a:p>
            <a:pPr marL="12700">
              <a:lnSpc>
                <a:spcPct val="100000"/>
              </a:lnSpc>
              <a:spcBef>
                <a:spcPts val="120"/>
              </a:spcBef>
            </a:pPr>
            <a:r>
              <a:rPr sz="2200" b="1" dirty="0">
                <a:solidFill>
                  <a:srgbClr val="076365"/>
                </a:solidFill>
                <a:latin typeface="Arial" panose="020B0604020202020204"/>
                <a:cs typeface="Arial" panose="020B0604020202020204"/>
              </a:rPr>
              <a:t>Đại</a:t>
            </a:r>
            <a:r>
              <a:rPr sz="2200" b="1" spc="-85" dirty="0">
                <a:solidFill>
                  <a:srgbClr val="076365"/>
                </a:solidFill>
                <a:latin typeface="Arial" panose="020B0604020202020204"/>
                <a:cs typeface="Arial" panose="020B0604020202020204"/>
              </a:rPr>
              <a:t> </a:t>
            </a:r>
            <a:r>
              <a:rPr sz="2200" b="1" spc="-25" dirty="0">
                <a:solidFill>
                  <a:srgbClr val="076365"/>
                </a:solidFill>
                <a:latin typeface="Arial" panose="020B0604020202020204"/>
                <a:cs typeface="Arial" panose="020B0604020202020204"/>
              </a:rPr>
              <a:t>học</a:t>
            </a:r>
          </a:p>
        </p:txBody>
      </p:sp>
      <p:sp>
        <p:nvSpPr>
          <p:cNvPr id="11" name="Rectangles 10"/>
          <p:cNvSpPr/>
          <p:nvPr/>
        </p:nvSpPr>
        <p:spPr>
          <a:xfrm>
            <a:off x="424815" y="2226310"/>
            <a:ext cx="5489575" cy="3398520"/>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3" name="Text Box 12"/>
          <p:cNvSpPr txBox="1"/>
          <p:nvPr/>
        </p:nvSpPr>
        <p:spPr>
          <a:xfrm>
            <a:off x="481965" y="2295525"/>
            <a:ext cx="5393690" cy="2637155"/>
          </a:xfrm>
          <a:prstGeom prst="rect">
            <a:avLst/>
          </a:prstGeom>
          <a:noFill/>
        </p:spPr>
        <p:txBody>
          <a:bodyPr wrap="square" rtlCol="0" anchor="t">
            <a:noAutofit/>
          </a:bodyPr>
          <a:lstStyle/>
          <a:p>
            <a:pPr indent="457200" algn="just">
              <a:lnSpc>
                <a:spcPct val="120000"/>
              </a:lnSpc>
            </a:pPr>
            <a:r>
              <a:rPr lang="en-US" sz="2000">
                <a:solidFill>
                  <a:srgbClr val="076365"/>
                </a:solidFill>
                <a:latin typeface="Arial" panose="020B0604020202020204" pitchFamily="34" charset="0"/>
                <a:cs typeface="Arial" panose="020B0604020202020204" pitchFamily="34" charset="0"/>
              </a:rPr>
              <a:t>Tại bậc THPT, giáo viên thường áp dụng phương pháp giảng dạy truyền thống. Họ hướng dẫn chi tiết từng bước, cung cấp thông tin cụ thể và mong đợi học sinh làm theo chính xác.</a:t>
            </a:r>
          </a:p>
          <a:p>
            <a:pPr indent="457200" algn="just">
              <a:lnSpc>
                <a:spcPct val="120000"/>
              </a:lnSpc>
            </a:pPr>
            <a:r>
              <a:rPr lang="en-US" sz="2000">
                <a:solidFill>
                  <a:srgbClr val="076365"/>
                </a:solidFill>
                <a:latin typeface="Arial" panose="020B0604020202020204" pitchFamily="34" charset="0"/>
                <a:cs typeface="Arial" panose="020B0604020202020204" pitchFamily="34" charset="0"/>
              </a:rPr>
              <a:t>Lớp học thường có cấu trúc rõ ràng với bài giảng, bài tập và kiểm tra định kỳ. Giáo viên đóng vai trò chủ đạo trong việc truyền đạt kiến thức.</a:t>
            </a:r>
          </a:p>
        </p:txBody>
      </p:sp>
      <p:sp>
        <p:nvSpPr>
          <p:cNvPr id="14" name="Rectangles 13"/>
          <p:cNvSpPr/>
          <p:nvPr/>
        </p:nvSpPr>
        <p:spPr>
          <a:xfrm>
            <a:off x="6558915" y="2215515"/>
            <a:ext cx="5420360" cy="343979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en-US">
              <a:solidFill>
                <a:srgbClr val="076365"/>
              </a:solidFill>
            </a:endParaRPr>
          </a:p>
        </p:txBody>
      </p:sp>
      <p:sp>
        <p:nvSpPr>
          <p:cNvPr id="16" name="Text Box 15"/>
          <p:cNvSpPr txBox="1"/>
          <p:nvPr/>
        </p:nvSpPr>
        <p:spPr>
          <a:xfrm>
            <a:off x="6636385" y="2296160"/>
            <a:ext cx="5276850" cy="3382010"/>
          </a:xfrm>
          <a:prstGeom prst="rect">
            <a:avLst/>
          </a:prstGeom>
          <a:noFill/>
        </p:spPr>
        <p:txBody>
          <a:bodyPr wrap="square" rtlCol="0" anchor="t">
            <a:noAutofit/>
          </a:bodyPr>
          <a:lstStyle/>
          <a:p>
            <a:pPr indent="457200" algn="just">
              <a:lnSpc>
                <a:spcPct val="120000"/>
              </a:lnSpc>
            </a:pPr>
            <a:r>
              <a:rPr lang="en-US" sz="2000">
                <a:solidFill>
                  <a:srgbClr val="076365"/>
                </a:solidFill>
                <a:latin typeface="Arial" panose="020B0604020202020204" pitchFamily="34" charset="0"/>
                <a:cs typeface="Arial" panose="020B0604020202020204" pitchFamily="34" charset="0"/>
              </a:rPr>
              <a:t>Ở bậc đại học, phương pháp giảng dạy nhấn mạnh vào tự học và tự nghiên cứu. Giảng viên thường đưa ra hướng dẫn tổng quát và khuyến khích sinh viên chủ động tìm hiểu sâu hơn. </a:t>
            </a:r>
          </a:p>
          <a:p>
            <a:pPr indent="457200" algn="just">
              <a:lnSpc>
                <a:spcPct val="120000"/>
              </a:lnSpc>
            </a:pPr>
            <a:r>
              <a:rPr lang="en-US" sz="2000">
                <a:solidFill>
                  <a:srgbClr val="076365"/>
                </a:solidFill>
                <a:latin typeface="Arial" panose="020B0604020202020204" pitchFamily="34" charset="0"/>
                <a:cs typeface="Arial" panose="020B0604020202020204" pitchFamily="34" charset="0"/>
              </a:rPr>
              <a:t>Lớp học có thể bao gồm các buổi thuyết trình, thảo luận nhóm và dự án độc lập. Sinh viên được kỳ vọng phát triển tư duy phản biện và kỹ năng nghiên cứu.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1.1. Đại học khác với THPT như thế nào?</a:t>
            </a:r>
            <a:endParaRPr lang="en-US" sz="2665">
              <a:latin typeface="Arial" panose="020B0604020202020204" pitchFamily="34" charset="0"/>
              <a:cs typeface="Arial" panose="020B0604020202020204" pitchFamily="34" charset="0"/>
            </a:endParaRPr>
          </a:p>
        </p:txBody>
      </p:sp>
      <p:sp>
        <p:nvSpPr>
          <p:cNvPr id="20" name="Text 2"/>
          <p:cNvSpPr/>
          <p:nvPr>
            <p:custDataLst>
              <p:tags r:id="rId1"/>
            </p:custDataLst>
          </p:nvPr>
        </p:nvSpPr>
        <p:spPr>
          <a:xfrm>
            <a:off x="3908425" y="856615"/>
            <a:ext cx="5793105" cy="675005"/>
          </a:xfrm>
          <a:prstGeom prst="rect">
            <a:avLst/>
          </a:prstGeom>
          <a:noFill/>
        </p:spPr>
        <p:txBody>
          <a:bodyPr wrap="none" rtlCol="0" anchor="t"/>
          <a:lstStyle/>
          <a:p>
            <a:pPr algn="just">
              <a:lnSpc>
                <a:spcPts val="5540"/>
              </a:lnSpc>
            </a:pPr>
            <a:r>
              <a:rPr lang="en-US" sz="4000" b="1" dirty="0">
                <a:solidFill>
                  <a:srgbClr val="0000FF"/>
                </a:solidFill>
                <a:latin typeface="Arial" panose="020B0604020202020204" pitchFamily="34" charset="0"/>
                <a:ea typeface="Roboto" panose="02000000000000000000" pitchFamily="2" charset="0"/>
                <a:cs typeface="Arial" panose="020B0604020202020204" pitchFamily="34" charset="0"/>
              </a:rPr>
              <a:t>Mức độ tự chủ</a:t>
            </a:r>
          </a:p>
        </p:txBody>
      </p:sp>
      <p:pic>
        <p:nvPicPr>
          <p:cNvPr id="21" name="Image 1" descr="preencoded.png"/>
          <p:cNvPicPr>
            <a:picLocks noChangeAspect="1"/>
          </p:cNvPicPr>
          <p:nvPr>
            <p:custDataLst>
              <p:tags r:id="rId2"/>
            </p:custDataLst>
          </p:nvPr>
        </p:nvPicPr>
        <p:blipFill>
          <a:blip r:embed="rId10"/>
          <a:stretch>
            <a:fillRect/>
          </a:stretch>
        </p:blipFill>
        <p:spPr>
          <a:xfrm>
            <a:off x="4013200" y="2066290"/>
            <a:ext cx="1158875" cy="1739900"/>
          </a:xfrm>
          <a:prstGeom prst="rect">
            <a:avLst/>
          </a:prstGeom>
        </p:spPr>
      </p:pic>
      <p:sp>
        <p:nvSpPr>
          <p:cNvPr id="22" name="Text 3"/>
          <p:cNvSpPr/>
          <p:nvPr>
            <p:custDataLst>
              <p:tags r:id="rId3"/>
            </p:custDataLst>
          </p:nvPr>
        </p:nvSpPr>
        <p:spPr>
          <a:xfrm>
            <a:off x="5476240" y="1742440"/>
            <a:ext cx="3249930" cy="411480"/>
          </a:xfrm>
          <a:prstGeom prst="rect">
            <a:avLst/>
          </a:prstGeom>
          <a:noFill/>
        </p:spPr>
        <p:txBody>
          <a:bodyPr wrap="none" rtlCol="0" anchor="t"/>
          <a:lstStyle/>
          <a:p>
            <a:pPr algn="just">
              <a:lnSpc>
                <a:spcPts val="2770"/>
              </a:lnSpc>
            </a:pPr>
            <a:r>
              <a:rPr lang="en-US" sz="2215" b="1" dirty="0">
                <a:solidFill>
                  <a:srgbClr val="FF0000"/>
                </a:solidFill>
                <a:latin typeface="Raleway" pitchFamily="34" charset="0"/>
                <a:ea typeface="Raleway" pitchFamily="34" charset="-122"/>
                <a:cs typeface="Raleway" pitchFamily="34" charset="-120"/>
              </a:rPr>
              <a:t>THPT: Giám sát chặt chẽ</a:t>
            </a:r>
          </a:p>
        </p:txBody>
      </p:sp>
      <p:sp>
        <p:nvSpPr>
          <p:cNvPr id="23" name="Text 4"/>
          <p:cNvSpPr/>
          <p:nvPr>
            <p:custDataLst>
              <p:tags r:id="rId4"/>
            </p:custDataLst>
          </p:nvPr>
        </p:nvSpPr>
        <p:spPr>
          <a:xfrm>
            <a:off x="5476240" y="2228850"/>
            <a:ext cx="6287135" cy="1540510"/>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Học sinh THPT được giám sát chặt chẽ bởi giáo viên và phụ huynh. Thời khóa biểu, bài tập và các hoạt động ngoại khóa thường được sắp xếp sẵn. Điều này giúp học sinh có cấu trúc rõ ràng nhưng hạn chế khả năng tự quyết định.</a:t>
            </a:r>
          </a:p>
        </p:txBody>
      </p:sp>
      <p:pic>
        <p:nvPicPr>
          <p:cNvPr id="24" name="Image 2" descr="preencoded.png"/>
          <p:cNvPicPr>
            <a:picLocks noChangeAspect="1"/>
          </p:cNvPicPr>
          <p:nvPr>
            <p:custDataLst>
              <p:tags r:id="rId5"/>
            </p:custDataLst>
          </p:nvPr>
        </p:nvPicPr>
        <p:blipFill>
          <a:blip r:embed="rId11"/>
          <a:stretch>
            <a:fillRect/>
          </a:stretch>
        </p:blipFill>
        <p:spPr>
          <a:xfrm>
            <a:off x="4013200" y="4473575"/>
            <a:ext cx="1158875" cy="1739900"/>
          </a:xfrm>
          <a:prstGeom prst="rect">
            <a:avLst/>
          </a:prstGeom>
        </p:spPr>
      </p:pic>
      <p:sp>
        <p:nvSpPr>
          <p:cNvPr id="25" name="Text 5"/>
          <p:cNvSpPr/>
          <p:nvPr>
            <p:custDataLst>
              <p:tags r:id="rId6"/>
            </p:custDataLst>
          </p:nvPr>
        </p:nvSpPr>
        <p:spPr>
          <a:xfrm>
            <a:off x="5476240" y="4210685"/>
            <a:ext cx="2896870" cy="485140"/>
          </a:xfrm>
          <a:prstGeom prst="rect">
            <a:avLst/>
          </a:prstGeom>
          <a:noFill/>
        </p:spPr>
        <p:txBody>
          <a:bodyPr wrap="none" rtlCol="0" anchor="t"/>
          <a:lstStyle/>
          <a:p>
            <a:pPr algn="just">
              <a:lnSpc>
                <a:spcPts val="2770"/>
              </a:lnSpc>
            </a:pPr>
            <a:r>
              <a:rPr lang="en-US" sz="2215" b="1" dirty="0">
                <a:solidFill>
                  <a:srgbClr val="FF0000"/>
                </a:solidFill>
                <a:latin typeface="Raleway" pitchFamily="34" charset="0"/>
                <a:ea typeface="Raleway" pitchFamily="34" charset="-122"/>
                <a:cs typeface="Raleway" pitchFamily="34" charset="-120"/>
              </a:rPr>
              <a:t>Đại học: Tự quản lý</a:t>
            </a:r>
          </a:p>
        </p:txBody>
      </p:sp>
      <p:sp>
        <p:nvSpPr>
          <p:cNvPr id="26" name="Text 6"/>
          <p:cNvSpPr/>
          <p:nvPr>
            <p:custDataLst>
              <p:tags r:id="rId7"/>
            </p:custDataLst>
          </p:nvPr>
        </p:nvSpPr>
        <p:spPr>
          <a:xfrm>
            <a:off x="5476240" y="4697095"/>
            <a:ext cx="6287135" cy="1509395"/>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Sinh viên đại học được kỳ vọng tự quản lý việc học, mục tiêu và cuộc sống. Họ phải tự lên kế hoạch học tập, chọn môn học và quyết định cách sử dụng thời gian. Điều này tạo ra sự tự do nhưng cũng đòi hỏi trách nhiệm cao hơn.</a:t>
            </a:r>
          </a:p>
        </p:txBody>
      </p:sp>
      <p:pic>
        <p:nvPicPr>
          <p:cNvPr id="27" name="Picture 2" descr="Có thể là hình ảnh về 2 người và văn bản"/>
          <p:cNvPicPr>
            <a:picLocks noChangeAspect="1" noChangeArrowheads="1"/>
          </p:cNvPicPr>
          <p:nvPr>
            <p:custDataLst>
              <p:tags r:id="rId8"/>
            </p:custDataLst>
          </p:nvPr>
        </p:nvPicPr>
        <p:blipFill rotWithShape="1">
          <a:blip r:embed="rId12" cstate="print">
            <a:extLst>
              <a:ext uri="{28A0092B-C50C-407E-A947-70E740481C1C}">
                <a14:useLocalDpi xmlns:a14="http://schemas.microsoft.com/office/drawing/2010/main" val="0"/>
              </a:ext>
            </a:extLst>
          </a:blip>
          <a:srcRect l="11614" t="5575" r="5266"/>
          <a:stretch>
            <a:fillRect/>
          </a:stretch>
        </p:blipFill>
        <p:spPr bwMode="auto">
          <a:xfrm>
            <a:off x="182880" y="779145"/>
            <a:ext cx="3302635" cy="56311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1.1. Đại học khác với THPT như thế nào?</a:t>
            </a:r>
            <a:endParaRPr lang="en-US" sz="2665">
              <a:latin typeface="Arial" panose="020B0604020202020204" pitchFamily="34" charset="0"/>
              <a:cs typeface="Arial" panose="020B0604020202020204" pitchFamily="34" charset="0"/>
            </a:endParaRPr>
          </a:p>
        </p:txBody>
      </p:sp>
      <p:sp>
        <p:nvSpPr>
          <p:cNvPr id="3" name="Text 2"/>
          <p:cNvSpPr/>
          <p:nvPr>
            <p:custDataLst>
              <p:tags r:id="rId1"/>
            </p:custDataLst>
          </p:nvPr>
        </p:nvSpPr>
        <p:spPr>
          <a:xfrm>
            <a:off x="730165" y="557196"/>
            <a:ext cx="4688582" cy="586085"/>
          </a:xfrm>
          <a:prstGeom prst="rect">
            <a:avLst/>
          </a:prstGeom>
          <a:noFill/>
        </p:spPr>
        <p:txBody>
          <a:bodyPr wrap="none" rtlCol="0" anchor="t"/>
          <a:lstStyle/>
          <a:p>
            <a:pPr algn="just">
              <a:lnSpc>
                <a:spcPts val="5540"/>
              </a:lnSpc>
            </a:pPr>
            <a:r>
              <a:rPr lang="en-US" sz="4000" b="1" dirty="0">
                <a:solidFill>
                  <a:srgbClr val="0000FF"/>
                </a:solidFill>
                <a:latin typeface="Arial" panose="020B0604020202020204" pitchFamily="34" charset="0"/>
                <a:ea typeface="Roboto" panose="02000000000000000000" pitchFamily="2" charset="0"/>
                <a:cs typeface="Arial" panose="020B0604020202020204" pitchFamily="34" charset="0"/>
              </a:rPr>
              <a:t>Mục tiêu học tập</a:t>
            </a:r>
          </a:p>
        </p:txBody>
      </p:sp>
      <p:sp>
        <p:nvSpPr>
          <p:cNvPr id="4" name="Shape 3"/>
          <p:cNvSpPr/>
          <p:nvPr>
            <p:custDataLst>
              <p:tags r:id="rId2"/>
            </p:custDataLst>
          </p:nvPr>
        </p:nvSpPr>
        <p:spPr>
          <a:xfrm>
            <a:off x="1044575" y="1404620"/>
            <a:ext cx="5008245" cy="2334895"/>
          </a:xfrm>
          <a:prstGeom prst="roundRect">
            <a:avLst>
              <a:gd name="adj" fmla="val 2758"/>
            </a:avLst>
          </a:prstGeom>
          <a:solidFill>
            <a:srgbClr val="E1E1EA"/>
          </a:solidFill>
          <a:ln w="7620">
            <a:solidFill>
              <a:srgbClr val="C7C7D0"/>
            </a:solidFill>
            <a:prstDash val="solid"/>
          </a:ln>
        </p:spPr>
      </p:sp>
      <p:sp>
        <p:nvSpPr>
          <p:cNvPr id="14" name="Text 4"/>
          <p:cNvSpPr/>
          <p:nvPr>
            <p:custDataLst>
              <p:tags r:id="rId3"/>
            </p:custDataLst>
          </p:nvPr>
        </p:nvSpPr>
        <p:spPr>
          <a:xfrm>
            <a:off x="1086028" y="1418713"/>
            <a:ext cx="2601813" cy="292993"/>
          </a:xfrm>
          <a:prstGeom prst="rect">
            <a:avLst/>
          </a:prstGeom>
          <a:noFill/>
        </p:spPr>
        <p:txBody>
          <a:bodyPr wrap="none" rtlCol="0" anchor="t"/>
          <a:lstStyle/>
          <a:p>
            <a:pPr algn="just">
              <a:lnSpc>
                <a:spcPts val="2770"/>
              </a:lnSpc>
            </a:pPr>
            <a:r>
              <a:rPr lang="en-US" sz="2000" b="1" dirty="0">
                <a:solidFill>
                  <a:srgbClr val="076365"/>
                </a:solidFill>
                <a:latin typeface="Arial" panose="020B0604020202020204" pitchFamily="34" charset="0"/>
                <a:ea typeface="Raleway" pitchFamily="34" charset="-122"/>
                <a:cs typeface="Arial" panose="020B0604020202020204" pitchFamily="34" charset="0"/>
              </a:rPr>
              <a:t>THPT: Tiếp thu thông tin</a:t>
            </a:r>
          </a:p>
        </p:txBody>
      </p:sp>
      <p:sp>
        <p:nvSpPr>
          <p:cNvPr id="15" name="Text 5"/>
          <p:cNvSpPr/>
          <p:nvPr>
            <p:custDataLst>
              <p:tags r:id="rId4"/>
            </p:custDataLst>
          </p:nvPr>
        </p:nvSpPr>
        <p:spPr>
          <a:xfrm>
            <a:off x="1064895" y="1831975"/>
            <a:ext cx="4878705" cy="1838325"/>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Ở bậc THPT, mục tiêu chính là giúp học sinh tiếp thu một lượng lớn thông tin và kiến thức cơ bản. Việc học tập thường tập trung vào việc ghi nhớ và hiểu các khái niệm, công thức và sự kiện.</a:t>
            </a:r>
          </a:p>
        </p:txBody>
      </p:sp>
      <p:sp>
        <p:nvSpPr>
          <p:cNvPr id="16" name="Shape 6"/>
          <p:cNvSpPr/>
          <p:nvPr>
            <p:custDataLst>
              <p:tags r:id="rId5"/>
            </p:custDataLst>
          </p:nvPr>
        </p:nvSpPr>
        <p:spPr>
          <a:xfrm>
            <a:off x="6542827" y="1404353"/>
            <a:ext cx="5234623" cy="5200571"/>
          </a:xfrm>
          <a:prstGeom prst="roundRect">
            <a:avLst>
              <a:gd name="adj" fmla="val 2758"/>
            </a:avLst>
          </a:prstGeom>
          <a:solidFill>
            <a:srgbClr val="E1E1EA"/>
          </a:solidFill>
          <a:ln w="7620">
            <a:solidFill>
              <a:srgbClr val="C7C7D0"/>
            </a:solidFill>
            <a:prstDash val="solid"/>
          </a:ln>
        </p:spPr>
      </p:sp>
      <p:sp>
        <p:nvSpPr>
          <p:cNvPr id="17" name="Text 7"/>
          <p:cNvSpPr/>
          <p:nvPr>
            <p:custDataLst>
              <p:tags r:id="rId6"/>
            </p:custDataLst>
          </p:nvPr>
        </p:nvSpPr>
        <p:spPr>
          <a:xfrm>
            <a:off x="6816090" y="1477645"/>
            <a:ext cx="4857115" cy="586105"/>
          </a:xfrm>
          <a:prstGeom prst="rect">
            <a:avLst/>
          </a:prstGeom>
          <a:noFill/>
        </p:spPr>
        <p:txBody>
          <a:bodyPr wrap="square" rtlCol="0" anchor="t"/>
          <a:lstStyle/>
          <a:p>
            <a:pPr algn="just">
              <a:lnSpc>
                <a:spcPts val="2770"/>
              </a:lnSpc>
            </a:pPr>
            <a:r>
              <a:rPr lang="en-US" sz="2000" b="1" dirty="0">
                <a:solidFill>
                  <a:srgbClr val="076365"/>
                </a:solidFill>
                <a:latin typeface="Arial" panose="020B0604020202020204" pitchFamily="34" charset="0"/>
                <a:ea typeface="Raleway" pitchFamily="34" charset="-122"/>
                <a:cs typeface="Arial" panose="020B0604020202020204" pitchFamily="34" charset="0"/>
              </a:rPr>
              <a:t>Đại học: Hiểu sâu và sáng tạo</a:t>
            </a:r>
          </a:p>
        </p:txBody>
      </p:sp>
      <p:sp>
        <p:nvSpPr>
          <p:cNvPr id="18" name="Text 8"/>
          <p:cNvSpPr/>
          <p:nvPr>
            <p:custDataLst>
              <p:tags r:id="rId7"/>
            </p:custDataLst>
          </p:nvPr>
        </p:nvSpPr>
        <p:spPr>
          <a:xfrm>
            <a:off x="6816090" y="1924050"/>
            <a:ext cx="4847590" cy="2100580"/>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Tại đại học, mục tiêu chuyển sang việc hiểu sâu và tạo ra kiến thức mới. Sinh viên được khuyến khích đặt câu hỏi, thách thức các giả định và phát triển ý tưởng mới trong lĩnh vực của họ.</a:t>
            </a:r>
          </a:p>
        </p:txBody>
      </p:sp>
      <p:sp>
        <p:nvSpPr>
          <p:cNvPr id="19" name="Text 9"/>
          <p:cNvSpPr/>
          <p:nvPr>
            <p:custDataLst>
              <p:tags r:id="rId8"/>
            </p:custDataLst>
          </p:nvPr>
        </p:nvSpPr>
        <p:spPr>
          <a:xfrm>
            <a:off x="6815896" y="3876037"/>
            <a:ext cx="2344242" cy="292993"/>
          </a:xfrm>
          <a:prstGeom prst="rect">
            <a:avLst/>
          </a:prstGeom>
          <a:noFill/>
        </p:spPr>
        <p:txBody>
          <a:bodyPr wrap="none" rtlCol="0" anchor="t"/>
          <a:lstStyle/>
          <a:p>
            <a:pPr algn="just">
              <a:lnSpc>
                <a:spcPts val="2770"/>
              </a:lnSpc>
            </a:pPr>
            <a:r>
              <a:rPr lang="en-US" sz="2000" b="1" dirty="0">
                <a:solidFill>
                  <a:srgbClr val="076365"/>
                </a:solidFill>
                <a:latin typeface="Arial" panose="020B0604020202020204" pitchFamily="34" charset="0"/>
                <a:ea typeface="Raleway" pitchFamily="34" charset="-122"/>
                <a:cs typeface="Arial" panose="020B0604020202020204" pitchFamily="34" charset="0"/>
              </a:rPr>
              <a:t>Phát triển kỹ năng</a:t>
            </a:r>
          </a:p>
        </p:txBody>
      </p:sp>
      <p:sp>
        <p:nvSpPr>
          <p:cNvPr id="20" name="Text 10"/>
          <p:cNvSpPr/>
          <p:nvPr>
            <p:custDataLst>
              <p:tags r:id="rId9"/>
            </p:custDataLst>
          </p:nvPr>
        </p:nvSpPr>
        <p:spPr>
          <a:xfrm>
            <a:off x="6816090" y="4330065"/>
            <a:ext cx="4806315" cy="2100580"/>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Đại học cũng nhấn mạnh vào việc phát triển các kỹ năng như tư duy phản biện, giải quyết vấn đề, và nghiên cứu độc lập. Những kỹ năng này chuẩn bị cho sinh viên sẵn sàng cho sự nghiệp trong tương lai.</a:t>
            </a:r>
          </a:p>
        </p:txBody>
      </p:sp>
      <p:pic>
        <p:nvPicPr>
          <p:cNvPr id="21" name="Picture 2" descr="Tại sao việc học có mục tiêu lại quan trọng đến vậy? - Review chỗ học ielts"/>
          <p:cNvPicPr>
            <a:picLocks noChangeAspect="1" noChangeArrowheads="1"/>
          </p:cNvPicPr>
          <p:nvPr>
            <p:custDataLst>
              <p:tags r:id="rId10"/>
            </p:custDataLst>
          </p:nvPr>
        </p:nvPicPr>
        <p:blipFill>
          <a:blip r:embed="rId12">
            <a:extLst>
              <a:ext uri="{28A0092B-C50C-407E-A947-70E740481C1C}">
                <a14:useLocalDpi xmlns:a14="http://schemas.microsoft.com/office/drawing/2010/main" val="0"/>
              </a:ext>
            </a:extLst>
          </a:blip>
          <a:srcRect/>
          <a:stretch>
            <a:fillRect/>
          </a:stretch>
        </p:blipFill>
        <p:spPr bwMode="auto">
          <a:xfrm>
            <a:off x="1212118" y="3852460"/>
            <a:ext cx="4608781" cy="29150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1.1. Đại học khác với THPT như thế nào?</a:t>
            </a:r>
            <a:endParaRPr lang="en-US" sz="2665">
              <a:latin typeface="Arial" panose="020B0604020202020204" pitchFamily="34" charset="0"/>
              <a:cs typeface="Arial" panose="020B0604020202020204" pitchFamily="34" charset="0"/>
            </a:endParaRPr>
          </a:p>
        </p:txBody>
      </p:sp>
      <p:sp>
        <p:nvSpPr>
          <p:cNvPr id="4" name="Text 2"/>
          <p:cNvSpPr/>
          <p:nvPr>
            <p:custDataLst>
              <p:tags r:id="rId1"/>
            </p:custDataLst>
          </p:nvPr>
        </p:nvSpPr>
        <p:spPr>
          <a:xfrm>
            <a:off x="222628" y="641768"/>
            <a:ext cx="4688582" cy="586085"/>
          </a:xfrm>
          <a:prstGeom prst="rect">
            <a:avLst/>
          </a:prstGeom>
          <a:noFill/>
        </p:spPr>
        <p:txBody>
          <a:bodyPr wrap="none" rtlCol="0" anchor="t"/>
          <a:lstStyle/>
          <a:p>
            <a:pPr algn="just">
              <a:lnSpc>
                <a:spcPts val="5540"/>
              </a:lnSpc>
            </a:pPr>
            <a:r>
              <a:rPr lang="en-US" sz="4000" b="1" dirty="0">
                <a:solidFill>
                  <a:srgbClr val="0000FF"/>
                </a:solidFill>
                <a:latin typeface="Arial" panose="020B0604020202020204" pitchFamily="34" charset="0"/>
                <a:ea typeface="Roboto" panose="02000000000000000000" pitchFamily="2" charset="0"/>
                <a:cs typeface="Arial" panose="020B0604020202020204" pitchFamily="34" charset="0"/>
              </a:rPr>
              <a:t>Vai trò của giáo viên</a:t>
            </a:r>
          </a:p>
        </p:txBody>
      </p:sp>
      <p:sp>
        <p:nvSpPr>
          <p:cNvPr id="5" name="Text 3"/>
          <p:cNvSpPr/>
          <p:nvPr>
            <p:custDataLst>
              <p:tags r:id="rId2"/>
            </p:custDataLst>
          </p:nvPr>
        </p:nvSpPr>
        <p:spPr>
          <a:xfrm>
            <a:off x="218818" y="1409642"/>
            <a:ext cx="3575149" cy="292993"/>
          </a:xfrm>
          <a:prstGeom prst="rect">
            <a:avLst/>
          </a:prstGeom>
          <a:noFill/>
        </p:spPr>
        <p:txBody>
          <a:bodyPr wrap="none" rtlCol="0" anchor="t"/>
          <a:lstStyle/>
          <a:p>
            <a:pPr algn="just">
              <a:lnSpc>
                <a:spcPts val="2770"/>
              </a:lnSpc>
            </a:pPr>
            <a:r>
              <a:rPr lang="en-US" sz="1845" b="1" dirty="0">
                <a:solidFill>
                  <a:srgbClr val="FF0000"/>
                </a:solidFill>
                <a:latin typeface="Raleway" pitchFamily="34" charset="0"/>
                <a:ea typeface="Raleway" pitchFamily="34" charset="-122"/>
                <a:cs typeface="Raleway" pitchFamily="34" charset="-120"/>
              </a:rPr>
              <a:t>THPT: Người truyền đạt kiến thức</a:t>
            </a:r>
          </a:p>
        </p:txBody>
      </p:sp>
      <p:sp>
        <p:nvSpPr>
          <p:cNvPr id="6" name="Text 4"/>
          <p:cNvSpPr/>
          <p:nvPr>
            <p:custDataLst>
              <p:tags r:id="rId3"/>
            </p:custDataLst>
          </p:nvPr>
        </p:nvSpPr>
        <p:spPr>
          <a:xfrm>
            <a:off x="241300" y="1788795"/>
            <a:ext cx="6989445" cy="1500505"/>
          </a:xfrm>
          <a:prstGeom prst="rect">
            <a:avLst/>
          </a:prstGeom>
          <a:noFill/>
        </p:spPr>
        <p:txBody>
          <a:bodyPr wrap="square" rtlCol="0" anchor="t"/>
          <a:lstStyle/>
          <a:p>
            <a:pPr indent="457200" algn="just">
              <a:lnSpc>
                <a:spcPts val="2835"/>
              </a:lnSpc>
            </a:pPr>
            <a:r>
              <a:rPr lang="en-US" dirty="0">
                <a:solidFill>
                  <a:srgbClr val="076365"/>
                </a:solidFill>
                <a:latin typeface="Arial" panose="020B0604020202020204" pitchFamily="34" charset="0"/>
                <a:ea typeface="Roboto" pitchFamily="34" charset="-122"/>
                <a:cs typeface="Arial" panose="020B0604020202020204" pitchFamily="34" charset="0"/>
              </a:rPr>
              <a:t>Tại THPT, giáo viên đóng vai trò chính trong việc truyền đạt kiến thức. Họ chuẩn bị bài giảng, giải thích các khái niệm, và hướng dẫn học sinh qua từng bước của quá trình học tập. Giáo viên cũng thường là người đánh giá chính xác kiến thức của học sinh thông qua các bài kiểm tra và bài tập.</a:t>
            </a:r>
          </a:p>
        </p:txBody>
      </p:sp>
      <p:sp>
        <p:nvSpPr>
          <p:cNvPr id="7" name="Text 5"/>
          <p:cNvSpPr/>
          <p:nvPr>
            <p:custDataLst>
              <p:tags r:id="rId4"/>
            </p:custDataLst>
          </p:nvPr>
        </p:nvSpPr>
        <p:spPr>
          <a:xfrm>
            <a:off x="272792" y="3802332"/>
            <a:ext cx="4369395" cy="292993"/>
          </a:xfrm>
          <a:prstGeom prst="rect">
            <a:avLst/>
          </a:prstGeom>
          <a:noFill/>
        </p:spPr>
        <p:txBody>
          <a:bodyPr wrap="none" rtlCol="0" anchor="t"/>
          <a:lstStyle/>
          <a:p>
            <a:pPr algn="just">
              <a:lnSpc>
                <a:spcPts val="2770"/>
              </a:lnSpc>
            </a:pPr>
            <a:r>
              <a:rPr lang="en-US" sz="1845" b="1" dirty="0">
                <a:solidFill>
                  <a:srgbClr val="FF0000"/>
                </a:solidFill>
                <a:latin typeface="Raleway" pitchFamily="34" charset="0"/>
                <a:ea typeface="Raleway" pitchFamily="34" charset="-122"/>
                <a:cs typeface="Raleway" pitchFamily="34" charset="-120"/>
              </a:rPr>
              <a:t>Đại học: Người hướng dẫn và nghiên cứu</a:t>
            </a:r>
          </a:p>
        </p:txBody>
      </p:sp>
      <p:sp>
        <p:nvSpPr>
          <p:cNvPr id="8" name="Text 6"/>
          <p:cNvSpPr/>
          <p:nvPr>
            <p:custDataLst>
              <p:tags r:id="rId5"/>
            </p:custDataLst>
          </p:nvPr>
        </p:nvSpPr>
        <p:spPr>
          <a:xfrm>
            <a:off x="250825" y="4199255"/>
            <a:ext cx="6965950" cy="1800225"/>
          </a:xfrm>
          <a:prstGeom prst="rect">
            <a:avLst/>
          </a:prstGeom>
          <a:noFill/>
        </p:spPr>
        <p:txBody>
          <a:bodyPr wrap="square" rtlCol="0" anchor="t"/>
          <a:lstStyle/>
          <a:p>
            <a:pPr indent="457200"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Ở bậc đại học, vai trò của giảng viên phức tạp hơn. Họ không chỉ dạy học mà còn tham gia vào nghiên cứu học thuật. Giảng viên đại học thường đóng vai trò là người hướng dẫn, gợi ý các hướng nghiên cứu và khuyến khích sinh viên tự khám phá. Họ cũng thường chia sẻ kết quả nghiên cứu của mình, tạo cơ hội cho sinh viên tiếp cận với kiến thức mới nhất trong lĩnh vực.</a:t>
            </a:r>
          </a:p>
        </p:txBody>
      </p:sp>
      <p:pic>
        <p:nvPicPr>
          <p:cNvPr id="4098" name="Picture 2" descr="Không có mô tả ảnh."/>
          <p:cNvPicPr>
            <a:picLocks noChangeAspect="1" noChangeArrowheads="1"/>
          </p:cNvPicPr>
          <p:nvPr>
            <p:custDataLst>
              <p:tags r:id="rId6"/>
            </p:custDataLst>
          </p:nvPr>
        </p:nvPicPr>
        <p:blipFill rotWithShape="1">
          <a:blip r:embed="rId8">
            <a:extLst>
              <a:ext uri="{28A0092B-C50C-407E-A947-70E740481C1C}">
                <a14:useLocalDpi xmlns:a14="http://schemas.microsoft.com/office/drawing/2010/main" val="0"/>
              </a:ext>
            </a:extLst>
          </a:blip>
          <a:srcRect l="16321" t="7801" r="28300" b="2172"/>
          <a:stretch>
            <a:fillRect/>
          </a:stretch>
        </p:blipFill>
        <p:spPr bwMode="auto">
          <a:xfrm>
            <a:off x="7419340" y="1285875"/>
            <a:ext cx="4594860" cy="49803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1.1. Đại học khác với THPT như thế nào?</a:t>
            </a:r>
            <a:endParaRPr lang="en-US" sz="2665">
              <a:latin typeface="Arial" panose="020B0604020202020204" pitchFamily="34" charset="0"/>
              <a:cs typeface="Arial" panose="020B0604020202020204" pitchFamily="34" charset="0"/>
            </a:endParaRPr>
          </a:p>
        </p:txBody>
      </p:sp>
      <p:sp>
        <p:nvSpPr>
          <p:cNvPr id="5" name="Text 2"/>
          <p:cNvSpPr/>
          <p:nvPr>
            <p:custDataLst>
              <p:tags r:id="rId1"/>
            </p:custDataLst>
          </p:nvPr>
        </p:nvSpPr>
        <p:spPr>
          <a:xfrm>
            <a:off x="668571" y="684152"/>
            <a:ext cx="4688582" cy="586085"/>
          </a:xfrm>
          <a:prstGeom prst="rect">
            <a:avLst/>
          </a:prstGeom>
          <a:noFill/>
        </p:spPr>
        <p:txBody>
          <a:bodyPr wrap="none" rtlCol="0" anchor="t"/>
          <a:lstStyle/>
          <a:p>
            <a:pPr>
              <a:lnSpc>
                <a:spcPts val="5540"/>
              </a:lnSpc>
            </a:pPr>
            <a:r>
              <a:rPr lang="en-US" sz="4000" b="1" dirty="0">
                <a:solidFill>
                  <a:srgbClr val="0000FF"/>
                </a:solidFill>
                <a:latin typeface="Arial" panose="020B0604020202020204" pitchFamily="34" charset="0"/>
                <a:ea typeface="Roboto" panose="02000000000000000000" pitchFamily="2" charset="0"/>
                <a:cs typeface="Arial" panose="020B0604020202020204" pitchFamily="34" charset="0"/>
              </a:rPr>
              <a:t>Quản lý thời gian</a:t>
            </a:r>
          </a:p>
        </p:txBody>
      </p:sp>
      <p:sp>
        <p:nvSpPr>
          <p:cNvPr id="6" name="Shape 3"/>
          <p:cNvSpPr/>
          <p:nvPr>
            <p:custDataLst>
              <p:tags r:id="rId2"/>
            </p:custDataLst>
          </p:nvPr>
        </p:nvSpPr>
        <p:spPr>
          <a:xfrm>
            <a:off x="918866" y="1938239"/>
            <a:ext cx="37505" cy="3848894"/>
          </a:xfrm>
          <a:prstGeom prst="roundRect">
            <a:avLst>
              <a:gd name="adj" fmla="val 225026"/>
            </a:avLst>
          </a:prstGeom>
          <a:solidFill>
            <a:srgbClr val="C7C7D0"/>
          </a:solidFill>
        </p:spPr>
      </p:sp>
      <p:sp>
        <p:nvSpPr>
          <p:cNvPr id="7" name="Shape 4"/>
          <p:cNvSpPr/>
          <p:nvPr>
            <p:custDataLst>
              <p:tags r:id="rId3"/>
            </p:custDataLst>
          </p:nvPr>
        </p:nvSpPr>
        <p:spPr>
          <a:xfrm>
            <a:off x="1147971" y="2081649"/>
            <a:ext cx="656332" cy="37505"/>
          </a:xfrm>
          <a:prstGeom prst="roundRect">
            <a:avLst>
              <a:gd name="adj" fmla="val 225026"/>
            </a:avLst>
          </a:prstGeom>
          <a:solidFill>
            <a:srgbClr val="C7C7D0"/>
          </a:solidFill>
        </p:spPr>
      </p:sp>
      <p:sp>
        <p:nvSpPr>
          <p:cNvPr id="8" name="Shape 5"/>
          <p:cNvSpPr/>
          <p:nvPr>
            <p:custDataLst>
              <p:tags r:id="rId4"/>
            </p:custDataLst>
          </p:nvPr>
        </p:nvSpPr>
        <p:spPr>
          <a:xfrm>
            <a:off x="777131" y="1884985"/>
            <a:ext cx="421978" cy="421978"/>
          </a:xfrm>
          <a:prstGeom prst="roundRect">
            <a:avLst>
              <a:gd name="adj" fmla="val 20000"/>
            </a:avLst>
          </a:prstGeom>
        </p:spPr>
        <p:style>
          <a:lnRef idx="1">
            <a:schemeClr val="accent5"/>
          </a:lnRef>
          <a:fillRef idx="2">
            <a:schemeClr val="accent5"/>
          </a:fillRef>
          <a:effectRef idx="1">
            <a:schemeClr val="accent5"/>
          </a:effectRef>
          <a:fontRef idx="minor">
            <a:schemeClr val="dk1"/>
          </a:fontRef>
        </p:style>
      </p:sp>
      <p:sp>
        <p:nvSpPr>
          <p:cNvPr id="9" name="Text 6"/>
          <p:cNvSpPr/>
          <p:nvPr>
            <p:custDataLst>
              <p:tags r:id="rId5"/>
            </p:custDataLst>
          </p:nvPr>
        </p:nvSpPr>
        <p:spPr>
          <a:xfrm>
            <a:off x="877570" y="1907540"/>
            <a:ext cx="152400" cy="196850"/>
          </a:xfrm>
          <a:prstGeom prst="rect">
            <a:avLst/>
          </a:prstGeom>
          <a:noFill/>
        </p:spPr>
        <p:txBody>
          <a:bodyPr wrap="none" rtlCol="0" anchor="t"/>
          <a:lstStyle/>
          <a:p>
            <a:pPr algn="ctr">
              <a:lnSpc>
                <a:spcPts val="2660"/>
              </a:lnSpc>
            </a:pPr>
            <a:r>
              <a:rPr lang="en-US" sz="2215" dirty="0">
                <a:solidFill>
                  <a:srgbClr val="3C3939"/>
                </a:solidFill>
                <a:latin typeface="Raleway" pitchFamily="34" charset="0"/>
                <a:ea typeface="Raleway" pitchFamily="34" charset="-122"/>
                <a:cs typeface="Raleway" pitchFamily="34" charset="-120"/>
              </a:rPr>
              <a:t>1</a:t>
            </a:r>
            <a:endParaRPr lang="en-US" sz="2215" dirty="0"/>
          </a:p>
        </p:txBody>
      </p:sp>
      <p:sp>
        <p:nvSpPr>
          <p:cNvPr id="10" name="Text 7"/>
          <p:cNvSpPr/>
          <p:nvPr>
            <p:custDataLst>
              <p:tags r:id="rId6"/>
            </p:custDataLst>
          </p:nvPr>
        </p:nvSpPr>
        <p:spPr>
          <a:xfrm>
            <a:off x="1937345" y="1852078"/>
            <a:ext cx="4191993" cy="292993"/>
          </a:xfrm>
          <a:prstGeom prst="rect">
            <a:avLst/>
          </a:prstGeom>
          <a:noFill/>
        </p:spPr>
        <p:txBody>
          <a:bodyPr wrap="none" rtlCol="0" anchor="t"/>
          <a:lstStyle/>
          <a:p>
            <a:pPr>
              <a:lnSpc>
                <a:spcPts val="2770"/>
              </a:lnSpc>
            </a:pPr>
            <a:r>
              <a:rPr lang="en-US" sz="2000" b="1" dirty="0">
                <a:solidFill>
                  <a:srgbClr val="076365"/>
                </a:solidFill>
                <a:latin typeface="Raleway" pitchFamily="34" charset="0"/>
                <a:ea typeface="Raleway" pitchFamily="34" charset="-122"/>
                <a:cs typeface="Raleway" pitchFamily="34" charset="-120"/>
              </a:rPr>
              <a:t>THPT: Thời gian được sắp xếp chặt chẽ</a:t>
            </a:r>
          </a:p>
        </p:txBody>
      </p:sp>
      <p:sp>
        <p:nvSpPr>
          <p:cNvPr id="11" name="Text 8"/>
          <p:cNvSpPr/>
          <p:nvPr>
            <p:custDataLst>
              <p:tags r:id="rId7"/>
            </p:custDataLst>
          </p:nvPr>
        </p:nvSpPr>
        <p:spPr>
          <a:xfrm>
            <a:off x="1969135" y="2299970"/>
            <a:ext cx="5078730" cy="1572895"/>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Ở THPT, thời gian học tập được sắp xếp chặt chẽ với lịch học cố định hàng ngày. Học sinh thường có ít quyền quyết định về việc phân bổ thời gian học tập của mình.</a:t>
            </a:r>
          </a:p>
        </p:txBody>
      </p:sp>
      <p:sp>
        <p:nvSpPr>
          <p:cNvPr id="12" name="Shape 9"/>
          <p:cNvSpPr/>
          <p:nvPr>
            <p:custDataLst>
              <p:tags r:id="rId8"/>
            </p:custDataLst>
          </p:nvPr>
        </p:nvSpPr>
        <p:spPr>
          <a:xfrm>
            <a:off x="1148606" y="4209554"/>
            <a:ext cx="656332" cy="37505"/>
          </a:xfrm>
          <a:prstGeom prst="roundRect">
            <a:avLst>
              <a:gd name="adj" fmla="val 225026"/>
            </a:avLst>
          </a:prstGeom>
          <a:solidFill>
            <a:srgbClr val="C7C7D0"/>
          </a:solidFill>
        </p:spPr>
      </p:sp>
      <p:sp>
        <p:nvSpPr>
          <p:cNvPr id="13" name="Shape 10"/>
          <p:cNvSpPr/>
          <p:nvPr>
            <p:custDataLst>
              <p:tags r:id="rId9"/>
            </p:custDataLst>
          </p:nvPr>
        </p:nvSpPr>
        <p:spPr>
          <a:xfrm>
            <a:off x="726629" y="4017368"/>
            <a:ext cx="421978" cy="421978"/>
          </a:xfrm>
          <a:prstGeom prst="roundRect">
            <a:avLst>
              <a:gd name="adj" fmla="val 20000"/>
            </a:avLst>
          </a:prstGeom>
        </p:spPr>
        <p:style>
          <a:lnRef idx="1">
            <a:schemeClr val="accent5"/>
          </a:lnRef>
          <a:fillRef idx="2">
            <a:schemeClr val="accent5"/>
          </a:fillRef>
          <a:effectRef idx="1">
            <a:schemeClr val="accent5"/>
          </a:effectRef>
          <a:fontRef idx="minor">
            <a:schemeClr val="dk1"/>
          </a:fontRef>
        </p:style>
      </p:sp>
      <p:sp>
        <p:nvSpPr>
          <p:cNvPr id="14" name="Text 11"/>
          <p:cNvSpPr/>
          <p:nvPr>
            <p:custDataLst>
              <p:tags r:id="rId10"/>
            </p:custDataLst>
          </p:nvPr>
        </p:nvSpPr>
        <p:spPr>
          <a:xfrm>
            <a:off x="864246" y="4016593"/>
            <a:ext cx="146645" cy="281285"/>
          </a:xfrm>
          <a:prstGeom prst="rect">
            <a:avLst/>
          </a:prstGeom>
          <a:noFill/>
        </p:spPr>
        <p:txBody>
          <a:bodyPr wrap="none" rtlCol="0" anchor="t"/>
          <a:lstStyle/>
          <a:p>
            <a:pPr algn="ctr">
              <a:lnSpc>
                <a:spcPts val="2660"/>
              </a:lnSpc>
            </a:pPr>
            <a:r>
              <a:rPr lang="en-US" sz="2215" dirty="0">
                <a:solidFill>
                  <a:srgbClr val="3C3939"/>
                </a:solidFill>
                <a:latin typeface="Raleway" pitchFamily="34" charset="0"/>
                <a:ea typeface="Raleway" pitchFamily="34" charset="-122"/>
                <a:cs typeface="Raleway" pitchFamily="34" charset="-120"/>
              </a:rPr>
              <a:t>2</a:t>
            </a:r>
            <a:endParaRPr lang="en-US" sz="2215" dirty="0"/>
          </a:p>
        </p:txBody>
      </p:sp>
      <p:sp>
        <p:nvSpPr>
          <p:cNvPr id="15" name="Text 12"/>
          <p:cNvSpPr/>
          <p:nvPr>
            <p:custDataLst>
              <p:tags r:id="rId11"/>
            </p:custDataLst>
          </p:nvPr>
        </p:nvSpPr>
        <p:spPr>
          <a:xfrm>
            <a:off x="1969096" y="3993953"/>
            <a:ext cx="3025081" cy="292993"/>
          </a:xfrm>
          <a:prstGeom prst="rect">
            <a:avLst/>
          </a:prstGeom>
          <a:noFill/>
        </p:spPr>
        <p:txBody>
          <a:bodyPr wrap="none" rtlCol="0" anchor="t"/>
          <a:lstStyle/>
          <a:p>
            <a:pPr>
              <a:lnSpc>
                <a:spcPts val="2770"/>
              </a:lnSpc>
            </a:pPr>
            <a:r>
              <a:rPr lang="en-US" sz="2000" b="1" dirty="0">
                <a:solidFill>
                  <a:srgbClr val="076365"/>
                </a:solidFill>
                <a:latin typeface="Raleway" pitchFamily="34" charset="0"/>
                <a:ea typeface="Raleway" pitchFamily="34" charset="-122"/>
                <a:cs typeface="Raleway" pitchFamily="34" charset="-120"/>
              </a:rPr>
              <a:t>Đại học: Tự quản lý thời gian</a:t>
            </a:r>
          </a:p>
        </p:txBody>
      </p:sp>
      <p:sp>
        <p:nvSpPr>
          <p:cNvPr id="16" name="Text 13"/>
          <p:cNvSpPr/>
          <p:nvPr>
            <p:custDataLst>
              <p:tags r:id="rId12"/>
            </p:custDataLst>
          </p:nvPr>
        </p:nvSpPr>
        <p:spPr>
          <a:xfrm>
            <a:off x="1927225" y="4399280"/>
            <a:ext cx="5140960" cy="2200275"/>
          </a:xfrm>
          <a:prstGeom prst="rect">
            <a:avLst/>
          </a:prstGeom>
          <a:noFill/>
        </p:spPr>
        <p:txBody>
          <a:bodyPr wrap="square" rtlCol="0" anchor="t"/>
          <a:lstStyle/>
          <a:p>
            <a:pPr algn="just">
              <a:lnSpc>
                <a:spcPts val="2835"/>
              </a:lnSpc>
            </a:pPr>
            <a:r>
              <a:rPr lang="en-US" sz="2000" dirty="0">
                <a:solidFill>
                  <a:srgbClr val="076365"/>
                </a:solidFill>
                <a:latin typeface="Arial" panose="020B0604020202020204" pitchFamily="34" charset="0"/>
                <a:ea typeface="Roboto" pitchFamily="34" charset="-122"/>
                <a:cs typeface="Arial" panose="020B0604020202020204" pitchFamily="34" charset="0"/>
              </a:rPr>
              <a:t>Tại đại học, sinh viên cần kỹ năng quản lý thời gian tốt để cân bằng giữa học tập, nghiên cứu, hoạt động ngoại khóa và cuộc sống cá nhân. Họ phải lên kế hoạch cho các dự án dài hạn và quản lý nhiều deadline cùng lúc.</a:t>
            </a:r>
          </a:p>
        </p:txBody>
      </p:sp>
      <p:pic>
        <p:nvPicPr>
          <p:cNvPr id="18" name="Picture 2" descr="Không có mô tả ảnh."/>
          <p:cNvPicPr>
            <a:picLocks noChangeAspect="1" noChangeArrowheads="1"/>
          </p:cNvPicPr>
          <p:nvPr>
            <p:custDataLst>
              <p:tags r:id="rId13"/>
            </p:custDataLst>
          </p:nvPr>
        </p:nvPicPr>
        <p:blipFill rotWithShape="1">
          <a:blip r:embed="rId15">
            <a:extLst>
              <a:ext uri="{28A0092B-C50C-407E-A947-70E740481C1C}">
                <a14:useLocalDpi xmlns:a14="http://schemas.microsoft.com/office/drawing/2010/main" val="0"/>
              </a:ext>
            </a:extLst>
          </a:blip>
          <a:srcRect l="18943" r="14956"/>
          <a:stretch>
            <a:fillRect/>
          </a:stretch>
        </p:blipFill>
        <p:spPr bwMode="auto">
          <a:xfrm>
            <a:off x="7387571" y="2181414"/>
            <a:ext cx="4059048" cy="40937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1.1. Đại học khác với THPT như thế nào?</a:t>
            </a:r>
            <a:endParaRPr lang="en-US" sz="2665">
              <a:latin typeface="Arial" panose="020B0604020202020204" pitchFamily="34" charset="0"/>
              <a:cs typeface="Arial" panose="020B0604020202020204" pitchFamily="34" charset="0"/>
            </a:endParaRPr>
          </a:p>
        </p:txBody>
      </p:sp>
      <p:sp>
        <p:nvSpPr>
          <p:cNvPr id="5" name="Text 2"/>
          <p:cNvSpPr/>
          <p:nvPr>
            <p:custDataLst>
              <p:tags r:id="rId1"/>
            </p:custDataLst>
          </p:nvPr>
        </p:nvSpPr>
        <p:spPr>
          <a:xfrm>
            <a:off x="656333" y="515739"/>
            <a:ext cx="8501523" cy="681294"/>
          </a:xfrm>
          <a:prstGeom prst="rect">
            <a:avLst/>
          </a:prstGeom>
          <a:noFill/>
        </p:spPr>
        <p:txBody>
          <a:bodyPr wrap="square" rtlCol="0" anchor="t"/>
          <a:lstStyle/>
          <a:p>
            <a:pPr algn="just">
              <a:lnSpc>
                <a:spcPts val="5540"/>
              </a:lnSpc>
            </a:pPr>
            <a:r>
              <a:rPr lang="en-US" sz="3000" b="1" dirty="0">
                <a:solidFill>
                  <a:srgbClr val="0000FF"/>
                </a:solidFill>
                <a:latin typeface="Arial" panose="020B0604020202020204" pitchFamily="34" charset="0"/>
                <a:ea typeface="Roboto" panose="02000000000000000000" pitchFamily="2" charset="0"/>
                <a:cs typeface="Arial" panose="020B0604020202020204" pitchFamily="34" charset="0"/>
              </a:rPr>
              <a:t>Tính cộng đồng trong học tập</a:t>
            </a:r>
          </a:p>
        </p:txBody>
      </p:sp>
      <p:sp>
        <p:nvSpPr>
          <p:cNvPr id="6" name="Shape 3"/>
          <p:cNvSpPr/>
          <p:nvPr>
            <p:custDataLst>
              <p:tags r:id="rId2"/>
            </p:custDataLst>
          </p:nvPr>
        </p:nvSpPr>
        <p:spPr>
          <a:xfrm>
            <a:off x="656332" y="1490026"/>
            <a:ext cx="421978" cy="421978"/>
          </a:xfrm>
          <a:prstGeom prst="roundRect">
            <a:avLst>
              <a:gd name="adj" fmla="val 20000"/>
            </a:avLst>
          </a:prstGeom>
          <a:solidFill>
            <a:srgbClr val="E1E1EA"/>
          </a:solidFill>
          <a:ln w="7620">
            <a:solidFill>
              <a:srgbClr val="C7C7D0"/>
            </a:solidFill>
            <a:prstDash val="solid"/>
          </a:ln>
        </p:spPr>
      </p:sp>
      <p:sp>
        <p:nvSpPr>
          <p:cNvPr id="7" name="Text 4"/>
          <p:cNvSpPr/>
          <p:nvPr>
            <p:custDataLst>
              <p:tags r:id="rId3"/>
            </p:custDataLst>
          </p:nvPr>
        </p:nvSpPr>
        <p:spPr>
          <a:xfrm>
            <a:off x="766405" y="1519733"/>
            <a:ext cx="120452" cy="281285"/>
          </a:xfrm>
          <a:prstGeom prst="rect">
            <a:avLst/>
          </a:prstGeom>
          <a:noFill/>
        </p:spPr>
        <p:txBody>
          <a:bodyPr wrap="none" rtlCol="0" anchor="t"/>
          <a:lstStyle/>
          <a:p>
            <a:pPr algn="just">
              <a:lnSpc>
                <a:spcPts val="2660"/>
              </a:lnSpc>
            </a:pPr>
            <a:r>
              <a:rPr lang="en-US" sz="2215" dirty="0">
                <a:solidFill>
                  <a:srgbClr val="3C3939"/>
                </a:solidFill>
                <a:latin typeface="Raleway" pitchFamily="34" charset="0"/>
                <a:ea typeface="Raleway" pitchFamily="34" charset="-122"/>
                <a:cs typeface="Raleway" pitchFamily="34" charset="-120"/>
              </a:rPr>
              <a:t>1</a:t>
            </a:r>
            <a:endParaRPr lang="en-US" sz="2215" dirty="0"/>
          </a:p>
        </p:txBody>
      </p:sp>
      <p:sp>
        <p:nvSpPr>
          <p:cNvPr id="8" name="Text 5"/>
          <p:cNvSpPr/>
          <p:nvPr>
            <p:custDataLst>
              <p:tags r:id="rId4"/>
            </p:custDataLst>
          </p:nvPr>
        </p:nvSpPr>
        <p:spPr>
          <a:xfrm>
            <a:off x="1247775" y="1416685"/>
            <a:ext cx="6527800" cy="586105"/>
          </a:xfrm>
          <a:prstGeom prst="rect">
            <a:avLst/>
          </a:prstGeom>
          <a:noFill/>
        </p:spPr>
        <p:txBody>
          <a:bodyPr wrap="square" rtlCol="0" anchor="t"/>
          <a:lstStyle/>
          <a:p>
            <a:pPr algn="just">
              <a:lnSpc>
                <a:spcPts val="2770"/>
              </a:lnSpc>
            </a:pPr>
            <a:r>
              <a:rPr lang="en-US" sz="2000" b="1" dirty="0">
                <a:solidFill>
                  <a:srgbClr val="076365"/>
                </a:solidFill>
                <a:latin typeface="Raleway" pitchFamily="34" charset="0"/>
                <a:ea typeface="Raleway" pitchFamily="34" charset="-122"/>
                <a:cs typeface="Raleway" pitchFamily="34" charset="-120"/>
              </a:rPr>
              <a:t>THPT: </a:t>
            </a:r>
            <a:r>
              <a:rPr lang="en-US" sz="2000" b="1" dirty="0" err="1">
                <a:solidFill>
                  <a:srgbClr val="076365"/>
                </a:solidFill>
                <a:latin typeface="Raleway" pitchFamily="34" charset="0"/>
                <a:ea typeface="Raleway" pitchFamily="34" charset="-122"/>
                <a:cs typeface="Raleway" pitchFamily="34" charset="-120"/>
              </a:rPr>
              <a:t>Chú</a:t>
            </a:r>
            <a:r>
              <a:rPr lang="en-US" sz="2000" b="1" dirty="0">
                <a:solidFill>
                  <a:srgbClr val="076365"/>
                </a:solidFill>
                <a:latin typeface="Raleway" pitchFamily="34" charset="0"/>
                <a:ea typeface="Raleway" pitchFamily="34" charset="-122"/>
                <a:cs typeface="Raleway" pitchFamily="34" charset="-120"/>
              </a:rPr>
              <a:t> </a:t>
            </a:r>
            <a:r>
              <a:rPr lang="en-US" sz="2000" b="1" dirty="0" err="1">
                <a:solidFill>
                  <a:srgbClr val="076365"/>
                </a:solidFill>
                <a:latin typeface="Raleway" pitchFamily="34" charset="0"/>
                <a:ea typeface="Raleway" pitchFamily="34" charset="-122"/>
                <a:cs typeface="Raleway" pitchFamily="34" charset="-120"/>
              </a:rPr>
              <a:t>trọng</a:t>
            </a:r>
            <a:r>
              <a:rPr lang="en-US" sz="2000" b="1" dirty="0">
                <a:solidFill>
                  <a:srgbClr val="076365"/>
                </a:solidFill>
                <a:latin typeface="Raleway" pitchFamily="34" charset="0"/>
                <a:ea typeface="Raleway" pitchFamily="34" charset="-122"/>
                <a:cs typeface="Raleway" pitchFamily="34" charset="-120"/>
              </a:rPr>
              <a:t> </a:t>
            </a:r>
            <a:r>
              <a:rPr lang="en-US" sz="2000" b="1" dirty="0" err="1">
                <a:solidFill>
                  <a:srgbClr val="076365"/>
                </a:solidFill>
                <a:latin typeface="Raleway" pitchFamily="34" charset="0"/>
                <a:ea typeface="Raleway" pitchFamily="34" charset="-122"/>
                <a:cs typeface="Raleway" pitchFamily="34" charset="-120"/>
              </a:rPr>
              <a:t>học</a:t>
            </a:r>
            <a:r>
              <a:rPr lang="en-US" sz="2000" b="1" dirty="0">
                <a:solidFill>
                  <a:srgbClr val="076365"/>
                </a:solidFill>
                <a:latin typeface="Raleway" pitchFamily="34" charset="0"/>
                <a:ea typeface="Raleway" pitchFamily="34" charset="-122"/>
                <a:cs typeface="Raleway" pitchFamily="34" charset="-120"/>
              </a:rPr>
              <a:t> tập cá nhân</a:t>
            </a:r>
          </a:p>
        </p:txBody>
      </p:sp>
      <p:sp>
        <p:nvSpPr>
          <p:cNvPr id="9" name="Text 6"/>
          <p:cNvSpPr/>
          <p:nvPr>
            <p:custDataLst>
              <p:tags r:id="rId5"/>
            </p:custDataLst>
          </p:nvPr>
        </p:nvSpPr>
        <p:spPr>
          <a:xfrm>
            <a:off x="1035685" y="1925320"/>
            <a:ext cx="7241540" cy="1328420"/>
          </a:xfrm>
          <a:prstGeom prst="rect">
            <a:avLst/>
          </a:prstGeom>
          <a:noFill/>
        </p:spPr>
        <p:txBody>
          <a:bodyPr wrap="square" rtlCol="0" anchor="t"/>
          <a:lstStyle/>
          <a:p>
            <a:pPr algn="just">
              <a:lnSpc>
                <a:spcPts val="2835"/>
              </a:lnSpc>
            </a:pPr>
            <a:r>
              <a:rPr lang="en-US" dirty="0">
                <a:solidFill>
                  <a:srgbClr val="076365"/>
                </a:solidFill>
                <a:latin typeface="Arial" panose="020B0604020202020204" pitchFamily="34" charset="0"/>
                <a:ea typeface="Roboto" pitchFamily="34" charset="-122"/>
                <a:cs typeface="Arial" panose="020B0604020202020204" pitchFamily="34" charset="0"/>
              </a:rPr>
              <a:t>Ở THPT, học tập </a:t>
            </a:r>
            <a:r>
              <a:rPr lang="en-US" dirty="0" err="1">
                <a:solidFill>
                  <a:srgbClr val="076365"/>
                </a:solidFill>
                <a:latin typeface="Arial" panose="020B0604020202020204" pitchFamily="34" charset="0"/>
                <a:ea typeface="Roboto" pitchFamily="34" charset="-122"/>
                <a:cs typeface="Arial" panose="020B0604020202020204" pitchFamily="34" charset="0"/>
              </a:rPr>
              <a:t>thường</a:t>
            </a:r>
            <a:r>
              <a:rPr lang="en-US" dirty="0">
                <a:solidFill>
                  <a:srgbClr val="076365"/>
                </a:solidFill>
                <a:latin typeface="Arial" panose="020B0604020202020204" pitchFamily="34" charset="0"/>
                <a:ea typeface="Roboto" pitchFamily="34" charset="-122"/>
                <a:cs typeface="Arial" panose="020B0604020202020204" pitchFamily="34" charset="0"/>
              </a:rPr>
              <a:t> </a:t>
            </a:r>
            <a:r>
              <a:rPr lang="en-US" dirty="0" err="1">
                <a:solidFill>
                  <a:srgbClr val="076365"/>
                </a:solidFill>
                <a:latin typeface="Arial" panose="020B0604020202020204" pitchFamily="34" charset="0"/>
                <a:ea typeface="Roboto" pitchFamily="34" charset="-122"/>
                <a:cs typeface="Arial" panose="020B0604020202020204" pitchFamily="34" charset="0"/>
              </a:rPr>
              <a:t>mang</a:t>
            </a:r>
            <a:r>
              <a:rPr lang="en-US" dirty="0">
                <a:solidFill>
                  <a:srgbClr val="076365"/>
                </a:solidFill>
                <a:latin typeface="Arial" panose="020B0604020202020204" pitchFamily="34" charset="0"/>
                <a:ea typeface="Roboto" pitchFamily="34" charset="-122"/>
                <a:cs typeface="Arial" panose="020B0604020202020204" pitchFamily="34" charset="0"/>
              </a:rPr>
              <a:t> tính cá nhân. Mặc dù có một số hoạt động nhóm, nhưng phần lớn việc học và đánh giá dựa trên thành tích cá nhân. Sự tương tác giữa các học sinh thường bị giới hạn trong phạm vi lớp học.</a:t>
            </a:r>
          </a:p>
        </p:txBody>
      </p:sp>
      <p:sp>
        <p:nvSpPr>
          <p:cNvPr id="10" name="Shape 7"/>
          <p:cNvSpPr/>
          <p:nvPr>
            <p:custDataLst>
              <p:tags r:id="rId6"/>
            </p:custDataLst>
          </p:nvPr>
        </p:nvSpPr>
        <p:spPr>
          <a:xfrm>
            <a:off x="656332" y="3683200"/>
            <a:ext cx="421978" cy="421978"/>
          </a:xfrm>
          <a:prstGeom prst="roundRect">
            <a:avLst>
              <a:gd name="adj" fmla="val 20000"/>
            </a:avLst>
          </a:prstGeom>
          <a:solidFill>
            <a:srgbClr val="E1E1EA"/>
          </a:solidFill>
          <a:ln w="7620">
            <a:solidFill>
              <a:srgbClr val="C7C7D0"/>
            </a:solidFill>
            <a:prstDash val="solid"/>
          </a:ln>
        </p:spPr>
      </p:sp>
      <p:sp>
        <p:nvSpPr>
          <p:cNvPr id="11" name="Text 8"/>
          <p:cNvSpPr/>
          <p:nvPr>
            <p:custDataLst>
              <p:tags r:id="rId7"/>
            </p:custDataLst>
          </p:nvPr>
        </p:nvSpPr>
        <p:spPr>
          <a:xfrm>
            <a:off x="763468" y="3692587"/>
            <a:ext cx="146645" cy="281285"/>
          </a:xfrm>
          <a:prstGeom prst="rect">
            <a:avLst/>
          </a:prstGeom>
          <a:noFill/>
        </p:spPr>
        <p:txBody>
          <a:bodyPr wrap="none" rtlCol="0" anchor="t"/>
          <a:lstStyle/>
          <a:p>
            <a:pPr algn="just">
              <a:lnSpc>
                <a:spcPts val="2660"/>
              </a:lnSpc>
            </a:pPr>
            <a:r>
              <a:rPr lang="en-US" sz="2215" dirty="0">
                <a:solidFill>
                  <a:srgbClr val="3C3939"/>
                </a:solidFill>
                <a:latin typeface="Raleway" pitchFamily="34" charset="0"/>
                <a:ea typeface="Raleway" pitchFamily="34" charset="-122"/>
                <a:cs typeface="Raleway" pitchFamily="34" charset="-120"/>
              </a:rPr>
              <a:t>2</a:t>
            </a:r>
            <a:endParaRPr lang="en-US" sz="2215" dirty="0"/>
          </a:p>
        </p:txBody>
      </p:sp>
      <p:sp>
        <p:nvSpPr>
          <p:cNvPr id="12" name="Text 9"/>
          <p:cNvSpPr/>
          <p:nvPr>
            <p:custDataLst>
              <p:tags r:id="rId8"/>
            </p:custDataLst>
          </p:nvPr>
        </p:nvSpPr>
        <p:spPr>
          <a:xfrm>
            <a:off x="1265833" y="3600374"/>
            <a:ext cx="4830167" cy="878979"/>
          </a:xfrm>
          <a:prstGeom prst="rect">
            <a:avLst/>
          </a:prstGeom>
          <a:noFill/>
        </p:spPr>
        <p:txBody>
          <a:bodyPr wrap="square" rtlCol="0" anchor="t"/>
          <a:lstStyle/>
          <a:p>
            <a:pPr algn="just">
              <a:lnSpc>
                <a:spcPts val="2770"/>
              </a:lnSpc>
            </a:pPr>
            <a:r>
              <a:rPr lang="en-US" sz="2000" b="1" dirty="0">
                <a:solidFill>
                  <a:srgbClr val="076365"/>
                </a:solidFill>
                <a:latin typeface="Raleway" pitchFamily="34" charset="0"/>
                <a:ea typeface="Raleway" pitchFamily="34" charset="-122"/>
                <a:cs typeface="Raleway" pitchFamily="34" charset="-120"/>
              </a:rPr>
              <a:t>Đại học: Khuyến khích cộng đồng học thuật và mạng lưới học tập</a:t>
            </a:r>
          </a:p>
        </p:txBody>
      </p:sp>
      <p:sp>
        <p:nvSpPr>
          <p:cNvPr id="13" name="Text 10"/>
          <p:cNvSpPr/>
          <p:nvPr>
            <p:custDataLst>
              <p:tags r:id="rId9"/>
            </p:custDataLst>
          </p:nvPr>
        </p:nvSpPr>
        <p:spPr>
          <a:xfrm>
            <a:off x="995680" y="4478655"/>
            <a:ext cx="7239635" cy="1981835"/>
          </a:xfrm>
          <a:prstGeom prst="rect">
            <a:avLst/>
          </a:prstGeom>
          <a:noFill/>
        </p:spPr>
        <p:txBody>
          <a:bodyPr wrap="square" rtlCol="0" anchor="t"/>
          <a:lstStyle/>
          <a:p>
            <a:pPr algn="just">
              <a:lnSpc>
                <a:spcPts val="2835"/>
              </a:lnSpc>
            </a:pPr>
            <a:r>
              <a:rPr lang="en-US" dirty="0">
                <a:solidFill>
                  <a:srgbClr val="076365"/>
                </a:solidFill>
                <a:latin typeface="Arial" panose="020B0604020202020204" pitchFamily="34" charset="0"/>
                <a:ea typeface="Roboto" pitchFamily="34" charset="-122"/>
                <a:cs typeface="Arial" panose="020B0604020202020204" pitchFamily="34" charset="0"/>
              </a:rPr>
              <a:t>Tại đại học, sinh viên được khuyến khích tham gia vào cộng đồng học thuật rộng lớn hơn. Điều này bao gồm việc tham gia các nhóm nghiên cứu, hội thảo, và các dự án hợp tác. Sự chia sẻ kiến thức và thảo luận học thuật được coi trọng. Đại học cũng tạo cơ hội để xây dựng mạng lưới học tập và nghề nghiệp, kết nối với bạn bè, giảng viên, và các chuyên gia trong ngành.</a:t>
            </a:r>
          </a:p>
        </p:txBody>
      </p:sp>
      <p:pic>
        <p:nvPicPr>
          <p:cNvPr id="5122" name="Picture 2" descr="Có thể là hình ảnh về 12 người và tàu hỏa"/>
          <p:cNvPicPr>
            <a:picLocks noChangeAspect="1" noChangeArrowheads="1"/>
          </p:cNvPicPr>
          <p:nvPr>
            <p:custDataLst>
              <p:tags r:id="rId10"/>
            </p:custDataLst>
          </p:nvPr>
        </p:nvPicPr>
        <p:blipFill rotWithShape="1">
          <a:blip r:embed="rId12">
            <a:extLst>
              <a:ext uri="{28A0092B-C50C-407E-A947-70E740481C1C}">
                <a14:useLocalDpi xmlns:a14="http://schemas.microsoft.com/office/drawing/2010/main" val="0"/>
              </a:ext>
            </a:extLst>
          </a:blip>
          <a:srcRect l="31251" r="28503"/>
          <a:stretch>
            <a:fillRect/>
          </a:stretch>
        </p:blipFill>
        <p:spPr bwMode="auto">
          <a:xfrm>
            <a:off x="8441055" y="709930"/>
            <a:ext cx="3708400" cy="613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sp>
        <p:nvSpPr>
          <p:cNvPr id="5" name="Text 2"/>
          <p:cNvSpPr/>
          <p:nvPr>
            <p:custDataLst>
              <p:tags r:id="rId1"/>
            </p:custDataLst>
          </p:nvPr>
        </p:nvSpPr>
        <p:spPr>
          <a:xfrm>
            <a:off x="1146175" y="1786890"/>
            <a:ext cx="5243195" cy="2907030"/>
          </a:xfrm>
          <a:prstGeom prst="rect">
            <a:avLst/>
          </a:prstGeom>
          <a:noFill/>
        </p:spPr>
        <p:txBody>
          <a:bodyPr wrap="square" rtlCol="0" anchor="t"/>
          <a:lstStyle/>
          <a:p>
            <a:pPr marL="0" indent="0" algn="just">
              <a:lnSpc>
                <a:spcPts val="7640"/>
              </a:lnSpc>
              <a:buNone/>
            </a:pPr>
            <a:r>
              <a:rPr lang="en-US" sz="5095" b="1" dirty="0" err="1">
                <a:solidFill>
                  <a:srgbClr val="076365"/>
                </a:solidFill>
                <a:latin typeface="Arial" panose="020B0604020202020204" pitchFamily="34" charset="0"/>
                <a:ea typeface="Raleway" pitchFamily="34" charset="-122"/>
                <a:cs typeface="Arial" panose="020B0604020202020204" pitchFamily="34" charset="0"/>
              </a:rPr>
              <a:t>Những</a:t>
            </a:r>
            <a:r>
              <a:rPr lang="en-US" sz="5095" b="1" dirty="0">
                <a:solidFill>
                  <a:srgbClr val="076365"/>
                </a:solidFill>
                <a:latin typeface="Arial" panose="020B0604020202020204" pitchFamily="34" charset="0"/>
                <a:ea typeface="Raleway" pitchFamily="34" charset="-122"/>
                <a:cs typeface="Arial" panose="020B0604020202020204" pitchFamily="34" charset="0"/>
              </a:rPr>
              <a:t> kỳ vọng đối với một </a:t>
            </a:r>
            <a:r>
              <a:rPr lang="en-US" sz="5095" b="1" dirty="0" err="1">
                <a:solidFill>
                  <a:srgbClr val="076365"/>
                </a:solidFill>
                <a:latin typeface="Arial" panose="020B0604020202020204" pitchFamily="34" charset="0"/>
                <a:ea typeface="Raleway" pitchFamily="34" charset="-122"/>
                <a:cs typeface="Arial" panose="020B0604020202020204" pitchFamily="34" charset="0"/>
              </a:rPr>
              <a:t>sinh</a:t>
            </a:r>
            <a:r>
              <a:rPr lang="en-US" sz="5095" b="1" dirty="0">
                <a:solidFill>
                  <a:srgbClr val="076365"/>
                </a:solidFill>
                <a:latin typeface="Arial" panose="020B0604020202020204" pitchFamily="34" charset="0"/>
                <a:ea typeface="Raleway" pitchFamily="34" charset="-122"/>
                <a:cs typeface="Arial" panose="020B0604020202020204" pitchFamily="34" charset="0"/>
              </a:rPr>
              <a:t> </a:t>
            </a:r>
            <a:r>
              <a:rPr lang="en-US" sz="5095" b="1" dirty="0" err="1">
                <a:solidFill>
                  <a:srgbClr val="076365"/>
                </a:solidFill>
                <a:latin typeface="Arial" panose="020B0604020202020204" pitchFamily="34" charset="0"/>
                <a:ea typeface="Raleway" pitchFamily="34" charset="-122"/>
                <a:cs typeface="Arial" panose="020B0604020202020204" pitchFamily="34" charset="0"/>
              </a:rPr>
              <a:t>viên</a:t>
            </a:r>
            <a:r>
              <a:rPr lang="en-US" sz="5095" b="1" dirty="0">
                <a:solidFill>
                  <a:srgbClr val="076365"/>
                </a:solidFill>
                <a:latin typeface="Arial" panose="020B0604020202020204" pitchFamily="34" charset="0"/>
                <a:ea typeface="Raleway" pitchFamily="34" charset="-122"/>
                <a:cs typeface="Arial" panose="020B0604020202020204" pitchFamily="34" charset="0"/>
              </a:rPr>
              <a:t> </a:t>
            </a:r>
            <a:r>
              <a:rPr lang="en-US" sz="5095" b="1" dirty="0" err="1">
                <a:solidFill>
                  <a:srgbClr val="076365"/>
                </a:solidFill>
                <a:latin typeface="Arial" panose="020B0604020202020204" pitchFamily="34" charset="0"/>
                <a:ea typeface="Raleway" pitchFamily="34" charset="-122"/>
                <a:cs typeface="Arial" panose="020B0604020202020204" pitchFamily="34" charset="0"/>
              </a:rPr>
              <a:t>đại</a:t>
            </a:r>
            <a:r>
              <a:rPr lang="en-US" sz="5095" b="1" dirty="0">
                <a:solidFill>
                  <a:srgbClr val="076365"/>
                </a:solidFill>
                <a:latin typeface="Arial" panose="020B0604020202020204" pitchFamily="34" charset="0"/>
                <a:ea typeface="Raleway" pitchFamily="34" charset="-122"/>
                <a:cs typeface="Arial" panose="020B0604020202020204" pitchFamily="34" charset="0"/>
              </a:rPr>
              <a:t> </a:t>
            </a:r>
            <a:r>
              <a:rPr lang="en-US" sz="5095" b="1" dirty="0" err="1">
                <a:solidFill>
                  <a:srgbClr val="076365"/>
                </a:solidFill>
                <a:latin typeface="Arial" panose="020B0604020202020204" pitchFamily="34" charset="0"/>
                <a:ea typeface="Raleway" pitchFamily="34" charset="-122"/>
                <a:cs typeface="Arial" panose="020B0604020202020204" pitchFamily="34" charset="0"/>
              </a:rPr>
              <a:t>học</a:t>
            </a:r>
          </a:p>
        </p:txBody>
      </p:sp>
      <p:pic>
        <p:nvPicPr>
          <p:cNvPr id="3076" name="Picture 4" descr="Có thể là hình ảnh về văn bản"/>
          <p:cNvPicPr>
            <a:picLocks noChangeAspect="1" noChangeArrowheads="1"/>
          </p:cNvPicPr>
          <p:nvPr>
            <p:custDataLst>
              <p:tags r:id="rId2"/>
            </p:custDataLst>
          </p:nvPr>
        </p:nvPicPr>
        <p:blipFill rotWithShape="1">
          <a:blip r:embed="rId4" cstate="print">
            <a:extLst>
              <a:ext uri="{28A0092B-C50C-407E-A947-70E740481C1C}">
                <a14:useLocalDpi xmlns:a14="http://schemas.microsoft.com/office/drawing/2010/main" val="0"/>
              </a:ext>
            </a:extLst>
          </a:blip>
          <a:srcRect t="5555"/>
          <a:stretch>
            <a:fillRect/>
          </a:stretch>
        </p:blipFill>
        <p:spPr bwMode="auto">
          <a:xfrm>
            <a:off x="7866380" y="723265"/>
            <a:ext cx="4323080" cy="61264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sp>
        <p:nvSpPr>
          <p:cNvPr id="4" name="Text 2"/>
          <p:cNvSpPr/>
          <p:nvPr>
            <p:custDataLst>
              <p:tags r:id="rId1"/>
            </p:custDataLst>
          </p:nvPr>
        </p:nvSpPr>
        <p:spPr>
          <a:xfrm>
            <a:off x="656332" y="695355"/>
            <a:ext cx="5689050" cy="586085"/>
          </a:xfrm>
          <a:prstGeom prst="rect">
            <a:avLst/>
          </a:prstGeom>
          <a:noFill/>
        </p:spPr>
        <p:txBody>
          <a:bodyPr wrap="none" rtlCol="0" anchor="t"/>
          <a:lstStyle/>
          <a:p>
            <a:pPr marL="0" indent="0">
              <a:lnSpc>
                <a:spcPts val="5540"/>
              </a:lnSpc>
              <a:buNone/>
            </a:pP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Sự</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Độc</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Lập</a:t>
            </a:r>
            <a:r>
              <a:rPr lang="en-US" sz="3690" b="1" dirty="0">
                <a:solidFill>
                  <a:srgbClr val="076365"/>
                </a:solidFill>
                <a:latin typeface="Arial" panose="020B0604020202020204" pitchFamily="34" charset="0"/>
                <a:ea typeface="Roboto" panose="02000000000000000000" pitchFamily="2" charset="0"/>
                <a:cs typeface="Arial" panose="020B0604020202020204" pitchFamily="34" charset="0"/>
              </a:rPr>
              <a:t> </a:t>
            </a:r>
            <a:r>
              <a:rPr lang="en-US" sz="2335" dirty="0">
                <a:solidFill>
                  <a:srgbClr val="076365"/>
                </a:solidFill>
                <a:latin typeface="Raleway" pitchFamily="34" charset="0"/>
              </a:rPr>
              <a:t>/</a:t>
            </a:r>
            <a:r>
              <a:rPr lang="en-US" sz="2665" dirty="0">
                <a:solidFill>
                  <a:srgbClr val="076365"/>
                </a:solidFill>
                <a:latin typeface="Raleway" pitchFamily="34" charset="0"/>
                <a:ea typeface="Raleway" pitchFamily="34" charset="-122"/>
                <a:cs typeface="Raleway" pitchFamily="34" charset="-120"/>
              </a:rPr>
              <a:t>Independence</a:t>
            </a:r>
          </a:p>
        </p:txBody>
      </p:sp>
      <p:pic>
        <p:nvPicPr>
          <p:cNvPr id="3" name="Image 0" descr="preencoded.png"/>
          <p:cNvPicPr>
            <a:picLocks noChangeAspect="1"/>
          </p:cNvPicPr>
          <p:nvPr>
            <p:custDataLst>
              <p:tags r:id="rId2"/>
            </p:custDataLst>
          </p:nvPr>
        </p:nvPicPr>
        <p:blipFill>
          <a:blip r:embed="rId13"/>
          <a:stretch>
            <a:fillRect/>
          </a:stretch>
        </p:blipFill>
        <p:spPr>
          <a:xfrm>
            <a:off x="508549" y="1541282"/>
            <a:ext cx="3438922" cy="2125365"/>
          </a:xfrm>
          <a:prstGeom prst="rect">
            <a:avLst/>
          </a:prstGeom>
        </p:spPr>
      </p:pic>
      <p:sp>
        <p:nvSpPr>
          <p:cNvPr id="6" name="Text 3"/>
          <p:cNvSpPr/>
          <p:nvPr>
            <p:custDataLst>
              <p:tags r:id="rId3"/>
            </p:custDataLst>
          </p:nvPr>
        </p:nvSpPr>
        <p:spPr>
          <a:xfrm>
            <a:off x="437429" y="3901002"/>
            <a:ext cx="2392363" cy="292993"/>
          </a:xfrm>
          <a:prstGeom prst="rect">
            <a:avLst/>
          </a:prstGeom>
          <a:noFill/>
        </p:spPr>
        <p:txBody>
          <a:bodyPr wrap="none" rtlCol="0" anchor="t"/>
          <a:lstStyle/>
          <a:p>
            <a:pPr marL="0" indent="0" algn="l">
              <a:lnSpc>
                <a:spcPts val="2770"/>
              </a:lnSpc>
              <a:buNone/>
            </a:pPr>
            <a:r>
              <a:rPr lang="en-US" b="1" dirty="0">
                <a:solidFill>
                  <a:srgbClr val="076365"/>
                </a:solidFill>
                <a:latin typeface="Raleway" pitchFamily="34" charset="0"/>
                <a:ea typeface="Raleway" pitchFamily="34" charset="-122"/>
                <a:cs typeface="Raleway" pitchFamily="34" charset="-120"/>
              </a:rPr>
              <a:t>TỰ LẬP TRONG HỌC TẬP</a:t>
            </a:r>
          </a:p>
        </p:txBody>
      </p:sp>
      <p:sp>
        <p:nvSpPr>
          <p:cNvPr id="7" name="Text 4"/>
          <p:cNvSpPr/>
          <p:nvPr>
            <p:custDataLst>
              <p:tags r:id="rId4"/>
            </p:custDataLst>
          </p:nvPr>
        </p:nvSpPr>
        <p:spPr>
          <a:xfrm>
            <a:off x="437515" y="4306570"/>
            <a:ext cx="3628390" cy="1500505"/>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Sinh viên cần phát triển khả năng tự học, tư duy độc lập và chủ động trong việc tìm kiếm thông tin, giải quyết vấn đề. Đây là những yếu tố then chốt để trở thành một học sinh giỏi.</a:t>
            </a:r>
          </a:p>
        </p:txBody>
      </p:sp>
      <p:pic>
        <p:nvPicPr>
          <p:cNvPr id="8" name="Image 1" descr="preencoded.png"/>
          <p:cNvPicPr>
            <a:picLocks noChangeAspect="1"/>
          </p:cNvPicPr>
          <p:nvPr>
            <p:custDataLst>
              <p:tags r:id="rId5"/>
            </p:custDataLst>
          </p:nvPr>
        </p:nvPicPr>
        <p:blipFill>
          <a:blip r:embed="rId14"/>
          <a:stretch>
            <a:fillRect/>
          </a:stretch>
        </p:blipFill>
        <p:spPr>
          <a:xfrm>
            <a:off x="4431957" y="1541282"/>
            <a:ext cx="3438922" cy="2125365"/>
          </a:xfrm>
          <a:prstGeom prst="rect">
            <a:avLst/>
          </a:prstGeom>
        </p:spPr>
      </p:pic>
      <p:sp>
        <p:nvSpPr>
          <p:cNvPr id="9" name="Text 5"/>
          <p:cNvSpPr/>
          <p:nvPr>
            <p:custDataLst>
              <p:tags r:id="rId6"/>
            </p:custDataLst>
          </p:nvPr>
        </p:nvSpPr>
        <p:spPr>
          <a:xfrm>
            <a:off x="4218597" y="3901002"/>
            <a:ext cx="3006328" cy="292993"/>
          </a:xfrm>
          <a:prstGeom prst="rect">
            <a:avLst/>
          </a:prstGeom>
          <a:noFill/>
        </p:spPr>
        <p:txBody>
          <a:bodyPr wrap="none" rtlCol="0" anchor="t"/>
          <a:lstStyle/>
          <a:p>
            <a:pPr marL="0" indent="0" algn="l">
              <a:lnSpc>
                <a:spcPts val="2770"/>
              </a:lnSpc>
              <a:buNone/>
            </a:pPr>
            <a:r>
              <a:rPr lang="en-US" b="1" dirty="0">
                <a:solidFill>
                  <a:srgbClr val="3C3939"/>
                </a:solidFill>
                <a:latin typeface="Raleway" pitchFamily="34" charset="0"/>
                <a:ea typeface="Raleway" pitchFamily="34" charset="-122"/>
                <a:cs typeface="Raleway" pitchFamily="34" charset="-120"/>
              </a:rPr>
              <a:t>QUẢN LÝ THỜI GIAN HIỆU QUẢ</a:t>
            </a:r>
          </a:p>
        </p:txBody>
      </p:sp>
      <p:sp>
        <p:nvSpPr>
          <p:cNvPr id="10" name="Text 6"/>
          <p:cNvSpPr/>
          <p:nvPr>
            <p:custDataLst>
              <p:tags r:id="rId7"/>
            </p:custDataLst>
          </p:nvPr>
        </p:nvSpPr>
        <p:spPr>
          <a:xfrm>
            <a:off x="4350677" y="4306508"/>
            <a:ext cx="3438922" cy="1200150"/>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Năng lực quản lý thời gian của sinh viên rất quan trọng để có thể hoàn thành tốt công việc học tập. Sinh viên cần lập kế hoạch và sắp xếp lịch trình hợp lý.</a:t>
            </a:r>
          </a:p>
        </p:txBody>
      </p:sp>
      <p:pic>
        <p:nvPicPr>
          <p:cNvPr id="11" name="Image 2" descr="preencoded.png"/>
          <p:cNvPicPr>
            <a:picLocks noChangeAspect="1"/>
          </p:cNvPicPr>
          <p:nvPr>
            <p:custDataLst>
              <p:tags r:id="rId8"/>
            </p:custDataLst>
          </p:nvPr>
        </p:nvPicPr>
        <p:blipFill>
          <a:blip r:embed="rId15"/>
          <a:stretch>
            <a:fillRect/>
          </a:stretch>
        </p:blipFill>
        <p:spPr>
          <a:xfrm>
            <a:off x="8365523" y="1541282"/>
            <a:ext cx="3438922" cy="2125365"/>
          </a:xfrm>
          <a:prstGeom prst="rect">
            <a:avLst/>
          </a:prstGeom>
        </p:spPr>
      </p:pic>
      <p:sp>
        <p:nvSpPr>
          <p:cNvPr id="12" name="Text 7"/>
          <p:cNvSpPr/>
          <p:nvPr>
            <p:custDataLst>
              <p:tags r:id="rId9"/>
            </p:custDataLst>
          </p:nvPr>
        </p:nvSpPr>
        <p:spPr>
          <a:xfrm>
            <a:off x="8382668" y="3891477"/>
            <a:ext cx="2922488" cy="292993"/>
          </a:xfrm>
          <a:prstGeom prst="rect">
            <a:avLst/>
          </a:prstGeom>
          <a:noFill/>
        </p:spPr>
        <p:txBody>
          <a:bodyPr wrap="none" rtlCol="0" anchor="t"/>
          <a:lstStyle/>
          <a:p>
            <a:pPr marL="0" indent="0" algn="l">
              <a:lnSpc>
                <a:spcPts val="2770"/>
              </a:lnSpc>
              <a:buNone/>
            </a:pPr>
            <a:r>
              <a:rPr lang="en-US" b="1" dirty="0">
                <a:solidFill>
                  <a:srgbClr val="3C3939"/>
                </a:solidFill>
                <a:latin typeface="Raleway" pitchFamily="34" charset="0"/>
                <a:ea typeface="Raleway" pitchFamily="34" charset="-122"/>
                <a:cs typeface="Raleway" pitchFamily="34" charset="-120"/>
              </a:rPr>
              <a:t>GIẢI QUYẾT VẤN ĐỀ ĐỘC LẬP</a:t>
            </a:r>
          </a:p>
        </p:txBody>
      </p:sp>
      <p:sp>
        <p:nvSpPr>
          <p:cNvPr id="13" name="Text 8"/>
          <p:cNvSpPr/>
          <p:nvPr>
            <p:custDataLst>
              <p:tags r:id="rId10"/>
            </p:custDataLst>
          </p:nvPr>
        </p:nvSpPr>
        <p:spPr>
          <a:xfrm>
            <a:off x="8394065" y="4306570"/>
            <a:ext cx="3449955" cy="1200150"/>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Sinh viên cần phát triển kỹ năng tự mình phân tích, tìm hiểu và giải quyết các vấn đề trong học tập mà không cần sự can thiệp thường xuyên từ giáo viên.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sp>
        <p:nvSpPr>
          <p:cNvPr id="5" name="Text 2"/>
          <p:cNvSpPr/>
          <p:nvPr>
            <p:custDataLst>
              <p:tags r:id="rId1"/>
            </p:custDataLst>
          </p:nvPr>
        </p:nvSpPr>
        <p:spPr>
          <a:xfrm>
            <a:off x="4786630" y="720725"/>
            <a:ext cx="6392545" cy="586105"/>
          </a:xfrm>
          <a:prstGeom prst="rect">
            <a:avLst/>
          </a:prstGeom>
          <a:noFill/>
        </p:spPr>
        <p:txBody>
          <a:bodyPr wrap="none" rtlCol="0" anchor="t"/>
          <a:lstStyle/>
          <a:p>
            <a:pPr marL="0" indent="0">
              <a:lnSpc>
                <a:spcPts val="5540"/>
              </a:lnSpc>
              <a:buNone/>
            </a:pP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Tự</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động</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lực</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2665" dirty="0">
                <a:solidFill>
                  <a:srgbClr val="076365"/>
                </a:solidFill>
                <a:latin typeface="Roboto" panose="02000000000000000000" pitchFamily="2" charset="0"/>
                <a:ea typeface="Roboto" panose="02000000000000000000" pitchFamily="2" charset="0"/>
                <a:cs typeface="Raleway" pitchFamily="34" charset="-120"/>
              </a:rPr>
              <a:t>/</a:t>
            </a:r>
            <a:r>
              <a:rPr lang="en-US" sz="2665" dirty="0">
                <a:solidFill>
                  <a:srgbClr val="076365"/>
                </a:solidFill>
                <a:latin typeface="Raleway" pitchFamily="34" charset="0"/>
                <a:ea typeface="Roboto" panose="02000000000000000000" pitchFamily="2" charset="0"/>
                <a:cs typeface="Raleway" pitchFamily="34" charset="-120"/>
              </a:rPr>
              <a:t>Self-motivation</a:t>
            </a:r>
          </a:p>
        </p:txBody>
      </p:sp>
      <p:sp>
        <p:nvSpPr>
          <p:cNvPr id="6" name="Shape 3"/>
          <p:cNvSpPr/>
          <p:nvPr>
            <p:custDataLst>
              <p:tags r:id="rId2"/>
            </p:custDataLst>
          </p:nvPr>
        </p:nvSpPr>
        <p:spPr>
          <a:xfrm>
            <a:off x="4088130" y="1588135"/>
            <a:ext cx="3618865" cy="2695575"/>
          </a:xfrm>
          <a:prstGeom prst="roundRect">
            <a:avLst>
              <a:gd name="adj" fmla="val 3254"/>
            </a:avLst>
          </a:prstGeom>
          <a:solidFill>
            <a:srgbClr val="E1E1EA"/>
          </a:solidFill>
          <a:ln w="7620">
            <a:solidFill>
              <a:srgbClr val="C7C7D0"/>
            </a:solidFill>
            <a:prstDash val="solid"/>
          </a:ln>
        </p:spPr>
      </p:sp>
      <p:sp>
        <p:nvSpPr>
          <p:cNvPr id="7" name="Text 4"/>
          <p:cNvSpPr/>
          <p:nvPr>
            <p:custDataLst>
              <p:tags r:id="rId3"/>
            </p:custDataLst>
          </p:nvPr>
        </p:nvSpPr>
        <p:spPr>
          <a:xfrm>
            <a:off x="4291965" y="1613535"/>
            <a:ext cx="2910840" cy="360680"/>
          </a:xfrm>
          <a:prstGeom prst="rect">
            <a:avLst/>
          </a:prstGeom>
          <a:noFill/>
        </p:spPr>
        <p:txBody>
          <a:bodyPr wrap="none" rtlCol="0" anchor="t"/>
          <a:lstStyle/>
          <a:p>
            <a:pPr marL="0" indent="0">
              <a:lnSpc>
                <a:spcPts val="2770"/>
              </a:lnSpc>
              <a:buNone/>
            </a:pPr>
            <a:r>
              <a:rPr lang="en-US" sz="1500" b="1" dirty="0">
                <a:solidFill>
                  <a:srgbClr val="076365"/>
                </a:solidFill>
                <a:latin typeface="Raleway" pitchFamily="34" charset="0"/>
                <a:ea typeface="Raleway" pitchFamily="34" charset="-122"/>
                <a:cs typeface="Raleway" pitchFamily="34" charset="-120"/>
              </a:rPr>
              <a:t>ĐAM MÊ VÀ NHIỆT HUYẾT</a:t>
            </a:r>
          </a:p>
        </p:txBody>
      </p:sp>
      <p:sp>
        <p:nvSpPr>
          <p:cNvPr id="8" name="Text 5"/>
          <p:cNvSpPr/>
          <p:nvPr>
            <p:custDataLst>
              <p:tags r:id="rId4"/>
            </p:custDataLst>
          </p:nvPr>
        </p:nvSpPr>
        <p:spPr>
          <a:xfrm>
            <a:off x="4117340" y="2072005"/>
            <a:ext cx="3536315" cy="2168525"/>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Để tự động lực, bạn cần phải có một niềm đam mê mạnh mẽ đối với những gì bạn đang học và làm. Điều này sẽ giúp bạn không ngừng làm việc và cải thiện hiệu suất.</a:t>
            </a:r>
          </a:p>
        </p:txBody>
      </p:sp>
      <p:sp>
        <p:nvSpPr>
          <p:cNvPr id="9" name="Shape 6"/>
          <p:cNvSpPr/>
          <p:nvPr>
            <p:custDataLst>
              <p:tags r:id="rId5"/>
            </p:custDataLst>
          </p:nvPr>
        </p:nvSpPr>
        <p:spPr>
          <a:xfrm>
            <a:off x="8004175" y="1588135"/>
            <a:ext cx="3632200" cy="2705100"/>
          </a:xfrm>
          <a:prstGeom prst="roundRect">
            <a:avLst>
              <a:gd name="adj" fmla="val 3254"/>
            </a:avLst>
          </a:prstGeom>
          <a:solidFill>
            <a:srgbClr val="E1E1EA"/>
          </a:solidFill>
          <a:ln w="7620">
            <a:solidFill>
              <a:srgbClr val="C7C7D0"/>
            </a:solidFill>
            <a:prstDash val="solid"/>
          </a:ln>
        </p:spPr>
      </p:sp>
      <p:sp>
        <p:nvSpPr>
          <p:cNvPr id="10" name="Text 7"/>
          <p:cNvSpPr/>
          <p:nvPr>
            <p:custDataLst>
              <p:tags r:id="rId6"/>
            </p:custDataLst>
          </p:nvPr>
        </p:nvSpPr>
        <p:spPr>
          <a:xfrm>
            <a:off x="8039100" y="1645285"/>
            <a:ext cx="3472815" cy="722630"/>
          </a:xfrm>
          <a:prstGeom prst="rect">
            <a:avLst/>
          </a:prstGeom>
          <a:noFill/>
        </p:spPr>
        <p:txBody>
          <a:bodyPr wrap="square" rtlCol="0" anchor="t"/>
          <a:lstStyle/>
          <a:p>
            <a:pPr marL="0" indent="0">
              <a:lnSpc>
                <a:spcPts val="2770"/>
              </a:lnSpc>
              <a:buNone/>
            </a:pPr>
            <a:r>
              <a:rPr lang="en-US" sz="1500" b="1" dirty="0">
                <a:solidFill>
                  <a:srgbClr val="076365"/>
                </a:solidFill>
                <a:latin typeface="Raleway" pitchFamily="34" charset="0"/>
                <a:ea typeface="Raleway" pitchFamily="34" charset="-122"/>
                <a:cs typeface="Raleway" pitchFamily="34" charset="-120"/>
              </a:rPr>
              <a:t>QUẢN LÝ THỜI GIAN HIỆU QUẢ</a:t>
            </a:r>
          </a:p>
        </p:txBody>
      </p:sp>
      <p:sp>
        <p:nvSpPr>
          <p:cNvPr id="11" name="Text 8"/>
          <p:cNvSpPr/>
          <p:nvPr>
            <p:custDataLst>
              <p:tags r:id="rId7"/>
            </p:custDataLst>
          </p:nvPr>
        </p:nvSpPr>
        <p:spPr>
          <a:xfrm>
            <a:off x="8090535" y="2225040"/>
            <a:ext cx="3535045" cy="2026285"/>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Việc sắp xếp thời gian hợp lý là rất quan trọng. Hãy chia công việc thành những mục tiêu nhỏ và lập kế hoạch theo từng bước.</a:t>
            </a:r>
          </a:p>
        </p:txBody>
      </p:sp>
      <p:sp>
        <p:nvSpPr>
          <p:cNvPr id="12" name="Shape 9"/>
          <p:cNvSpPr/>
          <p:nvPr>
            <p:custDataLst>
              <p:tags r:id="rId8"/>
            </p:custDataLst>
          </p:nvPr>
        </p:nvSpPr>
        <p:spPr>
          <a:xfrm>
            <a:off x="4019550" y="4511040"/>
            <a:ext cx="7616825" cy="1794510"/>
          </a:xfrm>
          <a:prstGeom prst="roundRect">
            <a:avLst>
              <a:gd name="adj" fmla="val 6057"/>
            </a:avLst>
          </a:prstGeom>
          <a:solidFill>
            <a:srgbClr val="E1E1EA"/>
          </a:solidFill>
          <a:ln w="7620">
            <a:solidFill>
              <a:srgbClr val="C7C7D0"/>
            </a:solidFill>
            <a:prstDash val="solid"/>
          </a:ln>
        </p:spPr>
      </p:sp>
      <p:sp>
        <p:nvSpPr>
          <p:cNvPr id="13" name="Text 10"/>
          <p:cNvSpPr/>
          <p:nvPr>
            <p:custDataLst>
              <p:tags r:id="rId9"/>
            </p:custDataLst>
          </p:nvPr>
        </p:nvSpPr>
        <p:spPr>
          <a:xfrm>
            <a:off x="4896485" y="4563110"/>
            <a:ext cx="2723515" cy="360680"/>
          </a:xfrm>
          <a:prstGeom prst="rect">
            <a:avLst/>
          </a:prstGeom>
          <a:noFill/>
        </p:spPr>
        <p:txBody>
          <a:bodyPr wrap="none" rtlCol="0" anchor="t"/>
          <a:lstStyle/>
          <a:p>
            <a:pPr marL="0" indent="0">
              <a:lnSpc>
                <a:spcPts val="2770"/>
              </a:lnSpc>
              <a:buNone/>
            </a:pPr>
            <a:r>
              <a:rPr lang="en-US" sz="1500" b="1" dirty="0">
                <a:solidFill>
                  <a:srgbClr val="076365"/>
                </a:solidFill>
                <a:latin typeface="Raleway" pitchFamily="34" charset="0"/>
                <a:ea typeface="Raleway" pitchFamily="34" charset="-122"/>
                <a:cs typeface="Raleway" pitchFamily="34" charset="-120"/>
              </a:rPr>
              <a:t>THÁCH THỨC BẢN THÂN</a:t>
            </a:r>
          </a:p>
        </p:txBody>
      </p:sp>
      <p:sp>
        <p:nvSpPr>
          <p:cNvPr id="14" name="Text 11"/>
          <p:cNvSpPr/>
          <p:nvPr>
            <p:custDataLst>
              <p:tags r:id="rId10"/>
            </p:custDataLst>
          </p:nvPr>
        </p:nvSpPr>
        <p:spPr>
          <a:xfrm>
            <a:off x="4316730" y="4968240"/>
            <a:ext cx="7225030" cy="739775"/>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Không ngừng thách thức bản thân và vượt qua giới hạn của mình. Điều này sẽ giúp bạn liên tục cải thiện và đạt được nhiều thành tựu hơn.</a:t>
            </a:r>
          </a:p>
        </p:txBody>
      </p:sp>
      <p:pic>
        <p:nvPicPr>
          <p:cNvPr id="4100" name="Picture 4" descr="As A Leader, How Do You Motivate Yourself? David Paul, 53% OFF"/>
          <p:cNvPicPr>
            <a:picLocks noChangeAspect="1" noChangeArrowheads="1"/>
          </p:cNvPicPr>
          <p:nvPr>
            <p:custDataLst>
              <p:tags r:id="rId11"/>
            </p:custDataLst>
          </p:nvPr>
        </p:nvPicPr>
        <p:blipFill rotWithShape="1">
          <a:blip r:embed="rId13">
            <a:extLst>
              <a:ext uri="{28A0092B-C50C-407E-A947-70E740481C1C}">
                <a14:useLocalDpi xmlns:a14="http://schemas.microsoft.com/office/drawing/2010/main" val="0"/>
              </a:ext>
            </a:extLst>
          </a:blip>
          <a:srcRect l="17789" r="8272"/>
          <a:stretch>
            <a:fillRect/>
          </a:stretch>
        </p:blipFill>
        <p:spPr bwMode="auto">
          <a:xfrm rot="16200000">
            <a:off x="-1253490" y="1956435"/>
            <a:ext cx="6155690" cy="3648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pic>
        <p:nvPicPr>
          <p:cNvPr id="4" name="Image 0" descr="preencoded.png"/>
          <p:cNvPicPr>
            <a:picLocks noChangeAspect="1"/>
          </p:cNvPicPr>
          <p:nvPr>
            <p:custDataLst>
              <p:tags r:id="rId1"/>
            </p:custDataLst>
          </p:nvPr>
        </p:nvPicPr>
        <p:blipFill>
          <a:blip r:embed="rId13"/>
          <a:stretch>
            <a:fillRect/>
          </a:stretch>
        </p:blipFill>
        <p:spPr>
          <a:xfrm>
            <a:off x="8024495" y="720090"/>
            <a:ext cx="4117340" cy="6069965"/>
          </a:xfrm>
          <a:prstGeom prst="rect">
            <a:avLst/>
          </a:prstGeom>
        </p:spPr>
      </p:pic>
      <p:sp>
        <p:nvSpPr>
          <p:cNvPr id="5" name="Text 2"/>
          <p:cNvSpPr/>
          <p:nvPr>
            <p:custDataLst>
              <p:tags r:id="rId2"/>
            </p:custDataLst>
          </p:nvPr>
        </p:nvSpPr>
        <p:spPr>
          <a:xfrm>
            <a:off x="562610" y="741045"/>
            <a:ext cx="6307455" cy="1580515"/>
          </a:xfrm>
          <a:prstGeom prst="rect">
            <a:avLst/>
          </a:prstGeom>
          <a:noFill/>
        </p:spPr>
        <p:txBody>
          <a:bodyPr wrap="square" rtlCol="0" anchor="t"/>
          <a:lstStyle/>
          <a:p>
            <a:pPr marL="0" indent="0">
              <a:lnSpc>
                <a:spcPts val="5540"/>
              </a:lnSpc>
              <a:buNone/>
            </a:pPr>
            <a:r>
              <a:rPr lang="vi-VN" sz="4000" b="1" dirty="0">
                <a:solidFill>
                  <a:srgbClr val="0000FF"/>
                </a:solidFill>
                <a:latin typeface="Arial" panose="020B0604020202020204" pitchFamily="34" charset="0"/>
                <a:cs typeface="Arial" panose="020B0604020202020204" pitchFamily="34" charset="0"/>
              </a:rPr>
              <a:t>Cởi mở trong việc hợp tác với người khác</a:t>
            </a:r>
            <a:r>
              <a:rPr lang="en-US" sz="4000" b="1" dirty="0">
                <a:solidFill>
                  <a:srgbClr val="0000FF"/>
                </a:solidFill>
                <a:latin typeface="Arial" panose="020B0604020202020204" pitchFamily="34" charset="0"/>
                <a:cs typeface="Arial" panose="020B0604020202020204" pitchFamily="34" charset="0"/>
              </a:rPr>
              <a:t> </a:t>
            </a:r>
          </a:p>
          <a:p>
            <a:pPr marL="0" indent="0">
              <a:lnSpc>
                <a:spcPts val="5540"/>
              </a:lnSpc>
              <a:buNone/>
            </a:pPr>
            <a:endParaRPr lang="en-US" sz="4000" b="1" dirty="0">
              <a:solidFill>
                <a:srgbClr val="0000FF"/>
              </a:solidFill>
              <a:latin typeface="Arial" panose="020B0604020202020204" pitchFamily="34" charset="0"/>
              <a:cs typeface="Arial" panose="020B0604020202020204" pitchFamily="34" charset="0"/>
            </a:endParaRPr>
          </a:p>
        </p:txBody>
      </p:sp>
      <p:sp>
        <p:nvSpPr>
          <p:cNvPr id="6" name="Shape 3"/>
          <p:cNvSpPr/>
          <p:nvPr>
            <p:custDataLst>
              <p:tags r:id="rId3"/>
            </p:custDataLst>
          </p:nvPr>
        </p:nvSpPr>
        <p:spPr>
          <a:xfrm>
            <a:off x="813812" y="2829322"/>
            <a:ext cx="328117" cy="328117"/>
          </a:xfrm>
          <a:prstGeom prst="roundRect">
            <a:avLst>
              <a:gd name="adj" fmla="val 25721"/>
            </a:avLst>
          </a:prstGeom>
        </p:spPr>
        <p:style>
          <a:lnRef idx="1">
            <a:srgbClr val="5B9BD5"/>
          </a:lnRef>
          <a:fillRef idx="2">
            <a:srgbClr val="5B9BD5"/>
          </a:fillRef>
          <a:effectRef idx="1">
            <a:srgbClr val="5B9BD5"/>
          </a:effectRef>
          <a:fontRef idx="minor">
            <a:sysClr val="windowText" lastClr="000000"/>
          </a:fontRef>
        </p:style>
      </p:sp>
      <p:sp>
        <p:nvSpPr>
          <p:cNvPr id="7" name="Text 4"/>
          <p:cNvSpPr/>
          <p:nvPr>
            <p:custDataLst>
              <p:tags r:id="rId4"/>
            </p:custDataLst>
          </p:nvPr>
        </p:nvSpPr>
        <p:spPr>
          <a:xfrm>
            <a:off x="1171972" y="2756297"/>
            <a:ext cx="2344242" cy="292993"/>
          </a:xfrm>
          <a:prstGeom prst="rect">
            <a:avLst/>
          </a:prstGeom>
          <a:noFill/>
        </p:spPr>
        <p:txBody>
          <a:bodyPr wrap="none" rtlCol="0" anchor="t"/>
          <a:lstStyle/>
          <a:p>
            <a:pPr marL="0" indent="0" algn="just">
              <a:lnSpc>
                <a:spcPts val="2770"/>
              </a:lnSpc>
              <a:buNone/>
            </a:pPr>
            <a:r>
              <a:rPr lang="en-US" b="1" dirty="0">
                <a:solidFill>
                  <a:srgbClr val="076365"/>
                </a:solidFill>
                <a:latin typeface="Arial" panose="020B0604020202020204" pitchFamily="34" charset="0"/>
                <a:cs typeface="Arial" panose="020B0604020202020204" pitchFamily="34" charset="0"/>
              </a:rPr>
              <a:t>TINH THẦN HỢP TÁC</a:t>
            </a:r>
          </a:p>
        </p:txBody>
      </p:sp>
      <p:sp>
        <p:nvSpPr>
          <p:cNvPr id="8" name="Text 5"/>
          <p:cNvSpPr/>
          <p:nvPr>
            <p:custDataLst>
              <p:tags r:id="rId5"/>
            </p:custDataLst>
          </p:nvPr>
        </p:nvSpPr>
        <p:spPr>
          <a:xfrm>
            <a:off x="877570" y="3161665"/>
            <a:ext cx="3017520" cy="900430"/>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Có khả năng làm việc nhóm và chia sẻ kiến thức, kinh nghiệm với các thành viên khác.</a:t>
            </a:r>
          </a:p>
        </p:txBody>
      </p:sp>
      <p:sp>
        <p:nvSpPr>
          <p:cNvPr id="9" name="Shape 6"/>
          <p:cNvSpPr/>
          <p:nvPr>
            <p:custDataLst>
              <p:tags r:id="rId6"/>
            </p:custDataLst>
          </p:nvPr>
        </p:nvSpPr>
        <p:spPr>
          <a:xfrm>
            <a:off x="4135537" y="2850912"/>
            <a:ext cx="328117" cy="328117"/>
          </a:xfrm>
          <a:prstGeom prst="roundRect">
            <a:avLst>
              <a:gd name="adj" fmla="val 25721"/>
            </a:avLst>
          </a:prstGeom>
        </p:spPr>
        <p:style>
          <a:lnRef idx="1">
            <a:srgbClr val="5B9BD5"/>
          </a:lnRef>
          <a:fillRef idx="2">
            <a:srgbClr val="5B9BD5"/>
          </a:fillRef>
          <a:effectRef idx="1">
            <a:srgbClr val="5B9BD5"/>
          </a:effectRef>
          <a:fontRef idx="minor">
            <a:sysClr val="windowText" lastClr="000000"/>
          </a:fontRef>
        </p:style>
      </p:sp>
      <p:sp>
        <p:nvSpPr>
          <p:cNvPr id="10" name="Text 7"/>
          <p:cNvSpPr/>
          <p:nvPr>
            <p:custDataLst>
              <p:tags r:id="rId7"/>
            </p:custDataLst>
          </p:nvPr>
        </p:nvSpPr>
        <p:spPr>
          <a:xfrm>
            <a:off x="4419402" y="2756297"/>
            <a:ext cx="2344242" cy="292993"/>
          </a:xfrm>
          <a:prstGeom prst="rect">
            <a:avLst/>
          </a:prstGeom>
          <a:noFill/>
        </p:spPr>
        <p:txBody>
          <a:bodyPr wrap="none" rtlCol="0" anchor="t"/>
          <a:lstStyle/>
          <a:p>
            <a:pPr marL="0" indent="0" algn="just">
              <a:lnSpc>
                <a:spcPts val="2770"/>
              </a:lnSpc>
              <a:buNone/>
            </a:pPr>
            <a:r>
              <a:rPr lang="en-US" b="1" dirty="0">
                <a:solidFill>
                  <a:srgbClr val="076365"/>
                </a:solidFill>
                <a:latin typeface="Arial" panose="020B0604020202020204" pitchFamily="34" charset="0"/>
                <a:ea typeface="Raleway" pitchFamily="34" charset="-122"/>
                <a:cs typeface="Arial" panose="020B0604020202020204" pitchFamily="34" charset="0"/>
              </a:rPr>
              <a:t>GIAO TIẾP HIỆU QUẢ</a:t>
            </a:r>
          </a:p>
        </p:txBody>
      </p:sp>
      <p:sp>
        <p:nvSpPr>
          <p:cNvPr id="11" name="Text 8"/>
          <p:cNvSpPr/>
          <p:nvPr>
            <p:custDataLst>
              <p:tags r:id="rId8"/>
            </p:custDataLst>
          </p:nvPr>
        </p:nvSpPr>
        <p:spPr>
          <a:xfrm>
            <a:off x="4419600" y="3161665"/>
            <a:ext cx="3375025" cy="1200150"/>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Biết lắng nghe, thể hiện quan điểm của mình một cách rõ ràng, và sẵn sàng tiếp thu ý kiến từ người khác.</a:t>
            </a:r>
          </a:p>
        </p:txBody>
      </p:sp>
      <p:sp>
        <p:nvSpPr>
          <p:cNvPr id="12" name="Shape 9"/>
          <p:cNvSpPr/>
          <p:nvPr>
            <p:custDataLst>
              <p:tags r:id="rId9"/>
            </p:custDataLst>
          </p:nvPr>
        </p:nvSpPr>
        <p:spPr>
          <a:xfrm>
            <a:off x="783332" y="4983302"/>
            <a:ext cx="328117" cy="328117"/>
          </a:xfrm>
          <a:prstGeom prst="roundRect">
            <a:avLst>
              <a:gd name="adj" fmla="val 25721"/>
            </a:avLst>
          </a:prstGeom>
        </p:spPr>
        <p:style>
          <a:lnRef idx="1">
            <a:srgbClr val="5B9BD5"/>
          </a:lnRef>
          <a:fillRef idx="2">
            <a:srgbClr val="5B9BD5"/>
          </a:fillRef>
          <a:effectRef idx="1">
            <a:srgbClr val="5B9BD5"/>
          </a:effectRef>
          <a:fontRef idx="minor">
            <a:sysClr val="windowText" lastClr="000000"/>
          </a:fontRef>
        </p:style>
      </p:sp>
      <p:sp>
        <p:nvSpPr>
          <p:cNvPr id="13" name="Text 10"/>
          <p:cNvSpPr/>
          <p:nvPr>
            <p:custDataLst>
              <p:tags r:id="rId10"/>
            </p:custDataLst>
          </p:nvPr>
        </p:nvSpPr>
        <p:spPr>
          <a:xfrm>
            <a:off x="1214517" y="4918532"/>
            <a:ext cx="2344242" cy="292993"/>
          </a:xfrm>
          <a:prstGeom prst="rect">
            <a:avLst/>
          </a:prstGeom>
          <a:noFill/>
        </p:spPr>
        <p:txBody>
          <a:bodyPr wrap="none" rtlCol="0" anchor="t"/>
          <a:lstStyle/>
          <a:p>
            <a:pPr marL="0" indent="0" algn="just">
              <a:lnSpc>
                <a:spcPts val="2770"/>
              </a:lnSpc>
              <a:buNone/>
            </a:pPr>
            <a:r>
              <a:rPr lang="en-US" b="1" dirty="0">
                <a:solidFill>
                  <a:srgbClr val="076365"/>
                </a:solidFill>
                <a:latin typeface="Arial" panose="020B0604020202020204" pitchFamily="34" charset="0"/>
                <a:cs typeface="Arial" panose="020B0604020202020204" pitchFamily="34" charset="0"/>
              </a:rPr>
              <a:t>SẴN SÀNG CHIA SẺ</a:t>
            </a:r>
          </a:p>
        </p:txBody>
      </p:sp>
      <p:sp>
        <p:nvSpPr>
          <p:cNvPr id="14" name="Text 11"/>
          <p:cNvSpPr/>
          <p:nvPr>
            <p:custDataLst>
              <p:tags r:id="rId11"/>
            </p:custDataLst>
          </p:nvPr>
        </p:nvSpPr>
        <p:spPr>
          <a:xfrm>
            <a:off x="1183005" y="5386705"/>
            <a:ext cx="6106795" cy="600075"/>
          </a:xfrm>
          <a:prstGeom prst="rect">
            <a:avLst/>
          </a:prstGeom>
          <a:noFill/>
        </p:spPr>
        <p:txBody>
          <a:bodyPr wrap="square" rtlCol="0" anchor="t"/>
          <a:lstStyle/>
          <a:p>
            <a:pPr marL="0" indent="0" algn="just">
              <a:lnSpc>
                <a:spcPts val="2835"/>
              </a:lnSpc>
              <a:buNone/>
            </a:pPr>
            <a:r>
              <a:rPr lang="en-US" dirty="0">
                <a:solidFill>
                  <a:srgbClr val="076365"/>
                </a:solidFill>
                <a:latin typeface="Arial" panose="020B0604020202020204" pitchFamily="34" charset="0"/>
                <a:ea typeface="Roboto" pitchFamily="34" charset="-122"/>
                <a:cs typeface="Arial" panose="020B0604020202020204" pitchFamily="34" charset="0"/>
              </a:rPr>
              <a:t>Sẵn sàng chia sẻ tài nguyên, hỗ trợ đồng đội và cùng nhau hoàn thành mục tiêu chung.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pic>
        <p:nvPicPr>
          <p:cNvPr id="6" name="Image 1" descr="preencoded.png"/>
          <p:cNvPicPr>
            <a:picLocks noChangeAspect="1"/>
          </p:cNvPicPr>
          <p:nvPr>
            <p:custDataLst>
              <p:tags r:id="rId1"/>
            </p:custDataLst>
          </p:nvPr>
        </p:nvPicPr>
        <p:blipFill>
          <a:blip r:embed="rId13"/>
          <a:stretch>
            <a:fillRect/>
          </a:stretch>
        </p:blipFill>
        <p:spPr>
          <a:xfrm>
            <a:off x="4192495" y="2363855"/>
            <a:ext cx="468808" cy="468808"/>
          </a:xfrm>
          <a:prstGeom prst="rect">
            <a:avLst/>
          </a:prstGeom>
        </p:spPr>
      </p:pic>
      <p:sp>
        <p:nvSpPr>
          <p:cNvPr id="7" name="Text 3"/>
          <p:cNvSpPr/>
          <p:nvPr>
            <p:custDataLst>
              <p:tags r:id="rId2"/>
            </p:custDataLst>
          </p:nvPr>
        </p:nvSpPr>
        <p:spPr>
          <a:xfrm>
            <a:off x="4712591" y="2451763"/>
            <a:ext cx="2344242"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TỰ TƯ DUY</a:t>
            </a:r>
          </a:p>
        </p:txBody>
      </p:sp>
      <p:sp>
        <p:nvSpPr>
          <p:cNvPr id="8" name="Text 4"/>
          <p:cNvSpPr/>
          <p:nvPr>
            <p:custDataLst>
              <p:tags r:id="rId3"/>
            </p:custDataLst>
          </p:nvPr>
        </p:nvSpPr>
        <p:spPr>
          <a:xfrm>
            <a:off x="4712591" y="2844375"/>
            <a:ext cx="7431368" cy="900113"/>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Một sinh viên tự lập cần có khả năng tư duy độc lập, không chỉ dựa vào sự chỉ dẫn của người khác. Bạn phải biết cách phân tích và giải quyết vấn đề một cách sáng tạo.</a:t>
            </a:r>
          </a:p>
        </p:txBody>
      </p:sp>
      <p:pic>
        <p:nvPicPr>
          <p:cNvPr id="9" name="Image 2" descr="preencoded.png"/>
          <p:cNvPicPr>
            <a:picLocks noChangeAspect="1"/>
          </p:cNvPicPr>
          <p:nvPr>
            <p:custDataLst>
              <p:tags r:id="rId4"/>
            </p:custDataLst>
          </p:nvPr>
        </p:nvPicPr>
        <p:blipFill>
          <a:blip r:embed="rId14"/>
          <a:stretch>
            <a:fillRect/>
          </a:stretch>
        </p:blipFill>
        <p:spPr>
          <a:xfrm>
            <a:off x="4220126" y="3935083"/>
            <a:ext cx="468808" cy="468808"/>
          </a:xfrm>
          <a:prstGeom prst="rect">
            <a:avLst/>
          </a:prstGeom>
        </p:spPr>
      </p:pic>
      <p:sp>
        <p:nvSpPr>
          <p:cNvPr id="10" name="Text 5"/>
          <p:cNvSpPr/>
          <p:nvPr>
            <p:custDataLst>
              <p:tags r:id="rId5"/>
            </p:custDataLst>
          </p:nvPr>
        </p:nvSpPr>
        <p:spPr>
          <a:xfrm>
            <a:off x="4712591" y="3959288"/>
            <a:ext cx="2344242"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GIẢI QUYẾT VẤN ĐỀ</a:t>
            </a:r>
          </a:p>
        </p:txBody>
      </p:sp>
      <p:sp>
        <p:nvSpPr>
          <p:cNvPr id="11" name="Text 6"/>
          <p:cNvSpPr/>
          <p:nvPr>
            <p:custDataLst>
              <p:tags r:id="rId6"/>
            </p:custDataLst>
          </p:nvPr>
        </p:nvSpPr>
        <p:spPr>
          <a:xfrm>
            <a:off x="4687120" y="4408374"/>
            <a:ext cx="7533039" cy="900113"/>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Thay vì chỉ đội lốt người khác, hãy luôn tìm cách tự mình tìm ra giải pháp. Bạn cần rèn luyện kỹ năng đặt câu hỏi, tìm kiếm thông tin và đưa ra quyết định phù hợp.</a:t>
            </a:r>
          </a:p>
        </p:txBody>
      </p:sp>
      <p:pic>
        <p:nvPicPr>
          <p:cNvPr id="12" name="Image 3" descr="preencoded.png"/>
          <p:cNvPicPr>
            <a:picLocks noChangeAspect="1"/>
          </p:cNvPicPr>
          <p:nvPr>
            <p:custDataLst>
              <p:tags r:id="rId7"/>
            </p:custDataLst>
          </p:nvPr>
        </p:nvPicPr>
        <p:blipFill>
          <a:blip r:embed="rId15"/>
          <a:stretch>
            <a:fillRect/>
          </a:stretch>
        </p:blipFill>
        <p:spPr>
          <a:xfrm>
            <a:off x="4218312" y="5415341"/>
            <a:ext cx="468808" cy="468808"/>
          </a:xfrm>
          <a:prstGeom prst="rect">
            <a:avLst/>
          </a:prstGeom>
        </p:spPr>
      </p:pic>
      <p:sp>
        <p:nvSpPr>
          <p:cNvPr id="13" name="Text 7"/>
          <p:cNvSpPr/>
          <p:nvPr>
            <p:custDataLst>
              <p:tags r:id="rId8"/>
            </p:custDataLst>
          </p:nvPr>
        </p:nvSpPr>
        <p:spPr>
          <a:xfrm>
            <a:off x="4767678" y="5510630"/>
            <a:ext cx="2344242"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TỰ HỌC</a:t>
            </a:r>
          </a:p>
        </p:txBody>
      </p:sp>
      <p:sp>
        <p:nvSpPr>
          <p:cNvPr id="14" name="Text 8"/>
          <p:cNvSpPr/>
          <p:nvPr>
            <p:custDataLst>
              <p:tags r:id="rId9"/>
            </p:custDataLst>
          </p:nvPr>
        </p:nvSpPr>
        <p:spPr>
          <a:xfrm>
            <a:off x="4767678" y="5930149"/>
            <a:ext cx="7198716" cy="900113"/>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Không chờ đợi người khác chỉ dẫn, hãy chủ động tìm hiểu và học hỏi thêm. Bạn nên biết cách sử dụng các nguồn tài liệu, công cụ đa dạng để tự mình mở rộng kiến thức.</a:t>
            </a:r>
          </a:p>
        </p:txBody>
      </p:sp>
      <p:pic>
        <p:nvPicPr>
          <p:cNvPr id="1026" name="Picture 2" descr="Top 10 Motivational Books to read in 2024"/>
          <p:cNvPicPr>
            <a:picLocks noChangeAspect="1" noChangeArrowheads="1"/>
          </p:cNvPicPr>
          <p:nvPr>
            <p:custDataLst>
              <p:tags r:id="rId10"/>
            </p:custDataLst>
          </p:nvPr>
        </p:nvPicPr>
        <p:blipFill rotWithShape="1">
          <a:blip r:embed="rId16">
            <a:extLst>
              <a:ext uri="{28A0092B-C50C-407E-A947-70E740481C1C}">
                <a14:useLocalDpi xmlns:a14="http://schemas.microsoft.com/office/drawing/2010/main" val="0"/>
              </a:ext>
            </a:extLst>
          </a:blip>
          <a:srcRect l="36188" t="3412" r="33838" b="-644"/>
          <a:stretch>
            <a:fillRect/>
          </a:stretch>
        </p:blipFill>
        <p:spPr bwMode="auto">
          <a:xfrm>
            <a:off x="22225" y="702945"/>
            <a:ext cx="3459480" cy="6192520"/>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
          <p:cNvSpPr/>
          <p:nvPr>
            <p:custDataLst>
              <p:tags r:id="rId11"/>
            </p:custDataLst>
          </p:nvPr>
        </p:nvSpPr>
        <p:spPr>
          <a:xfrm>
            <a:off x="4220126" y="658905"/>
            <a:ext cx="7533039" cy="1896123"/>
          </a:xfrm>
          <a:prstGeom prst="rect">
            <a:avLst/>
          </a:prstGeom>
          <a:noFill/>
        </p:spPr>
        <p:txBody>
          <a:bodyPr wrap="square" rtlCol="0" anchor="t"/>
          <a:lstStyle/>
          <a:p>
            <a:pPr>
              <a:lnSpc>
                <a:spcPts val="5540"/>
              </a:lnSpc>
            </a:pPr>
            <a:r>
              <a:rPr lang="vi-VN" sz="4000" b="1" dirty="0">
                <a:solidFill>
                  <a:srgbClr val="0000FF"/>
                </a:solidFill>
              </a:rPr>
              <a:t>Khả năng tự tìm ra giải pháp</a:t>
            </a:r>
            <a:endParaRPr lang="en-US" sz="4000" b="1" dirty="0">
              <a:solidFill>
                <a:srgbClr val="0000FF"/>
              </a:solidFill>
            </a:endParaRPr>
          </a:p>
          <a:p>
            <a:pPr>
              <a:lnSpc>
                <a:spcPts val="5540"/>
              </a:lnSpc>
            </a:pPr>
            <a:r>
              <a:rPr lang="en-US" sz="2665" dirty="0">
                <a:solidFill>
                  <a:srgbClr val="076365"/>
                </a:solidFill>
                <a:latin typeface="Raleway" pitchFamily="34" charset="0"/>
                <a:ea typeface="Raleway" pitchFamily="34" charset="-122"/>
                <a:cs typeface="Raleway" pitchFamily="34" charset="-120"/>
              </a:rPr>
              <a:t>/Ability to Work Things Out for Yourself</a:t>
            </a:r>
            <a:endParaRPr lang="en-US" sz="2665" dirty="0">
              <a:solidFill>
                <a:srgbClr val="076365"/>
              </a:solidFill>
            </a:endParaRPr>
          </a:p>
          <a:p>
            <a:pPr marL="0" indent="0">
              <a:lnSpc>
                <a:spcPts val="5540"/>
              </a:lnSpc>
              <a:buNone/>
            </a:pPr>
            <a:endParaRPr lang="en-US" sz="2665" dirty="0">
              <a:solidFill>
                <a:srgbClr val="07636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sp>
        <p:nvSpPr>
          <p:cNvPr id="4" name="Text 2"/>
          <p:cNvSpPr/>
          <p:nvPr>
            <p:custDataLst>
              <p:tags r:id="rId1"/>
            </p:custDataLst>
          </p:nvPr>
        </p:nvSpPr>
        <p:spPr>
          <a:xfrm>
            <a:off x="624582" y="921048"/>
            <a:ext cx="10929938" cy="1172170"/>
          </a:xfrm>
          <a:prstGeom prst="rect">
            <a:avLst/>
          </a:prstGeom>
          <a:noFill/>
        </p:spPr>
        <p:txBody>
          <a:bodyPr wrap="square" rtlCol="0" anchor="t"/>
          <a:lstStyle/>
          <a:p>
            <a:pPr marL="0" indent="0">
              <a:lnSpc>
                <a:spcPts val="5540"/>
              </a:lnSpc>
              <a:buNone/>
            </a:pPr>
            <a:r>
              <a:rPr lang="en-US" sz="3690" b="1" smtClean="0">
                <a:solidFill>
                  <a:srgbClr val="0000FF"/>
                </a:solidFill>
                <a:latin typeface="Arial" panose="020B0604020202020204" pitchFamily="34" charset="0"/>
                <a:ea typeface="Roboto" panose="02000000000000000000" pitchFamily="2" charset="0"/>
                <a:cs typeface="Arial" panose="020B0604020202020204" pitchFamily="34" charset="0"/>
              </a:rPr>
              <a:t>Khả năng đặt mục tiêu để cải thiện công việc học tập </a:t>
            </a:r>
            <a:r>
              <a:rPr lang="en-US" sz="2665" smtClean="0">
                <a:solidFill>
                  <a:srgbClr val="076365"/>
                </a:solidFill>
                <a:latin typeface="Raleway" pitchFamily="34" charset="0"/>
                <a:ea typeface="Raleway" pitchFamily="34" charset="-122"/>
                <a:cs typeface="Raleway" pitchFamily="34" charset="-120"/>
              </a:rPr>
              <a:t>/Ability to set goals to improve your work</a:t>
            </a:r>
            <a:endParaRPr lang="en-US" sz="2665" dirty="0">
              <a:solidFill>
                <a:srgbClr val="076365"/>
              </a:solidFill>
              <a:latin typeface="Raleway" pitchFamily="34" charset="0"/>
              <a:ea typeface="Raleway" pitchFamily="34" charset="-122"/>
              <a:cs typeface="Raleway" pitchFamily="34" charset="-120"/>
            </a:endParaRPr>
          </a:p>
        </p:txBody>
      </p:sp>
      <p:sp>
        <p:nvSpPr>
          <p:cNvPr id="5" name="Text 3"/>
          <p:cNvSpPr/>
          <p:nvPr>
            <p:custDataLst>
              <p:tags r:id="rId2"/>
            </p:custDataLst>
          </p:nvPr>
        </p:nvSpPr>
        <p:spPr>
          <a:xfrm>
            <a:off x="656332" y="3148112"/>
            <a:ext cx="2376587" cy="585986"/>
          </a:xfrm>
          <a:prstGeom prst="rect">
            <a:avLst/>
          </a:prstGeom>
          <a:noFill/>
        </p:spPr>
        <p:txBody>
          <a:bodyPr wrap="squar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XÁC ĐỊNH MỤC TIÊU CỤ THỂ</a:t>
            </a:r>
          </a:p>
        </p:txBody>
      </p:sp>
      <p:sp>
        <p:nvSpPr>
          <p:cNvPr id="6" name="Text 4"/>
          <p:cNvSpPr/>
          <p:nvPr>
            <p:custDataLst>
              <p:tags r:id="rId3"/>
            </p:custDataLst>
          </p:nvPr>
        </p:nvSpPr>
        <p:spPr>
          <a:xfrm>
            <a:off x="624582" y="4163556"/>
            <a:ext cx="2376587" cy="180022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Hãy xác định các mục tiêu học tập rõ ràng và có thể đo lường, ví dụ như cải thiện điểm số môn toán lên 8.0 hoặc đọc 5 cuốn sách trong kỳ nghỉ hè.</a:t>
            </a:r>
          </a:p>
        </p:txBody>
      </p:sp>
      <p:sp>
        <p:nvSpPr>
          <p:cNvPr id="7" name="Text 5"/>
          <p:cNvSpPr/>
          <p:nvPr>
            <p:custDataLst>
              <p:tags r:id="rId4"/>
            </p:custDataLst>
          </p:nvPr>
        </p:nvSpPr>
        <p:spPr>
          <a:xfrm>
            <a:off x="3496866" y="3148112"/>
            <a:ext cx="2376587" cy="585986"/>
          </a:xfrm>
          <a:prstGeom prst="rect">
            <a:avLst/>
          </a:prstGeom>
          <a:noFill/>
        </p:spPr>
        <p:txBody>
          <a:bodyPr wrap="squar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THIẾT LẬP MỤC TIÊU THÁCH THỨC</a:t>
            </a:r>
          </a:p>
        </p:txBody>
      </p:sp>
      <p:sp>
        <p:nvSpPr>
          <p:cNvPr id="8" name="Text 6"/>
          <p:cNvSpPr/>
          <p:nvPr>
            <p:custDataLst>
              <p:tags r:id="rId5"/>
            </p:custDataLst>
          </p:nvPr>
        </p:nvSpPr>
        <p:spPr>
          <a:xfrm>
            <a:off x="3486706" y="4121011"/>
            <a:ext cx="2376587" cy="1500188"/>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Các mục tiêu cần phải vừa đủ thách thức để thúc đẩy bạn phát triển, nhưng vẫn có thể đạt được nếu nỗ lực hết mình.</a:t>
            </a:r>
          </a:p>
        </p:txBody>
      </p:sp>
      <p:sp>
        <p:nvSpPr>
          <p:cNvPr id="9" name="Text 7"/>
          <p:cNvSpPr/>
          <p:nvPr>
            <p:custDataLst>
              <p:tags r:id="rId6"/>
            </p:custDataLst>
          </p:nvPr>
        </p:nvSpPr>
        <p:spPr>
          <a:xfrm>
            <a:off x="6337399" y="3148112"/>
            <a:ext cx="2376587" cy="585986"/>
          </a:xfrm>
          <a:prstGeom prst="rect">
            <a:avLst/>
          </a:prstGeom>
          <a:noFill/>
        </p:spPr>
        <p:txBody>
          <a:bodyPr wrap="squar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LẬP KẾ HOẠCH HÀNH ĐỘNG</a:t>
            </a:r>
          </a:p>
        </p:txBody>
      </p:sp>
      <p:sp>
        <p:nvSpPr>
          <p:cNvPr id="10" name="Text 8"/>
          <p:cNvSpPr/>
          <p:nvPr>
            <p:custDataLst>
              <p:tags r:id="rId7"/>
            </p:custDataLst>
          </p:nvPr>
        </p:nvSpPr>
        <p:spPr>
          <a:xfrm>
            <a:off x="6305649" y="4079101"/>
            <a:ext cx="2376587" cy="1500188"/>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Xây dựng một kế hoạch cụ thể để đạt được các mục tiêu, bao gồm các bước trung gian và thời hạn hoàn thành.</a:t>
            </a:r>
          </a:p>
        </p:txBody>
      </p:sp>
      <p:sp>
        <p:nvSpPr>
          <p:cNvPr id="11" name="Text 9"/>
          <p:cNvSpPr/>
          <p:nvPr>
            <p:custDataLst>
              <p:tags r:id="rId8"/>
            </p:custDataLst>
          </p:nvPr>
        </p:nvSpPr>
        <p:spPr>
          <a:xfrm>
            <a:off x="9177933" y="3148112"/>
            <a:ext cx="2376587" cy="585986"/>
          </a:xfrm>
          <a:prstGeom prst="rect">
            <a:avLst/>
          </a:prstGeom>
          <a:noFill/>
        </p:spPr>
        <p:txBody>
          <a:bodyPr wrap="squar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ĐÁNH GIÁ VÀ ĐIỀU CHỈNH</a:t>
            </a:r>
          </a:p>
        </p:txBody>
      </p:sp>
      <p:sp>
        <p:nvSpPr>
          <p:cNvPr id="12" name="Text 10"/>
          <p:cNvSpPr/>
          <p:nvPr>
            <p:custDataLst>
              <p:tags r:id="rId9"/>
            </p:custDataLst>
          </p:nvPr>
        </p:nvSpPr>
        <p:spPr>
          <a:xfrm>
            <a:off x="9177933" y="4047986"/>
            <a:ext cx="2376587" cy="1500188"/>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Thường xuyên xem xét tiến độ và điều chỉnh mục tiêu nếu cần, để đảm bảo bạn luôn hướng đến sự cải thiện liên tục.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pic>
        <p:nvPicPr>
          <p:cNvPr id="4" name="Image 0" descr="preencoded.png"/>
          <p:cNvPicPr>
            <a:picLocks noChangeAspect="1"/>
          </p:cNvPicPr>
          <p:nvPr>
            <p:custDataLst>
              <p:tags r:id="rId1"/>
            </p:custDataLst>
          </p:nvPr>
        </p:nvPicPr>
        <p:blipFill>
          <a:blip r:embed="rId13"/>
          <a:stretch>
            <a:fillRect/>
          </a:stretch>
        </p:blipFill>
        <p:spPr>
          <a:xfrm>
            <a:off x="8056245" y="741045"/>
            <a:ext cx="4075430" cy="6113145"/>
          </a:xfrm>
          <a:prstGeom prst="rect">
            <a:avLst/>
          </a:prstGeom>
        </p:spPr>
      </p:pic>
      <p:sp>
        <p:nvSpPr>
          <p:cNvPr id="5" name="Text 2"/>
          <p:cNvSpPr/>
          <p:nvPr>
            <p:custDataLst>
              <p:tags r:id="rId2"/>
            </p:custDataLst>
          </p:nvPr>
        </p:nvSpPr>
        <p:spPr>
          <a:xfrm>
            <a:off x="732234" y="776813"/>
            <a:ext cx="5709643" cy="586085"/>
          </a:xfrm>
          <a:prstGeom prst="rect">
            <a:avLst/>
          </a:prstGeom>
          <a:noFill/>
        </p:spPr>
        <p:txBody>
          <a:bodyPr wrap="none" rtlCol="0" anchor="t"/>
          <a:lstStyle/>
          <a:p>
            <a:pPr marL="0" indent="0">
              <a:lnSpc>
                <a:spcPts val="5540"/>
              </a:lnSpc>
              <a:buNone/>
            </a:pP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Khả năng quản lý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thời</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gian</a:t>
            </a:r>
            <a:endPar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endParaRPr>
          </a:p>
          <a:p>
            <a:pPr marL="0" indent="0">
              <a:lnSpc>
                <a:spcPts val="5540"/>
              </a:lnSpc>
              <a:buNone/>
            </a:pPr>
            <a:r>
              <a:rPr lang="en-US" sz="2665" dirty="0">
                <a:solidFill>
                  <a:srgbClr val="076365"/>
                </a:solidFill>
                <a:latin typeface="Raleway" pitchFamily="34" charset="0"/>
                <a:ea typeface="Roboto" panose="02000000000000000000" pitchFamily="2" charset="0"/>
                <a:cs typeface="Raleway" pitchFamily="34" charset="-120"/>
              </a:rPr>
              <a:t>Ability to organize your time</a:t>
            </a:r>
          </a:p>
          <a:p>
            <a:pPr marL="0" indent="0">
              <a:lnSpc>
                <a:spcPts val="5540"/>
              </a:lnSpc>
              <a:buNone/>
            </a:pPr>
            <a:endParaRPr lang="en-US" sz="2665" b="1" dirty="0">
              <a:solidFill>
                <a:srgbClr val="076365"/>
              </a:solidFill>
              <a:latin typeface="Raleway" pitchFamily="34" charset="0"/>
              <a:ea typeface="Roboto" panose="02000000000000000000" pitchFamily="2" charset="0"/>
              <a:cs typeface="Raleway" pitchFamily="34" charset="-120"/>
            </a:endParaRPr>
          </a:p>
        </p:txBody>
      </p:sp>
      <p:sp>
        <p:nvSpPr>
          <p:cNvPr id="6" name="Shape 3"/>
          <p:cNvSpPr/>
          <p:nvPr>
            <p:custDataLst>
              <p:tags r:id="rId3"/>
            </p:custDataLst>
          </p:nvPr>
        </p:nvSpPr>
        <p:spPr>
          <a:xfrm>
            <a:off x="656590" y="2400935"/>
            <a:ext cx="3060065" cy="2110105"/>
          </a:xfrm>
          <a:prstGeom prst="roundRect">
            <a:avLst>
              <a:gd name="adj" fmla="val 4234"/>
            </a:avLst>
          </a:prstGeom>
          <a:solidFill>
            <a:srgbClr val="E1E1EA"/>
          </a:solidFill>
          <a:ln w="7620">
            <a:solidFill>
              <a:srgbClr val="C7C7D0"/>
            </a:solidFill>
            <a:prstDash val="solid"/>
          </a:ln>
        </p:spPr>
      </p:sp>
      <p:sp>
        <p:nvSpPr>
          <p:cNvPr id="7" name="Text 4"/>
          <p:cNvSpPr/>
          <p:nvPr>
            <p:custDataLst>
              <p:tags r:id="rId4"/>
            </p:custDataLst>
          </p:nvPr>
        </p:nvSpPr>
        <p:spPr>
          <a:xfrm>
            <a:off x="850206" y="2594551"/>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THIẾT LẬP MỤC TIÊU</a:t>
            </a:r>
          </a:p>
        </p:txBody>
      </p:sp>
      <p:sp>
        <p:nvSpPr>
          <p:cNvPr id="8" name="Text 5"/>
          <p:cNvSpPr/>
          <p:nvPr>
            <p:custDataLst>
              <p:tags r:id="rId5"/>
            </p:custDataLst>
          </p:nvPr>
        </p:nvSpPr>
        <p:spPr>
          <a:xfrm>
            <a:off x="850206" y="3000058"/>
            <a:ext cx="2672159" cy="1200150"/>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Đặt ra các mục tiêu cụ thể và thời hạn để hoàn thành công việc giúp bạn tổ chức thời gian một cách hiệu quả hơn.</a:t>
            </a:r>
          </a:p>
        </p:txBody>
      </p:sp>
      <p:sp>
        <p:nvSpPr>
          <p:cNvPr id="9" name="Shape 6"/>
          <p:cNvSpPr/>
          <p:nvPr>
            <p:custDataLst>
              <p:tags r:id="rId6"/>
            </p:custDataLst>
          </p:nvPr>
        </p:nvSpPr>
        <p:spPr>
          <a:xfrm>
            <a:off x="3903980" y="2400935"/>
            <a:ext cx="3060065" cy="2120265"/>
          </a:xfrm>
          <a:prstGeom prst="roundRect">
            <a:avLst>
              <a:gd name="adj" fmla="val 4234"/>
            </a:avLst>
          </a:prstGeom>
          <a:solidFill>
            <a:srgbClr val="E1E1EA"/>
          </a:solidFill>
          <a:ln w="7620">
            <a:solidFill>
              <a:srgbClr val="C7C7D0"/>
            </a:solidFill>
            <a:prstDash val="solid"/>
          </a:ln>
        </p:spPr>
      </p:sp>
      <p:sp>
        <p:nvSpPr>
          <p:cNvPr id="10" name="Text 7"/>
          <p:cNvSpPr/>
          <p:nvPr>
            <p:custDataLst>
              <p:tags r:id="rId7"/>
            </p:custDataLst>
          </p:nvPr>
        </p:nvSpPr>
        <p:spPr>
          <a:xfrm>
            <a:off x="4097635" y="2594551"/>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LẬP KẾ HOẠCH</a:t>
            </a:r>
          </a:p>
        </p:txBody>
      </p:sp>
      <p:sp>
        <p:nvSpPr>
          <p:cNvPr id="11" name="Text 8"/>
          <p:cNvSpPr/>
          <p:nvPr>
            <p:custDataLst>
              <p:tags r:id="rId8"/>
            </p:custDataLst>
          </p:nvPr>
        </p:nvSpPr>
        <p:spPr>
          <a:xfrm>
            <a:off x="4097635" y="3000058"/>
            <a:ext cx="2672159" cy="1200150"/>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Lập kế hoạch chi tiết cho từng ngày, tuần và tháng giúp bạn quản lý thời gian linh hoạt và không bị bất ngờ.</a:t>
            </a:r>
          </a:p>
        </p:txBody>
      </p:sp>
      <p:sp>
        <p:nvSpPr>
          <p:cNvPr id="12" name="Shape 9"/>
          <p:cNvSpPr/>
          <p:nvPr>
            <p:custDataLst>
              <p:tags r:id="rId9"/>
            </p:custDataLst>
          </p:nvPr>
        </p:nvSpPr>
        <p:spPr>
          <a:xfrm>
            <a:off x="656332" y="4754324"/>
            <a:ext cx="6307336" cy="1393329"/>
          </a:xfrm>
          <a:prstGeom prst="roundRect">
            <a:avLst>
              <a:gd name="adj" fmla="val 6057"/>
            </a:avLst>
          </a:prstGeom>
          <a:solidFill>
            <a:srgbClr val="E1E1EA"/>
          </a:solidFill>
          <a:ln w="7620">
            <a:solidFill>
              <a:srgbClr val="C7C7D0"/>
            </a:solidFill>
            <a:prstDash val="solid"/>
          </a:ln>
        </p:spPr>
      </p:sp>
      <p:sp>
        <p:nvSpPr>
          <p:cNvPr id="13" name="Text 10"/>
          <p:cNvSpPr/>
          <p:nvPr>
            <p:custDataLst>
              <p:tags r:id="rId10"/>
            </p:custDataLst>
          </p:nvPr>
        </p:nvSpPr>
        <p:spPr>
          <a:xfrm>
            <a:off x="850206" y="4775478"/>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ƯU TIÊN HÓA</a:t>
            </a:r>
          </a:p>
        </p:txBody>
      </p:sp>
      <p:sp>
        <p:nvSpPr>
          <p:cNvPr id="14" name="Text 11"/>
          <p:cNvSpPr/>
          <p:nvPr>
            <p:custDataLst>
              <p:tags r:id="rId11"/>
            </p:custDataLst>
          </p:nvPr>
        </p:nvSpPr>
        <p:spPr>
          <a:xfrm>
            <a:off x="850206" y="5180985"/>
            <a:ext cx="5919589" cy="60007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Nhận diện những việc quan trọng và cấp bách, sau đó sắp xếp thứ tự ưu tiên để làm việc hiệu quả hơn.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1.2. Những kỳ vọng đối với một sinh viên Đại học</a:t>
            </a:r>
            <a:endParaRPr lang="en-US" sz="2665">
              <a:latin typeface="Arial" panose="020B0604020202020204" pitchFamily="34" charset="0"/>
              <a:cs typeface="Arial" panose="020B0604020202020204" pitchFamily="34" charset="0"/>
            </a:endParaRPr>
          </a:p>
        </p:txBody>
      </p:sp>
      <p:sp>
        <p:nvSpPr>
          <p:cNvPr id="5" name="Text 2"/>
          <p:cNvSpPr/>
          <p:nvPr>
            <p:custDataLst>
              <p:tags r:id="rId1"/>
            </p:custDataLst>
          </p:nvPr>
        </p:nvSpPr>
        <p:spPr>
          <a:xfrm>
            <a:off x="846832" y="783035"/>
            <a:ext cx="5823148" cy="1322188"/>
          </a:xfrm>
          <a:prstGeom prst="rect">
            <a:avLst/>
          </a:prstGeom>
          <a:noFill/>
        </p:spPr>
        <p:txBody>
          <a:bodyPr wrap="none" rtlCol="0" anchor="t"/>
          <a:lstStyle/>
          <a:p>
            <a:pPr marL="0" indent="0">
              <a:lnSpc>
                <a:spcPts val="5540"/>
              </a:lnSpc>
              <a:buNone/>
            </a:pP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Hiểu cách bạn học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tốt</a:t>
            </a:r>
            <a:r>
              <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rPr>
              <a:t> </a:t>
            </a:r>
            <a:r>
              <a:rPr lang="en-US" sz="3690" b="1" dirty="0" err="1">
                <a:solidFill>
                  <a:srgbClr val="0000FF"/>
                </a:solidFill>
                <a:latin typeface="Arial" panose="020B0604020202020204" pitchFamily="34" charset="0"/>
                <a:ea typeface="Roboto" panose="02000000000000000000" pitchFamily="2" charset="0"/>
                <a:cs typeface="Arial" panose="020B0604020202020204" pitchFamily="34" charset="0"/>
              </a:rPr>
              <a:t>nhất</a:t>
            </a:r>
            <a:endParaRPr lang="en-US" sz="3690" b="1" dirty="0">
              <a:solidFill>
                <a:srgbClr val="0000FF"/>
              </a:solidFill>
              <a:latin typeface="Arial" panose="020B0604020202020204" pitchFamily="34" charset="0"/>
              <a:ea typeface="Roboto" panose="02000000000000000000" pitchFamily="2" charset="0"/>
              <a:cs typeface="Arial" panose="020B0604020202020204" pitchFamily="34" charset="0"/>
            </a:endParaRPr>
          </a:p>
          <a:p>
            <a:pPr marL="0" indent="0">
              <a:lnSpc>
                <a:spcPts val="5540"/>
              </a:lnSpc>
              <a:buNone/>
            </a:pPr>
            <a:r>
              <a:rPr lang="en-US" sz="2665" dirty="0">
                <a:solidFill>
                  <a:srgbClr val="076365"/>
                </a:solidFill>
                <a:latin typeface="Raleway" pitchFamily="34" charset="0"/>
              </a:rPr>
              <a:t>Ability to work out when and how you learn best</a:t>
            </a:r>
          </a:p>
        </p:txBody>
      </p:sp>
      <p:sp>
        <p:nvSpPr>
          <p:cNvPr id="6" name="Shape 3"/>
          <p:cNvSpPr/>
          <p:nvPr>
            <p:custDataLst>
              <p:tags r:id="rId2"/>
            </p:custDataLst>
          </p:nvPr>
        </p:nvSpPr>
        <p:spPr>
          <a:xfrm>
            <a:off x="4805533" y="2619158"/>
            <a:ext cx="328117" cy="328117"/>
          </a:xfrm>
          <a:prstGeom prst="roundRect">
            <a:avLst>
              <a:gd name="adj" fmla="val 25721"/>
            </a:avLst>
          </a:prstGeom>
        </p:spPr>
        <p:style>
          <a:lnRef idx="1">
            <a:srgbClr val="5B9BD5"/>
          </a:lnRef>
          <a:fillRef idx="2">
            <a:srgbClr val="5B9BD5"/>
          </a:fillRef>
          <a:effectRef idx="1">
            <a:srgbClr val="5B9BD5"/>
          </a:effectRef>
          <a:fontRef idx="minor">
            <a:sysClr val="windowText" lastClr="000000"/>
          </a:fontRef>
        </p:style>
      </p:sp>
      <p:sp>
        <p:nvSpPr>
          <p:cNvPr id="7" name="Text 4"/>
          <p:cNvSpPr/>
          <p:nvPr>
            <p:custDataLst>
              <p:tags r:id="rId3"/>
            </p:custDataLst>
          </p:nvPr>
        </p:nvSpPr>
        <p:spPr>
          <a:xfrm>
            <a:off x="5089398" y="2535338"/>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QUAN SÁT BẢN THÂN</a:t>
            </a:r>
          </a:p>
        </p:txBody>
      </p:sp>
      <p:sp>
        <p:nvSpPr>
          <p:cNvPr id="8" name="Text 5"/>
          <p:cNvSpPr/>
          <p:nvPr>
            <p:custDataLst>
              <p:tags r:id="rId4"/>
            </p:custDataLst>
          </p:nvPr>
        </p:nvSpPr>
        <p:spPr>
          <a:xfrm>
            <a:off x="5089398" y="2940844"/>
            <a:ext cx="2544267" cy="1500188"/>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Quan sát những lúc bạn tập trung nhất và hiệu quả nhất khi học tập. Điều này sẽ giúp bạn xác định thời điểm lý tưởng để học.</a:t>
            </a:r>
          </a:p>
        </p:txBody>
      </p:sp>
      <p:sp>
        <p:nvSpPr>
          <p:cNvPr id="9" name="Shape 6"/>
          <p:cNvSpPr/>
          <p:nvPr>
            <p:custDataLst>
              <p:tags r:id="rId5"/>
            </p:custDataLst>
          </p:nvPr>
        </p:nvSpPr>
        <p:spPr>
          <a:xfrm>
            <a:off x="8241658" y="2619793"/>
            <a:ext cx="328117" cy="328117"/>
          </a:xfrm>
          <a:prstGeom prst="roundRect">
            <a:avLst>
              <a:gd name="adj" fmla="val 25721"/>
            </a:avLst>
          </a:prstGeom>
        </p:spPr>
        <p:style>
          <a:lnRef idx="1">
            <a:srgbClr val="5B9BD5"/>
          </a:lnRef>
          <a:fillRef idx="2">
            <a:srgbClr val="5B9BD5"/>
          </a:fillRef>
          <a:effectRef idx="1">
            <a:srgbClr val="5B9BD5"/>
          </a:effectRef>
          <a:fontRef idx="minor">
            <a:sysClr val="windowText" lastClr="000000"/>
          </a:fontRef>
        </p:style>
      </p:sp>
      <p:sp>
        <p:nvSpPr>
          <p:cNvPr id="10" name="Text 7"/>
          <p:cNvSpPr/>
          <p:nvPr>
            <p:custDataLst>
              <p:tags r:id="rId6"/>
            </p:custDataLst>
          </p:nvPr>
        </p:nvSpPr>
        <p:spPr>
          <a:xfrm>
            <a:off x="8494408" y="2535338"/>
            <a:ext cx="2544267" cy="585986"/>
          </a:xfrm>
          <a:prstGeom prst="rect">
            <a:avLst/>
          </a:prstGeom>
          <a:noFill/>
        </p:spPr>
        <p:txBody>
          <a:bodyPr wrap="squar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THỬ NGHIỆM CÁC PHƯƠNG PHÁP</a:t>
            </a:r>
          </a:p>
        </p:txBody>
      </p:sp>
      <p:sp>
        <p:nvSpPr>
          <p:cNvPr id="11" name="Text 8"/>
          <p:cNvSpPr/>
          <p:nvPr>
            <p:custDataLst>
              <p:tags r:id="rId7"/>
            </p:custDataLst>
          </p:nvPr>
        </p:nvSpPr>
        <p:spPr>
          <a:xfrm>
            <a:off x="8494407" y="3243887"/>
            <a:ext cx="3053521" cy="1500188"/>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Hãy thử các phương pháp học khác nhau như đọc to, ghi chú, tạo sơ đồ tư duy hoặc thảo luận nhóm. Tìm ra cách học phù hợp nhất với bạn.</a:t>
            </a:r>
          </a:p>
        </p:txBody>
      </p:sp>
      <p:sp>
        <p:nvSpPr>
          <p:cNvPr id="12" name="Shape 9"/>
          <p:cNvSpPr/>
          <p:nvPr>
            <p:custDataLst>
              <p:tags r:id="rId8"/>
            </p:custDataLst>
          </p:nvPr>
        </p:nvSpPr>
        <p:spPr>
          <a:xfrm>
            <a:off x="4815693" y="5206148"/>
            <a:ext cx="328117" cy="328117"/>
          </a:xfrm>
          <a:prstGeom prst="roundRect">
            <a:avLst>
              <a:gd name="adj" fmla="val 25721"/>
            </a:avLst>
          </a:prstGeom>
        </p:spPr>
        <p:style>
          <a:lnRef idx="1">
            <a:srgbClr val="5B9BD5"/>
          </a:lnRef>
          <a:fillRef idx="2">
            <a:srgbClr val="5B9BD5"/>
          </a:fillRef>
          <a:effectRef idx="1">
            <a:srgbClr val="5B9BD5"/>
          </a:effectRef>
          <a:fontRef idx="minor">
            <a:sysClr val="windowText" lastClr="000000"/>
          </a:fontRef>
        </p:style>
      </p:sp>
      <p:sp>
        <p:nvSpPr>
          <p:cNvPr id="13" name="Text 10"/>
          <p:cNvSpPr/>
          <p:nvPr>
            <p:custDataLst>
              <p:tags r:id="rId9"/>
            </p:custDataLst>
          </p:nvPr>
        </p:nvSpPr>
        <p:spPr>
          <a:xfrm>
            <a:off x="5089398" y="5132488"/>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THEO DÕI SỰ TIẾN BỘ</a:t>
            </a:r>
          </a:p>
        </p:txBody>
      </p:sp>
      <p:sp>
        <p:nvSpPr>
          <p:cNvPr id="14" name="Text 11"/>
          <p:cNvSpPr/>
          <p:nvPr>
            <p:custDataLst>
              <p:tags r:id="rId10"/>
            </p:custDataLst>
          </p:nvPr>
        </p:nvSpPr>
        <p:spPr>
          <a:xfrm>
            <a:off x="5089398" y="5537994"/>
            <a:ext cx="6729243" cy="60007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Ghi lại những điều có hiệu quả và những điều không hiệu quả. Sử dụng những gì bạn phát hiện ra để điều chỉnh cách học của mình.</a:t>
            </a:r>
          </a:p>
        </p:txBody>
      </p:sp>
      <p:pic>
        <p:nvPicPr>
          <p:cNvPr id="15" name="Picture 14"/>
          <p:cNvPicPr>
            <a:picLocks noChangeAspect="1"/>
          </p:cNvPicPr>
          <p:nvPr>
            <p:custDataLst>
              <p:tags r:id="rId11"/>
            </p:custDataLst>
          </p:nvPr>
        </p:nvPicPr>
        <p:blipFill rotWithShape="1">
          <a:blip r:embed="rId13"/>
          <a:srcRect l="5941" r="19698"/>
          <a:stretch>
            <a:fillRect/>
          </a:stretch>
        </p:blipFill>
        <p:spPr>
          <a:xfrm>
            <a:off x="895071" y="2737941"/>
            <a:ext cx="3406123" cy="326231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5" name="Text 2"/>
          <p:cNvSpPr/>
          <p:nvPr>
            <p:custDataLst>
              <p:tags r:id="rId1"/>
            </p:custDataLst>
          </p:nvPr>
        </p:nvSpPr>
        <p:spPr>
          <a:xfrm>
            <a:off x="1048385" y="2315845"/>
            <a:ext cx="6307455" cy="1343660"/>
          </a:xfrm>
          <a:prstGeom prst="rect">
            <a:avLst/>
          </a:prstGeom>
          <a:noFill/>
        </p:spPr>
        <p:txBody>
          <a:bodyPr wrap="square" rtlCol="0" anchor="t"/>
          <a:lstStyle/>
          <a:p>
            <a:pPr marL="0" indent="0">
              <a:lnSpc>
                <a:spcPts val="7640"/>
              </a:lnSpc>
              <a:buNone/>
            </a:pPr>
            <a:r>
              <a:rPr lang="en-US" sz="5095" b="1" dirty="0" err="1">
                <a:solidFill>
                  <a:srgbClr val="0070C0"/>
                </a:solidFill>
                <a:latin typeface="Raleway" pitchFamily="34" charset="0"/>
                <a:ea typeface="Raleway" pitchFamily="34" charset="-122"/>
                <a:cs typeface="Raleway" pitchFamily="34" charset="-120"/>
              </a:rPr>
              <a:t>Học</a:t>
            </a:r>
            <a:r>
              <a:rPr lang="en-US" sz="5095" b="1" dirty="0">
                <a:solidFill>
                  <a:srgbClr val="0070C0"/>
                </a:solidFill>
                <a:latin typeface="Raleway" pitchFamily="34" charset="0"/>
                <a:ea typeface="Raleway" pitchFamily="34" charset="-122"/>
                <a:cs typeface="Raleway" pitchFamily="34" charset="-120"/>
              </a:rPr>
              <a:t> </a:t>
            </a:r>
            <a:r>
              <a:rPr lang="en-US" sz="5095" b="1" dirty="0" err="1">
                <a:solidFill>
                  <a:srgbClr val="0070C0"/>
                </a:solidFill>
                <a:latin typeface="Raleway" pitchFamily="34" charset="0"/>
                <a:ea typeface="Raleway" pitchFamily="34" charset="-122"/>
                <a:cs typeface="Raleway" pitchFamily="34" charset="-120"/>
              </a:rPr>
              <a:t>để</a:t>
            </a:r>
            <a:r>
              <a:rPr lang="en-US" sz="5095" b="1" dirty="0">
                <a:solidFill>
                  <a:srgbClr val="0070C0"/>
                </a:solidFill>
                <a:latin typeface="Raleway" pitchFamily="34" charset="0"/>
                <a:ea typeface="Raleway" pitchFamily="34" charset="-122"/>
                <a:cs typeface="Raleway" pitchFamily="34" charset="-120"/>
              </a:rPr>
              <a:t> </a:t>
            </a:r>
            <a:r>
              <a:rPr lang="en-US" sz="5095" b="1" dirty="0" err="1">
                <a:solidFill>
                  <a:srgbClr val="0070C0"/>
                </a:solidFill>
                <a:latin typeface="Raleway" pitchFamily="34" charset="0"/>
                <a:ea typeface="Raleway" pitchFamily="34" charset="-122"/>
                <a:cs typeface="Raleway" pitchFamily="34" charset="-120"/>
              </a:rPr>
              <a:t>làm</a:t>
            </a:r>
            <a:r>
              <a:rPr lang="en-US" sz="5095" b="1" dirty="0">
                <a:solidFill>
                  <a:srgbClr val="0070C0"/>
                </a:solidFill>
                <a:latin typeface="Raleway" pitchFamily="34" charset="0"/>
                <a:ea typeface="Raleway" pitchFamily="34" charset="-122"/>
                <a:cs typeface="Raleway" pitchFamily="34" charset="-120"/>
              </a:rPr>
              <a:t> </a:t>
            </a:r>
            <a:r>
              <a:rPr lang="en-US" sz="5095" b="1" dirty="0" err="1">
                <a:solidFill>
                  <a:srgbClr val="0070C0"/>
                </a:solidFill>
                <a:latin typeface="Raleway" pitchFamily="34" charset="0"/>
                <a:ea typeface="Raleway" pitchFamily="34" charset="-122"/>
                <a:cs typeface="Raleway" pitchFamily="34" charset="-120"/>
              </a:rPr>
              <a:t>gì</a:t>
            </a:r>
            <a:r>
              <a:rPr lang="en-US" sz="5095" b="1" dirty="0">
                <a:solidFill>
                  <a:srgbClr val="0070C0"/>
                </a:solidFill>
                <a:latin typeface="Raleway" pitchFamily="34" charset="0"/>
                <a:ea typeface="Raleway" pitchFamily="34" charset="-122"/>
                <a:cs typeface="Raleway" pitchFamily="34" charset="-120"/>
              </a:rPr>
              <a:t>?</a:t>
            </a:r>
            <a:endParaRPr lang="en-US" sz="5095" b="1" dirty="0">
              <a:solidFill>
                <a:srgbClr val="0070C0"/>
              </a:solidFill>
            </a:endParaRPr>
          </a:p>
        </p:txBody>
      </p:sp>
      <p:sp>
        <p:nvSpPr>
          <p:cNvPr id="8" name="Text 5"/>
          <p:cNvSpPr/>
          <p:nvPr>
            <p:custDataLst>
              <p:tags r:id="rId2"/>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FFFFFF"/>
                </a:solidFill>
                <a:latin typeface="Roboto" panose="02000000000000000000" pitchFamily="2" charset="0"/>
                <a:ea typeface="Roboto" pitchFamily="34" charset="-122"/>
                <a:cs typeface="Roboto" pitchFamily="34" charset="-120"/>
              </a:rPr>
              <a:t>NA</a:t>
            </a:r>
            <a:endParaRPr lang="en-US" sz="640" dirty="0"/>
          </a:p>
        </p:txBody>
      </p:sp>
      <p:pic>
        <p:nvPicPr>
          <p:cNvPr id="3076" name="Picture 4" descr="Có thể là hình ảnh về văn bản"/>
          <p:cNvPicPr>
            <a:picLocks noChangeAspect="1" noChangeArrowheads="1"/>
          </p:cNvPicPr>
          <p:nvPr>
            <p:custDataLst>
              <p:tags r:id="rId3"/>
            </p:custDataLst>
          </p:nvPr>
        </p:nvPicPr>
        <p:blipFill rotWithShape="1">
          <a:blip r:embed="rId5" cstate="print">
            <a:extLst>
              <a:ext uri="{28A0092B-C50C-407E-A947-70E740481C1C}">
                <a14:useLocalDpi xmlns:a14="http://schemas.microsoft.com/office/drawing/2010/main" val="0"/>
              </a:ext>
            </a:extLst>
          </a:blip>
          <a:srcRect t="5555"/>
          <a:stretch>
            <a:fillRect/>
          </a:stretch>
        </p:blipFill>
        <p:spPr bwMode="auto">
          <a:xfrm>
            <a:off x="7858760" y="725170"/>
            <a:ext cx="4312285" cy="61112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FFFFFF"/>
                </a:solidFill>
                <a:latin typeface="Roboto" panose="02000000000000000000" pitchFamily="2" charset="0"/>
                <a:ea typeface="Roboto" pitchFamily="34" charset="-122"/>
                <a:cs typeface="Roboto" pitchFamily="34" charset="-120"/>
              </a:rPr>
              <a:t>NA</a:t>
            </a:r>
            <a:endParaRPr lang="en-US" sz="640" dirty="0"/>
          </a:p>
        </p:txBody>
      </p:sp>
      <p:sp>
        <p:nvSpPr>
          <p:cNvPr id="4" name="Text 2"/>
          <p:cNvSpPr/>
          <p:nvPr>
            <p:custDataLst>
              <p:tags r:id="rId2"/>
            </p:custDataLst>
          </p:nvPr>
        </p:nvSpPr>
        <p:spPr>
          <a:xfrm>
            <a:off x="712258" y="815796"/>
            <a:ext cx="8735814" cy="586085"/>
          </a:xfrm>
          <a:prstGeom prst="rect">
            <a:avLst/>
          </a:prstGeom>
          <a:noFill/>
        </p:spPr>
        <p:txBody>
          <a:bodyPr wrap="none" rtlCol="0" anchor="t"/>
          <a:lstStyle/>
          <a:p>
            <a:pPr marL="0" indent="0">
              <a:lnSpc>
                <a:spcPts val="554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4 </a:t>
            </a:r>
            <a:r>
              <a:rPr lang="en-US" sz="3690" b="1" dirty="0" err="1">
                <a:solidFill>
                  <a:srgbClr val="4472C4"/>
                </a:solidFill>
                <a:latin typeface="Arial" panose="020B0604020202020204" pitchFamily="34" charset="0"/>
                <a:ea typeface="Roboto" panose="02000000000000000000" pitchFamily="2" charset="0"/>
                <a:cs typeface="Arial" panose="020B0604020202020204" pitchFamily="34" charset="0"/>
              </a:rPr>
              <a:t>trụ</a:t>
            </a: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 cột Giáo dục </a:t>
            </a:r>
            <a:r>
              <a:rPr lang="en-US" sz="3690" b="1" dirty="0" err="1">
                <a:solidFill>
                  <a:srgbClr val="4472C4"/>
                </a:solidFill>
                <a:latin typeface="Arial" panose="020B0604020202020204" pitchFamily="34" charset="0"/>
                <a:ea typeface="Roboto" panose="02000000000000000000" pitchFamily="2" charset="0"/>
                <a:cs typeface="Arial" panose="020B0604020202020204" pitchFamily="34" charset="0"/>
              </a:rPr>
              <a:t>của</a:t>
            </a: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 UNESCO</a:t>
            </a:r>
          </a:p>
        </p:txBody>
      </p:sp>
      <p:sp>
        <p:nvSpPr>
          <p:cNvPr id="3" name="Text 3"/>
          <p:cNvSpPr/>
          <p:nvPr>
            <p:custDataLst>
              <p:tags r:id="rId3"/>
            </p:custDataLst>
          </p:nvPr>
        </p:nvSpPr>
        <p:spPr>
          <a:xfrm>
            <a:off x="5863746" y="1905451"/>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Học để biết</a:t>
            </a:r>
          </a:p>
        </p:txBody>
      </p:sp>
      <p:sp>
        <p:nvSpPr>
          <p:cNvPr id="6" name="Text 4"/>
          <p:cNvSpPr/>
          <p:nvPr>
            <p:custDataLst>
              <p:tags r:id="rId4"/>
            </p:custDataLst>
          </p:nvPr>
        </p:nvSpPr>
        <p:spPr>
          <a:xfrm>
            <a:off x="5863746" y="2385967"/>
            <a:ext cx="2376587" cy="1200150"/>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Cung cấp công cụ nhận thức, giúp hiểu biết thế giới phức tạp và trang bị nền tảng kiến thức.</a:t>
            </a:r>
          </a:p>
        </p:txBody>
      </p:sp>
      <p:sp>
        <p:nvSpPr>
          <p:cNvPr id="7" name="Text 5"/>
          <p:cNvSpPr/>
          <p:nvPr>
            <p:custDataLst>
              <p:tags r:id="rId5"/>
            </p:custDataLst>
          </p:nvPr>
        </p:nvSpPr>
        <p:spPr>
          <a:xfrm>
            <a:off x="8704280" y="1905451"/>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Học để trưởng thành</a:t>
            </a:r>
          </a:p>
        </p:txBody>
      </p:sp>
      <p:sp>
        <p:nvSpPr>
          <p:cNvPr id="9" name="Text 6"/>
          <p:cNvSpPr/>
          <p:nvPr>
            <p:custDataLst>
              <p:tags r:id="rId6"/>
            </p:custDataLst>
          </p:nvPr>
        </p:nvSpPr>
        <p:spPr>
          <a:xfrm>
            <a:off x="8704280" y="2385967"/>
            <a:ext cx="2376587" cy="1200150"/>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Phát triển tư duy phân tích và kỹ năng xã hội, hướng đến việc trở thành con người hoàn thiện.</a:t>
            </a:r>
          </a:p>
        </p:txBody>
      </p:sp>
      <p:sp>
        <p:nvSpPr>
          <p:cNvPr id="10" name="Text 7"/>
          <p:cNvSpPr/>
          <p:nvPr>
            <p:custDataLst>
              <p:tags r:id="rId7"/>
            </p:custDataLst>
          </p:nvPr>
        </p:nvSpPr>
        <p:spPr>
          <a:xfrm>
            <a:off x="5863746" y="4295200"/>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Học để chung sống</a:t>
            </a:r>
          </a:p>
        </p:txBody>
      </p:sp>
      <p:sp>
        <p:nvSpPr>
          <p:cNvPr id="11" name="Text 8"/>
          <p:cNvSpPr/>
          <p:nvPr>
            <p:custDataLst>
              <p:tags r:id="rId8"/>
            </p:custDataLst>
          </p:nvPr>
        </p:nvSpPr>
        <p:spPr>
          <a:xfrm>
            <a:off x="5863746" y="4775716"/>
            <a:ext cx="2376587"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Thấu hiểu giá trị quyền con người, nguyên tắc dân chủ và giá trị văn hóa nhân loại.</a:t>
            </a:r>
          </a:p>
        </p:txBody>
      </p:sp>
      <p:sp>
        <p:nvSpPr>
          <p:cNvPr id="12" name="Text 9"/>
          <p:cNvSpPr/>
          <p:nvPr>
            <p:custDataLst>
              <p:tags r:id="rId9"/>
            </p:custDataLst>
          </p:nvPr>
        </p:nvSpPr>
        <p:spPr>
          <a:xfrm>
            <a:off x="8704279" y="4295200"/>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Học </a:t>
            </a:r>
            <a:r>
              <a:rPr lang="en-US" sz="1845" b="1" dirty="0" err="1">
                <a:solidFill>
                  <a:srgbClr val="076365"/>
                </a:solidFill>
                <a:latin typeface="Raleway" pitchFamily="34" charset="0"/>
                <a:ea typeface="Raleway" pitchFamily="34" charset="-122"/>
                <a:cs typeface="Raleway" pitchFamily="34" charset="-120"/>
              </a:rPr>
              <a:t>để</a:t>
            </a:r>
            <a:r>
              <a:rPr lang="en-US" sz="1845" b="1" dirty="0">
                <a:solidFill>
                  <a:srgbClr val="076365"/>
                </a:solidFill>
                <a:latin typeface="Raleway" pitchFamily="34" charset="0"/>
                <a:ea typeface="Raleway" pitchFamily="34" charset="-122"/>
                <a:cs typeface="Raleway" pitchFamily="34" charset="-120"/>
              </a:rPr>
              <a:t> </a:t>
            </a:r>
            <a:r>
              <a:rPr lang="en-US" sz="1845" b="1" dirty="0" err="1">
                <a:solidFill>
                  <a:srgbClr val="076365"/>
                </a:solidFill>
                <a:latin typeface="Raleway" pitchFamily="34" charset="0"/>
                <a:ea typeface="Raleway" pitchFamily="34" charset="-122"/>
                <a:cs typeface="Raleway" pitchFamily="34" charset="-120"/>
              </a:rPr>
              <a:t>làm</a:t>
            </a:r>
            <a:r>
              <a:rPr lang="en-US" sz="1845" b="1" dirty="0">
                <a:solidFill>
                  <a:srgbClr val="076365"/>
                </a:solidFill>
                <a:latin typeface="Raleway" pitchFamily="34" charset="0"/>
                <a:ea typeface="Raleway" pitchFamily="34" charset="-122"/>
                <a:cs typeface="Raleway" pitchFamily="34" charset="-120"/>
              </a:rPr>
              <a:t> </a:t>
            </a:r>
            <a:r>
              <a:rPr lang="en-US" sz="1845" b="1" dirty="0" err="1">
                <a:solidFill>
                  <a:srgbClr val="076365"/>
                </a:solidFill>
                <a:latin typeface="Raleway" pitchFamily="34" charset="0"/>
                <a:ea typeface="Raleway" pitchFamily="34" charset="-122"/>
                <a:cs typeface="Raleway" pitchFamily="34" charset="-120"/>
              </a:rPr>
              <a:t>việc</a:t>
            </a:r>
          </a:p>
        </p:txBody>
      </p:sp>
      <p:sp>
        <p:nvSpPr>
          <p:cNvPr id="13" name="Text 10"/>
          <p:cNvSpPr/>
          <p:nvPr>
            <p:custDataLst>
              <p:tags r:id="rId10"/>
            </p:custDataLst>
          </p:nvPr>
        </p:nvSpPr>
        <p:spPr>
          <a:xfrm>
            <a:off x="8704279" y="4775716"/>
            <a:ext cx="2376587"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Trang bị kiến thức, kỹ năng và thái độ để thực hành nghề nghiệp thành công.</a:t>
            </a:r>
          </a:p>
        </p:txBody>
      </p:sp>
      <p:sp>
        <p:nvSpPr>
          <p:cNvPr id="14" name="AutoShape 4" descr="UNESCO – Dak Nong UNESCO Global Geopark"/>
          <p:cNvSpPr>
            <a:spLocks noChangeAspect="1" noChangeArrowheads="1"/>
          </p:cNvSpPr>
          <p:nvPr>
            <p:custDataLst>
              <p:tags r:id="rId11"/>
            </p:custDataLst>
          </p:nvPr>
        </p:nvSpPr>
        <p:spPr bwMode="auto">
          <a:xfrm>
            <a:off x="7163760" y="3660334"/>
            <a:ext cx="254000" cy="254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6199" tIns="38099" rIns="76199" bIns="38099" numCol="1" anchor="t" anchorCtr="0" compatLnSpc="1"/>
          <a:lstStyle/>
          <a:p>
            <a:pPr algn="just"/>
            <a:endParaRPr lang="en-US" sz="1500">
              <a:solidFill>
                <a:srgbClr val="076365"/>
              </a:solidFill>
            </a:endParaRPr>
          </a:p>
        </p:txBody>
      </p:sp>
      <p:sp>
        <p:nvSpPr>
          <p:cNvPr id="15" name="AutoShape 6" descr="UNESCO – Dak Nong UNESCO Global Geopark"/>
          <p:cNvSpPr>
            <a:spLocks noChangeAspect="1" noChangeArrowheads="1"/>
          </p:cNvSpPr>
          <p:nvPr>
            <p:custDataLst>
              <p:tags r:id="rId12"/>
            </p:custDataLst>
          </p:nvPr>
        </p:nvSpPr>
        <p:spPr bwMode="auto">
          <a:xfrm>
            <a:off x="7290760" y="3787334"/>
            <a:ext cx="254000" cy="254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6199" tIns="38099" rIns="76199" bIns="38099" numCol="1" anchor="t" anchorCtr="0" compatLnSpc="1"/>
          <a:lstStyle/>
          <a:p>
            <a:pPr algn="just"/>
            <a:endParaRPr lang="en-US" sz="1500">
              <a:solidFill>
                <a:srgbClr val="076365"/>
              </a:solidFill>
            </a:endParaRPr>
          </a:p>
        </p:txBody>
      </p:sp>
      <p:pic>
        <p:nvPicPr>
          <p:cNvPr id="16" name="Picture 15"/>
          <p:cNvPicPr>
            <a:picLocks noChangeAspect="1"/>
          </p:cNvPicPr>
          <p:nvPr>
            <p:custDataLst>
              <p:tags r:id="rId13"/>
            </p:custDataLst>
          </p:nvPr>
        </p:nvPicPr>
        <p:blipFill>
          <a:blip r:embed="rId15"/>
          <a:stretch>
            <a:fillRect/>
          </a:stretch>
        </p:blipFill>
        <p:spPr>
          <a:xfrm>
            <a:off x="598521" y="1854308"/>
            <a:ext cx="4666705" cy="449808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pic>
        <p:nvPicPr>
          <p:cNvPr id="4" name="Image 0" descr="preencoded.png"/>
          <p:cNvPicPr>
            <a:picLocks noChangeAspect="1"/>
          </p:cNvPicPr>
          <p:nvPr>
            <p:custDataLst>
              <p:tags r:id="rId1"/>
            </p:custDataLst>
          </p:nvPr>
        </p:nvPicPr>
        <p:blipFill>
          <a:blip r:embed="rId20"/>
          <a:stretch>
            <a:fillRect/>
          </a:stretch>
        </p:blipFill>
        <p:spPr>
          <a:xfrm>
            <a:off x="8044180" y="750570"/>
            <a:ext cx="4083685" cy="6125845"/>
          </a:xfrm>
          <a:prstGeom prst="rect">
            <a:avLst/>
          </a:prstGeom>
        </p:spPr>
      </p:pic>
      <p:sp>
        <p:nvSpPr>
          <p:cNvPr id="5" name="Text 2"/>
          <p:cNvSpPr/>
          <p:nvPr>
            <p:custDataLst>
              <p:tags r:id="rId2"/>
            </p:custDataLst>
          </p:nvPr>
        </p:nvSpPr>
        <p:spPr>
          <a:xfrm>
            <a:off x="656332" y="996256"/>
            <a:ext cx="6307336" cy="1172170"/>
          </a:xfrm>
          <a:prstGeom prst="rect">
            <a:avLst/>
          </a:prstGeom>
          <a:noFill/>
        </p:spPr>
        <p:txBody>
          <a:bodyPr wrap="square" rtlCol="0" anchor="t"/>
          <a:lstStyle/>
          <a:p>
            <a:pPr marL="0" indent="0">
              <a:lnSpc>
                <a:spcPts val="5540"/>
              </a:lnSpc>
              <a:buNone/>
            </a:pPr>
            <a:r>
              <a:rPr lang="en-US" sz="3690" b="1" dirty="0">
                <a:solidFill>
                  <a:schemeClr val="accent1"/>
                </a:solidFill>
                <a:latin typeface="Arial" panose="020B0604020202020204" pitchFamily="34" charset="0"/>
                <a:ea typeface="Roboto" panose="02000000000000000000" pitchFamily="2" charset="0"/>
                <a:cs typeface="Arial" panose="020B0604020202020204" pitchFamily="34" charset="0"/>
              </a:rPr>
              <a:t>Học để </a:t>
            </a:r>
            <a:r>
              <a:rPr lang="en-US" sz="3690" b="1" dirty="0" err="1">
                <a:solidFill>
                  <a:schemeClr val="accent1"/>
                </a:solidFill>
                <a:latin typeface="Arial" panose="020B0604020202020204" pitchFamily="34" charset="0"/>
                <a:ea typeface="Roboto" panose="02000000000000000000" pitchFamily="2" charset="0"/>
                <a:cs typeface="Arial" panose="020B0604020202020204" pitchFamily="34" charset="0"/>
              </a:rPr>
              <a:t>biết</a:t>
            </a:r>
            <a:r>
              <a:rPr lang="en-US" sz="3690" b="1" dirty="0">
                <a:solidFill>
                  <a:schemeClr val="accent1"/>
                </a:solidFill>
                <a:latin typeface="Arial" panose="020B0604020202020204" pitchFamily="34" charset="0"/>
                <a:ea typeface="Roboto" panose="02000000000000000000" pitchFamily="2" charset="0"/>
                <a:cs typeface="Arial" panose="020B0604020202020204" pitchFamily="34" charset="0"/>
              </a:rPr>
              <a:t> </a:t>
            </a:r>
            <a:r>
              <a:rPr lang="en-US" sz="2665" dirty="0">
                <a:solidFill>
                  <a:srgbClr val="1B1B27"/>
                </a:solidFill>
                <a:latin typeface="Raleway" pitchFamily="34" charset="0"/>
                <a:ea typeface="Roboto" panose="02000000000000000000" pitchFamily="2" charset="0"/>
                <a:cs typeface="Raleway" pitchFamily="34" charset="-120"/>
              </a:rPr>
              <a:t>/L</a:t>
            </a:r>
            <a:r>
              <a:rPr lang="en-US" sz="2665" dirty="0">
                <a:solidFill>
                  <a:srgbClr val="1B1B27"/>
                </a:solidFill>
                <a:latin typeface="Raleway" pitchFamily="34" charset="0"/>
                <a:ea typeface="Raleway" pitchFamily="34" charset="-122"/>
                <a:cs typeface="Raleway" pitchFamily="34" charset="-120"/>
              </a:rPr>
              <a:t>earning to know</a:t>
            </a:r>
            <a:endParaRPr lang="en-US" sz="3690" dirty="0"/>
          </a:p>
        </p:txBody>
      </p:sp>
      <p:sp>
        <p:nvSpPr>
          <p:cNvPr id="6" name="Shape 3"/>
          <p:cNvSpPr/>
          <p:nvPr>
            <p:custDataLst>
              <p:tags r:id="rId3"/>
            </p:custDataLst>
          </p:nvPr>
        </p:nvSpPr>
        <p:spPr>
          <a:xfrm>
            <a:off x="757932" y="2319278"/>
            <a:ext cx="421978" cy="421978"/>
          </a:xfrm>
          <a:prstGeom prst="roundRect">
            <a:avLst>
              <a:gd name="adj" fmla="val 20000"/>
            </a:avLst>
          </a:prstGeom>
        </p:spPr>
        <p:style>
          <a:lnRef idx="1">
            <a:schemeClr val="accent5"/>
          </a:lnRef>
          <a:fillRef idx="2">
            <a:schemeClr val="accent5"/>
          </a:fillRef>
          <a:effectRef idx="1">
            <a:schemeClr val="accent5"/>
          </a:effectRef>
          <a:fontRef idx="minor">
            <a:schemeClr val="dk1"/>
          </a:fontRef>
        </p:style>
      </p:sp>
      <p:sp>
        <p:nvSpPr>
          <p:cNvPr id="7" name="Text 4"/>
          <p:cNvSpPr/>
          <p:nvPr>
            <p:custDataLst>
              <p:tags r:id="rId4"/>
            </p:custDataLst>
          </p:nvPr>
        </p:nvSpPr>
        <p:spPr>
          <a:xfrm>
            <a:off x="807045" y="2328664"/>
            <a:ext cx="120452" cy="281285"/>
          </a:xfrm>
          <a:prstGeom prst="rect">
            <a:avLst/>
          </a:prstGeom>
          <a:noFill/>
        </p:spPr>
        <p:txBody>
          <a:bodyPr wrap="none" rtlCol="0" anchor="t"/>
          <a:lstStyle/>
          <a:p>
            <a:pPr marL="0" indent="0" algn="just">
              <a:lnSpc>
                <a:spcPts val="2660"/>
              </a:lnSpc>
              <a:buNone/>
            </a:pPr>
            <a:r>
              <a:rPr lang="en-US" sz="2215" dirty="0">
                <a:solidFill>
                  <a:srgbClr val="076365"/>
                </a:solidFill>
                <a:latin typeface="Raleway" pitchFamily="34" charset="0"/>
                <a:ea typeface="Raleway" pitchFamily="34" charset="-122"/>
                <a:cs typeface="Raleway" pitchFamily="34" charset="-120"/>
              </a:rPr>
              <a:t>1</a:t>
            </a:r>
          </a:p>
        </p:txBody>
      </p:sp>
      <p:sp>
        <p:nvSpPr>
          <p:cNvPr id="3" name="Text 5"/>
          <p:cNvSpPr/>
          <p:nvPr>
            <p:custDataLst>
              <p:tags r:id="rId5"/>
            </p:custDataLst>
          </p:nvPr>
        </p:nvSpPr>
        <p:spPr>
          <a:xfrm>
            <a:off x="1265833" y="2258318"/>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Công cụ nhận thức</a:t>
            </a:r>
          </a:p>
        </p:txBody>
      </p:sp>
      <p:sp>
        <p:nvSpPr>
          <p:cNvPr id="9" name="Text 6"/>
          <p:cNvSpPr/>
          <p:nvPr>
            <p:custDataLst>
              <p:tags r:id="rId6"/>
            </p:custDataLst>
          </p:nvPr>
        </p:nvSpPr>
        <p:spPr>
          <a:xfrm>
            <a:off x="1265833" y="2663825"/>
            <a:ext cx="2450406"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Cung cấp các phương pháp và kỹ năng để tiếp thu và xử lý thông tin hiệu quả.</a:t>
            </a:r>
          </a:p>
        </p:txBody>
      </p:sp>
      <p:sp>
        <p:nvSpPr>
          <p:cNvPr id="10" name="Shape 7"/>
          <p:cNvSpPr/>
          <p:nvPr>
            <p:custDataLst>
              <p:tags r:id="rId7"/>
            </p:custDataLst>
          </p:nvPr>
        </p:nvSpPr>
        <p:spPr>
          <a:xfrm>
            <a:off x="3974882" y="2319278"/>
            <a:ext cx="421978" cy="421978"/>
          </a:xfrm>
          <a:prstGeom prst="roundRect">
            <a:avLst>
              <a:gd name="adj" fmla="val 20000"/>
            </a:avLst>
          </a:prstGeom>
        </p:spPr>
        <p:style>
          <a:lnRef idx="1">
            <a:schemeClr val="accent5"/>
          </a:lnRef>
          <a:fillRef idx="2">
            <a:schemeClr val="accent5"/>
          </a:fillRef>
          <a:effectRef idx="1">
            <a:schemeClr val="accent5"/>
          </a:effectRef>
          <a:fontRef idx="minor">
            <a:schemeClr val="dk1"/>
          </a:fontRef>
        </p:style>
      </p:sp>
      <p:sp>
        <p:nvSpPr>
          <p:cNvPr id="11" name="Text 8"/>
          <p:cNvSpPr/>
          <p:nvPr>
            <p:custDataLst>
              <p:tags r:id="rId8"/>
            </p:custDataLst>
          </p:nvPr>
        </p:nvSpPr>
        <p:spPr>
          <a:xfrm>
            <a:off x="4041378" y="2328664"/>
            <a:ext cx="146645" cy="281285"/>
          </a:xfrm>
          <a:prstGeom prst="rect">
            <a:avLst/>
          </a:prstGeom>
          <a:noFill/>
        </p:spPr>
        <p:txBody>
          <a:bodyPr wrap="none" rtlCol="0" anchor="t"/>
          <a:lstStyle/>
          <a:p>
            <a:pPr marL="0" indent="0" algn="just">
              <a:lnSpc>
                <a:spcPts val="2660"/>
              </a:lnSpc>
              <a:buNone/>
            </a:pPr>
            <a:r>
              <a:rPr lang="en-US" sz="2215" dirty="0">
                <a:solidFill>
                  <a:srgbClr val="076365"/>
                </a:solidFill>
                <a:latin typeface="Raleway" pitchFamily="34" charset="0"/>
                <a:ea typeface="Raleway" pitchFamily="34" charset="-122"/>
                <a:cs typeface="Raleway" pitchFamily="34" charset="-120"/>
              </a:rPr>
              <a:t>2</a:t>
            </a:r>
          </a:p>
        </p:txBody>
      </p:sp>
      <p:sp>
        <p:nvSpPr>
          <p:cNvPr id="12" name="Text 9"/>
          <p:cNvSpPr/>
          <p:nvPr>
            <p:custDataLst>
              <p:tags r:id="rId9"/>
            </p:custDataLst>
          </p:nvPr>
        </p:nvSpPr>
        <p:spPr>
          <a:xfrm>
            <a:off x="4513263" y="2258318"/>
            <a:ext cx="2450406" cy="585986"/>
          </a:xfrm>
          <a:prstGeom prst="rect">
            <a:avLst/>
          </a:prstGeom>
          <a:noFill/>
        </p:spPr>
        <p:txBody>
          <a:bodyPr wrap="squar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Hiểu biết thế giới phức tạp</a:t>
            </a:r>
          </a:p>
        </p:txBody>
      </p:sp>
      <p:sp>
        <p:nvSpPr>
          <p:cNvPr id="13" name="Text 10"/>
          <p:cNvSpPr/>
          <p:nvPr>
            <p:custDataLst>
              <p:tags r:id="rId10"/>
            </p:custDataLst>
          </p:nvPr>
        </p:nvSpPr>
        <p:spPr>
          <a:xfrm>
            <a:off x="4513263" y="2956818"/>
            <a:ext cx="2450406"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Giúp người học có cái nhìn tổng quan và sâu sắc về thế giới xung quanh.</a:t>
            </a:r>
          </a:p>
        </p:txBody>
      </p:sp>
      <p:sp>
        <p:nvSpPr>
          <p:cNvPr id="14" name="Shape 11"/>
          <p:cNvSpPr/>
          <p:nvPr>
            <p:custDataLst>
              <p:tags r:id="rId11"/>
            </p:custDataLst>
          </p:nvPr>
        </p:nvSpPr>
        <p:spPr>
          <a:xfrm>
            <a:off x="727452" y="4306193"/>
            <a:ext cx="421978" cy="421978"/>
          </a:xfrm>
          <a:prstGeom prst="roundRect">
            <a:avLst>
              <a:gd name="adj" fmla="val 20000"/>
            </a:avLst>
          </a:prstGeom>
        </p:spPr>
        <p:style>
          <a:lnRef idx="1">
            <a:schemeClr val="accent5"/>
          </a:lnRef>
          <a:fillRef idx="2">
            <a:schemeClr val="accent5"/>
          </a:fillRef>
          <a:effectRef idx="1">
            <a:schemeClr val="accent5"/>
          </a:effectRef>
          <a:fontRef idx="minor">
            <a:schemeClr val="dk1"/>
          </a:fontRef>
        </p:style>
      </p:sp>
      <p:sp>
        <p:nvSpPr>
          <p:cNvPr id="15" name="Text 12"/>
          <p:cNvSpPr/>
          <p:nvPr>
            <p:custDataLst>
              <p:tags r:id="rId12"/>
            </p:custDataLst>
          </p:nvPr>
        </p:nvSpPr>
        <p:spPr>
          <a:xfrm>
            <a:off x="792163" y="4325739"/>
            <a:ext cx="150218" cy="281285"/>
          </a:xfrm>
          <a:prstGeom prst="rect">
            <a:avLst/>
          </a:prstGeom>
          <a:noFill/>
        </p:spPr>
        <p:txBody>
          <a:bodyPr wrap="none" rtlCol="0" anchor="t"/>
          <a:lstStyle/>
          <a:p>
            <a:pPr marL="0" indent="0" algn="just">
              <a:lnSpc>
                <a:spcPts val="2660"/>
              </a:lnSpc>
              <a:buNone/>
            </a:pPr>
            <a:r>
              <a:rPr lang="en-US" sz="2215" dirty="0">
                <a:solidFill>
                  <a:srgbClr val="076365"/>
                </a:solidFill>
                <a:latin typeface="Raleway" pitchFamily="34" charset="0"/>
                <a:ea typeface="Raleway" pitchFamily="34" charset="-122"/>
                <a:cs typeface="Raleway" pitchFamily="34" charset="-120"/>
              </a:rPr>
              <a:t>3</a:t>
            </a:r>
          </a:p>
        </p:txBody>
      </p:sp>
      <p:sp>
        <p:nvSpPr>
          <p:cNvPr id="16" name="Text 13"/>
          <p:cNvSpPr/>
          <p:nvPr>
            <p:custDataLst>
              <p:tags r:id="rId13"/>
            </p:custDataLst>
          </p:nvPr>
        </p:nvSpPr>
        <p:spPr>
          <a:xfrm>
            <a:off x="1265833" y="4255393"/>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Nền tảng kiến thức</a:t>
            </a:r>
          </a:p>
        </p:txBody>
      </p:sp>
      <p:sp>
        <p:nvSpPr>
          <p:cNvPr id="17" name="Text 14"/>
          <p:cNvSpPr/>
          <p:nvPr>
            <p:custDataLst>
              <p:tags r:id="rId14"/>
            </p:custDataLst>
          </p:nvPr>
        </p:nvSpPr>
        <p:spPr>
          <a:xfrm>
            <a:off x="1265833" y="4660900"/>
            <a:ext cx="2450406"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Xây dựng một nền tảng kiến thức vững chắc làm cơ sở cho việc học tập suốt đời.</a:t>
            </a:r>
          </a:p>
        </p:txBody>
      </p:sp>
      <p:sp>
        <p:nvSpPr>
          <p:cNvPr id="18" name="Shape 15"/>
          <p:cNvSpPr/>
          <p:nvPr>
            <p:custDataLst>
              <p:tags r:id="rId15"/>
            </p:custDataLst>
          </p:nvPr>
        </p:nvSpPr>
        <p:spPr>
          <a:xfrm>
            <a:off x="3974882" y="4296033"/>
            <a:ext cx="421978" cy="421978"/>
          </a:xfrm>
          <a:prstGeom prst="roundRect">
            <a:avLst>
              <a:gd name="adj" fmla="val 20000"/>
            </a:avLst>
          </a:prstGeom>
        </p:spPr>
        <p:style>
          <a:lnRef idx="1">
            <a:schemeClr val="accent5"/>
          </a:lnRef>
          <a:fillRef idx="2">
            <a:schemeClr val="accent5"/>
          </a:fillRef>
          <a:effectRef idx="1">
            <a:schemeClr val="accent5"/>
          </a:effectRef>
          <a:fontRef idx="minor">
            <a:schemeClr val="dk1"/>
          </a:fontRef>
        </p:style>
      </p:sp>
      <p:sp>
        <p:nvSpPr>
          <p:cNvPr id="19" name="Text 16"/>
          <p:cNvSpPr/>
          <p:nvPr>
            <p:custDataLst>
              <p:tags r:id="rId16"/>
            </p:custDataLst>
          </p:nvPr>
        </p:nvSpPr>
        <p:spPr>
          <a:xfrm>
            <a:off x="4037906" y="4325739"/>
            <a:ext cx="153591" cy="281285"/>
          </a:xfrm>
          <a:prstGeom prst="rect">
            <a:avLst/>
          </a:prstGeom>
          <a:noFill/>
        </p:spPr>
        <p:txBody>
          <a:bodyPr wrap="none" rtlCol="0" anchor="t"/>
          <a:lstStyle/>
          <a:p>
            <a:pPr marL="0" indent="0" algn="just">
              <a:lnSpc>
                <a:spcPts val="2660"/>
              </a:lnSpc>
              <a:buNone/>
            </a:pPr>
            <a:r>
              <a:rPr lang="en-US" sz="2215" dirty="0">
                <a:solidFill>
                  <a:srgbClr val="076365"/>
                </a:solidFill>
                <a:latin typeface="Raleway" pitchFamily="34" charset="0"/>
                <a:ea typeface="Raleway" pitchFamily="34" charset="-122"/>
                <a:cs typeface="Raleway" pitchFamily="34" charset="-120"/>
              </a:rPr>
              <a:t>4</a:t>
            </a:r>
          </a:p>
        </p:txBody>
      </p:sp>
      <p:sp>
        <p:nvSpPr>
          <p:cNvPr id="20" name="Text 17"/>
          <p:cNvSpPr/>
          <p:nvPr>
            <p:custDataLst>
              <p:tags r:id="rId17"/>
            </p:custDataLst>
          </p:nvPr>
        </p:nvSpPr>
        <p:spPr>
          <a:xfrm>
            <a:off x="4513263" y="4255393"/>
            <a:ext cx="234424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Học tập suốt đời</a:t>
            </a:r>
          </a:p>
        </p:txBody>
      </p:sp>
      <p:sp>
        <p:nvSpPr>
          <p:cNvPr id="21" name="Text 18"/>
          <p:cNvSpPr/>
          <p:nvPr>
            <p:custDataLst>
              <p:tags r:id="rId18"/>
            </p:custDataLst>
          </p:nvPr>
        </p:nvSpPr>
        <p:spPr>
          <a:xfrm>
            <a:off x="4513263" y="4660900"/>
            <a:ext cx="2450406"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Khuyến khích tinh thần tò mò và khám phá tri thức không ngừng.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076365"/>
                </a:solidFill>
                <a:latin typeface="Roboto" panose="02000000000000000000" pitchFamily="2" charset="0"/>
                <a:ea typeface="Roboto" pitchFamily="34" charset="-122"/>
                <a:cs typeface="Roboto" pitchFamily="34" charset="-120"/>
              </a:rPr>
              <a:t>NA</a:t>
            </a:r>
          </a:p>
        </p:txBody>
      </p:sp>
      <p:sp>
        <p:nvSpPr>
          <p:cNvPr id="5" name="Text 2"/>
          <p:cNvSpPr/>
          <p:nvPr>
            <p:custDataLst>
              <p:tags r:id="rId2"/>
            </p:custDataLst>
          </p:nvPr>
        </p:nvSpPr>
        <p:spPr>
          <a:xfrm>
            <a:off x="656332" y="734877"/>
            <a:ext cx="6307336" cy="1172170"/>
          </a:xfrm>
          <a:prstGeom prst="rect">
            <a:avLst/>
          </a:prstGeom>
          <a:noFill/>
        </p:spPr>
        <p:txBody>
          <a:bodyPr wrap="square" rtlCol="0" anchor="t"/>
          <a:lstStyle/>
          <a:p>
            <a:pPr marL="0" indent="0">
              <a:lnSpc>
                <a:spcPts val="480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Học để trưởng </a:t>
            </a:r>
            <a:r>
              <a:rPr lang="en-US" sz="3690" b="1" dirty="0" err="1">
                <a:solidFill>
                  <a:srgbClr val="4472C4"/>
                </a:solidFill>
                <a:latin typeface="Arial" panose="020B0604020202020204" pitchFamily="34" charset="0"/>
                <a:ea typeface="Roboto" panose="02000000000000000000" pitchFamily="2" charset="0"/>
                <a:cs typeface="Arial" panose="020B0604020202020204" pitchFamily="34" charset="0"/>
              </a:rPr>
              <a:t>thành</a:t>
            </a: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 </a:t>
            </a:r>
          </a:p>
          <a:p>
            <a:pPr marL="0" indent="0">
              <a:lnSpc>
                <a:spcPts val="4000"/>
              </a:lnSpc>
              <a:buNone/>
            </a:pPr>
            <a:r>
              <a:rPr lang="en-US" sz="2665" smtClean="0">
                <a:solidFill>
                  <a:srgbClr val="1B1B27"/>
                </a:solidFill>
                <a:latin typeface="Raleway" pitchFamily="34" charset="0"/>
                <a:ea typeface="Raleway" pitchFamily="34" charset="-122"/>
                <a:cs typeface="Raleway" pitchFamily="34" charset="-120"/>
              </a:rPr>
              <a:t>/Learning </a:t>
            </a:r>
            <a:r>
              <a:rPr lang="en-US" sz="2665" dirty="0">
                <a:solidFill>
                  <a:srgbClr val="1B1B27"/>
                </a:solidFill>
                <a:latin typeface="Raleway" pitchFamily="34" charset="0"/>
                <a:ea typeface="Raleway" pitchFamily="34" charset="-122"/>
                <a:cs typeface="Raleway" pitchFamily="34" charset="-120"/>
              </a:rPr>
              <a:t>to be</a:t>
            </a:r>
            <a:endParaRPr lang="en-US" sz="3690" dirty="0"/>
          </a:p>
        </p:txBody>
      </p:sp>
      <p:sp>
        <p:nvSpPr>
          <p:cNvPr id="6" name="Shape 3"/>
          <p:cNvSpPr/>
          <p:nvPr>
            <p:custDataLst>
              <p:tags r:id="rId3"/>
            </p:custDataLst>
          </p:nvPr>
        </p:nvSpPr>
        <p:spPr>
          <a:xfrm>
            <a:off x="891650" y="2463760"/>
            <a:ext cx="95498" cy="3484603"/>
          </a:xfrm>
          <a:prstGeom prst="roundRect">
            <a:avLst>
              <a:gd name="adj" fmla="val 225026"/>
            </a:avLst>
          </a:prstGeom>
          <a:solidFill>
            <a:srgbClr val="C7C7D0"/>
          </a:solidFill>
        </p:spPr>
      </p:sp>
      <p:sp>
        <p:nvSpPr>
          <p:cNvPr id="7" name="Shape 4"/>
          <p:cNvSpPr/>
          <p:nvPr>
            <p:custDataLst>
              <p:tags r:id="rId4"/>
            </p:custDataLst>
          </p:nvPr>
        </p:nvSpPr>
        <p:spPr>
          <a:xfrm>
            <a:off x="1148606" y="2463760"/>
            <a:ext cx="656332" cy="37505"/>
          </a:xfrm>
          <a:prstGeom prst="roundRect">
            <a:avLst>
              <a:gd name="adj" fmla="val 225026"/>
            </a:avLst>
          </a:prstGeom>
          <a:solidFill>
            <a:srgbClr val="C7C7D0"/>
          </a:solidFill>
        </p:spPr>
      </p:sp>
      <p:sp>
        <p:nvSpPr>
          <p:cNvPr id="3" name="Shape 5"/>
          <p:cNvSpPr/>
          <p:nvPr>
            <p:custDataLst>
              <p:tags r:id="rId5"/>
            </p:custDataLst>
          </p:nvPr>
        </p:nvSpPr>
        <p:spPr>
          <a:xfrm>
            <a:off x="726628" y="2271573"/>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9" name="Text 6"/>
          <p:cNvSpPr/>
          <p:nvPr>
            <p:custDataLst>
              <p:tags r:id="rId6"/>
            </p:custDataLst>
          </p:nvPr>
        </p:nvSpPr>
        <p:spPr>
          <a:xfrm>
            <a:off x="877342" y="2341920"/>
            <a:ext cx="120452"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1</a:t>
            </a:r>
          </a:p>
        </p:txBody>
      </p:sp>
      <p:sp>
        <p:nvSpPr>
          <p:cNvPr id="10" name="Text 7"/>
          <p:cNvSpPr/>
          <p:nvPr>
            <p:custDataLst>
              <p:tags r:id="rId7"/>
            </p:custDataLst>
          </p:nvPr>
        </p:nvSpPr>
        <p:spPr>
          <a:xfrm>
            <a:off x="1969095" y="2248158"/>
            <a:ext cx="2836466"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Phát triển tư duy phân tích</a:t>
            </a:r>
          </a:p>
        </p:txBody>
      </p:sp>
      <p:sp>
        <p:nvSpPr>
          <p:cNvPr id="11" name="Text 8"/>
          <p:cNvSpPr/>
          <p:nvPr>
            <p:custDataLst>
              <p:tags r:id="rId8"/>
            </p:custDataLst>
          </p:nvPr>
        </p:nvSpPr>
        <p:spPr>
          <a:xfrm>
            <a:off x="1969095" y="2653665"/>
            <a:ext cx="4994573" cy="600075"/>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Rèn luyện khả năng suy nghĩ logic, phân tích và giải quyết vấn đề.</a:t>
            </a:r>
          </a:p>
        </p:txBody>
      </p:sp>
      <p:sp>
        <p:nvSpPr>
          <p:cNvPr id="12" name="Shape 9"/>
          <p:cNvSpPr/>
          <p:nvPr>
            <p:custDataLst>
              <p:tags r:id="rId9"/>
            </p:custDataLst>
          </p:nvPr>
        </p:nvSpPr>
        <p:spPr>
          <a:xfrm>
            <a:off x="1148606" y="3642493"/>
            <a:ext cx="656332" cy="37505"/>
          </a:xfrm>
          <a:prstGeom prst="roundRect">
            <a:avLst>
              <a:gd name="adj" fmla="val 225026"/>
            </a:avLst>
          </a:prstGeom>
          <a:solidFill>
            <a:srgbClr val="C7C7D0"/>
          </a:solidFill>
        </p:spPr>
      </p:sp>
      <p:sp>
        <p:nvSpPr>
          <p:cNvPr id="13" name="Shape 10"/>
          <p:cNvSpPr/>
          <p:nvPr>
            <p:custDataLst>
              <p:tags r:id="rId10"/>
            </p:custDataLst>
          </p:nvPr>
        </p:nvSpPr>
        <p:spPr>
          <a:xfrm>
            <a:off x="726628" y="3450307"/>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14" name="Text 11"/>
          <p:cNvSpPr/>
          <p:nvPr>
            <p:custDataLst>
              <p:tags r:id="rId11"/>
            </p:custDataLst>
          </p:nvPr>
        </p:nvSpPr>
        <p:spPr>
          <a:xfrm>
            <a:off x="864245" y="3520653"/>
            <a:ext cx="146645"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2</a:t>
            </a:r>
          </a:p>
        </p:txBody>
      </p:sp>
      <p:sp>
        <p:nvSpPr>
          <p:cNvPr id="15" name="Text 12"/>
          <p:cNvSpPr/>
          <p:nvPr>
            <p:custDataLst>
              <p:tags r:id="rId12"/>
            </p:custDataLst>
          </p:nvPr>
        </p:nvSpPr>
        <p:spPr>
          <a:xfrm>
            <a:off x="1969095" y="3426891"/>
            <a:ext cx="2646164"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Nâng cao kỹ năng xã hội</a:t>
            </a:r>
          </a:p>
        </p:txBody>
      </p:sp>
      <p:sp>
        <p:nvSpPr>
          <p:cNvPr id="16" name="Text 13"/>
          <p:cNvSpPr/>
          <p:nvPr>
            <p:custDataLst>
              <p:tags r:id="rId13"/>
            </p:custDataLst>
          </p:nvPr>
        </p:nvSpPr>
        <p:spPr>
          <a:xfrm>
            <a:off x="1969095" y="3832398"/>
            <a:ext cx="4994573" cy="600075"/>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Phát triển kỹ năng giao tiếp, làm việc nhóm và thích nghi với môi trường xã hội.</a:t>
            </a:r>
          </a:p>
        </p:txBody>
      </p:sp>
      <p:sp>
        <p:nvSpPr>
          <p:cNvPr id="17" name="Shape 14"/>
          <p:cNvSpPr/>
          <p:nvPr>
            <p:custDataLst>
              <p:tags r:id="rId14"/>
            </p:custDataLst>
          </p:nvPr>
        </p:nvSpPr>
        <p:spPr>
          <a:xfrm>
            <a:off x="1148606" y="4893143"/>
            <a:ext cx="656332" cy="37505"/>
          </a:xfrm>
          <a:prstGeom prst="roundRect">
            <a:avLst>
              <a:gd name="adj" fmla="val 225026"/>
            </a:avLst>
          </a:prstGeom>
          <a:solidFill>
            <a:srgbClr val="C7C7D0"/>
          </a:solidFill>
        </p:spPr>
      </p:sp>
      <p:sp>
        <p:nvSpPr>
          <p:cNvPr id="18" name="Shape 15"/>
          <p:cNvSpPr/>
          <p:nvPr>
            <p:custDataLst>
              <p:tags r:id="rId15"/>
            </p:custDataLst>
          </p:nvPr>
        </p:nvSpPr>
        <p:spPr>
          <a:xfrm>
            <a:off x="726628" y="4700957"/>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19" name="Text 16"/>
          <p:cNvSpPr/>
          <p:nvPr>
            <p:custDataLst>
              <p:tags r:id="rId16"/>
            </p:custDataLst>
          </p:nvPr>
        </p:nvSpPr>
        <p:spPr>
          <a:xfrm>
            <a:off x="862459" y="4771303"/>
            <a:ext cx="150218"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3</a:t>
            </a:r>
          </a:p>
        </p:txBody>
      </p:sp>
      <p:sp>
        <p:nvSpPr>
          <p:cNvPr id="20" name="Text 17"/>
          <p:cNvSpPr/>
          <p:nvPr>
            <p:custDataLst>
              <p:tags r:id="rId17"/>
            </p:custDataLst>
          </p:nvPr>
        </p:nvSpPr>
        <p:spPr>
          <a:xfrm>
            <a:off x="1969095" y="4677541"/>
            <a:ext cx="3610471"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Phát huy phẩm chất tâm lý-xã hội</a:t>
            </a:r>
          </a:p>
        </p:txBody>
      </p:sp>
      <p:sp>
        <p:nvSpPr>
          <p:cNvPr id="21" name="Text 18"/>
          <p:cNvSpPr/>
          <p:nvPr>
            <p:custDataLst>
              <p:tags r:id="rId18"/>
            </p:custDataLst>
          </p:nvPr>
        </p:nvSpPr>
        <p:spPr>
          <a:xfrm>
            <a:off x="1969095" y="5083048"/>
            <a:ext cx="4994573" cy="300038"/>
          </a:xfrm>
          <a:prstGeom prst="rect">
            <a:avLst/>
          </a:prstGeom>
          <a:noFill/>
        </p:spPr>
        <p:txBody>
          <a:bodyPr wrap="non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Xây dựng tính cách, đạo đức và các giá trị cá nhân tích cực.</a:t>
            </a:r>
          </a:p>
        </p:txBody>
      </p:sp>
      <p:sp>
        <p:nvSpPr>
          <p:cNvPr id="22" name="Shape 19"/>
          <p:cNvSpPr/>
          <p:nvPr>
            <p:custDataLst>
              <p:tags r:id="rId19"/>
            </p:custDataLst>
          </p:nvPr>
        </p:nvSpPr>
        <p:spPr>
          <a:xfrm>
            <a:off x="1148606" y="5870972"/>
            <a:ext cx="656332" cy="37505"/>
          </a:xfrm>
          <a:prstGeom prst="roundRect">
            <a:avLst>
              <a:gd name="adj" fmla="val 225026"/>
            </a:avLst>
          </a:prstGeom>
          <a:solidFill>
            <a:srgbClr val="C7C7D0"/>
          </a:solidFill>
        </p:spPr>
      </p:sp>
      <p:sp>
        <p:nvSpPr>
          <p:cNvPr id="23" name="Shape 20"/>
          <p:cNvSpPr/>
          <p:nvPr>
            <p:custDataLst>
              <p:tags r:id="rId20"/>
            </p:custDataLst>
          </p:nvPr>
        </p:nvSpPr>
        <p:spPr>
          <a:xfrm>
            <a:off x="726628" y="5678785"/>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24" name="Text 21"/>
          <p:cNvSpPr/>
          <p:nvPr>
            <p:custDataLst>
              <p:tags r:id="rId21"/>
            </p:custDataLst>
          </p:nvPr>
        </p:nvSpPr>
        <p:spPr>
          <a:xfrm>
            <a:off x="860773" y="5749131"/>
            <a:ext cx="153591"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4</a:t>
            </a:r>
          </a:p>
        </p:txBody>
      </p:sp>
      <p:sp>
        <p:nvSpPr>
          <p:cNvPr id="25" name="Text 22"/>
          <p:cNvSpPr/>
          <p:nvPr>
            <p:custDataLst>
              <p:tags r:id="rId22"/>
            </p:custDataLst>
          </p:nvPr>
        </p:nvSpPr>
        <p:spPr>
          <a:xfrm>
            <a:off x="1969095" y="5655369"/>
            <a:ext cx="3026768" cy="292993"/>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Nâng cao sức khỏe thể chất</a:t>
            </a:r>
          </a:p>
        </p:txBody>
      </p:sp>
      <p:sp>
        <p:nvSpPr>
          <p:cNvPr id="26" name="Text 23"/>
          <p:cNvSpPr/>
          <p:nvPr>
            <p:custDataLst>
              <p:tags r:id="rId23"/>
            </p:custDataLst>
          </p:nvPr>
        </p:nvSpPr>
        <p:spPr>
          <a:xfrm>
            <a:off x="1969095" y="6060876"/>
            <a:ext cx="4994573" cy="300038"/>
          </a:xfrm>
          <a:prstGeom prst="rect">
            <a:avLst/>
          </a:prstGeom>
          <a:noFill/>
        </p:spPr>
        <p:txBody>
          <a:bodyPr wrap="non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Chú trọng phát triển thể chất song song với trí tuệ.</a:t>
            </a:r>
          </a:p>
        </p:txBody>
      </p:sp>
      <p:pic>
        <p:nvPicPr>
          <p:cNvPr id="7170" name="Picture 2" descr="Learning by doing"/>
          <p:cNvPicPr>
            <a:picLocks noChangeAspect="1" noChangeArrowheads="1"/>
          </p:cNvPicPr>
          <p:nvPr>
            <p:custDataLst>
              <p:tags r:id="rId24"/>
            </p:custDataLst>
          </p:nvPr>
        </p:nvPicPr>
        <p:blipFill rotWithShape="1">
          <a:blip r:embed="rId26">
            <a:extLst>
              <a:ext uri="{28A0092B-C50C-407E-A947-70E740481C1C}">
                <a14:useLocalDpi xmlns:a14="http://schemas.microsoft.com/office/drawing/2010/main" val="0"/>
              </a:ext>
            </a:extLst>
          </a:blip>
          <a:srcRect l="28955" r="28787"/>
          <a:stretch>
            <a:fillRect/>
          </a:stretch>
        </p:blipFill>
        <p:spPr bwMode="auto">
          <a:xfrm>
            <a:off x="8331200" y="709930"/>
            <a:ext cx="3822065" cy="61112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just">
              <a:lnSpc>
                <a:spcPts val="770"/>
              </a:lnSpc>
              <a:buNone/>
            </a:pPr>
            <a:r>
              <a:rPr lang="en-US" sz="640" dirty="0">
                <a:solidFill>
                  <a:srgbClr val="076365"/>
                </a:solidFill>
                <a:latin typeface="Roboto" panose="02000000000000000000" pitchFamily="2" charset="0"/>
                <a:ea typeface="Roboto" pitchFamily="34" charset="-122"/>
                <a:cs typeface="Roboto" pitchFamily="34" charset="-120"/>
              </a:rPr>
              <a:t>NA</a:t>
            </a:r>
          </a:p>
        </p:txBody>
      </p:sp>
      <p:sp>
        <p:nvSpPr>
          <p:cNvPr id="5" name="Text 2"/>
          <p:cNvSpPr/>
          <p:nvPr>
            <p:custDataLst>
              <p:tags r:id="rId2"/>
            </p:custDataLst>
          </p:nvPr>
        </p:nvSpPr>
        <p:spPr>
          <a:xfrm>
            <a:off x="656332" y="955734"/>
            <a:ext cx="6307336" cy="1172170"/>
          </a:xfrm>
          <a:prstGeom prst="rect">
            <a:avLst/>
          </a:prstGeom>
          <a:noFill/>
        </p:spPr>
        <p:txBody>
          <a:bodyPr wrap="square" rtlCol="0" anchor="t"/>
          <a:lstStyle/>
          <a:p>
            <a:pPr marL="0" indent="0">
              <a:lnSpc>
                <a:spcPts val="500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Học để chung </a:t>
            </a:r>
            <a:r>
              <a:rPr lang="en-US" sz="3690" b="1" dirty="0" err="1">
                <a:solidFill>
                  <a:srgbClr val="4472C4"/>
                </a:solidFill>
                <a:latin typeface="Arial" panose="020B0604020202020204" pitchFamily="34" charset="0"/>
                <a:ea typeface="Roboto" panose="02000000000000000000" pitchFamily="2" charset="0"/>
                <a:cs typeface="Arial" panose="020B0604020202020204" pitchFamily="34" charset="0"/>
              </a:rPr>
              <a:t>sống</a:t>
            </a: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 </a:t>
            </a:r>
          </a:p>
          <a:p>
            <a:pPr marL="0" indent="0">
              <a:lnSpc>
                <a:spcPts val="5000"/>
              </a:lnSpc>
              <a:buNone/>
            </a:pPr>
            <a:r>
              <a:rPr lang="en-US" sz="2665" dirty="0">
                <a:solidFill>
                  <a:srgbClr val="1B1B27"/>
                </a:solidFill>
                <a:latin typeface="Raleway" pitchFamily="34" charset="0"/>
                <a:ea typeface="Raleway" pitchFamily="34" charset="-122"/>
                <a:cs typeface="Raleway" pitchFamily="34" charset="-120"/>
              </a:rPr>
              <a:t>/ Learning to live together</a:t>
            </a:r>
            <a:endParaRPr lang="en-US" sz="2665" dirty="0"/>
          </a:p>
        </p:txBody>
      </p:sp>
      <p:sp>
        <p:nvSpPr>
          <p:cNvPr id="6" name="Shape 3"/>
          <p:cNvSpPr/>
          <p:nvPr>
            <p:custDataLst>
              <p:tags r:id="rId3"/>
            </p:custDataLst>
          </p:nvPr>
        </p:nvSpPr>
        <p:spPr>
          <a:xfrm>
            <a:off x="656331" y="2339918"/>
            <a:ext cx="3342167" cy="1693367"/>
          </a:xfrm>
          <a:prstGeom prst="roundRect">
            <a:avLst>
              <a:gd name="adj" fmla="val 4984"/>
            </a:avLst>
          </a:prstGeom>
          <a:solidFill>
            <a:srgbClr val="E1E1EA"/>
          </a:solidFill>
          <a:ln w="7620">
            <a:solidFill>
              <a:srgbClr val="C7C7D0"/>
            </a:solidFill>
            <a:prstDash val="solid"/>
          </a:ln>
        </p:spPr>
      </p:sp>
      <p:sp>
        <p:nvSpPr>
          <p:cNvPr id="7" name="Text 4"/>
          <p:cNvSpPr/>
          <p:nvPr>
            <p:custDataLst>
              <p:tags r:id="rId4"/>
            </p:custDataLst>
          </p:nvPr>
        </p:nvSpPr>
        <p:spPr>
          <a:xfrm>
            <a:off x="850205" y="2533791"/>
            <a:ext cx="2727702"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Giá trị quyền con người</a:t>
            </a:r>
          </a:p>
        </p:txBody>
      </p:sp>
      <p:sp>
        <p:nvSpPr>
          <p:cNvPr id="3" name="Text 5"/>
          <p:cNvSpPr/>
          <p:nvPr>
            <p:custDataLst>
              <p:tags r:id="rId5"/>
            </p:custDataLst>
          </p:nvPr>
        </p:nvSpPr>
        <p:spPr>
          <a:xfrm>
            <a:off x="850205" y="2939298"/>
            <a:ext cx="2918652" cy="60007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Hiểu và tôn trọng quyền cơ bản của mỗi cá nhân trong xã hội.</a:t>
            </a:r>
          </a:p>
        </p:txBody>
      </p:sp>
      <p:sp>
        <p:nvSpPr>
          <p:cNvPr id="9" name="Shape 6"/>
          <p:cNvSpPr/>
          <p:nvPr>
            <p:custDataLst>
              <p:tags r:id="rId6"/>
            </p:custDataLst>
          </p:nvPr>
        </p:nvSpPr>
        <p:spPr>
          <a:xfrm>
            <a:off x="4127102" y="2339918"/>
            <a:ext cx="3342167" cy="1693367"/>
          </a:xfrm>
          <a:prstGeom prst="roundRect">
            <a:avLst>
              <a:gd name="adj" fmla="val 4984"/>
            </a:avLst>
          </a:prstGeom>
          <a:solidFill>
            <a:srgbClr val="E1E1EA"/>
          </a:solidFill>
          <a:ln w="7620">
            <a:solidFill>
              <a:srgbClr val="C7C7D0"/>
            </a:solidFill>
            <a:prstDash val="solid"/>
          </a:ln>
        </p:spPr>
      </p:sp>
      <p:sp>
        <p:nvSpPr>
          <p:cNvPr id="10" name="Text 7"/>
          <p:cNvSpPr/>
          <p:nvPr>
            <p:custDataLst>
              <p:tags r:id="rId7"/>
            </p:custDataLst>
          </p:nvPr>
        </p:nvSpPr>
        <p:spPr>
          <a:xfrm>
            <a:off x="4320975" y="2533791"/>
            <a:ext cx="2560485"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Nguyên tắc dân chủ</a:t>
            </a:r>
          </a:p>
        </p:txBody>
      </p:sp>
      <p:sp>
        <p:nvSpPr>
          <p:cNvPr id="11" name="Text 8"/>
          <p:cNvSpPr/>
          <p:nvPr>
            <p:custDataLst>
              <p:tags r:id="rId8"/>
            </p:custDataLst>
          </p:nvPr>
        </p:nvSpPr>
        <p:spPr>
          <a:xfrm>
            <a:off x="4320975" y="2939298"/>
            <a:ext cx="2918652"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Nắm vững và thực hành các nguyên tắc dân chủ trong cuộc sống hàng ngày.</a:t>
            </a:r>
          </a:p>
        </p:txBody>
      </p:sp>
      <p:sp>
        <p:nvSpPr>
          <p:cNvPr id="12" name="Shape 9"/>
          <p:cNvSpPr/>
          <p:nvPr>
            <p:custDataLst>
              <p:tags r:id="rId9"/>
            </p:custDataLst>
          </p:nvPr>
        </p:nvSpPr>
        <p:spPr>
          <a:xfrm>
            <a:off x="656331" y="4220808"/>
            <a:ext cx="3342167" cy="1693367"/>
          </a:xfrm>
          <a:prstGeom prst="roundRect">
            <a:avLst>
              <a:gd name="adj" fmla="val 4984"/>
            </a:avLst>
          </a:prstGeom>
          <a:solidFill>
            <a:srgbClr val="E1E1EA"/>
          </a:solidFill>
          <a:ln w="7620">
            <a:solidFill>
              <a:srgbClr val="C7C7D0"/>
            </a:solidFill>
            <a:prstDash val="solid"/>
          </a:ln>
        </p:spPr>
      </p:sp>
      <p:sp>
        <p:nvSpPr>
          <p:cNvPr id="13" name="Text 10"/>
          <p:cNvSpPr/>
          <p:nvPr>
            <p:custDataLst>
              <p:tags r:id="rId10"/>
            </p:custDataLst>
          </p:nvPr>
        </p:nvSpPr>
        <p:spPr>
          <a:xfrm>
            <a:off x="850205" y="4414681"/>
            <a:ext cx="2796843"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Giá trị văn hóa nhân loại</a:t>
            </a:r>
          </a:p>
        </p:txBody>
      </p:sp>
      <p:sp>
        <p:nvSpPr>
          <p:cNvPr id="14" name="Text 11"/>
          <p:cNvSpPr/>
          <p:nvPr>
            <p:custDataLst>
              <p:tags r:id="rId11"/>
            </p:custDataLst>
          </p:nvPr>
        </p:nvSpPr>
        <p:spPr>
          <a:xfrm>
            <a:off x="850205" y="4820188"/>
            <a:ext cx="2918652"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Trân trọng sự đa dạng văn hóa và học hỏi từ các nền văn hóa khác nhau.</a:t>
            </a:r>
          </a:p>
        </p:txBody>
      </p:sp>
      <p:sp>
        <p:nvSpPr>
          <p:cNvPr id="15" name="Shape 12"/>
          <p:cNvSpPr/>
          <p:nvPr>
            <p:custDataLst>
              <p:tags r:id="rId12"/>
            </p:custDataLst>
          </p:nvPr>
        </p:nvSpPr>
        <p:spPr>
          <a:xfrm>
            <a:off x="4127102" y="4220808"/>
            <a:ext cx="3342167" cy="1693367"/>
          </a:xfrm>
          <a:prstGeom prst="roundRect">
            <a:avLst>
              <a:gd name="adj" fmla="val 4984"/>
            </a:avLst>
          </a:prstGeom>
          <a:solidFill>
            <a:srgbClr val="E1E1EA"/>
          </a:solidFill>
          <a:ln w="7620">
            <a:solidFill>
              <a:srgbClr val="C7C7D0"/>
            </a:solidFill>
            <a:prstDash val="solid"/>
          </a:ln>
        </p:spPr>
      </p:sp>
      <p:sp>
        <p:nvSpPr>
          <p:cNvPr id="16" name="Text 13"/>
          <p:cNvSpPr/>
          <p:nvPr>
            <p:custDataLst>
              <p:tags r:id="rId13"/>
            </p:custDataLst>
          </p:nvPr>
        </p:nvSpPr>
        <p:spPr>
          <a:xfrm>
            <a:off x="4320975" y="4414681"/>
            <a:ext cx="2560485" cy="292993"/>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Xây dựng hòa bình</a:t>
            </a:r>
          </a:p>
        </p:txBody>
      </p:sp>
      <p:sp>
        <p:nvSpPr>
          <p:cNvPr id="17" name="Text 14"/>
          <p:cNvSpPr/>
          <p:nvPr>
            <p:custDataLst>
              <p:tags r:id="rId14"/>
            </p:custDataLst>
          </p:nvPr>
        </p:nvSpPr>
        <p:spPr>
          <a:xfrm>
            <a:off x="4320975" y="4820188"/>
            <a:ext cx="2918652" cy="900113"/>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Phát triển kỹ năng giải quyết xung đột và thúc đẩy hòa bình trong cộng đồng.</a:t>
            </a:r>
          </a:p>
        </p:txBody>
      </p:sp>
      <p:pic>
        <p:nvPicPr>
          <p:cNvPr id="8194" name="Picture 2" descr="인종차별 반대 SNS 글로벌 캠페인 #Live Together 챌린지 안내 상세보기|공지사항 주탄자니아 대한민국 대사관"/>
          <p:cNvPicPr>
            <a:picLocks noChangeAspect="1" noChangeArrowheads="1"/>
          </p:cNvPicPr>
          <p:nvPr>
            <p:custDataLst>
              <p:tags r:id="rId15"/>
            </p:custDataLst>
          </p:nvPr>
        </p:nvPicPr>
        <p:blipFill rotWithShape="1">
          <a:blip r:embed="rId17">
            <a:extLst>
              <a:ext uri="{28A0092B-C50C-407E-A947-70E740481C1C}">
                <a14:useLocalDpi xmlns:a14="http://schemas.microsoft.com/office/drawing/2010/main" val="0"/>
              </a:ext>
            </a:extLst>
          </a:blip>
          <a:srcRect b="41818"/>
          <a:stretch>
            <a:fillRect/>
          </a:stretch>
        </p:blipFill>
        <p:spPr bwMode="auto">
          <a:xfrm>
            <a:off x="8657590" y="772160"/>
            <a:ext cx="3478530" cy="6065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just">
              <a:lnSpc>
                <a:spcPts val="770"/>
              </a:lnSpc>
              <a:buNone/>
            </a:pPr>
            <a:r>
              <a:rPr lang="en-US" sz="640" dirty="0">
                <a:solidFill>
                  <a:srgbClr val="076365"/>
                </a:solidFill>
                <a:latin typeface="Roboto" panose="02000000000000000000" pitchFamily="2" charset="0"/>
                <a:ea typeface="Roboto" pitchFamily="34" charset="-122"/>
                <a:cs typeface="Roboto" pitchFamily="34" charset="-120"/>
              </a:rPr>
              <a:t>NA</a:t>
            </a:r>
          </a:p>
        </p:txBody>
      </p:sp>
      <p:sp>
        <p:nvSpPr>
          <p:cNvPr id="5" name="Text 2"/>
          <p:cNvSpPr/>
          <p:nvPr>
            <p:custDataLst>
              <p:tags r:id="rId2"/>
            </p:custDataLst>
          </p:nvPr>
        </p:nvSpPr>
        <p:spPr>
          <a:xfrm>
            <a:off x="583565" y="3735705"/>
            <a:ext cx="5957570" cy="586105"/>
          </a:xfrm>
          <a:prstGeom prst="rect">
            <a:avLst/>
          </a:prstGeom>
          <a:noFill/>
        </p:spPr>
        <p:txBody>
          <a:bodyPr wrap="none" rtlCol="0" anchor="t"/>
          <a:lstStyle/>
          <a:p>
            <a:pPr marL="0" indent="0">
              <a:lnSpc>
                <a:spcPts val="554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Học </a:t>
            </a:r>
            <a:r>
              <a:rPr lang="en-US" sz="3690" b="1">
                <a:solidFill>
                  <a:srgbClr val="4472C4"/>
                </a:solidFill>
                <a:latin typeface="Arial" panose="020B0604020202020204" pitchFamily="34" charset="0"/>
                <a:ea typeface="Roboto" panose="02000000000000000000" pitchFamily="2" charset="0"/>
                <a:cs typeface="Arial" panose="020B0604020202020204" pitchFamily="34" charset="0"/>
              </a:rPr>
              <a:t>để </a:t>
            </a:r>
            <a:r>
              <a:rPr lang="en-US" sz="3690" b="1" smtClean="0">
                <a:solidFill>
                  <a:srgbClr val="4472C4"/>
                </a:solidFill>
                <a:latin typeface="Arial" panose="020B0604020202020204" pitchFamily="34" charset="0"/>
                <a:ea typeface="Roboto" panose="02000000000000000000" pitchFamily="2" charset="0"/>
                <a:cs typeface="Arial" panose="020B0604020202020204" pitchFamily="34" charset="0"/>
              </a:rPr>
              <a:t>làm việc</a:t>
            </a:r>
            <a:r>
              <a:rPr lang="en-US" sz="3690" b="1" smtClean="0">
                <a:solidFill>
                  <a:srgbClr val="4472C4"/>
                </a:solidFill>
                <a:latin typeface="Roboto" panose="02000000000000000000" pitchFamily="2" charset="0"/>
                <a:ea typeface="Roboto" panose="02000000000000000000" pitchFamily="2" charset="0"/>
                <a:cs typeface="Raleway" pitchFamily="34" charset="-120"/>
              </a:rPr>
              <a:t> </a:t>
            </a:r>
            <a:r>
              <a:rPr lang="en-US" sz="2665" dirty="0">
                <a:solidFill>
                  <a:srgbClr val="1B1B27"/>
                </a:solidFill>
                <a:latin typeface="Raleway" pitchFamily="34" charset="0"/>
                <a:ea typeface="Raleway" pitchFamily="34" charset="-122"/>
                <a:cs typeface="Raleway" pitchFamily="34" charset="-120"/>
              </a:rPr>
              <a:t>/Learning to do</a:t>
            </a:r>
            <a:endParaRPr lang="en-US" sz="3690" dirty="0"/>
          </a:p>
        </p:txBody>
      </p:sp>
      <p:pic>
        <p:nvPicPr>
          <p:cNvPr id="6" name="Image 1" descr="preencoded.png"/>
          <p:cNvPicPr>
            <a:picLocks noChangeAspect="1"/>
          </p:cNvPicPr>
          <p:nvPr>
            <p:custDataLst>
              <p:tags r:id="rId3"/>
            </p:custDataLst>
          </p:nvPr>
        </p:nvPicPr>
        <p:blipFill>
          <a:blip r:embed="rId14"/>
          <a:stretch>
            <a:fillRect/>
          </a:stretch>
        </p:blipFill>
        <p:spPr>
          <a:xfrm>
            <a:off x="720090" y="4809490"/>
            <a:ext cx="465455" cy="468630"/>
          </a:xfrm>
          <a:prstGeom prst="rect">
            <a:avLst/>
          </a:prstGeom>
        </p:spPr>
      </p:pic>
      <p:sp>
        <p:nvSpPr>
          <p:cNvPr id="7" name="Text 3"/>
          <p:cNvSpPr/>
          <p:nvPr>
            <p:custDataLst>
              <p:tags r:id="rId4"/>
            </p:custDataLst>
          </p:nvPr>
        </p:nvSpPr>
        <p:spPr>
          <a:xfrm>
            <a:off x="720090" y="5466080"/>
            <a:ext cx="2326640" cy="292735"/>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Kiến thức</a:t>
            </a:r>
          </a:p>
        </p:txBody>
      </p:sp>
      <p:sp>
        <p:nvSpPr>
          <p:cNvPr id="3" name="Text 4"/>
          <p:cNvSpPr/>
          <p:nvPr>
            <p:custDataLst>
              <p:tags r:id="rId5"/>
            </p:custDataLst>
          </p:nvPr>
        </p:nvSpPr>
        <p:spPr>
          <a:xfrm>
            <a:off x="720090" y="5871210"/>
            <a:ext cx="3412490" cy="60007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Trang bị kiến thức chuyên môn và tổng quát cần thiết cho nghề nghiệp.</a:t>
            </a:r>
          </a:p>
        </p:txBody>
      </p:sp>
      <p:pic>
        <p:nvPicPr>
          <p:cNvPr id="9" name="Image 2" descr="preencoded.png"/>
          <p:cNvPicPr>
            <a:picLocks noChangeAspect="1"/>
          </p:cNvPicPr>
          <p:nvPr>
            <p:custDataLst>
              <p:tags r:id="rId6"/>
            </p:custDataLst>
          </p:nvPr>
        </p:nvPicPr>
        <p:blipFill>
          <a:blip r:embed="rId15"/>
          <a:stretch>
            <a:fillRect/>
          </a:stretch>
        </p:blipFill>
        <p:spPr>
          <a:xfrm>
            <a:off x="4439920" y="4809490"/>
            <a:ext cx="465455" cy="468630"/>
          </a:xfrm>
          <a:prstGeom prst="rect">
            <a:avLst/>
          </a:prstGeom>
        </p:spPr>
      </p:pic>
      <p:sp>
        <p:nvSpPr>
          <p:cNvPr id="10" name="Text 5"/>
          <p:cNvSpPr/>
          <p:nvPr>
            <p:custDataLst>
              <p:tags r:id="rId7"/>
            </p:custDataLst>
          </p:nvPr>
        </p:nvSpPr>
        <p:spPr>
          <a:xfrm>
            <a:off x="4439920" y="5466080"/>
            <a:ext cx="2326640" cy="292735"/>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Kỹ năng</a:t>
            </a:r>
          </a:p>
        </p:txBody>
      </p:sp>
      <p:sp>
        <p:nvSpPr>
          <p:cNvPr id="11" name="Text 6"/>
          <p:cNvSpPr/>
          <p:nvPr>
            <p:custDataLst>
              <p:tags r:id="rId8"/>
            </p:custDataLst>
          </p:nvPr>
        </p:nvSpPr>
        <p:spPr>
          <a:xfrm>
            <a:off x="4439920" y="5871210"/>
            <a:ext cx="3412490" cy="60007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Phát triển các kỹ năng thực hành và kỹ năng mềm cần thiết trong công việc.</a:t>
            </a:r>
          </a:p>
        </p:txBody>
      </p:sp>
      <p:pic>
        <p:nvPicPr>
          <p:cNvPr id="12" name="Image 3" descr="preencoded.png"/>
          <p:cNvPicPr>
            <a:picLocks noChangeAspect="1"/>
          </p:cNvPicPr>
          <p:nvPr>
            <p:custDataLst>
              <p:tags r:id="rId9"/>
            </p:custDataLst>
          </p:nvPr>
        </p:nvPicPr>
        <p:blipFill>
          <a:blip r:embed="rId16"/>
          <a:stretch>
            <a:fillRect/>
          </a:stretch>
        </p:blipFill>
        <p:spPr>
          <a:xfrm>
            <a:off x="8160385" y="4809490"/>
            <a:ext cx="465455" cy="468630"/>
          </a:xfrm>
          <a:prstGeom prst="rect">
            <a:avLst/>
          </a:prstGeom>
        </p:spPr>
      </p:pic>
      <p:sp>
        <p:nvSpPr>
          <p:cNvPr id="13" name="Text 7"/>
          <p:cNvSpPr/>
          <p:nvPr>
            <p:custDataLst>
              <p:tags r:id="rId10"/>
            </p:custDataLst>
          </p:nvPr>
        </p:nvSpPr>
        <p:spPr>
          <a:xfrm>
            <a:off x="8160385" y="5466080"/>
            <a:ext cx="2326640" cy="292735"/>
          </a:xfrm>
          <a:prstGeom prst="rect">
            <a:avLst/>
          </a:prstGeom>
          <a:noFill/>
        </p:spPr>
        <p:txBody>
          <a:bodyPr wrap="none" rtlCol="0" anchor="t"/>
          <a:lstStyle/>
          <a:p>
            <a:pPr marL="0" indent="0" algn="just">
              <a:lnSpc>
                <a:spcPts val="2770"/>
              </a:lnSpc>
              <a:buNone/>
            </a:pPr>
            <a:r>
              <a:rPr lang="en-US" sz="1845" b="1" dirty="0">
                <a:solidFill>
                  <a:srgbClr val="076365"/>
                </a:solidFill>
                <a:latin typeface="Raleway" pitchFamily="34" charset="0"/>
                <a:ea typeface="Raleway" pitchFamily="34" charset="-122"/>
                <a:cs typeface="Raleway" pitchFamily="34" charset="-120"/>
              </a:rPr>
              <a:t>Thái độ</a:t>
            </a:r>
          </a:p>
        </p:txBody>
      </p:sp>
      <p:sp>
        <p:nvSpPr>
          <p:cNvPr id="14" name="Text 8"/>
          <p:cNvSpPr/>
          <p:nvPr>
            <p:custDataLst>
              <p:tags r:id="rId11"/>
            </p:custDataLst>
          </p:nvPr>
        </p:nvSpPr>
        <p:spPr>
          <a:xfrm>
            <a:off x="8160385" y="5871210"/>
            <a:ext cx="3412490" cy="600075"/>
          </a:xfrm>
          <a:prstGeom prst="rect">
            <a:avLst/>
          </a:prstGeom>
          <a:noFill/>
        </p:spPr>
        <p:txBody>
          <a:bodyPr wrap="square" rtlCol="0" anchor="t"/>
          <a:lstStyle/>
          <a:p>
            <a:pPr marL="0" indent="0" algn="just">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Hình thành thái độ tích cực, tinh thần trách nhiệm và đạo đức nghề nghiệp.</a:t>
            </a:r>
          </a:p>
        </p:txBody>
      </p:sp>
      <p:pic>
        <p:nvPicPr>
          <p:cNvPr id="9218" name="Picture 2" descr="Phân biệt learn và study: Sự khác biệt nằm ở đâu? - ILA Vietnam"/>
          <p:cNvPicPr>
            <a:picLocks noChangeAspect="1" noChangeArrowheads="1"/>
          </p:cNvPicPr>
          <p:nvPr>
            <p:custDataLst>
              <p:tags r:id="rId12"/>
            </p:custDataLst>
          </p:nvPr>
        </p:nvPicPr>
        <p:blipFill rotWithShape="1">
          <a:blip r:embed="rId17">
            <a:extLst>
              <a:ext uri="{28A0092B-C50C-407E-A947-70E740481C1C}">
                <a14:useLocalDpi xmlns:a14="http://schemas.microsoft.com/office/drawing/2010/main" val="0"/>
              </a:ext>
            </a:extLst>
          </a:blip>
          <a:srcRect t="45582" b="20115"/>
          <a:stretch>
            <a:fillRect/>
          </a:stretch>
        </p:blipFill>
        <p:spPr bwMode="auto">
          <a:xfrm>
            <a:off x="0" y="711200"/>
            <a:ext cx="12160885" cy="27933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076365"/>
                </a:solidFill>
                <a:latin typeface="Roboto" panose="02000000000000000000" pitchFamily="2" charset="0"/>
                <a:ea typeface="Roboto" pitchFamily="34" charset="-122"/>
                <a:cs typeface="Roboto" pitchFamily="34" charset="-120"/>
              </a:rPr>
              <a:t>NA</a:t>
            </a:r>
          </a:p>
        </p:txBody>
      </p:sp>
      <p:sp>
        <p:nvSpPr>
          <p:cNvPr id="4" name="Text 2"/>
          <p:cNvSpPr/>
          <p:nvPr>
            <p:custDataLst>
              <p:tags r:id="rId2"/>
            </p:custDataLst>
          </p:nvPr>
        </p:nvSpPr>
        <p:spPr>
          <a:xfrm>
            <a:off x="656332" y="2126853"/>
            <a:ext cx="7010598" cy="586085"/>
          </a:xfrm>
          <a:prstGeom prst="rect">
            <a:avLst/>
          </a:prstGeom>
          <a:noFill/>
        </p:spPr>
        <p:txBody>
          <a:bodyPr wrap="none" rtlCol="0" anchor="t"/>
          <a:lstStyle/>
          <a:p>
            <a:pPr marL="0" indent="0">
              <a:lnSpc>
                <a:spcPts val="554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Ba miền chính của Thang Bloom</a:t>
            </a:r>
          </a:p>
        </p:txBody>
      </p:sp>
      <p:sp>
        <p:nvSpPr>
          <p:cNvPr id="5" name="Text 3"/>
          <p:cNvSpPr/>
          <p:nvPr>
            <p:custDataLst>
              <p:tags r:id="rId3"/>
            </p:custDataLst>
          </p:nvPr>
        </p:nvSpPr>
        <p:spPr>
          <a:xfrm>
            <a:off x="656332" y="3181747"/>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Miền nhận thức</a:t>
            </a:r>
          </a:p>
        </p:txBody>
      </p:sp>
      <p:sp>
        <p:nvSpPr>
          <p:cNvPr id="6" name="Text 4"/>
          <p:cNvSpPr/>
          <p:nvPr>
            <p:custDataLst>
              <p:tags r:id="rId4"/>
            </p:custDataLst>
          </p:nvPr>
        </p:nvSpPr>
        <p:spPr>
          <a:xfrm>
            <a:off x="656332" y="3662263"/>
            <a:ext cx="3320951" cy="900113"/>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Tập trung vào kiến thức và quá trình tư duy. Bao gồm sáu cấp độ từ cơ bản đến phức tạp.</a:t>
            </a:r>
          </a:p>
        </p:txBody>
      </p:sp>
      <p:sp>
        <p:nvSpPr>
          <p:cNvPr id="7" name="Text 5"/>
          <p:cNvSpPr/>
          <p:nvPr>
            <p:custDataLst>
              <p:tags r:id="rId5"/>
            </p:custDataLst>
          </p:nvPr>
        </p:nvSpPr>
        <p:spPr>
          <a:xfrm>
            <a:off x="4441230" y="3181747"/>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Miền kỹ năng</a:t>
            </a:r>
          </a:p>
        </p:txBody>
      </p:sp>
      <p:sp>
        <p:nvSpPr>
          <p:cNvPr id="3" name="Text 6"/>
          <p:cNvSpPr/>
          <p:nvPr>
            <p:custDataLst>
              <p:tags r:id="rId6"/>
            </p:custDataLst>
          </p:nvPr>
        </p:nvSpPr>
        <p:spPr>
          <a:xfrm>
            <a:off x="4441230" y="3662263"/>
            <a:ext cx="3320951" cy="900113"/>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Liên quan đến các kỹ năng thực hành và phối hợp vận động. Có năm mức độ phát triển.</a:t>
            </a:r>
          </a:p>
        </p:txBody>
      </p:sp>
      <p:sp>
        <p:nvSpPr>
          <p:cNvPr id="9" name="Text 7"/>
          <p:cNvSpPr/>
          <p:nvPr>
            <p:custDataLst>
              <p:tags r:id="rId7"/>
            </p:custDataLst>
          </p:nvPr>
        </p:nvSpPr>
        <p:spPr>
          <a:xfrm>
            <a:off x="8226128" y="3181747"/>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Miền thái độ</a:t>
            </a:r>
          </a:p>
        </p:txBody>
      </p:sp>
      <p:sp>
        <p:nvSpPr>
          <p:cNvPr id="10" name="Text 8"/>
          <p:cNvSpPr/>
          <p:nvPr>
            <p:custDataLst>
              <p:tags r:id="rId8"/>
            </p:custDataLst>
          </p:nvPr>
        </p:nvSpPr>
        <p:spPr>
          <a:xfrm>
            <a:off x="8226128" y="3662263"/>
            <a:ext cx="3320951" cy="900113"/>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Đề cập đến cảm xúc và giá trị. Gồm năm mức độ từ tiếp nhận đến hình thành tính cách.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FFFFFF"/>
                </a:solidFill>
                <a:latin typeface="Roboto" panose="02000000000000000000" pitchFamily="2" charset="0"/>
                <a:ea typeface="Roboto" pitchFamily="34" charset="-122"/>
                <a:cs typeface="Roboto" pitchFamily="34" charset="-120"/>
              </a:rPr>
              <a:t>NA</a:t>
            </a:r>
            <a:endParaRPr lang="en-US" sz="640" dirty="0"/>
          </a:p>
        </p:txBody>
      </p:sp>
      <p:pic>
        <p:nvPicPr>
          <p:cNvPr id="11" name="Image 0" descr="preencoded.png"/>
          <p:cNvPicPr>
            <a:picLocks noChangeAspect="1"/>
          </p:cNvPicPr>
          <p:nvPr>
            <p:custDataLst>
              <p:tags r:id="rId2"/>
            </p:custDataLst>
          </p:nvPr>
        </p:nvPicPr>
        <p:blipFill>
          <a:blip r:embed="rId33"/>
          <a:stretch>
            <a:fillRect/>
          </a:stretch>
        </p:blipFill>
        <p:spPr>
          <a:xfrm>
            <a:off x="1962688" y="1666851"/>
            <a:ext cx="500520" cy="603604"/>
          </a:xfrm>
          <a:prstGeom prst="rect">
            <a:avLst/>
          </a:prstGeom>
        </p:spPr>
      </p:pic>
      <p:sp>
        <p:nvSpPr>
          <p:cNvPr id="12" name="Text 3"/>
          <p:cNvSpPr/>
          <p:nvPr>
            <p:custDataLst>
              <p:tags r:id="rId3"/>
            </p:custDataLst>
          </p:nvPr>
        </p:nvSpPr>
        <p:spPr>
          <a:xfrm>
            <a:off x="2148951" y="1837873"/>
            <a:ext cx="100310" cy="279461"/>
          </a:xfrm>
          <a:prstGeom prst="rect">
            <a:avLst/>
          </a:prstGeom>
          <a:noFill/>
        </p:spPr>
        <p:txBody>
          <a:bodyPr wrap="none" rtlCol="0" anchor="t"/>
          <a:lstStyle/>
          <a:p>
            <a:pPr marL="0" indent="0" algn="ctr">
              <a:lnSpc>
                <a:spcPts val="3545"/>
              </a:lnSpc>
              <a:buNone/>
            </a:pPr>
            <a:r>
              <a:rPr lang="en-US" sz="1845" dirty="0">
                <a:solidFill>
                  <a:srgbClr val="076365"/>
                </a:solidFill>
                <a:latin typeface="Raleway" pitchFamily="34" charset="0"/>
                <a:ea typeface="Raleway" pitchFamily="34" charset="-122"/>
                <a:cs typeface="Raleway" pitchFamily="34" charset="-120"/>
              </a:rPr>
              <a:t>6</a:t>
            </a:r>
          </a:p>
        </p:txBody>
      </p:sp>
      <p:sp>
        <p:nvSpPr>
          <p:cNvPr id="13" name="Text 4"/>
          <p:cNvSpPr/>
          <p:nvPr>
            <p:custDataLst>
              <p:tags r:id="rId4"/>
            </p:custDataLst>
          </p:nvPr>
        </p:nvSpPr>
        <p:spPr>
          <a:xfrm>
            <a:off x="2838652" y="1519659"/>
            <a:ext cx="2344242" cy="218320"/>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Sáng tạo</a:t>
            </a:r>
          </a:p>
        </p:txBody>
      </p:sp>
      <p:sp>
        <p:nvSpPr>
          <p:cNvPr id="14" name="Text 5"/>
          <p:cNvSpPr/>
          <p:nvPr>
            <p:custDataLst>
              <p:tags r:id="rId5"/>
            </p:custDataLst>
          </p:nvPr>
        </p:nvSpPr>
        <p:spPr>
          <a:xfrm>
            <a:off x="2882880" y="1840198"/>
            <a:ext cx="7125196" cy="223569"/>
          </a:xfrm>
          <a:prstGeom prst="rect">
            <a:avLst/>
          </a:prstGeom>
          <a:noFill/>
        </p:spPr>
        <p:txBody>
          <a:bodyPr wrap="non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Tạo ra sản phẩm hoặc ý tưởng mới. Kết hợp các yếu tố để tạo thành một tổng thể mới.</a:t>
            </a:r>
          </a:p>
        </p:txBody>
      </p:sp>
      <p:sp>
        <p:nvSpPr>
          <p:cNvPr id="15" name="Shape 6"/>
          <p:cNvSpPr/>
          <p:nvPr>
            <p:custDataLst>
              <p:tags r:id="rId6"/>
            </p:custDataLst>
          </p:nvPr>
        </p:nvSpPr>
        <p:spPr>
          <a:xfrm>
            <a:off x="3021973" y="2251405"/>
            <a:ext cx="7617123" cy="38099"/>
          </a:xfrm>
          <a:prstGeom prst="roundRect">
            <a:avLst>
              <a:gd name="adj" fmla="val 450052"/>
            </a:avLst>
          </a:prstGeom>
          <a:solidFill>
            <a:srgbClr val="C7C7D0"/>
          </a:solidFill>
        </p:spPr>
      </p:sp>
      <p:pic>
        <p:nvPicPr>
          <p:cNvPr id="16" name="Image 1" descr="preencoded.png"/>
          <p:cNvPicPr>
            <a:picLocks noChangeAspect="1"/>
          </p:cNvPicPr>
          <p:nvPr>
            <p:custDataLst>
              <p:tags r:id="rId7"/>
            </p:custDataLst>
          </p:nvPr>
        </p:nvPicPr>
        <p:blipFill>
          <a:blip r:embed="rId34"/>
          <a:stretch>
            <a:fillRect/>
          </a:stretch>
        </p:blipFill>
        <p:spPr>
          <a:xfrm>
            <a:off x="1652787" y="2410323"/>
            <a:ext cx="1120322" cy="666776"/>
          </a:xfrm>
          <a:prstGeom prst="rect">
            <a:avLst/>
          </a:prstGeom>
        </p:spPr>
      </p:pic>
      <p:sp>
        <p:nvSpPr>
          <p:cNvPr id="17" name="Text 7"/>
          <p:cNvSpPr/>
          <p:nvPr>
            <p:custDataLst>
              <p:tags r:id="rId8"/>
            </p:custDataLst>
          </p:nvPr>
        </p:nvSpPr>
        <p:spPr>
          <a:xfrm>
            <a:off x="2132885" y="2472364"/>
            <a:ext cx="122138" cy="279461"/>
          </a:xfrm>
          <a:prstGeom prst="rect">
            <a:avLst/>
          </a:prstGeom>
          <a:noFill/>
        </p:spPr>
        <p:txBody>
          <a:bodyPr wrap="none" rtlCol="0" anchor="t"/>
          <a:lstStyle/>
          <a:p>
            <a:pPr marL="0" indent="0" algn="ctr">
              <a:lnSpc>
                <a:spcPts val="3545"/>
              </a:lnSpc>
              <a:buNone/>
            </a:pPr>
            <a:r>
              <a:rPr lang="en-US" sz="1845" dirty="0">
                <a:solidFill>
                  <a:srgbClr val="076365"/>
                </a:solidFill>
                <a:latin typeface="Raleway" pitchFamily="34" charset="0"/>
                <a:ea typeface="Raleway" pitchFamily="34" charset="-122"/>
                <a:cs typeface="Raleway" pitchFamily="34" charset="-120"/>
              </a:rPr>
              <a:t>5</a:t>
            </a:r>
          </a:p>
        </p:txBody>
      </p:sp>
      <p:sp>
        <p:nvSpPr>
          <p:cNvPr id="18" name="Text 8"/>
          <p:cNvSpPr/>
          <p:nvPr>
            <p:custDataLst>
              <p:tags r:id="rId9"/>
            </p:custDataLst>
          </p:nvPr>
        </p:nvSpPr>
        <p:spPr>
          <a:xfrm>
            <a:off x="3130718" y="2363100"/>
            <a:ext cx="2344242" cy="218320"/>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Tổng hợp, Đánh giá</a:t>
            </a:r>
          </a:p>
        </p:txBody>
      </p:sp>
      <p:sp>
        <p:nvSpPr>
          <p:cNvPr id="19" name="Text 9"/>
          <p:cNvSpPr/>
          <p:nvPr>
            <p:custDataLst>
              <p:tags r:id="rId10"/>
            </p:custDataLst>
          </p:nvPr>
        </p:nvSpPr>
        <p:spPr>
          <a:xfrm>
            <a:off x="3130718" y="2659052"/>
            <a:ext cx="6474917" cy="223569"/>
          </a:xfrm>
          <a:prstGeom prst="rect">
            <a:avLst/>
          </a:prstGeom>
          <a:noFill/>
        </p:spPr>
        <p:txBody>
          <a:bodyPr wrap="non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Đưa ra phán đoán dựa trên tiêu chí. Xem xét giá trị của thông tin hoặc ý tưởng.</a:t>
            </a:r>
          </a:p>
        </p:txBody>
      </p:sp>
      <p:sp>
        <p:nvSpPr>
          <p:cNvPr id="20" name="Shape 10"/>
          <p:cNvSpPr/>
          <p:nvPr>
            <p:custDataLst>
              <p:tags r:id="rId11"/>
            </p:custDataLst>
          </p:nvPr>
        </p:nvSpPr>
        <p:spPr>
          <a:xfrm>
            <a:off x="3247692" y="3043098"/>
            <a:ext cx="7168357" cy="38099"/>
          </a:xfrm>
          <a:prstGeom prst="roundRect">
            <a:avLst>
              <a:gd name="adj" fmla="val 450052"/>
            </a:avLst>
          </a:prstGeom>
          <a:solidFill>
            <a:srgbClr val="C7C7D0"/>
          </a:solidFill>
        </p:spPr>
      </p:sp>
      <p:pic>
        <p:nvPicPr>
          <p:cNvPr id="21" name="Image 2" descr="preencoded.png"/>
          <p:cNvPicPr>
            <a:picLocks noChangeAspect="1"/>
          </p:cNvPicPr>
          <p:nvPr>
            <p:custDataLst>
              <p:tags r:id="rId12"/>
            </p:custDataLst>
          </p:nvPr>
        </p:nvPicPr>
        <p:blipFill>
          <a:blip r:embed="rId35"/>
          <a:stretch>
            <a:fillRect/>
          </a:stretch>
        </p:blipFill>
        <p:spPr>
          <a:xfrm>
            <a:off x="1332192" y="3199633"/>
            <a:ext cx="1787071" cy="750666"/>
          </a:xfrm>
          <a:prstGeom prst="rect">
            <a:avLst/>
          </a:prstGeom>
        </p:spPr>
      </p:pic>
      <p:sp>
        <p:nvSpPr>
          <p:cNvPr id="22" name="Text 11"/>
          <p:cNvSpPr/>
          <p:nvPr>
            <p:custDataLst>
              <p:tags r:id="rId13"/>
            </p:custDataLst>
          </p:nvPr>
        </p:nvSpPr>
        <p:spPr>
          <a:xfrm>
            <a:off x="2116793" y="3368006"/>
            <a:ext cx="125214" cy="279461"/>
          </a:xfrm>
          <a:prstGeom prst="rect">
            <a:avLst/>
          </a:prstGeom>
          <a:noFill/>
        </p:spPr>
        <p:txBody>
          <a:bodyPr wrap="none" rtlCol="0" anchor="t"/>
          <a:lstStyle/>
          <a:p>
            <a:pPr marL="0" indent="0" algn="ctr">
              <a:lnSpc>
                <a:spcPts val="3545"/>
              </a:lnSpc>
              <a:buNone/>
            </a:pPr>
            <a:r>
              <a:rPr lang="en-US" sz="1845" dirty="0">
                <a:solidFill>
                  <a:srgbClr val="076365"/>
                </a:solidFill>
                <a:latin typeface="Raleway" pitchFamily="34" charset="0"/>
                <a:ea typeface="Raleway" pitchFamily="34" charset="-122"/>
                <a:cs typeface="Raleway" pitchFamily="34" charset="-120"/>
              </a:rPr>
              <a:t>4</a:t>
            </a:r>
          </a:p>
        </p:txBody>
      </p:sp>
      <p:sp>
        <p:nvSpPr>
          <p:cNvPr id="23" name="Text 12"/>
          <p:cNvSpPr/>
          <p:nvPr>
            <p:custDataLst>
              <p:tags r:id="rId14"/>
            </p:custDataLst>
          </p:nvPr>
        </p:nvSpPr>
        <p:spPr>
          <a:xfrm>
            <a:off x="3436882" y="3179976"/>
            <a:ext cx="2344242" cy="210540"/>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Phân tích</a:t>
            </a:r>
          </a:p>
        </p:txBody>
      </p:sp>
      <p:sp>
        <p:nvSpPr>
          <p:cNvPr id="24" name="Text 13"/>
          <p:cNvSpPr/>
          <p:nvPr>
            <p:custDataLst>
              <p:tags r:id="rId15"/>
            </p:custDataLst>
          </p:nvPr>
        </p:nvSpPr>
        <p:spPr>
          <a:xfrm>
            <a:off x="3491566" y="3513288"/>
            <a:ext cx="8312260" cy="447138"/>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Chia nhỏ thông tin thành các phần để hiểu sâu hơn. Xác định mối quan hệ giữa các phần.</a:t>
            </a:r>
          </a:p>
        </p:txBody>
      </p:sp>
      <p:sp>
        <p:nvSpPr>
          <p:cNvPr id="25" name="Shape 14"/>
          <p:cNvSpPr/>
          <p:nvPr>
            <p:custDataLst>
              <p:tags r:id="rId16"/>
            </p:custDataLst>
          </p:nvPr>
        </p:nvSpPr>
        <p:spPr>
          <a:xfrm>
            <a:off x="3874766" y="4898887"/>
            <a:ext cx="6719590" cy="38099"/>
          </a:xfrm>
          <a:prstGeom prst="roundRect">
            <a:avLst>
              <a:gd name="adj" fmla="val 450052"/>
            </a:avLst>
          </a:prstGeom>
          <a:solidFill>
            <a:srgbClr val="C7C7D0"/>
          </a:solidFill>
        </p:spPr>
      </p:sp>
      <p:pic>
        <p:nvPicPr>
          <p:cNvPr id="26" name="Image 3" descr="preencoded.png"/>
          <p:cNvPicPr>
            <a:picLocks noChangeAspect="1"/>
          </p:cNvPicPr>
          <p:nvPr>
            <p:custDataLst>
              <p:tags r:id="rId17"/>
            </p:custDataLst>
          </p:nvPr>
        </p:nvPicPr>
        <p:blipFill>
          <a:blip r:embed="rId36"/>
          <a:stretch>
            <a:fillRect/>
          </a:stretch>
        </p:blipFill>
        <p:spPr>
          <a:xfrm>
            <a:off x="987852" y="4062870"/>
            <a:ext cx="2503714" cy="788764"/>
          </a:xfrm>
          <a:prstGeom prst="rect">
            <a:avLst/>
          </a:prstGeom>
        </p:spPr>
      </p:pic>
      <p:sp>
        <p:nvSpPr>
          <p:cNvPr id="27" name="Text 15"/>
          <p:cNvSpPr/>
          <p:nvPr>
            <p:custDataLst>
              <p:tags r:id="rId18"/>
            </p:custDataLst>
          </p:nvPr>
        </p:nvSpPr>
        <p:spPr>
          <a:xfrm>
            <a:off x="2131776" y="4192364"/>
            <a:ext cx="127993" cy="279461"/>
          </a:xfrm>
          <a:prstGeom prst="rect">
            <a:avLst/>
          </a:prstGeom>
          <a:noFill/>
        </p:spPr>
        <p:txBody>
          <a:bodyPr wrap="none" rtlCol="0" anchor="t"/>
          <a:lstStyle/>
          <a:p>
            <a:pPr marL="0" indent="0" algn="ctr">
              <a:lnSpc>
                <a:spcPts val="3545"/>
              </a:lnSpc>
              <a:buNone/>
            </a:pPr>
            <a:r>
              <a:rPr lang="en-US" sz="1845" dirty="0">
                <a:solidFill>
                  <a:srgbClr val="076365"/>
                </a:solidFill>
                <a:latin typeface="Raleway" pitchFamily="34" charset="0"/>
                <a:ea typeface="Raleway" pitchFamily="34" charset="-122"/>
                <a:cs typeface="Raleway" pitchFamily="34" charset="-120"/>
              </a:rPr>
              <a:t>3</a:t>
            </a:r>
          </a:p>
        </p:txBody>
      </p:sp>
      <p:sp>
        <p:nvSpPr>
          <p:cNvPr id="28" name="Text 16"/>
          <p:cNvSpPr/>
          <p:nvPr>
            <p:custDataLst>
              <p:tags r:id="rId19"/>
            </p:custDataLst>
          </p:nvPr>
        </p:nvSpPr>
        <p:spPr>
          <a:xfrm>
            <a:off x="3761792" y="4164821"/>
            <a:ext cx="2344242" cy="218320"/>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Vận dụng</a:t>
            </a:r>
          </a:p>
        </p:txBody>
      </p:sp>
      <p:sp>
        <p:nvSpPr>
          <p:cNvPr id="29" name="Text 17"/>
          <p:cNvSpPr/>
          <p:nvPr>
            <p:custDataLst>
              <p:tags r:id="rId20"/>
            </p:custDataLst>
          </p:nvPr>
        </p:nvSpPr>
        <p:spPr>
          <a:xfrm>
            <a:off x="3788952" y="4420734"/>
            <a:ext cx="8437646" cy="447138"/>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Áp dụng kiến thức vào tình huống mới. Sử dụng thông tin trong bối cảnh khác.</a:t>
            </a:r>
          </a:p>
        </p:txBody>
      </p:sp>
      <p:sp>
        <p:nvSpPr>
          <p:cNvPr id="30" name="Shape 18"/>
          <p:cNvSpPr/>
          <p:nvPr>
            <p:custDataLst>
              <p:tags r:id="rId21"/>
            </p:custDataLst>
          </p:nvPr>
        </p:nvSpPr>
        <p:spPr>
          <a:xfrm>
            <a:off x="4145225" y="5807724"/>
            <a:ext cx="6270823" cy="38099"/>
          </a:xfrm>
          <a:prstGeom prst="roundRect">
            <a:avLst>
              <a:gd name="adj" fmla="val 450052"/>
            </a:avLst>
          </a:prstGeom>
          <a:solidFill>
            <a:srgbClr val="C7C7D0"/>
          </a:solidFill>
        </p:spPr>
      </p:sp>
      <p:pic>
        <p:nvPicPr>
          <p:cNvPr id="31" name="Image 4" descr="preencoded.png"/>
          <p:cNvPicPr>
            <a:picLocks noChangeAspect="1"/>
          </p:cNvPicPr>
          <p:nvPr>
            <p:custDataLst>
              <p:tags r:id="rId22"/>
            </p:custDataLst>
          </p:nvPr>
        </p:nvPicPr>
        <p:blipFill>
          <a:blip r:embed="rId37"/>
          <a:stretch>
            <a:fillRect/>
          </a:stretch>
        </p:blipFill>
        <p:spPr>
          <a:xfrm>
            <a:off x="613987" y="4950208"/>
            <a:ext cx="3256039" cy="805569"/>
          </a:xfrm>
          <a:prstGeom prst="rect">
            <a:avLst/>
          </a:prstGeom>
        </p:spPr>
      </p:pic>
      <p:sp>
        <p:nvSpPr>
          <p:cNvPr id="32" name="Text 19"/>
          <p:cNvSpPr/>
          <p:nvPr>
            <p:custDataLst>
              <p:tags r:id="rId23"/>
            </p:custDataLst>
          </p:nvPr>
        </p:nvSpPr>
        <p:spPr>
          <a:xfrm>
            <a:off x="2132467" y="5141490"/>
            <a:ext cx="127794" cy="279461"/>
          </a:xfrm>
          <a:prstGeom prst="rect">
            <a:avLst/>
          </a:prstGeom>
          <a:noFill/>
        </p:spPr>
        <p:txBody>
          <a:bodyPr wrap="none" rtlCol="0" anchor="t"/>
          <a:lstStyle/>
          <a:p>
            <a:pPr marL="0" indent="0" algn="ctr">
              <a:lnSpc>
                <a:spcPts val="3545"/>
              </a:lnSpc>
              <a:buNone/>
            </a:pPr>
            <a:r>
              <a:rPr lang="en-US" sz="1845" dirty="0">
                <a:solidFill>
                  <a:srgbClr val="076365"/>
                </a:solidFill>
                <a:latin typeface="Raleway" pitchFamily="34" charset="0"/>
                <a:ea typeface="Raleway" pitchFamily="34" charset="-122"/>
                <a:cs typeface="Raleway" pitchFamily="34" charset="-120"/>
              </a:rPr>
              <a:t>2</a:t>
            </a:r>
          </a:p>
        </p:txBody>
      </p:sp>
      <p:sp>
        <p:nvSpPr>
          <p:cNvPr id="33" name="Text 20"/>
          <p:cNvSpPr/>
          <p:nvPr>
            <p:custDataLst>
              <p:tags r:id="rId24"/>
            </p:custDataLst>
          </p:nvPr>
        </p:nvSpPr>
        <p:spPr>
          <a:xfrm>
            <a:off x="4003047" y="5072579"/>
            <a:ext cx="2344242" cy="218320"/>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Hiểu</a:t>
            </a:r>
          </a:p>
        </p:txBody>
      </p:sp>
      <p:sp>
        <p:nvSpPr>
          <p:cNvPr id="34" name="Text 21"/>
          <p:cNvSpPr/>
          <p:nvPr>
            <p:custDataLst>
              <p:tags r:id="rId25"/>
            </p:custDataLst>
          </p:nvPr>
        </p:nvSpPr>
        <p:spPr>
          <a:xfrm>
            <a:off x="4010773" y="5312260"/>
            <a:ext cx="7629721" cy="447138"/>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Diễn giải và giải thích thông tin bằng từ ngữ của mình. Thể hiện sự nắm bắt ý nghĩa.</a:t>
            </a:r>
          </a:p>
        </p:txBody>
      </p:sp>
      <p:sp>
        <p:nvSpPr>
          <p:cNvPr id="35" name="Shape 22"/>
          <p:cNvSpPr/>
          <p:nvPr>
            <p:custDataLst>
              <p:tags r:id="rId26"/>
            </p:custDataLst>
          </p:nvPr>
        </p:nvSpPr>
        <p:spPr>
          <a:xfrm>
            <a:off x="3646609" y="3949445"/>
            <a:ext cx="7052212" cy="38099"/>
          </a:xfrm>
          <a:prstGeom prst="roundRect">
            <a:avLst>
              <a:gd name="adj" fmla="val 450052"/>
            </a:avLst>
          </a:prstGeom>
          <a:solidFill>
            <a:srgbClr val="C7C7D0"/>
          </a:solidFill>
        </p:spPr>
      </p:sp>
      <p:pic>
        <p:nvPicPr>
          <p:cNvPr id="36" name="Image 5" descr="preencoded.png"/>
          <p:cNvPicPr>
            <a:picLocks noChangeAspect="1"/>
          </p:cNvPicPr>
          <p:nvPr>
            <p:custDataLst>
              <p:tags r:id="rId27"/>
            </p:custDataLst>
          </p:nvPr>
        </p:nvPicPr>
        <p:blipFill>
          <a:blip r:embed="rId38"/>
          <a:stretch>
            <a:fillRect/>
          </a:stretch>
        </p:blipFill>
        <p:spPr>
          <a:xfrm>
            <a:off x="271562" y="5863773"/>
            <a:ext cx="3908330" cy="793028"/>
          </a:xfrm>
          <a:prstGeom prst="rect">
            <a:avLst/>
          </a:prstGeom>
        </p:spPr>
      </p:pic>
      <p:sp>
        <p:nvSpPr>
          <p:cNvPr id="37" name="Text 23"/>
          <p:cNvSpPr/>
          <p:nvPr>
            <p:custDataLst>
              <p:tags r:id="rId28"/>
            </p:custDataLst>
          </p:nvPr>
        </p:nvSpPr>
        <p:spPr>
          <a:xfrm>
            <a:off x="2137938" y="6049190"/>
            <a:ext cx="141387" cy="279461"/>
          </a:xfrm>
          <a:prstGeom prst="rect">
            <a:avLst/>
          </a:prstGeom>
          <a:noFill/>
        </p:spPr>
        <p:txBody>
          <a:bodyPr wrap="none" rtlCol="0" anchor="t"/>
          <a:lstStyle/>
          <a:p>
            <a:pPr marL="0" indent="0" algn="ctr">
              <a:lnSpc>
                <a:spcPts val="3545"/>
              </a:lnSpc>
              <a:buNone/>
            </a:pPr>
            <a:r>
              <a:rPr lang="en-US" sz="1845" dirty="0">
                <a:solidFill>
                  <a:srgbClr val="076365"/>
                </a:solidFill>
              </a:rPr>
              <a:t>1</a:t>
            </a:r>
          </a:p>
        </p:txBody>
      </p:sp>
      <p:sp>
        <p:nvSpPr>
          <p:cNvPr id="38" name="Text 24"/>
          <p:cNvSpPr/>
          <p:nvPr>
            <p:custDataLst>
              <p:tags r:id="rId29"/>
            </p:custDataLst>
          </p:nvPr>
        </p:nvSpPr>
        <p:spPr>
          <a:xfrm>
            <a:off x="4348452" y="5933303"/>
            <a:ext cx="2344242" cy="218320"/>
          </a:xfrm>
          <a:prstGeom prst="rect">
            <a:avLst/>
          </a:prstGeom>
          <a:noFill/>
        </p:spPr>
        <p:txBody>
          <a:bodyPr wrap="none" rtlCol="0" anchor="t"/>
          <a:lstStyle/>
          <a:p>
            <a:pPr marL="0" indent="0" algn="l">
              <a:lnSpc>
                <a:spcPts val="2770"/>
              </a:lnSpc>
              <a:buNone/>
            </a:pPr>
            <a:r>
              <a:rPr lang="en-US" sz="1845" b="1" dirty="0">
                <a:solidFill>
                  <a:srgbClr val="076365"/>
                </a:solidFill>
                <a:latin typeface="Raleway" pitchFamily="34" charset="0"/>
                <a:ea typeface="Raleway" pitchFamily="34" charset="-122"/>
                <a:cs typeface="Raleway" pitchFamily="34" charset="-120"/>
              </a:rPr>
              <a:t>Biết</a:t>
            </a:r>
          </a:p>
        </p:txBody>
      </p:sp>
      <p:sp>
        <p:nvSpPr>
          <p:cNvPr id="39" name="Text 25"/>
          <p:cNvSpPr/>
          <p:nvPr>
            <p:custDataLst>
              <p:tags r:id="rId30"/>
            </p:custDataLst>
          </p:nvPr>
        </p:nvSpPr>
        <p:spPr>
          <a:xfrm>
            <a:off x="4348452" y="6191682"/>
            <a:ext cx="6954362" cy="447138"/>
          </a:xfrm>
          <a:prstGeom prst="rect">
            <a:avLst/>
          </a:prstGeom>
          <a:noFill/>
        </p:spPr>
        <p:txBody>
          <a:bodyPr wrap="square" rtlCol="0" anchor="t"/>
          <a:lstStyle/>
          <a:p>
            <a:pPr marL="0" indent="0" algn="l">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Khả năng ghi nhớ và tái hiện thông tin. Là nền tảng cho các cấp độ cao hơn.</a:t>
            </a:r>
          </a:p>
        </p:txBody>
      </p:sp>
      <p:sp>
        <p:nvSpPr>
          <p:cNvPr id="40" name="Text 2"/>
          <p:cNvSpPr/>
          <p:nvPr>
            <p:custDataLst>
              <p:tags r:id="rId31"/>
            </p:custDataLst>
          </p:nvPr>
        </p:nvSpPr>
        <p:spPr>
          <a:xfrm>
            <a:off x="576668" y="646398"/>
            <a:ext cx="7479407" cy="586085"/>
          </a:xfrm>
          <a:prstGeom prst="rect">
            <a:avLst/>
          </a:prstGeom>
          <a:noFill/>
        </p:spPr>
        <p:txBody>
          <a:bodyPr wrap="none" rtlCol="0" anchor="t"/>
          <a:lstStyle/>
          <a:p>
            <a:pPr marL="0" indent="0">
              <a:lnSpc>
                <a:spcPts val="554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Miền nhận thức: 6 </a:t>
            </a:r>
            <a:r>
              <a:rPr lang="en-US" sz="3690" b="1" dirty="0" err="1">
                <a:solidFill>
                  <a:srgbClr val="4472C4"/>
                </a:solidFill>
                <a:latin typeface="Arial" panose="020B0604020202020204" pitchFamily="34" charset="0"/>
                <a:ea typeface="Roboto" panose="02000000000000000000" pitchFamily="2" charset="0"/>
                <a:cs typeface="Arial" panose="020B0604020202020204" pitchFamily="34" charset="0"/>
              </a:rPr>
              <a:t>cấp</a:t>
            </a: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 độ tư duy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076365"/>
                </a:solidFill>
                <a:latin typeface="Roboto" panose="02000000000000000000" pitchFamily="2" charset="0"/>
                <a:ea typeface="Roboto" pitchFamily="34" charset="-122"/>
                <a:cs typeface="Roboto" pitchFamily="34" charset="-120"/>
              </a:rPr>
              <a:t>NA</a:t>
            </a:r>
          </a:p>
        </p:txBody>
      </p:sp>
      <p:sp>
        <p:nvSpPr>
          <p:cNvPr id="4" name="Text 2"/>
          <p:cNvSpPr/>
          <p:nvPr>
            <p:custDataLst>
              <p:tags r:id="rId2"/>
            </p:custDataLst>
          </p:nvPr>
        </p:nvSpPr>
        <p:spPr>
          <a:xfrm>
            <a:off x="656332" y="1488083"/>
            <a:ext cx="7874198" cy="586085"/>
          </a:xfrm>
          <a:prstGeom prst="rect">
            <a:avLst/>
          </a:prstGeom>
          <a:noFill/>
        </p:spPr>
        <p:txBody>
          <a:bodyPr wrap="none" rtlCol="0" anchor="t"/>
          <a:lstStyle/>
          <a:p>
            <a:pPr marL="0" indent="0">
              <a:lnSpc>
                <a:spcPts val="5540"/>
              </a:lnSpc>
              <a:buNone/>
            </a:pPr>
            <a:r>
              <a:rPr lang="en-US" sz="3690" b="1" dirty="0">
                <a:solidFill>
                  <a:srgbClr val="4472C4"/>
                </a:solidFill>
                <a:latin typeface="Arial" panose="020B0604020202020204" pitchFamily="34" charset="0"/>
                <a:ea typeface="Roboto" panose="02000000000000000000" pitchFamily="2" charset="0"/>
                <a:cs typeface="Arial" panose="020B0604020202020204" pitchFamily="34" charset="0"/>
              </a:rPr>
              <a:t>Miền thái độ: 5 mức độ phát triển</a:t>
            </a:r>
          </a:p>
        </p:txBody>
      </p:sp>
      <p:sp>
        <p:nvSpPr>
          <p:cNvPr id="5" name="Shape 3"/>
          <p:cNvSpPr/>
          <p:nvPr>
            <p:custDataLst>
              <p:tags r:id="rId3"/>
            </p:custDataLst>
          </p:nvPr>
        </p:nvSpPr>
        <p:spPr>
          <a:xfrm>
            <a:off x="656332" y="2660154"/>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6" name="Text 4"/>
          <p:cNvSpPr/>
          <p:nvPr>
            <p:custDataLst>
              <p:tags r:id="rId4"/>
            </p:custDataLst>
          </p:nvPr>
        </p:nvSpPr>
        <p:spPr>
          <a:xfrm>
            <a:off x="807045" y="2730500"/>
            <a:ext cx="120452"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1</a:t>
            </a:r>
          </a:p>
        </p:txBody>
      </p:sp>
      <p:sp>
        <p:nvSpPr>
          <p:cNvPr id="7" name="Text 5"/>
          <p:cNvSpPr/>
          <p:nvPr>
            <p:custDataLst>
              <p:tags r:id="rId5"/>
            </p:custDataLst>
          </p:nvPr>
        </p:nvSpPr>
        <p:spPr>
          <a:xfrm>
            <a:off x="1265833" y="2660154"/>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Tiếp nhận</a:t>
            </a:r>
          </a:p>
        </p:txBody>
      </p:sp>
      <p:sp>
        <p:nvSpPr>
          <p:cNvPr id="3" name="Text 6"/>
          <p:cNvSpPr/>
          <p:nvPr>
            <p:custDataLst>
              <p:tags r:id="rId6"/>
            </p:custDataLst>
          </p:nvPr>
        </p:nvSpPr>
        <p:spPr>
          <a:xfrm>
            <a:off x="1265833" y="3065661"/>
            <a:ext cx="2891929" cy="900113"/>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Nhận thức và chú ý đến hiện tượng. Sẵn sàng lắng nghe và quan sát.</a:t>
            </a:r>
          </a:p>
        </p:txBody>
      </p:sp>
      <p:sp>
        <p:nvSpPr>
          <p:cNvPr id="9" name="Shape 7"/>
          <p:cNvSpPr/>
          <p:nvPr>
            <p:custDataLst>
              <p:tags r:id="rId7"/>
            </p:custDataLst>
          </p:nvPr>
        </p:nvSpPr>
        <p:spPr>
          <a:xfrm>
            <a:off x="4345285" y="2660154"/>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10" name="Text 8"/>
          <p:cNvSpPr/>
          <p:nvPr>
            <p:custDataLst>
              <p:tags r:id="rId8"/>
            </p:custDataLst>
          </p:nvPr>
        </p:nvSpPr>
        <p:spPr>
          <a:xfrm>
            <a:off x="4482902" y="2730500"/>
            <a:ext cx="146645"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2</a:t>
            </a:r>
          </a:p>
        </p:txBody>
      </p:sp>
      <p:sp>
        <p:nvSpPr>
          <p:cNvPr id="11" name="Text 9"/>
          <p:cNvSpPr/>
          <p:nvPr>
            <p:custDataLst>
              <p:tags r:id="rId9"/>
            </p:custDataLst>
          </p:nvPr>
        </p:nvSpPr>
        <p:spPr>
          <a:xfrm>
            <a:off x="4954786" y="2660154"/>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Hồi đáp</a:t>
            </a:r>
          </a:p>
        </p:txBody>
      </p:sp>
      <p:sp>
        <p:nvSpPr>
          <p:cNvPr id="12" name="Text 10"/>
          <p:cNvSpPr/>
          <p:nvPr>
            <p:custDataLst>
              <p:tags r:id="rId10"/>
            </p:custDataLst>
          </p:nvPr>
        </p:nvSpPr>
        <p:spPr>
          <a:xfrm>
            <a:off x="4954786" y="3065661"/>
            <a:ext cx="2891929" cy="900113"/>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Tham gia tích cực vào hoạt động. Thể hiện sự quan tâm và phản ứng.</a:t>
            </a:r>
          </a:p>
        </p:txBody>
      </p:sp>
      <p:sp>
        <p:nvSpPr>
          <p:cNvPr id="13" name="Shape 11"/>
          <p:cNvSpPr/>
          <p:nvPr>
            <p:custDataLst>
              <p:tags r:id="rId11"/>
            </p:custDataLst>
          </p:nvPr>
        </p:nvSpPr>
        <p:spPr>
          <a:xfrm>
            <a:off x="8034238" y="2660154"/>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14" name="Text 12"/>
          <p:cNvSpPr/>
          <p:nvPr>
            <p:custDataLst>
              <p:tags r:id="rId12"/>
            </p:custDataLst>
          </p:nvPr>
        </p:nvSpPr>
        <p:spPr>
          <a:xfrm>
            <a:off x="8170069" y="2730500"/>
            <a:ext cx="150218"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3</a:t>
            </a:r>
          </a:p>
        </p:txBody>
      </p:sp>
      <p:sp>
        <p:nvSpPr>
          <p:cNvPr id="15" name="Text 13"/>
          <p:cNvSpPr/>
          <p:nvPr>
            <p:custDataLst>
              <p:tags r:id="rId13"/>
            </p:custDataLst>
          </p:nvPr>
        </p:nvSpPr>
        <p:spPr>
          <a:xfrm>
            <a:off x="8643739" y="2660154"/>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Tỏ thái độ</a:t>
            </a:r>
          </a:p>
        </p:txBody>
      </p:sp>
      <p:sp>
        <p:nvSpPr>
          <p:cNvPr id="16" name="Text 14"/>
          <p:cNvSpPr/>
          <p:nvPr>
            <p:custDataLst>
              <p:tags r:id="rId14"/>
            </p:custDataLst>
          </p:nvPr>
        </p:nvSpPr>
        <p:spPr>
          <a:xfrm>
            <a:off x="8643739" y="3065661"/>
            <a:ext cx="2891929" cy="900113"/>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Gán giá trị cho đối tượng hoặc hiện tượng. Bày tỏ sự đánh giá cá nhân.</a:t>
            </a:r>
          </a:p>
        </p:txBody>
      </p:sp>
      <p:sp>
        <p:nvSpPr>
          <p:cNvPr id="17" name="Shape 15"/>
          <p:cNvSpPr/>
          <p:nvPr>
            <p:custDataLst>
              <p:tags r:id="rId15"/>
            </p:custDataLst>
          </p:nvPr>
        </p:nvSpPr>
        <p:spPr>
          <a:xfrm>
            <a:off x="656332" y="4364236"/>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18" name="Text 16"/>
          <p:cNvSpPr/>
          <p:nvPr>
            <p:custDataLst>
              <p:tags r:id="rId16"/>
            </p:custDataLst>
          </p:nvPr>
        </p:nvSpPr>
        <p:spPr>
          <a:xfrm>
            <a:off x="790476" y="4434582"/>
            <a:ext cx="153591"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4</a:t>
            </a:r>
          </a:p>
        </p:txBody>
      </p:sp>
      <p:sp>
        <p:nvSpPr>
          <p:cNvPr id="19" name="Text 17"/>
          <p:cNvSpPr/>
          <p:nvPr>
            <p:custDataLst>
              <p:tags r:id="rId17"/>
            </p:custDataLst>
          </p:nvPr>
        </p:nvSpPr>
        <p:spPr>
          <a:xfrm>
            <a:off x="1265833" y="4364236"/>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Tổ chức</a:t>
            </a:r>
          </a:p>
        </p:txBody>
      </p:sp>
      <p:sp>
        <p:nvSpPr>
          <p:cNvPr id="20" name="Text 18"/>
          <p:cNvSpPr/>
          <p:nvPr>
            <p:custDataLst>
              <p:tags r:id="rId18"/>
            </p:custDataLst>
          </p:nvPr>
        </p:nvSpPr>
        <p:spPr>
          <a:xfrm>
            <a:off x="1265833" y="4769743"/>
            <a:ext cx="4736406" cy="600075"/>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Sắp xếp các giá trị thành hệ thống. Giải quyết xung đột giữa các giá trị.</a:t>
            </a:r>
          </a:p>
        </p:txBody>
      </p:sp>
      <p:sp>
        <p:nvSpPr>
          <p:cNvPr id="21" name="Shape 19"/>
          <p:cNvSpPr/>
          <p:nvPr>
            <p:custDataLst>
              <p:tags r:id="rId19"/>
            </p:custDataLst>
          </p:nvPr>
        </p:nvSpPr>
        <p:spPr>
          <a:xfrm>
            <a:off x="6189762" y="4364236"/>
            <a:ext cx="421978" cy="421978"/>
          </a:xfrm>
          <a:prstGeom prst="roundRect">
            <a:avLst>
              <a:gd name="adj" fmla="val 20000"/>
            </a:avLst>
          </a:prstGeom>
        </p:spPr>
        <p:style>
          <a:lnRef idx="1">
            <a:srgbClr val="5B9BD5"/>
          </a:lnRef>
          <a:fillRef idx="2">
            <a:srgbClr val="5B9BD5"/>
          </a:fillRef>
          <a:effectRef idx="1">
            <a:srgbClr val="5B9BD5"/>
          </a:effectRef>
          <a:fontRef idx="minor">
            <a:sysClr val="windowText" lastClr="000000"/>
          </a:fontRef>
        </p:style>
      </p:sp>
      <p:sp>
        <p:nvSpPr>
          <p:cNvPr id="22" name="Text 20"/>
          <p:cNvSpPr/>
          <p:nvPr>
            <p:custDataLst>
              <p:tags r:id="rId20"/>
            </p:custDataLst>
          </p:nvPr>
        </p:nvSpPr>
        <p:spPr>
          <a:xfrm>
            <a:off x="6324005" y="4434582"/>
            <a:ext cx="153393" cy="281285"/>
          </a:xfrm>
          <a:prstGeom prst="rect">
            <a:avLst/>
          </a:prstGeom>
          <a:noFill/>
        </p:spPr>
        <p:txBody>
          <a:bodyPr wrap="none" rtlCol="0" anchor="t"/>
          <a:lstStyle/>
          <a:p>
            <a:pPr marL="0" indent="0" algn="ctr">
              <a:lnSpc>
                <a:spcPts val="2660"/>
              </a:lnSpc>
              <a:buNone/>
            </a:pPr>
            <a:r>
              <a:rPr lang="en-US" sz="2215" dirty="0">
                <a:solidFill>
                  <a:srgbClr val="076365"/>
                </a:solidFill>
                <a:latin typeface="Raleway" pitchFamily="34" charset="0"/>
                <a:ea typeface="Raleway" pitchFamily="34" charset="-122"/>
                <a:cs typeface="Raleway" pitchFamily="34" charset="-120"/>
              </a:rPr>
              <a:t>5</a:t>
            </a:r>
          </a:p>
        </p:txBody>
      </p:sp>
      <p:sp>
        <p:nvSpPr>
          <p:cNvPr id="23" name="Text 21"/>
          <p:cNvSpPr/>
          <p:nvPr>
            <p:custDataLst>
              <p:tags r:id="rId21"/>
            </p:custDataLst>
          </p:nvPr>
        </p:nvSpPr>
        <p:spPr>
          <a:xfrm>
            <a:off x="6799263" y="4364236"/>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Tính cách</a:t>
            </a:r>
          </a:p>
        </p:txBody>
      </p:sp>
      <p:sp>
        <p:nvSpPr>
          <p:cNvPr id="24" name="Text 22"/>
          <p:cNvSpPr/>
          <p:nvPr>
            <p:custDataLst>
              <p:tags r:id="rId22"/>
            </p:custDataLst>
          </p:nvPr>
        </p:nvSpPr>
        <p:spPr>
          <a:xfrm>
            <a:off x="6799263" y="4769743"/>
            <a:ext cx="4736406" cy="600075"/>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Hành động nhất quán theo hệ giá trị. Phát triển triết lý sống cá nhân.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a:latin typeface="Arial" panose="020B0604020202020204" pitchFamily="34" charset="0"/>
                <a:ea typeface="+mn-ea"/>
                <a:cs typeface="Arial" panose="020B0604020202020204" pitchFamily="34" charset="0"/>
                <a:sym typeface="+mn-ea"/>
              </a:rPr>
              <a:t>1.3. Học để làm gì?</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076365"/>
                </a:solidFill>
                <a:latin typeface="Roboto" panose="02000000000000000000" pitchFamily="2" charset="0"/>
                <a:ea typeface="Roboto" pitchFamily="34" charset="-122"/>
                <a:cs typeface="Roboto" pitchFamily="34" charset="-120"/>
              </a:rPr>
              <a:t>NA</a:t>
            </a:r>
          </a:p>
        </p:txBody>
      </p:sp>
      <p:pic>
        <p:nvPicPr>
          <p:cNvPr id="4" name="Image 0" descr="preencoded.png"/>
          <p:cNvPicPr>
            <a:picLocks noChangeAspect="1"/>
          </p:cNvPicPr>
          <p:nvPr>
            <p:custDataLst>
              <p:tags r:id="rId2"/>
            </p:custDataLst>
          </p:nvPr>
        </p:nvPicPr>
        <p:blipFill>
          <a:blip r:embed="rId17"/>
          <a:stretch>
            <a:fillRect/>
          </a:stretch>
        </p:blipFill>
        <p:spPr>
          <a:xfrm>
            <a:off x="0" y="22303"/>
            <a:ext cx="12192000" cy="2344242"/>
          </a:xfrm>
          <a:prstGeom prst="rect">
            <a:avLst/>
          </a:prstGeom>
        </p:spPr>
      </p:pic>
      <p:sp>
        <p:nvSpPr>
          <p:cNvPr id="5" name="Text 2"/>
          <p:cNvSpPr/>
          <p:nvPr>
            <p:custDataLst>
              <p:tags r:id="rId3"/>
            </p:custDataLst>
          </p:nvPr>
        </p:nvSpPr>
        <p:spPr>
          <a:xfrm>
            <a:off x="656333" y="2479059"/>
            <a:ext cx="10879336" cy="1172170"/>
          </a:xfrm>
          <a:prstGeom prst="rect">
            <a:avLst/>
          </a:prstGeom>
          <a:noFill/>
        </p:spPr>
        <p:txBody>
          <a:bodyPr wrap="square" rtlCol="0" anchor="t"/>
          <a:lstStyle/>
          <a:p>
            <a:pPr marL="0" indent="0">
              <a:lnSpc>
                <a:spcPts val="5540"/>
              </a:lnSpc>
              <a:buNone/>
            </a:pPr>
            <a:r>
              <a:rPr lang="en-US" sz="3335" b="1" dirty="0">
                <a:solidFill>
                  <a:srgbClr val="4472C4"/>
                </a:solidFill>
                <a:latin typeface="Arial" panose="020B0604020202020204" pitchFamily="34" charset="0"/>
                <a:ea typeface="Roboto" panose="02000000000000000000" pitchFamily="2" charset="0"/>
                <a:cs typeface="Arial" panose="020B0604020202020204" pitchFamily="34" charset="0"/>
              </a:rPr>
              <a:t>Ứng dụng Thang Bloom trong xây dựng mục tiêu học tập</a:t>
            </a:r>
          </a:p>
        </p:txBody>
      </p:sp>
      <p:sp>
        <p:nvSpPr>
          <p:cNvPr id="6" name="Shape 3"/>
          <p:cNvSpPr/>
          <p:nvPr>
            <p:custDataLst>
              <p:tags r:id="rId4"/>
            </p:custDataLst>
          </p:nvPr>
        </p:nvSpPr>
        <p:spPr>
          <a:xfrm>
            <a:off x="765189" y="3353102"/>
            <a:ext cx="5345907" cy="1393329"/>
          </a:xfrm>
          <a:prstGeom prst="roundRect">
            <a:avLst>
              <a:gd name="adj" fmla="val 6057"/>
            </a:avLst>
          </a:prstGeom>
          <a:solidFill>
            <a:srgbClr val="E1E1EA"/>
          </a:solidFill>
          <a:ln w="7620">
            <a:solidFill>
              <a:srgbClr val="C7C7D0"/>
            </a:solidFill>
            <a:prstDash val="solid"/>
          </a:ln>
        </p:spPr>
      </p:sp>
      <p:sp>
        <p:nvSpPr>
          <p:cNvPr id="7" name="Text 4"/>
          <p:cNvSpPr/>
          <p:nvPr>
            <p:custDataLst>
              <p:tags r:id="rId5"/>
            </p:custDataLst>
          </p:nvPr>
        </p:nvSpPr>
        <p:spPr>
          <a:xfrm>
            <a:off x="959063" y="3546975"/>
            <a:ext cx="2488407"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Xác định cấp độ tư duy</a:t>
            </a:r>
          </a:p>
        </p:txBody>
      </p:sp>
      <p:sp>
        <p:nvSpPr>
          <p:cNvPr id="3" name="Text 5"/>
          <p:cNvSpPr/>
          <p:nvPr>
            <p:custDataLst>
              <p:tags r:id="rId6"/>
            </p:custDataLst>
          </p:nvPr>
        </p:nvSpPr>
        <p:spPr>
          <a:xfrm>
            <a:off x="959063" y="3952483"/>
            <a:ext cx="4958159" cy="600075"/>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Chọn cấp độ tư duy phù hợp với nội dung và đối tượng học sinh. Đảm bảo cân bằng giữa các cấp độ.</a:t>
            </a:r>
          </a:p>
        </p:txBody>
      </p:sp>
      <p:sp>
        <p:nvSpPr>
          <p:cNvPr id="9" name="Shape 6"/>
          <p:cNvSpPr/>
          <p:nvPr>
            <p:custDataLst>
              <p:tags r:id="rId7"/>
            </p:custDataLst>
          </p:nvPr>
        </p:nvSpPr>
        <p:spPr>
          <a:xfrm>
            <a:off x="6298619" y="3353102"/>
            <a:ext cx="5345907" cy="1393329"/>
          </a:xfrm>
          <a:prstGeom prst="roundRect">
            <a:avLst>
              <a:gd name="adj" fmla="val 6057"/>
            </a:avLst>
          </a:prstGeom>
          <a:solidFill>
            <a:srgbClr val="E1E1EA"/>
          </a:solidFill>
          <a:ln w="7620">
            <a:solidFill>
              <a:srgbClr val="C7C7D0"/>
            </a:solidFill>
            <a:prstDash val="solid"/>
          </a:ln>
        </p:spPr>
      </p:sp>
      <p:sp>
        <p:nvSpPr>
          <p:cNvPr id="10" name="Text 7"/>
          <p:cNvSpPr/>
          <p:nvPr>
            <p:custDataLst>
              <p:tags r:id="rId8"/>
            </p:custDataLst>
          </p:nvPr>
        </p:nvSpPr>
        <p:spPr>
          <a:xfrm>
            <a:off x="6492493" y="3546975"/>
            <a:ext cx="3411538"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Sử dụng động từ chỉ hành động</a:t>
            </a:r>
          </a:p>
        </p:txBody>
      </p:sp>
      <p:sp>
        <p:nvSpPr>
          <p:cNvPr id="11" name="Text 8"/>
          <p:cNvSpPr/>
          <p:nvPr>
            <p:custDataLst>
              <p:tags r:id="rId9"/>
            </p:custDataLst>
          </p:nvPr>
        </p:nvSpPr>
        <p:spPr>
          <a:xfrm>
            <a:off x="6492493" y="3952483"/>
            <a:ext cx="4958159" cy="600075"/>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Chọn động từ phù hợp với cấp độ tư duy. Ví dụ: "liệt kê" cho cấp độ Nhớ, "phân tích" cho cấp độ Phân tích.</a:t>
            </a:r>
          </a:p>
        </p:txBody>
      </p:sp>
      <p:sp>
        <p:nvSpPr>
          <p:cNvPr id="12" name="Shape 9"/>
          <p:cNvSpPr/>
          <p:nvPr>
            <p:custDataLst>
              <p:tags r:id="rId10"/>
            </p:custDataLst>
          </p:nvPr>
        </p:nvSpPr>
        <p:spPr>
          <a:xfrm>
            <a:off x="765189" y="4933954"/>
            <a:ext cx="5345907" cy="1393329"/>
          </a:xfrm>
          <a:prstGeom prst="roundRect">
            <a:avLst>
              <a:gd name="adj" fmla="val 6057"/>
            </a:avLst>
          </a:prstGeom>
          <a:solidFill>
            <a:srgbClr val="E1E1EA"/>
          </a:solidFill>
          <a:ln w="7620">
            <a:solidFill>
              <a:srgbClr val="C7C7D0"/>
            </a:solidFill>
            <a:prstDash val="solid"/>
          </a:ln>
        </p:spPr>
      </p:sp>
      <p:sp>
        <p:nvSpPr>
          <p:cNvPr id="13" name="Text 10"/>
          <p:cNvSpPr/>
          <p:nvPr>
            <p:custDataLst>
              <p:tags r:id="rId11"/>
            </p:custDataLst>
          </p:nvPr>
        </p:nvSpPr>
        <p:spPr>
          <a:xfrm>
            <a:off x="959063" y="5127828"/>
            <a:ext cx="2344242"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Đặt ra yêu cầu cụ thể</a:t>
            </a:r>
          </a:p>
        </p:txBody>
      </p:sp>
      <p:sp>
        <p:nvSpPr>
          <p:cNvPr id="14" name="Text 11"/>
          <p:cNvSpPr/>
          <p:nvPr>
            <p:custDataLst>
              <p:tags r:id="rId12"/>
            </p:custDataLst>
          </p:nvPr>
        </p:nvSpPr>
        <p:spPr>
          <a:xfrm>
            <a:off x="959063" y="5533335"/>
            <a:ext cx="4958159" cy="600075"/>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Mô tả rõ ràng kết quả mong đợi. Xác định tiêu chí đánh giá để đo lường sự thành công.</a:t>
            </a:r>
          </a:p>
        </p:txBody>
      </p:sp>
      <p:sp>
        <p:nvSpPr>
          <p:cNvPr id="15" name="Shape 12"/>
          <p:cNvSpPr/>
          <p:nvPr>
            <p:custDataLst>
              <p:tags r:id="rId13"/>
            </p:custDataLst>
          </p:nvPr>
        </p:nvSpPr>
        <p:spPr>
          <a:xfrm>
            <a:off x="6298619" y="4933954"/>
            <a:ext cx="5345907" cy="1393329"/>
          </a:xfrm>
          <a:prstGeom prst="roundRect">
            <a:avLst>
              <a:gd name="adj" fmla="val 6057"/>
            </a:avLst>
          </a:prstGeom>
          <a:solidFill>
            <a:srgbClr val="E1E1EA"/>
          </a:solidFill>
          <a:ln w="7620">
            <a:solidFill>
              <a:srgbClr val="C7C7D0"/>
            </a:solidFill>
            <a:prstDash val="solid"/>
          </a:ln>
        </p:spPr>
      </p:sp>
      <p:sp>
        <p:nvSpPr>
          <p:cNvPr id="16" name="Text 13"/>
          <p:cNvSpPr/>
          <p:nvPr>
            <p:custDataLst>
              <p:tags r:id="rId14"/>
            </p:custDataLst>
          </p:nvPr>
        </p:nvSpPr>
        <p:spPr>
          <a:xfrm>
            <a:off x="6492493" y="5127828"/>
            <a:ext cx="3091657" cy="292993"/>
          </a:xfrm>
          <a:prstGeom prst="rect">
            <a:avLst/>
          </a:prstGeom>
          <a:noFill/>
        </p:spPr>
        <p:txBody>
          <a:bodyPr wrap="none" rtlCol="0" anchor="t"/>
          <a:lstStyle/>
          <a:p>
            <a:pPr marL="0" indent="0">
              <a:lnSpc>
                <a:spcPts val="2770"/>
              </a:lnSpc>
              <a:buNone/>
            </a:pPr>
            <a:r>
              <a:rPr lang="en-US" sz="1845" b="1" dirty="0">
                <a:solidFill>
                  <a:srgbClr val="076365"/>
                </a:solidFill>
                <a:latin typeface="Raleway" pitchFamily="34" charset="0"/>
                <a:ea typeface="Raleway" pitchFamily="34" charset="-122"/>
                <a:cs typeface="Raleway" pitchFamily="34" charset="-120"/>
              </a:rPr>
              <a:t>Liên kết với nội dung bài học</a:t>
            </a:r>
          </a:p>
        </p:txBody>
      </p:sp>
      <p:sp>
        <p:nvSpPr>
          <p:cNvPr id="17" name="Text 14"/>
          <p:cNvSpPr/>
          <p:nvPr>
            <p:custDataLst>
              <p:tags r:id="rId15"/>
            </p:custDataLst>
          </p:nvPr>
        </p:nvSpPr>
        <p:spPr>
          <a:xfrm>
            <a:off x="6492493" y="5533335"/>
            <a:ext cx="4958159" cy="600075"/>
          </a:xfrm>
          <a:prstGeom prst="rect">
            <a:avLst/>
          </a:prstGeom>
          <a:noFill/>
        </p:spPr>
        <p:txBody>
          <a:bodyPr wrap="square" rtlCol="0" anchor="t"/>
          <a:lstStyle/>
          <a:p>
            <a:pPr marL="0" indent="0">
              <a:lnSpc>
                <a:spcPts val="2835"/>
              </a:lnSpc>
              <a:buNone/>
            </a:pPr>
            <a:r>
              <a:rPr lang="en-US" sz="1475" dirty="0">
                <a:solidFill>
                  <a:srgbClr val="076365"/>
                </a:solidFill>
                <a:latin typeface="Roboto" panose="02000000000000000000" pitchFamily="2" charset="0"/>
                <a:ea typeface="Roboto" pitchFamily="34" charset="-122"/>
                <a:cs typeface="Roboto" pitchFamily="34" charset="-120"/>
              </a:rPr>
              <a:t>Đảm bảo mục tiêu phản ánh kiến thức và kỹ năng quan trọng trong bài học. Tạo sự kết nối với thực tế.</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smtClean="0">
                <a:latin typeface="Arial" panose="020B0604020202020204" pitchFamily="34" charset="0"/>
                <a:ea typeface="+mn-ea"/>
                <a:cs typeface="Arial" panose="020B0604020202020204" pitchFamily="34" charset="0"/>
                <a:sym typeface="+mn-ea"/>
              </a:rPr>
              <a:t>CÂU HỎI ÔN TẬP</a:t>
            </a:r>
            <a:endParaRPr lang="en-US" sz="2665">
              <a:latin typeface="Arial" panose="020B0604020202020204" pitchFamily="34" charset="0"/>
              <a:cs typeface="Arial" panose="020B0604020202020204" pitchFamily="34" charset="0"/>
            </a:endParaRPr>
          </a:p>
        </p:txBody>
      </p:sp>
      <p:sp>
        <p:nvSpPr>
          <p:cNvPr id="8" name="Text 5"/>
          <p:cNvSpPr/>
          <p:nvPr>
            <p:custDataLst>
              <p:tags r:id="rId1"/>
            </p:custDataLst>
          </p:nvPr>
        </p:nvSpPr>
        <p:spPr>
          <a:xfrm>
            <a:off x="750094" y="4743153"/>
            <a:ext cx="112514" cy="81260"/>
          </a:xfrm>
          <a:prstGeom prst="rect">
            <a:avLst/>
          </a:prstGeom>
          <a:noFill/>
        </p:spPr>
        <p:txBody>
          <a:bodyPr wrap="none" rtlCol="0" anchor="t"/>
          <a:lstStyle/>
          <a:p>
            <a:pPr marL="0" indent="0" algn="ctr">
              <a:lnSpc>
                <a:spcPts val="770"/>
              </a:lnSpc>
              <a:buNone/>
            </a:pPr>
            <a:r>
              <a:rPr lang="en-US" sz="640" dirty="0">
                <a:solidFill>
                  <a:srgbClr val="FFFFFF"/>
                </a:solidFill>
                <a:latin typeface="Roboto" panose="02000000000000000000" pitchFamily="2" charset="0"/>
                <a:ea typeface="Roboto" pitchFamily="34" charset="-122"/>
                <a:cs typeface="Roboto" pitchFamily="34" charset="-120"/>
              </a:rPr>
              <a:t>NA</a:t>
            </a:r>
            <a:endParaRPr lang="en-US" sz="640" dirty="0"/>
          </a:p>
        </p:txBody>
      </p:sp>
      <p:sp>
        <p:nvSpPr>
          <p:cNvPr id="3" name="Text Box 2"/>
          <p:cNvSpPr txBox="1"/>
          <p:nvPr/>
        </p:nvSpPr>
        <p:spPr>
          <a:xfrm>
            <a:off x="354330" y="855345"/>
            <a:ext cx="11660505" cy="5133713"/>
          </a:xfrm>
          <a:prstGeom prst="rect">
            <a:avLst/>
          </a:prstGeom>
          <a:noFill/>
        </p:spPr>
        <p:txBody>
          <a:bodyPr wrap="square" rtlCol="0" anchor="t">
            <a:spAutoFit/>
          </a:bodyPr>
          <a:lstStyle/>
          <a:p>
            <a:pPr>
              <a:lnSpc>
                <a:spcPct val="140000"/>
              </a:lnSpc>
            </a:pPr>
            <a:endParaRPr lang="en-US">
              <a:solidFill>
                <a:srgbClr val="076365"/>
              </a:solidFill>
              <a:latin typeface="Arial" panose="020B0604020202020204" pitchFamily="34" charset="0"/>
              <a:cs typeface="Arial" panose="020B0604020202020204" pitchFamily="34" charset="0"/>
            </a:endParaRPr>
          </a:p>
          <a:p>
            <a:pPr>
              <a:lnSpc>
                <a:spcPct val="140000"/>
              </a:lnSpc>
            </a:pPr>
            <a:r>
              <a:rPr lang="en-US">
                <a:solidFill>
                  <a:srgbClr val="076365"/>
                </a:solidFill>
                <a:latin typeface="Arial" panose="020B0604020202020204" pitchFamily="34" charset="0"/>
                <a:cs typeface="Arial" panose="020B0604020202020204" pitchFamily="34" charset="0"/>
              </a:rPr>
              <a:t>1. Hãy so sánh phương pháp giảng dạy tại bậc THPT và Đại học. Điểm khác biệt chính là gì?</a:t>
            </a:r>
          </a:p>
          <a:p>
            <a:pPr>
              <a:lnSpc>
                <a:spcPct val="140000"/>
              </a:lnSpc>
            </a:pPr>
            <a:r>
              <a:rPr lang="en-US">
                <a:solidFill>
                  <a:srgbClr val="076365"/>
                </a:solidFill>
                <a:latin typeface="Arial" panose="020B0604020202020204" pitchFamily="34" charset="0"/>
                <a:cs typeface="Arial" panose="020B0604020202020204" pitchFamily="34" charset="0"/>
              </a:rPr>
              <a:t>2. Giải thích sự khác nhau giữa "giám sát chặt chẽ" ở THPT và "tự quản lý" ở đại học?</a:t>
            </a:r>
          </a:p>
          <a:p>
            <a:pPr>
              <a:lnSpc>
                <a:spcPct val="140000"/>
              </a:lnSpc>
            </a:pPr>
            <a:r>
              <a:rPr lang="en-US">
                <a:solidFill>
                  <a:srgbClr val="076365"/>
                </a:solidFill>
                <a:latin typeface="Arial" panose="020B0604020202020204" pitchFamily="34" charset="0"/>
                <a:cs typeface="Arial" panose="020B0604020202020204" pitchFamily="34" charset="0"/>
              </a:rPr>
              <a:t>3. Mục tiêu học tập tại đại học khác với THPT như thế nào về việc tiếp thu thông tin và hiểu sâu kiến thức?</a:t>
            </a:r>
          </a:p>
          <a:p>
            <a:pPr>
              <a:lnSpc>
                <a:spcPct val="140000"/>
              </a:lnSpc>
            </a:pPr>
            <a:r>
              <a:rPr lang="en-US">
                <a:solidFill>
                  <a:srgbClr val="076365"/>
                </a:solidFill>
                <a:latin typeface="Arial" panose="020B0604020202020204" pitchFamily="34" charset="0"/>
                <a:cs typeface="Arial" panose="020B0604020202020204" pitchFamily="34" charset="0"/>
              </a:rPr>
              <a:t>4. Vai trò của giáo viên ở THPT và giảng viên đại học có gì khác nhau?</a:t>
            </a:r>
          </a:p>
          <a:p>
            <a:pPr>
              <a:lnSpc>
                <a:spcPct val="140000"/>
              </a:lnSpc>
            </a:pPr>
            <a:r>
              <a:rPr lang="en-US">
                <a:solidFill>
                  <a:srgbClr val="076365"/>
                </a:solidFill>
                <a:latin typeface="Arial" panose="020B0604020202020204" pitchFamily="34" charset="0"/>
                <a:cs typeface="Arial" panose="020B0604020202020204" pitchFamily="34" charset="0"/>
              </a:rPr>
              <a:t>5. Hãy nêu các kỹ năng quản lý thời gian mà sinh viên đại học cần phát triển?</a:t>
            </a:r>
          </a:p>
          <a:p>
            <a:pPr>
              <a:lnSpc>
                <a:spcPct val="140000"/>
              </a:lnSpc>
            </a:pPr>
            <a:r>
              <a:rPr lang="en-US">
                <a:solidFill>
                  <a:srgbClr val="076365"/>
                </a:solidFill>
                <a:latin typeface="Arial" panose="020B0604020202020204" pitchFamily="34" charset="0"/>
                <a:cs typeface="Arial" panose="020B0604020202020204" pitchFamily="34" charset="0"/>
              </a:rPr>
              <a:t>6. Làm thế nào để sinh viên đại học được khuyến khích tham gia vào cộng đồng học thuật và mạng lưới học tập?</a:t>
            </a:r>
          </a:p>
          <a:p>
            <a:pPr>
              <a:lnSpc>
                <a:spcPct val="140000"/>
              </a:lnSpc>
            </a:pPr>
            <a:r>
              <a:rPr lang="en-US">
                <a:solidFill>
                  <a:srgbClr val="076365"/>
                </a:solidFill>
                <a:latin typeface="Arial" panose="020B0604020202020204" pitchFamily="34" charset="0"/>
                <a:cs typeface="Arial" panose="020B0604020202020204" pitchFamily="34" charset="0"/>
              </a:rPr>
              <a:t>7. Tại sao khả năng tự học và quản lý thời gian hiệu quả lại quan trọng đối với sinh viên đại học?</a:t>
            </a:r>
          </a:p>
          <a:p>
            <a:pPr>
              <a:lnSpc>
                <a:spcPct val="140000"/>
              </a:lnSpc>
            </a:pPr>
            <a:r>
              <a:rPr lang="en-US">
                <a:solidFill>
                  <a:srgbClr val="076365"/>
                </a:solidFill>
                <a:latin typeface="Arial" panose="020B0604020202020204" pitchFamily="34" charset="0"/>
                <a:cs typeface="Arial" panose="020B0604020202020204" pitchFamily="34" charset="0"/>
              </a:rPr>
              <a:t>8. Sinh viên cần phải có những yếu tố gì để tự động lực trong học tập?</a:t>
            </a:r>
          </a:p>
          <a:p>
            <a:pPr>
              <a:lnSpc>
                <a:spcPct val="140000"/>
              </a:lnSpc>
            </a:pPr>
            <a:r>
              <a:rPr lang="en-US">
                <a:solidFill>
                  <a:srgbClr val="076365"/>
                </a:solidFill>
                <a:latin typeface="Arial" panose="020B0604020202020204" pitchFamily="34" charset="0"/>
                <a:cs typeface="Arial" panose="020B0604020202020204" pitchFamily="34" charset="0"/>
              </a:rPr>
              <a:t>9. Tại sao kỹ năng tự tư duy và giải quyết vấn đề lại quan trọng đối với sinh viên đại học?</a:t>
            </a:r>
          </a:p>
          <a:p>
            <a:pPr>
              <a:lnSpc>
                <a:spcPct val="140000"/>
              </a:lnSpc>
            </a:pPr>
            <a:r>
              <a:rPr lang="en-US">
                <a:solidFill>
                  <a:srgbClr val="076365"/>
                </a:solidFill>
                <a:latin typeface="Arial" panose="020B0604020202020204" pitchFamily="34" charset="0"/>
                <a:cs typeface="Arial" panose="020B0604020202020204" pitchFamily="34" charset="0"/>
              </a:rPr>
              <a:t>10. Làm thế nào để sinh viên có thể xác định và cải thiện phương pháp học tập của mình?</a:t>
            </a:r>
          </a:p>
          <a:p>
            <a:pPr>
              <a:lnSpc>
                <a:spcPct val="140000"/>
              </a:lnSpc>
            </a:pPr>
            <a:r>
              <a:rPr lang="en-US">
                <a:solidFill>
                  <a:srgbClr val="076365"/>
                </a:solidFill>
                <a:latin typeface="Arial" panose="020B0604020202020204" pitchFamily="34" charset="0"/>
                <a:cs typeface="Arial" panose="020B0604020202020204" pitchFamily="34" charset="0"/>
              </a:rPr>
              <a:t>11. Giải thích ý nghĩa của mỗi trụ cột trong 4 trụ cột giáo dục của UNESCO?</a:t>
            </a:r>
          </a:p>
          <a:p>
            <a:pPr>
              <a:lnSpc>
                <a:spcPct val="140000"/>
              </a:lnSpc>
            </a:pPr>
            <a:r>
              <a:rPr lang="en-US">
                <a:solidFill>
                  <a:srgbClr val="076365"/>
                </a:solidFill>
                <a:latin typeface="Arial" panose="020B0604020202020204" pitchFamily="34" charset="0"/>
                <a:cs typeface="Arial" panose="020B0604020202020204" pitchFamily="34" charset="0"/>
              </a:rPr>
              <a:t>12. Hãy liệt kê và giải thích các miền và cấp độ trong Thang Bloom?</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3345</Words>
  <Application>Microsoft Office PowerPoint</Application>
  <PresentationFormat>Widescreen</PresentationFormat>
  <Paragraphs>263</Paragraphs>
  <Slides>28</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Arial</vt:lpstr>
      <vt:lpstr>Calibri</vt:lpstr>
      <vt:lpstr>Calibri Light</vt:lpstr>
      <vt:lpstr>Cambria</vt:lpstr>
      <vt:lpstr>Courier New</vt:lpstr>
      <vt:lpstr>Raleway</vt:lpstr>
      <vt:lpstr>Roboto</vt:lpstr>
      <vt:lpstr>Tahoma</vt:lpstr>
      <vt:lpstr>Wingdings</vt:lpstr>
      <vt:lpstr>Office Theme</vt:lpstr>
      <vt:lpstr>Custom Design</vt:lpstr>
      <vt:lpstr>PHƯƠNG PHÁP NGHIÊN CỨU RESEARCH METHODS</vt:lpstr>
      <vt:lpstr>CHƯƠNG 1 TỔNG QUAN VỀ HỌC ĐẠI HỌC</vt:lpstr>
      <vt:lpstr>TỔNG QUAN VỀ HỌC ĐẠI HỌC</vt:lpstr>
      <vt:lpstr>1.1. Đại học khác với THPT như thế nào?</vt:lpstr>
      <vt:lpstr>1.1. Đại học khác với THPT như thế nào?</vt:lpstr>
      <vt:lpstr>1.1. Đại học khác với THPT như thế nào?</vt:lpstr>
      <vt:lpstr>1.1. Đại học khác với THPT như thế nào?</vt:lpstr>
      <vt:lpstr>1.1. Đại học khác với THPT như thế nào?</vt:lpstr>
      <vt:lpstr>1.1. Đại học khác với THPT như thế nào?</vt:lpstr>
      <vt:lpstr>1.2. Những kỳ vọng đối với một sinh viên Đại học</vt:lpstr>
      <vt:lpstr>1.2. Những kỳ vọng đối với một sinh viên Đại học</vt:lpstr>
      <vt:lpstr>1.2. Những kỳ vọng đối với một sinh viên Đại học</vt:lpstr>
      <vt:lpstr>1.2. Những kỳ vọng đối với một sinh viên Đại học</vt:lpstr>
      <vt:lpstr>1.2. Những kỳ vọng đối với một sinh viên Đại học</vt:lpstr>
      <vt:lpstr>1.2. Những kỳ vọng đối với một sinh viên Đại học</vt:lpstr>
      <vt:lpstr>1.2. Những kỳ vọng đối với một sinh viên Đại học</vt:lpstr>
      <vt:lpstr>1.2. Những kỳ vọng đối với một sinh viên Đại học</vt:lpstr>
      <vt:lpstr>1.3. Học để làm gì?</vt:lpstr>
      <vt:lpstr>1.3. Học để làm gì?</vt:lpstr>
      <vt:lpstr>1.3. Học để làm gì?</vt:lpstr>
      <vt:lpstr>1.3. Học để làm gì?</vt:lpstr>
      <vt:lpstr>1.3. Học để làm gì?</vt:lpstr>
      <vt:lpstr>1.3. Học để làm gì?</vt:lpstr>
      <vt:lpstr>1.3. Học để làm gì?</vt:lpstr>
      <vt:lpstr>1.3. Học để làm gì?</vt:lpstr>
      <vt:lpstr>1.3. Học để làm gì?</vt:lpstr>
      <vt:lpstr>1.3. Học để làm gì?</vt:lpstr>
      <vt:lpstr>CÂU HỎI ÔN TẬP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40</cp:revision>
  <dcterms:created xsi:type="dcterms:W3CDTF">2024-06-28T03:54:00Z</dcterms:created>
  <dcterms:modified xsi:type="dcterms:W3CDTF">2024-09-24T13:32:52Z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DB0A3BF8B9FB4DA99BCE1B048D80CDDB_13</vt:lpwstr>
  </property>
  <property fmtid="{D5CDD505-2E9C-101B-9397-08002B2CF9AE}" pid="3" name="KSOProductBuildVer">
    <vt:lpwstr>1033-12.2.0.17119</vt:lpwstr>
  </property>
</Properties>
</file>