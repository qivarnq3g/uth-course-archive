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0"/>
  </p:notesMasterIdLst>
  <p:sldIdLst>
    <p:sldId id="256" r:id="rId3"/>
    <p:sldId id="270" r:id="rId4"/>
    <p:sldId id="271" r:id="rId5"/>
    <p:sldId id="259" r:id="rId6"/>
    <p:sldId id="260" r:id="rId7"/>
    <p:sldId id="272"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365"/>
    <a:srgbClr val="0DAFB3"/>
    <a:srgbClr val="0000FF"/>
    <a:srgbClr val="EC141C"/>
    <a:srgbClr val="129498"/>
    <a:srgbClr val="DAF7FE"/>
    <a:srgbClr val="0A898C"/>
    <a:srgbClr val="0A9195"/>
    <a:srgbClr val="1998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00" autoAdjust="0"/>
  </p:normalViewPr>
  <p:slideViewPr>
    <p:cSldViewPr snapToGrid="0">
      <p:cViewPr varScale="1">
        <p:scale>
          <a:sx n="80" d="100"/>
          <a:sy n="80" d="100"/>
        </p:scale>
        <p:origin x="354" y="84"/>
      </p:cViewPr>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68340-3059-40EF-9160-57AC746D5666}" type="datetimeFigureOut">
              <a:rPr lang="en-US" smtClean="0"/>
              <a:t>10/29/2024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8058F-5A0C-48C3-9E1E-A582E275123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sp>
        <p:nvSpPr>
          <p:cNvPr id="2" name="Title 1"/>
          <p:cNvSpPr>
            <a:spLocks noGrp="1"/>
          </p:cNvSpPr>
          <p:nvPr>
            <p:ph type="ctrTitle"/>
          </p:nvPr>
        </p:nvSpPr>
        <p:spPr>
          <a:xfrm>
            <a:off x="2786062" y="1466720"/>
            <a:ext cx="8886825" cy="1019175"/>
          </a:xfrm>
        </p:spPr>
        <p:txBody>
          <a:bodyPr anchor="b">
            <a:normAutofit/>
          </a:bodyPr>
          <a:lstStyle>
            <a:lvl1pPr algn="ctr">
              <a:defRPr sz="5400" b="1">
                <a:solidFill>
                  <a:srgbClr val="C00000"/>
                </a:solidFill>
              </a:defRPr>
            </a:lvl1pPr>
          </a:lstStyle>
          <a:p>
            <a:r>
              <a:rPr lang="en-US" smtClean="0"/>
              <a:t>Click to edit Master title style</a:t>
            </a:r>
            <a:endParaRPr lang="en-US"/>
          </a:p>
        </p:txBody>
      </p:sp>
      <p:sp>
        <p:nvSpPr>
          <p:cNvPr id="3" name="Subtitle 2"/>
          <p:cNvSpPr>
            <a:spLocks noGrp="1"/>
          </p:cNvSpPr>
          <p:nvPr>
            <p:ph type="subTitle" idx="1"/>
          </p:nvPr>
        </p:nvSpPr>
        <p:spPr>
          <a:xfrm>
            <a:off x="4648200" y="3602038"/>
            <a:ext cx="7086600" cy="1655762"/>
          </a:xfrm>
        </p:spPr>
        <p:txBody>
          <a:bodyPr/>
          <a:lstStyle>
            <a:lvl1pPr marL="0" indent="0" algn="r">
              <a:buNone/>
              <a:defRPr sz="2400">
                <a:solidFill>
                  <a:srgbClr val="0A919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ECE94F-11F9-45E4-8D06-0AC4D6BFEED6}" type="datetime1">
              <a:rPr lang="en-US" smtClean="0"/>
              <a:t>10/29/2024</a:t>
            </a:fld>
            <a:endParaRPr lang="en-US"/>
          </a:p>
        </p:txBody>
      </p:sp>
      <p:sp>
        <p:nvSpPr>
          <p:cNvPr id="6" name="Slide Number Placeholder 5"/>
          <p:cNvSpPr>
            <a:spLocks noGrp="1"/>
          </p:cNvSpPr>
          <p:nvPr>
            <p:ph type="sldNum" sz="quarter" idx="12"/>
          </p:nvPr>
        </p:nvSpPr>
        <p:spPr>
          <a:xfrm>
            <a:off x="8991600" y="6350000"/>
            <a:ext cx="2743200" cy="365125"/>
          </a:xfrm>
        </p:spPr>
        <p:txBody>
          <a:bodyPr/>
          <a:lstStyle/>
          <a:p>
            <a:fld id="{C36C28B4-5B52-467A-9173-204C9E91858B}"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 y="428624"/>
            <a:ext cx="7160862" cy="6429376"/>
          </a:xfrm>
          <a:prstGeom prst="rect">
            <a:avLst/>
          </a:prstGeom>
        </p:spPr>
      </p:pic>
      <p:pic>
        <p:nvPicPr>
          <p:cNvPr id="9" name="Picture 5" descr="Text&#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76365"/>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marL="457200" indent="-457200">
              <a:buFont typeface="Wingdings" panose="05000000000000000000" pitchFamily="2" charset="2"/>
              <a:buChar char="Ø"/>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F8F7E1-8BCE-45EF-A868-64AE44F67317}" type="datetime1">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C389AF-00FE-4C46-88EE-7D3AF84DEE91}" type="datetime1">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FE1B9B-9546-49BB-A231-2D228B447CF9}" type="datetime1">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A853D1-AF0A-4441-9936-92D33E013A0A}" type="datetime1">
              <a:rPr lang="en-US" smtClean="0"/>
              <a:t>10/29/2024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3D3556-4644-4EAE-97C5-9EDFC621DEA3}" type="datetime1">
              <a:rPr lang="en-US" smtClean="0"/>
              <a:t>10/29/2024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14698-A7AC-4D25-A5BB-F10E7085E25B}" type="datetime1">
              <a:rPr lang="en-US" smtClean="0"/>
              <a:t>10/29/2024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D2C327B-78CE-4235-8E05-A364819A1895}" type="datetime1">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AB2EC0-C644-4862-8A09-4D5DF9D6F1F0}" type="datetime1">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285DDE-73E1-456C-BB9E-29746C5C4DAE}" type="datetime1">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F215B-B3B9-495F-A814-E7D4D370FE67}" type="datetime1">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892"/>
            <a:ext cx="9144000" cy="2387600"/>
          </a:xfrm>
        </p:spPr>
        <p:txBody>
          <a:bodyPr anchor="b"/>
          <a:lstStyle>
            <a:lvl1pPr algn="ctr">
              <a:defRPr sz="4000"/>
            </a:lvl1pPr>
          </a:lstStyle>
          <a:p>
            <a:r>
              <a:rPr lang="en-US"/>
              <a:t>Click to edit Master title style</a:t>
            </a:r>
          </a:p>
        </p:txBody>
      </p:sp>
      <p:sp>
        <p:nvSpPr>
          <p:cNvPr id="3" name="Subtitle 2"/>
          <p:cNvSpPr>
            <a:spLocks noGrp="1"/>
          </p:cNvSpPr>
          <p:nvPr>
            <p:ph type="subTitle" idx="1"/>
          </p:nvPr>
        </p:nvSpPr>
        <p:spPr>
          <a:xfrm>
            <a:off x="1524000" y="3602567"/>
            <a:ext cx="9144000" cy="1655233"/>
          </a:xfrm>
        </p:spPr>
        <p:txBody>
          <a:bodyPr/>
          <a:lstStyle>
            <a:lvl1pPr marL="0" indent="0" algn="ctr">
              <a:buNone/>
              <a:defRPr sz="1600"/>
            </a:lvl1pPr>
            <a:lvl2pPr marL="304800" indent="0" algn="ctr">
              <a:buNone/>
              <a:defRPr sz="1335"/>
            </a:lvl2pPr>
            <a:lvl3pPr marL="609600" indent="0" algn="ctr">
              <a:buNone/>
              <a:defRPr sz="1200"/>
            </a:lvl3pPr>
            <a:lvl4pPr marL="914400" indent="0" algn="ctr">
              <a:buNone/>
              <a:defRPr sz="1065"/>
            </a:lvl4pPr>
            <a:lvl5pPr marL="1219200" indent="0" algn="ctr">
              <a:buNone/>
              <a:defRPr sz="1065"/>
            </a:lvl5pPr>
            <a:lvl6pPr marL="1524000" indent="0" algn="ctr">
              <a:buNone/>
              <a:defRPr sz="1065"/>
            </a:lvl6pPr>
            <a:lvl7pPr marL="1828800" indent="0" algn="ctr">
              <a:buNone/>
              <a:defRPr sz="1065"/>
            </a:lvl7pPr>
            <a:lvl8pPr marL="2133600" indent="0" algn="ctr">
              <a:buNone/>
              <a:defRPr sz="1065"/>
            </a:lvl8pPr>
            <a:lvl9pPr marL="2438400" indent="0" algn="ctr">
              <a:buNone/>
              <a:defRPr sz="1065"/>
            </a:lvl9pPr>
          </a:lstStyle>
          <a:p>
            <a:r>
              <a:rPr lang="en-US"/>
              <a:t>Click to edit Master subtitle style</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0267"/>
            <a:ext cx="10515600" cy="2852209"/>
          </a:xfrm>
        </p:spPr>
        <p:txBody>
          <a:bodyPr anchor="b"/>
          <a:lstStyle>
            <a:lvl1pPr>
              <a:defRPr sz="4000"/>
            </a:lvl1pPr>
          </a:lstStyle>
          <a:p>
            <a:r>
              <a:rPr lang="en-US"/>
              <a:t>Click to edit Master title style</a:t>
            </a:r>
          </a:p>
        </p:txBody>
      </p:sp>
      <p:sp>
        <p:nvSpPr>
          <p:cNvPr id="3" name="Text Placeholder 2"/>
          <p:cNvSpPr>
            <a:spLocks noGrp="1"/>
          </p:cNvSpPr>
          <p:nvPr>
            <p:ph type="body" idx="1"/>
          </p:nvPr>
        </p:nvSpPr>
        <p:spPr>
          <a:xfrm>
            <a:off x="831850" y="4589992"/>
            <a:ext cx="10515600" cy="1499658"/>
          </a:xfrm>
        </p:spPr>
        <p:txBody>
          <a:bodyPr/>
          <a:lstStyle>
            <a:lvl1pPr marL="0" indent="0">
              <a:buNone/>
              <a:defRPr sz="1600">
                <a:solidFill>
                  <a:schemeClr val="tx1">
                    <a:tint val="75000"/>
                  </a:schemeClr>
                </a:solidFill>
              </a:defRPr>
            </a:lvl1pPr>
            <a:lvl2pPr marL="304800" indent="0">
              <a:buNone/>
              <a:defRPr sz="1335">
                <a:solidFill>
                  <a:schemeClr val="tx1">
                    <a:tint val="75000"/>
                  </a:schemeClr>
                </a:solidFill>
              </a:defRPr>
            </a:lvl2pPr>
            <a:lvl3pPr marL="609600" indent="0">
              <a:buNone/>
              <a:defRPr sz="1200">
                <a:solidFill>
                  <a:schemeClr val="tx1">
                    <a:tint val="75000"/>
                  </a:schemeClr>
                </a:solidFill>
              </a:defRPr>
            </a:lvl3pPr>
            <a:lvl4pPr marL="914400" indent="0">
              <a:buNone/>
              <a:defRPr sz="1065">
                <a:solidFill>
                  <a:schemeClr val="tx1">
                    <a:tint val="75000"/>
                  </a:schemeClr>
                </a:solidFill>
              </a:defRPr>
            </a:lvl4pPr>
            <a:lvl5pPr marL="1219200" indent="0">
              <a:buNone/>
              <a:defRPr sz="1065">
                <a:solidFill>
                  <a:schemeClr val="tx1">
                    <a:tint val="75000"/>
                  </a:schemeClr>
                </a:solidFill>
              </a:defRPr>
            </a:lvl5pPr>
            <a:lvl6pPr marL="1524000" indent="0">
              <a:buNone/>
              <a:defRPr sz="1065">
                <a:solidFill>
                  <a:schemeClr val="tx1">
                    <a:tint val="75000"/>
                  </a:schemeClr>
                </a:solidFill>
              </a:defRPr>
            </a:lvl6pPr>
            <a:lvl7pPr marL="1828800" indent="0">
              <a:buNone/>
              <a:defRPr sz="1065">
                <a:solidFill>
                  <a:schemeClr val="tx1">
                    <a:tint val="75000"/>
                  </a:schemeClr>
                </a:solidFill>
              </a:defRPr>
            </a:lvl7pPr>
            <a:lvl8pPr marL="2133600" indent="0">
              <a:buNone/>
              <a:defRPr sz="1065">
                <a:solidFill>
                  <a:schemeClr val="tx1">
                    <a:tint val="75000"/>
                  </a:schemeClr>
                </a:solidFill>
              </a:defRPr>
            </a:lvl8pPr>
            <a:lvl9pPr marL="2438400" indent="0">
              <a:buNone/>
              <a:defRPr sz="106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6091"/>
          </a:xfrm>
        </p:spPr>
        <p:txBody>
          <a:bodyPr/>
          <a:lstStyle/>
          <a:p>
            <a:r>
              <a:rPr lang="en-US"/>
              <a:t>Click to edit Master title style</a:t>
            </a:r>
          </a:p>
        </p:txBody>
      </p:sp>
      <p:sp>
        <p:nvSpPr>
          <p:cNvPr id="3" name="Text Placeholder 2"/>
          <p:cNvSpPr>
            <a:spLocks noGrp="1"/>
          </p:cNvSpPr>
          <p:nvPr>
            <p:ph type="body" idx="1"/>
          </p:nvPr>
        </p:nvSpPr>
        <p:spPr>
          <a:xfrm>
            <a:off x="840317" y="1681692"/>
            <a:ext cx="5157259"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4" name="Content Placeholder 3"/>
          <p:cNvSpPr>
            <a:spLocks noGrp="1"/>
          </p:cNvSpPr>
          <p:nvPr>
            <p:ph sz="half" idx="2"/>
          </p:nvPr>
        </p:nvSpPr>
        <p:spPr>
          <a:xfrm>
            <a:off x="840317" y="2505076"/>
            <a:ext cx="5157259"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692"/>
            <a:ext cx="5183717"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6" name="Content Placeholder 5"/>
          <p:cNvSpPr>
            <a:spLocks noGrp="1"/>
          </p:cNvSpPr>
          <p:nvPr>
            <p:ph sz="quarter" idx="4"/>
          </p:nvPr>
        </p:nvSpPr>
        <p:spPr>
          <a:xfrm>
            <a:off x="6172200" y="2505076"/>
            <a:ext cx="5183717"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0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666"/>
                </a:solidFill>
              </a:defRPr>
            </a:lvl1pPr>
          </a:lstStyle>
          <a:p>
            <a:r>
              <a:rPr lang="en-US"/>
              <a:t>Click to edit Master title style</a:t>
            </a:r>
          </a:p>
        </p:txBody>
      </p:sp>
      <p:sp>
        <p:nvSpPr>
          <p:cNvPr id="3" name="Date Placeholder 2"/>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0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0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2135"/>
            </a:lvl1pPr>
            <a:lvl2pPr>
              <a:defRPr sz="1865"/>
            </a:lvl2pPr>
            <a:lvl3pPr>
              <a:defRPr sz="1600"/>
            </a:lvl3pPr>
            <a:lvl4pPr>
              <a:defRPr sz="1335"/>
            </a:lvl4pPr>
            <a:lvl5pPr>
              <a:defRPr sz="1335"/>
            </a:lvl5pPr>
            <a:lvl6pPr>
              <a:defRPr sz="1335"/>
            </a:lvl6pPr>
            <a:lvl7pPr>
              <a:defRPr sz="1335"/>
            </a:lvl7pPr>
            <a:lvl8pPr>
              <a:defRPr sz="1335"/>
            </a:lvl8pPr>
            <a:lvl9pPr>
              <a:defRPr sz="133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2135"/>
            </a:lvl1pPr>
            <a:lvl2pPr marL="304800" indent="0">
              <a:buNone/>
              <a:defRPr sz="1865"/>
            </a:lvl2pPr>
            <a:lvl3pPr marL="609600" indent="0">
              <a:buNone/>
              <a:defRPr sz="1600"/>
            </a:lvl3pPr>
            <a:lvl4pPr marL="914400" indent="0">
              <a:buNone/>
              <a:defRPr sz="1335"/>
            </a:lvl4pPr>
            <a:lvl5pPr marL="1219200" indent="0">
              <a:buNone/>
              <a:defRPr sz="1335"/>
            </a:lvl5pPr>
            <a:lvl6pPr marL="1524000" indent="0">
              <a:buNone/>
              <a:defRPr sz="1335"/>
            </a:lvl6pPr>
            <a:lvl7pPr marL="1828800" indent="0">
              <a:buNone/>
              <a:defRPr sz="1335"/>
            </a:lvl7pPr>
            <a:lvl8pPr marL="2133600" indent="0">
              <a:buNone/>
              <a:defRPr sz="1335"/>
            </a:lvl8pPr>
            <a:lvl9pPr marL="2438400" indent="0">
              <a:buNone/>
              <a:defRPr sz="1335"/>
            </a:lvl9pPr>
          </a:lstStyle>
          <a:p>
            <a:endParaRPr lang="en-US"/>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23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85100" cy="58123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0000">
              <a:schemeClr val="bg1">
                <a:alpha val="92000"/>
              </a:schemeClr>
            </a:gs>
            <a:gs pos="100000">
              <a:schemeClr val="accent4">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047750"/>
            <a:ext cx="11182350" cy="5129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705CD-6935-4F7F-BF25-1C6CC2649FC0}" type="datetime1">
              <a:rPr lang="en-US" smtClean="0"/>
              <a:t>10/29/2024</a:t>
            </a:fld>
            <a:endParaRPr lang="en-US"/>
          </a:p>
        </p:txBody>
      </p:sp>
      <p:sp>
        <p:nvSpPr>
          <p:cNvPr id="5" name="Footer Placeholder 4"/>
          <p:cNvSpPr>
            <a:spLocks noGrp="1"/>
          </p:cNvSpPr>
          <p:nvPr>
            <p:ph type="ftr" sz="quarter" idx="3"/>
          </p:nvPr>
        </p:nvSpPr>
        <p:spPr>
          <a:xfrm>
            <a:off x="3733800" y="6356350"/>
            <a:ext cx="53149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7735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C28B4-5B52-467A-9173-204C9E91858B}" type="slidenum">
              <a:rPr lang="en-US" smtClean="0"/>
              <a:t>‹#›</a:t>
            </a:fld>
            <a:endParaRPr lang="en-US"/>
          </a:p>
        </p:txBody>
      </p:sp>
      <p:sp>
        <p:nvSpPr>
          <p:cNvPr id="7" name="Rectangle 6"/>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381309" y="85650"/>
            <a:ext cx="9324916" cy="555494"/>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b="1" kern="1200">
          <a:solidFill>
            <a:srgbClr val="0A898C"/>
          </a:solidFill>
          <a:latin typeface="+mj-lt"/>
          <a:ea typeface="+mj-ea"/>
          <a:cs typeface="+mj-cs"/>
        </a:defRPr>
      </a:lvl1pPr>
    </p:titleStyle>
    <p:bodyStyle>
      <a:lvl1pPr marL="457200" indent="-457200" algn="l" defTabSz="914400" rtl="0" eaLnBrk="1" latinLnBrk="0" hangingPunct="1">
        <a:lnSpc>
          <a:spcPct val="90000"/>
        </a:lnSpc>
        <a:spcBef>
          <a:spcPts val="1000"/>
        </a:spcBef>
        <a:buFont typeface="Wingdings" panose="05000000000000000000" pitchFamily="2" charset="2"/>
        <a:buChar char="v"/>
        <a:defRPr sz="2800" kern="1200">
          <a:solidFill>
            <a:srgbClr val="076365"/>
          </a:solidFill>
          <a:latin typeface="+mn-lt"/>
          <a:ea typeface="+mn-ea"/>
          <a:cs typeface="+mn-cs"/>
        </a:defRPr>
      </a:lvl1pPr>
      <a:lvl2pPr marL="800100" indent="-342900" algn="l" defTabSz="914400" rtl="0" eaLnBrk="1" latinLnBrk="0" hangingPunct="1">
        <a:lnSpc>
          <a:spcPct val="90000"/>
        </a:lnSpc>
        <a:spcBef>
          <a:spcPts val="500"/>
        </a:spcBef>
        <a:buFont typeface="Wingdings" panose="05000000000000000000" pitchFamily="2" charset="2"/>
        <a:buChar char="§"/>
        <a:defRPr sz="2400" kern="1200">
          <a:solidFill>
            <a:srgbClr val="076365"/>
          </a:solidFill>
          <a:latin typeface="+mn-lt"/>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kern="1200">
          <a:solidFill>
            <a:srgbClr val="07636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889000"/>
            <a:ext cx="10998200" cy="52884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00"/>
            <a:fld id="{5017DB02-EE08-43A7-9F96-CB2F01FDFDE1}" type="datetimeFigureOut">
              <a:rPr lang="en-US" smtClean="0">
                <a:solidFill>
                  <a:prstClr val="black">
                    <a:tint val="75000"/>
                  </a:prstClr>
                </a:solidFill>
              </a:rPr>
              <a:t>10/29/2024</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31750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
        <p:nvSpPr>
          <p:cNvPr id="7" name="Rectangle 6"/>
          <p:cNvSpPr/>
          <p:nvPr userDrawn="1"/>
        </p:nvSpPr>
        <p:spPr>
          <a:xfrm>
            <a:off x="0" y="-6450"/>
            <a:ext cx="12191701" cy="727077"/>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609600" rtl="0" eaLnBrk="0" fontAlgn="base" latinLnBrk="0" hangingPunct="0">
              <a:lnSpc>
                <a:spcPct val="100000"/>
              </a:lnSpc>
              <a:spcBef>
                <a:spcPct val="0"/>
              </a:spcBef>
              <a:spcAft>
                <a:spcPct val="0"/>
              </a:spcAft>
              <a:buClrTx/>
              <a:buSzTx/>
              <a:buFontTx/>
              <a:buNone/>
              <a:defRPr/>
            </a:pPr>
            <a:endParaRPr kumimoji="0" lang="vi-VN" sz="12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33350" y="1"/>
            <a:ext cx="238125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514600" y="55033"/>
            <a:ext cx="9321800" cy="625475"/>
          </a:xfrm>
          <a:prstGeom prst="rect">
            <a:avLst/>
          </a:prstGeom>
        </p:spPr>
        <p:txBody>
          <a:bodyPr vert="horz" lIns="91440" tIns="45720" rIns="91440" bIns="45720" rtlCol="0" anchor="ctr">
            <a:normAutofit/>
          </a:bodyPr>
          <a:lstStyle/>
          <a:p>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096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152400" indent="-152400" algn="l" defTabSz="609600" rtl="0" eaLnBrk="1" latinLnBrk="0" hangingPunct="1">
        <a:lnSpc>
          <a:spcPct val="90000"/>
        </a:lnSpc>
        <a:spcBef>
          <a:spcPts val="665"/>
        </a:spcBef>
        <a:buFont typeface="Arial" panose="020B0604020202020204" pitchFamily="34" charset="0"/>
        <a:buChar char="•"/>
        <a:defRPr sz="2935" kern="1200">
          <a:solidFill>
            <a:schemeClr val="tx1"/>
          </a:solidFill>
          <a:latin typeface="+mn-lt"/>
          <a:ea typeface="+mn-ea"/>
          <a:cs typeface="+mn-cs"/>
        </a:defRPr>
      </a:lvl1pPr>
      <a:lvl2pPr marL="457200" indent="-152400" algn="l" defTabSz="609600" rtl="0" eaLnBrk="1" latinLnBrk="0" hangingPunct="1">
        <a:lnSpc>
          <a:spcPct val="90000"/>
        </a:lnSpc>
        <a:spcBef>
          <a:spcPts val="335"/>
        </a:spcBef>
        <a:buFont typeface="Arial" panose="020B0604020202020204" pitchFamily="34" charset="0"/>
        <a:buChar char="•"/>
        <a:defRPr sz="2665" kern="1200">
          <a:solidFill>
            <a:schemeClr val="tx1"/>
          </a:solidFill>
          <a:latin typeface="+mn-lt"/>
          <a:ea typeface="+mn-ea"/>
          <a:cs typeface="+mn-cs"/>
        </a:defRPr>
      </a:lvl2pPr>
      <a:lvl3pPr marL="762000" indent="-152400" algn="l" defTabSz="609600" rtl="0" eaLnBrk="1" latinLnBrk="0" hangingPunct="1">
        <a:lnSpc>
          <a:spcPct val="90000"/>
        </a:lnSpc>
        <a:spcBef>
          <a:spcPts val="335"/>
        </a:spcBef>
        <a:buFont typeface="Arial" panose="020B0604020202020204" pitchFamily="34" charset="0"/>
        <a:buChar char="•"/>
        <a:defRPr sz="2400" kern="1200">
          <a:solidFill>
            <a:schemeClr val="tx1"/>
          </a:solidFill>
          <a:latin typeface="+mn-lt"/>
          <a:ea typeface="+mn-ea"/>
          <a:cs typeface="+mn-cs"/>
        </a:defRPr>
      </a:lvl3pPr>
      <a:lvl4pPr marL="10668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4pPr>
      <a:lvl5pPr marL="13716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5pPr>
      <a:lvl6pPr marL="16764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vl9pPr marL="2438400" algn="l" defTabSz="6096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vuong.dangquoc@hus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hyperlink" Target="https://courses.ut.edu.v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3415" y="1407795"/>
            <a:ext cx="9930130" cy="1484630"/>
          </a:xfrm>
        </p:spPr>
        <p:txBody>
          <a:bodyPr>
            <a:normAutofit fontScale="90000"/>
          </a:bodyPr>
          <a:lstStyle/>
          <a:p>
            <a:pPr>
              <a:lnSpc>
                <a:spcPct val="140000"/>
              </a:lnSpc>
            </a:pPr>
            <a:r>
              <a:rPr lang="en-US" sz="3890">
                <a:solidFill>
                  <a:srgbClr val="EC141C"/>
                </a:solidFill>
                <a:latin typeface="Arial" panose="020B0604020202020204" pitchFamily="34" charset="0"/>
                <a:cs typeface="Arial" panose="020B0604020202020204" pitchFamily="34" charset="0"/>
              </a:rPr>
              <a:t>PHƯƠNG PHÁP NGHIÊN CỨU </a:t>
            </a:r>
            <a:br>
              <a:rPr lang="en-US" sz="3890">
                <a:solidFill>
                  <a:srgbClr val="EC141C"/>
                </a:solidFill>
                <a:latin typeface="Arial" panose="020B0604020202020204" pitchFamily="34" charset="0"/>
                <a:cs typeface="Arial" panose="020B0604020202020204" pitchFamily="34" charset="0"/>
              </a:rPr>
            </a:br>
            <a:r>
              <a:rPr lang="en-US" sz="3335">
                <a:solidFill>
                  <a:srgbClr val="0000FF"/>
                </a:solidFill>
                <a:latin typeface="Arial" panose="020B0604020202020204" pitchFamily="34" charset="0"/>
                <a:cs typeface="Arial" panose="020B0604020202020204" pitchFamily="34" charset="0"/>
              </a:rPr>
              <a:t>RESEARCH METHODS</a:t>
            </a:r>
          </a:p>
        </p:txBody>
      </p:sp>
      <p:sp>
        <p:nvSpPr>
          <p:cNvPr id="3" name="Subtitle 2"/>
          <p:cNvSpPr>
            <a:spLocks noGrp="1"/>
          </p:cNvSpPr>
          <p:nvPr>
            <p:ph type="subTitle" idx="1"/>
          </p:nvPr>
        </p:nvSpPr>
        <p:spPr>
          <a:xfrm>
            <a:off x="6384290" y="3602355"/>
            <a:ext cx="5350510" cy="1655445"/>
          </a:xfrm>
        </p:spPr>
        <p:txBody>
          <a:bodyPr>
            <a:normAutofit lnSpcReduction="10000"/>
          </a:bodyPr>
          <a:lstStyle/>
          <a:p>
            <a:pPr marL="246380" marR="5080" indent="-234315" algn="l">
              <a:lnSpc>
                <a:spcPct val="129000"/>
              </a:lnSpc>
              <a:spcBef>
                <a:spcPts val="305"/>
              </a:spcBef>
              <a:tabLst>
                <a:tab pos="1536700" algn="l"/>
              </a:tabLst>
            </a:pPr>
            <a:r>
              <a:rPr lang="en-US" sz="2000" b="1" spc="-5">
                <a:solidFill>
                  <a:srgbClr val="0000FF"/>
                </a:solidFill>
                <a:latin typeface="Arial" panose="020B0604020202020204"/>
                <a:cs typeface="Arial" panose="020B0604020202020204"/>
                <a:sym typeface="+mn-ea"/>
              </a:rPr>
              <a:t>Giảng viên: Võ Vĩnh Bảo</a:t>
            </a:r>
            <a:endParaRPr lang="en-US" sz="2000" b="1" spc="-15">
              <a:solidFill>
                <a:srgbClr val="0000FF"/>
              </a:solidFill>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rgbClr val="003D62"/>
                </a:solidFill>
                <a:latin typeface="Arial" panose="020B0604020202020204"/>
                <a:cs typeface="Arial" panose="020B0604020202020204"/>
                <a:sym typeface="+mn-ea"/>
              </a:rPr>
              <a:t>Email: </a:t>
            </a:r>
            <a:r>
              <a:rPr lang="en-US" sz="2000" spc="-5">
                <a:solidFill>
                  <a:sysClr val="windowText" lastClr="000000"/>
                </a:solidFill>
                <a:latin typeface="Arial" panose="020B0604020202020204"/>
                <a:cs typeface="Arial" panose="020B0604020202020204"/>
                <a:sym typeface="+mn-ea"/>
                <a:hlinkClick r:id="rId2"/>
              </a:rPr>
              <a:t>bao.vo@ut.edu.vn </a:t>
            </a:r>
            <a:r>
              <a:rPr lang="en-US" sz="2000" spc="-5">
                <a:solidFill>
                  <a:sysClr val="windowText" lastClr="000000"/>
                </a:solidFill>
                <a:latin typeface="Arial" panose="020B0604020202020204"/>
                <a:cs typeface="Arial" panose="020B0604020202020204"/>
                <a:sym typeface="+mn-ea"/>
              </a:rPr>
              <a:t> </a:t>
            </a:r>
            <a:endParaRPr lang="en-US" sz="2000" spc="-5">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ysClr val="windowText" lastClr="000000"/>
                </a:solidFill>
                <a:latin typeface="Arial" panose="020B0604020202020204"/>
                <a:cs typeface="Arial" panose="020B0604020202020204"/>
                <a:sym typeface="+mn-ea"/>
              </a:rPr>
              <a:t>Phone:</a:t>
            </a:r>
            <a:r>
              <a:rPr lang="en-US" sz="2000" spc="-10">
                <a:solidFill>
                  <a:sysClr val="windowText" lastClr="000000"/>
                </a:solidFill>
                <a:latin typeface="Arial" panose="020B0604020202020204"/>
                <a:cs typeface="Arial" panose="020B0604020202020204"/>
                <a:sym typeface="+mn-ea"/>
              </a:rPr>
              <a:t> </a:t>
            </a:r>
            <a:r>
              <a:rPr lang="en-US" sz="2000">
                <a:solidFill>
                  <a:sysClr val="windowText" lastClr="000000"/>
                </a:solidFill>
                <a:latin typeface="Arial" panose="020B0604020202020204"/>
                <a:cs typeface="Arial" panose="020B0604020202020204"/>
                <a:sym typeface="+mn-ea"/>
              </a:rPr>
              <a:t>091 8235236</a:t>
            </a:r>
            <a:endParaRPr lang="en-US" sz="2000">
              <a:latin typeface="Arial" panose="020B0604020202020204" pitchFamily="34" charset="0"/>
              <a:cs typeface="Arial" panose="020B0604020202020204" pitchFamily="34" charset="0"/>
            </a:endParaRPr>
          </a:p>
        </p:txBody>
      </p:sp>
      <p:sp>
        <p:nvSpPr>
          <p:cNvPr id="4" name="TextBox 3"/>
          <p:cNvSpPr txBox="1"/>
          <p:nvPr/>
        </p:nvSpPr>
        <p:spPr>
          <a:xfrm>
            <a:off x="2438399" y="104355"/>
            <a:ext cx="9582150" cy="475615"/>
          </a:xfrm>
          <a:prstGeom prst="rect">
            <a:avLst/>
          </a:prstGeom>
          <a:noFill/>
        </p:spPr>
        <p:txBody>
          <a:bodyPr wrap="square" rtlCol="0">
            <a:spAutoFit/>
          </a:bodyPr>
          <a:lstStyle/>
          <a:p>
            <a:r>
              <a:rPr lang="en-US" sz="2500" b="1" smtClean="0">
                <a:solidFill>
                  <a:srgbClr val="129498"/>
                </a:solidFill>
                <a:latin typeface="Arial" panose="020B0604020202020204" pitchFamily="34" charset="0"/>
                <a:ea typeface="Tahoma" panose="020B0604030504040204" pitchFamily="34" charset="0"/>
                <a:cs typeface="Arial" panose="020B0604020202020204" pitchFamily="34" charset="0"/>
              </a:rPr>
              <a:t>TRƯỜNG ĐẠI HỌC GIAO THÔNG VẬN TẢI TP. HỒ CHÍ MINH</a:t>
            </a:r>
          </a:p>
        </p:txBody>
      </p:sp>
      <p:sp>
        <p:nvSpPr>
          <p:cNvPr id="5" name="Slide Number Placeholder 4"/>
          <p:cNvSpPr>
            <a:spLocks noGrp="1"/>
          </p:cNvSpPr>
          <p:nvPr>
            <p:ph type="sldNum" sz="quarter" idx="12"/>
          </p:nvPr>
        </p:nvSpPr>
        <p:spPr/>
        <p:txBody>
          <a:bodyPr/>
          <a:lstStyle/>
          <a:p>
            <a:r>
              <a:rPr lang="en-US"/>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335" smtClean="0">
                <a:solidFill>
                  <a:srgbClr val="076365"/>
                </a:solidFill>
                <a:latin typeface="Arial" panose="020B0604020202020204" pitchFamily="34" charset="0"/>
                <a:cs typeface="Arial" panose="020B0604020202020204" pitchFamily="34" charset="0"/>
                <a:sym typeface="+mn-ea"/>
              </a:rPr>
              <a:t>Course Objectives</a:t>
            </a:r>
          </a:p>
        </p:txBody>
      </p:sp>
      <p:sp>
        <p:nvSpPr>
          <p:cNvPr id="4" name="Slide Number Placeholder 3"/>
          <p:cNvSpPr>
            <a:spLocks noGrp="1"/>
          </p:cNvSpPr>
          <p:nvPr>
            <p:ph type="sldNum" sz="quarter" idx="12"/>
          </p:nvPr>
        </p:nvSpPr>
        <p:spPr/>
        <p:txBody>
          <a:bodyPr/>
          <a:lstStyle/>
          <a:p>
            <a:fld id="{C36C28B4-5B52-467A-9173-204C9E91858B}" type="slidenum">
              <a:rPr lang="en-US" smtClean="0"/>
              <a:t>2</a:t>
            </a:fld>
            <a:endParaRPr lang="en-US"/>
          </a:p>
        </p:txBody>
      </p:sp>
      <p:graphicFrame>
        <p:nvGraphicFramePr>
          <p:cNvPr id="9" name="Content Placeholder 8"/>
          <p:cNvGraphicFramePr>
            <a:graphicFrameLocks noGrp="1"/>
          </p:cNvGraphicFramePr>
          <p:nvPr>
            <p:ph idx="1"/>
            <p:custDataLst>
              <p:tags r:id="rId1"/>
            </p:custDataLst>
          </p:nvPr>
        </p:nvGraphicFramePr>
        <p:xfrm>
          <a:off x="838200" y="1047750"/>
          <a:ext cx="11097895" cy="3884803"/>
        </p:xfrm>
        <a:graphic>
          <a:graphicData uri="http://schemas.openxmlformats.org/drawingml/2006/table">
            <a:tbl>
              <a:tblPr firstRow="1" firstCol="1" bandRow="1">
                <a:effectLst/>
                <a:tableStyleId>{5940675A-B579-460E-94D1-54222C63F5DA}</a:tableStyleId>
              </a:tblPr>
              <a:tblGrid>
                <a:gridCol w="1184910">
                  <a:extLst>
                    <a:ext uri="{9D8B030D-6E8A-4147-A177-3AD203B41FA5}">
                      <a16:colId xmlns:a16="http://schemas.microsoft.com/office/drawing/2014/main" val="20000"/>
                    </a:ext>
                  </a:extLst>
                </a:gridCol>
                <a:gridCol w="9912985">
                  <a:extLst>
                    <a:ext uri="{9D8B030D-6E8A-4147-A177-3AD203B41FA5}">
                      <a16:colId xmlns:a16="http://schemas.microsoft.com/office/drawing/2014/main" val="20001"/>
                    </a:ext>
                  </a:extLst>
                </a:gridCol>
              </a:tblGrid>
              <a:tr h="965200">
                <a:tc>
                  <a:txBody>
                    <a:bodyPr/>
                    <a:lstStyle/>
                    <a:p>
                      <a:pPr algn="ctr">
                        <a:lnSpc>
                          <a:spcPct val="107000"/>
                        </a:lnSpc>
                        <a:spcAft>
                          <a:spcPts val="0"/>
                        </a:spcAft>
                      </a:pPr>
                      <a:r>
                        <a:rPr lang="en-US" sz="2400" b="1" dirty="0">
                          <a:solidFill>
                            <a:srgbClr val="0066FF"/>
                          </a:solidFill>
                          <a:effectLst/>
                          <a:latin typeface="Arial" panose="020B0604020202020204" pitchFamily="34" charset="0"/>
                        </a:rPr>
                        <a:t>No.</a:t>
                      </a:r>
                      <a:endParaRPr lang="en-US" sz="2400" b="1" dirty="0">
                        <a:solidFill>
                          <a:srgbClr val="0066FF"/>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ctr">
                        <a:lnSpc>
                          <a:spcPct val="107000"/>
                        </a:lnSpc>
                        <a:spcAft>
                          <a:spcPts val="0"/>
                        </a:spcAft>
                      </a:pPr>
                      <a:r>
                        <a:rPr lang="en-US" sz="2400" b="1" dirty="0">
                          <a:solidFill>
                            <a:srgbClr val="EC141C"/>
                          </a:solidFill>
                          <a:effectLst/>
                          <a:latin typeface="Arial" panose="020B0604020202020204" pitchFamily="34" charset="0"/>
                        </a:rPr>
                        <a:t>Mục tiêu học phần</a:t>
                      </a:r>
                      <a:r>
                        <a:rPr lang="en-US" sz="2400" b="1" dirty="0">
                          <a:solidFill>
                            <a:srgbClr val="0066FF"/>
                          </a:solidFill>
                          <a:effectLst/>
                          <a:latin typeface="Arial" panose="020B0604020202020204" pitchFamily="34" charset="0"/>
                        </a:rPr>
                        <a:t> (Course Objectives - COs)</a:t>
                      </a:r>
                      <a:endParaRPr lang="en-US" sz="2400" b="1" dirty="0">
                        <a:solidFill>
                          <a:srgbClr val="0066FF"/>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extLst>
                  <a:ext uri="{0D108BD9-81ED-4DB2-BD59-A6C34878D82A}">
                    <a16:rowId xmlns:a16="http://schemas.microsoft.com/office/drawing/2014/main" val="10000"/>
                  </a:ext>
                </a:extLst>
              </a:tr>
              <a:tr h="872490">
                <a:tc>
                  <a:txBody>
                    <a:bodyPr/>
                    <a:lstStyle/>
                    <a:p>
                      <a:pPr algn="ctr">
                        <a:lnSpc>
                          <a:spcPct val="107000"/>
                        </a:lnSpc>
                        <a:spcAft>
                          <a:spcPts val="0"/>
                        </a:spcAft>
                      </a:pPr>
                      <a:r>
                        <a:rPr lang="en-US" sz="2400" b="1" dirty="0">
                          <a:solidFill>
                            <a:srgbClr val="000000"/>
                          </a:solidFill>
                          <a:effectLst/>
                          <a:latin typeface="Arial" panose="020B0604020202020204" pitchFamily="34" charset="0"/>
                        </a:rPr>
                        <a:t>CO1</a:t>
                      </a:r>
                      <a:endParaRPr lang="en-US" sz="24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just">
                        <a:lnSpc>
                          <a:spcPct val="107000"/>
                        </a:lnSpc>
                        <a:spcAft>
                          <a:spcPts val="0"/>
                        </a:spcAft>
                      </a:pPr>
                      <a:r>
                        <a:rPr lang="en-US" sz="2400" dirty="0">
                          <a:solidFill>
                            <a:srgbClr val="000000"/>
                          </a:solidFill>
                          <a:effectLst/>
                          <a:latin typeface="Arial" panose="020B0604020202020204" pitchFamily="34" charset="0"/>
                        </a:rPr>
                        <a:t>Vận dụng các kỹ năng và chiến lược học tập đại học để nâng cao hiệu quả học tập.</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tint val="40000"/>
                      </a:srgbClr>
                    </a:solidFill>
                  </a:tcPr>
                </a:tc>
                <a:extLst>
                  <a:ext uri="{0D108BD9-81ED-4DB2-BD59-A6C34878D82A}">
                    <a16:rowId xmlns:a16="http://schemas.microsoft.com/office/drawing/2014/main" val="10001"/>
                  </a:ext>
                </a:extLst>
              </a:tr>
              <a:tr h="878840">
                <a:tc>
                  <a:txBody>
                    <a:bodyPr/>
                    <a:lstStyle/>
                    <a:p>
                      <a:pPr algn="ctr">
                        <a:lnSpc>
                          <a:spcPct val="107000"/>
                        </a:lnSpc>
                        <a:spcAft>
                          <a:spcPts val="0"/>
                        </a:spcAft>
                      </a:pPr>
                      <a:r>
                        <a:rPr lang="en-US" sz="2400" b="1" dirty="0">
                          <a:solidFill>
                            <a:srgbClr val="000000"/>
                          </a:solidFill>
                          <a:effectLst/>
                          <a:latin typeface="Arial" panose="020B0604020202020204" pitchFamily="34" charset="0"/>
                        </a:rPr>
                        <a:t>CO2</a:t>
                      </a:r>
                      <a:endParaRPr lang="en-US" sz="24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just">
                        <a:lnSpc>
                          <a:spcPct val="107000"/>
                        </a:lnSpc>
                        <a:spcAft>
                          <a:spcPts val="0"/>
                        </a:spcAft>
                      </a:pPr>
                      <a:r>
                        <a:rPr lang="en-US" sz="2400" dirty="0">
                          <a:solidFill>
                            <a:srgbClr val="000000"/>
                          </a:solidFill>
                          <a:effectLst/>
                          <a:latin typeface="Arial" panose="020B0604020202020204" pitchFamily="34" charset="0"/>
                        </a:rPr>
                        <a:t>Kiến thức về phương pháp nghiên cứu và kỹ năng xây dựng báo cáo nghiên cứu.</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tint val="20000"/>
                      </a:srgbClr>
                    </a:solidFill>
                  </a:tcPr>
                </a:tc>
                <a:extLst>
                  <a:ext uri="{0D108BD9-81ED-4DB2-BD59-A6C34878D82A}">
                    <a16:rowId xmlns:a16="http://schemas.microsoft.com/office/drawing/2014/main" val="10002"/>
                  </a:ext>
                </a:extLst>
              </a:tr>
              <a:tr h="786765">
                <a:tc>
                  <a:txBody>
                    <a:bodyPr/>
                    <a:lstStyle/>
                    <a:p>
                      <a:pPr algn="ctr">
                        <a:lnSpc>
                          <a:spcPct val="107000"/>
                        </a:lnSpc>
                        <a:spcAft>
                          <a:spcPts val="0"/>
                        </a:spcAft>
                      </a:pPr>
                      <a:r>
                        <a:rPr lang="en-US" sz="2400" b="1" dirty="0">
                          <a:solidFill>
                            <a:srgbClr val="000000"/>
                          </a:solidFill>
                          <a:effectLst/>
                          <a:latin typeface="Arial" panose="020B0604020202020204" pitchFamily="34" charset="0"/>
                        </a:rPr>
                        <a:t>CO3</a:t>
                      </a:r>
                      <a:endParaRPr lang="en-US" sz="24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just">
                        <a:lnSpc>
                          <a:spcPct val="107000"/>
                        </a:lnSpc>
                        <a:spcAft>
                          <a:spcPts val="0"/>
                        </a:spcAft>
                      </a:pPr>
                      <a:r>
                        <a:rPr lang="en-US" sz="2400" dirty="0">
                          <a:solidFill>
                            <a:srgbClr val="000000"/>
                          </a:solidFill>
                          <a:effectLst/>
                          <a:latin typeface="Arial" panose="020B0604020202020204" pitchFamily="34" charset="0"/>
                        </a:rPr>
                        <a:t>Kỹ năng thực hiện thuyết trình kết quả nghiên cứu, trả lời câu hỏi và phản biện ý kiến.</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tint val="4000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0295" y="106045"/>
            <a:ext cx="9345930" cy="636905"/>
          </a:xfrm>
        </p:spPr>
        <p:txBody>
          <a:bodyPr>
            <a:normAutofit/>
          </a:bodyPr>
          <a:lstStyle/>
          <a:p>
            <a:pPr>
              <a:lnSpc>
                <a:spcPct val="70000"/>
              </a:lnSpc>
            </a:pPr>
            <a:r>
              <a:rPr lang="en-US" sz="3335" smtClean="0">
                <a:solidFill>
                  <a:srgbClr val="076365"/>
                </a:solidFill>
                <a:latin typeface="Arial" panose="020B0604020202020204" pitchFamily="34" charset="0"/>
                <a:cs typeface="Arial" panose="020B0604020202020204" pitchFamily="34" charset="0"/>
                <a:sym typeface="+mn-ea"/>
              </a:rPr>
              <a:t>Course learning outcomes</a:t>
            </a:r>
          </a:p>
        </p:txBody>
      </p:sp>
      <p:sp>
        <p:nvSpPr>
          <p:cNvPr id="4" name="Slide Number Placeholder 3"/>
          <p:cNvSpPr>
            <a:spLocks noGrp="1"/>
          </p:cNvSpPr>
          <p:nvPr>
            <p:ph type="sldNum" sz="quarter" idx="12"/>
          </p:nvPr>
        </p:nvSpPr>
        <p:spPr/>
        <p:txBody>
          <a:bodyPr/>
          <a:lstStyle/>
          <a:p>
            <a:fld id="{C36C28B4-5B52-467A-9173-204C9E91858B}" type="slidenum">
              <a:rPr lang="en-US" smtClean="0"/>
              <a:t>3</a:t>
            </a:fld>
            <a:endParaRPr lang="en-US"/>
          </a:p>
        </p:txBody>
      </p:sp>
      <p:graphicFrame>
        <p:nvGraphicFramePr>
          <p:cNvPr id="9" name="Content Placeholder 8"/>
          <p:cNvGraphicFramePr>
            <a:graphicFrameLocks noGrp="1"/>
          </p:cNvGraphicFramePr>
          <p:nvPr>
            <p:ph idx="1"/>
            <p:custDataLst>
              <p:tags r:id="rId1"/>
            </p:custDataLst>
          </p:nvPr>
        </p:nvGraphicFramePr>
        <p:xfrm>
          <a:off x="838200" y="1047750"/>
          <a:ext cx="11097895" cy="5640706"/>
        </p:xfrm>
        <a:graphic>
          <a:graphicData uri="http://schemas.openxmlformats.org/drawingml/2006/table">
            <a:tbl>
              <a:tblPr firstRow="1" firstCol="1" bandRow="1">
                <a:effectLst/>
                <a:tableStyleId>{5940675A-B579-460E-94D1-54222C63F5DA}</a:tableStyleId>
              </a:tblPr>
              <a:tblGrid>
                <a:gridCol w="1184910">
                  <a:extLst>
                    <a:ext uri="{9D8B030D-6E8A-4147-A177-3AD203B41FA5}">
                      <a16:colId xmlns:a16="http://schemas.microsoft.com/office/drawing/2014/main" val="20000"/>
                    </a:ext>
                  </a:extLst>
                </a:gridCol>
                <a:gridCol w="9912985">
                  <a:extLst>
                    <a:ext uri="{9D8B030D-6E8A-4147-A177-3AD203B41FA5}">
                      <a16:colId xmlns:a16="http://schemas.microsoft.com/office/drawing/2014/main" val="20001"/>
                    </a:ext>
                  </a:extLst>
                </a:gridCol>
              </a:tblGrid>
              <a:tr h="965200">
                <a:tc>
                  <a:txBody>
                    <a:bodyPr/>
                    <a:lstStyle/>
                    <a:p>
                      <a:pPr algn="ctr">
                        <a:lnSpc>
                          <a:spcPct val="107000"/>
                        </a:lnSpc>
                        <a:spcAft>
                          <a:spcPts val="0"/>
                        </a:spcAft>
                      </a:pPr>
                      <a:r>
                        <a:rPr lang="en-US" sz="2400" b="1" dirty="0">
                          <a:solidFill>
                            <a:srgbClr val="0066FF"/>
                          </a:solidFill>
                          <a:effectLst/>
                          <a:latin typeface="Arial" panose="020B0604020202020204" pitchFamily="34" charset="0"/>
                        </a:rPr>
                        <a:t>No.</a:t>
                      </a:r>
                      <a:endParaRPr lang="en-US" sz="2400" b="1" dirty="0">
                        <a:solidFill>
                          <a:srgbClr val="0066FF"/>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ctr">
                        <a:lnSpc>
                          <a:spcPct val="107000"/>
                        </a:lnSpc>
                        <a:spcAft>
                          <a:spcPts val="0"/>
                        </a:spcAft>
                      </a:pPr>
                      <a:r>
                        <a:rPr lang="en-US" sz="2400" b="1" dirty="0">
                          <a:solidFill>
                            <a:srgbClr val="EC141C"/>
                          </a:solidFill>
                          <a:effectLst/>
                          <a:latin typeface="Arial" panose="020B0604020202020204" pitchFamily="34" charset="0"/>
                        </a:rPr>
                        <a:t>Chuẩn đầu ra học phần </a:t>
                      </a:r>
                      <a:r>
                        <a:rPr lang="en-US" sz="2400" b="1" dirty="0">
                          <a:solidFill>
                            <a:srgbClr val="0066FF"/>
                          </a:solidFill>
                          <a:effectLst/>
                          <a:latin typeface="Arial" panose="020B0604020202020204" pitchFamily="34" charset="0"/>
                        </a:rPr>
                        <a:t>(Course learning outcomes - CLOs)</a:t>
                      </a:r>
                      <a:endParaRPr lang="en-US" sz="2400" b="1" dirty="0">
                        <a:solidFill>
                          <a:srgbClr val="0066FF"/>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extLst>
                  <a:ext uri="{0D108BD9-81ED-4DB2-BD59-A6C34878D82A}">
                    <a16:rowId xmlns:a16="http://schemas.microsoft.com/office/drawing/2014/main" val="10000"/>
                  </a:ext>
                </a:extLst>
              </a:tr>
              <a:tr h="872490">
                <a:tc>
                  <a:txBody>
                    <a:bodyPr/>
                    <a:lstStyle/>
                    <a:p>
                      <a:pPr algn="ctr">
                        <a:lnSpc>
                          <a:spcPct val="107000"/>
                        </a:lnSpc>
                        <a:spcAft>
                          <a:spcPts val="0"/>
                        </a:spcAft>
                      </a:pPr>
                      <a:r>
                        <a:rPr lang="en-US" sz="2400" b="1" dirty="0">
                          <a:solidFill>
                            <a:srgbClr val="000000"/>
                          </a:solidFill>
                          <a:effectLst/>
                          <a:latin typeface="Arial" panose="020B0604020202020204" pitchFamily="34" charset="0"/>
                        </a:rPr>
                        <a:t>CLO1</a:t>
                      </a:r>
                      <a:endParaRPr lang="en-US" sz="24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just">
                        <a:lnSpc>
                          <a:spcPct val="107000"/>
                        </a:lnSpc>
                        <a:spcAft>
                          <a:spcPts val="0"/>
                        </a:spcAft>
                      </a:pPr>
                      <a:r>
                        <a:rPr lang="en-US" sz="2400" dirty="0">
                          <a:solidFill>
                            <a:srgbClr val="000000"/>
                          </a:solidFill>
                          <a:effectLst/>
                          <a:latin typeface="Arial" panose="020B0604020202020204" pitchFamily="34" charset="0"/>
                        </a:rPr>
                        <a:t>Xây dựng chiến lược học tập đại học bao gồm lập kế hoạch, quản lý thời gian, sử dụng các kỹ năng nghe, đọc, viết, ghi chép, tư duy phản biện để nâng cao hiệu quả học tập.</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tint val="40000"/>
                      </a:srgbClr>
                    </a:solidFill>
                  </a:tcPr>
                </a:tc>
                <a:extLst>
                  <a:ext uri="{0D108BD9-81ED-4DB2-BD59-A6C34878D82A}">
                    <a16:rowId xmlns:a16="http://schemas.microsoft.com/office/drawing/2014/main" val="10001"/>
                  </a:ext>
                </a:extLst>
              </a:tr>
              <a:tr h="878840">
                <a:tc>
                  <a:txBody>
                    <a:bodyPr/>
                    <a:lstStyle/>
                    <a:p>
                      <a:pPr algn="ctr">
                        <a:lnSpc>
                          <a:spcPct val="107000"/>
                        </a:lnSpc>
                        <a:spcAft>
                          <a:spcPts val="0"/>
                        </a:spcAft>
                      </a:pPr>
                      <a:r>
                        <a:rPr lang="en-US" sz="2400" b="1" dirty="0">
                          <a:solidFill>
                            <a:srgbClr val="000000"/>
                          </a:solidFill>
                          <a:effectLst/>
                          <a:latin typeface="Arial" panose="020B0604020202020204" pitchFamily="34" charset="0"/>
                        </a:rPr>
                        <a:t>CLO2</a:t>
                      </a:r>
                      <a:endParaRPr lang="en-US" sz="24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just">
                        <a:lnSpc>
                          <a:spcPct val="107000"/>
                        </a:lnSpc>
                        <a:spcAft>
                          <a:spcPts val="0"/>
                        </a:spcAft>
                      </a:pPr>
                      <a:r>
                        <a:rPr lang="en-US" sz="2400" dirty="0">
                          <a:solidFill>
                            <a:srgbClr val="000000"/>
                          </a:solidFill>
                          <a:effectLst/>
                          <a:latin typeface="Arial" panose="020B0604020202020204" pitchFamily="34" charset="0"/>
                        </a:rPr>
                        <a:t>Giải thích được các loại hình, phương pháp nghiên cứu và quy trình thực hiện một đề tài nghiên cứu, bao gồm xác định vấn đề, đặt câu hỏi và mục tiêu, tìm kiếm và đánh giá tài liệu.</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tint val="20000"/>
                      </a:srgbClr>
                    </a:solidFill>
                  </a:tcPr>
                </a:tc>
                <a:extLst>
                  <a:ext uri="{0D108BD9-81ED-4DB2-BD59-A6C34878D82A}">
                    <a16:rowId xmlns:a16="http://schemas.microsoft.com/office/drawing/2014/main" val="10002"/>
                  </a:ext>
                </a:extLst>
              </a:tr>
              <a:tr h="786765">
                <a:tc>
                  <a:txBody>
                    <a:bodyPr/>
                    <a:lstStyle/>
                    <a:p>
                      <a:pPr algn="ctr">
                        <a:lnSpc>
                          <a:spcPct val="107000"/>
                        </a:lnSpc>
                        <a:spcAft>
                          <a:spcPts val="0"/>
                        </a:spcAft>
                      </a:pPr>
                      <a:r>
                        <a:rPr lang="en-US" sz="2400" b="1" dirty="0">
                          <a:solidFill>
                            <a:srgbClr val="000000"/>
                          </a:solidFill>
                          <a:effectLst/>
                          <a:latin typeface="Arial" panose="020B0604020202020204" pitchFamily="34" charset="0"/>
                        </a:rPr>
                        <a:t>CLO3</a:t>
                      </a:r>
                      <a:endParaRPr lang="en-US" sz="24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just">
                        <a:lnSpc>
                          <a:spcPct val="107000"/>
                        </a:lnSpc>
                        <a:spcAft>
                          <a:spcPts val="0"/>
                        </a:spcAft>
                      </a:pPr>
                      <a:r>
                        <a:rPr lang="en-US"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Xây dựng được báo cáo nghiên cứu đúng cấu trúc, sử dụng phương pháp trích dẫn và tránh đạo văn.</a:t>
                      </a: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tint val="40000"/>
                      </a:srgbClr>
                    </a:solidFill>
                  </a:tcPr>
                </a:tc>
                <a:extLst>
                  <a:ext uri="{0D108BD9-81ED-4DB2-BD59-A6C34878D82A}">
                    <a16:rowId xmlns:a16="http://schemas.microsoft.com/office/drawing/2014/main" val="10003"/>
                  </a:ext>
                </a:extLst>
              </a:tr>
              <a:tr h="786765">
                <a:tc>
                  <a:txBody>
                    <a:bodyPr/>
                    <a:lstStyle/>
                    <a:p>
                      <a:pPr algn="ctr">
                        <a:lnSpc>
                          <a:spcPct val="107000"/>
                        </a:lnSpc>
                        <a:spcAft>
                          <a:spcPts val="0"/>
                        </a:spcAft>
                        <a:buNone/>
                      </a:pPr>
                      <a:r>
                        <a:rPr lang="en-US" sz="24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CLO4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solidFill>
                  </a:tcPr>
                </a:tc>
                <a:tc>
                  <a:txBody>
                    <a:bodyPr/>
                    <a:lstStyle/>
                    <a:p>
                      <a:pPr algn="just">
                        <a:lnSpc>
                          <a:spcPct val="107000"/>
                        </a:lnSpc>
                        <a:spcAft>
                          <a:spcPts val="0"/>
                        </a:spcAft>
                        <a:buNone/>
                      </a:pPr>
                      <a:r>
                        <a:rPr lang="en-US" sz="2400" dirty="0">
                          <a:solidFill>
                            <a:srgbClr val="000000"/>
                          </a:solidFill>
                          <a:effectLst/>
                          <a:latin typeface="Arial" panose="020B0604020202020204" pitchFamily="34" charset="0"/>
                          <a:sym typeface="+mn-ea"/>
                        </a:rPr>
                        <a:t>Thực hiện bài thuyết trình kết quả nghiên cứu bằng cách sử dụng các kỹ năng làm việc nhóm, trình bày, trả lời câu hỏi và phản biện ý kiến.</a:t>
                      </a:r>
                      <a:endParaRPr lang="en-US"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sym typeface="+mn-ea"/>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BE0E3">
                        <a:tint val="40000"/>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335" smtClean="0">
                <a:solidFill>
                  <a:srgbClr val="076365"/>
                </a:solidFill>
                <a:latin typeface="Arial" panose="020B0604020202020204" pitchFamily="34" charset="0"/>
                <a:cs typeface="Arial" panose="020B0604020202020204" pitchFamily="34" charset="0"/>
              </a:rPr>
              <a:t>Nhiệm vụ của sinh viên</a:t>
            </a:r>
          </a:p>
        </p:txBody>
      </p:sp>
      <p:sp>
        <p:nvSpPr>
          <p:cNvPr id="3" name="Content Placeholder 2"/>
          <p:cNvSpPr>
            <a:spLocks noGrp="1"/>
          </p:cNvSpPr>
          <p:nvPr>
            <p:ph idx="1"/>
          </p:nvPr>
        </p:nvSpPr>
        <p:spPr/>
        <p:txBody>
          <a:bodyPr>
            <a:noAutofit/>
          </a:bodyPr>
          <a:lstStyle/>
          <a:p>
            <a:pPr lvl="0">
              <a:lnSpc>
                <a:spcPct val="120000"/>
              </a:lnSpc>
              <a:spcBef>
                <a:spcPts val="600"/>
              </a:spcBef>
              <a:spcAft>
                <a:spcPts val="600"/>
              </a:spcAft>
              <a:buFont typeface="Wingdings" panose="05000000000000000000" pitchFamily="2" charset="2"/>
              <a:buChar char="Ø"/>
            </a:pPr>
            <a:r>
              <a:rPr lang="en-US" altLang="nl-NL" sz="2000" smtClean="0"/>
              <a:t>Tham dự các buổi học (&gt;80% tổng số tiết học)</a:t>
            </a:r>
            <a:endParaRPr lang="nl-NL" sz="2000" smtClean="0"/>
          </a:p>
          <a:p>
            <a:pPr lvl="0">
              <a:lnSpc>
                <a:spcPct val="120000"/>
              </a:lnSpc>
              <a:spcBef>
                <a:spcPts val="600"/>
              </a:spcBef>
              <a:spcAft>
                <a:spcPts val="600"/>
              </a:spcAft>
              <a:buFont typeface="Wingdings" panose="05000000000000000000" pitchFamily="2" charset="2"/>
              <a:buChar char="Ø"/>
            </a:pPr>
            <a:r>
              <a:rPr lang="en-US" sz="2000" smtClean="0"/>
              <a:t>Hình thành và phát triển </a:t>
            </a:r>
            <a:r>
              <a:rPr lang="en-US" sz="2000" smtClean="0">
                <a:solidFill>
                  <a:srgbClr val="C00000"/>
                </a:solidFill>
              </a:rPr>
              <a:t>kỹ năng học tập suốt đời</a:t>
            </a:r>
            <a:endParaRPr lang="en-US" sz="2000" smtClean="0"/>
          </a:p>
          <a:p>
            <a:pPr lvl="1">
              <a:lnSpc>
                <a:spcPct val="120000"/>
              </a:lnSpc>
              <a:spcBef>
                <a:spcPts val="600"/>
              </a:spcBef>
              <a:spcAft>
                <a:spcPts val="600"/>
              </a:spcAft>
            </a:pPr>
            <a:r>
              <a:rPr lang="nl-NL" sz="2000" smtClean="0"/>
              <a:t>Chủ động tự tìm kiếm thông tin</a:t>
            </a:r>
            <a:r>
              <a:rPr lang="en-US" altLang="nl-NL" sz="2000" smtClean="0"/>
              <a:t> và tự học</a:t>
            </a:r>
            <a:endParaRPr lang="nl-NL" sz="2000" smtClean="0"/>
          </a:p>
          <a:p>
            <a:pPr lvl="1">
              <a:lnSpc>
                <a:spcPct val="120000"/>
              </a:lnSpc>
              <a:spcBef>
                <a:spcPts val="600"/>
              </a:spcBef>
              <a:spcAft>
                <a:spcPts val="600"/>
              </a:spcAft>
            </a:pPr>
            <a:r>
              <a:rPr lang="en-US" altLang="nl-NL" sz="2000" smtClean="0"/>
              <a:t>Học và giải quyết bài tập theo nhóm</a:t>
            </a:r>
            <a:endParaRPr lang="en-US" sz="2000">
              <a:solidFill>
                <a:srgbClr val="C00000"/>
              </a:solidFill>
            </a:endParaRPr>
          </a:p>
          <a:p>
            <a:pPr lvl="0">
              <a:lnSpc>
                <a:spcPct val="120000"/>
              </a:lnSpc>
              <a:spcBef>
                <a:spcPts val="600"/>
              </a:spcBef>
              <a:spcAft>
                <a:spcPts val="600"/>
              </a:spcAft>
            </a:pPr>
            <a:r>
              <a:rPr lang="nl-NL" sz="2000"/>
              <a:t>Tham gia đầy đủ các buổi kiểm </a:t>
            </a:r>
            <a:r>
              <a:rPr lang="nl-NL" sz="2000" smtClean="0"/>
              <a:t>tra, </a:t>
            </a:r>
            <a:r>
              <a:rPr lang="nl-NL" sz="2000"/>
              <a:t>đánh </a:t>
            </a:r>
            <a:r>
              <a:rPr lang="nl-NL" sz="2000" smtClean="0"/>
              <a:t>giá</a:t>
            </a:r>
            <a:r>
              <a:rPr lang="en-US" altLang="nl-NL" sz="2000" smtClean="0"/>
              <a:t> và nộp bài </a:t>
            </a:r>
            <a:r>
              <a:rPr lang="nl-NL" sz="2000">
                <a:sym typeface="+mn-ea"/>
              </a:rPr>
              <a:t>(</a:t>
            </a:r>
            <a:r>
              <a:rPr lang="nl-NL" sz="2000" u="sng">
                <a:sym typeface="+mn-ea"/>
                <a:hlinkClick r:id="rId2"/>
              </a:rPr>
              <a:t>https://courses.ut.edu.vn</a:t>
            </a:r>
            <a:r>
              <a:rPr lang="nl-NL" sz="2000" smtClean="0">
                <a:sym typeface="+mn-ea"/>
              </a:rPr>
              <a:t>)</a:t>
            </a:r>
            <a:r>
              <a:rPr lang="nl-NL" sz="2000" smtClean="0"/>
              <a:t>:</a:t>
            </a:r>
          </a:p>
          <a:p>
            <a:pPr lvl="1">
              <a:lnSpc>
                <a:spcPct val="120000"/>
              </a:lnSpc>
              <a:spcBef>
                <a:spcPts val="600"/>
              </a:spcBef>
              <a:spcAft>
                <a:spcPts val="600"/>
              </a:spcAft>
            </a:pPr>
            <a:r>
              <a:rPr lang="nl-NL" sz="2000" smtClean="0"/>
              <a:t>Quá </a:t>
            </a:r>
            <a:r>
              <a:rPr lang="nl-NL" sz="2000"/>
              <a:t>trình </a:t>
            </a:r>
            <a:endParaRPr lang="nl-NL" sz="2000" smtClean="0"/>
          </a:p>
          <a:p>
            <a:pPr lvl="1">
              <a:lnSpc>
                <a:spcPct val="120000"/>
              </a:lnSpc>
              <a:spcBef>
                <a:spcPts val="600"/>
              </a:spcBef>
              <a:spcAft>
                <a:spcPts val="600"/>
              </a:spcAft>
            </a:pPr>
            <a:r>
              <a:rPr lang="nl-NL" sz="2000" smtClean="0"/>
              <a:t>Kết </a:t>
            </a:r>
            <a:r>
              <a:rPr lang="nl-NL" sz="2000"/>
              <a:t>thúc học </a:t>
            </a:r>
            <a:r>
              <a:rPr lang="nl-NL" sz="2000" smtClean="0"/>
              <a:t>phần</a:t>
            </a:r>
            <a:endParaRPr lang="en-US" sz="2000"/>
          </a:p>
          <a:p>
            <a:pPr lvl="0">
              <a:lnSpc>
                <a:spcPct val="120000"/>
              </a:lnSpc>
              <a:spcBef>
                <a:spcPts val="600"/>
              </a:spcBef>
              <a:spcAft>
                <a:spcPts val="600"/>
              </a:spcAft>
            </a:pPr>
            <a:r>
              <a:rPr lang="nl-NL" sz="2000" smtClean="0"/>
              <a:t>Tích cực:</a:t>
            </a:r>
          </a:p>
          <a:p>
            <a:pPr lvl="1">
              <a:lnSpc>
                <a:spcPct val="120000"/>
              </a:lnSpc>
              <a:spcBef>
                <a:spcPts val="600"/>
              </a:spcBef>
              <a:spcAft>
                <a:spcPts val="600"/>
              </a:spcAft>
            </a:pPr>
            <a:r>
              <a:rPr lang="nl-NL" sz="2000" smtClean="0"/>
              <a:t>Chia sẻ</a:t>
            </a:r>
          </a:p>
          <a:p>
            <a:pPr lvl="1">
              <a:lnSpc>
                <a:spcPct val="120000"/>
              </a:lnSpc>
              <a:spcBef>
                <a:spcPts val="600"/>
              </a:spcBef>
              <a:spcAft>
                <a:spcPts val="600"/>
              </a:spcAft>
            </a:pPr>
            <a:r>
              <a:rPr lang="nl-NL" sz="2000"/>
              <a:t>Đ</a:t>
            </a:r>
            <a:r>
              <a:rPr lang="nl-NL" sz="2000" smtClean="0"/>
              <a:t>ặt </a:t>
            </a:r>
            <a:r>
              <a:rPr lang="nl-NL" sz="2000"/>
              <a:t>câu hỏi và thảo luận.</a:t>
            </a:r>
            <a:endParaRPr lang="en-US" sz="2000"/>
          </a:p>
          <a:p>
            <a:endParaRPr lang="en-US" sz="2000"/>
          </a:p>
        </p:txBody>
      </p:sp>
      <p:sp>
        <p:nvSpPr>
          <p:cNvPr id="4" name="Slide Number Placeholder 3"/>
          <p:cNvSpPr>
            <a:spLocks noGrp="1"/>
          </p:cNvSpPr>
          <p:nvPr>
            <p:ph type="sldNum" sz="quarter" idx="12"/>
          </p:nvPr>
        </p:nvSpPr>
        <p:spPr/>
        <p:txBody>
          <a:bodyPr/>
          <a:lstStyle/>
          <a:p>
            <a:fld id="{C36C28B4-5B52-467A-9173-204C9E91858B}"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335" smtClean="0">
                <a:solidFill>
                  <a:srgbClr val="076365"/>
                </a:solidFill>
                <a:latin typeface="Arial" panose="020B0604020202020204" pitchFamily="34" charset="0"/>
                <a:cs typeface="Arial" panose="020B0604020202020204" pitchFamily="34" charset="0"/>
              </a:rPr>
              <a:t>Kiểm tra, đánh giá</a:t>
            </a:r>
          </a:p>
        </p:txBody>
      </p:sp>
      <p:sp>
        <p:nvSpPr>
          <p:cNvPr id="3" name="Content Placeholder 2"/>
          <p:cNvSpPr>
            <a:spLocks noGrp="1"/>
          </p:cNvSpPr>
          <p:nvPr>
            <p:ph idx="1"/>
          </p:nvPr>
        </p:nvSpPr>
        <p:spPr/>
        <p:txBody>
          <a:bodyPr/>
          <a:lstStyle/>
          <a:p>
            <a:pPr algn="just">
              <a:lnSpc>
                <a:spcPct val="130000"/>
              </a:lnSpc>
            </a:pPr>
            <a:r>
              <a:rPr lang="en-US"/>
              <a:t>Đánh giá quá </a:t>
            </a:r>
            <a:r>
              <a:rPr lang="en-US" smtClean="0"/>
              <a:t>trình (70%): Bài kiểm tra cuối mỗi buổi học</a:t>
            </a:r>
          </a:p>
          <a:p>
            <a:pPr algn="just">
              <a:lnSpc>
                <a:spcPct val="130000"/>
              </a:lnSpc>
            </a:pPr>
            <a:r>
              <a:rPr lang="en-US"/>
              <a:t>Đánh giá Kết thúc học phần </a:t>
            </a:r>
            <a:r>
              <a:rPr lang="en-US" smtClean="0"/>
              <a:t>(30</a:t>
            </a:r>
            <a:r>
              <a:rPr lang="en-US"/>
              <a:t>%): Bài </a:t>
            </a:r>
            <a:r>
              <a:rPr lang="en-US" smtClean="0"/>
              <a:t>thuyết trình </a:t>
            </a:r>
            <a:r>
              <a:rPr lang="en-US"/>
              <a:t>ở buổi học cuối cùng của môn học</a:t>
            </a:r>
          </a:p>
          <a:p>
            <a:pPr algn="just">
              <a:lnSpc>
                <a:spcPct val="130000"/>
              </a:lnSpc>
            </a:pPr>
            <a:r>
              <a:rPr lang="en-US">
                <a:solidFill>
                  <a:srgbClr val="FF0000"/>
                </a:solidFill>
              </a:rPr>
              <a:t>Sinh viên không được đánh giá khi vi phạm một trong:</a:t>
            </a:r>
          </a:p>
          <a:p>
            <a:pPr lvl="1" algn="just">
              <a:lnSpc>
                <a:spcPct val="130000"/>
              </a:lnSpc>
            </a:pPr>
            <a:r>
              <a:rPr lang="en-US" sz="2400"/>
              <a:t>Không tham gia các buổi học </a:t>
            </a:r>
            <a:r>
              <a:rPr lang="en-US" sz="2400" smtClean="0"/>
              <a:t>&gt; </a:t>
            </a:r>
            <a:r>
              <a:rPr lang="en-US" sz="2400"/>
              <a:t>20% số tiết </a:t>
            </a:r>
            <a:r>
              <a:rPr lang="en-US" sz="2400" smtClean="0"/>
              <a:t>(&gt; </a:t>
            </a:r>
            <a:r>
              <a:rPr lang="en-US" sz="2400"/>
              <a:t>03 buổi vắng)</a:t>
            </a:r>
          </a:p>
          <a:p>
            <a:pPr lvl="1" algn="just">
              <a:lnSpc>
                <a:spcPct val="130000"/>
              </a:lnSpc>
            </a:pPr>
            <a:r>
              <a:rPr lang="en-US" sz="2400"/>
              <a:t>Không nộp bài đánh giá của các buổi học theo thời gian quy định (&gt;= 03 bài)</a:t>
            </a:r>
          </a:p>
          <a:p>
            <a:pPr lvl="1" algn="just">
              <a:lnSpc>
                <a:spcPct val="130000"/>
              </a:lnSpc>
            </a:pPr>
            <a:r>
              <a:rPr lang="en-US" sz="2400"/>
              <a:t>Không tham gia đánh giá kết thúc môn học (Buổi học cuối cùng của môn học)</a:t>
            </a:r>
            <a:endParaRPr lang="en-US"/>
          </a:p>
          <a:p>
            <a:pPr lvl="1" algn="just">
              <a:lnSpc>
                <a:spcPct val="130000"/>
              </a:lnSpc>
            </a:pPr>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335">
                <a:latin typeface="Arial" panose="020B0604020202020204" pitchFamily="34" charset="0"/>
                <a:cs typeface="Arial" panose="020B0604020202020204" pitchFamily="34" charset="0"/>
              </a:rPr>
              <a:t>NỘI DUNG MÔN HỌC</a:t>
            </a:r>
          </a:p>
        </p:txBody>
      </p:sp>
      <p:sp>
        <p:nvSpPr>
          <p:cNvPr id="3" name="Content Placeholder 2"/>
          <p:cNvSpPr>
            <a:spLocks noGrp="1"/>
          </p:cNvSpPr>
          <p:nvPr>
            <p:ph idx="1"/>
          </p:nvPr>
        </p:nvSpPr>
        <p:spPr>
          <a:xfrm>
            <a:off x="838200" y="1047750"/>
            <a:ext cx="11182350" cy="5544185"/>
          </a:xfrm>
        </p:spPr>
        <p:txBody>
          <a:bodyPr>
            <a:normAutofit lnSpcReduction="20000"/>
          </a:bodyPr>
          <a:lstStyle/>
          <a:p>
            <a:pPr algn="just">
              <a:lnSpc>
                <a:spcPct val="150000"/>
              </a:lnSpc>
            </a:pPr>
            <a:r>
              <a:rPr lang="en-US"/>
              <a:t>Chương 1: Tổng quan về học Đại học</a:t>
            </a:r>
          </a:p>
          <a:p>
            <a:pPr algn="just">
              <a:lnSpc>
                <a:spcPct val="150000"/>
              </a:lnSpc>
            </a:pPr>
            <a:r>
              <a:rPr lang="en-US"/>
              <a:t>Chương </a:t>
            </a:r>
            <a:r>
              <a:rPr lang="en-US" smtClean="0"/>
              <a:t>1(tt): </a:t>
            </a:r>
            <a:r>
              <a:rPr lang="en-US"/>
              <a:t>Chiến lược học tập hiệu quả</a:t>
            </a:r>
          </a:p>
          <a:p>
            <a:pPr algn="just">
              <a:lnSpc>
                <a:spcPct val="150000"/>
              </a:lnSpc>
            </a:pPr>
            <a:r>
              <a:rPr lang="en-US"/>
              <a:t>Chương </a:t>
            </a:r>
            <a:r>
              <a:rPr lang="en-US" smtClean="0"/>
              <a:t>2: </a:t>
            </a:r>
            <a:r>
              <a:rPr lang="en-US">
                <a:sym typeface="+mn-ea"/>
              </a:rPr>
              <a:t>Kỹ năng học tập và Tư duy sáng tạo</a:t>
            </a:r>
            <a:endParaRPr lang="en-US"/>
          </a:p>
          <a:p>
            <a:pPr algn="just">
              <a:lnSpc>
                <a:spcPct val="150000"/>
              </a:lnSpc>
            </a:pPr>
            <a:r>
              <a:rPr lang="en-US"/>
              <a:t>Chương </a:t>
            </a:r>
            <a:r>
              <a:rPr lang="en-US" smtClean="0"/>
              <a:t>3: </a:t>
            </a:r>
            <a:r>
              <a:rPr lang="en-US">
                <a:sym typeface="+mn-ea"/>
              </a:rPr>
              <a:t>Phương pháp nghiên cứu khoa học</a:t>
            </a:r>
            <a:endParaRPr lang="en-US"/>
          </a:p>
          <a:p>
            <a:pPr algn="just">
              <a:lnSpc>
                <a:spcPct val="150000"/>
              </a:lnSpc>
            </a:pPr>
            <a:r>
              <a:rPr lang="en-US"/>
              <a:t>Chương </a:t>
            </a:r>
            <a:r>
              <a:rPr lang="en-US" smtClean="0"/>
              <a:t>4: </a:t>
            </a:r>
            <a:r>
              <a:rPr lang="en-US"/>
              <a:t>Trình bày và viết báo cáo nghiên cứu</a:t>
            </a:r>
          </a:p>
          <a:p>
            <a:pPr algn="just">
              <a:lnSpc>
                <a:spcPct val="150000"/>
              </a:lnSpc>
            </a:pPr>
            <a:r>
              <a:rPr lang="en-US"/>
              <a:t>Chương </a:t>
            </a:r>
            <a:r>
              <a:rPr lang="en-US" smtClean="0"/>
              <a:t>5: </a:t>
            </a:r>
            <a:r>
              <a:rPr lang="en-US"/>
              <a:t>Kỹ năng thuyết trình và phản biện</a:t>
            </a:r>
          </a:p>
          <a:p>
            <a:pPr algn="just">
              <a:lnSpc>
                <a:spcPct val="150000"/>
              </a:lnSpc>
            </a:pPr>
            <a:r>
              <a:rPr lang="en-US"/>
              <a:t>Chương </a:t>
            </a:r>
            <a:r>
              <a:rPr lang="en-US" smtClean="0"/>
              <a:t>6: </a:t>
            </a:r>
            <a:r>
              <a:rPr lang="en-US"/>
              <a:t>Thực hành nghiên cứu khoa học trong sinh viên</a:t>
            </a:r>
          </a:p>
        </p:txBody>
      </p:sp>
      <p:sp>
        <p:nvSpPr>
          <p:cNvPr id="4" name="Slide Number Placeholder 3"/>
          <p:cNvSpPr>
            <a:spLocks noGrp="1"/>
          </p:cNvSpPr>
          <p:nvPr>
            <p:ph type="sldNum" sz="quarter" idx="12"/>
          </p:nvPr>
        </p:nvSpPr>
        <p:spPr/>
        <p:txBody>
          <a:bodyPr/>
          <a:lstStyle/>
          <a:p>
            <a:fld id="{C36C28B4-5B52-467A-9173-204C9E91858B}"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335">
                <a:latin typeface="Arial" panose="020B0604020202020204" pitchFamily="34" charset="0"/>
                <a:cs typeface="Arial" panose="020B0604020202020204" pitchFamily="34" charset="0"/>
              </a:rPr>
              <a:t>Giáo trình và Tài liệu tham khảo</a:t>
            </a:r>
          </a:p>
        </p:txBody>
      </p:sp>
      <p:sp>
        <p:nvSpPr>
          <p:cNvPr id="3" name="Content Placeholder 2"/>
          <p:cNvSpPr>
            <a:spLocks noGrp="1"/>
          </p:cNvSpPr>
          <p:nvPr>
            <p:ph idx="1"/>
          </p:nvPr>
        </p:nvSpPr>
        <p:spPr/>
        <p:txBody>
          <a:bodyPr>
            <a:noAutofit/>
          </a:bodyPr>
          <a:lstStyle/>
          <a:p>
            <a:pPr marL="0" indent="0" algn="just">
              <a:lnSpc>
                <a:spcPct val="160000"/>
              </a:lnSpc>
              <a:buNone/>
            </a:pPr>
            <a:r>
              <a:rPr lang="en-US" sz="1900">
                <a:solidFill>
                  <a:srgbClr val="FF0000"/>
                </a:solidFill>
              </a:rPr>
              <a:t>Tài liệu chính (Main materials)</a:t>
            </a:r>
          </a:p>
          <a:p>
            <a:pPr marL="0" indent="0" algn="just">
              <a:lnSpc>
                <a:spcPct val="160000"/>
              </a:lnSpc>
              <a:buNone/>
            </a:pPr>
            <a:r>
              <a:rPr lang="en-US" sz="1900"/>
              <a:t>[1] Stella Cottrell, 2019, The Study Skills Handbook, 5th Edition, Macmillan Education UK</a:t>
            </a:r>
          </a:p>
          <a:p>
            <a:pPr marL="0" indent="0" algn="just">
              <a:lnSpc>
                <a:spcPct val="160000"/>
              </a:lnSpc>
              <a:buNone/>
            </a:pPr>
            <a:r>
              <a:rPr lang="en-US" sz="1900"/>
              <a:t>[2] C. George Thomas, Research Methodology and Scientific Writing, Springer Cham</a:t>
            </a:r>
          </a:p>
          <a:p>
            <a:pPr marL="0" indent="0" algn="just">
              <a:lnSpc>
                <a:spcPct val="160000"/>
              </a:lnSpc>
              <a:buNone/>
            </a:pPr>
            <a:r>
              <a:rPr lang="en-US" sz="1900">
                <a:solidFill>
                  <a:srgbClr val="FF0000"/>
                </a:solidFill>
              </a:rPr>
              <a:t>Tài liệu tham khảo (References materials)</a:t>
            </a:r>
          </a:p>
          <a:p>
            <a:pPr marL="0" indent="0" algn="just">
              <a:lnSpc>
                <a:spcPct val="160000"/>
              </a:lnSpc>
              <a:buNone/>
            </a:pPr>
            <a:r>
              <a:rPr lang="en-US" sz="1900"/>
              <a:t>[3] Đồng Thị Thanh Phương, Nguyễn Thị Ngọc An, 2009, Phương pháp nghiên cứu khoa học, NXB Lao động xã hội.</a:t>
            </a:r>
          </a:p>
          <a:p>
            <a:pPr marL="0" indent="0" algn="just">
              <a:lnSpc>
                <a:spcPct val="160000"/>
              </a:lnSpc>
              <a:buNone/>
            </a:pPr>
            <a:r>
              <a:rPr lang="en-US" sz="1900"/>
              <a:t>[4] Vũ Cao Đàm, 2007, Phương pháp luận nghiên cứu khoa học, NXB Chính trị quốc gia.</a:t>
            </a:r>
          </a:p>
          <a:p>
            <a:pPr marL="0" indent="0" algn="just">
              <a:lnSpc>
                <a:spcPct val="160000"/>
              </a:lnSpc>
              <a:buNone/>
            </a:pPr>
            <a:r>
              <a:rPr lang="en-US" sz="1900"/>
              <a:t>[5] Võ Thị Ngọc Lan, Nguyễn Văn Tuấn, 2012, Giáo trình Phương pháp nghiên cứu khoa học giáo dục, NXB Đại học Quốc gia TP. Hồ Chí Minh</a:t>
            </a:r>
          </a:p>
        </p:txBody>
      </p:sp>
      <p:sp>
        <p:nvSpPr>
          <p:cNvPr id="4" name="Slide Number Placeholder 3"/>
          <p:cNvSpPr>
            <a:spLocks noGrp="1"/>
          </p:cNvSpPr>
          <p:nvPr>
            <p:ph type="sldNum" sz="quarter" idx="12"/>
          </p:nvPr>
        </p:nvSpPr>
        <p:spPr/>
        <p:txBody>
          <a:bodyPr/>
          <a:lstStyle/>
          <a:p>
            <a:fld id="{C36C28B4-5B52-467A-9173-204C9E91858B}" type="slidenum">
              <a:rPr lang="en-US" smtClean="0"/>
              <a:t>7</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873*275"/>
  <p:tag name="TABLE_ENDDRAG_RECT" val="66*82*873*275"/>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873*275"/>
  <p:tag name="TABLE_ENDDRAG_RECT" val="66*82*873*2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682</Words>
  <Application>Microsoft Office PowerPoint</Application>
  <PresentationFormat>Widescreen</PresentationFormat>
  <Paragraphs>66</Paragraphs>
  <Slides>7</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vt:i4>
      </vt:variant>
    </vt:vector>
  </HeadingPairs>
  <TitlesOfParts>
    <vt:vector size="17" baseType="lpstr">
      <vt:lpstr>Arial</vt:lpstr>
      <vt:lpstr>Calibri</vt:lpstr>
      <vt:lpstr>Calibri Light</vt:lpstr>
      <vt:lpstr>Cambria</vt:lpstr>
      <vt:lpstr>Courier New</vt:lpstr>
      <vt:lpstr>Tahoma</vt:lpstr>
      <vt:lpstr>Times New Roman</vt:lpstr>
      <vt:lpstr>Wingdings</vt:lpstr>
      <vt:lpstr>Office Theme</vt:lpstr>
      <vt:lpstr>Custom Design</vt:lpstr>
      <vt:lpstr>PHƯƠNG PHÁP NGHIÊN CỨU  RESEARCH METHODS</vt:lpstr>
      <vt:lpstr>Course Objectives</vt:lpstr>
      <vt:lpstr>Course learning outcomes</vt:lpstr>
      <vt:lpstr>Nhiệm vụ của sinh viên</vt:lpstr>
      <vt:lpstr>Kiểm tra, đánh giá</vt:lpstr>
      <vt:lpstr>NỘI DUNG MÔN HỌC</vt:lpstr>
      <vt:lpstr>Giáo trình và Tài liệu tham khảo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vnha</dc:creator>
  <cp:lastModifiedBy>Vo Vinh Bao</cp:lastModifiedBy>
  <cp:revision>30</cp:revision>
  <dcterms:created xsi:type="dcterms:W3CDTF">2024-06-28T03:54:00Z</dcterms:created>
  <dcterms:modified xsi:type="dcterms:W3CDTF">2024-10-28T23:51:52Z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A072BD44591B439D8C9136BF30891302_13</vt:lpwstr>
  </property>
  <property fmtid="{D5CDD505-2E9C-101B-9397-08002B2CF9AE}" pid="3" name="KSOProductBuildVer">
    <vt:lpwstr>1033-12.2.0.17545</vt:lpwstr>
  </property>
</Properties>
</file>