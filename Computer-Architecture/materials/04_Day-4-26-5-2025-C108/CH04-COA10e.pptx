
<file path=[Content_Types].xml><?xml version="1.0" encoding="utf-8"?>
<Types xmlns="http://schemas.openxmlformats.org/package/2006/content-types">
  <Default Extension="emf" ContentType="image/x-emf"/>
  <Default Extension="gif" ContentType="image/gi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1" r:id="rId1"/>
  </p:sldMasterIdLst>
  <p:notesMasterIdLst>
    <p:notesMasterId r:id="rId52"/>
  </p:notesMasterIdLst>
  <p:handoutMasterIdLst>
    <p:handoutMasterId r:id="rId53"/>
  </p:handoutMasterIdLst>
  <p:sldIdLst>
    <p:sldId id="361" r:id="rId2"/>
    <p:sldId id="362" r:id="rId3"/>
    <p:sldId id="259" r:id="rId4"/>
    <p:sldId id="260" r:id="rId5"/>
    <p:sldId id="261" r:id="rId6"/>
    <p:sldId id="262" r:id="rId7"/>
    <p:sldId id="354" r:id="rId8"/>
    <p:sldId id="355" r:id="rId9"/>
    <p:sldId id="326" r:id="rId10"/>
    <p:sldId id="364" r:id="rId11"/>
    <p:sldId id="369" r:id="rId12"/>
    <p:sldId id="363" r:id="rId13"/>
    <p:sldId id="334" r:id="rId14"/>
    <p:sldId id="331" r:id="rId15"/>
    <p:sldId id="332" r:id="rId16"/>
    <p:sldId id="365" r:id="rId17"/>
    <p:sldId id="367" r:id="rId18"/>
    <p:sldId id="368" r:id="rId19"/>
    <p:sldId id="283" r:id="rId20"/>
    <p:sldId id="356" r:id="rId21"/>
    <p:sldId id="357" r:id="rId22"/>
    <p:sldId id="358" r:id="rId23"/>
    <p:sldId id="359" r:id="rId24"/>
    <p:sldId id="284" r:id="rId25"/>
    <p:sldId id="285" r:id="rId26"/>
    <p:sldId id="313" r:id="rId27"/>
    <p:sldId id="360" r:id="rId28"/>
    <p:sldId id="320" r:id="rId29"/>
    <p:sldId id="339" r:id="rId30"/>
    <p:sldId id="289" r:id="rId31"/>
    <p:sldId id="316" r:id="rId32"/>
    <p:sldId id="321" r:id="rId33"/>
    <p:sldId id="292" r:id="rId34"/>
    <p:sldId id="340" r:id="rId35"/>
    <p:sldId id="317" r:id="rId36"/>
    <p:sldId id="322" r:id="rId37"/>
    <p:sldId id="318" r:id="rId38"/>
    <p:sldId id="342" r:id="rId39"/>
    <p:sldId id="296" r:id="rId40"/>
    <p:sldId id="298" r:id="rId41"/>
    <p:sldId id="297" r:id="rId42"/>
    <p:sldId id="299" r:id="rId43"/>
    <p:sldId id="343" r:id="rId44"/>
    <p:sldId id="344" r:id="rId45"/>
    <p:sldId id="345" r:id="rId46"/>
    <p:sldId id="346" r:id="rId47"/>
    <p:sldId id="301" r:id="rId48"/>
    <p:sldId id="323" r:id="rId49"/>
    <p:sldId id="325" r:id="rId50"/>
    <p:sldId id="353" r:id="rId5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33"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33"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33"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33"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33" charset="0"/>
        <a:ea typeface="+mn-ea"/>
        <a:cs typeface="+mn-cs"/>
      </a:defRPr>
    </a:lvl5pPr>
    <a:lvl6pPr marL="2286000" algn="l" defTabSz="457200" rtl="0" eaLnBrk="1" latinLnBrk="0" hangingPunct="1">
      <a:defRPr sz="2400" kern="1200">
        <a:solidFill>
          <a:schemeClr val="tx1"/>
        </a:solidFill>
        <a:latin typeface="Times New Roman" pitchFamily="33" charset="0"/>
        <a:ea typeface="+mn-ea"/>
        <a:cs typeface="+mn-cs"/>
      </a:defRPr>
    </a:lvl6pPr>
    <a:lvl7pPr marL="2743200" algn="l" defTabSz="457200" rtl="0" eaLnBrk="1" latinLnBrk="0" hangingPunct="1">
      <a:defRPr sz="2400" kern="1200">
        <a:solidFill>
          <a:schemeClr val="tx1"/>
        </a:solidFill>
        <a:latin typeface="Times New Roman" pitchFamily="33" charset="0"/>
        <a:ea typeface="+mn-ea"/>
        <a:cs typeface="+mn-cs"/>
      </a:defRPr>
    </a:lvl7pPr>
    <a:lvl8pPr marL="3200400" algn="l" defTabSz="457200" rtl="0" eaLnBrk="1" latinLnBrk="0" hangingPunct="1">
      <a:defRPr sz="2400" kern="1200">
        <a:solidFill>
          <a:schemeClr val="tx1"/>
        </a:solidFill>
        <a:latin typeface="Times New Roman" pitchFamily="33" charset="0"/>
        <a:ea typeface="+mn-ea"/>
        <a:cs typeface="+mn-cs"/>
      </a:defRPr>
    </a:lvl8pPr>
    <a:lvl9pPr marL="3657600" algn="l" defTabSz="457200" rtl="0" eaLnBrk="1" latinLnBrk="0" hangingPunct="1">
      <a:defRPr sz="2400" kern="1200">
        <a:solidFill>
          <a:schemeClr val="tx1"/>
        </a:solidFill>
        <a:latin typeface="Times New Roman" pitchFamily="33"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86" autoAdjust="0"/>
    <p:restoredTop sz="57816" autoAdjust="0"/>
  </p:normalViewPr>
  <p:slideViewPr>
    <p:cSldViewPr>
      <p:cViewPr varScale="1">
        <p:scale>
          <a:sx n="72" d="100"/>
          <a:sy n="72" d="100"/>
        </p:scale>
        <p:origin x="2856" y="7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Lst>
  </p:outlineViewPr>
  <p:notesTextViewPr>
    <p:cViewPr>
      <p:scale>
        <a:sx n="100" d="100"/>
        <a:sy n="100" d="100"/>
      </p:scale>
      <p:origin x="0" y="0"/>
    </p:cViewPr>
  </p:notesTextViewPr>
  <p:sorterViewPr>
    <p:cViewPr>
      <p:scale>
        <a:sx n="50" d="100"/>
        <a:sy n="50" d="100"/>
      </p:scale>
      <p:origin x="0" y="168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25.xml"/><Relationship Id="rId13" Type="http://schemas.openxmlformats.org/officeDocument/2006/relationships/slide" Target="slides/slide36.xml"/><Relationship Id="rId18" Type="http://schemas.openxmlformats.org/officeDocument/2006/relationships/slide" Target="slides/slide47.xml"/><Relationship Id="rId3" Type="http://schemas.openxmlformats.org/officeDocument/2006/relationships/slide" Target="slides/slide4.xml"/><Relationship Id="rId7" Type="http://schemas.openxmlformats.org/officeDocument/2006/relationships/slide" Target="slides/slide24.xml"/><Relationship Id="rId12" Type="http://schemas.openxmlformats.org/officeDocument/2006/relationships/slide" Target="slides/slide33.xml"/><Relationship Id="rId17" Type="http://schemas.openxmlformats.org/officeDocument/2006/relationships/slide" Target="slides/slide42.xml"/><Relationship Id="rId2" Type="http://schemas.openxmlformats.org/officeDocument/2006/relationships/slide" Target="slides/slide3.xml"/><Relationship Id="rId16" Type="http://schemas.openxmlformats.org/officeDocument/2006/relationships/slide" Target="slides/slide41.xml"/><Relationship Id="rId20" Type="http://schemas.openxmlformats.org/officeDocument/2006/relationships/slide" Target="slides/slide50.xml"/><Relationship Id="rId1" Type="http://schemas.openxmlformats.org/officeDocument/2006/relationships/slide" Target="slides/slide1.xml"/><Relationship Id="rId6" Type="http://schemas.openxmlformats.org/officeDocument/2006/relationships/slide" Target="slides/slide19.xml"/><Relationship Id="rId11" Type="http://schemas.openxmlformats.org/officeDocument/2006/relationships/slide" Target="slides/slide32.xml"/><Relationship Id="rId5" Type="http://schemas.openxmlformats.org/officeDocument/2006/relationships/slide" Target="slides/slide6.xml"/><Relationship Id="rId15" Type="http://schemas.openxmlformats.org/officeDocument/2006/relationships/slide" Target="slides/slide40.xml"/><Relationship Id="rId10" Type="http://schemas.openxmlformats.org/officeDocument/2006/relationships/slide" Target="slides/slide30.xml"/><Relationship Id="rId19" Type="http://schemas.openxmlformats.org/officeDocument/2006/relationships/slide" Target="slides/slide49.xml"/><Relationship Id="rId4" Type="http://schemas.openxmlformats.org/officeDocument/2006/relationships/slide" Target="slides/slide5.xml"/><Relationship Id="rId9" Type="http://schemas.openxmlformats.org/officeDocument/2006/relationships/slide" Target="slides/slide28.xml"/><Relationship Id="rId14" Type="http://schemas.openxmlformats.org/officeDocument/2006/relationships/slide" Target="slides/slide3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345D47-8D5E-EF4F-9ED8-936890EC94B5}" type="doc">
      <dgm:prSet loTypeId="urn:microsoft.com/office/officeart/2005/8/layout/target2" loCatId="relationship" qsTypeId="urn:microsoft.com/office/officeart/2005/8/quickstyle/simple4" qsCatId="simple" csTypeId="urn:microsoft.com/office/officeart/2005/8/colors/accent1_2" csCatId="accent1" phldr="1"/>
      <dgm:spPr/>
      <dgm:t>
        <a:bodyPr/>
        <a:lstStyle/>
        <a:p>
          <a:endParaRPr lang="en-US"/>
        </a:p>
      </dgm:t>
    </dgm:pt>
    <dgm:pt modelId="{A41D35A3-B306-0247-9C90-FE2FD338F566}">
      <dgm:prSet custT="1"/>
      <dgm:spPr>
        <a:solidFill>
          <a:schemeClr val="accent3"/>
        </a:solidFill>
        <a:ln>
          <a:solidFill>
            <a:schemeClr val="accent3"/>
          </a:solidFill>
        </a:ln>
      </dgm:spPr>
      <dgm:t>
        <a:bodyPr/>
        <a:lstStyle/>
        <a:p>
          <a:pPr rtl="0"/>
          <a:r>
            <a:rPr lang="en-US" sz="3000" dirty="0"/>
            <a:t>The two most important characteristics of memory</a:t>
          </a:r>
        </a:p>
      </dgm:t>
    </dgm:pt>
    <dgm:pt modelId="{D1BE60B8-0963-4F46-B025-69563C2B04F0}" type="parTrans" cxnId="{67D9566B-B9BA-8649-AB7A-40E6060CBA2C}">
      <dgm:prSet/>
      <dgm:spPr/>
      <dgm:t>
        <a:bodyPr/>
        <a:lstStyle/>
        <a:p>
          <a:endParaRPr lang="en-US"/>
        </a:p>
      </dgm:t>
    </dgm:pt>
    <dgm:pt modelId="{4D21CA9D-B342-C145-9903-36C13BD31C9E}" type="sibTrans" cxnId="{67D9566B-B9BA-8649-AB7A-40E6060CBA2C}">
      <dgm:prSet/>
      <dgm:spPr/>
      <dgm:t>
        <a:bodyPr/>
        <a:lstStyle/>
        <a:p>
          <a:endParaRPr lang="en-US"/>
        </a:p>
      </dgm:t>
    </dgm:pt>
    <dgm:pt modelId="{86657987-5D7D-9145-9B7A-F752208AD897}">
      <dgm:prSet custT="1"/>
      <dgm:spPr/>
      <dgm:t>
        <a:bodyPr/>
        <a:lstStyle/>
        <a:p>
          <a:pPr rtl="0"/>
          <a:r>
            <a:rPr lang="en-US" sz="3000"/>
            <a:t>Three </a:t>
          </a:r>
          <a:r>
            <a:rPr lang="en-US" sz="3000" dirty="0"/>
            <a:t>performance parameters are used:</a:t>
          </a:r>
        </a:p>
      </dgm:t>
    </dgm:pt>
    <dgm:pt modelId="{602B3695-5FF0-9C4A-B946-F15B2FB28D16}" type="parTrans" cxnId="{EFE69842-B030-B54C-A174-D400E1F6B7B1}">
      <dgm:prSet/>
      <dgm:spPr/>
      <dgm:t>
        <a:bodyPr/>
        <a:lstStyle/>
        <a:p>
          <a:endParaRPr lang="en-US"/>
        </a:p>
      </dgm:t>
    </dgm:pt>
    <dgm:pt modelId="{5ED105F6-1A94-EE4F-911E-E0F216E124A5}" type="sibTrans" cxnId="{EFE69842-B030-B54C-A174-D400E1F6B7B1}">
      <dgm:prSet/>
      <dgm:spPr/>
      <dgm:t>
        <a:bodyPr/>
        <a:lstStyle/>
        <a:p>
          <a:endParaRPr lang="en-US"/>
        </a:p>
      </dgm:t>
    </dgm:pt>
    <dgm:pt modelId="{CF384916-2EBE-C047-B176-DAD9E34690A4}">
      <dgm:prSet custT="1"/>
      <dgm:spPr/>
      <dgm:t>
        <a:bodyPr/>
        <a:lstStyle/>
        <a:p>
          <a:pPr rtl="0"/>
          <a:r>
            <a:rPr lang="en-GB" sz="2000" dirty="0"/>
            <a:t>Access time (latency)</a:t>
          </a:r>
        </a:p>
      </dgm:t>
    </dgm:pt>
    <dgm:pt modelId="{4691FD66-CC92-AF49-9FA8-89E7ADDE426E}" type="parTrans" cxnId="{1EFD4954-79F2-5A41-ABFB-49CAF963DDCF}">
      <dgm:prSet/>
      <dgm:spPr/>
      <dgm:t>
        <a:bodyPr/>
        <a:lstStyle/>
        <a:p>
          <a:endParaRPr lang="en-US"/>
        </a:p>
      </dgm:t>
    </dgm:pt>
    <dgm:pt modelId="{6C69B0F2-86D0-BE49-B377-295A6A39A971}" type="sibTrans" cxnId="{1EFD4954-79F2-5A41-ABFB-49CAF963DDCF}">
      <dgm:prSet/>
      <dgm:spPr/>
      <dgm:t>
        <a:bodyPr/>
        <a:lstStyle/>
        <a:p>
          <a:endParaRPr lang="en-US"/>
        </a:p>
      </dgm:t>
    </dgm:pt>
    <dgm:pt modelId="{317CB85F-1C30-8E43-8C90-8E62399E8176}">
      <dgm:prSet custT="1"/>
      <dgm:spPr/>
      <dgm:t>
        <a:bodyPr/>
        <a:lstStyle/>
        <a:p>
          <a:pPr rtl="0"/>
          <a:r>
            <a:rPr lang="en-US" sz="2000" dirty="0"/>
            <a:t>For random-access memory it is the time it takes to perform a read or write operation</a:t>
          </a:r>
        </a:p>
      </dgm:t>
    </dgm:pt>
    <dgm:pt modelId="{EE8EDB02-BC91-964C-A351-6CEF0F3A0FB9}" type="parTrans" cxnId="{E624E411-7403-6F4A-8733-5F67BF7E579E}">
      <dgm:prSet/>
      <dgm:spPr/>
      <dgm:t>
        <a:bodyPr/>
        <a:lstStyle/>
        <a:p>
          <a:endParaRPr lang="en-US"/>
        </a:p>
      </dgm:t>
    </dgm:pt>
    <dgm:pt modelId="{7841D5F3-1D0E-3249-9335-D18CCF73B93D}" type="sibTrans" cxnId="{E624E411-7403-6F4A-8733-5F67BF7E579E}">
      <dgm:prSet/>
      <dgm:spPr/>
      <dgm:t>
        <a:bodyPr/>
        <a:lstStyle/>
        <a:p>
          <a:endParaRPr lang="en-US"/>
        </a:p>
      </dgm:t>
    </dgm:pt>
    <dgm:pt modelId="{7408E672-E96F-5941-8BBA-E8B5E346BAA1}">
      <dgm:prSet custT="1"/>
      <dgm:spPr/>
      <dgm:t>
        <a:bodyPr/>
        <a:lstStyle/>
        <a:p>
          <a:pPr rtl="0"/>
          <a:r>
            <a:rPr lang="en-US" sz="2000" dirty="0"/>
            <a:t>For non-random-access memory it is the time it takes to position the read-write mechanism at the desired location</a:t>
          </a:r>
        </a:p>
      </dgm:t>
    </dgm:pt>
    <dgm:pt modelId="{B89F4393-BF34-0040-A33A-9871583F5B3F}" type="parTrans" cxnId="{C0830C1F-53BF-0342-82F9-6DF09C874BF1}">
      <dgm:prSet/>
      <dgm:spPr/>
      <dgm:t>
        <a:bodyPr/>
        <a:lstStyle/>
        <a:p>
          <a:endParaRPr lang="en-US"/>
        </a:p>
      </dgm:t>
    </dgm:pt>
    <dgm:pt modelId="{A797B638-1219-7E40-B797-3853F4F7CF99}" type="sibTrans" cxnId="{C0830C1F-53BF-0342-82F9-6DF09C874BF1}">
      <dgm:prSet/>
      <dgm:spPr/>
      <dgm:t>
        <a:bodyPr/>
        <a:lstStyle/>
        <a:p>
          <a:endParaRPr lang="en-US"/>
        </a:p>
      </dgm:t>
    </dgm:pt>
    <dgm:pt modelId="{4BB96DB0-F8CB-0D43-B5F2-EE804536328D}">
      <dgm:prSet custT="1"/>
      <dgm:spPr/>
      <dgm:t>
        <a:bodyPr/>
        <a:lstStyle/>
        <a:p>
          <a:pPr rtl="0"/>
          <a:r>
            <a:rPr lang="en-US" sz="2000" dirty="0"/>
            <a:t>Memory cycle time</a:t>
          </a:r>
        </a:p>
      </dgm:t>
    </dgm:pt>
    <dgm:pt modelId="{DA145010-1BC5-4A47-8C0F-5A2A26315F5D}" type="parTrans" cxnId="{F7FB9BBA-CCBB-DF45-9564-D777DFD59F03}">
      <dgm:prSet/>
      <dgm:spPr/>
      <dgm:t>
        <a:bodyPr/>
        <a:lstStyle/>
        <a:p>
          <a:endParaRPr lang="en-US"/>
        </a:p>
      </dgm:t>
    </dgm:pt>
    <dgm:pt modelId="{A6CFE9F4-7A7B-2C44-8271-BE68A2567E01}" type="sibTrans" cxnId="{F7FB9BBA-CCBB-DF45-9564-D777DFD59F03}">
      <dgm:prSet/>
      <dgm:spPr/>
      <dgm:t>
        <a:bodyPr/>
        <a:lstStyle/>
        <a:p>
          <a:endParaRPr lang="en-US"/>
        </a:p>
      </dgm:t>
    </dgm:pt>
    <dgm:pt modelId="{D60B39AF-5EB9-C047-98BC-FC39BA3364E4}">
      <dgm:prSet custT="1"/>
      <dgm:spPr/>
      <dgm:t>
        <a:bodyPr/>
        <a:lstStyle/>
        <a:p>
          <a:pPr rtl="0"/>
          <a:r>
            <a:rPr lang="en-US" sz="2000" dirty="0"/>
            <a:t>Access time plus any additional time required before second access can commence</a:t>
          </a:r>
        </a:p>
      </dgm:t>
    </dgm:pt>
    <dgm:pt modelId="{5E97EA38-D1A0-1B43-8B27-53638AEBE5C5}" type="parTrans" cxnId="{024C89BA-7E9F-174A-BBC7-3186A108E4E6}">
      <dgm:prSet/>
      <dgm:spPr/>
      <dgm:t>
        <a:bodyPr/>
        <a:lstStyle/>
        <a:p>
          <a:endParaRPr lang="en-US"/>
        </a:p>
      </dgm:t>
    </dgm:pt>
    <dgm:pt modelId="{3E176711-D759-2242-93D1-C0B062B3A17C}" type="sibTrans" cxnId="{024C89BA-7E9F-174A-BBC7-3186A108E4E6}">
      <dgm:prSet/>
      <dgm:spPr/>
      <dgm:t>
        <a:bodyPr/>
        <a:lstStyle/>
        <a:p>
          <a:endParaRPr lang="en-US"/>
        </a:p>
      </dgm:t>
    </dgm:pt>
    <dgm:pt modelId="{9498714A-5D09-AE4D-81B2-F8F2997E0A84}">
      <dgm:prSet custT="1"/>
      <dgm:spPr/>
      <dgm:t>
        <a:bodyPr/>
        <a:lstStyle/>
        <a:p>
          <a:pPr rtl="0"/>
          <a:r>
            <a:rPr lang="en-US" sz="2000" dirty="0"/>
            <a:t>Additional time may be required for transients to die out on signal lines or to regenerate data if they are read destructively</a:t>
          </a:r>
        </a:p>
      </dgm:t>
    </dgm:pt>
    <dgm:pt modelId="{51AEF564-2A4F-774E-A6BF-9C5BB7C7BA51}" type="parTrans" cxnId="{582BB5E4-E826-2E4C-8F7E-3AF94691565F}">
      <dgm:prSet/>
      <dgm:spPr/>
      <dgm:t>
        <a:bodyPr/>
        <a:lstStyle/>
        <a:p>
          <a:endParaRPr lang="en-US"/>
        </a:p>
      </dgm:t>
    </dgm:pt>
    <dgm:pt modelId="{647066E6-D48E-7540-80CC-0AC22D7E35BC}" type="sibTrans" cxnId="{582BB5E4-E826-2E4C-8F7E-3AF94691565F}">
      <dgm:prSet/>
      <dgm:spPr/>
      <dgm:t>
        <a:bodyPr/>
        <a:lstStyle/>
        <a:p>
          <a:endParaRPr lang="en-US"/>
        </a:p>
      </dgm:t>
    </dgm:pt>
    <dgm:pt modelId="{17DFE561-8622-9F49-AD32-92661BDD5157}">
      <dgm:prSet custT="1"/>
      <dgm:spPr/>
      <dgm:t>
        <a:bodyPr/>
        <a:lstStyle/>
        <a:p>
          <a:pPr rtl="0"/>
          <a:r>
            <a:rPr lang="en-US" sz="2000" dirty="0"/>
            <a:t>Concerned with the system bus, not the processor</a:t>
          </a:r>
        </a:p>
      </dgm:t>
    </dgm:pt>
    <dgm:pt modelId="{2917BF63-F96B-4646-A238-694B5CE16ADB}" type="parTrans" cxnId="{19FBFDAF-CE6E-0E4D-A368-CE236325F355}">
      <dgm:prSet/>
      <dgm:spPr/>
      <dgm:t>
        <a:bodyPr/>
        <a:lstStyle/>
        <a:p>
          <a:endParaRPr lang="en-US"/>
        </a:p>
      </dgm:t>
    </dgm:pt>
    <dgm:pt modelId="{00068B92-6255-9847-84BD-929767462738}" type="sibTrans" cxnId="{19FBFDAF-CE6E-0E4D-A368-CE236325F355}">
      <dgm:prSet/>
      <dgm:spPr/>
      <dgm:t>
        <a:bodyPr/>
        <a:lstStyle/>
        <a:p>
          <a:endParaRPr lang="en-US"/>
        </a:p>
      </dgm:t>
    </dgm:pt>
    <dgm:pt modelId="{6F299D02-4724-A74A-AA67-D410C5ECB300}">
      <dgm:prSet custT="1"/>
      <dgm:spPr/>
      <dgm:t>
        <a:bodyPr/>
        <a:lstStyle/>
        <a:p>
          <a:pPr rtl="0"/>
          <a:r>
            <a:rPr lang="en-US" sz="2000" dirty="0"/>
            <a:t>Transfer rate</a:t>
          </a:r>
        </a:p>
      </dgm:t>
    </dgm:pt>
    <dgm:pt modelId="{126EB937-125C-3645-A822-00222F561300}" type="parTrans" cxnId="{0190996B-7D1A-0642-9595-9C104F6DAD68}">
      <dgm:prSet/>
      <dgm:spPr/>
      <dgm:t>
        <a:bodyPr/>
        <a:lstStyle/>
        <a:p>
          <a:endParaRPr lang="en-US"/>
        </a:p>
      </dgm:t>
    </dgm:pt>
    <dgm:pt modelId="{0CB6D00F-8917-7D41-93CF-8AB361ABE8CC}" type="sibTrans" cxnId="{0190996B-7D1A-0642-9595-9C104F6DAD68}">
      <dgm:prSet/>
      <dgm:spPr/>
      <dgm:t>
        <a:bodyPr/>
        <a:lstStyle/>
        <a:p>
          <a:endParaRPr lang="en-US"/>
        </a:p>
      </dgm:t>
    </dgm:pt>
    <dgm:pt modelId="{E762937F-2561-A44B-8C95-94BA8C9C4617}">
      <dgm:prSet custT="1"/>
      <dgm:spPr/>
      <dgm:t>
        <a:bodyPr/>
        <a:lstStyle/>
        <a:p>
          <a:pPr rtl="0"/>
          <a:r>
            <a:rPr lang="en-US" sz="2000" dirty="0"/>
            <a:t>The rate at which data can be transferred into or out of a memory unit</a:t>
          </a:r>
        </a:p>
      </dgm:t>
    </dgm:pt>
    <dgm:pt modelId="{341C858B-B1A1-9C4F-A648-D1C7100925DC}" type="parTrans" cxnId="{249E08D8-A514-CD4F-B569-5825518BE2CA}">
      <dgm:prSet/>
      <dgm:spPr/>
      <dgm:t>
        <a:bodyPr/>
        <a:lstStyle/>
        <a:p>
          <a:endParaRPr lang="en-US"/>
        </a:p>
      </dgm:t>
    </dgm:pt>
    <dgm:pt modelId="{89B4B04F-DAD4-9747-908B-925408933E39}" type="sibTrans" cxnId="{249E08D8-A514-CD4F-B569-5825518BE2CA}">
      <dgm:prSet/>
      <dgm:spPr/>
      <dgm:t>
        <a:bodyPr/>
        <a:lstStyle/>
        <a:p>
          <a:endParaRPr lang="en-US"/>
        </a:p>
      </dgm:t>
    </dgm:pt>
    <dgm:pt modelId="{A6F1DB38-E56A-BA4B-B780-FA6EDBD930C8}">
      <dgm:prSet custT="1"/>
      <dgm:spPr/>
      <dgm:t>
        <a:bodyPr/>
        <a:lstStyle/>
        <a:p>
          <a:pPr rtl="0"/>
          <a:r>
            <a:rPr lang="en-US" sz="2000" dirty="0"/>
            <a:t>For random-access memory it is equal to 1/(cycle time)</a:t>
          </a:r>
        </a:p>
      </dgm:t>
    </dgm:pt>
    <dgm:pt modelId="{B09454DD-B16C-EA4E-98F7-131AA262A6FB}" type="parTrans" cxnId="{B26D4589-7F37-3648-A3E1-183DF5637DB3}">
      <dgm:prSet/>
      <dgm:spPr/>
      <dgm:t>
        <a:bodyPr/>
        <a:lstStyle/>
        <a:p>
          <a:endParaRPr lang="en-US"/>
        </a:p>
      </dgm:t>
    </dgm:pt>
    <dgm:pt modelId="{C04873EF-9610-C44F-BC9D-6C3FAB7D6212}" type="sibTrans" cxnId="{B26D4589-7F37-3648-A3E1-183DF5637DB3}">
      <dgm:prSet/>
      <dgm:spPr/>
      <dgm:t>
        <a:bodyPr/>
        <a:lstStyle/>
        <a:p>
          <a:endParaRPr lang="en-US"/>
        </a:p>
      </dgm:t>
    </dgm:pt>
    <dgm:pt modelId="{8DC7E3E3-3F49-9048-9468-3382299E881D}" type="pres">
      <dgm:prSet presAssocID="{63345D47-8D5E-EF4F-9ED8-936890EC94B5}" presName="Name0" presStyleCnt="0">
        <dgm:presLayoutVars>
          <dgm:chMax val="3"/>
          <dgm:chPref val="1"/>
          <dgm:dir/>
          <dgm:animLvl val="lvl"/>
          <dgm:resizeHandles/>
        </dgm:presLayoutVars>
      </dgm:prSet>
      <dgm:spPr/>
    </dgm:pt>
    <dgm:pt modelId="{C1C62E5A-EAEF-CE4A-8117-2DB3BEFFE3F4}" type="pres">
      <dgm:prSet presAssocID="{63345D47-8D5E-EF4F-9ED8-936890EC94B5}" presName="outerBox" presStyleCnt="0"/>
      <dgm:spPr/>
    </dgm:pt>
    <dgm:pt modelId="{13077C67-B24F-6A49-8EF8-E21AE295BA78}" type="pres">
      <dgm:prSet presAssocID="{63345D47-8D5E-EF4F-9ED8-936890EC94B5}" presName="outerBoxParent" presStyleLbl="node1" presStyleIdx="0" presStyleCnt="2"/>
      <dgm:spPr/>
    </dgm:pt>
    <dgm:pt modelId="{B733473D-D397-8C49-8CDA-15216272C145}" type="pres">
      <dgm:prSet presAssocID="{63345D47-8D5E-EF4F-9ED8-936890EC94B5}" presName="outerBoxChildren" presStyleCnt="0"/>
      <dgm:spPr/>
    </dgm:pt>
    <dgm:pt modelId="{D95F7024-0289-E042-84D4-642341566593}" type="pres">
      <dgm:prSet presAssocID="{63345D47-8D5E-EF4F-9ED8-936890EC94B5}" presName="middleBox" presStyleCnt="0"/>
      <dgm:spPr/>
    </dgm:pt>
    <dgm:pt modelId="{8A95A152-734B-A745-AAE7-3D32D8C60BCF}" type="pres">
      <dgm:prSet presAssocID="{63345D47-8D5E-EF4F-9ED8-936890EC94B5}" presName="middleBoxParent" presStyleLbl="node1" presStyleIdx="1" presStyleCnt="2" custScaleX="101063" custScaleY="125564" custLinFactNeighborX="-239" custLinFactNeighborY="-5639"/>
      <dgm:spPr/>
    </dgm:pt>
    <dgm:pt modelId="{1F5364B3-A8EB-4B44-A950-38E11751855D}" type="pres">
      <dgm:prSet presAssocID="{63345D47-8D5E-EF4F-9ED8-936890EC94B5}" presName="middleBoxChildren" presStyleCnt="0"/>
      <dgm:spPr/>
    </dgm:pt>
    <dgm:pt modelId="{4DC5D986-59BC-1740-AC0E-735CF97CB45C}" type="pres">
      <dgm:prSet presAssocID="{CF384916-2EBE-C047-B176-DAD9E34690A4}" presName="mChild" presStyleLbl="fgAcc1" presStyleIdx="0" presStyleCnt="3" custScaleY="228403" custLinFactX="572" custLinFactNeighborX="100000" custLinFactNeighborY="-43233">
        <dgm:presLayoutVars>
          <dgm:bulletEnabled val="1"/>
        </dgm:presLayoutVars>
      </dgm:prSet>
      <dgm:spPr/>
    </dgm:pt>
    <dgm:pt modelId="{37B0377C-E376-2541-BAA2-7EE7D8DF01DB}" type="pres">
      <dgm:prSet presAssocID="{6C69B0F2-86D0-BE49-B377-295A6A39A971}" presName="middleSibTrans" presStyleCnt="0"/>
      <dgm:spPr/>
    </dgm:pt>
    <dgm:pt modelId="{DCA2CBFE-8F07-BB4E-8414-CF97B200D168}" type="pres">
      <dgm:prSet presAssocID="{4BB96DB0-F8CB-0D43-B5F2-EE804536328D}" presName="mChild" presStyleLbl="fgAcc1" presStyleIdx="1" presStyleCnt="3" custScaleY="240958" custLinFactX="51" custLinFactNeighborX="100000" custLinFactNeighborY="-33076">
        <dgm:presLayoutVars>
          <dgm:bulletEnabled val="1"/>
        </dgm:presLayoutVars>
      </dgm:prSet>
      <dgm:spPr/>
    </dgm:pt>
    <dgm:pt modelId="{C8A02842-43F0-EE40-BD4B-3A0DC53468D2}" type="pres">
      <dgm:prSet presAssocID="{A6CFE9F4-7A7B-2C44-8271-BE68A2567E01}" presName="middleSibTrans" presStyleCnt="0"/>
      <dgm:spPr/>
    </dgm:pt>
    <dgm:pt modelId="{8D7CAF80-BCAD-AF40-83EC-CA9E025213FC}" type="pres">
      <dgm:prSet presAssocID="{6F299D02-4724-A74A-AA67-D410C5ECB300}" presName="mChild" presStyleLbl="fgAcc1" presStyleIdx="2" presStyleCnt="3" custScaleY="231679" custLinFactX="316" custLinFactNeighborX="100000" custLinFactNeighborY="-35631">
        <dgm:presLayoutVars>
          <dgm:bulletEnabled val="1"/>
        </dgm:presLayoutVars>
      </dgm:prSet>
      <dgm:spPr/>
    </dgm:pt>
  </dgm:ptLst>
  <dgm:cxnLst>
    <dgm:cxn modelId="{FE0AF508-0746-304A-8066-DA7DB54E7139}" type="presOf" srcId="{D60B39AF-5EB9-C047-98BC-FC39BA3364E4}" destId="{DCA2CBFE-8F07-BB4E-8414-CF97B200D168}" srcOrd="0" destOrd="1" presId="urn:microsoft.com/office/officeart/2005/8/layout/target2"/>
    <dgm:cxn modelId="{FA106109-1866-874D-92B2-8C2DD984F321}" type="presOf" srcId="{6F299D02-4724-A74A-AA67-D410C5ECB300}" destId="{8D7CAF80-BCAD-AF40-83EC-CA9E025213FC}" srcOrd="0" destOrd="0" presId="urn:microsoft.com/office/officeart/2005/8/layout/target2"/>
    <dgm:cxn modelId="{DF701110-9429-9E48-9431-75C18C99FFCF}" type="presOf" srcId="{4BB96DB0-F8CB-0D43-B5F2-EE804536328D}" destId="{DCA2CBFE-8F07-BB4E-8414-CF97B200D168}" srcOrd="0" destOrd="0" presId="urn:microsoft.com/office/officeart/2005/8/layout/target2"/>
    <dgm:cxn modelId="{E624E411-7403-6F4A-8733-5F67BF7E579E}" srcId="{CF384916-2EBE-C047-B176-DAD9E34690A4}" destId="{317CB85F-1C30-8E43-8C90-8E62399E8176}" srcOrd="0" destOrd="0" parTransId="{EE8EDB02-BC91-964C-A351-6CEF0F3A0FB9}" sibTransId="{7841D5F3-1D0E-3249-9335-D18CCF73B93D}"/>
    <dgm:cxn modelId="{C0830C1F-53BF-0342-82F9-6DF09C874BF1}" srcId="{CF384916-2EBE-C047-B176-DAD9E34690A4}" destId="{7408E672-E96F-5941-8BBA-E8B5E346BAA1}" srcOrd="1" destOrd="0" parTransId="{B89F4393-BF34-0040-A33A-9871583F5B3F}" sibTransId="{A797B638-1219-7E40-B797-3853F4F7CF99}"/>
    <dgm:cxn modelId="{47B6ED1F-66E1-E54C-93D5-141A1C5D63B3}" type="presOf" srcId="{317CB85F-1C30-8E43-8C90-8E62399E8176}" destId="{4DC5D986-59BC-1740-AC0E-735CF97CB45C}" srcOrd="0" destOrd="1" presId="urn:microsoft.com/office/officeart/2005/8/layout/target2"/>
    <dgm:cxn modelId="{BFB0EA41-0C58-0343-BF85-B827F232F3DF}" type="presOf" srcId="{63345D47-8D5E-EF4F-9ED8-936890EC94B5}" destId="{8DC7E3E3-3F49-9048-9468-3382299E881D}" srcOrd="0" destOrd="0" presId="urn:microsoft.com/office/officeart/2005/8/layout/target2"/>
    <dgm:cxn modelId="{EFE69842-B030-B54C-A174-D400E1F6B7B1}" srcId="{63345D47-8D5E-EF4F-9ED8-936890EC94B5}" destId="{86657987-5D7D-9145-9B7A-F752208AD897}" srcOrd="1" destOrd="0" parTransId="{602B3695-5FF0-9C4A-B946-F15B2FB28D16}" sibTransId="{5ED105F6-1A94-EE4F-911E-E0F216E124A5}"/>
    <dgm:cxn modelId="{CD6B9E43-2142-4448-A638-A4EC90323A3B}" type="presOf" srcId="{86657987-5D7D-9145-9B7A-F752208AD897}" destId="{8A95A152-734B-A745-AAE7-3D32D8C60BCF}" srcOrd="0" destOrd="0" presId="urn:microsoft.com/office/officeart/2005/8/layout/target2"/>
    <dgm:cxn modelId="{67D9566B-B9BA-8649-AB7A-40E6060CBA2C}" srcId="{63345D47-8D5E-EF4F-9ED8-936890EC94B5}" destId="{A41D35A3-B306-0247-9C90-FE2FD338F566}" srcOrd="0" destOrd="0" parTransId="{D1BE60B8-0963-4F46-B025-69563C2B04F0}" sibTransId="{4D21CA9D-B342-C145-9903-36C13BD31C9E}"/>
    <dgm:cxn modelId="{844D594B-3BC1-214C-AB42-1A0306C17EB8}" type="presOf" srcId="{A6F1DB38-E56A-BA4B-B780-FA6EDBD930C8}" destId="{8D7CAF80-BCAD-AF40-83EC-CA9E025213FC}" srcOrd="0" destOrd="2" presId="urn:microsoft.com/office/officeart/2005/8/layout/target2"/>
    <dgm:cxn modelId="{0190996B-7D1A-0642-9595-9C104F6DAD68}" srcId="{86657987-5D7D-9145-9B7A-F752208AD897}" destId="{6F299D02-4724-A74A-AA67-D410C5ECB300}" srcOrd="2" destOrd="0" parTransId="{126EB937-125C-3645-A822-00222F561300}" sibTransId="{0CB6D00F-8917-7D41-93CF-8AB361ABE8CC}"/>
    <dgm:cxn modelId="{1EFD4954-79F2-5A41-ABFB-49CAF963DDCF}" srcId="{86657987-5D7D-9145-9B7A-F752208AD897}" destId="{CF384916-2EBE-C047-B176-DAD9E34690A4}" srcOrd="0" destOrd="0" parTransId="{4691FD66-CC92-AF49-9FA8-89E7ADDE426E}" sibTransId="{6C69B0F2-86D0-BE49-B377-295A6A39A971}"/>
    <dgm:cxn modelId="{B26D4589-7F37-3648-A3E1-183DF5637DB3}" srcId="{6F299D02-4724-A74A-AA67-D410C5ECB300}" destId="{A6F1DB38-E56A-BA4B-B780-FA6EDBD930C8}" srcOrd="1" destOrd="0" parTransId="{B09454DD-B16C-EA4E-98F7-131AA262A6FB}" sibTransId="{C04873EF-9610-C44F-BC9D-6C3FAB7D6212}"/>
    <dgm:cxn modelId="{DB86298D-11E2-CC4B-AA34-86BEC492E8CA}" type="presOf" srcId="{17DFE561-8622-9F49-AD32-92661BDD5157}" destId="{DCA2CBFE-8F07-BB4E-8414-CF97B200D168}" srcOrd="0" destOrd="3" presId="urn:microsoft.com/office/officeart/2005/8/layout/target2"/>
    <dgm:cxn modelId="{CB4EC598-FE95-CE49-A7B0-06DA26786786}" type="presOf" srcId="{CF384916-2EBE-C047-B176-DAD9E34690A4}" destId="{4DC5D986-59BC-1740-AC0E-735CF97CB45C}" srcOrd="0" destOrd="0" presId="urn:microsoft.com/office/officeart/2005/8/layout/target2"/>
    <dgm:cxn modelId="{90BAB2A2-87A0-CB41-BD6A-D3A4F8845299}" type="presOf" srcId="{E762937F-2561-A44B-8C95-94BA8C9C4617}" destId="{8D7CAF80-BCAD-AF40-83EC-CA9E025213FC}" srcOrd="0" destOrd="1" presId="urn:microsoft.com/office/officeart/2005/8/layout/target2"/>
    <dgm:cxn modelId="{26A531A5-09AB-9248-BBF6-9A7E62D3909F}" type="presOf" srcId="{7408E672-E96F-5941-8BBA-E8B5E346BAA1}" destId="{4DC5D986-59BC-1740-AC0E-735CF97CB45C}" srcOrd="0" destOrd="2" presId="urn:microsoft.com/office/officeart/2005/8/layout/target2"/>
    <dgm:cxn modelId="{19FBFDAF-CE6E-0E4D-A368-CE236325F355}" srcId="{4BB96DB0-F8CB-0D43-B5F2-EE804536328D}" destId="{17DFE561-8622-9F49-AD32-92661BDD5157}" srcOrd="2" destOrd="0" parTransId="{2917BF63-F96B-4646-A238-694B5CE16ADB}" sibTransId="{00068B92-6255-9847-84BD-929767462738}"/>
    <dgm:cxn modelId="{024C89BA-7E9F-174A-BBC7-3186A108E4E6}" srcId="{4BB96DB0-F8CB-0D43-B5F2-EE804536328D}" destId="{D60B39AF-5EB9-C047-98BC-FC39BA3364E4}" srcOrd="0" destOrd="0" parTransId="{5E97EA38-D1A0-1B43-8B27-53638AEBE5C5}" sibTransId="{3E176711-D759-2242-93D1-C0B062B3A17C}"/>
    <dgm:cxn modelId="{F7FB9BBA-CCBB-DF45-9564-D777DFD59F03}" srcId="{86657987-5D7D-9145-9B7A-F752208AD897}" destId="{4BB96DB0-F8CB-0D43-B5F2-EE804536328D}" srcOrd="1" destOrd="0" parTransId="{DA145010-1BC5-4A47-8C0F-5A2A26315F5D}" sibTransId="{A6CFE9F4-7A7B-2C44-8271-BE68A2567E01}"/>
    <dgm:cxn modelId="{6A0FBFC1-D4D1-6940-B898-859096250CF0}" type="presOf" srcId="{9498714A-5D09-AE4D-81B2-F8F2997E0A84}" destId="{DCA2CBFE-8F07-BB4E-8414-CF97B200D168}" srcOrd="0" destOrd="2" presId="urn:microsoft.com/office/officeart/2005/8/layout/target2"/>
    <dgm:cxn modelId="{005208CC-7AE0-FF40-8E69-0FF12B49EF88}" type="presOf" srcId="{A41D35A3-B306-0247-9C90-FE2FD338F566}" destId="{13077C67-B24F-6A49-8EF8-E21AE295BA78}" srcOrd="0" destOrd="0" presId="urn:microsoft.com/office/officeart/2005/8/layout/target2"/>
    <dgm:cxn modelId="{249E08D8-A514-CD4F-B569-5825518BE2CA}" srcId="{6F299D02-4724-A74A-AA67-D410C5ECB300}" destId="{E762937F-2561-A44B-8C95-94BA8C9C4617}" srcOrd="0" destOrd="0" parTransId="{341C858B-B1A1-9C4F-A648-D1C7100925DC}" sibTransId="{89B4B04F-DAD4-9747-908B-925408933E39}"/>
    <dgm:cxn modelId="{582BB5E4-E826-2E4C-8F7E-3AF94691565F}" srcId="{4BB96DB0-F8CB-0D43-B5F2-EE804536328D}" destId="{9498714A-5D09-AE4D-81B2-F8F2997E0A84}" srcOrd="1" destOrd="0" parTransId="{51AEF564-2A4F-774E-A6BF-9C5BB7C7BA51}" sibTransId="{647066E6-D48E-7540-80CC-0AC22D7E35BC}"/>
    <dgm:cxn modelId="{C1C33FF7-3E93-4546-A4CA-C6EC787BFBDF}" type="presParOf" srcId="{8DC7E3E3-3F49-9048-9468-3382299E881D}" destId="{C1C62E5A-EAEF-CE4A-8117-2DB3BEFFE3F4}" srcOrd="0" destOrd="0" presId="urn:microsoft.com/office/officeart/2005/8/layout/target2"/>
    <dgm:cxn modelId="{A9EBFF45-9345-274B-B696-0CBC9A105A36}" type="presParOf" srcId="{C1C62E5A-EAEF-CE4A-8117-2DB3BEFFE3F4}" destId="{13077C67-B24F-6A49-8EF8-E21AE295BA78}" srcOrd="0" destOrd="0" presId="urn:microsoft.com/office/officeart/2005/8/layout/target2"/>
    <dgm:cxn modelId="{499F04AF-6757-454D-B515-BB4E3A3B5AB4}" type="presParOf" srcId="{C1C62E5A-EAEF-CE4A-8117-2DB3BEFFE3F4}" destId="{B733473D-D397-8C49-8CDA-15216272C145}" srcOrd="1" destOrd="0" presId="urn:microsoft.com/office/officeart/2005/8/layout/target2"/>
    <dgm:cxn modelId="{FD00CA0C-1CAB-8840-9955-8AEB26A89454}" type="presParOf" srcId="{8DC7E3E3-3F49-9048-9468-3382299E881D}" destId="{D95F7024-0289-E042-84D4-642341566593}" srcOrd="1" destOrd="0" presId="urn:microsoft.com/office/officeart/2005/8/layout/target2"/>
    <dgm:cxn modelId="{4FA13E04-FC2D-AE4C-A648-B35F1031D82D}" type="presParOf" srcId="{D95F7024-0289-E042-84D4-642341566593}" destId="{8A95A152-734B-A745-AAE7-3D32D8C60BCF}" srcOrd="0" destOrd="0" presId="urn:microsoft.com/office/officeart/2005/8/layout/target2"/>
    <dgm:cxn modelId="{C01A4472-B456-AC49-868E-BAAC2971148F}" type="presParOf" srcId="{D95F7024-0289-E042-84D4-642341566593}" destId="{1F5364B3-A8EB-4B44-A950-38E11751855D}" srcOrd="1" destOrd="0" presId="urn:microsoft.com/office/officeart/2005/8/layout/target2"/>
    <dgm:cxn modelId="{DEEAC88A-0D3D-314D-BEC6-7F014CCC0252}" type="presParOf" srcId="{1F5364B3-A8EB-4B44-A950-38E11751855D}" destId="{4DC5D986-59BC-1740-AC0E-735CF97CB45C}" srcOrd="0" destOrd="0" presId="urn:microsoft.com/office/officeart/2005/8/layout/target2"/>
    <dgm:cxn modelId="{267017FA-7B20-3A49-A3F2-BC6A6B231443}" type="presParOf" srcId="{1F5364B3-A8EB-4B44-A950-38E11751855D}" destId="{37B0377C-E376-2541-BAA2-7EE7D8DF01DB}" srcOrd="1" destOrd="0" presId="urn:microsoft.com/office/officeart/2005/8/layout/target2"/>
    <dgm:cxn modelId="{A757FC87-DF2C-F24A-BC30-AED59BD631C3}" type="presParOf" srcId="{1F5364B3-A8EB-4B44-A950-38E11751855D}" destId="{DCA2CBFE-8F07-BB4E-8414-CF97B200D168}" srcOrd="2" destOrd="0" presId="urn:microsoft.com/office/officeart/2005/8/layout/target2"/>
    <dgm:cxn modelId="{6EDC7388-2DF5-2A42-8FED-E88B072A825B}" type="presParOf" srcId="{1F5364B3-A8EB-4B44-A950-38E11751855D}" destId="{C8A02842-43F0-EE40-BD4B-3A0DC53468D2}" srcOrd="3" destOrd="0" presId="urn:microsoft.com/office/officeart/2005/8/layout/target2"/>
    <dgm:cxn modelId="{94CA9281-DC6D-4E40-98C0-CAFAD357664E}" type="presParOf" srcId="{1F5364B3-A8EB-4B44-A950-38E11751855D}" destId="{8D7CAF80-BCAD-AF40-83EC-CA9E025213FC}" srcOrd="4"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554145-8B2F-074A-B096-4987C5D81764}"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D7CDE4F2-0B29-5340-B4CA-7903895738A3}">
      <dgm:prSet custT="1"/>
      <dgm:spPr/>
      <dgm:t>
        <a:bodyPr/>
        <a:lstStyle/>
        <a:p>
          <a:r>
            <a:rPr lang="en-GB" sz="2000" b="0" dirty="0">
              <a:effectLst>
                <a:outerShdw blurRad="38100" dist="38100" dir="2700000" algn="tl">
                  <a:srgbClr val="000000">
                    <a:alpha val="43137"/>
                  </a:srgbClr>
                </a:outerShdw>
              </a:effectLst>
            </a:rPr>
            <a:t>Direct</a:t>
          </a:r>
        </a:p>
      </dgm:t>
    </dgm:pt>
    <dgm:pt modelId="{6DA94CC3-93A7-6145-97D5-23326244C255}" type="parTrans" cxnId="{6DD83BD2-3806-4B4C-B69B-04476113A707}">
      <dgm:prSet/>
      <dgm:spPr/>
      <dgm:t>
        <a:bodyPr/>
        <a:lstStyle/>
        <a:p>
          <a:endParaRPr lang="en-US"/>
        </a:p>
      </dgm:t>
    </dgm:pt>
    <dgm:pt modelId="{7F68183D-C7C4-0744-8B7F-164B7F22AAE1}" type="sibTrans" cxnId="{6DD83BD2-3806-4B4C-B69B-04476113A707}">
      <dgm:prSet/>
      <dgm:spPr/>
      <dgm:t>
        <a:bodyPr/>
        <a:lstStyle/>
        <a:p>
          <a:endParaRPr lang="en-US"/>
        </a:p>
      </dgm:t>
    </dgm:pt>
    <dgm:pt modelId="{CE70BF09-602F-9649-8CD0-34EA655C874E}">
      <dgm:prSet/>
      <dgm:spPr>
        <a:ln>
          <a:solidFill>
            <a:schemeClr val="accent3"/>
          </a:solidFill>
        </a:ln>
      </dgm:spPr>
      <dgm:t>
        <a:bodyPr/>
        <a:lstStyle/>
        <a:p>
          <a:pPr>
            <a:spcAft>
              <a:spcPts val="870"/>
            </a:spcAft>
          </a:pPr>
          <a:r>
            <a:rPr lang="en-GB" dirty="0"/>
            <a:t>The simplest technique</a:t>
          </a:r>
        </a:p>
      </dgm:t>
    </dgm:pt>
    <dgm:pt modelId="{51F5F06F-23EF-F04F-A0D7-A1938E1EC98E}" type="parTrans" cxnId="{45234C71-A75A-4948-AA50-CA929298C2E4}">
      <dgm:prSet/>
      <dgm:spPr/>
      <dgm:t>
        <a:bodyPr/>
        <a:lstStyle/>
        <a:p>
          <a:endParaRPr lang="en-US"/>
        </a:p>
      </dgm:t>
    </dgm:pt>
    <dgm:pt modelId="{FA0F2068-8C99-5449-ACCA-D829BC1CF04F}" type="sibTrans" cxnId="{45234C71-A75A-4948-AA50-CA929298C2E4}">
      <dgm:prSet/>
      <dgm:spPr/>
      <dgm:t>
        <a:bodyPr/>
        <a:lstStyle/>
        <a:p>
          <a:endParaRPr lang="en-US"/>
        </a:p>
      </dgm:t>
    </dgm:pt>
    <dgm:pt modelId="{F7A3FECA-373A-A646-A287-98E0B2650607}">
      <dgm:prSet/>
      <dgm:spPr>
        <a:ln>
          <a:solidFill>
            <a:schemeClr val="accent3"/>
          </a:solidFill>
        </a:ln>
      </dgm:spPr>
      <dgm:t>
        <a:bodyPr/>
        <a:lstStyle/>
        <a:p>
          <a:pPr>
            <a:spcAft>
              <a:spcPts val="870"/>
            </a:spcAft>
          </a:pPr>
          <a:r>
            <a:rPr lang="en-GB" dirty="0"/>
            <a:t>Maps each block of main memory into only one possible cache line</a:t>
          </a:r>
        </a:p>
      </dgm:t>
    </dgm:pt>
    <dgm:pt modelId="{781EB878-8836-A74C-9250-B959FDD1A446}" type="parTrans" cxnId="{35B01054-9196-344C-B8F2-6375BCFAD3D4}">
      <dgm:prSet/>
      <dgm:spPr/>
      <dgm:t>
        <a:bodyPr/>
        <a:lstStyle/>
        <a:p>
          <a:endParaRPr lang="en-US"/>
        </a:p>
      </dgm:t>
    </dgm:pt>
    <dgm:pt modelId="{D06912E3-8B83-214C-A4A9-7E7651A7F062}" type="sibTrans" cxnId="{35B01054-9196-344C-B8F2-6375BCFAD3D4}">
      <dgm:prSet/>
      <dgm:spPr/>
      <dgm:t>
        <a:bodyPr/>
        <a:lstStyle/>
        <a:p>
          <a:endParaRPr lang="en-US"/>
        </a:p>
      </dgm:t>
    </dgm:pt>
    <dgm:pt modelId="{774F7563-D777-364A-9F75-45F9C7D60EC4}">
      <dgm:prSet custT="1"/>
      <dgm:spPr/>
      <dgm:t>
        <a:bodyPr/>
        <a:lstStyle/>
        <a:p>
          <a:r>
            <a:rPr lang="en-GB" sz="2000" b="0" dirty="0">
              <a:effectLst>
                <a:outerShdw blurRad="38100" dist="38100" dir="2700000" algn="tl">
                  <a:srgbClr val="000000">
                    <a:alpha val="43137"/>
                  </a:srgbClr>
                </a:outerShdw>
              </a:effectLst>
            </a:rPr>
            <a:t>Associative</a:t>
          </a:r>
        </a:p>
      </dgm:t>
    </dgm:pt>
    <dgm:pt modelId="{EC5A4339-55E9-3A42-8D7F-B8722BCD8BF7}" type="parTrans" cxnId="{613E4B5A-F04E-C64D-93AF-A975A80E6E43}">
      <dgm:prSet/>
      <dgm:spPr/>
      <dgm:t>
        <a:bodyPr/>
        <a:lstStyle/>
        <a:p>
          <a:endParaRPr lang="en-US"/>
        </a:p>
      </dgm:t>
    </dgm:pt>
    <dgm:pt modelId="{AB3AF520-248D-BF48-B1F9-978BCD1779B3}" type="sibTrans" cxnId="{613E4B5A-F04E-C64D-93AF-A975A80E6E43}">
      <dgm:prSet/>
      <dgm:spPr/>
      <dgm:t>
        <a:bodyPr/>
        <a:lstStyle/>
        <a:p>
          <a:endParaRPr lang="en-US"/>
        </a:p>
      </dgm:t>
    </dgm:pt>
    <dgm:pt modelId="{D4FAE11D-4D51-144C-9B47-0A24B52010D8}">
      <dgm:prSet/>
      <dgm:spPr>
        <a:ln>
          <a:solidFill>
            <a:schemeClr val="accent3"/>
          </a:solidFill>
        </a:ln>
      </dgm:spPr>
      <dgm:t>
        <a:bodyPr/>
        <a:lstStyle/>
        <a:p>
          <a:pPr>
            <a:spcAft>
              <a:spcPts val="870"/>
            </a:spcAft>
          </a:pPr>
          <a:r>
            <a:rPr lang="en-GB" dirty="0"/>
            <a:t>Permits each main memory block to be loaded into any line of the cache</a:t>
          </a:r>
        </a:p>
      </dgm:t>
    </dgm:pt>
    <dgm:pt modelId="{158B2218-BF64-DD45-B97C-B84C578BEC96}" type="parTrans" cxnId="{032C7BCF-E259-6D47-A130-6EE43F533BEA}">
      <dgm:prSet/>
      <dgm:spPr/>
      <dgm:t>
        <a:bodyPr/>
        <a:lstStyle/>
        <a:p>
          <a:endParaRPr lang="en-US"/>
        </a:p>
      </dgm:t>
    </dgm:pt>
    <dgm:pt modelId="{50B34E17-D1CA-C842-8527-9F30C06D1817}" type="sibTrans" cxnId="{032C7BCF-E259-6D47-A130-6EE43F533BEA}">
      <dgm:prSet/>
      <dgm:spPr/>
      <dgm:t>
        <a:bodyPr/>
        <a:lstStyle/>
        <a:p>
          <a:endParaRPr lang="en-US"/>
        </a:p>
      </dgm:t>
    </dgm:pt>
    <dgm:pt modelId="{3B7C31DE-8A89-2F4A-B650-4D9BC2724207}">
      <dgm:prSet/>
      <dgm:spPr>
        <a:ln>
          <a:solidFill>
            <a:schemeClr val="accent3"/>
          </a:solidFill>
        </a:ln>
      </dgm:spPr>
      <dgm:t>
        <a:bodyPr/>
        <a:lstStyle/>
        <a:p>
          <a:pPr>
            <a:spcAft>
              <a:spcPts val="870"/>
            </a:spcAft>
          </a:pPr>
          <a:r>
            <a:rPr lang="en-GB" dirty="0"/>
            <a:t>The cache control logic interprets a memory address simply as a Tag and a Word field</a:t>
          </a:r>
        </a:p>
      </dgm:t>
    </dgm:pt>
    <dgm:pt modelId="{7851C849-F575-894A-9B00-B44B79CA9B3A}" type="parTrans" cxnId="{3830FFB4-AA38-B04F-8B32-07B847AECF66}">
      <dgm:prSet/>
      <dgm:spPr/>
      <dgm:t>
        <a:bodyPr/>
        <a:lstStyle/>
        <a:p>
          <a:endParaRPr lang="en-US"/>
        </a:p>
      </dgm:t>
    </dgm:pt>
    <dgm:pt modelId="{072AF77D-5CAD-5641-9297-1B04354B8341}" type="sibTrans" cxnId="{3830FFB4-AA38-B04F-8B32-07B847AECF66}">
      <dgm:prSet/>
      <dgm:spPr/>
      <dgm:t>
        <a:bodyPr/>
        <a:lstStyle/>
        <a:p>
          <a:endParaRPr lang="en-US"/>
        </a:p>
      </dgm:t>
    </dgm:pt>
    <dgm:pt modelId="{4BA3F045-6A95-3C4D-A27E-380AA544C704}">
      <dgm:prSet/>
      <dgm:spPr>
        <a:ln>
          <a:solidFill>
            <a:schemeClr val="accent3"/>
          </a:solidFill>
        </a:ln>
      </dgm:spPr>
      <dgm:t>
        <a:bodyPr/>
        <a:lstStyle/>
        <a:p>
          <a:pPr>
            <a:spcAft>
              <a:spcPts val="870"/>
            </a:spcAft>
          </a:pPr>
          <a:r>
            <a:rPr lang="en-GB" dirty="0"/>
            <a:t>To determine whether a block is in the cache, the cache control logic must simultaneously examine every line’s Tag for a match </a:t>
          </a:r>
        </a:p>
      </dgm:t>
    </dgm:pt>
    <dgm:pt modelId="{2A8F251F-A570-5345-BAC5-FDA4FE861646}" type="parTrans" cxnId="{F66FCCD0-D75D-2142-BE23-49CE8ECBCBDD}">
      <dgm:prSet/>
      <dgm:spPr/>
      <dgm:t>
        <a:bodyPr/>
        <a:lstStyle/>
        <a:p>
          <a:endParaRPr lang="en-US"/>
        </a:p>
      </dgm:t>
    </dgm:pt>
    <dgm:pt modelId="{F442362B-3A67-7A47-95DC-3E4F366E693B}" type="sibTrans" cxnId="{F66FCCD0-D75D-2142-BE23-49CE8ECBCBDD}">
      <dgm:prSet/>
      <dgm:spPr/>
      <dgm:t>
        <a:bodyPr/>
        <a:lstStyle/>
        <a:p>
          <a:endParaRPr lang="en-US"/>
        </a:p>
      </dgm:t>
    </dgm:pt>
    <dgm:pt modelId="{A99D3850-98F6-4E44-BEF7-9A02F984869B}">
      <dgm:prSet custT="1"/>
      <dgm:spPr/>
      <dgm:t>
        <a:bodyPr/>
        <a:lstStyle/>
        <a:p>
          <a:r>
            <a:rPr lang="en-GB" sz="2000" b="0" dirty="0">
              <a:effectLst>
                <a:outerShdw blurRad="38100" dist="38100" dir="2700000" algn="tl">
                  <a:srgbClr val="000000">
                    <a:alpha val="43137"/>
                  </a:srgbClr>
                </a:outerShdw>
              </a:effectLst>
            </a:rPr>
            <a:t>Set Associative</a:t>
          </a:r>
        </a:p>
      </dgm:t>
    </dgm:pt>
    <dgm:pt modelId="{951B9852-4730-834E-AC14-3E0184947864}" type="parTrans" cxnId="{6FBBA797-82F7-D54D-B530-618A1498298A}">
      <dgm:prSet/>
      <dgm:spPr/>
      <dgm:t>
        <a:bodyPr/>
        <a:lstStyle/>
        <a:p>
          <a:endParaRPr lang="en-US"/>
        </a:p>
      </dgm:t>
    </dgm:pt>
    <dgm:pt modelId="{7B35E651-A0B2-9E4E-A22B-ACC88F12945C}" type="sibTrans" cxnId="{6FBBA797-82F7-D54D-B530-618A1498298A}">
      <dgm:prSet/>
      <dgm:spPr/>
      <dgm:t>
        <a:bodyPr/>
        <a:lstStyle/>
        <a:p>
          <a:endParaRPr lang="en-US"/>
        </a:p>
      </dgm:t>
    </dgm:pt>
    <dgm:pt modelId="{B813EF2F-B021-CF49-99EE-AF28C0CEB44B}">
      <dgm:prSet/>
      <dgm:spPr>
        <a:ln>
          <a:solidFill>
            <a:schemeClr val="accent3"/>
          </a:solidFill>
        </a:ln>
      </dgm:spPr>
      <dgm:t>
        <a:bodyPr/>
        <a:lstStyle/>
        <a:p>
          <a:r>
            <a:rPr lang="en-GB" dirty="0"/>
            <a:t>A compromise that exhibits the strengths of both the direct and associative approaches while reducing their disadvantages</a:t>
          </a:r>
        </a:p>
      </dgm:t>
    </dgm:pt>
    <dgm:pt modelId="{CC6BA37D-3001-9A47-9536-FF0B64F74DB0}" type="parTrans" cxnId="{83F40A94-EC0F-874E-8848-9CD668E3DAC5}">
      <dgm:prSet/>
      <dgm:spPr/>
      <dgm:t>
        <a:bodyPr/>
        <a:lstStyle/>
        <a:p>
          <a:endParaRPr lang="en-US"/>
        </a:p>
      </dgm:t>
    </dgm:pt>
    <dgm:pt modelId="{A9D1BA43-18D0-DC49-B987-22B9CCB8372B}" type="sibTrans" cxnId="{83F40A94-EC0F-874E-8848-9CD668E3DAC5}">
      <dgm:prSet/>
      <dgm:spPr/>
      <dgm:t>
        <a:bodyPr/>
        <a:lstStyle/>
        <a:p>
          <a:endParaRPr lang="en-US"/>
        </a:p>
      </dgm:t>
    </dgm:pt>
    <dgm:pt modelId="{E6F1CDC0-3207-B746-8E96-D79FD36AF5BE}" type="pres">
      <dgm:prSet presAssocID="{C8554145-8B2F-074A-B096-4987C5D81764}" presName="Name0" presStyleCnt="0">
        <dgm:presLayoutVars>
          <dgm:dir/>
          <dgm:animLvl val="lvl"/>
          <dgm:resizeHandles val="exact"/>
        </dgm:presLayoutVars>
      </dgm:prSet>
      <dgm:spPr/>
    </dgm:pt>
    <dgm:pt modelId="{00FF6AA7-3C77-6846-8C8C-BBD41B8BCF06}" type="pres">
      <dgm:prSet presAssocID="{D7CDE4F2-0B29-5340-B4CA-7903895738A3}" presName="composite" presStyleCnt="0"/>
      <dgm:spPr/>
    </dgm:pt>
    <dgm:pt modelId="{59B4F48F-6F74-9842-A164-78C65E62632D}" type="pres">
      <dgm:prSet presAssocID="{D7CDE4F2-0B29-5340-B4CA-7903895738A3}" presName="parTx" presStyleLbl="alignNode1" presStyleIdx="0" presStyleCnt="3" custScaleY="182604">
        <dgm:presLayoutVars>
          <dgm:chMax val="0"/>
          <dgm:chPref val="0"/>
          <dgm:bulletEnabled val="1"/>
        </dgm:presLayoutVars>
      </dgm:prSet>
      <dgm:spPr/>
    </dgm:pt>
    <dgm:pt modelId="{5E6AA0E8-B225-9D44-A86D-9767773C4003}" type="pres">
      <dgm:prSet presAssocID="{D7CDE4F2-0B29-5340-B4CA-7903895738A3}" presName="desTx" presStyleLbl="alignAccFollowNode1" presStyleIdx="0" presStyleCnt="3">
        <dgm:presLayoutVars>
          <dgm:bulletEnabled val="1"/>
        </dgm:presLayoutVars>
      </dgm:prSet>
      <dgm:spPr/>
    </dgm:pt>
    <dgm:pt modelId="{292114E3-B226-5E49-BD98-2AE7463D8722}" type="pres">
      <dgm:prSet presAssocID="{7F68183D-C7C4-0744-8B7F-164B7F22AAE1}" presName="space" presStyleCnt="0"/>
      <dgm:spPr/>
    </dgm:pt>
    <dgm:pt modelId="{5778BF55-7BDA-EA4A-B3F4-6A1D653C494D}" type="pres">
      <dgm:prSet presAssocID="{774F7563-D777-364A-9F75-45F9C7D60EC4}" presName="composite" presStyleCnt="0"/>
      <dgm:spPr/>
    </dgm:pt>
    <dgm:pt modelId="{B3F6D228-9039-A949-A88A-D4A04B9662CD}" type="pres">
      <dgm:prSet presAssocID="{774F7563-D777-364A-9F75-45F9C7D60EC4}" presName="parTx" presStyleLbl="alignNode1" presStyleIdx="1" presStyleCnt="3" custScaleY="201857">
        <dgm:presLayoutVars>
          <dgm:chMax val="0"/>
          <dgm:chPref val="0"/>
          <dgm:bulletEnabled val="1"/>
        </dgm:presLayoutVars>
      </dgm:prSet>
      <dgm:spPr/>
    </dgm:pt>
    <dgm:pt modelId="{9F9ABC03-ED5A-8C4F-ABBA-7702123255F3}" type="pres">
      <dgm:prSet presAssocID="{774F7563-D777-364A-9F75-45F9C7D60EC4}" presName="desTx" presStyleLbl="alignAccFollowNode1" presStyleIdx="1" presStyleCnt="3" custScaleY="100000">
        <dgm:presLayoutVars>
          <dgm:bulletEnabled val="1"/>
        </dgm:presLayoutVars>
      </dgm:prSet>
      <dgm:spPr/>
    </dgm:pt>
    <dgm:pt modelId="{2E44FD69-8EF1-1044-BD64-FA3251E6599F}" type="pres">
      <dgm:prSet presAssocID="{AB3AF520-248D-BF48-B1F9-978BCD1779B3}" presName="space" presStyleCnt="0"/>
      <dgm:spPr/>
    </dgm:pt>
    <dgm:pt modelId="{B4B3A9FF-1992-544C-BCB0-98655366645A}" type="pres">
      <dgm:prSet presAssocID="{A99D3850-98F6-4E44-BEF7-9A02F984869B}" presName="composite" presStyleCnt="0"/>
      <dgm:spPr/>
    </dgm:pt>
    <dgm:pt modelId="{F94948FC-FEE2-2A41-9A9E-9B62084D71F6}" type="pres">
      <dgm:prSet presAssocID="{A99D3850-98F6-4E44-BEF7-9A02F984869B}" presName="parTx" presStyleLbl="alignNode1" presStyleIdx="2" presStyleCnt="3" custScaleY="201857" custLinFactNeighborX="49837" custLinFactNeighborY="-11031">
        <dgm:presLayoutVars>
          <dgm:chMax val="0"/>
          <dgm:chPref val="0"/>
          <dgm:bulletEnabled val="1"/>
        </dgm:presLayoutVars>
      </dgm:prSet>
      <dgm:spPr/>
    </dgm:pt>
    <dgm:pt modelId="{C30E3304-D114-7743-A3EC-2445BAC10332}" type="pres">
      <dgm:prSet presAssocID="{A99D3850-98F6-4E44-BEF7-9A02F984869B}" presName="desTx" presStyleLbl="alignAccFollowNode1" presStyleIdx="2" presStyleCnt="3">
        <dgm:presLayoutVars>
          <dgm:bulletEnabled val="1"/>
        </dgm:presLayoutVars>
      </dgm:prSet>
      <dgm:spPr/>
    </dgm:pt>
  </dgm:ptLst>
  <dgm:cxnLst>
    <dgm:cxn modelId="{96684618-87D5-B54E-AB79-410FC7648805}" type="presOf" srcId="{D4FAE11D-4D51-144C-9B47-0A24B52010D8}" destId="{9F9ABC03-ED5A-8C4F-ABBA-7702123255F3}" srcOrd="0" destOrd="0" presId="urn:microsoft.com/office/officeart/2005/8/layout/hList1"/>
    <dgm:cxn modelId="{8D892A32-CCC2-0244-9C7C-71C7F64C96C1}" type="presOf" srcId="{F7A3FECA-373A-A646-A287-98E0B2650607}" destId="{5E6AA0E8-B225-9D44-A86D-9767773C4003}" srcOrd="0" destOrd="1" presId="urn:microsoft.com/office/officeart/2005/8/layout/hList1"/>
    <dgm:cxn modelId="{7A2A9762-9669-8747-A0DA-9756CF9435EA}" type="presOf" srcId="{774F7563-D777-364A-9F75-45F9C7D60EC4}" destId="{B3F6D228-9039-A949-A88A-D4A04B9662CD}" srcOrd="0" destOrd="0" presId="urn:microsoft.com/office/officeart/2005/8/layout/hList1"/>
    <dgm:cxn modelId="{24CE816C-F52E-BC4C-B324-614A6E480F51}" type="presOf" srcId="{A99D3850-98F6-4E44-BEF7-9A02F984869B}" destId="{F94948FC-FEE2-2A41-9A9E-9B62084D71F6}" srcOrd="0" destOrd="0" presId="urn:microsoft.com/office/officeart/2005/8/layout/hList1"/>
    <dgm:cxn modelId="{B702C06D-14E4-2B42-AB62-E42EFB05C477}" type="presOf" srcId="{D7CDE4F2-0B29-5340-B4CA-7903895738A3}" destId="{59B4F48F-6F74-9842-A164-78C65E62632D}" srcOrd="0" destOrd="0" presId="urn:microsoft.com/office/officeart/2005/8/layout/hList1"/>
    <dgm:cxn modelId="{45234C71-A75A-4948-AA50-CA929298C2E4}" srcId="{D7CDE4F2-0B29-5340-B4CA-7903895738A3}" destId="{CE70BF09-602F-9649-8CD0-34EA655C874E}" srcOrd="0" destOrd="0" parTransId="{51F5F06F-23EF-F04F-A0D7-A1938E1EC98E}" sibTransId="{FA0F2068-8C99-5449-ACCA-D829BC1CF04F}"/>
    <dgm:cxn modelId="{35B01054-9196-344C-B8F2-6375BCFAD3D4}" srcId="{D7CDE4F2-0B29-5340-B4CA-7903895738A3}" destId="{F7A3FECA-373A-A646-A287-98E0B2650607}" srcOrd="1" destOrd="0" parTransId="{781EB878-8836-A74C-9250-B959FDD1A446}" sibTransId="{D06912E3-8B83-214C-A4A9-7E7651A7F062}"/>
    <dgm:cxn modelId="{613E4B5A-F04E-C64D-93AF-A975A80E6E43}" srcId="{C8554145-8B2F-074A-B096-4987C5D81764}" destId="{774F7563-D777-364A-9F75-45F9C7D60EC4}" srcOrd="1" destOrd="0" parTransId="{EC5A4339-55E9-3A42-8D7F-B8722BCD8BF7}" sibTransId="{AB3AF520-248D-BF48-B1F9-978BCD1779B3}"/>
    <dgm:cxn modelId="{7FF6E75A-AE35-2E4E-B34E-45BF8A312452}" type="presOf" srcId="{C8554145-8B2F-074A-B096-4987C5D81764}" destId="{E6F1CDC0-3207-B746-8E96-D79FD36AF5BE}" srcOrd="0" destOrd="0" presId="urn:microsoft.com/office/officeart/2005/8/layout/hList1"/>
    <dgm:cxn modelId="{83F40A94-EC0F-874E-8848-9CD668E3DAC5}" srcId="{A99D3850-98F6-4E44-BEF7-9A02F984869B}" destId="{B813EF2F-B021-CF49-99EE-AF28C0CEB44B}" srcOrd="0" destOrd="0" parTransId="{CC6BA37D-3001-9A47-9536-FF0B64F74DB0}" sibTransId="{A9D1BA43-18D0-DC49-B987-22B9CCB8372B}"/>
    <dgm:cxn modelId="{6FBBA797-82F7-D54D-B530-618A1498298A}" srcId="{C8554145-8B2F-074A-B096-4987C5D81764}" destId="{A99D3850-98F6-4E44-BEF7-9A02F984869B}" srcOrd="2" destOrd="0" parTransId="{951B9852-4730-834E-AC14-3E0184947864}" sibTransId="{7B35E651-A0B2-9E4E-A22B-ACC88F12945C}"/>
    <dgm:cxn modelId="{A7AD2E9A-6BF5-484C-8E78-131CC23FBDB4}" type="presOf" srcId="{3B7C31DE-8A89-2F4A-B650-4D9BC2724207}" destId="{9F9ABC03-ED5A-8C4F-ABBA-7702123255F3}" srcOrd="0" destOrd="1" presId="urn:microsoft.com/office/officeart/2005/8/layout/hList1"/>
    <dgm:cxn modelId="{3830FFB4-AA38-B04F-8B32-07B847AECF66}" srcId="{774F7563-D777-364A-9F75-45F9C7D60EC4}" destId="{3B7C31DE-8A89-2F4A-B650-4D9BC2724207}" srcOrd="1" destOrd="0" parTransId="{7851C849-F575-894A-9B00-B44B79CA9B3A}" sibTransId="{072AF77D-5CAD-5641-9297-1B04354B8341}"/>
    <dgm:cxn modelId="{032C7BCF-E259-6D47-A130-6EE43F533BEA}" srcId="{774F7563-D777-364A-9F75-45F9C7D60EC4}" destId="{D4FAE11D-4D51-144C-9B47-0A24B52010D8}" srcOrd="0" destOrd="0" parTransId="{158B2218-BF64-DD45-B97C-B84C578BEC96}" sibTransId="{50B34E17-D1CA-C842-8527-9F30C06D1817}"/>
    <dgm:cxn modelId="{F66FCCD0-D75D-2142-BE23-49CE8ECBCBDD}" srcId="{774F7563-D777-364A-9F75-45F9C7D60EC4}" destId="{4BA3F045-6A95-3C4D-A27E-380AA544C704}" srcOrd="2" destOrd="0" parTransId="{2A8F251F-A570-5345-BAC5-FDA4FE861646}" sibTransId="{F442362B-3A67-7A47-95DC-3E4F366E693B}"/>
    <dgm:cxn modelId="{6DD83BD2-3806-4B4C-B69B-04476113A707}" srcId="{C8554145-8B2F-074A-B096-4987C5D81764}" destId="{D7CDE4F2-0B29-5340-B4CA-7903895738A3}" srcOrd="0" destOrd="0" parTransId="{6DA94CC3-93A7-6145-97D5-23326244C255}" sibTransId="{7F68183D-C7C4-0744-8B7F-164B7F22AAE1}"/>
    <dgm:cxn modelId="{DA2DE9F0-BB96-EA42-BD49-378D8DED2465}" type="presOf" srcId="{4BA3F045-6A95-3C4D-A27E-380AA544C704}" destId="{9F9ABC03-ED5A-8C4F-ABBA-7702123255F3}" srcOrd="0" destOrd="2" presId="urn:microsoft.com/office/officeart/2005/8/layout/hList1"/>
    <dgm:cxn modelId="{1AB26EF2-7B2B-F84A-AB75-1FAF1A9BDBA1}" type="presOf" srcId="{B813EF2F-B021-CF49-99EE-AF28C0CEB44B}" destId="{C30E3304-D114-7743-A3EC-2445BAC10332}" srcOrd="0" destOrd="0" presId="urn:microsoft.com/office/officeart/2005/8/layout/hList1"/>
    <dgm:cxn modelId="{FB790DFD-433A-4844-AE07-A364F1A45B29}" type="presOf" srcId="{CE70BF09-602F-9649-8CD0-34EA655C874E}" destId="{5E6AA0E8-B225-9D44-A86D-9767773C4003}" srcOrd="0" destOrd="0" presId="urn:microsoft.com/office/officeart/2005/8/layout/hList1"/>
    <dgm:cxn modelId="{083FFB63-F3A0-C441-85AD-22812D4B1624}" type="presParOf" srcId="{E6F1CDC0-3207-B746-8E96-D79FD36AF5BE}" destId="{00FF6AA7-3C77-6846-8C8C-BBD41B8BCF06}" srcOrd="0" destOrd="0" presId="urn:microsoft.com/office/officeart/2005/8/layout/hList1"/>
    <dgm:cxn modelId="{E921A864-D9EF-9042-BD78-685DDFABF256}" type="presParOf" srcId="{00FF6AA7-3C77-6846-8C8C-BBD41B8BCF06}" destId="{59B4F48F-6F74-9842-A164-78C65E62632D}" srcOrd="0" destOrd="0" presId="urn:microsoft.com/office/officeart/2005/8/layout/hList1"/>
    <dgm:cxn modelId="{71B9F754-E4D9-944A-8D87-DA14624C6869}" type="presParOf" srcId="{00FF6AA7-3C77-6846-8C8C-BBD41B8BCF06}" destId="{5E6AA0E8-B225-9D44-A86D-9767773C4003}" srcOrd="1" destOrd="0" presId="urn:microsoft.com/office/officeart/2005/8/layout/hList1"/>
    <dgm:cxn modelId="{1936C26B-903B-6740-9575-97D24F4B4F65}" type="presParOf" srcId="{E6F1CDC0-3207-B746-8E96-D79FD36AF5BE}" destId="{292114E3-B226-5E49-BD98-2AE7463D8722}" srcOrd="1" destOrd="0" presId="urn:microsoft.com/office/officeart/2005/8/layout/hList1"/>
    <dgm:cxn modelId="{D66D80C2-4499-EC41-94C4-20CE7D093DAF}" type="presParOf" srcId="{E6F1CDC0-3207-B746-8E96-D79FD36AF5BE}" destId="{5778BF55-7BDA-EA4A-B3F4-6A1D653C494D}" srcOrd="2" destOrd="0" presId="urn:microsoft.com/office/officeart/2005/8/layout/hList1"/>
    <dgm:cxn modelId="{A56D53B6-483A-7749-AAF8-259F11D1D628}" type="presParOf" srcId="{5778BF55-7BDA-EA4A-B3F4-6A1D653C494D}" destId="{B3F6D228-9039-A949-A88A-D4A04B9662CD}" srcOrd="0" destOrd="0" presId="urn:microsoft.com/office/officeart/2005/8/layout/hList1"/>
    <dgm:cxn modelId="{E495D2D8-0B80-764D-BB14-C573FB9BAE84}" type="presParOf" srcId="{5778BF55-7BDA-EA4A-B3F4-6A1D653C494D}" destId="{9F9ABC03-ED5A-8C4F-ABBA-7702123255F3}" srcOrd="1" destOrd="0" presId="urn:microsoft.com/office/officeart/2005/8/layout/hList1"/>
    <dgm:cxn modelId="{A73DBA6A-9710-B543-AE04-C1C39CF08076}" type="presParOf" srcId="{E6F1CDC0-3207-B746-8E96-D79FD36AF5BE}" destId="{2E44FD69-8EF1-1044-BD64-FA3251E6599F}" srcOrd="3" destOrd="0" presId="urn:microsoft.com/office/officeart/2005/8/layout/hList1"/>
    <dgm:cxn modelId="{FE813A26-CCF3-7144-AAB0-50A623174D91}" type="presParOf" srcId="{E6F1CDC0-3207-B746-8E96-D79FD36AF5BE}" destId="{B4B3A9FF-1992-544C-BCB0-98655366645A}" srcOrd="4" destOrd="0" presId="urn:microsoft.com/office/officeart/2005/8/layout/hList1"/>
    <dgm:cxn modelId="{DD4FFA8C-629A-A845-B901-48F9D3B63DB9}" type="presParOf" srcId="{B4B3A9FF-1992-544C-BCB0-98655366645A}" destId="{F94948FC-FEE2-2A41-9A9E-9B62084D71F6}" srcOrd="0" destOrd="0" presId="urn:microsoft.com/office/officeart/2005/8/layout/hList1"/>
    <dgm:cxn modelId="{A6856B1E-2CB4-B046-A1E2-A894F9ED01E6}" type="presParOf" srcId="{B4B3A9FF-1992-544C-BCB0-98655366645A}" destId="{C30E3304-D114-7743-A3EC-2445BAC1033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8DD8FA-32BB-C04B-A3C9-B425357390F4}"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022E0863-7C5B-4248-A38E-1C454C4790C6}">
      <dgm:prSet/>
      <dgm:spPr>
        <a:solidFill>
          <a:schemeClr val="accent4"/>
        </a:solidFill>
        <a:ln>
          <a:solidFill>
            <a:schemeClr val="accent4"/>
          </a:solidFill>
        </a:ln>
      </dgm:spPr>
      <dgm:t>
        <a:bodyPr/>
        <a:lstStyle/>
        <a:p>
          <a:pPr rtl="0"/>
          <a:r>
            <a:rPr lang="en-US" dirty="0"/>
            <a:t>When a block that is resident in the cache is to be replaced there are two cases to consider:</a:t>
          </a:r>
        </a:p>
      </dgm:t>
    </dgm:pt>
    <dgm:pt modelId="{2E97AE6D-A917-9E44-A214-0770A4EFCB56}" type="parTrans" cxnId="{07B4E7E5-1C74-E042-956D-3A0D8EEB47E5}">
      <dgm:prSet/>
      <dgm:spPr/>
      <dgm:t>
        <a:bodyPr/>
        <a:lstStyle/>
        <a:p>
          <a:endParaRPr lang="en-US"/>
        </a:p>
      </dgm:t>
    </dgm:pt>
    <dgm:pt modelId="{391462BD-0051-DC4B-BE07-8562636C7355}" type="sibTrans" cxnId="{07B4E7E5-1C74-E042-956D-3A0D8EEB47E5}">
      <dgm:prSet/>
      <dgm:spPr/>
      <dgm:t>
        <a:bodyPr/>
        <a:lstStyle/>
        <a:p>
          <a:endParaRPr lang="en-US"/>
        </a:p>
      </dgm:t>
    </dgm:pt>
    <dgm:pt modelId="{6AE17495-F142-F346-8094-6C147A6707E7}">
      <dgm:prSet/>
      <dgm:spPr>
        <a:ln>
          <a:solidFill>
            <a:schemeClr val="accent4"/>
          </a:solidFill>
        </a:ln>
      </dgm:spPr>
      <dgm:t>
        <a:bodyPr/>
        <a:lstStyle/>
        <a:p>
          <a:pPr rtl="0"/>
          <a:r>
            <a:rPr lang="en-US" dirty="0"/>
            <a:t>If the old block in the cache has not been altered then it may be overwritten with a new block without first writing out the old block</a:t>
          </a:r>
        </a:p>
      </dgm:t>
    </dgm:pt>
    <dgm:pt modelId="{32AEB28B-C998-1E4F-B5FF-E6C9BADBC012}" type="parTrans" cxnId="{D7E2110E-AF45-954A-9639-FEC8D9AE8F71}">
      <dgm:prSet/>
      <dgm:spPr>
        <a:solidFill>
          <a:schemeClr val="accent4"/>
        </a:solidFill>
        <a:effectLst/>
      </dgm:spPr>
      <dgm:t>
        <a:bodyPr/>
        <a:lstStyle/>
        <a:p>
          <a:endParaRPr lang="en-US" dirty="0"/>
        </a:p>
      </dgm:t>
    </dgm:pt>
    <dgm:pt modelId="{468E7CD9-0A07-434E-9677-5FEE2DBBE9CE}" type="sibTrans" cxnId="{D7E2110E-AF45-954A-9639-FEC8D9AE8F71}">
      <dgm:prSet/>
      <dgm:spPr>
        <a:solidFill>
          <a:schemeClr val="accent4"/>
        </a:solidFill>
        <a:effectLst/>
      </dgm:spPr>
      <dgm:t>
        <a:bodyPr/>
        <a:lstStyle/>
        <a:p>
          <a:endParaRPr lang="en-US" dirty="0"/>
        </a:p>
      </dgm:t>
    </dgm:pt>
    <dgm:pt modelId="{96131DBC-98E5-8945-BCB4-D926D0E876DC}">
      <dgm:prSet/>
      <dgm:spPr>
        <a:ln>
          <a:solidFill>
            <a:schemeClr val="accent4"/>
          </a:solidFill>
        </a:ln>
      </dgm:spPr>
      <dgm:t>
        <a:bodyPr/>
        <a:lstStyle/>
        <a:p>
          <a:pPr rtl="0"/>
          <a:r>
            <a:rPr lang="en-US" dirty="0"/>
            <a:t>If at least one write operation has been performed on a word in that line of the cache then main memory must be updated by writing the line of cache out to the block of memory before bringing in the new block</a:t>
          </a:r>
        </a:p>
      </dgm:t>
    </dgm:pt>
    <dgm:pt modelId="{94E4766F-2C8C-E54F-B7B3-B2AE2E6AF669}" type="parTrans" cxnId="{3CD200A9-41BA-FC43-B7AC-70779D9557BE}">
      <dgm:prSet/>
      <dgm:spPr/>
      <dgm:t>
        <a:bodyPr/>
        <a:lstStyle/>
        <a:p>
          <a:endParaRPr lang="en-US"/>
        </a:p>
      </dgm:t>
    </dgm:pt>
    <dgm:pt modelId="{8064DA95-FA67-C54D-8E8E-246B9DAC3EEE}" type="sibTrans" cxnId="{3CD200A9-41BA-FC43-B7AC-70779D9557BE}">
      <dgm:prSet/>
      <dgm:spPr/>
      <dgm:t>
        <a:bodyPr/>
        <a:lstStyle/>
        <a:p>
          <a:endParaRPr lang="en-US"/>
        </a:p>
      </dgm:t>
    </dgm:pt>
    <dgm:pt modelId="{1CB47A35-D296-474F-9F2A-12475FBF3F49}">
      <dgm:prSet/>
      <dgm:spPr>
        <a:solidFill>
          <a:schemeClr val="accent3"/>
        </a:solidFill>
        <a:ln>
          <a:solidFill>
            <a:schemeClr val="accent3"/>
          </a:solidFill>
        </a:ln>
      </dgm:spPr>
      <dgm:t>
        <a:bodyPr/>
        <a:lstStyle/>
        <a:p>
          <a:pPr rtl="0"/>
          <a:r>
            <a:rPr lang="en-US" dirty="0"/>
            <a:t>There are two problems to contend with:</a:t>
          </a:r>
        </a:p>
      </dgm:t>
    </dgm:pt>
    <dgm:pt modelId="{077B61D2-8416-D941-AC08-840B5E56B829}" type="parTrans" cxnId="{E35B0638-21BA-0D41-B96E-4D1A995150A6}">
      <dgm:prSet/>
      <dgm:spPr/>
      <dgm:t>
        <a:bodyPr/>
        <a:lstStyle/>
        <a:p>
          <a:endParaRPr lang="en-US"/>
        </a:p>
      </dgm:t>
    </dgm:pt>
    <dgm:pt modelId="{FCAF96B8-3776-B644-986A-46F0D2116D2D}" type="sibTrans" cxnId="{E35B0638-21BA-0D41-B96E-4D1A995150A6}">
      <dgm:prSet/>
      <dgm:spPr/>
      <dgm:t>
        <a:bodyPr/>
        <a:lstStyle/>
        <a:p>
          <a:endParaRPr lang="en-US"/>
        </a:p>
      </dgm:t>
    </dgm:pt>
    <dgm:pt modelId="{1213F169-EDA0-EB47-9992-BF7B571275AC}">
      <dgm:prSet/>
      <dgm:spPr>
        <a:ln>
          <a:solidFill>
            <a:schemeClr val="accent3"/>
          </a:solidFill>
        </a:ln>
      </dgm:spPr>
      <dgm:t>
        <a:bodyPr/>
        <a:lstStyle/>
        <a:p>
          <a:pPr rtl="0"/>
          <a:r>
            <a:rPr lang="en-US" dirty="0"/>
            <a:t>More than one device may have access to main memory</a:t>
          </a:r>
        </a:p>
      </dgm:t>
    </dgm:pt>
    <dgm:pt modelId="{D9CBD3A3-7A39-D04F-A71A-3B55DC0FFD3F}" type="parTrans" cxnId="{95F9B1E9-EED2-CD49-A041-14AB5856ECDA}">
      <dgm:prSet/>
      <dgm:spPr>
        <a:solidFill>
          <a:schemeClr val="accent3"/>
        </a:solidFill>
        <a:effectLst/>
      </dgm:spPr>
      <dgm:t>
        <a:bodyPr/>
        <a:lstStyle/>
        <a:p>
          <a:endParaRPr lang="en-US" dirty="0"/>
        </a:p>
      </dgm:t>
    </dgm:pt>
    <dgm:pt modelId="{1254B9F7-30E4-BF4C-82CD-92ECBA4D42F5}" type="sibTrans" cxnId="{95F9B1E9-EED2-CD49-A041-14AB5856ECDA}">
      <dgm:prSet/>
      <dgm:spPr>
        <a:solidFill>
          <a:schemeClr val="accent3"/>
        </a:solidFill>
        <a:effectLst/>
      </dgm:spPr>
      <dgm:t>
        <a:bodyPr/>
        <a:lstStyle/>
        <a:p>
          <a:endParaRPr lang="en-US" dirty="0"/>
        </a:p>
      </dgm:t>
    </dgm:pt>
    <dgm:pt modelId="{7AF86266-B030-5F47-A49F-D00BC31FE007}">
      <dgm:prSet/>
      <dgm:spPr>
        <a:ln>
          <a:solidFill>
            <a:schemeClr val="accent3"/>
          </a:solidFill>
        </a:ln>
      </dgm:spPr>
      <dgm:t>
        <a:bodyPr/>
        <a:lstStyle/>
        <a:p>
          <a:pPr rtl="0"/>
          <a:r>
            <a:rPr lang="en-US" dirty="0"/>
            <a:t>A more complex problem occurs when multiple processors are attached to the same bus and each processor has its own local cache - if a word is altered in one cache it could conceivably invalidate a word in other caches</a:t>
          </a:r>
        </a:p>
      </dgm:t>
    </dgm:pt>
    <dgm:pt modelId="{22537051-1FB0-F248-88C0-45F3927C242E}" type="parTrans" cxnId="{4818DB8F-C60E-E24A-9760-A40A254BC7C8}">
      <dgm:prSet/>
      <dgm:spPr/>
      <dgm:t>
        <a:bodyPr/>
        <a:lstStyle/>
        <a:p>
          <a:endParaRPr lang="en-US"/>
        </a:p>
      </dgm:t>
    </dgm:pt>
    <dgm:pt modelId="{20C440D0-917C-174E-AD6D-E5FEECA5BFED}" type="sibTrans" cxnId="{4818DB8F-C60E-E24A-9760-A40A254BC7C8}">
      <dgm:prSet/>
      <dgm:spPr/>
      <dgm:t>
        <a:bodyPr/>
        <a:lstStyle/>
        <a:p>
          <a:endParaRPr lang="en-US"/>
        </a:p>
      </dgm:t>
    </dgm:pt>
    <dgm:pt modelId="{E7C7B2B5-6455-8040-824D-D654BFFEB931}" type="pres">
      <dgm:prSet presAssocID="{AF8DD8FA-32BB-C04B-A3C9-B425357390F4}" presName="Name0" presStyleCnt="0">
        <dgm:presLayoutVars>
          <dgm:dir/>
          <dgm:animLvl val="lvl"/>
          <dgm:resizeHandles val="exact"/>
        </dgm:presLayoutVars>
      </dgm:prSet>
      <dgm:spPr/>
    </dgm:pt>
    <dgm:pt modelId="{E4E6EE3A-7ADE-B64E-8DDE-E0C29C0824CE}" type="pres">
      <dgm:prSet presAssocID="{022E0863-7C5B-4248-A38E-1C454C4790C6}" presName="vertFlow" presStyleCnt="0"/>
      <dgm:spPr/>
    </dgm:pt>
    <dgm:pt modelId="{0811B929-E516-5443-B0F5-EC0B30A47FDB}" type="pres">
      <dgm:prSet presAssocID="{022E0863-7C5B-4248-A38E-1C454C4790C6}" presName="header" presStyleLbl="node1" presStyleIdx="0" presStyleCnt="2"/>
      <dgm:spPr/>
    </dgm:pt>
    <dgm:pt modelId="{D31FB0BD-CB04-3C41-B317-3A5187E6AE93}" type="pres">
      <dgm:prSet presAssocID="{32AEB28B-C998-1E4F-B5FF-E6C9BADBC012}" presName="parTrans" presStyleLbl="sibTrans2D1" presStyleIdx="0" presStyleCnt="4"/>
      <dgm:spPr/>
    </dgm:pt>
    <dgm:pt modelId="{3142DD91-2917-CC41-9BFA-CF928F5CC795}" type="pres">
      <dgm:prSet presAssocID="{6AE17495-F142-F346-8094-6C147A6707E7}" presName="child" presStyleLbl="alignAccFollowNode1" presStyleIdx="0" presStyleCnt="4">
        <dgm:presLayoutVars>
          <dgm:chMax val="0"/>
          <dgm:bulletEnabled val="1"/>
        </dgm:presLayoutVars>
      </dgm:prSet>
      <dgm:spPr/>
    </dgm:pt>
    <dgm:pt modelId="{2D23DC65-2635-7547-AB3F-AED6672AFFE6}" type="pres">
      <dgm:prSet presAssocID="{468E7CD9-0A07-434E-9677-5FEE2DBBE9CE}" presName="sibTrans" presStyleLbl="sibTrans2D1" presStyleIdx="1" presStyleCnt="4"/>
      <dgm:spPr/>
    </dgm:pt>
    <dgm:pt modelId="{4A68EEB7-D5C7-EF47-A954-BD8607821E05}" type="pres">
      <dgm:prSet presAssocID="{96131DBC-98E5-8945-BCB4-D926D0E876DC}" presName="child" presStyleLbl="alignAccFollowNode1" presStyleIdx="1" presStyleCnt="4" custScaleY="180804">
        <dgm:presLayoutVars>
          <dgm:chMax val="0"/>
          <dgm:bulletEnabled val="1"/>
        </dgm:presLayoutVars>
      </dgm:prSet>
      <dgm:spPr/>
    </dgm:pt>
    <dgm:pt modelId="{F2FC77B0-0C49-5C4A-9569-70B77E8CC044}" type="pres">
      <dgm:prSet presAssocID="{022E0863-7C5B-4248-A38E-1C454C4790C6}" presName="hSp" presStyleCnt="0"/>
      <dgm:spPr/>
    </dgm:pt>
    <dgm:pt modelId="{40B8AF06-51F8-2445-91E5-963B915B6C20}" type="pres">
      <dgm:prSet presAssocID="{1CB47A35-D296-474F-9F2A-12475FBF3F49}" presName="vertFlow" presStyleCnt="0"/>
      <dgm:spPr/>
    </dgm:pt>
    <dgm:pt modelId="{59333D82-04E3-344E-9F6D-7A52667AD3BD}" type="pres">
      <dgm:prSet presAssocID="{1CB47A35-D296-474F-9F2A-12475FBF3F49}" presName="header" presStyleLbl="node1" presStyleIdx="1" presStyleCnt="2"/>
      <dgm:spPr/>
    </dgm:pt>
    <dgm:pt modelId="{23FB0AB2-D708-C74D-9705-EFCC30F8BF72}" type="pres">
      <dgm:prSet presAssocID="{D9CBD3A3-7A39-D04F-A71A-3B55DC0FFD3F}" presName="parTrans" presStyleLbl="sibTrans2D1" presStyleIdx="2" presStyleCnt="4"/>
      <dgm:spPr/>
    </dgm:pt>
    <dgm:pt modelId="{7F36AA80-5C05-2F49-B7E9-B7C655619CE6}" type="pres">
      <dgm:prSet presAssocID="{1213F169-EDA0-EB47-9992-BF7B571275AC}" presName="child" presStyleLbl="alignAccFollowNode1" presStyleIdx="2" presStyleCnt="4">
        <dgm:presLayoutVars>
          <dgm:chMax val="0"/>
          <dgm:bulletEnabled val="1"/>
        </dgm:presLayoutVars>
      </dgm:prSet>
      <dgm:spPr/>
    </dgm:pt>
    <dgm:pt modelId="{B3C789D7-F7F9-6047-9980-E16EE5BCCF23}" type="pres">
      <dgm:prSet presAssocID="{1254B9F7-30E4-BF4C-82CD-92ECBA4D42F5}" presName="sibTrans" presStyleLbl="sibTrans2D1" presStyleIdx="3" presStyleCnt="4"/>
      <dgm:spPr/>
    </dgm:pt>
    <dgm:pt modelId="{70DA93BB-D5B7-C048-B918-81E67A7815CD}" type="pres">
      <dgm:prSet presAssocID="{7AF86266-B030-5F47-A49F-D00BC31FE007}" presName="child" presStyleLbl="alignAccFollowNode1" presStyleIdx="3" presStyleCnt="4" custScaleX="98973" custScaleY="171447">
        <dgm:presLayoutVars>
          <dgm:chMax val="0"/>
          <dgm:bulletEnabled val="1"/>
        </dgm:presLayoutVars>
      </dgm:prSet>
      <dgm:spPr/>
    </dgm:pt>
  </dgm:ptLst>
  <dgm:cxnLst>
    <dgm:cxn modelId="{C27F8805-737C-3B48-9B8C-1A7265451F5C}" type="presOf" srcId="{022E0863-7C5B-4248-A38E-1C454C4790C6}" destId="{0811B929-E516-5443-B0F5-EC0B30A47FDB}" srcOrd="0" destOrd="0" presId="urn:microsoft.com/office/officeart/2005/8/layout/lProcess1"/>
    <dgm:cxn modelId="{D7E2110E-AF45-954A-9639-FEC8D9AE8F71}" srcId="{022E0863-7C5B-4248-A38E-1C454C4790C6}" destId="{6AE17495-F142-F346-8094-6C147A6707E7}" srcOrd="0" destOrd="0" parTransId="{32AEB28B-C998-1E4F-B5FF-E6C9BADBC012}" sibTransId="{468E7CD9-0A07-434E-9677-5FEE2DBBE9CE}"/>
    <dgm:cxn modelId="{3E30CE0F-6139-0B46-9054-692C2CBF6226}" type="presOf" srcId="{7AF86266-B030-5F47-A49F-D00BC31FE007}" destId="{70DA93BB-D5B7-C048-B918-81E67A7815CD}" srcOrd="0" destOrd="0" presId="urn:microsoft.com/office/officeart/2005/8/layout/lProcess1"/>
    <dgm:cxn modelId="{33050318-68E3-4441-B955-3EA40DD87CE2}" type="presOf" srcId="{1CB47A35-D296-474F-9F2A-12475FBF3F49}" destId="{59333D82-04E3-344E-9F6D-7A52667AD3BD}" srcOrd="0" destOrd="0" presId="urn:microsoft.com/office/officeart/2005/8/layout/lProcess1"/>
    <dgm:cxn modelId="{4640FF1F-F6E7-1D48-968A-AEDCBD615C28}" type="presOf" srcId="{AF8DD8FA-32BB-C04B-A3C9-B425357390F4}" destId="{E7C7B2B5-6455-8040-824D-D654BFFEB931}" srcOrd="0" destOrd="0" presId="urn:microsoft.com/office/officeart/2005/8/layout/lProcess1"/>
    <dgm:cxn modelId="{774F172D-50A2-4E4F-829A-D265696A072E}" type="presOf" srcId="{468E7CD9-0A07-434E-9677-5FEE2DBBE9CE}" destId="{2D23DC65-2635-7547-AB3F-AED6672AFFE6}" srcOrd="0" destOrd="0" presId="urn:microsoft.com/office/officeart/2005/8/layout/lProcess1"/>
    <dgm:cxn modelId="{E35B0638-21BA-0D41-B96E-4D1A995150A6}" srcId="{AF8DD8FA-32BB-C04B-A3C9-B425357390F4}" destId="{1CB47A35-D296-474F-9F2A-12475FBF3F49}" srcOrd="1" destOrd="0" parTransId="{077B61D2-8416-D941-AC08-840B5E56B829}" sibTransId="{FCAF96B8-3776-B644-986A-46F0D2116D2D}"/>
    <dgm:cxn modelId="{5F55AE5C-17F5-8946-8F72-782A769FF4AE}" type="presOf" srcId="{1254B9F7-30E4-BF4C-82CD-92ECBA4D42F5}" destId="{B3C789D7-F7F9-6047-9980-E16EE5BCCF23}" srcOrd="0" destOrd="0" presId="urn:microsoft.com/office/officeart/2005/8/layout/lProcess1"/>
    <dgm:cxn modelId="{E0041346-089F-0546-A6A1-C9981E147A83}" type="presOf" srcId="{96131DBC-98E5-8945-BCB4-D926D0E876DC}" destId="{4A68EEB7-D5C7-EF47-A954-BD8607821E05}" srcOrd="0" destOrd="0" presId="urn:microsoft.com/office/officeart/2005/8/layout/lProcess1"/>
    <dgm:cxn modelId="{C6B75648-336C-4B47-94B9-E6606F081175}" type="presOf" srcId="{D9CBD3A3-7A39-D04F-A71A-3B55DC0FFD3F}" destId="{23FB0AB2-D708-C74D-9705-EFCC30F8BF72}" srcOrd="0" destOrd="0" presId="urn:microsoft.com/office/officeart/2005/8/layout/lProcess1"/>
    <dgm:cxn modelId="{B26C774C-3363-394C-B1A3-B0A92DA5ACD8}" type="presOf" srcId="{6AE17495-F142-F346-8094-6C147A6707E7}" destId="{3142DD91-2917-CC41-9BFA-CF928F5CC795}" srcOrd="0" destOrd="0" presId="urn:microsoft.com/office/officeart/2005/8/layout/lProcess1"/>
    <dgm:cxn modelId="{4818DB8F-C60E-E24A-9760-A40A254BC7C8}" srcId="{1CB47A35-D296-474F-9F2A-12475FBF3F49}" destId="{7AF86266-B030-5F47-A49F-D00BC31FE007}" srcOrd="1" destOrd="0" parTransId="{22537051-1FB0-F248-88C0-45F3927C242E}" sibTransId="{20C440D0-917C-174E-AD6D-E5FEECA5BFED}"/>
    <dgm:cxn modelId="{55B18C96-A208-9447-9965-C6CF64ECF29D}" type="presOf" srcId="{32AEB28B-C998-1E4F-B5FF-E6C9BADBC012}" destId="{D31FB0BD-CB04-3C41-B317-3A5187E6AE93}" srcOrd="0" destOrd="0" presId="urn:microsoft.com/office/officeart/2005/8/layout/lProcess1"/>
    <dgm:cxn modelId="{3AA1BA99-3013-FC45-9C35-CD1432E2E0EB}" type="presOf" srcId="{1213F169-EDA0-EB47-9992-BF7B571275AC}" destId="{7F36AA80-5C05-2F49-B7E9-B7C655619CE6}" srcOrd="0" destOrd="0" presId="urn:microsoft.com/office/officeart/2005/8/layout/lProcess1"/>
    <dgm:cxn modelId="{3CD200A9-41BA-FC43-B7AC-70779D9557BE}" srcId="{022E0863-7C5B-4248-A38E-1C454C4790C6}" destId="{96131DBC-98E5-8945-BCB4-D926D0E876DC}" srcOrd="1" destOrd="0" parTransId="{94E4766F-2C8C-E54F-B7B3-B2AE2E6AF669}" sibTransId="{8064DA95-FA67-C54D-8E8E-246B9DAC3EEE}"/>
    <dgm:cxn modelId="{07B4E7E5-1C74-E042-956D-3A0D8EEB47E5}" srcId="{AF8DD8FA-32BB-C04B-A3C9-B425357390F4}" destId="{022E0863-7C5B-4248-A38E-1C454C4790C6}" srcOrd="0" destOrd="0" parTransId="{2E97AE6D-A917-9E44-A214-0770A4EFCB56}" sibTransId="{391462BD-0051-DC4B-BE07-8562636C7355}"/>
    <dgm:cxn modelId="{95F9B1E9-EED2-CD49-A041-14AB5856ECDA}" srcId="{1CB47A35-D296-474F-9F2A-12475FBF3F49}" destId="{1213F169-EDA0-EB47-9992-BF7B571275AC}" srcOrd="0" destOrd="0" parTransId="{D9CBD3A3-7A39-D04F-A71A-3B55DC0FFD3F}" sibTransId="{1254B9F7-30E4-BF4C-82CD-92ECBA4D42F5}"/>
    <dgm:cxn modelId="{21C8EFFC-835B-EB4A-AB58-0D7F3532F4F0}" type="presParOf" srcId="{E7C7B2B5-6455-8040-824D-D654BFFEB931}" destId="{E4E6EE3A-7ADE-B64E-8DDE-E0C29C0824CE}" srcOrd="0" destOrd="0" presId="urn:microsoft.com/office/officeart/2005/8/layout/lProcess1"/>
    <dgm:cxn modelId="{FE0A81CE-198F-0947-866B-F34FBE9C5398}" type="presParOf" srcId="{E4E6EE3A-7ADE-B64E-8DDE-E0C29C0824CE}" destId="{0811B929-E516-5443-B0F5-EC0B30A47FDB}" srcOrd="0" destOrd="0" presId="urn:microsoft.com/office/officeart/2005/8/layout/lProcess1"/>
    <dgm:cxn modelId="{033C4FCF-C2E3-1D41-8B2C-2C38C24D1D9B}" type="presParOf" srcId="{E4E6EE3A-7ADE-B64E-8DDE-E0C29C0824CE}" destId="{D31FB0BD-CB04-3C41-B317-3A5187E6AE93}" srcOrd="1" destOrd="0" presId="urn:microsoft.com/office/officeart/2005/8/layout/lProcess1"/>
    <dgm:cxn modelId="{B98122DB-1F05-D044-8B4F-0B8251C65443}" type="presParOf" srcId="{E4E6EE3A-7ADE-B64E-8DDE-E0C29C0824CE}" destId="{3142DD91-2917-CC41-9BFA-CF928F5CC795}" srcOrd="2" destOrd="0" presId="urn:microsoft.com/office/officeart/2005/8/layout/lProcess1"/>
    <dgm:cxn modelId="{0530D7BD-DE73-F047-80D3-0963A3DB529C}" type="presParOf" srcId="{E4E6EE3A-7ADE-B64E-8DDE-E0C29C0824CE}" destId="{2D23DC65-2635-7547-AB3F-AED6672AFFE6}" srcOrd="3" destOrd="0" presId="urn:microsoft.com/office/officeart/2005/8/layout/lProcess1"/>
    <dgm:cxn modelId="{7F3F0F82-FBFB-1549-9436-FEE63464B7DA}" type="presParOf" srcId="{E4E6EE3A-7ADE-B64E-8DDE-E0C29C0824CE}" destId="{4A68EEB7-D5C7-EF47-A954-BD8607821E05}" srcOrd="4" destOrd="0" presId="urn:microsoft.com/office/officeart/2005/8/layout/lProcess1"/>
    <dgm:cxn modelId="{48189F65-9AC9-1842-9021-1DA9968AF5A5}" type="presParOf" srcId="{E7C7B2B5-6455-8040-824D-D654BFFEB931}" destId="{F2FC77B0-0C49-5C4A-9569-70B77E8CC044}" srcOrd="1" destOrd="0" presId="urn:microsoft.com/office/officeart/2005/8/layout/lProcess1"/>
    <dgm:cxn modelId="{88F6AECC-349B-0949-B204-92E4A70F306D}" type="presParOf" srcId="{E7C7B2B5-6455-8040-824D-D654BFFEB931}" destId="{40B8AF06-51F8-2445-91E5-963B915B6C20}" srcOrd="2" destOrd="0" presId="urn:microsoft.com/office/officeart/2005/8/layout/lProcess1"/>
    <dgm:cxn modelId="{996146F2-DE2B-3342-9C54-C93CB7A75F0A}" type="presParOf" srcId="{40B8AF06-51F8-2445-91E5-963B915B6C20}" destId="{59333D82-04E3-344E-9F6D-7A52667AD3BD}" srcOrd="0" destOrd="0" presId="urn:microsoft.com/office/officeart/2005/8/layout/lProcess1"/>
    <dgm:cxn modelId="{E0AA1F7D-0319-6E45-8F4B-3D5D0BD02F18}" type="presParOf" srcId="{40B8AF06-51F8-2445-91E5-963B915B6C20}" destId="{23FB0AB2-D708-C74D-9705-EFCC30F8BF72}" srcOrd="1" destOrd="0" presId="urn:microsoft.com/office/officeart/2005/8/layout/lProcess1"/>
    <dgm:cxn modelId="{B84C78E1-C430-B241-A285-55AF1B976296}" type="presParOf" srcId="{40B8AF06-51F8-2445-91E5-963B915B6C20}" destId="{7F36AA80-5C05-2F49-B7E9-B7C655619CE6}" srcOrd="2" destOrd="0" presId="urn:microsoft.com/office/officeart/2005/8/layout/lProcess1"/>
    <dgm:cxn modelId="{4E672A77-DE3A-D947-95ED-A28F976F268E}" type="presParOf" srcId="{40B8AF06-51F8-2445-91E5-963B915B6C20}" destId="{B3C789D7-F7F9-6047-9980-E16EE5BCCF23}" srcOrd="3" destOrd="0" presId="urn:microsoft.com/office/officeart/2005/8/layout/lProcess1"/>
    <dgm:cxn modelId="{1E01FE6C-F0E5-574B-A5D7-756D56E97FFE}" type="presParOf" srcId="{40B8AF06-51F8-2445-91E5-963B915B6C20}" destId="{70DA93BB-D5B7-C048-B918-81E67A7815CD}" srcOrd="4"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7650EC2-3906-EE4D-99B6-52E8505A13EA}" type="doc">
      <dgm:prSet loTypeId="urn:microsoft.com/office/officeart/2005/8/layout/hProcess11" loCatId="process" qsTypeId="urn:microsoft.com/office/officeart/2005/8/quickstyle/simple4" qsCatId="simple" csTypeId="urn:microsoft.com/office/officeart/2005/8/colors/accent1_2" csCatId="accent1" phldr="1"/>
      <dgm:spPr/>
      <dgm:t>
        <a:bodyPr/>
        <a:lstStyle/>
        <a:p>
          <a:endParaRPr lang="en-US"/>
        </a:p>
      </dgm:t>
    </dgm:pt>
    <dgm:pt modelId="{5B6B42DC-180D-2C44-9DFE-621EB3A413E3}">
      <dgm:prSet/>
      <dgm:spPr/>
      <dgm:t>
        <a:bodyPr/>
        <a:lstStyle/>
        <a:p>
          <a:pPr rtl="0"/>
          <a:r>
            <a:rPr lang="en-US" dirty="0"/>
            <a:t>When a block of data is retrieved and placed in the cache not only the desired word but also some number of adjacent words are retrieved</a:t>
          </a:r>
        </a:p>
      </dgm:t>
    </dgm:pt>
    <dgm:pt modelId="{79853258-A707-244A-8DC0-2A5919944FA8}" type="parTrans" cxnId="{4EB596E6-A252-1B44-BE4C-ED417B2E3407}">
      <dgm:prSet/>
      <dgm:spPr/>
      <dgm:t>
        <a:bodyPr/>
        <a:lstStyle/>
        <a:p>
          <a:endParaRPr lang="en-US"/>
        </a:p>
      </dgm:t>
    </dgm:pt>
    <dgm:pt modelId="{45D4D0F6-B95E-FC41-B725-24925D1EBB4A}" type="sibTrans" cxnId="{4EB596E6-A252-1B44-BE4C-ED417B2E3407}">
      <dgm:prSet/>
      <dgm:spPr/>
      <dgm:t>
        <a:bodyPr/>
        <a:lstStyle/>
        <a:p>
          <a:endParaRPr lang="en-US"/>
        </a:p>
      </dgm:t>
    </dgm:pt>
    <dgm:pt modelId="{7E4B0266-2C09-4B42-84DD-77F3BF44AA33}">
      <dgm:prSet/>
      <dgm:spPr/>
      <dgm:t>
        <a:bodyPr/>
        <a:lstStyle/>
        <a:p>
          <a:pPr rtl="0"/>
          <a:r>
            <a:rPr lang="en-US" dirty="0"/>
            <a:t>As the block size increases the hit ratio will at first increase because of the principle of locality</a:t>
          </a:r>
        </a:p>
      </dgm:t>
    </dgm:pt>
    <dgm:pt modelId="{B2DE85CC-8698-0A49-AC3A-F39A0D1AD37B}" type="parTrans" cxnId="{A9826430-0010-1143-A8E6-9C1D0B5CAC8E}">
      <dgm:prSet/>
      <dgm:spPr/>
      <dgm:t>
        <a:bodyPr/>
        <a:lstStyle/>
        <a:p>
          <a:endParaRPr lang="en-US"/>
        </a:p>
      </dgm:t>
    </dgm:pt>
    <dgm:pt modelId="{AC1784D6-D722-A44D-9F6B-F8A88CECCAC0}" type="sibTrans" cxnId="{A9826430-0010-1143-A8E6-9C1D0B5CAC8E}">
      <dgm:prSet/>
      <dgm:spPr/>
      <dgm:t>
        <a:bodyPr/>
        <a:lstStyle/>
        <a:p>
          <a:endParaRPr lang="en-US"/>
        </a:p>
      </dgm:t>
    </dgm:pt>
    <dgm:pt modelId="{6D4E4D78-7E0E-CB4B-BF2A-942DFF8A9079}">
      <dgm:prSet/>
      <dgm:spPr/>
      <dgm:t>
        <a:bodyPr/>
        <a:lstStyle/>
        <a:p>
          <a:pPr rtl="0"/>
          <a:r>
            <a:rPr lang="en-US" dirty="0"/>
            <a:t>As the block size increases more useful data are brought into the cache</a:t>
          </a:r>
        </a:p>
      </dgm:t>
    </dgm:pt>
    <dgm:pt modelId="{F6B70ABC-BA85-7E4E-9780-816FB53EFF37}" type="parTrans" cxnId="{3CE94B4C-BB8E-0646-9CBA-9B3899C2D6DE}">
      <dgm:prSet/>
      <dgm:spPr/>
      <dgm:t>
        <a:bodyPr/>
        <a:lstStyle/>
        <a:p>
          <a:endParaRPr lang="en-US"/>
        </a:p>
      </dgm:t>
    </dgm:pt>
    <dgm:pt modelId="{E466F655-C131-5F49-A04F-F20B04EB95D6}" type="sibTrans" cxnId="{3CE94B4C-BB8E-0646-9CBA-9B3899C2D6DE}">
      <dgm:prSet/>
      <dgm:spPr/>
      <dgm:t>
        <a:bodyPr/>
        <a:lstStyle/>
        <a:p>
          <a:endParaRPr lang="en-US"/>
        </a:p>
      </dgm:t>
    </dgm:pt>
    <dgm:pt modelId="{CC2A14A7-D578-EF4F-957C-71E2D8CD49CE}">
      <dgm:prSet/>
      <dgm:spPr/>
      <dgm:t>
        <a:bodyPr/>
        <a:lstStyle/>
        <a:p>
          <a:pPr rtl="0"/>
          <a:r>
            <a:rPr lang="en-US" dirty="0"/>
            <a:t>The hit ratio will begin to decrease as the block becomes bigger and the probability of using the newly fetched information becomes less than the probability of reusing the information that has to be replaced</a:t>
          </a:r>
        </a:p>
      </dgm:t>
    </dgm:pt>
    <dgm:pt modelId="{663FB13C-CAE1-114E-8144-1A1B85492C8D}" type="parTrans" cxnId="{DB6F3B08-DC87-A540-8327-31699B875EB7}">
      <dgm:prSet/>
      <dgm:spPr/>
      <dgm:t>
        <a:bodyPr/>
        <a:lstStyle/>
        <a:p>
          <a:endParaRPr lang="en-US"/>
        </a:p>
      </dgm:t>
    </dgm:pt>
    <dgm:pt modelId="{734AC39B-C291-1044-9103-3061DBE159B8}" type="sibTrans" cxnId="{DB6F3B08-DC87-A540-8327-31699B875EB7}">
      <dgm:prSet/>
      <dgm:spPr/>
      <dgm:t>
        <a:bodyPr/>
        <a:lstStyle/>
        <a:p>
          <a:endParaRPr lang="en-US"/>
        </a:p>
      </dgm:t>
    </dgm:pt>
    <dgm:pt modelId="{20D4E23A-A8C0-A64F-83DC-F2A8EAB7F4CD}">
      <dgm:prSet/>
      <dgm:spPr/>
      <dgm:t>
        <a:bodyPr/>
        <a:lstStyle/>
        <a:p>
          <a:pPr rtl="0"/>
          <a:r>
            <a:rPr lang="en-US" dirty="0"/>
            <a:t>Two specific effects come into play:</a:t>
          </a:r>
        </a:p>
      </dgm:t>
    </dgm:pt>
    <dgm:pt modelId="{ED2AA20C-3ACF-A948-9954-9C9BE02CD2F6}" type="parTrans" cxnId="{3CD89C6C-0A2A-1742-9032-7902D3D24ED9}">
      <dgm:prSet/>
      <dgm:spPr/>
      <dgm:t>
        <a:bodyPr/>
        <a:lstStyle/>
        <a:p>
          <a:endParaRPr lang="en-US"/>
        </a:p>
      </dgm:t>
    </dgm:pt>
    <dgm:pt modelId="{02D8CFC9-ECAC-574C-8D5A-0109EA6B2347}" type="sibTrans" cxnId="{3CD89C6C-0A2A-1742-9032-7902D3D24ED9}">
      <dgm:prSet/>
      <dgm:spPr/>
      <dgm:t>
        <a:bodyPr/>
        <a:lstStyle/>
        <a:p>
          <a:endParaRPr lang="en-US"/>
        </a:p>
      </dgm:t>
    </dgm:pt>
    <dgm:pt modelId="{13ABDB85-1AA7-8A4F-9B86-A67B203C6F4E}">
      <dgm:prSet/>
      <dgm:spPr/>
      <dgm:t>
        <a:bodyPr/>
        <a:lstStyle/>
        <a:p>
          <a:pPr rtl="0"/>
          <a:r>
            <a:rPr lang="en-US" dirty="0"/>
            <a:t>Larger blocks reduce the number of blocks that fit into a cache</a:t>
          </a:r>
        </a:p>
      </dgm:t>
    </dgm:pt>
    <dgm:pt modelId="{5C2C4B71-AFED-B04E-80D7-F42C9FFC1698}" type="parTrans" cxnId="{2AA411CA-447E-F14A-8153-EFB312396FCA}">
      <dgm:prSet/>
      <dgm:spPr/>
      <dgm:t>
        <a:bodyPr/>
        <a:lstStyle/>
        <a:p>
          <a:endParaRPr lang="en-US"/>
        </a:p>
      </dgm:t>
    </dgm:pt>
    <dgm:pt modelId="{404F7357-1746-CA47-8763-050B64A19C54}" type="sibTrans" cxnId="{2AA411CA-447E-F14A-8153-EFB312396FCA}">
      <dgm:prSet/>
      <dgm:spPr/>
      <dgm:t>
        <a:bodyPr/>
        <a:lstStyle/>
        <a:p>
          <a:endParaRPr lang="en-US"/>
        </a:p>
      </dgm:t>
    </dgm:pt>
    <dgm:pt modelId="{9AACB277-EEDE-6E44-8EA9-24A915619A59}">
      <dgm:prSet/>
      <dgm:spPr/>
      <dgm:t>
        <a:bodyPr/>
        <a:lstStyle/>
        <a:p>
          <a:pPr rtl="0"/>
          <a:r>
            <a:rPr lang="en-GB" dirty="0"/>
            <a:t>As a block becomes larger each additional word is farther from the requested word</a:t>
          </a:r>
        </a:p>
      </dgm:t>
    </dgm:pt>
    <dgm:pt modelId="{FA4FA404-3EA5-3645-9B41-C76B1C515D87}" type="parTrans" cxnId="{7857E002-1908-4844-82CE-546EB08AF9C2}">
      <dgm:prSet/>
      <dgm:spPr/>
      <dgm:t>
        <a:bodyPr/>
        <a:lstStyle/>
        <a:p>
          <a:endParaRPr lang="en-US"/>
        </a:p>
      </dgm:t>
    </dgm:pt>
    <dgm:pt modelId="{9F7F01B0-F245-E94E-9C9E-800533E82E2E}" type="sibTrans" cxnId="{7857E002-1908-4844-82CE-546EB08AF9C2}">
      <dgm:prSet/>
      <dgm:spPr/>
      <dgm:t>
        <a:bodyPr/>
        <a:lstStyle/>
        <a:p>
          <a:endParaRPr lang="en-US"/>
        </a:p>
      </dgm:t>
    </dgm:pt>
    <dgm:pt modelId="{F199CCFF-B029-CE4A-86B7-ED578FD9114D}" type="pres">
      <dgm:prSet presAssocID="{17650EC2-3906-EE4D-99B6-52E8505A13EA}" presName="Name0" presStyleCnt="0">
        <dgm:presLayoutVars>
          <dgm:dir/>
          <dgm:resizeHandles val="exact"/>
        </dgm:presLayoutVars>
      </dgm:prSet>
      <dgm:spPr/>
    </dgm:pt>
    <dgm:pt modelId="{04A98750-A22E-E144-85E8-F4570D51A474}" type="pres">
      <dgm:prSet presAssocID="{17650EC2-3906-EE4D-99B6-52E8505A13EA}" presName="arrow" presStyleLbl="bgShp" presStyleIdx="0" presStyleCnt="1"/>
      <dgm:spPr>
        <a:ln>
          <a:solidFill>
            <a:schemeClr val="accent3"/>
          </a:solidFill>
        </a:ln>
      </dgm:spPr>
    </dgm:pt>
    <dgm:pt modelId="{E29933DD-14FF-D646-9182-AF0745E36C6B}" type="pres">
      <dgm:prSet presAssocID="{17650EC2-3906-EE4D-99B6-52E8505A13EA}" presName="points" presStyleCnt="0"/>
      <dgm:spPr/>
    </dgm:pt>
    <dgm:pt modelId="{9F4561B0-FB1D-E849-A924-AF550FF61B19}" type="pres">
      <dgm:prSet presAssocID="{5B6B42DC-180D-2C44-9DFE-621EB3A413E3}" presName="compositeA" presStyleCnt="0"/>
      <dgm:spPr/>
    </dgm:pt>
    <dgm:pt modelId="{57FE2081-BE33-2C4A-891E-2BB614041C39}" type="pres">
      <dgm:prSet presAssocID="{5B6B42DC-180D-2C44-9DFE-621EB3A413E3}" presName="textA" presStyleLbl="revTx" presStyleIdx="0" presStyleCnt="5">
        <dgm:presLayoutVars>
          <dgm:bulletEnabled val="1"/>
        </dgm:presLayoutVars>
      </dgm:prSet>
      <dgm:spPr/>
    </dgm:pt>
    <dgm:pt modelId="{097B1AA5-F856-8742-B675-F1FF43B6838A}" type="pres">
      <dgm:prSet presAssocID="{5B6B42DC-180D-2C44-9DFE-621EB3A413E3}" presName="circleA" presStyleLbl="node1" presStyleIdx="0" presStyleCnt="5" custLinFactNeighborX="21495" custLinFactNeighborY="-2941"/>
      <dgm:spPr>
        <a:solidFill>
          <a:schemeClr val="accent4"/>
        </a:solidFill>
        <a:ln>
          <a:solidFill>
            <a:schemeClr val="accent4"/>
          </a:solidFill>
        </a:ln>
      </dgm:spPr>
    </dgm:pt>
    <dgm:pt modelId="{7C50CEA0-FBF5-654C-A27E-2CC490527C99}" type="pres">
      <dgm:prSet presAssocID="{5B6B42DC-180D-2C44-9DFE-621EB3A413E3}" presName="spaceA" presStyleCnt="0"/>
      <dgm:spPr/>
    </dgm:pt>
    <dgm:pt modelId="{05917DBA-1291-8E48-AFEC-0533D1075C36}" type="pres">
      <dgm:prSet presAssocID="{45D4D0F6-B95E-FC41-B725-24925D1EBB4A}" presName="space" presStyleCnt="0"/>
      <dgm:spPr/>
    </dgm:pt>
    <dgm:pt modelId="{23ABF949-F6B5-4B42-BDC1-CE64B6127029}" type="pres">
      <dgm:prSet presAssocID="{7E4B0266-2C09-4B42-84DD-77F3BF44AA33}" presName="compositeB" presStyleCnt="0"/>
      <dgm:spPr/>
    </dgm:pt>
    <dgm:pt modelId="{396BDE89-FCC1-E541-9ADE-A4D83F72FFEA}" type="pres">
      <dgm:prSet presAssocID="{7E4B0266-2C09-4B42-84DD-77F3BF44AA33}" presName="textB" presStyleLbl="revTx" presStyleIdx="1" presStyleCnt="5">
        <dgm:presLayoutVars>
          <dgm:bulletEnabled val="1"/>
        </dgm:presLayoutVars>
      </dgm:prSet>
      <dgm:spPr/>
    </dgm:pt>
    <dgm:pt modelId="{9F37F097-1721-134F-83A5-6A4E0CCF062D}" type="pres">
      <dgm:prSet presAssocID="{7E4B0266-2C09-4B42-84DD-77F3BF44AA33}" presName="circleB" presStyleLbl="node1" presStyleIdx="1" presStyleCnt="5"/>
      <dgm:spPr>
        <a:solidFill>
          <a:schemeClr val="accent3"/>
        </a:solidFill>
        <a:ln>
          <a:solidFill>
            <a:schemeClr val="accent3"/>
          </a:solidFill>
        </a:ln>
      </dgm:spPr>
    </dgm:pt>
    <dgm:pt modelId="{FBD1F262-0290-9E4F-89DC-4C5F47E8D4E6}" type="pres">
      <dgm:prSet presAssocID="{7E4B0266-2C09-4B42-84DD-77F3BF44AA33}" presName="spaceB" presStyleCnt="0"/>
      <dgm:spPr/>
    </dgm:pt>
    <dgm:pt modelId="{B90B3353-0660-EF44-9D1B-0C1FCFF2EDC7}" type="pres">
      <dgm:prSet presAssocID="{AC1784D6-D722-A44D-9F6B-F8A88CECCAC0}" presName="space" presStyleCnt="0"/>
      <dgm:spPr/>
    </dgm:pt>
    <dgm:pt modelId="{53B4EC22-9CD5-7845-97BE-AB34A1C7133A}" type="pres">
      <dgm:prSet presAssocID="{6D4E4D78-7E0E-CB4B-BF2A-942DFF8A9079}" presName="compositeA" presStyleCnt="0"/>
      <dgm:spPr/>
    </dgm:pt>
    <dgm:pt modelId="{68450F65-B7D1-C442-9387-26EE68DE0405}" type="pres">
      <dgm:prSet presAssocID="{6D4E4D78-7E0E-CB4B-BF2A-942DFF8A9079}" presName="textA" presStyleLbl="revTx" presStyleIdx="2" presStyleCnt="5">
        <dgm:presLayoutVars>
          <dgm:bulletEnabled val="1"/>
        </dgm:presLayoutVars>
      </dgm:prSet>
      <dgm:spPr/>
    </dgm:pt>
    <dgm:pt modelId="{B4780650-EFE4-A94C-974F-2DDEC86E194B}" type="pres">
      <dgm:prSet presAssocID="{6D4E4D78-7E0E-CB4B-BF2A-942DFF8A9079}" presName="circleA" presStyleLbl="node1" presStyleIdx="2" presStyleCnt="5"/>
      <dgm:spPr>
        <a:ln>
          <a:solidFill>
            <a:schemeClr val="accent1"/>
          </a:solidFill>
        </a:ln>
      </dgm:spPr>
    </dgm:pt>
    <dgm:pt modelId="{EFEB2126-D80B-D446-B5FA-29DEFA5AEBF6}" type="pres">
      <dgm:prSet presAssocID="{6D4E4D78-7E0E-CB4B-BF2A-942DFF8A9079}" presName="spaceA" presStyleCnt="0"/>
      <dgm:spPr/>
    </dgm:pt>
    <dgm:pt modelId="{B18B6DB3-0787-274A-AA97-5AD6B8B4B260}" type="pres">
      <dgm:prSet presAssocID="{E466F655-C131-5F49-A04F-F20B04EB95D6}" presName="space" presStyleCnt="0"/>
      <dgm:spPr/>
    </dgm:pt>
    <dgm:pt modelId="{6F60F3E6-B141-1B45-AD58-1956E8B219C6}" type="pres">
      <dgm:prSet presAssocID="{CC2A14A7-D578-EF4F-957C-71E2D8CD49CE}" presName="compositeB" presStyleCnt="0"/>
      <dgm:spPr/>
    </dgm:pt>
    <dgm:pt modelId="{AECA710D-D355-E646-A7BB-EB328F5C2643}" type="pres">
      <dgm:prSet presAssocID="{CC2A14A7-D578-EF4F-957C-71E2D8CD49CE}" presName="textB" presStyleLbl="revTx" presStyleIdx="3" presStyleCnt="5">
        <dgm:presLayoutVars>
          <dgm:bulletEnabled val="1"/>
        </dgm:presLayoutVars>
      </dgm:prSet>
      <dgm:spPr/>
    </dgm:pt>
    <dgm:pt modelId="{601860E8-A992-8F42-AA96-D113C1174D42}" type="pres">
      <dgm:prSet presAssocID="{CC2A14A7-D578-EF4F-957C-71E2D8CD49CE}" presName="circleB" presStyleLbl="node1" presStyleIdx="3" presStyleCnt="5"/>
      <dgm:spPr>
        <a:solidFill>
          <a:schemeClr val="accent3"/>
        </a:solidFill>
        <a:ln>
          <a:solidFill>
            <a:schemeClr val="accent3"/>
          </a:solidFill>
        </a:ln>
      </dgm:spPr>
    </dgm:pt>
    <dgm:pt modelId="{578AEAA6-9D49-0745-B77B-68013B13807B}" type="pres">
      <dgm:prSet presAssocID="{CC2A14A7-D578-EF4F-957C-71E2D8CD49CE}" presName="spaceB" presStyleCnt="0"/>
      <dgm:spPr/>
    </dgm:pt>
    <dgm:pt modelId="{9A0895CD-09BB-EF46-A7BD-0F9B39417ADA}" type="pres">
      <dgm:prSet presAssocID="{734AC39B-C291-1044-9103-3061DBE159B8}" presName="space" presStyleCnt="0"/>
      <dgm:spPr/>
    </dgm:pt>
    <dgm:pt modelId="{02705322-08FA-CA44-9F93-297329281E34}" type="pres">
      <dgm:prSet presAssocID="{20D4E23A-A8C0-A64F-83DC-F2A8EAB7F4CD}" presName="compositeA" presStyleCnt="0"/>
      <dgm:spPr/>
    </dgm:pt>
    <dgm:pt modelId="{4F7426FF-C59C-8C4E-BCA5-97FDAC08690A}" type="pres">
      <dgm:prSet presAssocID="{20D4E23A-A8C0-A64F-83DC-F2A8EAB7F4CD}" presName="textA" presStyleLbl="revTx" presStyleIdx="4" presStyleCnt="5" custScaleX="114640" custLinFactNeighborX="-23950" custLinFactNeighborY="-2941">
        <dgm:presLayoutVars>
          <dgm:bulletEnabled val="1"/>
        </dgm:presLayoutVars>
      </dgm:prSet>
      <dgm:spPr/>
    </dgm:pt>
    <dgm:pt modelId="{C10A1FA9-FE59-1849-8BB4-2C6ADF800F55}" type="pres">
      <dgm:prSet presAssocID="{20D4E23A-A8C0-A64F-83DC-F2A8EAB7F4CD}" presName="circleA" presStyleLbl="node1" presStyleIdx="4" presStyleCnt="5" custLinFactNeighborX="-37226" custLinFactNeighborY="-2941"/>
      <dgm:spPr>
        <a:solidFill>
          <a:schemeClr val="accent4"/>
        </a:solidFill>
        <a:ln>
          <a:solidFill>
            <a:schemeClr val="accent4"/>
          </a:solidFill>
        </a:ln>
      </dgm:spPr>
    </dgm:pt>
    <dgm:pt modelId="{F977441F-F26B-204C-B0AF-9866F7BC5CF9}" type="pres">
      <dgm:prSet presAssocID="{20D4E23A-A8C0-A64F-83DC-F2A8EAB7F4CD}" presName="spaceA" presStyleCnt="0"/>
      <dgm:spPr/>
    </dgm:pt>
  </dgm:ptLst>
  <dgm:cxnLst>
    <dgm:cxn modelId="{7857E002-1908-4844-82CE-546EB08AF9C2}" srcId="{20D4E23A-A8C0-A64F-83DC-F2A8EAB7F4CD}" destId="{9AACB277-EEDE-6E44-8EA9-24A915619A59}" srcOrd="1" destOrd="0" parTransId="{FA4FA404-3EA5-3645-9B41-C76B1C515D87}" sibTransId="{9F7F01B0-F245-E94E-9C9E-800533E82E2E}"/>
    <dgm:cxn modelId="{DB6F3B08-DC87-A540-8327-31699B875EB7}" srcId="{17650EC2-3906-EE4D-99B6-52E8505A13EA}" destId="{CC2A14A7-D578-EF4F-957C-71E2D8CD49CE}" srcOrd="3" destOrd="0" parTransId="{663FB13C-CAE1-114E-8144-1A1B85492C8D}" sibTransId="{734AC39B-C291-1044-9103-3061DBE159B8}"/>
    <dgm:cxn modelId="{918EB52C-3781-1642-AB7F-F7F85A669759}" type="presOf" srcId="{9AACB277-EEDE-6E44-8EA9-24A915619A59}" destId="{4F7426FF-C59C-8C4E-BCA5-97FDAC08690A}" srcOrd="0" destOrd="2" presId="urn:microsoft.com/office/officeart/2005/8/layout/hProcess11"/>
    <dgm:cxn modelId="{A9826430-0010-1143-A8E6-9C1D0B5CAC8E}" srcId="{17650EC2-3906-EE4D-99B6-52E8505A13EA}" destId="{7E4B0266-2C09-4B42-84DD-77F3BF44AA33}" srcOrd="1" destOrd="0" parTransId="{B2DE85CC-8698-0A49-AC3A-F39A0D1AD37B}" sibTransId="{AC1784D6-D722-A44D-9F6B-F8A88CECCAC0}"/>
    <dgm:cxn modelId="{3CE94B4C-BB8E-0646-9CBA-9B3899C2D6DE}" srcId="{17650EC2-3906-EE4D-99B6-52E8505A13EA}" destId="{6D4E4D78-7E0E-CB4B-BF2A-942DFF8A9079}" srcOrd="2" destOrd="0" parTransId="{F6B70ABC-BA85-7E4E-9780-816FB53EFF37}" sibTransId="{E466F655-C131-5F49-A04F-F20B04EB95D6}"/>
    <dgm:cxn modelId="{3CD89C6C-0A2A-1742-9032-7902D3D24ED9}" srcId="{17650EC2-3906-EE4D-99B6-52E8505A13EA}" destId="{20D4E23A-A8C0-A64F-83DC-F2A8EAB7F4CD}" srcOrd="4" destOrd="0" parTransId="{ED2AA20C-3ACF-A948-9954-9C9BE02CD2F6}" sibTransId="{02D8CFC9-ECAC-574C-8D5A-0109EA6B2347}"/>
    <dgm:cxn modelId="{943D786D-F021-7742-AC1E-F352812DF33A}" type="presOf" srcId="{5B6B42DC-180D-2C44-9DFE-621EB3A413E3}" destId="{57FE2081-BE33-2C4A-891E-2BB614041C39}" srcOrd="0" destOrd="0" presId="urn:microsoft.com/office/officeart/2005/8/layout/hProcess11"/>
    <dgm:cxn modelId="{FB62F87E-5F14-2548-B666-6831F8AAFC52}" type="presOf" srcId="{13ABDB85-1AA7-8A4F-9B86-A67B203C6F4E}" destId="{4F7426FF-C59C-8C4E-BCA5-97FDAC08690A}" srcOrd="0" destOrd="1" presId="urn:microsoft.com/office/officeart/2005/8/layout/hProcess11"/>
    <dgm:cxn modelId="{3DE05190-EE84-F543-9CD1-D6975C2CC94E}" type="presOf" srcId="{20D4E23A-A8C0-A64F-83DC-F2A8EAB7F4CD}" destId="{4F7426FF-C59C-8C4E-BCA5-97FDAC08690A}" srcOrd="0" destOrd="0" presId="urn:microsoft.com/office/officeart/2005/8/layout/hProcess11"/>
    <dgm:cxn modelId="{78442B91-2042-644C-B78D-2EF10D398BF0}" type="presOf" srcId="{17650EC2-3906-EE4D-99B6-52E8505A13EA}" destId="{F199CCFF-B029-CE4A-86B7-ED578FD9114D}" srcOrd="0" destOrd="0" presId="urn:microsoft.com/office/officeart/2005/8/layout/hProcess11"/>
    <dgm:cxn modelId="{FE75EA9E-6D68-3643-BFE0-D11D5A65005F}" type="presOf" srcId="{6D4E4D78-7E0E-CB4B-BF2A-942DFF8A9079}" destId="{68450F65-B7D1-C442-9387-26EE68DE0405}" srcOrd="0" destOrd="0" presId="urn:microsoft.com/office/officeart/2005/8/layout/hProcess11"/>
    <dgm:cxn modelId="{2AA411CA-447E-F14A-8153-EFB312396FCA}" srcId="{20D4E23A-A8C0-A64F-83DC-F2A8EAB7F4CD}" destId="{13ABDB85-1AA7-8A4F-9B86-A67B203C6F4E}" srcOrd="0" destOrd="0" parTransId="{5C2C4B71-AFED-B04E-80D7-F42C9FFC1698}" sibTransId="{404F7357-1746-CA47-8763-050B64A19C54}"/>
    <dgm:cxn modelId="{8B02F1D2-EBF0-FD4B-8449-0EF6FC27FE2E}" type="presOf" srcId="{CC2A14A7-D578-EF4F-957C-71E2D8CD49CE}" destId="{AECA710D-D355-E646-A7BB-EB328F5C2643}" srcOrd="0" destOrd="0" presId="urn:microsoft.com/office/officeart/2005/8/layout/hProcess11"/>
    <dgm:cxn modelId="{01EB26D8-B632-734B-9491-E6A79DB4FC19}" type="presOf" srcId="{7E4B0266-2C09-4B42-84DD-77F3BF44AA33}" destId="{396BDE89-FCC1-E541-9ADE-A4D83F72FFEA}" srcOrd="0" destOrd="0" presId="urn:microsoft.com/office/officeart/2005/8/layout/hProcess11"/>
    <dgm:cxn modelId="{4EB596E6-A252-1B44-BE4C-ED417B2E3407}" srcId="{17650EC2-3906-EE4D-99B6-52E8505A13EA}" destId="{5B6B42DC-180D-2C44-9DFE-621EB3A413E3}" srcOrd="0" destOrd="0" parTransId="{79853258-A707-244A-8DC0-2A5919944FA8}" sibTransId="{45D4D0F6-B95E-FC41-B725-24925D1EBB4A}"/>
    <dgm:cxn modelId="{42CE8864-B2B5-A24C-BE91-81F75814E37D}" type="presParOf" srcId="{F199CCFF-B029-CE4A-86B7-ED578FD9114D}" destId="{04A98750-A22E-E144-85E8-F4570D51A474}" srcOrd="0" destOrd="0" presId="urn:microsoft.com/office/officeart/2005/8/layout/hProcess11"/>
    <dgm:cxn modelId="{313CF6D9-6B3A-614D-994B-44CE57459543}" type="presParOf" srcId="{F199CCFF-B029-CE4A-86B7-ED578FD9114D}" destId="{E29933DD-14FF-D646-9182-AF0745E36C6B}" srcOrd="1" destOrd="0" presId="urn:microsoft.com/office/officeart/2005/8/layout/hProcess11"/>
    <dgm:cxn modelId="{9EB85F9D-9A45-5042-AC3C-05C3A84AE82F}" type="presParOf" srcId="{E29933DD-14FF-D646-9182-AF0745E36C6B}" destId="{9F4561B0-FB1D-E849-A924-AF550FF61B19}" srcOrd="0" destOrd="0" presId="urn:microsoft.com/office/officeart/2005/8/layout/hProcess11"/>
    <dgm:cxn modelId="{957FD8ED-2948-D045-9E72-B0AC06B3650E}" type="presParOf" srcId="{9F4561B0-FB1D-E849-A924-AF550FF61B19}" destId="{57FE2081-BE33-2C4A-891E-2BB614041C39}" srcOrd="0" destOrd="0" presId="urn:microsoft.com/office/officeart/2005/8/layout/hProcess11"/>
    <dgm:cxn modelId="{75FAAF92-6237-3C48-A7AE-E9CDB53563FD}" type="presParOf" srcId="{9F4561B0-FB1D-E849-A924-AF550FF61B19}" destId="{097B1AA5-F856-8742-B675-F1FF43B6838A}" srcOrd="1" destOrd="0" presId="urn:microsoft.com/office/officeart/2005/8/layout/hProcess11"/>
    <dgm:cxn modelId="{4A2CBCF9-7D9D-1847-9086-A044F08E32AB}" type="presParOf" srcId="{9F4561B0-FB1D-E849-A924-AF550FF61B19}" destId="{7C50CEA0-FBF5-654C-A27E-2CC490527C99}" srcOrd="2" destOrd="0" presId="urn:microsoft.com/office/officeart/2005/8/layout/hProcess11"/>
    <dgm:cxn modelId="{0161A828-D15F-384E-B29E-6F2B6B2CC9E9}" type="presParOf" srcId="{E29933DD-14FF-D646-9182-AF0745E36C6B}" destId="{05917DBA-1291-8E48-AFEC-0533D1075C36}" srcOrd="1" destOrd="0" presId="urn:microsoft.com/office/officeart/2005/8/layout/hProcess11"/>
    <dgm:cxn modelId="{AF47BBF3-0ECB-4F43-99C3-DFAA996D6BB4}" type="presParOf" srcId="{E29933DD-14FF-D646-9182-AF0745E36C6B}" destId="{23ABF949-F6B5-4B42-BDC1-CE64B6127029}" srcOrd="2" destOrd="0" presId="urn:microsoft.com/office/officeart/2005/8/layout/hProcess11"/>
    <dgm:cxn modelId="{A39B0438-0A3B-2549-A7DD-0CBC0F0EEB24}" type="presParOf" srcId="{23ABF949-F6B5-4B42-BDC1-CE64B6127029}" destId="{396BDE89-FCC1-E541-9ADE-A4D83F72FFEA}" srcOrd="0" destOrd="0" presId="urn:microsoft.com/office/officeart/2005/8/layout/hProcess11"/>
    <dgm:cxn modelId="{B9C1F074-DF67-CA41-BE68-4B286F17BDEA}" type="presParOf" srcId="{23ABF949-F6B5-4B42-BDC1-CE64B6127029}" destId="{9F37F097-1721-134F-83A5-6A4E0CCF062D}" srcOrd="1" destOrd="0" presId="urn:microsoft.com/office/officeart/2005/8/layout/hProcess11"/>
    <dgm:cxn modelId="{D9773A1F-E913-B147-A797-2967D46BB110}" type="presParOf" srcId="{23ABF949-F6B5-4B42-BDC1-CE64B6127029}" destId="{FBD1F262-0290-9E4F-89DC-4C5F47E8D4E6}" srcOrd="2" destOrd="0" presId="urn:microsoft.com/office/officeart/2005/8/layout/hProcess11"/>
    <dgm:cxn modelId="{DCF661E8-FF06-D84E-874D-AA9DD6861B73}" type="presParOf" srcId="{E29933DD-14FF-D646-9182-AF0745E36C6B}" destId="{B90B3353-0660-EF44-9D1B-0C1FCFF2EDC7}" srcOrd="3" destOrd="0" presId="urn:microsoft.com/office/officeart/2005/8/layout/hProcess11"/>
    <dgm:cxn modelId="{840E1377-E514-734A-8D19-DED32C5BD20B}" type="presParOf" srcId="{E29933DD-14FF-D646-9182-AF0745E36C6B}" destId="{53B4EC22-9CD5-7845-97BE-AB34A1C7133A}" srcOrd="4" destOrd="0" presId="urn:microsoft.com/office/officeart/2005/8/layout/hProcess11"/>
    <dgm:cxn modelId="{1E87A325-C4D6-3847-891E-EFAE01B7259F}" type="presParOf" srcId="{53B4EC22-9CD5-7845-97BE-AB34A1C7133A}" destId="{68450F65-B7D1-C442-9387-26EE68DE0405}" srcOrd="0" destOrd="0" presId="urn:microsoft.com/office/officeart/2005/8/layout/hProcess11"/>
    <dgm:cxn modelId="{3AFFDA78-1BAC-284E-ADFA-E6C61D665489}" type="presParOf" srcId="{53B4EC22-9CD5-7845-97BE-AB34A1C7133A}" destId="{B4780650-EFE4-A94C-974F-2DDEC86E194B}" srcOrd="1" destOrd="0" presId="urn:microsoft.com/office/officeart/2005/8/layout/hProcess11"/>
    <dgm:cxn modelId="{0534FAE7-670E-C94E-9D53-0AFCC0F8F208}" type="presParOf" srcId="{53B4EC22-9CD5-7845-97BE-AB34A1C7133A}" destId="{EFEB2126-D80B-D446-B5FA-29DEFA5AEBF6}" srcOrd="2" destOrd="0" presId="urn:microsoft.com/office/officeart/2005/8/layout/hProcess11"/>
    <dgm:cxn modelId="{6C23D0DD-FCE1-0A4F-AA22-3BCB2CDC9485}" type="presParOf" srcId="{E29933DD-14FF-D646-9182-AF0745E36C6B}" destId="{B18B6DB3-0787-274A-AA97-5AD6B8B4B260}" srcOrd="5" destOrd="0" presId="urn:microsoft.com/office/officeart/2005/8/layout/hProcess11"/>
    <dgm:cxn modelId="{52E35F0A-BAC5-004E-8262-6622AF404E4F}" type="presParOf" srcId="{E29933DD-14FF-D646-9182-AF0745E36C6B}" destId="{6F60F3E6-B141-1B45-AD58-1956E8B219C6}" srcOrd="6" destOrd="0" presId="urn:microsoft.com/office/officeart/2005/8/layout/hProcess11"/>
    <dgm:cxn modelId="{DAC03372-BED8-3B4B-81F8-CEF179FAD7B8}" type="presParOf" srcId="{6F60F3E6-B141-1B45-AD58-1956E8B219C6}" destId="{AECA710D-D355-E646-A7BB-EB328F5C2643}" srcOrd="0" destOrd="0" presId="urn:microsoft.com/office/officeart/2005/8/layout/hProcess11"/>
    <dgm:cxn modelId="{40DD0B8B-EF5D-8746-9099-BE85892B11AF}" type="presParOf" srcId="{6F60F3E6-B141-1B45-AD58-1956E8B219C6}" destId="{601860E8-A992-8F42-AA96-D113C1174D42}" srcOrd="1" destOrd="0" presId="urn:microsoft.com/office/officeart/2005/8/layout/hProcess11"/>
    <dgm:cxn modelId="{7B385BC3-56B3-384D-A447-552AB011BB91}" type="presParOf" srcId="{6F60F3E6-B141-1B45-AD58-1956E8B219C6}" destId="{578AEAA6-9D49-0745-B77B-68013B13807B}" srcOrd="2" destOrd="0" presId="urn:microsoft.com/office/officeart/2005/8/layout/hProcess11"/>
    <dgm:cxn modelId="{6B2335CC-DF92-3947-B42B-55A55326CF9B}" type="presParOf" srcId="{E29933DD-14FF-D646-9182-AF0745E36C6B}" destId="{9A0895CD-09BB-EF46-A7BD-0F9B39417ADA}" srcOrd="7" destOrd="0" presId="urn:microsoft.com/office/officeart/2005/8/layout/hProcess11"/>
    <dgm:cxn modelId="{3E885A2A-D561-1A4F-AF48-CF3D8BB32518}" type="presParOf" srcId="{E29933DD-14FF-D646-9182-AF0745E36C6B}" destId="{02705322-08FA-CA44-9F93-297329281E34}" srcOrd="8" destOrd="0" presId="urn:microsoft.com/office/officeart/2005/8/layout/hProcess11"/>
    <dgm:cxn modelId="{99D52969-F548-BE4C-B4E4-FEB62BE6B344}" type="presParOf" srcId="{02705322-08FA-CA44-9F93-297329281E34}" destId="{4F7426FF-C59C-8C4E-BCA5-97FDAC08690A}" srcOrd="0" destOrd="0" presId="urn:microsoft.com/office/officeart/2005/8/layout/hProcess11"/>
    <dgm:cxn modelId="{493DA18D-375F-8A4F-A9F6-8311FD342B09}" type="presParOf" srcId="{02705322-08FA-CA44-9F93-297329281E34}" destId="{C10A1FA9-FE59-1849-8BB4-2C6ADF800F55}" srcOrd="1" destOrd="0" presId="urn:microsoft.com/office/officeart/2005/8/layout/hProcess11"/>
    <dgm:cxn modelId="{EEE3CB88-5D03-A84A-9B44-66A285451CD5}" type="presParOf" srcId="{02705322-08FA-CA44-9F93-297329281E34}" destId="{F977441F-F26B-204C-B0AF-9866F7BC5CF9}"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077C67-B24F-6A49-8EF8-E21AE295BA78}">
      <dsp:nvSpPr>
        <dsp:cNvPr id="0" name=""/>
        <dsp:cNvSpPr/>
      </dsp:nvSpPr>
      <dsp:spPr>
        <a:xfrm>
          <a:off x="0" y="0"/>
          <a:ext cx="9500142" cy="6166105"/>
        </a:xfrm>
        <a:prstGeom prst="roundRect">
          <a:avLst>
            <a:gd name="adj" fmla="val 85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4785583" numCol="1" spcCol="1270" anchor="t" anchorCtr="0">
          <a:noAutofit/>
        </a:bodyPr>
        <a:lstStyle/>
        <a:p>
          <a:pPr marL="0" lvl="0" indent="0" algn="l" defTabSz="1333500" rtl="0">
            <a:lnSpc>
              <a:spcPct val="90000"/>
            </a:lnSpc>
            <a:spcBef>
              <a:spcPct val="0"/>
            </a:spcBef>
            <a:spcAft>
              <a:spcPct val="35000"/>
            </a:spcAft>
            <a:buNone/>
          </a:pPr>
          <a:r>
            <a:rPr lang="en-US" sz="3000" kern="1200" dirty="0"/>
            <a:t>The two most important characteristics of memory</a:t>
          </a:r>
        </a:p>
      </dsp:txBody>
      <dsp:txXfrm>
        <a:off x="153509" y="153509"/>
        <a:ext cx="9193124" cy="5859087"/>
      </dsp:txXfrm>
    </dsp:sp>
    <dsp:sp modelId="{8A95A152-734B-A745-AAE7-3D32D8C60BCF}">
      <dsp:nvSpPr>
        <dsp:cNvPr id="0" name=""/>
        <dsp:cNvSpPr/>
      </dsp:nvSpPr>
      <dsp:spPr>
        <a:xfrm>
          <a:off x="167964" y="746425"/>
          <a:ext cx="9121072" cy="5419685"/>
        </a:xfrm>
        <a:prstGeom prst="roundRect">
          <a:avLst>
            <a:gd name="adj" fmla="val 105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2740834" numCol="1" spcCol="1270" anchor="t" anchorCtr="0">
          <a:noAutofit/>
        </a:bodyPr>
        <a:lstStyle/>
        <a:p>
          <a:pPr marL="0" lvl="0" indent="0" algn="l" defTabSz="1333500" rtl="0">
            <a:lnSpc>
              <a:spcPct val="90000"/>
            </a:lnSpc>
            <a:spcBef>
              <a:spcPct val="0"/>
            </a:spcBef>
            <a:spcAft>
              <a:spcPct val="35000"/>
            </a:spcAft>
            <a:buNone/>
          </a:pPr>
          <a:r>
            <a:rPr lang="en-US" sz="3000" kern="1200"/>
            <a:t>Three </a:t>
          </a:r>
          <a:r>
            <a:rPr lang="en-US" sz="3000" kern="1200" dirty="0"/>
            <a:t>performance parameters are used:</a:t>
          </a:r>
        </a:p>
      </dsp:txBody>
      <dsp:txXfrm>
        <a:off x="334638" y="913099"/>
        <a:ext cx="8787724" cy="5086337"/>
      </dsp:txXfrm>
    </dsp:sp>
    <dsp:sp modelId="{4DC5D986-59BC-1740-AC0E-735CF97CB45C}">
      <dsp:nvSpPr>
        <dsp:cNvPr id="0" name=""/>
        <dsp:cNvSpPr/>
      </dsp:nvSpPr>
      <dsp:spPr>
        <a:xfrm>
          <a:off x="526263" y="1397124"/>
          <a:ext cx="2825863" cy="4436324"/>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GB" sz="2000" kern="1200" dirty="0"/>
            <a:t>Access time (latency)</a:t>
          </a:r>
        </a:p>
        <a:p>
          <a:pPr marL="228600" lvl="1" indent="-228600" algn="l" defTabSz="889000" rtl="0">
            <a:lnSpc>
              <a:spcPct val="90000"/>
            </a:lnSpc>
            <a:spcBef>
              <a:spcPct val="0"/>
            </a:spcBef>
            <a:spcAft>
              <a:spcPct val="15000"/>
            </a:spcAft>
            <a:buChar char="•"/>
          </a:pPr>
          <a:r>
            <a:rPr lang="en-US" sz="2000" kern="1200" dirty="0"/>
            <a:t>For random-access memory it is the time it takes to perform a read or write operation</a:t>
          </a:r>
        </a:p>
        <a:p>
          <a:pPr marL="228600" lvl="1" indent="-228600" algn="l" defTabSz="889000" rtl="0">
            <a:lnSpc>
              <a:spcPct val="90000"/>
            </a:lnSpc>
            <a:spcBef>
              <a:spcPct val="0"/>
            </a:spcBef>
            <a:spcAft>
              <a:spcPct val="15000"/>
            </a:spcAft>
            <a:buChar char="•"/>
          </a:pPr>
          <a:r>
            <a:rPr lang="en-US" sz="2000" kern="1200" dirty="0"/>
            <a:t>For non-random-access memory it is the time it takes to position the read-write mechanism at the desired location</a:t>
          </a:r>
        </a:p>
      </dsp:txBody>
      <dsp:txXfrm>
        <a:off x="613168" y="1484029"/>
        <a:ext cx="2652053" cy="4262514"/>
      </dsp:txXfrm>
    </dsp:sp>
    <dsp:sp modelId="{DCA2CBFE-8F07-BB4E-8414-CF97B200D168}">
      <dsp:nvSpPr>
        <dsp:cNvPr id="0" name=""/>
        <dsp:cNvSpPr/>
      </dsp:nvSpPr>
      <dsp:spPr>
        <a:xfrm>
          <a:off x="3384370" y="1472476"/>
          <a:ext cx="2825863" cy="4680182"/>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kern="1200" dirty="0"/>
            <a:t>Memory cycle time</a:t>
          </a:r>
        </a:p>
        <a:p>
          <a:pPr marL="228600" lvl="1" indent="-228600" algn="l" defTabSz="889000" rtl="0">
            <a:lnSpc>
              <a:spcPct val="90000"/>
            </a:lnSpc>
            <a:spcBef>
              <a:spcPct val="0"/>
            </a:spcBef>
            <a:spcAft>
              <a:spcPct val="15000"/>
            </a:spcAft>
            <a:buChar char="•"/>
          </a:pPr>
          <a:r>
            <a:rPr lang="en-US" sz="2000" kern="1200" dirty="0"/>
            <a:t>Access time plus any additional time required before second access can commence</a:t>
          </a:r>
        </a:p>
        <a:p>
          <a:pPr marL="228600" lvl="1" indent="-228600" algn="l" defTabSz="889000" rtl="0">
            <a:lnSpc>
              <a:spcPct val="90000"/>
            </a:lnSpc>
            <a:spcBef>
              <a:spcPct val="0"/>
            </a:spcBef>
            <a:spcAft>
              <a:spcPct val="15000"/>
            </a:spcAft>
            <a:buChar char="•"/>
          </a:pPr>
          <a:r>
            <a:rPr lang="en-US" sz="2000" kern="1200" dirty="0"/>
            <a:t>Additional time may be required for transients to die out on signal lines or to regenerate data if they are read destructively</a:t>
          </a:r>
        </a:p>
        <a:p>
          <a:pPr marL="228600" lvl="1" indent="-228600" algn="l" defTabSz="889000" rtl="0">
            <a:lnSpc>
              <a:spcPct val="90000"/>
            </a:lnSpc>
            <a:spcBef>
              <a:spcPct val="0"/>
            </a:spcBef>
            <a:spcAft>
              <a:spcPct val="15000"/>
            </a:spcAft>
            <a:buChar char="•"/>
          </a:pPr>
          <a:r>
            <a:rPr lang="en-US" sz="2000" kern="1200" dirty="0"/>
            <a:t>Concerned with the system bus, not the processor</a:t>
          </a:r>
        </a:p>
      </dsp:txBody>
      <dsp:txXfrm>
        <a:off x="3471275" y="1559381"/>
        <a:ext cx="2652053" cy="4506372"/>
      </dsp:txXfrm>
    </dsp:sp>
    <dsp:sp modelId="{8D7CAF80-BCAD-AF40-83EC-CA9E025213FC}">
      <dsp:nvSpPr>
        <dsp:cNvPr id="0" name=""/>
        <dsp:cNvSpPr/>
      </dsp:nvSpPr>
      <dsp:spPr>
        <a:xfrm>
          <a:off x="6264689" y="1512964"/>
          <a:ext cx="2825863" cy="4499954"/>
        </a:xfrm>
        <a:prstGeom prst="roundRect">
          <a:avLst>
            <a:gd name="adj" fmla="val 105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kern="1200" dirty="0"/>
            <a:t>Transfer rate</a:t>
          </a:r>
        </a:p>
        <a:p>
          <a:pPr marL="228600" lvl="1" indent="-228600" algn="l" defTabSz="889000" rtl="0">
            <a:lnSpc>
              <a:spcPct val="90000"/>
            </a:lnSpc>
            <a:spcBef>
              <a:spcPct val="0"/>
            </a:spcBef>
            <a:spcAft>
              <a:spcPct val="15000"/>
            </a:spcAft>
            <a:buChar char="•"/>
          </a:pPr>
          <a:r>
            <a:rPr lang="en-US" sz="2000" kern="1200" dirty="0"/>
            <a:t>The rate at which data can be transferred into or out of a memory unit</a:t>
          </a:r>
        </a:p>
        <a:p>
          <a:pPr marL="228600" lvl="1" indent="-228600" algn="l" defTabSz="889000" rtl="0">
            <a:lnSpc>
              <a:spcPct val="90000"/>
            </a:lnSpc>
            <a:spcBef>
              <a:spcPct val="0"/>
            </a:spcBef>
            <a:spcAft>
              <a:spcPct val="15000"/>
            </a:spcAft>
            <a:buChar char="•"/>
          </a:pPr>
          <a:r>
            <a:rPr lang="en-US" sz="2000" kern="1200" dirty="0"/>
            <a:t>For random-access memory it is equal to 1/(cycle time)</a:t>
          </a:r>
        </a:p>
      </dsp:txBody>
      <dsp:txXfrm>
        <a:off x="6351594" y="1599869"/>
        <a:ext cx="2652053" cy="43261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B4F48F-6F74-9842-A164-78C65E62632D}">
      <dsp:nvSpPr>
        <dsp:cNvPr id="0" name=""/>
        <dsp:cNvSpPr/>
      </dsp:nvSpPr>
      <dsp:spPr>
        <a:xfrm>
          <a:off x="2643" y="48288"/>
          <a:ext cx="2577107" cy="788849"/>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GB" sz="2000" b="0" kern="1200" dirty="0">
              <a:effectLst>
                <a:outerShdw blurRad="38100" dist="38100" dir="2700000" algn="tl">
                  <a:srgbClr val="000000">
                    <a:alpha val="43137"/>
                  </a:srgbClr>
                </a:outerShdw>
              </a:effectLst>
            </a:rPr>
            <a:t>Direct</a:t>
          </a:r>
        </a:p>
      </dsp:txBody>
      <dsp:txXfrm>
        <a:off x="2643" y="48288"/>
        <a:ext cx="2577107" cy="788849"/>
      </dsp:txXfrm>
    </dsp:sp>
    <dsp:sp modelId="{5E6AA0E8-B225-9D44-A86D-9767773C4003}">
      <dsp:nvSpPr>
        <dsp:cNvPr id="0" name=""/>
        <dsp:cNvSpPr/>
      </dsp:nvSpPr>
      <dsp:spPr>
        <a:xfrm>
          <a:off x="2643" y="658713"/>
          <a:ext cx="2577107" cy="3255398"/>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ts val="870"/>
            </a:spcAft>
            <a:buChar char="•"/>
          </a:pPr>
          <a:r>
            <a:rPr lang="en-GB" sz="1500" kern="1200" dirty="0"/>
            <a:t>The simplest technique</a:t>
          </a:r>
        </a:p>
        <a:p>
          <a:pPr marL="114300" lvl="1" indent="-114300" algn="l" defTabSz="666750">
            <a:lnSpc>
              <a:spcPct val="90000"/>
            </a:lnSpc>
            <a:spcBef>
              <a:spcPct val="0"/>
            </a:spcBef>
            <a:spcAft>
              <a:spcPts val="870"/>
            </a:spcAft>
            <a:buChar char="•"/>
          </a:pPr>
          <a:r>
            <a:rPr lang="en-GB" sz="1500" kern="1200" dirty="0"/>
            <a:t>Maps each block of main memory into only one possible cache line</a:t>
          </a:r>
        </a:p>
      </dsp:txBody>
      <dsp:txXfrm>
        <a:off x="2643" y="658713"/>
        <a:ext cx="2577107" cy="3255398"/>
      </dsp:txXfrm>
    </dsp:sp>
    <dsp:sp modelId="{B3F6D228-9039-A949-A88A-D4A04B9662CD}">
      <dsp:nvSpPr>
        <dsp:cNvPr id="0" name=""/>
        <dsp:cNvSpPr/>
      </dsp:nvSpPr>
      <dsp:spPr>
        <a:xfrm>
          <a:off x="2940546" y="27495"/>
          <a:ext cx="2577107" cy="872022"/>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GB" sz="2000" b="0" kern="1200" dirty="0">
              <a:effectLst>
                <a:outerShdw blurRad="38100" dist="38100" dir="2700000" algn="tl">
                  <a:srgbClr val="000000">
                    <a:alpha val="43137"/>
                  </a:srgbClr>
                </a:outerShdw>
              </a:effectLst>
            </a:rPr>
            <a:t>Associative</a:t>
          </a:r>
        </a:p>
      </dsp:txBody>
      <dsp:txXfrm>
        <a:off x="2940546" y="27495"/>
        <a:ext cx="2577107" cy="872022"/>
      </dsp:txXfrm>
    </dsp:sp>
    <dsp:sp modelId="{9F9ABC03-ED5A-8C4F-ABBA-7702123255F3}">
      <dsp:nvSpPr>
        <dsp:cNvPr id="0" name=""/>
        <dsp:cNvSpPr/>
      </dsp:nvSpPr>
      <dsp:spPr>
        <a:xfrm>
          <a:off x="2940546" y="679506"/>
          <a:ext cx="2577107" cy="3255398"/>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ts val="870"/>
            </a:spcAft>
            <a:buChar char="•"/>
          </a:pPr>
          <a:r>
            <a:rPr lang="en-GB" sz="1500" kern="1200" dirty="0"/>
            <a:t>Permits each main memory block to be loaded into any line of the cache</a:t>
          </a:r>
        </a:p>
        <a:p>
          <a:pPr marL="114300" lvl="1" indent="-114300" algn="l" defTabSz="666750">
            <a:lnSpc>
              <a:spcPct val="90000"/>
            </a:lnSpc>
            <a:spcBef>
              <a:spcPct val="0"/>
            </a:spcBef>
            <a:spcAft>
              <a:spcPts val="870"/>
            </a:spcAft>
            <a:buChar char="•"/>
          </a:pPr>
          <a:r>
            <a:rPr lang="en-GB" sz="1500" kern="1200" dirty="0"/>
            <a:t>The cache control logic interprets a memory address simply as a Tag and a Word field</a:t>
          </a:r>
        </a:p>
        <a:p>
          <a:pPr marL="114300" lvl="1" indent="-114300" algn="l" defTabSz="666750">
            <a:lnSpc>
              <a:spcPct val="90000"/>
            </a:lnSpc>
            <a:spcBef>
              <a:spcPct val="0"/>
            </a:spcBef>
            <a:spcAft>
              <a:spcPts val="870"/>
            </a:spcAft>
            <a:buChar char="•"/>
          </a:pPr>
          <a:r>
            <a:rPr lang="en-GB" sz="1500" kern="1200" dirty="0"/>
            <a:t>To determine whether a block is in the cache, the cache control logic must simultaneously examine every line’s Tag for a match </a:t>
          </a:r>
        </a:p>
      </dsp:txBody>
      <dsp:txXfrm>
        <a:off x="2940546" y="679506"/>
        <a:ext cx="2577107" cy="3255398"/>
      </dsp:txXfrm>
    </dsp:sp>
    <dsp:sp modelId="{F94948FC-FEE2-2A41-9A9E-9B62084D71F6}">
      <dsp:nvSpPr>
        <dsp:cNvPr id="0" name=""/>
        <dsp:cNvSpPr/>
      </dsp:nvSpPr>
      <dsp:spPr>
        <a:xfrm>
          <a:off x="5881092" y="0"/>
          <a:ext cx="2577107" cy="872022"/>
        </a:xfrm>
        <a:prstGeom prst="rect">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accen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GB" sz="2000" b="0" kern="1200" dirty="0">
              <a:effectLst>
                <a:outerShdw blurRad="38100" dist="38100" dir="2700000" algn="tl">
                  <a:srgbClr val="000000">
                    <a:alpha val="43137"/>
                  </a:srgbClr>
                </a:outerShdw>
              </a:effectLst>
            </a:rPr>
            <a:t>Set Associative</a:t>
          </a:r>
        </a:p>
      </dsp:txBody>
      <dsp:txXfrm>
        <a:off x="5881092" y="0"/>
        <a:ext cx="2577107" cy="872022"/>
      </dsp:txXfrm>
    </dsp:sp>
    <dsp:sp modelId="{C30E3304-D114-7743-A3EC-2445BAC10332}">
      <dsp:nvSpPr>
        <dsp:cNvPr id="0" name=""/>
        <dsp:cNvSpPr/>
      </dsp:nvSpPr>
      <dsp:spPr>
        <a:xfrm>
          <a:off x="5878448" y="679506"/>
          <a:ext cx="2577107" cy="3255398"/>
        </a:xfrm>
        <a:prstGeom prst="rect">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GB" sz="1500" kern="1200" dirty="0"/>
            <a:t>A compromise that exhibits the strengths of both the direct and associative approaches while reducing their disadvantages</a:t>
          </a:r>
        </a:p>
      </dsp:txBody>
      <dsp:txXfrm>
        <a:off x="5878448" y="679506"/>
        <a:ext cx="2577107" cy="32553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11B929-E516-5443-B0F5-EC0B30A47FDB}">
      <dsp:nvSpPr>
        <dsp:cNvPr id="0" name=""/>
        <dsp:cNvSpPr/>
      </dsp:nvSpPr>
      <dsp:spPr>
        <a:xfrm>
          <a:off x="237" y="1184871"/>
          <a:ext cx="4048319" cy="1012079"/>
        </a:xfrm>
        <a:prstGeom prst="roundRect">
          <a:avLst>
            <a:gd name="adj" fmla="val 1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dirty="0"/>
            <a:t>When a block that is resident in the cache is to be replaced there are two cases to consider:</a:t>
          </a:r>
        </a:p>
      </dsp:txBody>
      <dsp:txXfrm>
        <a:off x="29880" y="1214514"/>
        <a:ext cx="3989033" cy="952793"/>
      </dsp:txXfrm>
    </dsp:sp>
    <dsp:sp modelId="{D31FB0BD-CB04-3C41-B317-3A5187E6AE93}">
      <dsp:nvSpPr>
        <dsp:cNvPr id="0" name=""/>
        <dsp:cNvSpPr/>
      </dsp:nvSpPr>
      <dsp:spPr>
        <a:xfrm rot="5400000">
          <a:off x="1935840" y="2285508"/>
          <a:ext cx="177113" cy="177113"/>
        </a:xfrm>
        <a:prstGeom prst="rightArrow">
          <a:avLst>
            <a:gd name="adj1" fmla="val 66700"/>
            <a:gd name="adj2" fmla="val 50000"/>
          </a:avLst>
        </a:prstGeom>
        <a:solidFill>
          <a:schemeClr val="accent4"/>
        </a:solidFill>
        <a:ln>
          <a:noFill/>
        </a:ln>
        <a:effectLst/>
      </dsp:spPr>
      <dsp:style>
        <a:lnRef idx="0">
          <a:scrgbClr r="0" g="0" b="0"/>
        </a:lnRef>
        <a:fillRef idx="3">
          <a:scrgbClr r="0" g="0" b="0"/>
        </a:fillRef>
        <a:effectRef idx="2">
          <a:scrgbClr r="0" g="0" b="0"/>
        </a:effectRef>
        <a:fontRef idx="minor">
          <a:schemeClr val="lt1"/>
        </a:fontRef>
      </dsp:style>
    </dsp:sp>
    <dsp:sp modelId="{3142DD91-2917-CC41-9BFA-CF928F5CC795}">
      <dsp:nvSpPr>
        <dsp:cNvPr id="0" name=""/>
        <dsp:cNvSpPr/>
      </dsp:nvSpPr>
      <dsp:spPr>
        <a:xfrm>
          <a:off x="237" y="2551179"/>
          <a:ext cx="4048319" cy="1012079"/>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4"/>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t>If the old block in the cache has not been altered then it may be overwritten with a new block without first writing out the old block</a:t>
          </a:r>
        </a:p>
      </dsp:txBody>
      <dsp:txXfrm>
        <a:off x="29880" y="2580822"/>
        <a:ext cx="3989033" cy="952793"/>
      </dsp:txXfrm>
    </dsp:sp>
    <dsp:sp modelId="{2D23DC65-2635-7547-AB3F-AED6672AFFE6}">
      <dsp:nvSpPr>
        <dsp:cNvPr id="0" name=""/>
        <dsp:cNvSpPr/>
      </dsp:nvSpPr>
      <dsp:spPr>
        <a:xfrm rot="5400000">
          <a:off x="1935840" y="3651816"/>
          <a:ext cx="177113" cy="177113"/>
        </a:xfrm>
        <a:prstGeom prst="rightArrow">
          <a:avLst>
            <a:gd name="adj1" fmla="val 66700"/>
            <a:gd name="adj2" fmla="val 50000"/>
          </a:avLst>
        </a:prstGeom>
        <a:solidFill>
          <a:schemeClr val="accent4"/>
        </a:solidFill>
        <a:ln>
          <a:noFill/>
        </a:ln>
        <a:effectLst/>
      </dsp:spPr>
      <dsp:style>
        <a:lnRef idx="0">
          <a:scrgbClr r="0" g="0" b="0"/>
        </a:lnRef>
        <a:fillRef idx="3">
          <a:scrgbClr r="0" g="0" b="0"/>
        </a:fillRef>
        <a:effectRef idx="2">
          <a:scrgbClr r="0" g="0" b="0"/>
        </a:effectRef>
        <a:fontRef idx="minor">
          <a:schemeClr val="lt1"/>
        </a:fontRef>
      </dsp:style>
    </dsp:sp>
    <dsp:sp modelId="{4A68EEB7-D5C7-EF47-A954-BD8607821E05}">
      <dsp:nvSpPr>
        <dsp:cNvPr id="0" name=""/>
        <dsp:cNvSpPr/>
      </dsp:nvSpPr>
      <dsp:spPr>
        <a:xfrm>
          <a:off x="237" y="3917487"/>
          <a:ext cx="4048319" cy="1829881"/>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4"/>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t>If at least one write operation has been performed on a word in that line of the cache then main memory must be updated by writing the line of cache out to the block of memory before bringing in the new block</a:t>
          </a:r>
        </a:p>
      </dsp:txBody>
      <dsp:txXfrm>
        <a:off x="53832" y="3971082"/>
        <a:ext cx="3941129" cy="1722691"/>
      </dsp:txXfrm>
    </dsp:sp>
    <dsp:sp modelId="{59333D82-04E3-344E-9F6D-7A52667AD3BD}">
      <dsp:nvSpPr>
        <dsp:cNvPr id="0" name=""/>
        <dsp:cNvSpPr/>
      </dsp:nvSpPr>
      <dsp:spPr>
        <a:xfrm>
          <a:off x="4615322" y="1184871"/>
          <a:ext cx="4048319" cy="1012079"/>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dirty="0"/>
            <a:t>There are two problems to contend with:</a:t>
          </a:r>
        </a:p>
      </dsp:txBody>
      <dsp:txXfrm>
        <a:off x="4644965" y="1214514"/>
        <a:ext cx="3989033" cy="952793"/>
      </dsp:txXfrm>
    </dsp:sp>
    <dsp:sp modelId="{23FB0AB2-D708-C74D-9705-EFCC30F8BF72}">
      <dsp:nvSpPr>
        <dsp:cNvPr id="0" name=""/>
        <dsp:cNvSpPr/>
      </dsp:nvSpPr>
      <dsp:spPr>
        <a:xfrm rot="5400000">
          <a:off x="6550925" y="2285508"/>
          <a:ext cx="177113" cy="177113"/>
        </a:xfrm>
        <a:prstGeom prst="rightArrow">
          <a:avLst>
            <a:gd name="adj1" fmla="val 667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sp>
    <dsp:sp modelId="{7F36AA80-5C05-2F49-B7E9-B7C655619CE6}">
      <dsp:nvSpPr>
        <dsp:cNvPr id="0" name=""/>
        <dsp:cNvSpPr/>
      </dsp:nvSpPr>
      <dsp:spPr>
        <a:xfrm>
          <a:off x="4615322" y="2551179"/>
          <a:ext cx="4048319" cy="1012079"/>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t>More than one device may have access to main memory</a:t>
          </a:r>
        </a:p>
      </dsp:txBody>
      <dsp:txXfrm>
        <a:off x="4644965" y="2580822"/>
        <a:ext cx="3989033" cy="952793"/>
      </dsp:txXfrm>
    </dsp:sp>
    <dsp:sp modelId="{B3C789D7-F7F9-6047-9980-E16EE5BCCF23}">
      <dsp:nvSpPr>
        <dsp:cNvPr id="0" name=""/>
        <dsp:cNvSpPr/>
      </dsp:nvSpPr>
      <dsp:spPr>
        <a:xfrm rot="5400000">
          <a:off x="6550925" y="3651816"/>
          <a:ext cx="177113" cy="177113"/>
        </a:xfrm>
        <a:prstGeom prst="rightArrow">
          <a:avLst>
            <a:gd name="adj1" fmla="val 66700"/>
            <a:gd name="adj2" fmla="val 50000"/>
          </a:avLst>
        </a:prstGeom>
        <a:solidFill>
          <a:schemeClr val="accent3"/>
        </a:solidFill>
        <a:ln>
          <a:noFill/>
        </a:ln>
        <a:effectLst/>
      </dsp:spPr>
      <dsp:style>
        <a:lnRef idx="0">
          <a:scrgbClr r="0" g="0" b="0"/>
        </a:lnRef>
        <a:fillRef idx="3">
          <a:scrgbClr r="0" g="0" b="0"/>
        </a:fillRef>
        <a:effectRef idx="2">
          <a:scrgbClr r="0" g="0" b="0"/>
        </a:effectRef>
        <a:fontRef idx="minor">
          <a:schemeClr val="lt1"/>
        </a:fontRef>
      </dsp:style>
    </dsp:sp>
    <dsp:sp modelId="{70DA93BB-D5B7-C048-B918-81E67A7815CD}">
      <dsp:nvSpPr>
        <dsp:cNvPr id="0" name=""/>
        <dsp:cNvSpPr/>
      </dsp:nvSpPr>
      <dsp:spPr>
        <a:xfrm>
          <a:off x="4636110" y="3917487"/>
          <a:ext cx="4006743" cy="1735180"/>
        </a:xfrm>
        <a:prstGeom prst="roundRect">
          <a:avLst>
            <a:gd name="adj" fmla="val 10000"/>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t>A more complex problem occurs when multiple processors are attached to the same bus and each processor has its own local cache - if a word is altered in one cache it could conceivably invalidate a word in other caches</a:t>
          </a:r>
        </a:p>
      </dsp:txBody>
      <dsp:txXfrm>
        <a:off x="4686932" y="3968309"/>
        <a:ext cx="3905099" cy="16335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A98750-A22E-E144-85E8-F4570D51A474}">
      <dsp:nvSpPr>
        <dsp:cNvPr id="0" name=""/>
        <dsp:cNvSpPr/>
      </dsp:nvSpPr>
      <dsp:spPr>
        <a:xfrm>
          <a:off x="0" y="1892796"/>
          <a:ext cx="8964612" cy="2523728"/>
        </a:xfrm>
        <a:prstGeom prst="notchedRightArrow">
          <a:avLst/>
        </a:prstGeom>
        <a:solidFill>
          <a:schemeClr val="accent1">
            <a:tint val="40000"/>
            <a:hueOff val="0"/>
            <a:satOff val="0"/>
            <a:lumOff val="0"/>
            <a:alphaOff val="0"/>
          </a:schemeClr>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 modelId="{57FE2081-BE33-2C4A-891E-2BB614041C39}">
      <dsp:nvSpPr>
        <dsp:cNvPr id="0" name=""/>
        <dsp:cNvSpPr/>
      </dsp:nvSpPr>
      <dsp:spPr>
        <a:xfrm>
          <a:off x="647" y="0"/>
          <a:ext cx="1508838" cy="2523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rtl="0">
            <a:lnSpc>
              <a:spcPct val="90000"/>
            </a:lnSpc>
            <a:spcBef>
              <a:spcPct val="0"/>
            </a:spcBef>
            <a:spcAft>
              <a:spcPct val="35000"/>
            </a:spcAft>
            <a:buNone/>
          </a:pPr>
          <a:r>
            <a:rPr lang="en-US" sz="1200" kern="1200" dirty="0"/>
            <a:t>When a block of data is retrieved and placed in the cache not only the desired word but also some number of adjacent words are retrieved</a:t>
          </a:r>
        </a:p>
      </dsp:txBody>
      <dsp:txXfrm>
        <a:off x="647" y="0"/>
        <a:ext cx="1508838" cy="2523728"/>
      </dsp:txXfrm>
    </dsp:sp>
    <dsp:sp modelId="{097B1AA5-F856-8742-B675-F1FF43B6838A}">
      <dsp:nvSpPr>
        <dsp:cNvPr id="0" name=""/>
        <dsp:cNvSpPr/>
      </dsp:nvSpPr>
      <dsp:spPr>
        <a:xfrm>
          <a:off x="575219" y="2820638"/>
          <a:ext cx="630932" cy="630932"/>
        </a:xfrm>
        <a:prstGeom prst="ellipse">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396BDE89-FCC1-E541-9ADE-A4D83F72FFEA}">
      <dsp:nvSpPr>
        <dsp:cNvPr id="0" name=""/>
        <dsp:cNvSpPr/>
      </dsp:nvSpPr>
      <dsp:spPr>
        <a:xfrm>
          <a:off x="1584928" y="3785592"/>
          <a:ext cx="1508838" cy="2523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rtl="0">
            <a:lnSpc>
              <a:spcPct val="90000"/>
            </a:lnSpc>
            <a:spcBef>
              <a:spcPct val="0"/>
            </a:spcBef>
            <a:spcAft>
              <a:spcPct val="35000"/>
            </a:spcAft>
            <a:buNone/>
          </a:pPr>
          <a:r>
            <a:rPr lang="en-US" sz="1200" kern="1200" dirty="0"/>
            <a:t>As the block size increases the hit ratio will at first increase because of the principle of locality</a:t>
          </a:r>
        </a:p>
      </dsp:txBody>
      <dsp:txXfrm>
        <a:off x="1584928" y="3785592"/>
        <a:ext cx="1508838" cy="2523728"/>
      </dsp:txXfrm>
    </dsp:sp>
    <dsp:sp modelId="{9F37F097-1721-134F-83A5-6A4E0CCF062D}">
      <dsp:nvSpPr>
        <dsp:cNvPr id="0" name=""/>
        <dsp:cNvSpPr/>
      </dsp:nvSpPr>
      <dsp:spPr>
        <a:xfrm>
          <a:off x="2023881" y="2839194"/>
          <a:ext cx="630932" cy="630932"/>
        </a:xfrm>
        <a:prstGeom prst="ellipse">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68450F65-B7D1-C442-9387-26EE68DE0405}">
      <dsp:nvSpPr>
        <dsp:cNvPr id="0" name=""/>
        <dsp:cNvSpPr/>
      </dsp:nvSpPr>
      <dsp:spPr>
        <a:xfrm>
          <a:off x="3169209" y="0"/>
          <a:ext cx="1508838" cy="2523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rtl="0">
            <a:lnSpc>
              <a:spcPct val="90000"/>
            </a:lnSpc>
            <a:spcBef>
              <a:spcPct val="0"/>
            </a:spcBef>
            <a:spcAft>
              <a:spcPct val="35000"/>
            </a:spcAft>
            <a:buNone/>
          </a:pPr>
          <a:r>
            <a:rPr lang="en-US" sz="1200" kern="1200" dirty="0"/>
            <a:t>As the block size increases more useful data are brought into the cache</a:t>
          </a:r>
        </a:p>
      </dsp:txBody>
      <dsp:txXfrm>
        <a:off x="3169209" y="0"/>
        <a:ext cx="1508838" cy="2523728"/>
      </dsp:txXfrm>
    </dsp:sp>
    <dsp:sp modelId="{B4780650-EFE4-A94C-974F-2DDEC86E194B}">
      <dsp:nvSpPr>
        <dsp:cNvPr id="0" name=""/>
        <dsp:cNvSpPr/>
      </dsp:nvSpPr>
      <dsp:spPr>
        <a:xfrm>
          <a:off x="3608162" y="2839194"/>
          <a:ext cx="630932" cy="630932"/>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AECA710D-D355-E646-A7BB-EB328F5C2643}">
      <dsp:nvSpPr>
        <dsp:cNvPr id="0" name=""/>
        <dsp:cNvSpPr/>
      </dsp:nvSpPr>
      <dsp:spPr>
        <a:xfrm>
          <a:off x="4753489" y="3785592"/>
          <a:ext cx="1508838" cy="2523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rtl="0">
            <a:lnSpc>
              <a:spcPct val="90000"/>
            </a:lnSpc>
            <a:spcBef>
              <a:spcPct val="0"/>
            </a:spcBef>
            <a:spcAft>
              <a:spcPct val="35000"/>
            </a:spcAft>
            <a:buNone/>
          </a:pPr>
          <a:r>
            <a:rPr lang="en-US" sz="1200" kern="1200" dirty="0"/>
            <a:t>The hit ratio will begin to decrease as the block becomes bigger and the probability of using the newly fetched information becomes less than the probability of reusing the information that has to be replaced</a:t>
          </a:r>
        </a:p>
      </dsp:txBody>
      <dsp:txXfrm>
        <a:off x="4753489" y="3785592"/>
        <a:ext cx="1508838" cy="2523728"/>
      </dsp:txXfrm>
    </dsp:sp>
    <dsp:sp modelId="{601860E8-A992-8F42-AA96-D113C1174D42}">
      <dsp:nvSpPr>
        <dsp:cNvPr id="0" name=""/>
        <dsp:cNvSpPr/>
      </dsp:nvSpPr>
      <dsp:spPr>
        <a:xfrm>
          <a:off x="5192443" y="2839194"/>
          <a:ext cx="630932" cy="630932"/>
        </a:xfrm>
        <a:prstGeom prst="ellipse">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 modelId="{4F7426FF-C59C-8C4E-BCA5-97FDAC08690A}">
      <dsp:nvSpPr>
        <dsp:cNvPr id="0" name=""/>
        <dsp:cNvSpPr/>
      </dsp:nvSpPr>
      <dsp:spPr>
        <a:xfrm>
          <a:off x="5976403" y="0"/>
          <a:ext cx="1729732" cy="2523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1">
          <a:noAutofit/>
        </a:bodyPr>
        <a:lstStyle/>
        <a:p>
          <a:pPr marL="0" lvl="0" indent="0" algn="l" defTabSz="533400" rtl="0">
            <a:lnSpc>
              <a:spcPct val="90000"/>
            </a:lnSpc>
            <a:spcBef>
              <a:spcPct val="0"/>
            </a:spcBef>
            <a:spcAft>
              <a:spcPct val="35000"/>
            </a:spcAft>
            <a:buNone/>
          </a:pPr>
          <a:r>
            <a:rPr lang="en-US" sz="1200" kern="1200" dirty="0"/>
            <a:t>Two specific effects come into play:</a:t>
          </a:r>
        </a:p>
        <a:p>
          <a:pPr marL="57150" lvl="1" indent="-57150" algn="l" defTabSz="400050" rtl="0">
            <a:lnSpc>
              <a:spcPct val="90000"/>
            </a:lnSpc>
            <a:spcBef>
              <a:spcPct val="0"/>
            </a:spcBef>
            <a:spcAft>
              <a:spcPct val="15000"/>
            </a:spcAft>
            <a:buChar char="•"/>
          </a:pPr>
          <a:r>
            <a:rPr lang="en-US" sz="900" kern="1200" dirty="0"/>
            <a:t>Larger blocks reduce the number of blocks that fit into a cache</a:t>
          </a:r>
        </a:p>
        <a:p>
          <a:pPr marL="57150" lvl="1" indent="-57150" algn="l" defTabSz="400050" rtl="0">
            <a:lnSpc>
              <a:spcPct val="90000"/>
            </a:lnSpc>
            <a:spcBef>
              <a:spcPct val="0"/>
            </a:spcBef>
            <a:spcAft>
              <a:spcPct val="15000"/>
            </a:spcAft>
            <a:buChar char="•"/>
          </a:pPr>
          <a:r>
            <a:rPr lang="en-GB" sz="900" kern="1200" dirty="0"/>
            <a:t>As a block becomes larger each additional word is farther from the requested word</a:t>
          </a:r>
        </a:p>
      </dsp:txBody>
      <dsp:txXfrm>
        <a:off x="5976403" y="0"/>
        <a:ext cx="1729732" cy="2523728"/>
      </dsp:txXfrm>
    </dsp:sp>
    <dsp:sp modelId="{C10A1FA9-FE59-1849-8BB4-2C6ADF800F55}">
      <dsp:nvSpPr>
        <dsp:cNvPr id="0" name=""/>
        <dsp:cNvSpPr/>
      </dsp:nvSpPr>
      <dsp:spPr>
        <a:xfrm>
          <a:off x="6652300" y="2820638"/>
          <a:ext cx="630932" cy="630932"/>
        </a:xfrm>
        <a:prstGeom prst="ellipse">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84995" name="Rectangle 1027"/>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84996" name="Rectangle 1028"/>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r>
              <a:rPr lang="en-US" dirty="0"/>
              <a:t>© 2016 Pearson Education, Inc., Hoboken, NJ. All rights reserved.</a:t>
            </a:r>
          </a:p>
        </p:txBody>
      </p:sp>
      <p:sp>
        <p:nvSpPr>
          <p:cNvPr id="84997" name="Rectangle 1029"/>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0322DCDD-0C19-3441-B848-50C2235D8273}" type="slidenum">
              <a:rPr lang="en-US"/>
              <a:pPr/>
              <a:t>‹#›</a:t>
            </a:fld>
            <a:endParaRPr lang="en-US" dirty="0"/>
          </a:p>
        </p:txBody>
      </p:sp>
    </p:spTree>
    <p:extLst>
      <p:ext uri="{BB962C8B-B14F-4D97-AF65-F5344CB8AC3E}">
        <p14:creationId xmlns:p14="http://schemas.microsoft.com/office/powerpoint/2010/main" val="255810986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8397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839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8397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397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r>
              <a:rPr lang="en-US" dirty="0"/>
              <a:t>© 2016 Pearson Education, Inc., Hoboken, NJ. All rights reserved.</a:t>
            </a:r>
          </a:p>
        </p:txBody>
      </p:sp>
      <p:sp>
        <p:nvSpPr>
          <p:cNvPr id="8397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56C40E98-D33D-704E-929D-27FB84CF5632}" type="slidenum">
              <a:rPr lang="en-US"/>
              <a:pPr/>
              <a:t>‹#›</a:t>
            </a:fld>
            <a:endParaRPr lang="en-US" dirty="0"/>
          </a:p>
        </p:txBody>
      </p:sp>
    </p:spTree>
    <p:extLst>
      <p:ext uri="{BB962C8B-B14F-4D97-AF65-F5344CB8AC3E}">
        <p14:creationId xmlns:p14="http://schemas.microsoft.com/office/powerpoint/2010/main" val="1823288552"/>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kumimoji="1" sz="1200" kern="1200">
        <a:solidFill>
          <a:schemeClr val="tx1"/>
        </a:solidFill>
        <a:latin typeface="Times New Roman" pitchFamily="33"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26AC9EA-110C-D44B-81A3-E5165EEE361B}" type="slidenum">
              <a:rPr lang="en-US" smtClean="0"/>
              <a:pPr/>
              <a:t>2</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75EE1B-C934-B74D-A270-01132EE6DE65}" type="slidenum">
              <a:rPr lang="en-US"/>
              <a:pPr/>
              <a:t>3</a:t>
            </a:fld>
            <a:endParaRPr lang="en-US" dirty="0"/>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1463F1-0708-834A-814B-7C2623CE7B46}" type="slidenum">
              <a:rPr lang="en-US"/>
              <a:pPr/>
              <a:t>4</a:t>
            </a:fld>
            <a:endParaRPr lang="en-US" dirty="0"/>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05C69E-6946-714F-9C41-EF1F2D266F6A}" type="slidenum">
              <a:rPr lang="en-US"/>
              <a:pPr/>
              <a:t>5</a:t>
            </a:fld>
            <a:endParaRPr lang="en-US" dirty="0"/>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0D2345-2FE8-BC48-BCBC-7B19F47E03F2}" type="slidenum">
              <a:rPr lang="en-US"/>
              <a:pPr/>
              <a:t>6</a:t>
            </a:fld>
            <a:endParaRPr lang="en-US" dirty="0"/>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7</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8</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9</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10</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extLst>
      <p:ext uri="{BB962C8B-B14F-4D97-AF65-F5344CB8AC3E}">
        <p14:creationId xmlns:p14="http://schemas.microsoft.com/office/powerpoint/2010/main" val="1563357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a:t>© 2016 Pearson Education, Inc., Hoboken,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11</a:t>
            </a:fld>
            <a:endParaRPr lang="en-US" dirty="0"/>
          </a:p>
        </p:txBody>
      </p:sp>
    </p:spTree>
    <p:extLst>
      <p:ext uri="{BB962C8B-B14F-4D97-AF65-F5344CB8AC3E}">
        <p14:creationId xmlns:p14="http://schemas.microsoft.com/office/powerpoint/2010/main" val="837185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12</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extLst>
      <p:ext uri="{BB962C8B-B14F-4D97-AF65-F5344CB8AC3E}">
        <p14:creationId xmlns:p14="http://schemas.microsoft.com/office/powerpoint/2010/main" val="2385453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13</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14</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15</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DC8EB7-64A6-2345-BE9F-FA0A456F7B44}" type="slidenum">
              <a:rPr lang="en-US"/>
              <a:pPr/>
              <a:t>19</a:t>
            </a:fld>
            <a:endParaRPr lang="en-US" dirty="0"/>
          </a:p>
        </p:txBody>
      </p:sp>
      <p:sp>
        <p:nvSpPr>
          <p:cNvPr id="117762" name="Rectangle 2"/>
          <p:cNvSpPr>
            <a:spLocks noGrp="1" noRot="1" noChangeAspect="1" noChangeArrowheads="1" noTextEdit="1"/>
          </p:cNvSpPr>
          <p:nvPr>
            <p:ph type="sldImg"/>
          </p:nvPr>
        </p:nvSpPr>
        <p:spPr>
          <a:ln/>
        </p:spPr>
      </p:sp>
      <p:sp>
        <p:nvSpPr>
          <p:cNvPr id="117763" name="Rectangle 3"/>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20</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21</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22</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23</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6B93A6-E508-E944-9E17-051C16D946C1}" type="slidenum">
              <a:rPr lang="en-US"/>
              <a:pPr/>
              <a:t>24</a:t>
            </a:fld>
            <a:endParaRPr lang="en-US" dirty="0"/>
          </a:p>
        </p:txBody>
      </p:sp>
      <p:sp>
        <p:nvSpPr>
          <p:cNvPr id="120834" name="Rectangle 2"/>
          <p:cNvSpPr>
            <a:spLocks noGrp="1" noRot="1" noChangeAspect="1" noChangeArrowheads="1" noTextEdit="1"/>
          </p:cNvSpPr>
          <p:nvPr>
            <p:ph type="sldImg"/>
          </p:nvPr>
        </p:nvSpPr>
        <p:spPr>
          <a:ln/>
        </p:spPr>
      </p:sp>
      <p:sp>
        <p:nvSpPr>
          <p:cNvPr id="120835" name="Rectangle 3"/>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E4D675-E42F-1B45-959F-76B27AD9D7E7}" type="slidenum">
              <a:rPr lang="en-US"/>
              <a:pPr/>
              <a:t>25</a:t>
            </a:fld>
            <a:endParaRPr lang="en-US" dirty="0"/>
          </a:p>
        </p:txBody>
      </p:sp>
      <p:sp>
        <p:nvSpPr>
          <p:cNvPr id="121858" name="Rectangle 1026"/>
          <p:cNvSpPr>
            <a:spLocks noGrp="1" noRot="1" noChangeAspect="1" noChangeArrowheads="1" noTextEdit="1"/>
          </p:cNvSpPr>
          <p:nvPr>
            <p:ph type="sldImg"/>
          </p:nvPr>
        </p:nvSpPr>
        <p:spPr>
          <a:ln/>
        </p:spPr>
      </p:sp>
      <p:sp>
        <p:nvSpPr>
          <p:cNvPr id="121859" name="Rectangle 1027"/>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35ABF7-E337-4D42-A3E3-17E7FCD498AD}" type="slidenum">
              <a:rPr lang="en-US"/>
              <a:pPr/>
              <a:t>26</a:t>
            </a:fld>
            <a:endParaRPr lang="en-US" dirty="0"/>
          </a:p>
        </p:txBody>
      </p:sp>
      <p:sp>
        <p:nvSpPr>
          <p:cNvPr id="124930"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p:txBody>
          <a:bodyPr/>
          <a:lstStyle/>
          <a:p>
            <a:endParaRPr lang="en-US"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27</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28</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29</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A1BC11-5E89-9C4F-A80C-397585DAAC4A}" type="slidenum">
              <a:rPr lang="en-US"/>
              <a:pPr/>
              <a:t>30</a:t>
            </a:fld>
            <a:endParaRPr lang="en-US" dirty="0"/>
          </a:p>
        </p:txBody>
      </p:sp>
      <p:sp>
        <p:nvSpPr>
          <p:cNvPr id="128002" name="Rectangle 2"/>
          <p:cNvSpPr>
            <a:spLocks noGrp="1" noRot="1" noChangeAspect="1" noChangeArrowheads="1" noTextEdit="1"/>
          </p:cNvSpPr>
          <p:nvPr>
            <p:ph type="sldImg"/>
          </p:nvPr>
        </p:nvSpPr>
        <p:spPr>
          <a:ln/>
        </p:spPr>
      </p:sp>
      <p:sp>
        <p:nvSpPr>
          <p:cNvPr id="128003" name="Rectangle 3"/>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2EF674-BDE7-F044-A87E-479D359E8D55}" type="slidenum">
              <a:rPr lang="en-US"/>
              <a:pPr/>
              <a:t>31</a:t>
            </a:fld>
            <a:endParaRPr lang="en-US" dirty="0"/>
          </a:p>
        </p:txBody>
      </p:sp>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32</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EFEAEC-2236-464B-BC9C-0E3F61624398}" type="slidenum">
              <a:rPr lang="en-US"/>
              <a:pPr/>
              <a:t>33</a:t>
            </a:fld>
            <a:endParaRPr lang="en-US" dirty="0"/>
          </a:p>
        </p:txBody>
      </p:sp>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34</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767FD4-8258-5044-A3EC-5D6DEE8ACB93}" type="slidenum">
              <a:rPr lang="en-US"/>
              <a:pPr/>
              <a:t>35</a:t>
            </a:fld>
            <a:endParaRPr lang="en-US" dirty="0"/>
          </a:p>
        </p:txBody>
      </p:sp>
      <p:sp>
        <p:nvSpPr>
          <p:cNvPr id="134146" name="Rectangle 2"/>
          <p:cNvSpPr>
            <a:spLocks noGrp="1" noRot="1" noChangeAspect="1" noChangeArrowheads="1" noTextEdit="1"/>
          </p:cNvSpPr>
          <p:nvPr>
            <p:ph type="sldImg"/>
          </p:nvPr>
        </p:nvSpPr>
        <p:spPr>
          <a:ln/>
        </p:spPr>
      </p:sp>
      <p:sp>
        <p:nvSpPr>
          <p:cNvPr id="134147" name="Rectangle 3"/>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36</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B36BAE-94F5-F14D-A8F8-7FD3C6B4D54D}" type="slidenum">
              <a:rPr lang="en-US"/>
              <a:pPr/>
              <a:t>37</a:t>
            </a:fld>
            <a:endParaRPr lang="en-US" dirty="0"/>
          </a:p>
        </p:txBody>
      </p:sp>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38</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AE512C-BC48-1B4B-9FAC-44397A96517A}" type="slidenum">
              <a:rPr lang="en-US"/>
              <a:pPr/>
              <a:t>39</a:t>
            </a:fld>
            <a:endParaRPr lang="en-US" dirty="0"/>
          </a:p>
        </p:txBody>
      </p:sp>
      <p:sp>
        <p:nvSpPr>
          <p:cNvPr id="137218" name="Rectangle 2"/>
          <p:cNvSpPr>
            <a:spLocks noGrp="1" noRot="1" noChangeAspect="1" noChangeArrowheads="1" noTextEdit="1"/>
          </p:cNvSpPr>
          <p:nvPr>
            <p:ph type="sldImg"/>
          </p:nvPr>
        </p:nvSpPr>
        <p:spPr>
          <a:ln/>
        </p:spPr>
      </p:sp>
      <p:sp>
        <p:nvSpPr>
          <p:cNvPr id="137219" name="Rectangle 3"/>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76915C-4E85-6F4A-A796-981EBB0906D6}" type="slidenum">
              <a:rPr lang="en-US"/>
              <a:pPr/>
              <a:t>40</a:t>
            </a:fld>
            <a:endParaRPr lang="en-US" dirty="0"/>
          </a:p>
        </p:txBody>
      </p:sp>
      <p:sp>
        <p:nvSpPr>
          <p:cNvPr id="138242" name="Rectangle 2"/>
          <p:cNvSpPr>
            <a:spLocks noGrp="1" noRot="1" noChangeAspect="1" noChangeArrowheads="1" noTextEdit="1"/>
          </p:cNvSpPr>
          <p:nvPr>
            <p:ph type="sldImg"/>
          </p:nvPr>
        </p:nvSpPr>
        <p:spPr>
          <a:ln/>
        </p:spPr>
      </p:sp>
      <p:sp>
        <p:nvSpPr>
          <p:cNvPr id="138243" name="Rectangle 3"/>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51CAAB-E649-2647-90BA-BB247BE57160}" type="slidenum">
              <a:rPr lang="en-US"/>
              <a:pPr/>
              <a:t>41</a:t>
            </a:fld>
            <a:endParaRPr lang="en-US" dirty="0"/>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F076AE-07C9-824F-A07D-E9CD3919EDB8}" type="slidenum">
              <a:rPr lang="en-US"/>
              <a:pPr/>
              <a:t>42</a:t>
            </a:fld>
            <a:endParaRPr lang="en-US" dirty="0"/>
          </a:p>
        </p:txBody>
      </p:sp>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43</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44</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45</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46</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18DB7E-F70F-EF4C-9576-FB6F9502F5EC}" type="slidenum">
              <a:rPr lang="en-US"/>
              <a:pPr/>
              <a:t>47</a:t>
            </a:fld>
            <a:endParaRPr lang="en-US" dirty="0"/>
          </a:p>
        </p:txBody>
      </p:sp>
      <p:sp>
        <p:nvSpPr>
          <p:cNvPr id="142338" name="Rectangle 2"/>
          <p:cNvSpPr>
            <a:spLocks noGrp="1" noRot="1" noChangeAspect="1" noChangeArrowheads="1" noTextEdit="1"/>
          </p:cNvSpPr>
          <p:nvPr>
            <p:ph type="sldImg"/>
          </p:nvPr>
        </p:nvSpPr>
        <p:spPr>
          <a:ln/>
        </p:spPr>
      </p:sp>
      <p:sp>
        <p:nvSpPr>
          <p:cNvPr id="142339" name="Rectangle 3"/>
          <p:cNvSpPr>
            <a:spLocks noGrp="1" noChangeArrowheads="1"/>
          </p:cNvSpPr>
          <p:nvPr>
            <p:ph type="body" idx="1"/>
          </p:nvPr>
        </p:nvSpPr>
        <p:spPr/>
        <p:txBody>
          <a:bodyPr/>
          <a:lstStyle/>
          <a:p>
            <a:endParaRPr lang="en-US"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48</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49</a:t>
            </a:fld>
            <a:endParaRPr lang="en-US" dirty="0"/>
          </a:p>
        </p:txBody>
      </p:sp>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50</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endParaRPr lang="en-GB" dirty="0"/>
          </a:p>
        </p:txBody>
      </p:sp>
      <p:sp>
        <p:nvSpPr>
          <p:cNvPr id="2" name="Footer Placeholder 1"/>
          <p:cNvSpPr>
            <a:spLocks noGrp="1"/>
          </p:cNvSpPr>
          <p:nvPr>
            <p:ph type="ftr" sz="quarter" idx="10"/>
          </p:nvPr>
        </p:nvSpPr>
        <p:spPr/>
        <p:txBody>
          <a:bodyPr/>
          <a:lstStyle/>
          <a:p>
            <a:r>
              <a:rPr lang="en-US" dirty="0"/>
              <a:t>© 2016 Pearson Education, Inc., Hoboken, NJ. All rights reserved.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GB" dirty="0"/>
              <a:t>© 2016 Pearson Education, Inc., Hoboken, NJ. All rights reserved.</a:t>
            </a: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lang="en-US" dirty="0"/>
              <a:t>© 2016 Pearson Education, Inc., Hoboken, NJ. All rights reserved.</a:t>
            </a:r>
            <a:endParaRPr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r>
              <a:rPr lang="en-US" dirty="0"/>
              <a:t>© 2016 Pearson Education, Inc., Hoboken, NJ. All rights reserved.</a:t>
            </a:r>
            <a:endParaRPr dirty="0"/>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endParaRPr/>
          </a:p>
        </p:txBody>
      </p:sp>
      <p:sp>
        <p:nvSpPr>
          <p:cNvPr id="8" name="Footer Placeholder 7"/>
          <p:cNvSpPr>
            <a:spLocks noGrp="1"/>
          </p:cNvSpPr>
          <p:nvPr>
            <p:ph type="ftr" sz="quarter" idx="11"/>
          </p:nvPr>
        </p:nvSpPr>
        <p:spPr/>
        <p:txBody>
          <a:bodyPr/>
          <a:lstStyle/>
          <a:p>
            <a:r>
              <a:rPr lang="en-US" dirty="0"/>
              <a:t>© 2016 Pearson Education, Inc., Hoboken, NJ. All rights reserved.</a:t>
            </a:r>
            <a:endParaRPr dirty="0"/>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 2016 Pearson Education, Inc., Hoboken, NJ. All rights reserved.</a:t>
            </a:r>
            <a:endParaRPr dirty="0"/>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endParaRPr/>
          </a:p>
        </p:txBody>
      </p:sp>
      <p:sp>
        <p:nvSpPr>
          <p:cNvPr id="4" name="Footer Placeholder 3"/>
          <p:cNvSpPr>
            <a:spLocks noGrp="1"/>
          </p:cNvSpPr>
          <p:nvPr>
            <p:ph type="ftr" sz="quarter" idx="11"/>
          </p:nvPr>
        </p:nvSpPr>
        <p:spPr/>
        <p:txBody>
          <a:bodyPr/>
          <a:lstStyle/>
          <a:p>
            <a:r>
              <a:rPr lang="en-US" dirty="0"/>
              <a:t>© 2016 Pearson Education, Inc., Hoboken, NJ. All rights reserved.</a:t>
            </a:r>
            <a:endParaRPr dirty="0"/>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endParaRPr/>
          </a:p>
        </p:txBody>
      </p:sp>
      <p:sp>
        <p:nvSpPr>
          <p:cNvPr id="3" name="Footer Placeholder 2"/>
          <p:cNvSpPr>
            <a:spLocks noGrp="1"/>
          </p:cNvSpPr>
          <p:nvPr>
            <p:ph type="ftr" sz="quarter" idx="11"/>
          </p:nvPr>
        </p:nvSpPr>
        <p:spPr/>
        <p:txBody>
          <a:bodyPr/>
          <a:lstStyle/>
          <a:p>
            <a:r>
              <a:rPr lang="en-US" dirty="0"/>
              <a:t>© 2016 Pearson Education, Inc., Hoboken, NJ. All rights reserved.</a:t>
            </a:r>
            <a:endParaRPr dirty="0"/>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3859305" y="6423585"/>
            <a:ext cx="3316941" cy="365125"/>
          </a:xfrm>
        </p:spPr>
        <p:txBody>
          <a:bodyPr/>
          <a:lstStyle/>
          <a:p>
            <a:r>
              <a:rPr lang="en-US" dirty="0"/>
              <a:t>© 2016 Pearson Education, Inc., Hoboken, NJ. All rights reserved.</a:t>
            </a:r>
            <a:endParaRPr dirty="0"/>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dirty="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a:p>
        </p:txBody>
      </p:sp>
      <p:sp>
        <p:nvSpPr>
          <p:cNvPr id="6" name="Footer Placeholder 5"/>
          <p:cNvSpPr>
            <a:spLocks noGrp="1"/>
          </p:cNvSpPr>
          <p:nvPr>
            <p:ph type="ftr" sz="quarter" idx="11"/>
          </p:nvPr>
        </p:nvSpPr>
        <p:spPr/>
        <p:txBody>
          <a:bodyPr/>
          <a:lstStyle/>
          <a:p>
            <a:r>
              <a:rPr lang="en-US" dirty="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r>
              <a:rPr lang="en-US" dirty="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r>
              <a:rPr lang="en-US" dirty="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endParaRPr/>
          </a:p>
        </p:txBody>
      </p:sp>
      <p:sp>
        <p:nvSpPr>
          <p:cNvPr id="6" name="Footer Placeholder 5"/>
          <p:cNvSpPr>
            <a:spLocks noGrp="1"/>
          </p:cNvSpPr>
          <p:nvPr>
            <p:ph type="ftr" sz="quarter" idx="11"/>
          </p:nvPr>
        </p:nvSpPr>
        <p:spPr>
          <a:xfrm>
            <a:off x="4191000" y="6423585"/>
            <a:ext cx="3005138" cy="365125"/>
          </a:xfrm>
        </p:spPr>
        <p:txBody>
          <a:bodyPr/>
          <a:lstStyle/>
          <a:p>
            <a:r>
              <a:rPr lang="en-US" dirty="0"/>
              <a:t>© 2016 Pearson Education, Inc., Hoboken, NJ. All rights reserved.</a:t>
            </a:r>
            <a:endParaRPr dirty="0"/>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r>
              <a:rPr lang="en-US" dirty="0"/>
              <a:t>© 2016 Pearson Education, Inc., Hoboken, NJ. All rights reserved.</a:t>
            </a:r>
            <a:endParaRPr dirty="0"/>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lang="en-US" dirty="0"/>
              <a:t>© 2016 Pearson Education, Inc., Hoboken, NJ. All rights reserved.</a:t>
            </a:r>
            <a:endParaRPr dirty="0"/>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Lst>
  <p:hf sldNum="0" hd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p:txBody>
          <a:bodyPr>
            <a:normAutofit fontScale="90000"/>
          </a:bodyPr>
          <a:lstStyle/>
          <a:p>
            <a:r>
              <a:rPr lang="en-GB" dirty="0"/>
              <a:t>William Stallings </a:t>
            </a:r>
            <a:br>
              <a:rPr lang="en-GB" dirty="0"/>
            </a:br>
            <a:r>
              <a:rPr lang="en-GB" dirty="0"/>
              <a:t>Computer Organization </a:t>
            </a:r>
            <a:br>
              <a:rPr lang="en-GB" dirty="0"/>
            </a:br>
            <a:r>
              <a:rPr lang="en-GB" dirty="0"/>
              <a:t>and Architecture</a:t>
            </a:r>
            <a:br>
              <a:rPr lang="en-GB" dirty="0"/>
            </a:br>
            <a:r>
              <a:rPr lang="en-GB" dirty="0"/>
              <a:t>10</a:t>
            </a:r>
            <a:r>
              <a:rPr lang="en-GB" baseline="30000" dirty="0"/>
              <a:t>th</a:t>
            </a:r>
            <a:r>
              <a:rPr lang="en-GB" dirty="0"/>
              <a:t> Edition</a:t>
            </a:r>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2" name="Footer Placeholder 1"/>
          <p:cNvSpPr>
            <a:spLocks noGrp="1"/>
          </p:cNvSpPr>
          <p:nvPr>
            <p:ph type="ftr" sz="quarter" idx="11"/>
          </p:nvPr>
        </p:nvSpPr>
        <p:spPr/>
        <p:txBody>
          <a:bodyPr/>
          <a:lstStyle/>
          <a:p>
            <a:r>
              <a:rPr lang="en-GB" dirty="0"/>
              <a:t>© 2016 Pearson Education, Inc., Hoboken, NJ.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39552" y="4149080"/>
            <a:ext cx="6191157" cy="833718"/>
          </a:xfrm>
        </p:spPr>
        <p:txBody>
          <a:bodyPr>
            <a:noAutofit/>
          </a:bodyPr>
          <a:lstStyle/>
          <a:p>
            <a:r>
              <a:rPr lang="en-US" sz="5400" dirty="0">
                <a:effectLst>
                  <a:outerShdw blurRad="38100" dist="38100" dir="2700000" algn="tl">
                    <a:srgbClr val="000000">
                      <a:alpha val="43137"/>
                    </a:srgbClr>
                  </a:outerShdw>
                </a:effectLst>
              </a:rPr>
              <a:t>Chapter 4</a:t>
            </a:r>
          </a:p>
        </p:txBody>
      </p:sp>
      <p:sp>
        <p:nvSpPr>
          <p:cNvPr id="11" name="Text Placeholder 10"/>
          <p:cNvSpPr>
            <a:spLocks noGrp="1"/>
          </p:cNvSpPr>
          <p:nvPr>
            <p:ph type="body" sz="half" idx="2"/>
          </p:nvPr>
        </p:nvSpPr>
        <p:spPr>
          <a:xfrm>
            <a:off x="533400" y="4941168"/>
            <a:ext cx="8610600" cy="838200"/>
          </a:xfrm>
        </p:spPr>
        <p:txBody>
          <a:bodyPr>
            <a:normAutofit/>
          </a:bodyPr>
          <a:lstStyle/>
          <a:p>
            <a:r>
              <a:rPr lang="en-US" sz="4400" dirty="0"/>
              <a:t>Cache Memory</a:t>
            </a:r>
          </a:p>
        </p:txBody>
      </p:sp>
      <p:sp>
        <p:nvSpPr>
          <p:cNvPr id="5" name="TextBox 4"/>
          <p:cNvSpPr txBox="1"/>
          <p:nvPr/>
        </p:nvSpPr>
        <p:spPr>
          <a:xfrm>
            <a:off x="5486400" y="1371600"/>
            <a:ext cx="2286000" cy="1938992"/>
          </a:xfrm>
          <a:prstGeom prst="rect">
            <a:avLst/>
          </a:prstGeom>
          <a:solidFill>
            <a:schemeClr val="accent3"/>
          </a:solidFill>
        </p:spPr>
        <p:txBody>
          <a:bodyPr wrap="square" rtlCol="0">
            <a:spAutoFit/>
          </a:bodyPr>
          <a:lstStyle/>
          <a:p>
            <a:endParaRPr lang="en-US" dirty="0"/>
          </a:p>
          <a:p>
            <a:endParaRPr lang="en-US" dirty="0"/>
          </a:p>
          <a:p>
            <a:endParaRPr lang="en-US" dirty="0"/>
          </a:p>
          <a:p>
            <a:endParaRPr lang="en-US" dirty="0"/>
          </a:p>
          <a:p>
            <a:endParaRPr lang="en-US" dirty="0"/>
          </a:p>
        </p:txBody>
      </p:sp>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5157192"/>
            <a:ext cx="9144000" cy="830997"/>
          </a:xfrm>
          <a:prstGeom prst="rect">
            <a:avLst/>
          </a:prstGeom>
          <a:noFill/>
        </p:spPr>
        <p:txBody>
          <a:bodyPr wrap="square" rtlCol="0">
            <a:spAutoFit/>
          </a:bodyPr>
          <a:lstStyle/>
          <a:p>
            <a:pPr algn="ctr"/>
            <a:r>
              <a:rPr lang="en-US" dirty="0">
                <a:latin typeface="+mj-lt"/>
              </a:rPr>
              <a:t>Table 4.1    </a:t>
            </a:r>
          </a:p>
          <a:p>
            <a:pPr algn="ctr"/>
            <a:r>
              <a:rPr lang="en-US" dirty="0">
                <a:latin typeface="+mj-lt"/>
              </a:rPr>
              <a:t>Key Characteristics of Computer Memory Systems </a:t>
            </a:r>
          </a:p>
        </p:txBody>
      </p:sp>
      <p:pic>
        <p:nvPicPr>
          <p:cNvPr id="3" name="Picture 2"/>
          <p:cNvPicPr>
            <a:picLocks noChangeAspect="1"/>
          </p:cNvPicPr>
          <p:nvPr/>
        </p:nvPicPr>
        <p:blipFill>
          <a:blip r:embed="rId3"/>
          <a:stretch>
            <a:fillRect/>
          </a:stretch>
        </p:blipFill>
        <p:spPr>
          <a:xfrm>
            <a:off x="138563" y="764704"/>
            <a:ext cx="8969602" cy="4437987"/>
          </a:xfrm>
          <a:prstGeom prst="rect">
            <a:avLst/>
          </a:prstGeom>
        </p:spPr>
      </p:pic>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transition spd="med">
    <p:cover dir="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lgn="ctr"/>
            <a:r>
              <a:rPr lang="en-GB" dirty="0">
                <a:effectLst>
                  <a:outerShdw blurRad="38100" dist="38100" dir="2700000" algn="tl">
                    <a:srgbClr val="000000">
                      <a:alpha val="43137"/>
                    </a:srgbClr>
                  </a:outerShdw>
                </a:effectLst>
              </a:rPr>
              <a:t>Characteristics of Memory Systems</a:t>
            </a:r>
          </a:p>
        </p:txBody>
      </p:sp>
      <p:sp>
        <p:nvSpPr>
          <p:cNvPr id="8195" name="Rectangle 3"/>
          <p:cNvSpPr>
            <a:spLocks noGrp="1" noChangeArrowheads="1"/>
          </p:cNvSpPr>
          <p:nvPr>
            <p:ph idx="1"/>
          </p:nvPr>
        </p:nvSpPr>
        <p:spPr/>
        <p:txBody>
          <a:bodyPr>
            <a:normAutofit fontScale="92500" lnSpcReduction="10000"/>
          </a:bodyPr>
          <a:lstStyle/>
          <a:p>
            <a:r>
              <a:rPr lang="en-GB" dirty="0"/>
              <a:t>Location</a:t>
            </a:r>
          </a:p>
          <a:p>
            <a:pPr lvl="1"/>
            <a:r>
              <a:rPr lang="en-GB" dirty="0"/>
              <a:t>Refers to whether memory is internal and external to the computer</a:t>
            </a:r>
          </a:p>
          <a:p>
            <a:pPr lvl="1"/>
            <a:r>
              <a:rPr lang="en-GB" dirty="0"/>
              <a:t>Internal memory is often equated with </a:t>
            </a:r>
            <a:r>
              <a:rPr lang="en-GB" dirty="0">
                <a:solidFill>
                  <a:srgbClr val="FF0000"/>
                </a:solidFill>
              </a:rPr>
              <a:t>main memory</a:t>
            </a:r>
          </a:p>
          <a:p>
            <a:pPr lvl="1"/>
            <a:r>
              <a:rPr lang="en-GB" dirty="0"/>
              <a:t>Processor requires its </a:t>
            </a:r>
            <a:r>
              <a:rPr lang="en-GB" dirty="0">
                <a:solidFill>
                  <a:srgbClr val="FF0000"/>
                </a:solidFill>
              </a:rPr>
              <a:t>own local memory, in the form of registers</a:t>
            </a:r>
          </a:p>
          <a:p>
            <a:pPr lvl="1"/>
            <a:r>
              <a:rPr lang="en-GB" dirty="0"/>
              <a:t>Cache is </a:t>
            </a:r>
            <a:r>
              <a:rPr lang="en-GB" dirty="0">
                <a:solidFill>
                  <a:srgbClr val="FF0000"/>
                </a:solidFill>
              </a:rPr>
              <a:t>another form of internal memory</a:t>
            </a:r>
          </a:p>
          <a:p>
            <a:pPr lvl="1"/>
            <a:r>
              <a:rPr lang="en-GB" dirty="0"/>
              <a:t>External memory consists </a:t>
            </a:r>
            <a:r>
              <a:rPr lang="en-GB" dirty="0">
                <a:solidFill>
                  <a:srgbClr val="FF0000"/>
                </a:solidFill>
              </a:rPr>
              <a:t>of peripheral storage</a:t>
            </a:r>
            <a:r>
              <a:rPr lang="en-GB" dirty="0"/>
              <a:t> devices that are accessible to the processor via I/O controllers</a:t>
            </a:r>
          </a:p>
          <a:p>
            <a:r>
              <a:rPr lang="en-GB" dirty="0"/>
              <a:t>Capacity</a:t>
            </a:r>
          </a:p>
          <a:p>
            <a:pPr lvl="1"/>
            <a:r>
              <a:rPr lang="en-GB" dirty="0"/>
              <a:t>Memory is typically expressed in terms of bytes</a:t>
            </a:r>
          </a:p>
          <a:p>
            <a:r>
              <a:rPr lang="en-GB" dirty="0"/>
              <a:t>Unit of transfer</a:t>
            </a:r>
          </a:p>
          <a:p>
            <a:pPr lvl="1"/>
            <a:r>
              <a:rPr lang="en-GB" dirty="0"/>
              <a:t>For internal memory the unit of transfer is equal to the number of electrical lines into and out of the memory module</a:t>
            </a:r>
          </a:p>
        </p:txBody>
      </p:sp>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304800" y="228600"/>
            <a:ext cx="7556500" cy="887412"/>
          </a:xfrm>
        </p:spPr>
        <p:txBody>
          <a:bodyPr/>
          <a:lstStyle/>
          <a:p>
            <a:r>
              <a:rPr lang="en-GB" dirty="0">
                <a:effectLst>
                  <a:outerShdw blurRad="38100" dist="38100" dir="2700000" algn="tl">
                    <a:srgbClr val="000000">
                      <a:alpha val="43137"/>
                    </a:srgbClr>
                  </a:outerShdw>
                </a:effectLst>
              </a:rPr>
              <a:t>Method of Accessing Units of Data</a:t>
            </a:r>
          </a:p>
        </p:txBody>
      </p:sp>
      <p:sp>
        <p:nvSpPr>
          <p:cNvPr id="4" name="Freeform 3"/>
          <p:cNvSpPr/>
          <p:nvPr/>
        </p:nvSpPr>
        <p:spPr>
          <a:xfrm>
            <a:off x="111646" y="1116012"/>
            <a:ext cx="1796057" cy="898028"/>
          </a:xfrm>
          <a:custGeom>
            <a:avLst/>
            <a:gdLst>
              <a:gd name="connsiteX0" fmla="*/ 0 w 1796057"/>
              <a:gd name="connsiteY0" fmla="*/ 89803 h 898028"/>
              <a:gd name="connsiteX1" fmla="*/ 89803 w 1796057"/>
              <a:gd name="connsiteY1" fmla="*/ 0 h 898028"/>
              <a:gd name="connsiteX2" fmla="*/ 1706254 w 1796057"/>
              <a:gd name="connsiteY2" fmla="*/ 0 h 898028"/>
              <a:gd name="connsiteX3" fmla="*/ 1796057 w 1796057"/>
              <a:gd name="connsiteY3" fmla="*/ 89803 h 898028"/>
              <a:gd name="connsiteX4" fmla="*/ 1796057 w 1796057"/>
              <a:gd name="connsiteY4" fmla="*/ 808225 h 898028"/>
              <a:gd name="connsiteX5" fmla="*/ 1706254 w 1796057"/>
              <a:gd name="connsiteY5" fmla="*/ 898028 h 898028"/>
              <a:gd name="connsiteX6" fmla="*/ 89803 w 1796057"/>
              <a:gd name="connsiteY6" fmla="*/ 898028 h 898028"/>
              <a:gd name="connsiteX7" fmla="*/ 0 w 1796057"/>
              <a:gd name="connsiteY7" fmla="*/ 808225 h 898028"/>
              <a:gd name="connsiteX8" fmla="*/ 0 w 1796057"/>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6057" h="898028">
                <a:moveTo>
                  <a:pt x="0" y="89803"/>
                </a:moveTo>
                <a:cubicBezTo>
                  <a:pt x="0" y="40206"/>
                  <a:pt x="40206" y="0"/>
                  <a:pt x="89803" y="0"/>
                </a:cubicBezTo>
                <a:lnTo>
                  <a:pt x="1706254" y="0"/>
                </a:lnTo>
                <a:cubicBezTo>
                  <a:pt x="1755851" y="0"/>
                  <a:pt x="1796057" y="40206"/>
                  <a:pt x="1796057" y="89803"/>
                </a:cubicBezTo>
                <a:lnTo>
                  <a:pt x="1796057" y="808225"/>
                </a:lnTo>
                <a:cubicBezTo>
                  <a:pt x="1796057" y="857822"/>
                  <a:pt x="1755851" y="898028"/>
                  <a:pt x="1706254" y="898028"/>
                </a:cubicBezTo>
                <a:lnTo>
                  <a:pt x="89803" y="898028"/>
                </a:lnTo>
                <a:cubicBezTo>
                  <a:pt x="40206" y="898028"/>
                  <a:pt x="0" y="857822"/>
                  <a:pt x="0" y="808225"/>
                </a:cubicBezTo>
                <a:lnTo>
                  <a:pt x="0" y="89803"/>
                </a:lnTo>
                <a:close/>
              </a:path>
            </a:pathLst>
          </a:custGeom>
          <a:solidFill>
            <a:schemeClr val="accent3"/>
          </a:solidFill>
          <a:ln>
            <a:solidFill>
              <a:schemeClr val="accent3"/>
            </a:solidFill>
          </a:ln>
        </p:spPr>
        <p:style>
          <a:lnRef idx="0">
            <a:scrgbClr r="0" g="0" b="0"/>
          </a:lnRef>
          <a:fillRef idx="3">
            <a:scrgbClr r="0" g="0" b="0"/>
          </a:fillRef>
          <a:effectRef idx="2">
            <a:schemeClr val="accent1">
              <a:hueOff val="0"/>
              <a:satOff val="0"/>
              <a:lumOff val="0"/>
              <a:alphaOff val="0"/>
            </a:schemeClr>
          </a:effectRef>
          <a:fontRef idx="minor">
            <a:schemeClr val="lt1"/>
          </a:fontRef>
        </p:style>
        <p:txBody>
          <a:bodyPr spcFirstLastPara="0" vert="horz" wrap="square" lIns="72022" tIns="56782" rIns="72022" bIns="56782" numCol="1" spcCol="1270" anchor="ctr" anchorCtr="0">
            <a:noAutofit/>
          </a:bodyPr>
          <a:lstStyle/>
          <a:p>
            <a:pPr lvl="0" algn="ctr" defTabSz="1066800" rtl="0">
              <a:lnSpc>
                <a:spcPct val="90000"/>
              </a:lnSpc>
              <a:spcBef>
                <a:spcPct val="0"/>
              </a:spcBef>
              <a:spcAft>
                <a:spcPct val="35000"/>
              </a:spcAft>
            </a:pPr>
            <a:r>
              <a:rPr lang="en-US" sz="2400" kern="1200" dirty="0"/>
              <a:t>Sequential access</a:t>
            </a:r>
          </a:p>
        </p:txBody>
      </p:sp>
      <p:sp>
        <p:nvSpPr>
          <p:cNvPr id="5" name="Freeform 4"/>
          <p:cNvSpPr/>
          <p:nvPr/>
        </p:nvSpPr>
        <p:spPr>
          <a:xfrm>
            <a:off x="291252" y="2014041"/>
            <a:ext cx="179605" cy="673521"/>
          </a:xfrm>
          <a:custGeom>
            <a:avLst/>
            <a:gdLst/>
            <a:ahLst/>
            <a:cxnLst/>
            <a:rect l="0" t="0" r="0" b="0"/>
            <a:pathLst>
              <a:path>
                <a:moveTo>
                  <a:pt x="0" y="0"/>
                </a:moveTo>
                <a:lnTo>
                  <a:pt x="0" y="673521"/>
                </a:lnTo>
                <a:lnTo>
                  <a:pt x="179605" y="673521"/>
                </a:lnTo>
              </a:path>
            </a:pathLst>
          </a:custGeom>
          <a:noFill/>
        </p:spPr>
        <p:style>
          <a:lnRef idx="1">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6" name="Freeform 5"/>
          <p:cNvSpPr/>
          <p:nvPr/>
        </p:nvSpPr>
        <p:spPr>
          <a:xfrm>
            <a:off x="470858" y="2238548"/>
            <a:ext cx="1436846" cy="898028"/>
          </a:xfrm>
          <a:custGeom>
            <a:avLst/>
            <a:gdLst>
              <a:gd name="connsiteX0" fmla="*/ 0 w 1436846"/>
              <a:gd name="connsiteY0" fmla="*/ 89803 h 898028"/>
              <a:gd name="connsiteX1" fmla="*/ 89803 w 1436846"/>
              <a:gd name="connsiteY1" fmla="*/ 0 h 898028"/>
              <a:gd name="connsiteX2" fmla="*/ 1347043 w 1436846"/>
              <a:gd name="connsiteY2" fmla="*/ 0 h 898028"/>
              <a:gd name="connsiteX3" fmla="*/ 1436846 w 1436846"/>
              <a:gd name="connsiteY3" fmla="*/ 89803 h 898028"/>
              <a:gd name="connsiteX4" fmla="*/ 1436846 w 1436846"/>
              <a:gd name="connsiteY4" fmla="*/ 808225 h 898028"/>
              <a:gd name="connsiteX5" fmla="*/ 1347043 w 1436846"/>
              <a:gd name="connsiteY5" fmla="*/ 898028 h 898028"/>
              <a:gd name="connsiteX6" fmla="*/ 89803 w 1436846"/>
              <a:gd name="connsiteY6" fmla="*/ 898028 h 898028"/>
              <a:gd name="connsiteX7" fmla="*/ 0 w 1436846"/>
              <a:gd name="connsiteY7" fmla="*/ 808225 h 898028"/>
              <a:gd name="connsiteX8" fmla="*/ 0 w 1436846"/>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6846" h="898028">
                <a:moveTo>
                  <a:pt x="0" y="89803"/>
                </a:moveTo>
                <a:cubicBezTo>
                  <a:pt x="0" y="40206"/>
                  <a:pt x="40206" y="0"/>
                  <a:pt x="89803" y="0"/>
                </a:cubicBezTo>
                <a:lnTo>
                  <a:pt x="1347043" y="0"/>
                </a:lnTo>
                <a:cubicBezTo>
                  <a:pt x="1396640" y="0"/>
                  <a:pt x="1436846" y="40206"/>
                  <a:pt x="1436846" y="89803"/>
                </a:cubicBezTo>
                <a:lnTo>
                  <a:pt x="1436846" y="808225"/>
                </a:lnTo>
                <a:cubicBezTo>
                  <a:pt x="1436846" y="857822"/>
                  <a:pt x="1396640" y="898028"/>
                  <a:pt x="1347043" y="898028"/>
                </a:cubicBezTo>
                <a:lnTo>
                  <a:pt x="89803" y="898028"/>
                </a:lnTo>
                <a:cubicBezTo>
                  <a:pt x="40206" y="898028"/>
                  <a:pt x="0" y="857822"/>
                  <a:pt x="0" y="808225"/>
                </a:cubicBezTo>
                <a:lnTo>
                  <a:pt x="0" y="89803"/>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4877" tIns="45352" rIns="54877" bIns="45352" numCol="1" spcCol="1270" anchor="ctr" anchorCtr="0">
            <a:noAutofit/>
          </a:bodyPr>
          <a:lstStyle/>
          <a:p>
            <a:pPr lvl="0" algn="ctr" defTabSz="666750" rtl="0">
              <a:lnSpc>
                <a:spcPct val="90000"/>
              </a:lnSpc>
              <a:spcBef>
                <a:spcPct val="0"/>
              </a:spcBef>
              <a:spcAft>
                <a:spcPct val="35000"/>
              </a:spcAft>
            </a:pPr>
            <a:r>
              <a:rPr lang="en-US" sz="1500" kern="1200" dirty="0"/>
              <a:t>Memory is organized into units of data called </a:t>
            </a:r>
            <a:r>
              <a:rPr lang="en-US" sz="1500" kern="1200" dirty="0">
                <a:solidFill>
                  <a:srgbClr val="FF0000"/>
                </a:solidFill>
              </a:rPr>
              <a:t>records</a:t>
            </a:r>
          </a:p>
        </p:txBody>
      </p:sp>
      <p:sp>
        <p:nvSpPr>
          <p:cNvPr id="7" name="Freeform 6"/>
          <p:cNvSpPr/>
          <p:nvPr/>
        </p:nvSpPr>
        <p:spPr>
          <a:xfrm>
            <a:off x="291252" y="2014041"/>
            <a:ext cx="179605" cy="1796057"/>
          </a:xfrm>
          <a:custGeom>
            <a:avLst/>
            <a:gdLst/>
            <a:ahLst/>
            <a:cxnLst/>
            <a:rect l="0" t="0" r="0" b="0"/>
            <a:pathLst>
              <a:path>
                <a:moveTo>
                  <a:pt x="0" y="0"/>
                </a:moveTo>
                <a:lnTo>
                  <a:pt x="0" y="1796057"/>
                </a:lnTo>
                <a:lnTo>
                  <a:pt x="179605" y="1796057"/>
                </a:lnTo>
              </a:path>
            </a:pathLst>
          </a:custGeom>
          <a:noFill/>
        </p:spPr>
        <p:style>
          <a:lnRef idx="1">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9" name="Freeform 8"/>
          <p:cNvSpPr/>
          <p:nvPr/>
        </p:nvSpPr>
        <p:spPr>
          <a:xfrm>
            <a:off x="470858" y="3361084"/>
            <a:ext cx="1436846" cy="898028"/>
          </a:xfrm>
          <a:custGeom>
            <a:avLst/>
            <a:gdLst>
              <a:gd name="connsiteX0" fmla="*/ 0 w 1436846"/>
              <a:gd name="connsiteY0" fmla="*/ 89803 h 898028"/>
              <a:gd name="connsiteX1" fmla="*/ 89803 w 1436846"/>
              <a:gd name="connsiteY1" fmla="*/ 0 h 898028"/>
              <a:gd name="connsiteX2" fmla="*/ 1347043 w 1436846"/>
              <a:gd name="connsiteY2" fmla="*/ 0 h 898028"/>
              <a:gd name="connsiteX3" fmla="*/ 1436846 w 1436846"/>
              <a:gd name="connsiteY3" fmla="*/ 89803 h 898028"/>
              <a:gd name="connsiteX4" fmla="*/ 1436846 w 1436846"/>
              <a:gd name="connsiteY4" fmla="*/ 808225 h 898028"/>
              <a:gd name="connsiteX5" fmla="*/ 1347043 w 1436846"/>
              <a:gd name="connsiteY5" fmla="*/ 898028 h 898028"/>
              <a:gd name="connsiteX6" fmla="*/ 89803 w 1436846"/>
              <a:gd name="connsiteY6" fmla="*/ 898028 h 898028"/>
              <a:gd name="connsiteX7" fmla="*/ 0 w 1436846"/>
              <a:gd name="connsiteY7" fmla="*/ 808225 h 898028"/>
              <a:gd name="connsiteX8" fmla="*/ 0 w 1436846"/>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6846" h="898028">
                <a:moveTo>
                  <a:pt x="0" y="89803"/>
                </a:moveTo>
                <a:cubicBezTo>
                  <a:pt x="0" y="40206"/>
                  <a:pt x="40206" y="0"/>
                  <a:pt x="89803" y="0"/>
                </a:cubicBezTo>
                <a:lnTo>
                  <a:pt x="1347043" y="0"/>
                </a:lnTo>
                <a:cubicBezTo>
                  <a:pt x="1396640" y="0"/>
                  <a:pt x="1436846" y="40206"/>
                  <a:pt x="1436846" y="89803"/>
                </a:cubicBezTo>
                <a:lnTo>
                  <a:pt x="1436846" y="808225"/>
                </a:lnTo>
                <a:cubicBezTo>
                  <a:pt x="1436846" y="857822"/>
                  <a:pt x="1396640" y="898028"/>
                  <a:pt x="1347043" y="898028"/>
                </a:cubicBezTo>
                <a:lnTo>
                  <a:pt x="89803" y="898028"/>
                </a:lnTo>
                <a:cubicBezTo>
                  <a:pt x="40206" y="898028"/>
                  <a:pt x="0" y="857822"/>
                  <a:pt x="0" y="808225"/>
                </a:cubicBezTo>
                <a:lnTo>
                  <a:pt x="0" y="89803"/>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3447" tIns="37732" rIns="43447" bIns="37732" numCol="1" spcCol="1270" anchor="ctr" anchorCtr="0">
            <a:noAutofit/>
          </a:bodyPr>
          <a:lstStyle/>
          <a:p>
            <a:pPr lvl="0" algn="ctr" defTabSz="400050" rtl="0">
              <a:lnSpc>
                <a:spcPct val="90000"/>
              </a:lnSpc>
              <a:spcBef>
                <a:spcPct val="0"/>
              </a:spcBef>
              <a:spcAft>
                <a:spcPct val="35000"/>
              </a:spcAft>
            </a:pPr>
            <a:r>
              <a:rPr lang="en-US" sz="1500" kern="1200" dirty="0"/>
              <a:t>Access must be made in a specific linear sequence</a:t>
            </a:r>
          </a:p>
        </p:txBody>
      </p:sp>
      <p:sp>
        <p:nvSpPr>
          <p:cNvPr id="10" name="Freeform 9"/>
          <p:cNvSpPr/>
          <p:nvPr/>
        </p:nvSpPr>
        <p:spPr>
          <a:xfrm>
            <a:off x="291252" y="2014041"/>
            <a:ext cx="179605" cy="2918593"/>
          </a:xfrm>
          <a:custGeom>
            <a:avLst/>
            <a:gdLst/>
            <a:ahLst/>
            <a:cxnLst/>
            <a:rect l="0" t="0" r="0" b="0"/>
            <a:pathLst>
              <a:path>
                <a:moveTo>
                  <a:pt x="0" y="0"/>
                </a:moveTo>
                <a:lnTo>
                  <a:pt x="0" y="2918593"/>
                </a:lnTo>
                <a:lnTo>
                  <a:pt x="179605" y="2918593"/>
                </a:lnTo>
              </a:path>
            </a:pathLst>
          </a:custGeom>
          <a:noFill/>
        </p:spPr>
        <p:style>
          <a:lnRef idx="1">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1" name="Freeform 10"/>
          <p:cNvSpPr/>
          <p:nvPr/>
        </p:nvSpPr>
        <p:spPr>
          <a:xfrm>
            <a:off x="470858" y="4483620"/>
            <a:ext cx="1436846" cy="898028"/>
          </a:xfrm>
          <a:custGeom>
            <a:avLst/>
            <a:gdLst>
              <a:gd name="connsiteX0" fmla="*/ 0 w 1436846"/>
              <a:gd name="connsiteY0" fmla="*/ 89803 h 898028"/>
              <a:gd name="connsiteX1" fmla="*/ 89803 w 1436846"/>
              <a:gd name="connsiteY1" fmla="*/ 0 h 898028"/>
              <a:gd name="connsiteX2" fmla="*/ 1347043 w 1436846"/>
              <a:gd name="connsiteY2" fmla="*/ 0 h 898028"/>
              <a:gd name="connsiteX3" fmla="*/ 1436846 w 1436846"/>
              <a:gd name="connsiteY3" fmla="*/ 89803 h 898028"/>
              <a:gd name="connsiteX4" fmla="*/ 1436846 w 1436846"/>
              <a:gd name="connsiteY4" fmla="*/ 808225 h 898028"/>
              <a:gd name="connsiteX5" fmla="*/ 1347043 w 1436846"/>
              <a:gd name="connsiteY5" fmla="*/ 898028 h 898028"/>
              <a:gd name="connsiteX6" fmla="*/ 89803 w 1436846"/>
              <a:gd name="connsiteY6" fmla="*/ 898028 h 898028"/>
              <a:gd name="connsiteX7" fmla="*/ 0 w 1436846"/>
              <a:gd name="connsiteY7" fmla="*/ 808225 h 898028"/>
              <a:gd name="connsiteX8" fmla="*/ 0 w 1436846"/>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6846" h="898028">
                <a:moveTo>
                  <a:pt x="0" y="89803"/>
                </a:moveTo>
                <a:cubicBezTo>
                  <a:pt x="0" y="40206"/>
                  <a:pt x="40206" y="0"/>
                  <a:pt x="89803" y="0"/>
                </a:cubicBezTo>
                <a:lnTo>
                  <a:pt x="1347043" y="0"/>
                </a:lnTo>
                <a:cubicBezTo>
                  <a:pt x="1396640" y="0"/>
                  <a:pt x="1436846" y="40206"/>
                  <a:pt x="1436846" y="89803"/>
                </a:cubicBezTo>
                <a:lnTo>
                  <a:pt x="1436846" y="808225"/>
                </a:lnTo>
                <a:cubicBezTo>
                  <a:pt x="1436846" y="857822"/>
                  <a:pt x="1396640" y="898028"/>
                  <a:pt x="1347043" y="898028"/>
                </a:cubicBezTo>
                <a:lnTo>
                  <a:pt x="89803" y="898028"/>
                </a:lnTo>
                <a:cubicBezTo>
                  <a:pt x="40206" y="898028"/>
                  <a:pt x="0" y="857822"/>
                  <a:pt x="0" y="808225"/>
                </a:cubicBezTo>
                <a:lnTo>
                  <a:pt x="0" y="89803"/>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3447" tIns="37732" rIns="43447" bIns="37732" numCol="1" spcCol="1270" anchor="ctr" anchorCtr="0">
            <a:noAutofit/>
          </a:bodyPr>
          <a:lstStyle/>
          <a:p>
            <a:pPr lvl="0" algn="ctr" defTabSz="400050" rtl="0">
              <a:lnSpc>
                <a:spcPct val="90000"/>
              </a:lnSpc>
              <a:spcBef>
                <a:spcPct val="0"/>
              </a:spcBef>
              <a:spcAft>
                <a:spcPct val="35000"/>
              </a:spcAft>
            </a:pPr>
            <a:r>
              <a:rPr lang="en-US" sz="1500" kern="1200" dirty="0"/>
              <a:t>Access time is variable</a:t>
            </a:r>
          </a:p>
        </p:txBody>
      </p:sp>
      <p:sp>
        <p:nvSpPr>
          <p:cNvPr id="12" name="Freeform 11"/>
          <p:cNvSpPr/>
          <p:nvPr/>
        </p:nvSpPr>
        <p:spPr>
          <a:xfrm>
            <a:off x="1907704" y="1116012"/>
            <a:ext cx="1796057" cy="898028"/>
          </a:xfrm>
          <a:custGeom>
            <a:avLst/>
            <a:gdLst>
              <a:gd name="connsiteX0" fmla="*/ 0 w 1796057"/>
              <a:gd name="connsiteY0" fmla="*/ 89803 h 898028"/>
              <a:gd name="connsiteX1" fmla="*/ 89803 w 1796057"/>
              <a:gd name="connsiteY1" fmla="*/ 0 h 898028"/>
              <a:gd name="connsiteX2" fmla="*/ 1706254 w 1796057"/>
              <a:gd name="connsiteY2" fmla="*/ 0 h 898028"/>
              <a:gd name="connsiteX3" fmla="*/ 1796057 w 1796057"/>
              <a:gd name="connsiteY3" fmla="*/ 89803 h 898028"/>
              <a:gd name="connsiteX4" fmla="*/ 1796057 w 1796057"/>
              <a:gd name="connsiteY4" fmla="*/ 808225 h 898028"/>
              <a:gd name="connsiteX5" fmla="*/ 1706254 w 1796057"/>
              <a:gd name="connsiteY5" fmla="*/ 898028 h 898028"/>
              <a:gd name="connsiteX6" fmla="*/ 89803 w 1796057"/>
              <a:gd name="connsiteY6" fmla="*/ 898028 h 898028"/>
              <a:gd name="connsiteX7" fmla="*/ 0 w 1796057"/>
              <a:gd name="connsiteY7" fmla="*/ 808225 h 898028"/>
              <a:gd name="connsiteX8" fmla="*/ 0 w 1796057"/>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6057" h="898028">
                <a:moveTo>
                  <a:pt x="0" y="89803"/>
                </a:moveTo>
                <a:cubicBezTo>
                  <a:pt x="0" y="40206"/>
                  <a:pt x="40206" y="0"/>
                  <a:pt x="89803" y="0"/>
                </a:cubicBezTo>
                <a:lnTo>
                  <a:pt x="1706254" y="0"/>
                </a:lnTo>
                <a:cubicBezTo>
                  <a:pt x="1755851" y="0"/>
                  <a:pt x="1796057" y="40206"/>
                  <a:pt x="1796057" y="89803"/>
                </a:cubicBezTo>
                <a:lnTo>
                  <a:pt x="1796057" y="808225"/>
                </a:lnTo>
                <a:cubicBezTo>
                  <a:pt x="1796057" y="857822"/>
                  <a:pt x="1755851" y="898028"/>
                  <a:pt x="1706254" y="898028"/>
                </a:cubicBezTo>
                <a:lnTo>
                  <a:pt x="89803" y="898028"/>
                </a:lnTo>
                <a:cubicBezTo>
                  <a:pt x="40206" y="898028"/>
                  <a:pt x="0" y="857822"/>
                  <a:pt x="0" y="808225"/>
                </a:cubicBezTo>
                <a:lnTo>
                  <a:pt x="0" y="89803"/>
                </a:lnTo>
                <a:close/>
              </a:path>
            </a:pathLst>
          </a:custGeom>
          <a:solidFill>
            <a:schemeClr val="accent3"/>
          </a:solidFill>
          <a:ln>
            <a:solidFill>
              <a:schemeClr val="accent3"/>
            </a:solidFill>
          </a:ln>
        </p:spPr>
        <p:style>
          <a:lnRef idx="0">
            <a:scrgbClr r="0" g="0" b="0"/>
          </a:lnRef>
          <a:fillRef idx="3">
            <a:scrgbClr r="0" g="0" b="0"/>
          </a:fillRef>
          <a:effectRef idx="2">
            <a:schemeClr val="accent1">
              <a:hueOff val="0"/>
              <a:satOff val="0"/>
              <a:lumOff val="0"/>
              <a:alphaOff val="0"/>
            </a:schemeClr>
          </a:effectRef>
          <a:fontRef idx="minor">
            <a:schemeClr val="lt1"/>
          </a:fontRef>
        </p:style>
        <p:txBody>
          <a:bodyPr spcFirstLastPara="0" vert="horz" wrap="square" lIns="72022" tIns="56782" rIns="72022" bIns="56782" numCol="1" spcCol="1270" anchor="ctr" anchorCtr="0">
            <a:noAutofit/>
          </a:bodyPr>
          <a:lstStyle/>
          <a:p>
            <a:pPr lvl="0" algn="ctr" defTabSz="1066800" rtl="0">
              <a:lnSpc>
                <a:spcPct val="90000"/>
              </a:lnSpc>
              <a:spcBef>
                <a:spcPct val="0"/>
              </a:spcBef>
              <a:spcAft>
                <a:spcPct val="35000"/>
              </a:spcAft>
            </a:pPr>
            <a:r>
              <a:rPr lang="en-US" sz="2400" kern="1200" dirty="0"/>
              <a:t>Direct access</a:t>
            </a:r>
          </a:p>
        </p:txBody>
      </p:sp>
      <p:sp>
        <p:nvSpPr>
          <p:cNvPr id="13" name="Freeform 12"/>
          <p:cNvSpPr/>
          <p:nvPr/>
        </p:nvSpPr>
        <p:spPr>
          <a:xfrm>
            <a:off x="2123728" y="2014041"/>
            <a:ext cx="179605" cy="673521"/>
          </a:xfrm>
          <a:custGeom>
            <a:avLst/>
            <a:gdLst/>
            <a:ahLst/>
            <a:cxnLst/>
            <a:rect l="0" t="0" r="0" b="0"/>
            <a:pathLst>
              <a:path>
                <a:moveTo>
                  <a:pt x="0" y="0"/>
                </a:moveTo>
                <a:lnTo>
                  <a:pt x="0" y="673521"/>
                </a:lnTo>
                <a:lnTo>
                  <a:pt x="179605" y="673521"/>
                </a:lnTo>
              </a:path>
            </a:pathLst>
          </a:custGeom>
          <a:noFill/>
        </p:spPr>
        <p:style>
          <a:lnRef idx="1">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4" name="Freeform 13"/>
          <p:cNvSpPr/>
          <p:nvPr/>
        </p:nvSpPr>
        <p:spPr>
          <a:xfrm>
            <a:off x="2303334" y="2238548"/>
            <a:ext cx="1436846" cy="898028"/>
          </a:xfrm>
          <a:custGeom>
            <a:avLst/>
            <a:gdLst>
              <a:gd name="connsiteX0" fmla="*/ 0 w 1436846"/>
              <a:gd name="connsiteY0" fmla="*/ 89803 h 898028"/>
              <a:gd name="connsiteX1" fmla="*/ 89803 w 1436846"/>
              <a:gd name="connsiteY1" fmla="*/ 0 h 898028"/>
              <a:gd name="connsiteX2" fmla="*/ 1347043 w 1436846"/>
              <a:gd name="connsiteY2" fmla="*/ 0 h 898028"/>
              <a:gd name="connsiteX3" fmla="*/ 1436846 w 1436846"/>
              <a:gd name="connsiteY3" fmla="*/ 89803 h 898028"/>
              <a:gd name="connsiteX4" fmla="*/ 1436846 w 1436846"/>
              <a:gd name="connsiteY4" fmla="*/ 808225 h 898028"/>
              <a:gd name="connsiteX5" fmla="*/ 1347043 w 1436846"/>
              <a:gd name="connsiteY5" fmla="*/ 898028 h 898028"/>
              <a:gd name="connsiteX6" fmla="*/ 89803 w 1436846"/>
              <a:gd name="connsiteY6" fmla="*/ 898028 h 898028"/>
              <a:gd name="connsiteX7" fmla="*/ 0 w 1436846"/>
              <a:gd name="connsiteY7" fmla="*/ 808225 h 898028"/>
              <a:gd name="connsiteX8" fmla="*/ 0 w 1436846"/>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6846" h="898028">
                <a:moveTo>
                  <a:pt x="0" y="89803"/>
                </a:moveTo>
                <a:cubicBezTo>
                  <a:pt x="0" y="40206"/>
                  <a:pt x="40206" y="0"/>
                  <a:pt x="89803" y="0"/>
                </a:cubicBezTo>
                <a:lnTo>
                  <a:pt x="1347043" y="0"/>
                </a:lnTo>
                <a:cubicBezTo>
                  <a:pt x="1396640" y="0"/>
                  <a:pt x="1436846" y="40206"/>
                  <a:pt x="1436846" y="89803"/>
                </a:cubicBezTo>
                <a:lnTo>
                  <a:pt x="1436846" y="808225"/>
                </a:lnTo>
                <a:cubicBezTo>
                  <a:pt x="1436846" y="857822"/>
                  <a:pt x="1396640" y="898028"/>
                  <a:pt x="1347043" y="898028"/>
                </a:cubicBezTo>
                <a:lnTo>
                  <a:pt x="89803" y="898028"/>
                </a:lnTo>
                <a:cubicBezTo>
                  <a:pt x="40206" y="898028"/>
                  <a:pt x="0" y="857822"/>
                  <a:pt x="0" y="808225"/>
                </a:cubicBezTo>
                <a:lnTo>
                  <a:pt x="0" y="89803"/>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3447" tIns="37732" rIns="43447" bIns="37732" numCol="1" spcCol="1270" anchor="ctr" anchorCtr="0">
            <a:noAutofit/>
          </a:bodyPr>
          <a:lstStyle/>
          <a:p>
            <a:pPr lvl="0" algn="ctr" defTabSz="400050" rtl="0">
              <a:lnSpc>
                <a:spcPct val="90000"/>
              </a:lnSpc>
              <a:spcBef>
                <a:spcPct val="0"/>
              </a:spcBef>
              <a:spcAft>
                <a:spcPct val="35000"/>
              </a:spcAft>
            </a:pPr>
            <a:r>
              <a:rPr lang="en-US" sz="1500" kern="1200" dirty="0"/>
              <a:t>Involves a shared read-write mechanism</a:t>
            </a:r>
          </a:p>
        </p:txBody>
      </p:sp>
      <p:sp>
        <p:nvSpPr>
          <p:cNvPr id="15" name="Freeform 14"/>
          <p:cNvSpPr/>
          <p:nvPr/>
        </p:nvSpPr>
        <p:spPr>
          <a:xfrm>
            <a:off x="2123728" y="2014041"/>
            <a:ext cx="179605" cy="1796057"/>
          </a:xfrm>
          <a:custGeom>
            <a:avLst/>
            <a:gdLst/>
            <a:ahLst/>
            <a:cxnLst/>
            <a:rect l="0" t="0" r="0" b="0"/>
            <a:pathLst>
              <a:path>
                <a:moveTo>
                  <a:pt x="0" y="0"/>
                </a:moveTo>
                <a:lnTo>
                  <a:pt x="0" y="1796057"/>
                </a:lnTo>
                <a:lnTo>
                  <a:pt x="179605" y="1796057"/>
                </a:lnTo>
              </a:path>
            </a:pathLst>
          </a:custGeom>
          <a:noFill/>
        </p:spPr>
        <p:style>
          <a:lnRef idx="1">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6" name="Freeform 15"/>
          <p:cNvSpPr/>
          <p:nvPr/>
        </p:nvSpPr>
        <p:spPr>
          <a:xfrm>
            <a:off x="2303334" y="3280485"/>
            <a:ext cx="1806932" cy="978627"/>
          </a:xfrm>
          <a:custGeom>
            <a:avLst/>
            <a:gdLst>
              <a:gd name="connsiteX0" fmla="*/ 0 w 1436846"/>
              <a:gd name="connsiteY0" fmla="*/ 89803 h 898028"/>
              <a:gd name="connsiteX1" fmla="*/ 89803 w 1436846"/>
              <a:gd name="connsiteY1" fmla="*/ 0 h 898028"/>
              <a:gd name="connsiteX2" fmla="*/ 1347043 w 1436846"/>
              <a:gd name="connsiteY2" fmla="*/ 0 h 898028"/>
              <a:gd name="connsiteX3" fmla="*/ 1436846 w 1436846"/>
              <a:gd name="connsiteY3" fmla="*/ 89803 h 898028"/>
              <a:gd name="connsiteX4" fmla="*/ 1436846 w 1436846"/>
              <a:gd name="connsiteY4" fmla="*/ 808225 h 898028"/>
              <a:gd name="connsiteX5" fmla="*/ 1347043 w 1436846"/>
              <a:gd name="connsiteY5" fmla="*/ 898028 h 898028"/>
              <a:gd name="connsiteX6" fmla="*/ 89803 w 1436846"/>
              <a:gd name="connsiteY6" fmla="*/ 898028 h 898028"/>
              <a:gd name="connsiteX7" fmla="*/ 0 w 1436846"/>
              <a:gd name="connsiteY7" fmla="*/ 808225 h 898028"/>
              <a:gd name="connsiteX8" fmla="*/ 0 w 1436846"/>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6846" h="898028">
                <a:moveTo>
                  <a:pt x="0" y="89803"/>
                </a:moveTo>
                <a:cubicBezTo>
                  <a:pt x="0" y="40206"/>
                  <a:pt x="40206" y="0"/>
                  <a:pt x="89803" y="0"/>
                </a:cubicBezTo>
                <a:lnTo>
                  <a:pt x="1347043" y="0"/>
                </a:lnTo>
                <a:cubicBezTo>
                  <a:pt x="1396640" y="0"/>
                  <a:pt x="1436846" y="40206"/>
                  <a:pt x="1436846" y="89803"/>
                </a:cubicBezTo>
                <a:lnTo>
                  <a:pt x="1436846" y="808225"/>
                </a:lnTo>
                <a:cubicBezTo>
                  <a:pt x="1436846" y="857822"/>
                  <a:pt x="1396640" y="898028"/>
                  <a:pt x="1347043" y="898028"/>
                </a:cubicBezTo>
                <a:lnTo>
                  <a:pt x="89803" y="898028"/>
                </a:lnTo>
                <a:cubicBezTo>
                  <a:pt x="40206" y="898028"/>
                  <a:pt x="0" y="857822"/>
                  <a:pt x="0" y="808225"/>
                </a:cubicBezTo>
                <a:lnTo>
                  <a:pt x="0" y="89803"/>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3447" tIns="37732" rIns="43447" bIns="37732" numCol="1" spcCol="1270" anchor="ctr" anchorCtr="0">
            <a:noAutofit/>
          </a:bodyPr>
          <a:lstStyle/>
          <a:p>
            <a:pPr lvl="0" algn="ctr" defTabSz="400050" rtl="0">
              <a:lnSpc>
                <a:spcPct val="90000"/>
              </a:lnSpc>
              <a:spcBef>
                <a:spcPct val="0"/>
              </a:spcBef>
              <a:spcAft>
                <a:spcPct val="35000"/>
              </a:spcAft>
            </a:pPr>
            <a:r>
              <a:rPr lang="en-US" sz="1500" kern="1200" dirty="0"/>
              <a:t>Individual </a:t>
            </a:r>
            <a:r>
              <a:rPr lang="en-US" sz="1500" kern="1200" dirty="0">
                <a:solidFill>
                  <a:srgbClr val="FF0000"/>
                </a:solidFill>
              </a:rPr>
              <a:t>blocks</a:t>
            </a:r>
            <a:r>
              <a:rPr lang="en-US" sz="1500" kern="1200" dirty="0"/>
              <a:t> or records have a </a:t>
            </a:r>
            <a:r>
              <a:rPr lang="en-US" sz="1500" kern="1200" dirty="0">
                <a:solidFill>
                  <a:srgbClr val="FF0000"/>
                </a:solidFill>
              </a:rPr>
              <a:t>unique address </a:t>
            </a:r>
            <a:r>
              <a:rPr lang="en-US" sz="1500" kern="1200" dirty="0"/>
              <a:t>based on physical location</a:t>
            </a:r>
          </a:p>
        </p:txBody>
      </p:sp>
      <p:sp>
        <p:nvSpPr>
          <p:cNvPr id="17" name="Freeform 16"/>
          <p:cNvSpPr/>
          <p:nvPr/>
        </p:nvSpPr>
        <p:spPr>
          <a:xfrm>
            <a:off x="2123728" y="2014041"/>
            <a:ext cx="179605" cy="2918593"/>
          </a:xfrm>
          <a:custGeom>
            <a:avLst/>
            <a:gdLst/>
            <a:ahLst/>
            <a:cxnLst/>
            <a:rect l="0" t="0" r="0" b="0"/>
            <a:pathLst>
              <a:path>
                <a:moveTo>
                  <a:pt x="0" y="0"/>
                </a:moveTo>
                <a:lnTo>
                  <a:pt x="0" y="2918593"/>
                </a:lnTo>
                <a:lnTo>
                  <a:pt x="179605" y="2918593"/>
                </a:lnTo>
              </a:path>
            </a:pathLst>
          </a:custGeom>
          <a:noFill/>
        </p:spPr>
        <p:style>
          <a:lnRef idx="1">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8" name="Freeform 17"/>
          <p:cNvSpPr/>
          <p:nvPr/>
        </p:nvSpPr>
        <p:spPr>
          <a:xfrm>
            <a:off x="2303334" y="4483620"/>
            <a:ext cx="1436846" cy="898028"/>
          </a:xfrm>
          <a:custGeom>
            <a:avLst/>
            <a:gdLst>
              <a:gd name="connsiteX0" fmla="*/ 0 w 1436846"/>
              <a:gd name="connsiteY0" fmla="*/ 89803 h 898028"/>
              <a:gd name="connsiteX1" fmla="*/ 89803 w 1436846"/>
              <a:gd name="connsiteY1" fmla="*/ 0 h 898028"/>
              <a:gd name="connsiteX2" fmla="*/ 1347043 w 1436846"/>
              <a:gd name="connsiteY2" fmla="*/ 0 h 898028"/>
              <a:gd name="connsiteX3" fmla="*/ 1436846 w 1436846"/>
              <a:gd name="connsiteY3" fmla="*/ 89803 h 898028"/>
              <a:gd name="connsiteX4" fmla="*/ 1436846 w 1436846"/>
              <a:gd name="connsiteY4" fmla="*/ 808225 h 898028"/>
              <a:gd name="connsiteX5" fmla="*/ 1347043 w 1436846"/>
              <a:gd name="connsiteY5" fmla="*/ 898028 h 898028"/>
              <a:gd name="connsiteX6" fmla="*/ 89803 w 1436846"/>
              <a:gd name="connsiteY6" fmla="*/ 898028 h 898028"/>
              <a:gd name="connsiteX7" fmla="*/ 0 w 1436846"/>
              <a:gd name="connsiteY7" fmla="*/ 808225 h 898028"/>
              <a:gd name="connsiteX8" fmla="*/ 0 w 1436846"/>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6846" h="898028">
                <a:moveTo>
                  <a:pt x="0" y="89803"/>
                </a:moveTo>
                <a:cubicBezTo>
                  <a:pt x="0" y="40206"/>
                  <a:pt x="40206" y="0"/>
                  <a:pt x="89803" y="0"/>
                </a:cubicBezTo>
                <a:lnTo>
                  <a:pt x="1347043" y="0"/>
                </a:lnTo>
                <a:cubicBezTo>
                  <a:pt x="1396640" y="0"/>
                  <a:pt x="1436846" y="40206"/>
                  <a:pt x="1436846" y="89803"/>
                </a:cubicBezTo>
                <a:lnTo>
                  <a:pt x="1436846" y="808225"/>
                </a:lnTo>
                <a:cubicBezTo>
                  <a:pt x="1436846" y="857822"/>
                  <a:pt x="1396640" y="898028"/>
                  <a:pt x="1347043" y="898028"/>
                </a:cubicBezTo>
                <a:lnTo>
                  <a:pt x="89803" y="898028"/>
                </a:lnTo>
                <a:cubicBezTo>
                  <a:pt x="40206" y="898028"/>
                  <a:pt x="0" y="857822"/>
                  <a:pt x="0" y="808225"/>
                </a:cubicBezTo>
                <a:lnTo>
                  <a:pt x="0" y="89803"/>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3447" tIns="37732" rIns="43447" bIns="37732" numCol="1" spcCol="1270" anchor="ctr" anchorCtr="0">
            <a:noAutofit/>
          </a:bodyPr>
          <a:lstStyle/>
          <a:p>
            <a:pPr lvl="0" algn="ctr" defTabSz="400050" rtl="0">
              <a:lnSpc>
                <a:spcPct val="90000"/>
              </a:lnSpc>
              <a:spcBef>
                <a:spcPct val="0"/>
              </a:spcBef>
              <a:spcAft>
                <a:spcPct val="35000"/>
              </a:spcAft>
            </a:pPr>
            <a:r>
              <a:rPr lang="en-US" sz="1500" kern="1200" dirty="0"/>
              <a:t>Access time is variable</a:t>
            </a:r>
          </a:p>
        </p:txBody>
      </p:sp>
      <p:sp>
        <p:nvSpPr>
          <p:cNvPr id="19" name="Freeform 18"/>
          <p:cNvSpPr/>
          <p:nvPr/>
        </p:nvSpPr>
        <p:spPr>
          <a:xfrm>
            <a:off x="4126887" y="1116012"/>
            <a:ext cx="1796057" cy="898028"/>
          </a:xfrm>
          <a:custGeom>
            <a:avLst/>
            <a:gdLst>
              <a:gd name="connsiteX0" fmla="*/ 0 w 1796057"/>
              <a:gd name="connsiteY0" fmla="*/ 89803 h 898028"/>
              <a:gd name="connsiteX1" fmla="*/ 89803 w 1796057"/>
              <a:gd name="connsiteY1" fmla="*/ 0 h 898028"/>
              <a:gd name="connsiteX2" fmla="*/ 1706254 w 1796057"/>
              <a:gd name="connsiteY2" fmla="*/ 0 h 898028"/>
              <a:gd name="connsiteX3" fmla="*/ 1796057 w 1796057"/>
              <a:gd name="connsiteY3" fmla="*/ 89803 h 898028"/>
              <a:gd name="connsiteX4" fmla="*/ 1796057 w 1796057"/>
              <a:gd name="connsiteY4" fmla="*/ 808225 h 898028"/>
              <a:gd name="connsiteX5" fmla="*/ 1706254 w 1796057"/>
              <a:gd name="connsiteY5" fmla="*/ 898028 h 898028"/>
              <a:gd name="connsiteX6" fmla="*/ 89803 w 1796057"/>
              <a:gd name="connsiteY6" fmla="*/ 898028 h 898028"/>
              <a:gd name="connsiteX7" fmla="*/ 0 w 1796057"/>
              <a:gd name="connsiteY7" fmla="*/ 808225 h 898028"/>
              <a:gd name="connsiteX8" fmla="*/ 0 w 1796057"/>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6057" h="898028">
                <a:moveTo>
                  <a:pt x="0" y="89803"/>
                </a:moveTo>
                <a:cubicBezTo>
                  <a:pt x="0" y="40206"/>
                  <a:pt x="40206" y="0"/>
                  <a:pt x="89803" y="0"/>
                </a:cubicBezTo>
                <a:lnTo>
                  <a:pt x="1706254" y="0"/>
                </a:lnTo>
                <a:cubicBezTo>
                  <a:pt x="1755851" y="0"/>
                  <a:pt x="1796057" y="40206"/>
                  <a:pt x="1796057" y="89803"/>
                </a:cubicBezTo>
                <a:lnTo>
                  <a:pt x="1796057" y="808225"/>
                </a:lnTo>
                <a:cubicBezTo>
                  <a:pt x="1796057" y="857822"/>
                  <a:pt x="1755851" y="898028"/>
                  <a:pt x="1706254" y="898028"/>
                </a:cubicBezTo>
                <a:lnTo>
                  <a:pt x="89803" y="898028"/>
                </a:lnTo>
                <a:cubicBezTo>
                  <a:pt x="40206" y="898028"/>
                  <a:pt x="0" y="857822"/>
                  <a:pt x="0" y="808225"/>
                </a:cubicBezTo>
                <a:lnTo>
                  <a:pt x="0" y="89803"/>
                </a:lnTo>
                <a:close/>
              </a:path>
            </a:pathLst>
          </a:custGeom>
          <a:solidFill>
            <a:schemeClr val="accent3"/>
          </a:solidFill>
          <a:ln>
            <a:solidFill>
              <a:schemeClr val="accent3"/>
            </a:solidFill>
          </a:ln>
        </p:spPr>
        <p:style>
          <a:lnRef idx="0">
            <a:scrgbClr r="0" g="0" b="0"/>
          </a:lnRef>
          <a:fillRef idx="3">
            <a:scrgbClr r="0" g="0" b="0"/>
          </a:fillRef>
          <a:effectRef idx="2">
            <a:schemeClr val="accent1">
              <a:hueOff val="0"/>
              <a:satOff val="0"/>
              <a:lumOff val="0"/>
              <a:alphaOff val="0"/>
            </a:schemeClr>
          </a:effectRef>
          <a:fontRef idx="minor">
            <a:schemeClr val="lt1"/>
          </a:fontRef>
        </p:style>
        <p:txBody>
          <a:bodyPr spcFirstLastPara="0" vert="horz" wrap="square" lIns="72022" tIns="56782" rIns="72022" bIns="56782" numCol="1" spcCol="1270" anchor="ctr" anchorCtr="0">
            <a:noAutofit/>
          </a:bodyPr>
          <a:lstStyle/>
          <a:p>
            <a:pPr lvl="0" algn="ctr" defTabSz="1066800" rtl="0">
              <a:lnSpc>
                <a:spcPct val="90000"/>
              </a:lnSpc>
              <a:spcBef>
                <a:spcPct val="0"/>
              </a:spcBef>
              <a:spcAft>
                <a:spcPct val="35000"/>
              </a:spcAft>
            </a:pPr>
            <a:r>
              <a:rPr lang="en-US" sz="2400" kern="1200" dirty="0"/>
              <a:t>Random access</a:t>
            </a:r>
          </a:p>
        </p:txBody>
      </p:sp>
      <p:sp>
        <p:nvSpPr>
          <p:cNvPr id="20" name="Freeform 19"/>
          <p:cNvSpPr/>
          <p:nvPr/>
        </p:nvSpPr>
        <p:spPr>
          <a:xfrm>
            <a:off x="4306493" y="2014041"/>
            <a:ext cx="179605" cy="673521"/>
          </a:xfrm>
          <a:custGeom>
            <a:avLst/>
            <a:gdLst/>
            <a:ahLst/>
            <a:cxnLst/>
            <a:rect l="0" t="0" r="0" b="0"/>
            <a:pathLst>
              <a:path>
                <a:moveTo>
                  <a:pt x="0" y="0"/>
                </a:moveTo>
                <a:lnTo>
                  <a:pt x="0" y="673521"/>
                </a:lnTo>
                <a:lnTo>
                  <a:pt x="179605" y="673521"/>
                </a:lnTo>
              </a:path>
            </a:pathLst>
          </a:custGeom>
          <a:noFill/>
        </p:spPr>
        <p:style>
          <a:lnRef idx="1">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1" name="Freeform 20"/>
          <p:cNvSpPr/>
          <p:nvPr/>
        </p:nvSpPr>
        <p:spPr>
          <a:xfrm>
            <a:off x="4486098" y="2132856"/>
            <a:ext cx="2206408" cy="1147150"/>
          </a:xfrm>
          <a:custGeom>
            <a:avLst/>
            <a:gdLst>
              <a:gd name="connsiteX0" fmla="*/ 0 w 1436846"/>
              <a:gd name="connsiteY0" fmla="*/ 89803 h 898028"/>
              <a:gd name="connsiteX1" fmla="*/ 89803 w 1436846"/>
              <a:gd name="connsiteY1" fmla="*/ 0 h 898028"/>
              <a:gd name="connsiteX2" fmla="*/ 1347043 w 1436846"/>
              <a:gd name="connsiteY2" fmla="*/ 0 h 898028"/>
              <a:gd name="connsiteX3" fmla="*/ 1436846 w 1436846"/>
              <a:gd name="connsiteY3" fmla="*/ 89803 h 898028"/>
              <a:gd name="connsiteX4" fmla="*/ 1436846 w 1436846"/>
              <a:gd name="connsiteY4" fmla="*/ 808225 h 898028"/>
              <a:gd name="connsiteX5" fmla="*/ 1347043 w 1436846"/>
              <a:gd name="connsiteY5" fmla="*/ 898028 h 898028"/>
              <a:gd name="connsiteX6" fmla="*/ 89803 w 1436846"/>
              <a:gd name="connsiteY6" fmla="*/ 898028 h 898028"/>
              <a:gd name="connsiteX7" fmla="*/ 0 w 1436846"/>
              <a:gd name="connsiteY7" fmla="*/ 808225 h 898028"/>
              <a:gd name="connsiteX8" fmla="*/ 0 w 1436846"/>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6846" h="898028">
                <a:moveTo>
                  <a:pt x="0" y="89803"/>
                </a:moveTo>
                <a:cubicBezTo>
                  <a:pt x="0" y="40206"/>
                  <a:pt x="40206" y="0"/>
                  <a:pt x="89803" y="0"/>
                </a:cubicBezTo>
                <a:lnTo>
                  <a:pt x="1347043" y="0"/>
                </a:lnTo>
                <a:cubicBezTo>
                  <a:pt x="1396640" y="0"/>
                  <a:pt x="1436846" y="40206"/>
                  <a:pt x="1436846" y="89803"/>
                </a:cubicBezTo>
                <a:lnTo>
                  <a:pt x="1436846" y="808225"/>
                </a:lnTo>
                <a:cubicBezTo>
                  <a:pt x="1436846" y="857822"/>
                  <a:pt x="1396640" y="898028"/>
                  <a:pt x="1347043" y="898028"/>
                </a:cubicBezTo>
                <a:lnTo>
                  <a:pt x="89803" y="898028"/>
                </a:lnTo>
                <a:cubicBezTo>
                  <a:pt x="40206" y="898028"/>
                  <a:pt x="0" y="857822"/>
                  <a:pt x="0" y="808225"/>
                </a:cubicBezTo>
                <a:lnTo>
                  <a:pt x="0" y="89803"/>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3447" tIns="37732" rIns="43447" bIns="37732" numCol="1" spcCol="1270" anchor="ctr" anchorCtr="0">
            <a:noAutofit/>
          </a:bodyPr>
          <a:lstStyle/>
          <a:p>
            <a:pPr lvl="0" algn="ctr" defTabSz="400050" rtl="0">
              <a:lnSpc>
                <a:spcPct val="90000"/>
              </a:lnSpc>
              <a:spcBef>
                <a:spcPct val="0"/>
              </a:spcBef>
              <a:spcAft>
                <a:spcPct val="35000"/>
              </a:spcAft>
            </a:pPr>
            <a:r>
              <a:rPr lang="en-US" sz="1500" kern="1200" dirty="0">
                <a:solidFill>
                  <a:srgbClr val="FF0000"/>
                </a:solidFill>
              </a:rPr>
              <a:t>Each</a:t>
            </a:r>
            <a:r>
              <a:rPr lang="en-US" sz="1500" kern="1200" dirty="0"/>
              <a:t> addressable </a:t>
            </a:r>
            <a:r>
              <a:rPr lang="en-US" sz="1500" kern="1200" dirty="0">
                <a:solidFill>
                  <a:srgbClr val="FF0000"/>
                </a:solidFill>
              </a:rPr>
              <a:t>location</a:t>
            </a:r>
            <a:r>
              <a:rPr lang="en-US" sz="1500" kern="1200" dirty="0"/>
              <a:t> in memory has a </a:t>
            </a:r>
            <a:r>
              <a:rPr lang="en-US" sz="1500" kern="1200" dirty="0">
                <a:solidFill>
                  <a:srgbClr val="FF0000"/>
                </a:solidFill>
              </a:rPr>
              <a:t>unique</a:t>
            </a:r>
            <a:r>
              <a:rPr lang="en-US" sz="1500" kern="1200" dirty="0"/>
              <a:t>, physically wired-in addressing mechanism</a:t>
            </a:r>
          </a:p>
        </p:txBody>
      </p:sp>
      <p:sp>
        <p:nvSpPr>
          <p:cNvPr id="22" name="Freeform 21"/>
          <p:cNvSpPr/>
          <p:nvPr/>
        </p:nvSpPr>
        <p:spPr>
          <a:xfrm>
            <a:off x="4306493" y="2204864"/>
            <a:ext cx="179605" cy="1796057"/>
          </a:xfrm>
          <a:custGeom>
            <a:avLst/>
            <a:gdLst/>
            <a:ahLst/>
            <a:cxnLst/>
            <a:rect l="0" t="0" r="0" b="0"/>
            <a:pathLst>
              <a:path>
                <a:moveTo>
                  <a:pt x="0" y="0"/>
                </a:moveTo>
                <a:lnTo>
                  <a:pt x="0" y="1796057"/>
                </a:lnTo>
                <a:lnTo>
                  <a:pt x="179605" y="1796057"/>
                </a:lnTo>
              </a:path>
            </a:pathLst>
          </a:custGeom>
          <a:noFill/>
        </p:spPr>
        <p:style>
          <a:lnRef idx="1">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3" name="Freeform 22"/>
          <p:cNvSpPr/>
          <p:nvPr/>
        </p:nvSpPr>
        <p:spPr>
          <a:xfrm>
            <a:off x="4486097" y="3361083"/>
            <a:ext cx="2206409" cy="1266443"/>
          </a:xfrm>
          <a:custGeom>
            <a:avLst/>
            <a:gdLst>
              <a:gd name="connsiteX0" fmla="*/ 0 w 1436846"/>
              <a:gd name="connsiteY0" fmla="*/ 89803 h 898028"/>
              <a:gd name="connsiteX1" fmla="*/ 89803 w 1436846"/>
              <a:gd name="connsiteY1" fmla="*/ 0 h 898028"/>
              <a:gd name="connsiteX2" fmla="*/ 1347043 w 1436846"/>
              <a:gd name="connsiteY2" fmla="*/ 0 h 898028"/>
              <a:gd name="connsiteX3" fmla="*/ 1436846 w 1436846"/>
              <a:gd name="connsiteY3" fmla="*/ 89803 h 898028"/>
              <a:gd name="connsiteX4" fmla="*/ 1436846 w 1436846"/>
              <a:gd name="connsiteY4" fmla="*/ 808225 h 898028"/>
              <a:gd name="connsiteX5" fmla="*/ 1347043 w 1436846"/>
              <a:gd name="connsiteY5" fmla="*/ 898028 h 898028"/>
              <a:gd name="connsiteX6" fmla="*/ 89803 w 1436846"/>
              <a:gd name="connsiteY6" fmla="*/ 898028 h 898028"/>
              <a:gd name="connsiteX7" fmla="*/ 0 w 1436846"/>
              <a:gd name="connsiteY7" fmla="*/ 808225 h 898028"/>
              <a:gd name="connsiteX8" fmla="*/ 0 w 1436846"/>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6846" h="898028">
                <a:moveTo>
                  <a:pt x="0" y="89803"/>
                </a:moveTo>
                <a:cubicBezTo>
                  <a:pt x="0" y="40206"/>
                  <a:pt x="40206" y="0"/>
                  <a:pt x="89803" y="0"/>
                </a:cubicBezTo>
                <a:lnTo>
                  <a:pt x="1347043" y="0"/>
                </a:lnTo>
                <a:cubicBezTo>
                  <a:pt x="1396640" y="0"/>
                  <a:pt x="1436846" y="40206"/>
                  <a:pt x="1436846" y="89803"/>
                </a:cubicBezTo>
                <a:lnTo>
                  <a:pt x="1436846" y="808225"/>
                </a:lnTo>
                <a:cubicBezTo>
                  <a:pt x="1436846" y="857822"/>
                  <a:pt x="1396640" y="898028"/>
                  <a:pt x="1347043" y="898028"/>
                </a:cubicBezTo>
                <a:lnTo>
                  <a:pt x="89803" y="898028"/>
                </a:lnTo>
                <a:cubicBezTo>
                  <a:pt x="40206" y="898028"/>
                  <a:pt x="0" y="857822"/>
                  <a:pt x="0" y="808225"/>
                </a:cubicBezTo>
                <a:lnTo>
                  <a:pt x="0" y="89803"/>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3447" tIns="37732" rIns="43447" bIns="37732" numCol="1" spcCol="1270" anchor="ctr" anchorCtr="0">
            <a:noAutofit/>
          </a:bodyPr>
          <a:lstStyle/>
          <a:p>
            <a:pPr lvl="0" algn="ctr" defTabSz="400050" rtl="0">
              <a:lnSpc>
                <a:spcPct val="90000"/>
              </a:lnSpc>
              <a:spcBef>
                <a:spcPct val="0"/>
              </a:spcBef>
              <a:spcAft>
                <a:spcPct val="35000"/>
              </a:spcAft>
            </a:pPr>
            <a:r>
              <a:rPr lang="en-US" sz="1500" kern="1200" dirty="0"/>
              <a:t>The time to access a given location is independent of the sequence of prior accesses and is constant</a:t>
            </a:r>
          </a:p>
        </p:txBody>
      </p:sp>
      <p:sp>
        <p:nvSpPr>
          <p:cNvPr id="24" name="Freeform 23"/>
          <p:cNvSpPr/>
          <p:nvPr/>
        </p:nvSpPr>
        <p:spPr>
          <a:xfrm>
            <a:off x="4306493" y="2310607"/>
            <a:ext cx="179605" cy="2918593"/>
          </a:xfrm>
          <a:custGeom>
            <a:avLst/>
            <a:gdLst/>
            <a:ahLst/>
            <a:cxnLst/>
            <a:rect l="0" t="0" r="0" b="0"/>
            <a:pathLst>
              <a:path>
                <a:moveTo>
                  <a:pt x="0" y="0"/>
                </a:moveTo>
                <a:lnTo>
                  <a:pt x="0" y="2918593"/>
                </a:lnTo>
                <a:lnTo>
                  <a:pt x="179605" y="2918593"/>
                </a:lnTo>
              </a:path>
            </a:pathLst>
          </a:custGeom>
          <a:noFill/>
        </p:spPr>
        <p:style>
          <a:lnRef idx="1">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5" name="Freeform 24"/>
          <p:cNvSpPr/>
          <p:nvPr/>
        </p:nvSpPr>
        <p:spPr>
          <a:xfrm>
            <a:off x="4486098" y="4682733"/>
            <a:ext cx="2206408" cy="1266547"/>
          </a:xfrm>
          <a:custGeom>
            <a:avLst/>
            <a:gdLst>
              <a:gd name="connsiteX0" fmla="*/ 0 w 1436846"/>
              <a:gd name="connsiteY0" fmla="*/ 89803 h 898028"/>
              <a:gd name="connsiteX1" fmla="*/ 89803 w 1436846"/>
              <a:gd name="connsiteY1" fmla="*/ 0 h 898028"/>
              <a:gd name="connsiteX2" fmla="*/ 1347043 w 1436846"/>
              <a:gd name="connsiteY2" fmla="*/ 0 h 898028"/>
              <a:gd name="connsiteX3" fmla="*/ 1436846 w 1436846"/>
              <a:gd name="connsiteY3" fmla="*/ 89803 h 898028"/>
              <a:gd name="connsiteX4" fmla="*/ 1436846 w 1436846"/>
              <a:gd name="connsiteY4" fmla="*/ 808225 h 898028"/>
              <a:gd name="connsiteX5" fmla="*/ 1347043 w 1436846"/>
              <a:gd name="connsiteY5" fmla="*/ 898028 h 898028"/>
              <a:gd name="connsiteX6" fmla="*/ 89803 w 1436846"/>
              <a:gd name="connsiteY6" fmla="*/ 898028 h 898028"/>
              <a:gd name="connsiteX7" fmla="*/ 0 w 1436846"/>
              <a:gd name="connsiteY7" fmla="*/ 808225 h 898028"/>
              <a:gd name="connsiteX8" fmla="*/ 0 w 1436846"/>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6846" h="898028">
                <a:moveTo>
                  <a:pt x="0" y="89803"/>
                </a:moveTo>
                <a:cubicBezTo>
                  <a:pt x="0" y="40206"/>
                  <a:pt x="40206" y="0"/>
                  <a:pt x="89803" y="0"/>
                </a:cubicBezTo>
                <a:lnTo>
                  <a:pt x="1347043" y="0"/>
                </a:lnTo>
                <a:cubicBezTo>
                  <a:pt x="1396640" y="0"/>
                  <a:pt x="1436846" y="40206"/>
                  <a:pt x="1436846" y="89803"/>
                </a:cubicBezTo>
                <a:lnTo>
                  <a:pt x="1436846" y="808225"/>
                </a:lnTo>
                <a:cubicBezTo>
                  <a:pt x="1436846" y="857822"/>
                  <a:pt x="1396640" y="898028"/>
                  <a:pt x="1347043" y="898028"/>
                </a:cubicBezTo>
                <a:lnTo>
                  <a:pt x="89803" y="898028"/>
                </a:lnTo>
                <a:cubicBezTo>
                  <a:pt x="40206" y="898028"/>
                  <a:pt x="0" y="857822"/>
                  <a:pt x="0" y="808225"/>
                </a:cubicBezTo>
                <a:lnTo>
                  <a:pt x="0" y="89803"/>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3447" tIns="37732" rIns="43447" bIns="37732" numCol="1" spcCol="1270" anchor="ctr" anchorCtr="0">
            <a:noAutofit/>
          </a:bodyPr>
          <a:lstStyle/>
          <a:p>
            <a:pPr lvl="0" algn="ctr" defTabSz="400050" rtl="0">
              <a:lnSpc>
                <a:spcPct val="90000"/>
              </a:lnSpc>
              <a:spcBef>
                <a:spcPct val="0"/>
              </a:spcBef>
              <a:spcAft>
                <a:spcPct val="35000"/>
              </a:spcAft>
            </a:pPr>
            <a:r>
              <a:rPr lang="en-US" sz="1500" kern="1200" dirty="0"/>
              <a:t>Any location can be selected at random and directly addressed and accessed</a:t>
            </a:r>
          </a:p>
        </p:txBody>
      </p:sp>
      <p:sp>
        <p:nvSpPr>
          <p:cNvPr id="26" name="Freeform 25"/>
          <p:cNvSpPr/>
          <p:nvPr/>
        </p:nvSpPr>
        <p:spPr>
          <a:xfrm>
            <a:off x="4306493" y="2412206"/>
            <a:ext cx="179605" cy="4041130"/>
          </a:xfrm>
          <a:custGeom>
            <a:avLst/>
            <a:gdLst/>
            <a:ahLst/>
            <a:cxnLst/>
            <a:rect l="0" t="0" r="0" b="0"/>
            <a:pathLst>
              <a:path>
                <a:moveTo>
                  <a:pt x="0" y="0"/>
                </a:moveTo>
                <a:lnTo>
                  <a:pt x="0" y="4041130"/>
                </a:lnTo>
                <a:lnTo>
                  <a:pt x="179605" y="4041130"/>
                </a:lnTo>
              </a:path>
            </a:pathLst>
          </a:custGeom>
          <a:noFill/>
        </p:spPr>
        <p:style>
          <a:lnRef idx="1">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7" name="Freeform 26"/>
          <p:cNvSpPr/>
          <p:nvPr/>
        </p:nvSpPr>
        <p:spPr>
          <a:xfrm>
            <a:off x="4486098" y="5987356"/>
            <a:ext cx="2206408" cy="898028"/>
          </a:xfrm>
          <a:custGeom>
            <a:avLst/>
            <a:gdLst>
              <a:gd name="connsiteX0" fmla="*/ 0 w 1436846"/>
              <a:gd name="connsiteY0" fmla="*/ 89803 h 898028"/>
              <a:gd name="connsiteX1" fmla="*/ 89803 w 1436846"/>
              <a:gd name="connsiteY1" fmla="*/ 0 h 898028"/>
              <a:gd name="connsiteX2" fmla="*/ 1347043 w 1436846"/>
              <a:gd name="connsiteY2" fmla="*/ 0 h 898028"/>
              <a:gd name="connsiteX3" fmla="*/ 1436846 w 1436846"/>
              <a:gd name="connsiteY3" fmla="*/ 89803 h 898028"/>
              <a:gd name="connsiteX4" fmla="*/ 1436846 w 1436846"/>
              <a:gd name="connsiteY4" fmla="*/ 808225 h 898028"/>
              <a:gd name="connsiteX5" fmla="*/ 1347043 w 1436846"/>
              <a:gd name="connsiteY5" fmla="*/ 898028 h 898028"/>
              <a:gd name="connsiteX6" fmla="*/ 89803 w 1436846"/>
              <a:gd name="connsiteY6" fmla="*/ 898028 h 898028"/>
              <a:gd name="connsiteX7" fmla="*/ 0 w 1436846"/>
              <a:gd name="connsiteY7" fmla="*/ 808225 h 898028"/>
              <a:gd name="connsiteX8" fmla="*/ 0 w 1436846"/>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6846" h="898028">
                <a:moveTo>
                  <a:pt x="0" y="89803"/>
                </a:moveTo>
                <a:cubicBezTo>
                  <a:pt x="0" y="40206"/>
                  <a:pt x="40206" y="0"/>
                  <a:pt x="89803" y="0"/>
                </a:cubicBezTo>
                <a:lnTo>
                  <a:pt x="1347043" y="0"/>
                </a:lnTo>
                <a:cubicBezTo>
                  <a:pt x="1396640" y="0"/>
                  <a:pt x="1436846" y="40206"/>
                  <a:pt x="1436846" y="89803"/>
                </a:cubicBezTo>
                <a:lnTo>
                  <a:pt x="1436846" y="808225"/>
                </a:lnTo>
                <a:cubicBezTo>
                  <a:pt x="1436846" y="857822"/>
                  <a:pt x="1396640" y="898028"/>
                  <a:pt x="1347043" y="898028"/>
                </a:cubicBezTo>
                <a:lnTo>
                  <a:pt x="89803" y="898028"/>
                </a:lnTo>
                <a:cubicBezTo>
                  <a:pt x="40206" y="898028"/>
                  <a:pt x="0" y="857822"/>
                  <a:pt x="0" y="808225"/>
                </a:cubicBezTo>
                <a:lnTo>
                  <a:pt x="0" y="89803"/>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3447" tIns="37732" rIns="43447" bIns="37732" numCol="1" spcCol="1270" anchor="ctr" anchorCtr="0">
            <a:noAutofit/>
          </a:bodyPr>
          <a:lstStyle/>
          <a:p>
            <a:pPr lvl="0" algn="ctr" defTabSz="400050" rtl="0">
              <a:lnSpc>
                <a:spcPct val="90000"/>
              </a:lnSpc>
              <a:spcBef>
                <a:spcPct val="0"/>
              </a:spcBef>
              <a:spcAft>
                <a:spcPct val="35000"/>
              </a:spcAft>
            </a:pPr>
            <a:r>
              <a:rPr lang="en-US" sz="1500" kern="1200" dirty="0">
                <a:solidFill>
                  <a:srgbClr val="FF0000"/>
                </a:solidFill>
              </a:rPr>
              <a:t>Main memory and some cache systems </a:t>
            </a:r>
            <a:r>
              <a:rPr lang="en-US" sz="1500" kern="1200" dirty="0"/>
              <a:t>are random access</a:t>
            </a:r>
          </a:p>
        </p:txBody>
      </p:sp>
      <p:sp>
        <p:nvSpPr>
          <p:cNvPr id="28" name="Freeform 27"/>
          <p:cNvSpPr/>
          <p:nvPr/>
        </p:nvSpPr>
        <p:spPr>
          <a:xfrm>
            <a:off x="6732240" y="1116012"/>
            <a:ext cx="1796057" cy="898028"/>
          </a:xfrm>
          <a:custGeom>
            <a:avLst/>
            <a:gdLst>
              <a:gd name="connsiteX0" fmla="*/ 0 w 1796057"/>
              <a:gd name="connsiteY0" fmla="*/ 89803 h 898028"/>
              <a:gd name="connsiteX1" fmla="*/ 89803 w 1796057"/>
              <a:gd name="connsiteY1" fmla="*/ 0 h 898028"/>
              <a:gd name="connsiteX2" fmla="*/ 1706254 w 1796057"/>
              <a:gd name="connsiteY2" fmla="*/ 0 h 898028"/>
              <a:gd name="connsiteX3" fmla="*/ 1796057 w 1796057"/>
              <a:gd name="connsiteY3" fmla="*/ 89803 h 898028"/>
              <a:gd name="connsiteX4" fmla="*/ 1796057 w 1796057"/>
              <a:gd name="connsiteY4" fmla="*/ 808225 h 898028"/>
              <a:gd name="connsiteX5" fmla="*/ 1706254 w 1796057"/>
              <a:gd name="connsiteY5" fmla="*/ 898028 h 898028"/>
              <a:gd name="connsiteX6" fmla="*/ 89803 w 1796057"/>
              <a:gd name="connsiteY6" fmla="*/ 898028 h 898028"/>
              <a:gd name="connsiteX7" fmla="*/ 0 w 1796057"/>
              <a:gd name="connsiteY7" fmla="*/ 808225 h 898028"/>
              <a:gd name="connsiteX8" fmla="*/ 0 w 1796057"/>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6057" h="898028">
                <a:moveTo>
                  <a:pt x="0" y="89803"/>
                </a:moveTo>
                <a:cubicBezTo>
                  <a:pt x="0" y="40206"/>
                  <a:pt x="40206" y="0"/>
                  <a:pt x="89803" y="0"/>
                </a:cubicBezTo>
                <a:lnTo>
                  <a:pt x="1706254" y="0"/>
                </a:lnTo>
                <a:cubicBezTo>
                  <a:pt x="1755851" y="0"/>
                  <a:pt x="1796057" y="40206"/>
                  <a:pt x="1796057" y="89803"/>
                </a:cubicBezTo>
                <a:lnTo>
                  <a:pt x="1796057" y="808225"/>
                </a:lnTo>
                <a:cubicBezTo>
                  <a:pt x="1796057" y="857822"/>
                  <a:pt x="1755851" y="898028"/>
                  <a:pt x="1706254" y="898028"/>
                </a:cubicBezTo>
                <a:lnTo>
                  <a:pt x="89803" y="898028"/>
                </a:lnTo>
                <a:cubicBezTo>
                  <a:pt x="40206" y="898028"/>
                  <a:pt x="0" y="857822"/>
                  <a:pt x="0" y="808225"/>
                </a:cubicBezTo>
                <a:lnTo>
                  <a:pt x="0" y="89803"/>
                </a:lnTo>
                <a:close/>
              </a:path>
            </a:pathLst>
          </a:custGeom>
          <a:solidFill>
            <a:schemeClr val="accent3"/>
          </a:solidFill>
          <a:ln>
            <a:solidFill>
              <a:schemeClr val="accent3"/>
            </a:solidFill>
          </a:ln>
        </p:spPr>
        <p:style>
          <a:lnRef idx="0">
            <a:scrgbClr r="0" g="0" b="0"/>
          </a:lnRef>
          <a:fillRef idx="3">
            <a:scrgbClr r="0" g="0" b="0"/>
          </a:fillRef>
          <a:effectRef idx="2">
            <a:schemeClr val="accent1">
              <a:hueOff val="0"/>
              <a:satOff val="0"/>
              <a:lumOff val="0"/>
              <a:alphaOff val="0"/>
            </a:schemeClr>
          </a:effectRef>
          <a:fontRef idx="minor">
            <a:schemeClr val="lt1"/>
          </a:fontRef>
        </p:style>
        <p:txBody>
          <a:bodyPr spcFirstLastPara="0" vert="horz" wrap="square" lIns="72022" tIns="56782" rIns="72022" bIns="56782" numCol="1" spcCol="1270" anchor="ctr" anchorCtr="0">
            <a:noAutofit/>
          </a:bodyPr>
          <a:lstStyle/>
          <a:p>
            <a:pPr lvl="0" algn="ctr" defTabSz="1066800" rtl="0">
              <a:lnSpc>
                <a:spcPct val="90000"/>
              </a:lnSpc>
              <a:spcBef>
                <a:spcPct val="0"/>
              </a:spcBef>
              <a:spcAft>
                <a:spcPct val="35000"/>
              </a:spcAft>
            </a:pPr>
            <a:r>
              <a:rPr lang="en-GB" sz="2400" kern="1200" dirty="0"/>
              <a:t>Associative</a:t>
            </a:r>
          </a:p>
        </p:txBody>
      </p:sp>
      <p:sp>
        <p:nvSpPr>
          <p:cNvPr id="29" name="Freeform 28"/>
          <p:cNvSpPr/>
          <p:nvPr/>
        </p:nvSpPr>
        <p:spPr>
          <a:xfrm>
            <a:off x="6948264" y="2014041"/>
            <a:ext cx="179605" cy="673521"/>
          </a:xfrm>
          <a:custGeom>
            <a:avLst/>
            <a:gdLst/>
            <a:ahLst/>
            <a:cxnLst/>
            <a:rect l="0" t="0" r="0" b="0"/>
            <a:pathLst>
              <a:path>
                <a:moveTo>
                  <a:pt x="0" y="0"/>
                </a:moveTo>
                <a:lnTo>
                  <a:pt x="0" y="673521"/>
                </a:lnTo>
                <a:lnTo>
                  <a:pt x="179605" y="673521"/>
                </a:lnTo>
              </a:path>
            </a:pathLst>
          </a:custGeom>
          <a:noFill/>
        </p:spPr>
        <p:style>
          <a:lnRef idx="1">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30" name="Freeform 29"/>
          <p:cNvSpPr/>
          <p:nvPr/>
        </p:nvSpPr>
        <p:spPr>
          <a:xfrm>
            <a:off x="7127869" y="2174489"/>
            <a:ext cx="1763687" cy="1110495"/>
          </a:xfrm>
          <a:custGeom>
            <a:avLst/>
            <a:gdLst>
              <a:gd name="connsiteX0" fmla="*/ 0 w 1436846"/>
              <a:gd name="connsiteY0" fmla="*/ 89803 h 898028"/>
              <a:gd name="connsiteX1" fmla="*/ 89803 w 1436846"/>
              <a:gd name="connsiteY1" fmla="*/ 0 h 898028"/>
              <a:gd name="connsiteX2" fmla="*/ 1347043 w 1436846"/>
              <a:gd name="connsiteY2" fmla="*/ 0 h 898028"/>
              <a:gd name="connsiteX3" fmla="*/ 1436846 w 1436846"/>
              <a:gd name="connsiteY3" fmla="*/ 89803 h 898028"/>
              <a:gd name="connsiteX4" fmla="*/ 1436846 w 1436846"/>
              <a:gd name="connsiteY4" fmla="*/ 808225 h 898028"/>
              <a:gd name="connsiteX5" fmla="*/ 1347043 w 1436846"/>
              <a:gd name="connsiteY5" fmla="*/ 898028 h 898028"/>
              <a:gd name="connsiteX6" fmla="*/ 89803 w 1436846"/>
              <a:gd name="connsiteY6" fmla="*/ 898028 h 898028"/>
              <a:gd name="connsiteX7" fmla="*/ 0 w 1436846"/>
              <a:gd name="connsiteY7" fmla="*/ 808225 h 898028"/>
              <a:gd name="connsiteX8" fmla="*/ 0 w 1436846"/>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6846" h="898028">
                <a:moveTo>
                  <a:pt x="0" y="89803"/>
                </a:moveTo>
                <a:cubicBezTo>
                  <a:pt x="0" y="40206"/>
                  <a:pt x="40206" y="0"/>
                  <a:pt x="89803" y="0"/>
                </a:cubicBezTo>
                <a:lnTo>
                  <a:pt x="1347043" y="0"/>
                </a:lnTo>
                <a:cubicBezTo>
                  <a:pt x="1396640" y="0"/>
                  <a:pt x="1436846" y="40206"/>
                  <a:pt x="1436846" y="89803"/>
                </a:cubicBezTo>
                <a:lnTo>
                  <a:pt x="1436846" y="808225"/>
                </a:lnTo>
                <a:cubicBezTo>
                  <a:pt x="1436846" y="857822"/>
                  <a:pt x="1396640" y="898028"/>
                  <a:pt x="1347043" y="898028"/>
                </a:cubicBezTo>
                <a:lnTo>
                  <a:pt x="89803" y="898028"/>
                </a:lnTo>
                <a:cubicBezTo>
                  <a:pt x="40206" y="898028"/>
                  <a:pt x="0" y="857822"/>
                  <a:pt x="0" y="808225"/>
                </a:cubicBezTo>
                <a:lnTo>
                  <a:pt x="0" y="89803"/>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3447" tIns="37732" rIns="43447" bIns="37732" numCol="1" spcCol="1270" anchor="ctr" anchorCtr="0">
            <a:noAutofit/>
          </a:bodyPr>
          <a:lstStyle/>
          <a:p>
            <a:pPr lvl="0" algn="ctr" defTabSz="400050" rtl="0">
              <a:lnSpc>
                <a:spcPct val="90000"/>
              </a:lnSpc>
              <a:spcBef>
                <a:spcPct val="0"/>
              </a:spcBef>
              <a:spcAft>
                <a:spcPct val="35000"/>
              </a:spcAft>
            </a:pPr>
            <a:r>
              <a:rPr lang="en-US" sz="1500" kern="1200" dirty="0"/>
              <a:t>A word is retrieved based on a portion of its contents rather than its address</a:t>
            </a:r>
          </a:p>
        </p:txBody>
      </p:sp>
      <p:sp>
        <p:nvSpPr>
          <p:cNvPr id="31" name="Freeform 30"/>
          <p:cNvSpPr/>
          <p:nvPr/>
        </p:nvSpPr>
        <p:spPr>
          <a:xfrm>
            <a:off x="6948264" y="3001095"/>
            <a:ext cx="179605" cy="1796057"/>
          </a:xfrm>
          <a:custGeom>
            <a:avLst/>
            <a:gdLst/>
            <a:ahLst/>
            <a:cxnLst/>
            <a:rect l="0" t="0" r="0" b="0"/>
            <a:pathLst>
              <a:path>
                <a:moveTo>
                  <a:pt x="0" y="0"/>
                </a:moveTo>
                <a:lnTo>
                  <a:pt x="0" y="1796057"/>
                </a:lnTo>
                <a:lnTo>
                  <a:pt x="179605" y="1796057"/>
                </a:lnTo>
              </a:path>
            </a:pathLst>
          </a:custGeom>
          <a:noFill/>
        </p:spPr>
        <p:style>
          <a:lnRef idx="1">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32" name="Freeform 31"/>
          <p:cNvSpPr/>
          <p:nvPr/>
        </p:nvSpPr>
        <p:spPr>
          <a:xfrm>
            <a:off x="7127869" y="3433092"/>
            <a:ext cx="1763687" cy="2372172"/>
          </a:xfrm>
          <a:custGeom>
            <a:avLst/>
            <a:gdLst>
              <a:gd name="connsiteX0" fmla="*/ 0 w 1436846"/>
              <a:gd name="connsiteY0" fmla="*/ 89803 h 898028"/>
              <a:gd name="connsiteX1" fmla="*/ 89803 w 1436846"/>
              <a:gd name="connsiteY1" fmla="*/ 0 h 898028"/>
              <a:gd name="connsiteX2" fmla="*/ 1347043 w 1436846"/>
              <a:gd name="connsiteY2" fmla="*/ 0 h 898028"/>
              <a:gd name="connsiteX3" fmla="*/ 1436846 w 1436846"/>
              <a:gd name="connsiteY3" fmla="*/ 89803 h 898028"/>
              <a:gd name="connsiteX4" fmla="*/ 1436846 w 1436846"/>
              <a:gd name="connsiteY4" fmla="*/ 808225 h 898028"/>
              <a:gd name="connsiteX5" fmla="*/ 1347043 w 1436846"/>
              <a:gd name="connsiteY5" fmla="*/ 898028 h 898028"/>
              <a:gd name="connsiteX6" fmla="*/ 89803 w 1436846"/>
              <a:gd name="connsiteY6" fmla="*/ 898028 h 898028"/>
              <a:gd name="connsiteX7" fmla="*/ 0 w 1436846"/>
              <a:gd name="connsiteY7" fmla="*/ 808225 h 898028"/>
              <a:gd name="connsiteX8" fmla="*/ 0 w 1436846"/>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6846" h="898028">
                <a:moveTo>
                  <a:pt x="0" y="89803"/>
                </a:moveTo>
                <a:cubicBezTo>
                  <a:pt x="0" y="40206"/>
                  <a:pt x="40206" y="0"/>
                  <a:pt x="89803" y="0"/>
                </a:cubicBezTo>
                <a:lnTo>
                  <a:pt x="1347043" y="0"/>
                </a:lnTo>
                <a:cubicBezTo>
                  <a:pt x="1396640" y="0"/>
                  <a:pt x="1436846" y="40206"/>
                  <a:pt x="1436846" y="89803"/>
                </a:cubicBezTo>
                <a:lnTo>
                  <a:pt x="1436846" y="808225"/>
                </a:lnTo>
                <a:cubicBezTo>
                  <a:pt x="1436846" y="857822"/>
                  <a:pt x="1396640" y="898028"/>
                  <a:pt x="1347043" y="898028"/>
                </a:cubicBezTo>
                <a:lnTo>
                  <a:pt x="89803" y="898028"/>
                </a:lnTo>
                <a:cubicBezTo>
                  <a:pt x="40206" y="898028"/>
                  <a:pt x="0" y="857822"/>
                  <a:pt x="0" y="808225"/>
                </a:cubicBezTo>
                <a:lnTo>
                  <a:pt x="0" y="89803"/>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3447" tIns="37732" rIns="43447" bIns="37732" numCol="1" spcCol="1270" anchor="ctr" anchorCtr="0">
            <a:noAutofit/>
          </a:bodyPr>
          <a:lstStyle/>
          <a:p>
            <a:pPr lvl="0" algn="ctr" defTabSz="400050" rtl="0">
              <a:lnSpc>
                <a:spcPct val="90000"/>
              </a:lnSpc>
              <a:spcBef>
                <a:spcPct val="0"/>
              </a:spcBef>
              <a:spcAft>
                <a:spcPct val="35000"/>
              </a:spcAft>
            </a:pPr>
            <a:r>
              <a:rPr lang="en-US" sz="1500" kern="1200" dirty="0">
                <a:solidFill>
                  <a:srgbClr val="FF0000"/>
                </a:solidFill>
              </a:rPr>
              <a:t>Each location has its own addressing </a:t>
            </a:r>
            <a:r>
              <a:rPr lang="en-US" sz="1500" kern="1200" dirty="0"/>
              <a:t>mechanism and retrieval time is constant independent of location or prior access patterns</a:t>
            </a:r>
          </a:p>
        </p:txBody>
      </p:sp>
      <p:sp>
        <p:nvSpPr>
          <p:cNvPr id="34" name="Freeform 33"/>
          <p:cNvSpPr/>
          <p:nvPr/>
        </p:nvSpPr>
        <p:spPr>
          <a:xfrm>
            <a:off x="7127868" y="5890682"/>
            <a:ext cx="1763688" cy="898028"/>
          </a:xfrm>
          <a:custGeom>
            <a:avLst/>
            <a:gdLst>
              <a:gd name="connsiteX0" fmla="*/ 0 w 1436846"/>
              <a:gd name="connsiteY0" fmla="*/ 89803 h 898028"/>
              <a:gd name="connsiteX1" fmla="*/ 89803 w 1436846"/>
              <a:gd name="connsiteY1" fmla="*/ 0 h 898028"/>
              <a:gd name="connsiteX2" fmla="*/ 1347043 w 1436846"/>
              <a:gd name="connsiteY2" fmla="*/ 0 h 898028"/>
              <a:gd name="connsiteX3" fmla="*/ 1436846 w 1436846"/>
              <a:gd name="connsiteY3" fmla="*/ 89803 h 898028"/>
              <a:gd name="connsiteX4" fmla="*/ 1436846 w 1436846"/>
              <a:gd name="connsiteY4" fmla="*/ 808225 h 898028"/>
              <a:gd name="connsiteX5" fmla="*/ 1347043 w 1436846"/>
              <a:gd name="connsiteY5" fmla="*/ 898028 h 898028"/>
              <a:gd name="connsiteX6" fmla="*/ 89803 w 1436846"/>
              <a:gd name="connsiteY6" fmla="*/ 898028 h 898028"/>
              <a:gd name="connsiteX7" fmla="*/ 0 w 1436846"/>
              <a:gd name="connsiteY7" fmla="*/ 808225 h 898028"/>
              <a:gd name="connsiteX8" fmla="*/ 0 w 1436846"/>
              <a:gd name="connsiteY8" fmla="*/ 89803 h 898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6846" h="898028">
                <a:moveTo>
                  <a:pt x="0" y="89803"/>
                </a:moveTo>
                <a:cubicBezTo>
                  <a:pt x="0" y="40206"/>
                  <a:pt x="40206" y="0"/>
                  <a:pt x="89803" y="0"/>
                </a:cubicBezTo>
                <a:lnTo>
                  <a:pt x="1347043" y="0"/>
                </a:lnTo>
                <a:cubicBezTo>
                  <a:pt x="1396640" y="0"/>
                  <a:pt x="1436846" y="40206"/>
                  <a:pt x="1436846" y="89803"/>
                </a:cubicBezTo>
                <a:lnTo>
                  <a:pt x="1436846" y="808225"/>
                </a:lnTo>
                <a:cubicBezTo>
                  <a:pt x="1436846" y="857822"/>
                  <a:pt x="1396640" y="898028"/>
                  <a:pt x="1347043" y="898028"/>
                </a:cubicBezTo>
                <a:lnTo>
                  <a:pt x="89803" y="898028"/>
                </a:lnTo>
                <a:cubicBezTo>
                  <a:pt x="40206" y="898028"/>
                  <a:pt x="0" y="857822"/>
                  <a:pt x="0" y="808225"/>
                </a:cubicBezTo>
                <a:lnTo>
                  <a:pt x="0" y="89803"/>
                </a:lnTo>
                <a:close/>
              </a:path>
            </a:pathLst>
          </a:custGeom>
        </p:spPr>
        <p:style>
          <a:lnRef idx="1">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43447" tIns="37732" rIns="43447" bIns="37732" numCol="1" spcCol="1270" anchor="ctr" anchorCtr="0">
            <a:noAutofit/>
          </a:bodyPr>
          <a:lstStyle/>
          <a:p>
            <a:pPr lvl="0" algn="ctr" defTabSz="400050" rtl="0">
              <a:lnSpc>
                <a:spcPct val="90000"/>
              </a:lnSpc>
              <a:spcBef>
                <a:spcPct val="0"/>
              </a:spcBef>
              <a:spcAft>
                <a:spcPct val="35000"/>
              </a:spcAft>
            </a:pPr>
            <a:r>
              <a:rPr lang="en-US" sz="1500" kern="1200" dirty="0">
                <a:solidFill>
                  <a:srgbClr val="FF0000"/>
                </a:solidFill>
              </a:rPr>
              <a:t>Cache</a:t>
            </a:r>
            <a:r>
              <a:rPr lang="en-US" sz="1500" kern="1200" dirty="0"/>
              <a:t> memories may employ associative access</a:t>
            </a:r>
          </a:p>
        </p:txBody>
      </p:sp>
      <p:sp>
        <p:nvSpPr>
          <p:cNvPr id="2" name="Footer Placeholder 1"/>
          <p:cNvSpPr>
            <a:spLocks noGrp="1"/>
          </p:cNvSpPr>
          <p:nvPr>
            <p:ph type="ftr" sz="quarter" idx="11"/>
          </p:nvPr>
        </p:nvSpPr>
        <p:spPr/>
        <p:txBody>
          <a:bodyPr/>
          <a:lstStyle/>
          <a:p>
            <a:r>
              <a:rPr lang="en-US" dirty="0"/>
              <a:t>© 2016 Pearson Education, Inc., Hoboken, NJ. All rights reserved.</a:t>
            </a:r>
          </a:p>
        </p:txBody>
      </p:sp>
      <p:sp>
        <p:nvSpPr>
          <p:cNvPr id="38" name="Freeform 37"/>
          <p:cNvSpPr/>
          <p:nvPr/>
        </p:nvSpPr>
        <p:spPr>
          <a:xfrm>
            <a:off x="6948263" y="2276872"/>
            <a:ext cx="179605" cy="4041130"/>
          </a:xfrm>
          <a:custGeom>
            <a:avLst/>
            <a:gdLst/>
            <a:ahLst/>
            <a:cxnLst/>
            <a:rect l="0" t="0" r="0" b="0"/>
            <a:pathLst>
              <a:path>
                <a:moveTo>
                  <a:pt x="0" y="0"/>
                </a:moveTo>
                <a:lnTo>
                  <a:pt x="0" y="4041130"/>
                </a:lnTo>
                <a:lnTo>
                  <a:pt x="179605" y="4041130"/>
                </a:lnTo>
              </a:path>
            </a:pathLst>
          </a:custGeom>
          <a:noFill/>
        </p:spPr>
        <p:style>
          <a:lnRef idx="1">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idx="4294967295"/>
          </p:nvPr>
        </p:nvSpPr>
        <p:spPr>
          <a:xfrm>
            <a:off x="251520" y="116632"/>
            <a:ext cx="7556500" cy="1116012"/>
          </a:xfrm>
        </p:spPr>
        <p:txBody>
          <a:bodyPr/>
          <a:lstStyle/>
          <a:p>
            <a:r>
              <a:rPr lang="en-GB" dirty="0">
                <a:effectLst>
                  <a:outerShdw blurRad="38100" dist="38100" dir="2700000" algn="tl">
                    <a:srgbClr val="000000">
                      <a:alpha val="43137"/>
                    </a:srgbClr>
                  </a:outerShdw>
                </a:effectLst>
              </a:rPr>
              <a:t>Capacity and Performance:</a:t>
            </a:r>
          </a:p>
        </p:txBody>
      </p:sp>
      <p:graphicFrame>
        <p:nvGraphicFramePr>
          <p:cNvPr id="42" name="Content Placeholder 41"/>
          <p:cNvGraphicFramePr>
            <a:graphicFrameLocks noGrp="1"/>
          </p:cNvGraphicFramePr>
          <p:nvPr>
            <p:ph idx="4294967295"/>
            <p:extLst>
              <p:ext uri="{D42A27DB-BD31-4B8C-83A1-F6EECF244321}">
                <p14:modId xmlns:p14="http://schemas.microsoft.com/office/powerpoint/2010/main" val="3845604461"/>
              </p:ext>
            </p:extLst>
          </p:nvPr>
        </p:nvGraphicFramePr>
        <p:xfrm>
          <a:off x="-324544" y="691894"/>
          <a:ext cx="9500142" cy="61661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a:xfrm>
            <a:off x="201706" y="6160219"/>
            <a:ext cx="6122894" cy="365125"/>
          </a:xfrm>
        </p:spPr>
        <p:txBody>
          <a:bodyPr/>
          <a:lstStyle/>
          <a:p>
            <a:r>
              <a:rPr lang="en-US" dirty="0"/>
              <a:t>© 2016 Pearson Education, Inc., Hoboken, NJ. 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260648"/>
            <a:ext cx="7368987" cy="1116106"/>
          </a:xfrm>
        </p:spPr>
        <p:txBody>
          <a:bodyPr/>
          <a:lstStyle/>
          <a:p>
            <a:r>
              <a:rPr lang="en-US" dirty="0">
                <a:effectLst>
                  <a:outerShdw blurRad="38100" dist="38100" dir="2700000" algn="tl">
                    <a:srgbClr val="000000">
                      <a:alpha val="43137"/>
                    </a:srgbClr>
                  </a:outerShdw>
                </a:effectLst>
              </a:rPr>
              <a:t>Memory</a:t>
            </a:r>
          </a:p>
        </p:txBody>
      </p:sp>
      <p:sp>
        <p:nvSpPr>
          <p:cNvPr id="3" name="Content Placeholder 2"/>
          <p:cNvSpPr>
            <a:spLocks noGrp="1"/>
          </p:cNvSpPr>
          <p:nvPr>
            <p:ph idx="1"/>
          </p:nvPr>
        </p:nvSpPr>
        <p:spPr>
          <a:xfrm>
            <a:off x="467544" y="1052736"/>
            <a:ext cx="7848600" cy="5410200"/>
          </a:xfrm>
        </p:spPr>
        <p:txBody>
          <a:bodyPr>
            <a:normAutofit fontScale="77500" lnSpcReduction="20000"/>
          </a:bodyPr>
          <a:lstStyle/>
          <a:p>
            <a:pPr marL="228600" lvl="1">
              <a:spcBef>
                <a:spcPts val="2000"/>
              </a:spcBef>
              <a:buClr>
                <a:schemeClr val="accent1"/>
              </a:buClr>
            </a:pPr>
            <a:r>
              <a:rPr lang="en-US" sz="2162" dirty="0"/>
              <a:t>The most common forms are: </a:t>
            </a:r>
          </a:p>
          <a:p>
            <a:pPr lvl="1"/>
            <a:r>
              <a:rPr lang="en-US" sz="1765" dirty="0"/>
              <a:t>Semiconductor memory</a:t>
            </a:r>
          </a:p>
          <a:p>
            <a:pPr lvl="1"/>
            <a:r>
              <a:rPr lang="en-US" sz="1765" dirty="0"/>
              <a:t>Magnetic surface memory </a:t>
            </a:r>
          </a:p>
          <a:p>
            <a:pPr lvl="1"/>
            <a:r>
              <a:rPr lang="en-US" sz="1765" dirty="0"/>
              <a:t>Optical</a:t>
            </a:r>
          </a:p>
          <a:p>
            <a:pPr lvl="1"/>
            <a:r>
              <a:rPr lang="en-US" sz="1765" dirty="0"/>
              <a:t>Magneto-optical</a:t>
            </a:r>
          </a:p>
          <a:p>
            <a:pPr marL="228600" lvl="1">
              <a:spcBef>
                <a:spcPts val="2000"/>
              </a:spcBef>
              <a:buClr>
                <a:schemeClr val="accent1"/>
              </a:buClr>
            </a:pPr>
            <a:r>
              <a:rPr lang="en-US" sz="2118" dirty="0"/>
              <a:t>Several physical characteristics of data storage are important:</a:t>
            </a:r>
          </a:p>
          <a:p>
            <a:pPr lvl="1"/>
            <a:r>
              <a:rPr lang="en-US" dirty="0"/>
              <a:t>Volatile memory </a:t>
            </a:r>
          </a:p>
          <a:p>
            <a:pPr lvl="2"/>
            <a:r>
              <a:rPr lang="en-US" dirty="0"/>
              <a:t>Information decays naturally or is lost when electrical power is switched off</a:t>
            </a:r>
          </a:p>
          <a:p>
            <a:pPr lvl="1"/>
            <a:r>
              <a:rPr lang="en-US" dirty="0"/>
              <a:t>Nonvolatile memory </a:t>
            </a:r>
          </a:p>
          <a:p>
            <a:pPr lvl="2"/>
            <a:r>
              <a:rPr lang="en-US" dirty="0"/>
              <a:t>Once recorded, information remains without deterioration until deliberately changed</a:t>
            </a:r>
          </a:p>
          <a:p>
            <a:pPr lvl="2"/>
            <a:r>
              <a:rPr lang="en-US" dirty="0"/>
              <a:t>No electrical power is needed to retain information</a:t>
            </a:r>
          </a:p>
          <a:p>
            <a:pPr lvl="1"/>
            <a:r>
              <a:rPr lang="en-US" dirty="0"/>
              <a:t>Magnetic-surface memories </a:t>
            </a:r>
          </a:p>
          <a:p>
            <a:pPr lvl="2"/>
            <a:r>
              <a:rPr lang="en-US" dirty="0"/>
              <a:t>Are nonvolatile</a:t>
            </a:r>
          </a:p>
          <a:p>
            <a:pPr lvl="1"/>
            <a:r>
              <a:rPr lang="en-US" dirty="0"/>
              <a:t>Semiconductor memory </a:t>
            </a:r>
          </a:p>
          <a:p>
            <a:pPr lvl="2"/>
            <a:r>
              <a:rPr lang="en-US" dirty="0"/>
              <a:t>May be either volatile or nonvolatile</a:t>
            </a:r>
          </a:p>
          <a:p>
            <a:pPr lvl="1"/>
            <a:r>
              <a:rPr lang="en-US" dirty="0"/>
              <a:t>Nonerasable memory</a:t>
            </a:r>
          </a:p>
          <a:p>
            <a:pPr lvl="2"/>
            <a:r>
              <a:rPr lang="en-US" dirty="0"/>
              <a:t>Cannot be altered, except by destroying the storage unit</a:t>
            </a:r>
          </a:p>
          <a:p>
            <a:pPr lvl="2"/>
            <a:r>
              <a:rPr lang="en-US" dirty="0"/>
              <a:t>Semiconductor memory of this type is known as read-only memory (ROM)</a:t>
            </a:r>
          </a:p>
          <a:p>
            <a:pPr marL="228600" lvl="1">
              <a:spcBef>
                <a:spcPts val="2000"/>
              </a:spcBef>
              <a:buClr>
                <a:schemeClr val="accent1"/>
              </a:buClr>
            </a:pPr>
            <a:r>
              <a:rPr lang="en-US" sz="2065" dirty="0"/>
              <a:t>For random-access memory the organization is a key design issue</a:t>
            </a:r>
          </a:p>
          <a:p>
            <a:pPr lvl="1"/>
            <a:r>
              <a:rPr lang="en-US" sz="1806" dirty="0"/>
              <a:t>Organization refers to the physical arrangement of bits to form words</a:t>
            </a:r>
          </a:p>
        </p:txBody>
      </p:sp>
      <p:pic>
        <p:nvPicPr>
          <p:cNvPr id="4" name="Picture 3"/>
          <p:cNvPicPr>
            <a:picLocks noChangeAspect="1"/>
          </p:cNvPicPr>
          <p:nvPr/>
        </p:nvPicPr>
        <p:blipFill>
          <a:blip r:embed="rId3"/>
          <a:stretch>
            <a:fillRect/>
          </a:stretch>
        </p:blipFill>
        <p:spPr>
          <a:xfrm>
            <a:off x="4953000" y="381000"/>
            <a:ext cx="2438400" cy="1906073"/>
          </a:xfrm>
          <a:prstGeom prst="rect">
            <a:avLst/>
          </a:prstGeom>
        </p:spPr>
      </p:pic>
      <p:sp>
        <p:nvSpPr>
          <p:cNvPr id="5" name="Footer Placeholder 4"/>
          <p:cNvSpPr>
            <a:spLocks noGrp="1"/>
          </p:cNvSpPr>
          <p:nvPr>
            <p:ph type="ftr" sz="quarter" idx="11"/>
          </p:nvPr>
        </p:nvSpPr>
        <p:spPr>
          <a:xfrm>
            <a:off x="179512" y="6492875"/>
            <a:ext cx="6122894" cy="365125"/>
          </a:xfrm>
        </p:spPr>
        <p:txBody>
          <a:bodyPr/>
          <a:lstStyle/>
          <a:p>
            <a:r>
              <a:rPr lang="en-US" dirty="0"/>
              <a:t>© 2016 Pearson Education, Inc., Hoboken, NJ. All rights reserved.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Memory Hierarchy</a:t>
            </a:r>
          </a:p>
        </p:txBody>
      </p:sp>
      <p:sp>
        <p:nvSpPr>
          <p:cNvPr id="3" name="Content Placeholder 2"/>
          <p:cNvSpPr>
            <a:spLocks noGrp="1"/>
          </p:cNvSpPr>
          <p:nvPr>
            <p:ph idx="1"/>
          </p:nvPr>
        </p:nvSpPr>
        <p:spPr>
          <a:xfrm>
            <a:off x="457200" y="1828800"/>
            <a:ext cx="7556313" cy="4724400"/>
          </a:xfrm>
        </p:spPr>
        <p:txBody>
          <a:bodyPr>
            <a:normAutofit/>
          </a:bodyPr>
          <a:lstStyle/>
          <a:p>
            <a:r>
              <a:rPr lang="en-US" dirty="0"/>
              <a:t>Design constraints on a computer’s memory can be summed up by three questions:</a:t>
            </a:r>
          </a:p>
          <a:p>
            <a:pPr lvl="1"/>
            <a:r>
              <a:rPr lang="en-US" dirty="0"/>
              <a:t>How much, how fast, how expensive</a:t>
            </a:r>
          </a:p>
          <a:p>
            <a:r>
              <a:rPr lang="en-US" dirty="0"/>
              <a:t>There is a trade-off among capacity, access time, and cost</a:t>
            </a:r>
          </a:p>
          <a:p>
            <a:pPr lvl="1"/>
            <a:r>
              <a:rPr lang="en-US" dirty="0">
                <a:solidFill>
                  <a:srgbClr val="FF0000"/>
                </a:solidFill>
              </a:rPr>
              <a:t>Faster access time, greater cost per bit</a:t>
            </a:r>
          </a:p>
          <a:p>
            <a:pPr lvl="1"/>
            <a:r>
              <a:rPr lang="en-US" dirty="0">
                <a:solidFill>
                  <a:srgbClr val="FF0000"/>
                </a:solidFill>
              </a:rPr>
              <a:t>Greater capacity, smaller cost per bit</a:t>
            </a:r>
          </a:p>
          <a:p>
            <a:pPr lvl="1"/>
            <a:r>
              <a:rPr lang="en-US" dirty="0">
                <a:solidFill>
                  <a:srgbClr val="FF0000"/>
                </a:solidFill>
              </a:rPr>
              <a:t>Greater capacity, slower access time</a:t>
            </a:r>
          </a:p>
          <a:p>
            <a:r>
              <a:rPr lang="en-US" dirty="0"/>
              <a:t>The way out of the memory dilemma is not to rely on a single memory component or technology, but to employ a memory hierarchy</a:t>
            </a:r>
          </a:p>
          <a:p>
            <a:endParaRPr lang="en-US" dirty="0"/>
          </a:p>
        </p:txBody>
      </p:sp>
      <p:sp>
        <p:nvSpPr>
          <p:cNvPr id="4" name="Footer Placeholder 3"/>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1.pdf"/>
          <p:cNvPicPr>
            <a:picLocks noChangeAspect="1"/>
          </p:cNvPicPr>
          <p:nvPr/>
        </p:nvPicPr>
        <p:blipFill rotWithShape="1">
          <a:blip r:embed="rId3">
            <a:extLst>
              <a:ext uri="{28A0092B-C50C-407E-A947-70E740481C1C}">
                <a14:useLocalDpi xmlns:a14="http://schemas.microsoft.com/office/drawing/2010/main" val="0"/>
              </a:ext>
            </a:extLst>
          </a:blip>
          <a:srcRect t="14549" b="9117"/>
          <a:stretch/>
        </p:blipFill>
        <p:spPr>
          <a:xfrm>
            <a:off x="-396552" y="-285970"/>
            <a:ext cx="6862170" cy="6778845"/>
          </a:xfrm>
          <a:prstGeom prst="rect">
            <a:avLst/>
          </a:prstGeom>
        </p:spPr>
      </p:pic>
      <p:sp>
        <p:nvSpPr>
          <p:cNvPr id="2" name="Footer Placeholder 1"/>
          <p:cNvSpPr>
            <a:spLocks noGrp="1"/>
          </p:cNvSpPr>
          <p:nvPr>
            <p:ph type="ftr" sz="quarter" idx="11"/>
          </p:nvPr>
        </p:nvSpPr>
        <p:spPr>
          <a:xfrm>
            <a:off x="179512" y="6492875"/>
            <a:ext cx="6122894" cy="365125"/>
          </a:xfrm>
        </p:spPr>
        <p:txBody>
          <a:bodyPr/>
          <a:lstStyle/>
          <a:p>
            <a:r>
              <a:rPr lang="en-US" dirty="0"/>
              <a:t>© 2016 Pearson Education, Inc., Hoboken, NJ. All rights reserved.</a:t>
            </a:r>
          </a:p>
        </p:txBody>
      </p:sp>
      <p:sp>
        <p:nvSpPr>
          <p:cNvPr id="4" name="Rectangle 3"/>
          <p:cNvSpPr/>
          <p:nvPr/>
        </p:nvSpPr>
        <p:spPr>
          <a:xfrm>
            <a:off x="4898250" y="4341589"/>
            <a:ext cx="3960440" cy="2308324"/>
          </a:xfrm>
          <a:prstGeom prst="rect">
            <a:avLst/>
          </a:prstGeom>
        </p:spPr>
        <p:txBody>
          <a:bodyPr wrap="square">
            <a:spAutoFit/>
          </a:bodyPr>
          <a:lstStyle/>
          <a:p>
            <a:r>
              <a:rPr lang="en-US" b="1">
                <a:latin typeface="TimesTenLTStd-Bold"/>
              </a:rPr>
              <a:t>a. </a:t>
            </a:r>
            <a:r>
              <a:rPr lang="en-US">
                <a:latin typeface="TimesTenLTStd-Roman"/>
              </a:rPr>
              <a:t>Decreasing cost per bit;</a:t>
            </a:r>
          </a:p>
          <a:p>
            <a:r>
              <a:rPr lang="en-US" b="1">
                <a:latin typeface="TimesTenLTStd-Bold"/>
              </a:rPr>
              <a:t>b. </a:t>
            </a:r>
            <a:r>
              <a:rPr lang="en-US">
                <a:latin typeface="TimesTenLTStd-Roman"/>
              </a:rPr>
              <a:t>Increasing capacity;</a:t>
            </a:r>
          </a:p>
          <a:p>
            <a:r>
              <a:rPr lang="en-US" b="1">
                <a:latin typeface="TimesTenLTStd-Bold"/>
              </a:rPr>
              <a:t>c. </a:t>
            </a:r>
            <a:r>
              <a:rPr lang="en-US">
                <a:latin typeface="TimesTenLTStd-Roman"/>
              </a:rPr>
              <a:t>Increasing access time;</a:t>
            </a:r>
          </a:p>
          <a:p>
            <a:r>
              <a:rPr lang="en-US" b="1">
                <a:latin typeface="TimesTenLTStd-Bold"/>
              </a:rPr>
              <a:t>d. </a:t>
            </a:r>
            <a:r>
              <a:rPr lang="en-US">
                <a:latin typeface="TimesTenLTStd-Roman"/>
              </a:rPr>
              <a:t>Decreasing frequency of access of the memory by the processor.</a:t>
            </a:r>
            <a:endParaRPr lang="en-US"/>
          </a:p>
        </p:txBody>
      </p:sp>
      <p:sp>
        <p:nvSpPr>
          <p:cNvPr id="5" name="Rectangle 4"/>
          <p:cNvSpPr/>
          <p:nvPr/>
        </p:nvSpPr>
        <p:spPr>
          <a:xfrm>
            <a:off x="5436096" y="2665782"/>
            <a:ext cx="3168352" cy="1200329"/>
          </a:xfrm>
          <a:prstGeom prst="rect">
            <a:avLst/>
          </a:prstGeom>
        </p:spPr>
        <p:txBody>
          <a:bodyPr wrap="square">
            <a:spAutoFit/>
          </a:bodyPr>
          <a:lstStyle/>
          <a:p>
            <a:pPr algn="ctr"/>
            <a:r>
              <a:rPr lang="en-US">
                <a:latin typeface="TimesTenLTStd-Roman"/>
              </a:rPr>
              <a:t>As one goes down the hierarchy, the following occur:</a:t>
            </a:r>
          </a:p>
        </p:txBody>
      </p:sp>
    </p:spTree>
  </p:cSld>
  <p:clrMapOvr>
    <a:masterClrMapping/>
  </p:clrMapOvr>
  <mc:AlternateContent xmlns:mc="http://schemas.openxmlformats.org/markup-compatibility/2006" xmlns:p14="http://schemas.microsoft.com/office/powerpoint/2010/main">
    <mc:Choice Requires="p14">
      <p:transition spd="med">
        <p14:prism dir="r"/>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2.pdf"/>
          <p:cNvPicPr>
            <a:picLocks noChangeAspect="1"/>
          </p:cNvPicPr>
          <p:nvPr/>
        </p:nvPicPr>
        <p:blipFill rotWithShape="1">
          <a:blip r:embed="rId3">
            <a:extLst>
              <a:ext uri="{28A0092B-C50C-407E-A947-70E740481C1C}">
                <a14:useLocalDpi xmlns:a14="http://schemas.microsoft.com/office/drawing/2010/main" val="0"/>
              </a:ext>
            </a:extLst>
          </a:blip>
          <a:srcRect l="9540" t="18328" r="12453" b="29712"/>
          <a:stretch/>
        </p:blipFill>
        <p:spPr>
          <a:xfrm>
            <a:off x="683568" y="-99392"/>
            <a:ext cx="7655939" cy="6599556"/>
          </a:xfrm>
          <a:prstGeom prst="rect">
            <a:avLst/>
          </a:prstGeom>
        </p:spPr>
      </p:pic>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extLst>
      <p:ext uri="{BB962C8B-B14F-4D97-AF65-F5344CB8AC3E}">
        <p14:creationId xmlns:p14="http://schemas.microsoft.com/office/powerpoint/2010/main" val="935247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2016 Pearson Education, Inc., Hoboken, NJ. All rights reserved.</a:t>
            </a:r>
            <a:endParaRPr lang="en-US" dirty="0"/>
          </a:p>
        </p:txBody>
      </p:sp>
      <p:sp>
        <p:nvSpPr>
          <p:cNvPr id="3" name="Rectangle 2"/>
          <p:cNvSpPr/>
          <p:nvPr/>
        </p:nvSpPr>
        <p:spPr>
          <a:xfrm>
            <a:off x="0" y="243513"/>
            <a:ext cx="9144000" cy="6555641"/>
          </a:xfrm>
          <a:prstGeom prst="rect">
            <a:avLst/>
          </a:prstGeom>
        </p:spPr>
        <p:txBody>
          <a:bodyPr wrap="square">
            <a:spAutoFit/>
          </a:bodyPr>
          <a:lstStyle/>
          <a:p>
            <a:r>
              <a:rPr lang="en-US" sz="3000" b="1">
                <a:latin typeface="TimesTenLTStd-Bold"/>
              </a:rPr>
              <a:t>3.3 </a:t>
            </a:r>
            <a:r>
              <a:rPr lang="en-US" sz="3000">
                <a:latin typeface="TimesTenLTStd-Roman"/>
              </a:rPr>
              <a:t>Consider a hypothetical 32-bit microprocessor having 32-bit instructions composed of two fields: the first byte contains the opcode and the remainder the immediate operand or an operand address.</a:t>
            </a:r>
          </a:p>
          <a:p>
            <a:r>
              <a:rPr lang="en-US" sz="3000" b="1">
                <a:latin typeface="TimesTenLTStd-Bold"/>
              </a:rPr>
              <a:t>a. </a:t>
            </a:r>
            <a:r>
              <a:rPr lang="en-US" sz="3000">
                <a:latin typeface="TimesTenLTStd-Roman"/>
              </a:rPr>
              <a:t>What is the maximum directly addressable memory capacity (in bytes)?</a:t>
            </a:r>
          </a:p>
          <a:p>
            <a:r>
              <a:rPr lang="en-US" sz="3000" b="1">
                <a:latin typeface="TimesTenLTStd-Bold"/>
              </a:rPr>
              <a:t>b. </a:t>
            </a:r>
            <a:r>
              <a:rPr lang="en-US" sz="3000">
                <a:latin typeface="TimesTenLTStd-Roman"/>
              </a:rPr>
              <a:t>Discuss the impact on the system speed if the microprocessor bus has:</a:t>
            </a:r>
          </a:p>
          <a:p>
            <a:r>
              <a:rPr lang="en-US" sz="3000" b="1">
                <a:latin typeface="TimesTenLTStd-Bold"/>
              </a:rPr>
              <a:t>1. </a:t>
            </a:r>
            <a:r>
              <a:rPr lang="en-US" sz="3000">
                <a:latin typeface="TimesTenLTStd-Roman"/>
              </a:rPr>
              <a:t>32-bit local address bus and a 16-bit local data bus, or</a:t>
            </a:r>
          </a:p>
          <a:p>
            <a:r>
              <a:rPr lang="en-US" sz="3000" b="1">
                <a:latin typeface="TimesTenLTStd-Bold"/>
              </a:rPr>
              <a:t>2. </a:t>
            </a:r>
            <a:r>
              <a:rPr lang="en-US" sz="3000">
                <a:latin typeface="TimesTenLTStd-Roman"/>
              </a:rPr>
              <a:t>16-bit local address bus and a 16-bit local data bus.</a:t>
            </a:r>
          </a:p>
          <a:p>
            <a:r>
              <a:rPr lang="en-US" sz="3000" b="1"/>
              <a:t>c. </a:t>
            </a:r>
            <a:r>
              <a:rPr lang="en-US" sz="3000"/>
              <a:t>How many bits are needed for the program counter and the instruction register?</a:t>
            </a:r>
          </a:p>
        </p:txBody>
      </p:sp>
    </p:spTree>
    <p:extLst>
      <p:ext uri="{BB962C8B-B14F-4D97-AF65-F5344CB8AC3E}">
        <p14:creationId xmlns:p14="http://schemas.microsoft.com/office/powerpoint/2010/main" val="689076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a:t>
            </a:r>
          </a:p>
        </p:txBody>
      </p:sp>
      <p:sp>
        <p:nvSpPr>
          <p:cNvPr id="3" name="Content Placeholder 2"/>
          <p:cNvSpPr>
            <a:spLocks noGrp="1"/>
          </p:cNvSpPr>
          <p:nvPr>
            <p:ph idx="1"/>
          </p:nvPr>
        </p:nvSpPr>
        <p:spPr>
          <a:xfrm>
            <a:off x="498474" y="1556792"/>
            <a:ext cx="7556313" cy="4968552"/>
          </a:xfrm>
        </p:spPr>
        <p:txBody>
          <a:bodyPr>
            <a:normAutofit lnSpcReduction="10000"/>
          </a:bodyPr>
          <a:lstStyle/>
          <a:p>
            <a:r>
              <a:rPr lang="en-US" dirty="0"/>
              <a:t>The use of three levels exploits the fact that semiconductor memory comes in a variety of types which differ in speed and cost</a:t>
            </a:r>
          </a:p>
          <a:p>
            <a:r>
              <a:rPr lang="en-US" dirty="0"/>
              <a:t>Data are stored more permanently on external mass storage devices</a:t>
            </a:r>
          </a:p>
          <a:p>
            <a:r>
              <a:rPr lang="en-US" dirty="0"/>
              <a:t>External, nonvolatile memory is also referred to as </a:t>
            </a:r>
            <a:r>
              <a:rPr lang="en-US" b="1" dirty="0"/>
              <a:t>secondary </a:t>
            </a:r>
            <a:r>
              <a:rPr lang="en-US" dirty="0"/>
              <a:t>memory</a:t>
            </a:r>
            <a:r>
              <a:rPr lang="en-US" b="1" dirty="0"/>
              <a:t> </a:t>
            </a:r>
            <a:r>
              <a:rPr lang="en-US" dirty="0"/>
              <a:t>or </a:t>
            </a:r>
            <a:r>
              <a:rPr lang="en-US" b="1" dirty="0"/>
              <a:t>auxiliary </a:t>
            </a:r>
            <a:r>
              <a:rPr lang="en-US" dirty="0"/>
              <a:t>memory</a:t>
            </a:r>
          </a:p>
          <a:p>
            <a:r>
              <a:rPr lang="en-US" dirty="0"/>
              <a:t>Disk cache</a:t>
            </a:r>
          </a:p>
          <a:p>
            <a:pPr lvl="1"/>
            <a:r>
              <a:rPr lang="en-US" dirty="0"/>
              <a:t>A portion of main memory can be used as a buffer to hold data temporarily that is to be read out to disk</a:t>
            </a:r>
          </a:p>
          <a:p>
            <a:pPr lvl="1"/>
            <a:r>
              <a:rPr lang="en-US" dirty="0"/>
              <a:t>A few large transfers of data can be used instead of many small transfers of data</a:t>
            </a:r>
          </a:p>
          <a:p>
            <a:pPr lvl="1"/>
            <a:r>
              <a:rPr lang="en-US" dirty="0"/>
              <a:t>Data can be retrieved rapidly from the software cache rather than slowly from the disk</a:t>
            </a:r>
          </a:p>
        </p:txBody>
      </p:sp>
      <p:sp>
        <p:nvSpPr>
          <p:cNvPr id="4" name="Footer Placeholder 3"/>
          <p:cNvSpPr>
            <a:spLocks noGrp="1"/>
          </p:cNvSpPr>
          <p:nvPr>
            <p:ph type="ftr" sz="quarter" idx="11"/>
          </p:nvPr>
        </p:nvSpPr>
        <p:spPr>
          <a:xfrm>
            <a:off x="179512" y="6492875"/>
            <a:ext cx="6122894" cy="365125"/>
          </a:xfrm>
        </p:spPr>
        <p:txBody>
          <a:bodyPr/>
          <a:lstStyle/>
          <a:p>
            <a:r>
              <a:rPr lang="en-US" dirty="0"/>
              <a:t>© 2016 Pearson Education, Inc., Hoboken, NJ. All rights reserved.</a:t>
            </a:r>
          </a:p>
        </p:txBody>
      </p:sp>
    </p:spTree>
    <p:extLst>
      <p:ext uri="{BB962C8B-B14F-4D97-AF65-F5344CB8AC3E}">
        <p14:creationId xmlns:p14="http://schemas.microsoft.com/office/powerpoint/2010/main" val="3416115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3.pdf"/>
          <p:cNvPicPr>
            <a:picLocks noChangeAspect="1"/>
          </p:cNvPicPr>
          <p:nvPr/>
        </p:nvPicPr>
        <p:blipFill rotWithShape="1">
          <a:blip r:embed="rId3">
            <a:extLst>
              <a:ext uri="{28A0092B-C50C-407E-A947-70E740481C1C}">
                <a14:useLocalDpi xmlns:a14="http://schemas.microsoft.com/office/drawing/2010/main" val="0"/>
              </a:ext>
            </a:extLst>
          </a:blip>
          <a:srcRect l="982" r="4139" b="28011"/>
          <a:stretch/>
        </p:blipFill>
        <p:spPr>
          <a:xfrm>
            <a:off x="971600" y="-171400"/>
            <a:ext cx="6912768" cy="6787652"/>
          </a:xfrm>
          <a:prstGeom prst="rect">
            <a:avLst/>
          </a:prstGeom>
        </p:spPr>
      </p:pic>
      <p:sp>
        <p:nvSpPr>
          <p:cNvPr id="3" name="Footer Placeholder 2"/>
          <p:cNvSpPr>
            <a:spLocks noGrp="1"/>
          </p:cNvSpPr>
          <p:nvPr>
            <p:ph type="ftr" sz="quarter" idx="11"/>
          </p:nvPr>
        </p:nvSpPr>
        <p:spPr>
          <a:xfrm>
            <a:off x="179512" y="6492875"/>
            <a:ext cx="6122894" cy="365125"/>
          </a:xfrm>
        </p:spPr>
        <p:txBody>
          <a:bodyPr/>
          <a:lstStyle/>
          <a:p>
            <a:r>
              <a:rPr lang="en-US" dirty="0"/>
              <a:t>© 2016 Pearson Education, Inc., Hoboken, NJ. All rights reserved.</a:t>
            </a:r>
          </a:p>
        </p:txBody>
      </p:sp>
    </p:spTree>
  </p:cSld>
  <p:clrMapOvr>
    <a:masterClrMapping/>
  </p:clrMapOvr>
  <p:transition spd="med">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4.pdf"/>
          <p:cNvPicPr>
            <a:picLocks noChangeAspect="1"/>
          </p:cNvPicPr>
          <p:nvPr/>
        </p:nvPicPr>
        <p:blipFill rotWithShape="1">
          <a:blip r:embed="rId3">
            <a:extLst>
              <a:ext uri="{28A0092B-C50C-407E-A947-70E740481C1C}">
                <a14:useLocalDpi xmlns:a14="http://schemas.microsoft.com/office/drawing/2010/main" val="0"/>
              </a:ext>
            </a:extLst>
          </a:blip>
          <a:srcRect l="4117" t="7181" r="8420" b="6093"/>
          <a:stretch/>
        </p:blipFill>
        <p:spPr>
          <a:xfrm>
            <a:off x="467544" y="0"/>
            <a:ext cx="8368049" cy="6411867"/>
          </a:xfrm>
          <a:prstGeom prst="rect">
            <a:avLst/>
          </a:prstGeom>
        </p:spPr>
      </p:pic>
      <p:sp>
        <p:nvSpPr>
          <p:cNvPr id="3" name="Footer Placeholder 2"/>
          <p:cNvSpPr>
            <a:spLocks noGrp="1"/>
          </p:cNvSpPr>
          <p:nvPr>
            <p:ph type="ftr" sz="quarter" idx="11"/>
          </p:nvPr>
        </p:nvSpPr>
        <p:spPr>
          <a:xfrm>
            <a:off x="179512" y="6492875"/>
            <a:ext cx="6122894" cy="365125"/>
          </a:xfrm>
        </p:spPr>
        <p:txBody>
          <a:bodyPr/>
          <a:lstStyle/>
          <a:p>
            <a:r>
              <a:rPr lang="en-US" dirty="0"/>
              <a:t>© 2016 Pearson Education, Inc., Hoboken, NJ. All rights reserved.</a:t>
            </a:r>
          </a:p>
        </p:txBody>
      </p:sp>
    </p:spTree>
  </p:cSld>
  <p:clrMapOvr>
    <a:masterClrMapping/>
  </p:clrMapOvr>
  <p:transition spd="med">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5.pdf"/>
          <p:cNvPicPr>
            <a:picLocks noChangeAspect="1"/>
          </p:cNvPicPr>
          <p:nvPr/>
        </p:nvPicPr>
        <p:blipFill rotWithShape="1">
          <a:blip r:embed="rId3">
            <a:extLst>
              <a:ext uri="{28A0092B-C50C-407E-A947-70E740481C1C}">
                <a14:useLocalDpi xmlns:a14="http://schemas.microsoft.com/office/drawing/2010/main" val="0"/>
              </a:ext>
            </a:extLst>
          </a:blip>
          <a:srcRect t="8881" b="10061"/>
          <a:stretch/>
        </p:blipFill>
        <p:spPr>
          <a:xfrm>
            <a:off x="1259632" y="-171400"/>
            <a:ext cx="6384010" cy="6696744"/>
          </a:xfrm>
          <a:prstGeom prst="rect">
            <a:avLst/>
          </a:prstGeom>
        </p:spPr>
      </p:pic>
      <p:sp>
        <p:nvSpPr>
          <p:cNvPr id="3" name="Footer Placeholder 2"/>
          <p:cNvSpPr>
            <a:spLocks noGrp="1"/>
          </p:cNvSpPr>
          <p:nvPr>
            <p:ph type="ftr" sz="quarter" idx="11"/>
          </p:nvPr>
        </p:nvSpPr>
        <p:spPr>
          <a:xfrm>
            <a:off x="179512" y="6492875"/>
            <a:ext cx="6122894" cy="365125"/>
          </a:xfrm>
        </p:spPr>
        <p:txBody>
          <a:bodyPr/>
          <a:lstStyle/>
          <a:p>
            <a:r>
              <a:rPr lang="en-US" dirty="0"/>
              <a:t>© 2016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flip dir="l"/>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2016 Pearson Education, Inc., Hoboken, NJ. All rights reserved.</a:t>
            </a:r>
            <a:endParaRPr lang="en-US" dirty="0"/>
          </a:p>
        </p:txBody>
      </p:sp>
      <p:sp>
        <p:nvSpPr>
          <p:cNvPr id="3" name="Rectangle 2"/>
          <p:cNvSpPr/>
          <p:nvPr/>
        </p:nvSpPr>
        <p:spPr>
          <a:xfrm>
            <a:off x="683568" y="1536174"/>
            <a:ext cx="8136904" cy="3785652"/>
          </a:xfrm>
          <a:prstGeom prst="rect">
            <a:avLst/>
          </a:prstGeom>
        </p:spPr>
        <p:txBody>
          <a:bodyPr wrap="square">
            <a:spAutoFit/>
          </a:bodyPr>
          <a:lstStyle/>
          <a:p>
            <a:r>
              <a:rPr lang="en-US" sz="4000" b="1">
                <a:latin typeface="TimesTenLTStd-Bold"/>
              </a:rPr>
              <a:t>4.1 </a:t>
            </a:r>
            <a:r>
              <a:rPr lang="en-US" sz="4000">
                <a:latin typeface="TimesTenLTStd-Roman"/>
              </a:rPr>
              <a:t>A set- associative cache consists of 64 lines, or slots, divided into four- line sets. Main</a:t>
            </a:r>
          </a:p>
          <a:p>
            <a:r>
              <a:rPr lang="en-US" sz="4000">
                <a:latin typeface="TimesTenLTStd-Roman"/>
              </a:rPr>
              <a:t>memory contains 4K blocks of 128 words each. Show the format of main memory addresses.</a:t>
            </a:r>
            <a:endParaRPr lang="en-US" sz="4000"/>
          </a:p>
        </p:txBody>
      </p:sp>
    </p:spTree>
    <p:extLst>
      <p:ext uri="{BB962C8B-B14F-4D97-AF65-F5344CB8AC3E}">
        <p14:creationId xmlns:p14="http://schemas.microsoft.com/office/powerpoint/2010/main" val="4163301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2016 Pearson Education, Inc., Hoboken, NJ. All rights reserved.</a:t>
            </a:r>
            <a:endParaRPr lang="en-US" dirty="0"/>
          </a:p>
        </p:txBody>
      </p:sp>
      <p:sp>
        <p:nvSpPr>
          <p:cNvPr id="3" name="Rectangle 2"/>
          <p:cNvSpPr/>
          <p:nvPr/>
        </p:nvSpPr>
        <p:spPr>
          <a:xfrm>
            <a:off x="683568" y="1536174"/>
            <a:ext cx="8136904" cy="4401205"/>
          </a:xfrm>
          <a:prstGeom prst="rect">
            <a:avLst/>
          </a:prstGeom>
        </p:spPr>
        <p:txBody>
          <a:bodyPr wrap="square">
            <a:spAutoFit/>
          </a:bodyPr>
          <a:lstStyle/>
          <a:p>
            <a:r>
              <a:rPr lang="en-US" sz="4000" b="1">
                <a:latin typeface="TimesTenLTStd-Bold"/>
              </a:rPr>
              <a:t>4.1 </a:t>
            </a:r>
            <a:r>
              <a:rPr lang="en-US" sz="4000">
                <a:latin typeface="TimesTenLTStd-Bold"/>
              </a:rPr>
              <a:t>What are the differences among sequential access, direct access, and random access?</a:t>
            </a:r>
          </a:p>
          <a:p>
            <a:r>
              <a:rPr lang="en-US" sz="4000" b="1">
                <a:latin typeface="TimesTenLTStd-Bold"/>
              </a:rPr>
              <a:t>4.2 </a:t>
            </a:r>
            <a:r>
              <a:rPr lang="en-US" sz="4000">
                <a:latin typeface="TimesTenLTStd-Bold"/>
              </a:rPr>
              <a:t>What is the general relationship among access time, memory cost, and capacity?</a:t>
            </a:r>
          </a:p>
          <a:p>
            <a:endParaRPr lang="en-US" sz="4000"/>
          </a:p>
        </p:txBody>
      </p:sp>
    </p:spTree>
    <p:extLst>
      <p:ext uri="{BB962C8B-B14F-4D97-AF65-F5344CB8AC3E}">
        <p14:creationId xmlns:p14="http://schemas.microsoft.com/office/powerpoint/2010/main" val="1721168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 2016 Pearson Education, Inc., Hoboken, NJ. All rights reserved.</a:t>
            </a:r>
            <a:endParaRPr lang="en-US" dirty="0"/>
          </a:p>
        </p:txBody>
      </p:sp>
      <p:sp>
        <p:nvSpPr>
          <p:cNvPr id="3" name="Rectangle 2"/>
          <p:cNvSpPr/>
          <p:nvPr/>
        </p:nvSpPr>
        <p:spPr>
          <a:xfrm>
            <a:off x="683568" y="1536174"/>
            <a:ext cx="8136904" cy="4401205"/>
          </a:xfrm>
          <a:prstGeom prst="rect">
            <a:avLst/>
          </a:prstGeom>
        </p:spPr>
        <p:txBody>
          <a:bodyPr wrap="square">
            <a:spAutoFit/>
          </a:bodyPr>
          <a:lstStyle/>
          <a:p>
            <a:r>
              <a:rPr lang="en-US" sz="4000" b="1">
                <a:latin typeface="TimesTenLTStd-Bold"/>
              </a:rPr>
              <a:t>4.3 </a:t>
            </a:r>
            <a:r>
              <a:rPr lang="en-US" sz="4000">
                <a:latin typeface="TimesTenLTStd-Bold"/>
              </a:rPr>
              <a:t>How does the principle of locality relate to the use of multiple memory levels?</a:t>
            </a:r>
          </a:p>
          <a:p>
            <a:r>
              <a:rPr lang="en-US" sz="4000" b="1">
                <a:latin typeface="TimesTenLTStd-Bold"/>
              </a:rPr>
              <a:t>4.6 </a:t>
            </a:r>
            <a:r>
              <a:rPr lang="en-US" sz="4000">
                <a:latin typeface="TimesTenLTStd-Bold"/>
              </a:rPr>
              <a:t>For an associative cache, a main memory address is viewed as consisting of two fields.</a:t>
            </a:r>
          </a:p>
          <a:p>
            <a:r>
              <a:rPr lang="en-US" sz="4000">
                <a:latin typeface="TimesTenLTStd-Bold"/>
              </a:rPr>
              <a:t>List and define the two fields</a:t>
            </a:r>
            <a:endParaRPr lang="en-US" sz="4000"/>
          </a:p>
        </p:txBody>
      </p:sp>
    </p:spTree>
    <p:extLst>
      <p:ext uri="{BB962C8B-B14F-4D97-AF65-F5344CB8AC3E}">
        <p14:creationId xmlns:p14="http://schemas.microsoft.com/office/powerpoint/2010/main" val="658165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6.pdf"/>
          <p:cNvPicPr>
            <a:picLocks noChangeAspect="1"/>
          </p:cNvPicPr>
          <p:nvPr/>
        </p:nvPicPr>
        <p:blipFill rotWithShape="1">
          <a:blip r:embed="rId3">
            <a:extLst>
              <a:ext uri="{28A0092B-C50C-407E-A947-70E740481C1C}">
                <a14:useLocalDpi xmlns:a14="http://schemas.microsoft.com/office/drawing/2010/main" val="0"/>
              </a:ext>
            </a:extLst>
          </a:blip>
          <a:srcRect t="21162" b="15163"/>
          <a:stretch/>
        </p:blipFill>
        <p:spPr>
          <a:xfrm>
            <a:off x="323528" y="-171400"/>
            <a:ext cx="8208912" cy="6764388"/>
          </a:xfrm>
          <a:prstGeom prst="rect">
            <a:avLst/>
          </a:prstGeom>
        </p:spPr>
      </p:pic>
      <p:sp>
        <p:nvSpPr>
          <p:cNvPr id="2" name="Footer Placeholder 1"/>
          <p:cNvSpPr>
            <a:spLocks noGrp="1"/>
          </p:cNvSpPr>
          <p:nvPr>
            <p:ph type="ftr" sz="quarter" idx="11"/>
          </p:nvPr>
        </p:nvSpPr>
        <p:spPr>
          <a:xfrm>
            <a:off x="179512" y="6497721"/>
            <a:ext cx="6122894" cy="365125"/>
          </a:xfrm>
        </p:spPr>
        <p:txBody>
          <a:bodyPr/>
          <a:lstStyle/>
          <a:p>
            <a:r>
              <a:rPr lang="en-US" dirty="0"/>
              <a:t>© 2016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prism dir="r"/>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5445224"/>
            <a:ext cx="9144000" cy="830997"/>
          </a:xfrm>
          <a:prstGeom prst="rect">
            <a:avLst/>
          </a:prstGeom>
        </p:spPr>
        <p:txBody>
          <a:bodyPr wrap="square">
            <a:spAutoFit/>
          </a:bodyPr>
          <a:lstStyle/>
          <a:p>
            <a:pPr algn="ctr"/>
            <a:r>
              <a:rPr lang="en-US" dirty="0">
                <a:latin typeface="+mj-lt"/>
              </a:rPr>
              <a:t>Table 4.2    </a:t>
            </a:r>
          </a:p>
          <a:p>
            <a:pPr algn="ctr"/>
            <a:r>
              <a:rPr lang="en-US" dirty="0">
                <a:latin typeface="+mj-lt"/>
              </a:rPr>
              <a:t>Elements of Cache Design </a:t>
            </a:r>
          </a:p>
        </p:txBody>
      </p:sp>
      <p:pic>
        <p:nvPicPr>
          <p:cNvPr id="3" name="Picture 2"/>
          <p:cNvPicPr>
            <a:picLocks noChangeAspect="1"/>
          </p:cNvPicPr>
          <p:nvPr/>
        </p:nvPicPr>
        <p:blipFill rotWithShape="1">
          <a:blip r:embed="rId3"/>
          <a:srcRect l="9650" r="9784"/>
          <a:stretch/>
        </p:blipFill>
        <p:spPr>
          <a:xfrm>
            <a:off x="-108520" y="836712"/>
            <a:ext cx="9445104" cy="4787018"/>
          </a:xfrm>
          <a:prstGeom prst="rect">
            <a:avLst/>
          </a:prstGeom>
        </p:spPr>
      </p:pic>
      <p:sp>
        <p:nvSpPr>
          <p:cNvPr id="2" name="Footer Placeholder 1"/>
          <p:cNvSpPr>
            <a:spLocks noGrp="1"/>
          </p:cNvSpPr>
          <p:nvPr>
            <p:ph type="ftr" sz="quarter" idx="11"/>
          </p:nvPr>
        </p:nvSpPr>
        <p:spPr>
          <a:xfrm>
            <a:off x="179512" y="6495589"/>
            <a:ext cx="6122894" cy="365125"/>
          </a:xfrm>
        </p:spPr>
        <p:txBody>
          <a:bodyPr/>
          <a:lstStyle/>
          <a:p>
            <a:r>
              <a:rPr lang="en-US" dirty="0"/>
              <a:t>© 2016 Pearson Education, Inc., Hoboken, NJ. All rights reserved.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Addresses</a:t>
            </a:r>
          </a:p>
        </p:txBody>
      </p:sp>
      <p:sp>
        <p:nvSpPr>
          <p:cNvPr id="3" name="Content Placeholder 2"/>
          <p:cNvSpPr>
            <a:spLocks noGrp="1"/>
          </p:cNvSpPr>
          <p:nvPr>
            <p:ph idx="1"/>
          </p:nvPr>
        </p:nvSpPr>
        <p:spPr>
          <a:xfrm>
            <a:off x="457200" y="2286000"/>
            <a:ext cx="7556313" cy="4144963"/>
          </a:xfrm>
        </p:spPr>
        <p:txBody>
          <a:bodyPr/>
          <a:lstStyle/>
          <a:p>
            <a:r>
              <a:rPr lang="en-US" dirty="0"/>
              <a:t>Virtual memory</a:t>
            </a:r>
          </a:p>
          <a:p>
            <a:pPr lvl="1"/>
            <a:r>
              <a:rPr lang="en-US" dirty="0"/>
              <a:t>Facility that allows programs to address memory from a logical point of view, without regard to the amount of main memory physically available</a:t>
            </a:r>
          </a:p>
          <a:p>
            <a:pPr lvl="1"/>
            <a:r>
              <a:rPr lang="en-US" dirty="0"/>
              <a:t>When used, the address fields of machine instructions contain virtual addresses</a:t>
            </a:r>
          </a:p>
          <a:p>
            <a:pPr lvl="1"/>
            <a:r>
              <a:rPr lang="en-US" dirty="0"/>
              <a:t>For reads to and writes from main memory, a hardware memory management unit (MMU) translates each virtual address into a physical address in main memory</a:t>
            </a:r>
          </a:p>
          <a:p>
            <a:pPr lvl="1"/>
            <a:endParaRPr lang="en-US" dirty="0"/>
          </a:p>
        </p:txBody>
      </p:sp>
      <p:sp>
        <p:nvSpPr>
          <p:cNvPr id="4" name="Text Placeholder 3"/>
          <p:cNvSpPr>
            <a:spLocks noGrp="1"/>
          </p:cNvSpPr>
          <p:nvPr>
            <p:ph type="body" sz="half" idx="2"/>
          </p:nvPr>
        </p:nvSpPr>
        <p:spPr>
          <a:xfrm>
            <a:off x="2667000" y="1143000"/>
            <a:ext cx="6076278" cy="774700"/>
          </a:xfrm>
        </p:spPr>
        <p:txBody>
          <a:bodyPr/>
          <a:lstStyle/>
          <a:p>
            <a:r>
              <a:rPr lang="en-US" sz="3600" dirty="0"/>
              <a:t>Virtual Memory</a:t>
            </a:r>
          </a:p>
        </p:txBody>
      </p:sp>
      <p:pic>
        <p:nvPicPr>
          <p:cNvPr id="9" name="Picture 8"/>
          <p:cNvPicPr>
            <a:picLocks noChangeAspect="1"/>
          </p:cNvPicPr>
          <p:nvPr/>
        </p:nvPicPr>
        <p:blipFill>
          <a:blip r:embed="rId3"/>
          <a:stretch>
            <a:fillRect/>
          </a:stretch>
        </p:blipFill>
        <p:spPr>
          <a:xfrm>
            <a:off x="7162800" y="5105400"/>
            <a:ext cx="1727915" cy="1752600"/>
          </a:xfrm>
          <a:prstGeom prst="rect">
            <a:avLst/>
          </a:prstGeom>
        </p:spPr>
      </p:pic>
      <p:sp>
        <p:nvSpPr>
          <p:cNvPr id="5" name="Footer Placeholder 4"/>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7.pdf"/>
          <p:cNvPicPr>
            <a:picLocks noChangeAspect="1"/>
          </p:cNvPicPr>
          <p:nvPr/>
        </p:nvPicPr>
        <p:blipFill rotWithShape="1">
          <a:blip r:embed="rId3">
            <a:extLst>
              <a:ext uri="{28A0092B-C50C-407E-A947-70E740481C1C}">
                <a14:useLocalDpi xmlns:a14="http://schemas.microsoft.com/office/drawing/2010/main" val="0"/>
              </a:ext>
            </a:extLst>
          </a:blip>
          <a:srcRect t="7558" b="7416"/>
          <a:stretch/>
        </p:blipFill>
        <p:spPr>
          <a:xfrm>
            <a:off x="1619672" y="-99392"/>
            <a:ext cx="5996438" cy="6598098"/>
          </a:xfrm>
          <a:prstGeom prst="rect">
            <a:avLst/>
          </a:prstGeom>
        </p:spPr>
      </p:pic>
      <p:sp>
        <p:nvSpPr>
          <p:cNvPr id="2" name="Footer Placeholder 1"/>
          <p:cNvSpPr>
            <a:spLocks noGrp="1"/>
          </p:cNvSpPr>
          <p:nvPr>
            <p:ph type="ftr" sz="quarter" idx="11"/>
          </p:nvPr>
        </p:nvSpPr>
        <p:spPr>
          <a:xfrm>
            <a:off x="179512" y="6492875"/>
            <a:ext cx="6122894" cy="365125"/>
          </a:xfrm>
        </p:spPr>
        <p:txBody>
          <a:bodyPr/>
          <a:lstStyle/>
          <a:p>
            <a:r>
              <a:rPr lang="en-US" dirty="0"/>
              <a:t>© 2016 Pearson Education, Inc., Hoboken, NJ. All rights reserved.</a:t>
            </a:r>
          </a:p>
        </p:txBody>
      </p:sp>
    </p:spTree>
  </p:cSld>
  <p:clrMapOvr>
    <a:masterClrMapping/>
  </p:clrMapOvr>
  <p:transition spd="med">
    <p:wedg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092280" y="1628800"/>
            <a:ext cx="2051720" cy="2514600"/>
          </a:xfrm>
        </p:spPr>
        <p:txBody>
          <a:bodyPr/>
          <a:lstStyle/>
          <a:p>
            <a:pPr algn="ctr"/>
            <a:r>
              <a:rPr lang="en-US" sz="2800" dirty="0">
                <a:solidFill>
                  <a:schemeClr val="tx1"/>
                </a:solidFill>
              </a:rPr>
              <a:t>Table 4.3    </a:t>
            </a:r>
            <a:br>
              <a:rPr lang="en-US" sz="2200" dirty="0">
                <a:solidFill>
                  <a:schemeClr val="tx1"/>
                </a:solidFill>
              </a:rPr>
            </a:br>
            <a:br>
              <a:rPr lang="en-US" sz="2200" dirty="0">
                <a:solidFill>
                  <a:schemeClr val="tx1"/>
                </a:solidFill>
              </a:rPr>
            </a:br>
            <a:r>
              <a:rPr lang="en-US" sz="2200" dirty="0">
                <a:solidFill>
                  <a:schemeClr val="tx1"/>
                </a:solidFill>
              </a:rPr>
              <a:t>Cache Sizes of Some Processors</a:t>
            </a:r>
            <a:r>
              <a:rPr lang="en-US" sz="2200" dirty="0"/>
              <a:t> </a:t>
            </a:r>
          </a:p>
        </p:txBody>
      </p:sp>
      <p:sp>
        <p:nvSpPr>
          <p:cNvPr id="6" name="Rectangle 5"/>
          <p:cNvSpPr/>
          <p:nvPr/>
        </p:nvSpPr>
        <p:spPr>
          <a:xfrm>
            <a:off x="7164288" y="4797152"/>
            <a:ext cx="1979712" cy="1954381"/>
          </a:xfrm>
          <a:prstGeom prst="rect">
            <a:avLst/>
          </a:prstGeom>
        </p:spPr>
        <p:txBody>
          <a:bodyPr wrap="square">
            <a:spAutoFit/>
          </a:bodyPr>
          <a:lstStyle/>
          <a:p>
            <a:r>
              <a:rPr lang="en-US" sz="1100" baseline="30000" dirty="0">
                <a:latin typeface="+mn-lt"/>
              </a:rPr>
              <a:t>a</a:t>
            </a:r>
            <a:r>
              <a:rPr lang="en-US" sz="1100" dirty="0">
                <a:latin typeface="+mn-lt"/>
              </a:rPr>
              <a:t> Two values separated by a slash refer to instruction and data caches.</a:t>
            </a:r>
          </a:p>
          <a:p>
            <a:endParaRPr lang="en-US" sz="1100" dirty="0">
              <a:latin typeface="+mn-lt"/>
            </a:endParaRPr>
          </a:p>
          <a:p>
            <a:r>
              <a:rPr lang="en-US" sz="1100" baseline="30000" dirty="0">
                <a:latin typeface="+mn-lt"/>
              </a:rPr>
              <a:t>b</a:t>
            </a:r>
            <a:r>
              <a:rPr lang="en-US" sz="1100" dirty="0">
                <a:latin typeface="+mn-lt"/>
              </a:rPr>
              <a:t> Both caches are instruction only; no data caches.</a:t>
            </a:r>
          </a:p>
          <a:p>
            <a:endParaRPr lang="en-US" sz="1100" dirty="0">
              <a:latin typeface="+mn-lt"/>
            </a:endParaRPr>
          </a:p>
          <a:p>
            <a:endParaRPr lang="en-US" sz="1100" dirty="0">
              <a:latin typeface="+mn-lt"/>
            </a:endParaRPr>
          </a:p>
          <a:p>
            <a:r>
              <a:rPr lang="en-US" sz="1100" dirty="0">
                <a:latin typeface="+mn-lt"/>
              </a:rPr>
              <a:t>(Table can be found on page 134 in the textbook.)</a:t>
            </a:r>
          </a:p>
        </p:txBody>
      </p:sp>
      <p:pic>
        <p:nvPicPr>
          <p:cNvPr id="3" name="Picture 2"/>
          <p:cNvPicPr>
            <a:picLocks noChangeAspect="1"/>
          </p:cNvPicPr>
          <p:nvPr/>
        </p:nvPicPr>
        <p:blipFill>
          <a:blip r:embed="rId3"/>
          <a:stretch>
            <a:fillRect/>
          </a:stretch>
        </p:blipFill>
        <p:spPr>
          <a:xfrm>
            <a:off x="107504" y="0"/>
            <a:ext cx="6866148" cy="6708470"/>
          </a:xfrm>
          <a:prstGeom prst="rect">
            <a:avLst/>
          </a:prstGeom>
        </p:spPr>
      </p:pic>
      <p:sp>
        <p:nvSpPr>
          <p:cNvPr id="4" name="Footer Placeholder 3"/>
          <p:cNvSpPr>
            <a:spLocks noGrp="1"/>
          </p:cNvSpPr>
          <p:nvPr>
            <p:ph type="ftr" sz="quarter" idx="11"/>
          </p:nvPr>
        </p:nvSpPr>
        <p:spPr>
          <a:xfrm>
            <a:off x="30454" y="6504749"/>
            <a:ext cx="6122894" cy="365125"/>
          </a:xfrm>
        </p:spPr>
        <p:txBody>
          <a:bodyPr/>
          <a:lstStyle/>
          <a:p>
            <a:r>
              <a:rPr lang="en-US" dirty="0"/>
              <a:t>© 2016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prism dir="d"/>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251520" y="188640"/>
            <a:ext cx="7556500" cy="963612"/>
          </a:xfrm>
        </p:spPr>
        <p:txBody>
          <a:bodyPr/>
          <a:lstStyle/>
          <a:p>
            <a:r>
              <a:rPr lang="en-GB" dirty="0">
                <a:effectLst>
                  <a:outerShdw blurRad="38100" dist="38100" dir="2700000" algn="tl">
                    <a:srgbClr val="000000">
                      <a:alpha val="43137"/>
                    </a:srgbClr>
                  </a:outerShdw>
                </a:effectLst>
              </a:rPr>
              <a:t>Mapping Function</a:t>
            </a:r>
          </a:p>
        </p:txBody>
      </p:sp>
      <p:sp>
        <p:nvSpPr>
          <p:cNvPr id="34819" name="Rectangle 3"/>
          <p:cNvSpPr>
            <a:spLocks noGrp="1" noChangeArrowheads="1"/>
          </p:cNvSpPr>
          <p:nvPr>
            <p:ph idx="4294967295"/>
          </p:nvPr>
        </p:nvSpPr>
        <p:spPr>
          <a:xfrm>
            <a:off x="611560" y="980728"/>
            <a:ext cx="7556500" cy="1905000"/>
          </a:xfrm>
        </p:spPr>
        <p:txBody>
          <a:bodyPr>
            <a:normAutofit/>
          </a:bodyPr>
          <a:lstStyle/>
          <a:p>
            <a:r>
              <a:rPr lang="en-GB" dirty="0"/>
              <a:t>Because there are fewer cache lines than main memory blocks, an algorithm is needed for mapping main memory blocks into cache lines</a:t>
            </a:r>
          </a:p>
          <a:p>
            <a:r>
              <a:rPr lang="en-GB" dirty="0"/>
              <a:t>Three techniques can be used:</a:t>
            </a:r>
          </a:p>
        </p:txBody>
      </p:sp>
      <p:graphicFrame>
        <p:nvGraphicFramePr>
          <p:cNvPr id="36" name="Diagram 35"/>
          <p:cNvGraphicFramePr/>
          <p:nvPr>
            <p:extLst>
              <p:ext uri="{D42A27DB-BD31-4B8C-83A1-F6EECF244321}">
                <p14:modId xmlns:p14="http://schemas.microsoft.com/office/powerpoint/2010/main" val="2659376169"/>
              </p:ext>
            </p:extLst>
          </p:nvPr>
        </p:nvGraphicFramePr>
        <p:xfrm>
          <a:off x="323528" y="2492896"/>
          <a:ext cx="8458200" cy="3962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a:xfrm>
            <a:off x="251520" y="6502671"/>
            <a:ext cx="6122894" cy="365125"/>
          </a:xfrm>
        </p:spPr>
        <p:txBody>
          <a:bodyPr/>
          <a:lstStyle/>
          <a:p>
            <a:r>
              <a:rPr lang="en-US" dirty="0"/>
              <a:t>© 2016 Pearson Education, Inc., Hoboken, NJ. All rights reserved.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8.pdf"/>
          <p:cNvPicPr>
            <a:picLocks noChangeAspect="1"/>
          </p:cNvPicPr>
          <p:nvPr/>
        </p:nvPicPr>
        <p:blipFill rotWithShape="1">
          <a:blip r:embed="rId3">
            <a:extLst>
              <a:ext uri="{28A0092B-C50C-407E-A947-70E740481C1C}">
                <a14:useLocalDpi xmlns:a14="http://schemas.microsoft.com/office/drawing/2010/main" val="0"/>
              </a:ext>
            </a:extLst>
          </a:blip>
          <a:srcRect t="4346" b="9494"/>
          <a:stretch/>
        </p:blipFill>
        <p:spPr>
          <a:xfrm>
            <a:off x="1619672" y="-99392"/>
            <a:ext cx="5904656" cy="6583737"/>
          </a:xfrm>
          <a:prstGeom prst="rect">
            <a:avLst/>
          </a:prstGeom>
        </p:spPr>
      </p:pic>
      <p:sp>
        <p:nvSpPr>
          <p:cNvPr id="2" name="Footer Placeholder 1"/>
          <p:cNvSpPr>
            <a:spLocks noGrp="1"/>
          </p:cNvSpPr>
          <p:nvPr>
            <p:ph type="ftr" sz="quarter" idx="11"/>
          </p:nvPr>
        </p:nvSpPr>
        <p:spPr>
          <a:xfrm>
            <a:off x="179512" y="6492875"/>
            <a:ext cx="6122894" cy="365125"/>
          </a:xfrm>
        </p:spPr>
        <p:txBody>
          <a:bodyPr/>
          <a:lstStyle/>
          <a:p>
            <a:r>
              <a:rPr lang="en-US" dirty="0"/>
              <a:t>© 2016 Pearson Education, Inc., Hoboken, NJ. All rights reserved.</a:t>
            </a:r>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9.pdf"/>
          <p:cNvPicPr>
            <a:picLocks noChangeAspect="1"/>
          </p:cNvPicPr>
          <p:nvPr/>
        </p:nvPicPr>
        <p:blipFill rotWithShape="1">
          <a:blip r:embed="rId3">
            <a:extLst>
              <a:ext uri="{28A0092B-C50C-407E-A947-70E740481C1C}">
                <a14:useLocalDpi xmlns:a14="http://schemas.microsoft.com/office/drawing/2010/main" val="0"/>
              </a:ext>
            </a:extLst>
          </a:blip>
          <a:srcRect l="6307" t="7747" r="5501" b="7983"/>
          <a:stretch/>
        </p:blipFill>
        <p:spPr>
          <a:xfrm>
            <a:off x="683568" y="116632"/>
            <a:ext cx="8460432" cy="6246904"/>
          </a:xfrm>
          <a:prstGeom prst="rect">
            <a:avLst/>
          </a:prstGeom>
        </p:spPr>
      </p:pic>
      <p:sp>
        <p:nvSpPr>
          <p:cNvPr id="3" name="Footer Placeholder 2"/>
          <p:cNvSpPr>
            <a:spLocks noGrp="1"/>
          </p:cNvSpPr>
          <p:nvPr>
            <p:ph type="ftr" sz="quarter" idx="11"/>
          </p:nvPr>
        </p:nvSpPr>
        <p:spPr>
          <a:xfrm>
            <a:off x="179512" y="6492875"/>
            <a:ext cx="6122894" cy="365125"/>
          </a:xfrm>
        </p:spPr>
        <p:txBody>
          <a:bodyPr/>
          <a:lstStyle/>
          <a:p>
            <a:r>
              <a:rPr lang="en-US" dirty="0"/>
              <a:t>© 2016 Pearson Education, Inc., Hoboken, NJ. All rights reserved.</a:t>
            </a:r>
          </a:p>
        </p:txBody>
      </p:sp>
    </p:spTree>
  </p:cSld>
  <p:clrMapOvr>
    <a:masterClrMapping/>
  </p:clrMapOvr>
  <p:transition spd="med">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0.pdf"/>
          <p:cNvPicPr>
            <a:picLocks noChangeAspect="1"/>
          </p:cNvPicPr>
          <p:nvPr/>
        </p:nvPicPr>
        <p:blipFill rotWithShape="1">
          <a:blip r:embed="rId3">
            <a:extLst>
              <a:ext uri="{28A0092B-C50C-407E-A947-70E740481C1C}">
                <a14:useLocalDpi xmlns:a14="http://schemas.microsoft.com/office/drawing/2010/main" val="0"/>
              </a:ext>
            </a:extLst>
          </a:blip>
          <a:srcRect t="5629" b="5220"/>
          <a:stretch/>
        </p:blipFill>
        <p:spPr>
          <a:xfrm>
            <a:off x="1763688" y="-99392"/>
            <a:ext cx="5763674" cy="6649672"/>
          </a:xfrm>
          <a:prstGeom prst="rect">
            <a:avLst/>
          </a:prstGeom>
        </p:spPr>
      </p:pic>
      <p:sp>
        <p:nvSpPr>
          <p:cNvPr id="2" name="Footer Placeholder 1"/>
          <p:cNvSpPr>
            <a:spLocks noGrp="1"/>
          </p:cNvSpPr>
          <p:nvPr>
            <p:ph type="ftr" sz="quarter" idx="11"/>
          </p:nvPr>
        </p:nvSpPr>
        <p:spPr>
          <a:xfrm>
            <a:off x="179512" y="6492875"/>
            <a:ext cx="6122894" cy="365125"/>
          </a:xfrm>
        </p:spPr>
        <p:txBody>
          <a:bodyPr/>
          <a:lstStyle/>
          <a:p>
            <a:r>
              <a:rPr lang="en-US" dirty="0"/>
              <a:t>© 2016 Pearson Education, Inc., Hoboken, NJ. All rights reserved.</a:t>
            </a:r>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8"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Direct Mapping Summary</a:t>
            </a:r>
          </a:p>
        </p:txBody>
      </p:sp>
      <p:sp>
        <p:nvSpPr>
          <p:cNvPr id="149509" name="Rectangle 5"/>
          <p:cNvSpPr>
            <a:spLocks noGrp="1" noChangeArrowheads="1"/>
          </p:cNvSpPr>
          <p:nvPr>
            <p:ph idx="1"/>
          </p:nvPr>
        </p:nvSpPr>
        <p:spPr>
          <a:xfrm>
            <a:off x="685800" y="1905000"/>
            <a:ext cx="7556313" cy="4144963"/>
          </a:xfrm>
        </p:spPr>
        <p:txBody>
          <a:bodyPr/>
          <a:lstStyle/>
          <a:p>
            <a:r>
              <a:rPr lang="en-GB" dirty="0"/>
              <a:t>Address length = (s + w) bits</a:t>
            </a:r>
          </a:p>
          <a:p>
            <a:r>
              <a:rPr lang="en-GB" dirty="0"/>
              <a:t>Number of addressable units = 2</a:t>
            </a:r>
            <a:r>
              <a:rPr lang="en-GB" baseline="30000" dirty="0"/>
              <a:t>s+w </a:t>
            </a:r>
            <a:r>
              <a:rPr lang="en-GB" dirty="0"/>
              <a:t>words or bytes</a:t>
            </a:r>
          </a:p>
          <a:p>
            <a:r>
              <a:rPr lang="en-GB" dirty="0"/>
              <a:t>Block size = line size = 2</a:t>
            </a:r>
            <a:r>
              <a:rPr lang="en-GB" baseline="30000" dirty="0"/>
              <a:t>w</a:t>
            </a:r>
            <a:r>
              <a:rPr lang="en-GB" dirty="0"/>
              <a:t> words or bytes</a:t>
            </a:r>
          </a:p>
          <a:p>
            <a:r>
              <a:rPr lang="en-GB" dirty="0"/>
              <a:t>Number of blocks in main memory = 2</a:t>
            </a:r>
            <a:r>
              <a:rPr lang="en-GB" baseline="30000" dirty="0"/>
              <a:t>s+ w</a:t>
            </a:r>
            <a:r>
              <a:rPr lang="en-GB" dirty="0"/>
              <a:t>/2</a:t>
            </a:r>
            <a:r>
              <a:rPr lang="en-GB" baseline="30000" dirty="0"/>
              <a:t>w</a:t>
            </a:r>
            <a:r>
              <a:rPr lang="en-GB" dirty="0"/>
              <a:t> = 2</a:t>
            </a:r>
            <a:r>
              <a:rPr lang="en-GB" baseline="30000" dirty="0"/>
              <a:t>s</a:t>
            </a:r>
          </a:p>
          <a:p>
            <a:r>
              <a:rPr lang="en-GB" dirty="0"/>
              <a:t>Number of lines in cache = m = 2</a:t>
            </a:r>
            <a:r>
              <a:rPr lang="en-GB" baseline="30000" dirty="0"/>
              <a:t>r</a:t>
            </a:r>
          </a:p>
          <a:p>
            <a:r>
              <a:rPr lang="en-GB" dirty="0"/>
              <a:t>Size of tag = (s – r) bits</a:t>
            </a:r>
          </a:p>
        </p:txBody>
      </p:sp>
      <p:pic>
        <p:nvPicPr>
          <p:cNvPr id="11" name="Picture 10"/>
          <p:cNvPicPr>
            <a:picLocks noChangeAspect="1"/>
          </p:cNvPicPr>
          <p:nvPr/>
        </p:nvPicPr>
        <p:blipFill>
          <a:blip r:embed="rId3"/>
          <a:stretch>
            <a:fillRect/>
          </a:stretch>
        </p:blipFill>
        <p:spPr>
          <a:xfrm>
            <a:off x="7377546" y="5206774"/>
            <a:ext cx="1004454" cy="947057"/>
          </a:xfrm>
          <a:prstGeom prst="rect">
            <a:avLst/>
          </a:prstGeom>
        </p:spPr>
      </p:pic>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Victim Cache</a:t>
            </a:r>
          </a:p>
        </p:txBody>
      </p:sp>
      <p:sp>
        <p:nvSpPr>
          <p:cNvPr id="185347" name="Rectangle 3"/>
          <p:cNvSpPr>
            <a:spLocks noGrp="1" noChangeArrowheads="1"/>
          </p:cNvSpPr>
          <p:nvPr>
            <p:ph idx="1"/>
          </p:nvPr>
        </p:nvSpPr>
        <p:spPr>
          <a:xfrm>
            <a:off x="533400" y="2286000"/>
            <a:ext cx="7556313" cy="4876800"/>
          </a:xfrm>
        </p:spPr>
        <p:txBody>
          <a:bodyPr>
            <a:normAutofit/>
          </a:bodyPr>
          <a:lstStyle/>
          <a:p>
            <a:pPr marL="228600" lvl="1">
              <a:spcBef>
                <a:spcPts val="2000"/>
              </a:spcBef>
              <a:buClr>
                <a:schemeClr val="accent1"/>
              </a:buClr>
            </a:pPr>
            <a:r>
              <a:rPr lang="en-GB" sz="2000" dirty="0"/>
              <a:t>Originally proposed as an approach to reduce the conflict misses of direct mapped caches without affecting its fast access time</a:t>
            </a:r>
          </a:p>
          <a:p>
            <a:r>
              <a:rPr lang="en-GB" dirty="0"/>
              <a:t>Fully associative cache</a:t>
            </a:r>
          </a:p>
          <a:p>
            <a:r>
              <a:rPr lang="en-GB" dirty="0"/>
              <a:t>Typical size is 4 to 16 cache lines</a:t>
            </a:r>
          </a:p>
          <a:p>
            <a:r>
              <a:rPr lang="en-GB" dirty="0"/>
              <a:t>Residing between direct mapped L1 cache and the next level of memory</a:t>
            </a:r>
          </a:p>
        </p:txBody>
      </p:sp>
      <p:pic>
        <p:nvPicPr>
          <p:cNvPr id="4" name="Picture 3"/>
          <p:cNvPicPr>
            <a:picLocks noChangeAspect="1"/>
          </p:cNvPicPr>
          <p:nvPr/>
        </p:nvPicPr>
        <p:blipFill>
          <a:blip r:embed="rId3"/>
          <a:stretch>
            <a:fillRect/>
          </a:stretch>
        </p:blipFill>
        <p:spPr>
          <a:xfrm rot="1751605">
            <a:off x="7305552" y="243572"/>
            <a:ext cx="1480931" cy="1851616"/>
          </a:xfrm>
          <a:prstGeom prst="rect">
            <a:avLst/>
          </a:prstGeom>
        </p:spPr>
      </p:pic>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1.pdf"/>
          <p:cNvPicPr>
            <a:picLocks noChangeAspect="1"/>
          </p:cNvPicPr>
          <p:nvPr/>
        </p:nvPicPr>
        <p:blipFill rotWithShape="1">
          <a:blip r:embed="rId3">
            <a:extLst>
              <a:ext uri="{28A0092B-C50C-407E-A947-70E740481C1C}">
                <a14:useLocalDpi xmlns:a14="http://schemas.microsoft.com/office/drawing/2010/main" val="0"/>
              </a:ext>
            </a:extLst>
          </a:blip>
          <a:srcRect l="6145" t="7626" r="6170" b="7217"/>
          <a:stretch/>
        </p:blipFill>
        <p:spPr>
          <a:xfrm>
            <a:off x="139590" y="-171400"/>
            <a:ext cx="8983187" cy="6741368"/>
          </a:xfrm>
          <a:prstGeom prst="rect">
            <a:avLst/>
          </a:prstGeom>
        </p:spPr>
      </p:pic>
      <p:sp>
        <p:nvSpPr>
          <p:cNvPr id="3" name="Footer Placeholder 2"/>
          <p:cNvSpPr>
            <a:spLocks noGrp="1"/>
          </p:cNvSpPr>
          <p:nvPr>
            <p:ph type="ftr" sz="quarter" idx="11"/>
          </p:nvPr>
        </p:nvSpPr>
        <p:spPr/>
        <p:txBody>
          <a:bodyPr/>
          <a:lstStyle/>
          <a:p>
            <a:r>
              <a:rPr lang="en-US" dirty="0"/>
              <a:t>© 2016 Pearson Education, Inc., Hoboken, NJ. All rights reserved.</a:t>
            </a:r>
          </a:p>
        </p:txBody>
      </p:sp>
    </p:spTree>
  </p:cSld>
  <p:clrMapOvr>
    <a:masterClrMapping/>
  </p:clrMapOvr>
  <p:transition spd="med">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2.pdf"/>
          <p:cNvPicPr>
            <a:picLocks noChangeAspect="1"/>
          </p:cNvPicPr>
          <p:nvPr/>
        </p:nvPicPr>
        <p:blipFill rotWithShape="1">
          <a:blip r:embed="rId3">
            <a:extLst>
              <a:ext uri="{28A0092B-C50C-407E-A947-70E740481C1C}">
                <a14:useLocalDpi xmlns:a14="http://schemas.microsoft.com/office/drawing/2010/main" val="0"/>
              </a:ext>
            </a:extLst>
          </a:blip>
          <a:srcRect t="7445" b="5402"/>
          <a:stretch/>
        </p:blipFill>
        <p:spPr>
          <a:xfrm>
            <a:off x="1691680" y="0"/>
            <a:ext cx="5904656" cy="6659706"/>
          </a:xfrm>
          <a:prstGeom prst="rect">
            <a:avLst/>
          </a:prstGeom>
        </p:spPr>
      </p:pic>
      <p:sp>
        <p:nvSpPr>
          <p:cNvPr id="3" name="Footer Placeholder 2"/>
          <p:cNvSpPr>
            <a:spLocks noGrp="1"/>
          </p:cNvSpPr>
          <p:nvPr>
            <p:ph type="ftr" sz="quarter" idx="11"/>
          </p:nvPr>
        </p:nvSpPr>
        <p:spPr>
          <a:xfrm>
            <a:off x="179512" y="6551875"/>
            <a:ext cx="6122894" cy="365125"/>
          </a:xfrm>
        </p:spPr>
        <p:txBody>
          <a:bodyPr/>
          <a:lstStyle/>
          <a:p>
            <a:r>
              <a:rPr lang="en-US" dirty="0"/>
              <a:t>© 2016 Pearson Education, Inc., Hoboken, NJ. All rights reserved.</a:t>
            </a:r>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80"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Associative Mapping Summary</a:t>
            </a:r>
          </a:p>
        </p:txBody>
      </p:sp>
      <p:sp>
        <p:nvSpPr>
          <p:cNvPr id="152581" name="Rectangle 5"/>
          <p:cNvSpPr>
            <a:spLocks noGrp="1" noChangeArrowheads="1"/>
          </p:cNvSpPr>
          <p:nvPr>
            <p:ph idx="1"/>
          </p:nvPr>
        </p:nvSpPr>
        <p:spPr/>
        <p:txBody>
          <a:bodyPr/>
          <a:lstStyle/>
          <a:p>
            <a:r>
              <a:rPr lang="en-GB" dirty="0"/>
              <a:t>Address length = (s + w) bits</a:t>
            </a:r>
          </a:p>
          <a:p>
            <a:r>
              <a:rPr lang="en-GB" dirty="0"/>
              <a:t>Number of addressable units = 2</a:t>
            </a:r>
            <a:r>
              <a:rPr lang="en-GB" baseline="30000" dirty="0"/>
              <a:t>s+w </a:t>
            </a:r>
            <a:r>
              <a:rPr lang="en-GB" dirty="0"/>
              <a:t>words or bytes</a:t>
            </a:r>
          </a:p>
          <a:p>
            <a:r>
              <a:rPr lang="en-GB" dirty="0"/>
              <a:t>Block size = line size = 2</a:t>
            </a:r>
            <a:r>
              <a:rPr lang="en-GB" baseline="30000" dirty="0"/>
              <a:t>w</a:t>
            </a:r>
            <a:r>
              <a:rPr lang="en-GB" dirty="0"/>
              <a:t> words or bytes</a:t>
            </a:r>
          </a:p>
          <a:p>
            <a:r>
              <a:rPr lang="en-GB" dirty="0"/>
              <a:t>Number of blocks in main memory = 2</a:t>
            </a:r>
            <a:r>
              <a:rPr lang="en-GB" baseline="30000" dirty="0"/>
              <a:t>s+ w</a:t>
            </a:r>
            <a:r>
              <a:rPr lang="en-GB" dirty="0"/>
              <a:t>/2</a:t>
            </a:r>
            <a:r>
              <a:rPr lang="en-GB" baseline="30000" dirty="0"/>
              <a:t>w</a:t>
            </a:r>
            <a:r>
              <a:rPr lang="en-GB" dirty="0"/>
              <a:t> = 2</a:t>
            </a:r>
            <a:r>
              <a:rPr lang="en-GB" baseline="30000" dirty="0"/>
              <a:t>s</a:t>
            </a:r>
          </a:p>
          <a:p>
            <a:r>
              <a:rPr lang="en-GB" dirty="0"/>
              <a:t>Number of lines in cache = undetermined</a:t>
            </a:r>
          </a:p>
          <a:p>
            <a:r>
              <a:rPr lang="en-GB" dirty="0"/>
              <a:t>Size of tag = s bits</a:t>
            </a:r>
          </a:p>
        </p:txBody>
      </p:sp>
      <p:pic>
        <p:nvPicPr>
          <p:cNvPr id="4" name="Picture 3"/>
          <p:cNvPicPr>
            <a:picLocks noChangeAspect="1"/>
          </p:cNvPicPr>
          <p:nvPr/>
        </p:nvPicPr>
        <p:blipFill>
          <a:blip r:embed="rId3"/>
          <a:stretch>
            <a:fillRect/>
          </a:stretch>
        </p:blipFill>
        <p:spPr>
          <a:xfrm>
            <a:off x="7377546" y="5206774"/>
            <a:ext cx="1004454" cy="947057"/>
          </a:xfrm>
          <a:prstGeom prst="rect">
            <a:avLst/>
          </a:prstGeom>
        </p:spPr>
      </p:pic>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762000" y="533400"/>
            <a:ext cx="7556313" cy="1116106"/>
          </a:xfrm>
        </p:spPr>
        <p:txBody>
          <a:bodyPr/>
          <a:lstStyle/>
          <a:p>
            <a:r>
              <a:rPr lang="en-US" dirty="0">
                <a:effectLst>
                  <a:outerShdw blurRad="38100" dist="38100" dir="2700000" algn="tl">
                    <a:srgbClr val="000000">
                      <a:alpha val="43137"/>
                    </a:srgbClr>
                  </a:outerShdw>
                </a:effectLst>
              </a:rPr>
              <a:t>Set Associative Mapping</a:t>
            </a:r>
          </a:p>
        </p:txBody>
      </p:sp>
      <p:sp>
        <p:nvSpPr>
          <p:cNvPr id="47107" name="Rectangle 3"/>
          <p:cNvSpPr>
            <a:spLocks noGrp="1" noChangeArrowheads="1"/>
          </p:cNvSpPr>
          <p:nvPr>
            <p:ph idx="1"/>
          </p:nvPr>
        </p:nvSpPr>
        <p:spPr/>
        <p:txBody>
          <a:bodyPr/>
          <a:lstStyle/>
          <a:p>
            <a:r>
              <a:rPr lang="en-US" dirty="0"/>
              <a:t>Compromise that exhibits the strengths of both the direct and associative approaches while reducing their disadvantages</a:t>
            </a:r>
          </a:p>
          <a:p>
            <a:r>
              <a:rPr lang="en-US" dirty="0"/>
              <a:t>Cache consists of a number of sets</a:t>
            </a:r>
          </a:p>
          <a:p>
            <a:r>
              <a:rPr lang="en-US" dirty="0"/>
              <a:t>Each set contains a number of lines</a:t>
            </a:r>
          </a:p>
          <a:p>
            <a:r>
              <a:rPr lang="en-US" dirty="0"/>
              <a:t>A given block maps to any line in a given set</a:t>
            </a:r>
          </a:p>
          <a:p>
            <a:r>
              <a:rPr lang="en-US" dirty="0"/>
              <a:t>e.g. 2 lines per set</a:t>
            </a:r>
          </a:p>
          <a:p>
            <a:pPr lvl="1"/>
            <a:r>
              <a:rPr lang="en-US" dirty="0"/>
              <a:t>2 way associative mapping</a:t>
            </a:r>
          </a:p>
          <a:p>
            <a:pPr lvl="1"/>
            <a:r>
              <a:rPr lang="en-US" dirty="0"/>
              <a:t>A given block can be in one of 2 lines in only one set</a:t>
            </a:r>
          </a:p>
          <a:p>
            <a:endParaRPr lang="en-US" dirty="0"/>
          </a:p>
        </p:txBody>
      </p:sp>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13.pdf"/>
          <p:cNvPicPr>
            <a:picLocks noChangeAspect="1"/>
          </p:cNvPicPr>
          <p:nvPr/>
        </p:nvPicPr>
        <p:blipFill rotWithShape="1">
          <a:blip r:embed="rId3">
            <a:extLst>
              <a:ext uri="{28A0092B-C50C-407E-A947-70E740481C1C}">
                <a14:useLocalDpi xmlns:a14="http://schemas.microsoft.com/office/drawing/2010/main" val="0"/>
              </a:ext>
            </a:extLst>
          </a:blip>
          <a:srcRect t="2542" b="6128"/>
          <a:stretch/>
        </p:blipFill>
        <p:spPr>
          <a:xfrm>
            <a:off x="1835696" y="-171400"/>
            <a:ext cx="5616624" cy="6638386"/>
          </a:xfrm>
          <a:prstGeom prst="rect">
            <a:avLst/>
          </a:prstGeom>
        </p:spPr>
      </p:pic>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4.pdf"/>
          <p:cNvPicPr>
            <a:picLocks noChangeAspect="1"/>
          </p:cNvPicPr>
          <p:nvPr/>
        </p:nvPicPr>
        <p:blipFill rotWithShape="1">
          <a:blip r:embed="rId3">
            <a:extLst>
              <a:ext uri="{28A0092B-C50C-407E-A947-70E740481C1C}">
                <a14:useLocalDpi xmlns:a14="http://schemas.microsoft.com/office/drawing/2010/main" val="0"/>
              </a:ext>
            </a:extLst>
          </a:blip>
          <a:srcRect l="6145" t="7445" r="7853" b="5765"/>
          <a:stretch/>
        </p:blipFill>
        <p:spPr>
          <a:xfrm>
            <a:off x="323528" y="-171400"/>
            <a:ext cx="8576140" cy="6687810"/>
          </a:xfrm>
          <a:prstGeom prst="rect">
            <a:avLst/>
          </a:prstGeom>
        </p:spPr>
      </p:pic>
      <p:sp>
        <p:nvSpPr>
          <p:cNvPr id="3" name="Footer Placeholder 2"/>
          <p:cNvSpPr>
            <a:spLocks noGrp="1"/>
          </p:cNvSpPr>
          <p:nvPr>
            <p:ph type="ftr" sz="quarter" idx="11"/>
          </p:nvPr>
        </p:nvSpPr>
        <p:spPr>
          <a:xfrm>
            <a:off x="179512" y="6492875"/>
            <a:ext cx="6122894" cy="365125"/>
          </a:xfrm>
        </p:spPr>
        <p:txBody>
          <a:bodyPr/>
          <a:lstStyle/>
          <a:p>
            <a:r>
              <a:rPr lang="en-US" dirty="0"/>
              <a:t>© 2016 Pearson Education, Inc., Hoboken, NJ. All rights reserved.</a:t>
            </a:r>
          </a:p>
        </p:txBody>
      </p:sp>
    </p:spTree>
  </p:cSld>
  <p:clrMapOvr>
    <a:masterClrMapping/>
  </p:clrMapOvr>
  <p:transition spd="med">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4"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Set Associative Mapping Summary</a:t>
            </a:r>
          </a:p>
        </p:txBody>
      </p:sp>
      <p:sp>
        <p:nvSpPr>
          <p:cNvPr id="153605" name="Rectangle 5"/>
          <p:cNvSpPr>
            <a:spLocks noGrp="1" noChangeArrowheads="1"/>
          </p:cNvSpPr>
          <p:nvPr>
            <p:ph idx="1"/>
          </p:nvPr>
        </p:nvSpPr>
        <p:spPr>
          <a:xfrm>
            <a:off x="539552" y="1556792"/>
            <a:ext cx="7556313" cy="4572000"/>
          </a:xfrm>
        </p:spPr>
        <p:txBody>
          <a:bodyPr>
            <a:normAutofit fontScale="92500" lnSpcReduction="10000"/>
          </a:bodyPr>
          <a:lstStyle/>
          <a:p>
            <a:r>
              <a:rPr lang="en-GB" dirty="0"/>
              <a:t>Address length = (s + w) bits</a:t>
            </a:r>
          </a:p>
          <a:p>
            <a:r>
              <a:rPr lang="en-GB" dirty="0"/>
              <a:t>Number of addressable units = 2</a:t>
            </a:r>
            <a:r>
              <a:rPr lang="en-GB" baseline="30000" dirty="0"/>
              <a:t>s+w </a:t>
            </a:r>
            <a:r>
              <a:rPr lang="en-GB" dirty="0"/>
              <a:t>words or bytes</a:t>
            </a:r>
          </a:p>
          <a:p>
            <a:r>
              <a:rPr lang="en-GB" dirty="0"/>
              <a:t>Block size = line size = 2</a:t>
            </a:r>
            <a:r>
              <a:rPr lang="en-GB" baseline="30000" dirty="0"/>
              <a:t>w</a:t>
            </a:r>
            <a:r>
              <a:rPr lang="en-GB" dirty="0"/>
              <a:t> words or bytes</a:t>
            </a:r>
          </a:p>
          <a:p>
            <a:r>
              <a:rPr lang="en-GB" dirty="0"/>
              <a:t>Number of blocks in main memory = 2</a:t>
            </a:r>
            <a:r>
              <a:rPr lang="en-GB" baseline="30000" dirty="0"/>
              <a:t>s+w/</a:t>
            </a:r>
            <a:r>
              <a:rPr lang="en-GB" dirty="0"/>
              <a:t>2</a:t>
            </a:r>
            <a:r>
              <a:rPr lang="en-GB" baseline="30000" dirty="0"/>
              <a:t>w=</a:t>
            </a:r>
            <a:r>
              <a:rPr lang="en-GB" dirty="0"/>
              <a:t>2</a:t>
            </a:r>
            <a:r>
              <a:rPr lang="en-GB" baseline="30000" dirty="0"/>
              <a:t>s</a:t>
            </a:r>
            <a:endParaRPr lang="en-GB" dirty="0"/>
          </a:p>
          <a:p>
            <a:r>
              <a:rPr lang="en-GB" dirty="0"/>
              <a:t>Number of lines in set = k</a:t>
            </a:r>
          </a:p>
          <a:p>
            <a:r>
              <a:rPr lang="en-GB" dirty="0"/>
              <a:t>Number of sets = v = 2</a:t>
            </a:r>
            <a:r>
              <a:rPr lang="en-GB" baseline="30000" dirty="0"/>
              <a:t>d</a:t>
            </a:r>
          </a:p>
          <a:p>
            <a:r>
              <a:rPr lang="en-GB" dirty="0"/>
              <a:t>Number of lines in cache = m=kv = k * 2</a:t>
            </a:r>
            <a:r>
              <a:rPr lang="en-GB" baseline="30000" dirty="0"/>
              <a:t>d</a:t>
            </a:r>
          </a:p>
          <a:p>
            <a:r>
              <a:rPr lang="en-GB" dirty="0"/>
              <a:t>Size of cache = </a:t>
            </a:r>
            <a:r>
              <a:rPr lang="en-GB" i="1" dirty="0"/>
              <a:t>k * 2</a:t>
            </a:r>
            <a:r>
              <a:rPr lang="en-GB" sz="2054" baseline="30000" dirty="0"/>
              <a:t>d+w</a:t>
            </a:r>
            <a:r>
              <a:rPr lang="en-GB" i="1" dirty="0"/>
              <a:t> </a:t>
            </a:r>
            <a:r>
              <a:rPr lang="en-GB" dirty="0"/>
              <a:t>words or bytes</a:t>
            </a:r>
            <a:endParaRPr lang="en-GB" baseline="30000" dirty="0"/>
          </a:p>
          <a:p>
            <a:r>
              <a:rPr lang="en-GB" dirty="0"/>
              <a:t>Size of tag = (s – d) bits</a:t>
            </a:r>
          </a:p>
        </p:txBody>
      </p:sp>
      <p:pic>
        <p:nvPicPr>
          <p:cNvPr id="5" name="Picture 4"/>
          <p:cNvPicPr>
            <a:picLocks noChangeAspect="1"/>
          </p:cNvPicPr>
          <p:nvPr/>
        </p:nvPicPr>
        <p:blipFill>
          <a:blip r:embed="rId3"/>
          <a:stretch>
            <a:fillRect/>
          </a:stretch>
        </p:blipFill>
        <p:spPr>
          <a:xfrm>
            <a:off x="7377546" y="5206774"/>
            <a:ext cx="1004454" cy="947057"/>
          </a:xfrm>
          <a:prstGeom prst="rect">
            <a:avLst/>
          </a:prstGeom>
        </p:spPr>
      </p:pic>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5.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236436"/>
            <a:ext cx="8750539" cy="6761780"/>
          </a:xfrm>
          <a:prstGeom prst="rect">
            <a:avLst/>
          </a:prstGeom>
        </p:spPr>
      </p:pic>
      <p:sp>
        <p:nvSpPr>
          <p:cNvPr id="3" name="Footer Placeholder 2"/>
          <p:cNvSpPr>
            <a:spLocks noGrp="1"/>
          </p:cNvSpPr>
          <p:nvPr>
            <p:ph type="ftr" sz="quarter" idx="11"/>
          </p:nvPr>
        </p:nvSpPr>
        <p:spPr/>
        <p:txBody>
          <a:bodyPr/>
          <a:lstStyle/>
          <a:p>
            <a:r>
              <a:rPr lang="en-US" dirty="0"/>
              <a:t>© 2016 Pearson Education, Inc., Hoboken, NJ. All rights reserved.</a:t>
            </a:r>
          </a:p>
        </p:txBody>
      </p:sp>
    </p:spTree>
  </p:cSld>
  <p:clrMapOvr>
    <a:masterClrMapping/>
  </p:clrMapOvr>
  <p:transition spd="med">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6.pdf"/>
          <p:cNvPicPr>
            <a:picLocks noChangeAspect="1"/>
          </p:cNvPicPr>
          <p:nvPr/>
        </p:nvPicPr>
        <p:blipFill rotWithShape="1">
          <a:blip r:embed="rId3">
            <a:extLst>
              <a:ext uri="{28A0092B-C50C-407E-A947-70E740481C1C}">
                <a14:useLocalDpi xmlns:a14="http://schemas.microsoft.com/office/drawing/2010/main" val="0"/>
              </a:ext>
            </a:extLst>
          </a:blip>
          <a:srcRect t="25057" b="12665"/>
          <a:stretch/>
        </p:blipFill>
        <p:spPr>
          <a:xfrm>
            <a:off x="4960" y="-171400"/>
            <a:ext cx="8566316" cy="6904107"/>
          </a:xfrm>
          <a:prstGeom prst="rect">
            <a:avLst/>
          </a:prstGeom>
        </p:spPr>
      </p:pic>
      <p:sp>
        <p:nvSpPr>
          <p:cNvPr id="3" name="Footer Placeholder 2"/>
          <p:cNvSpPr>
            <a:spLocks noGrp="1"/>
          </p:cNvSpPr>
          <p:nvPr>
            <p:ph type="ftr" sz="quarter" idx="11"/>
          </p:nvPr>
        </p:nvSpPr>
        <p:spPr>
          <a:xfrm>
            <a:off x="323528" y="6515987"/>
            <a:ext cx="6122894" cy="365125"/>
          </a:xfrm>
        </p:spPr>
        <p:txBody>
          <a:bodyPr/>
          <a:lstStyle/>
          <a:p>
            <a:r>
              <a:rPr lang="en-US" dirty="0"/>
              <a:t>© 2016 Pearson Education, Inc., Hoboken, NJ. All rights reserved.</a:t>
            </a:r>
          </a:p>
        </p:txBody>
      </p:sp>
    </p:spTree>
  </p:cSld>
  <p:clrMapOvr>
    <a:masterClrMapping/>
  </p:clrMapOvr>
  <p:transition spd="med">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685800" y="533400"/>
            <a:ext cx="7556313" cy="1116106"/>
          </a:xfrm>
        </p:spPr>
        <p:txBody>
          <a:bodyPr/>
          <a:lstStyle/>
          <a:p>
            <a:r>
              <a:rPr lang="en-US" dirty="0">
                <a:effectLst>
                  <a:outerShdw blurRad="38100" dist="38100" dir="2700000" algn="tl">
                    <a:srgbClr val="000000">
                      <a:alpha val="43137"/>
                    </a:srgbClr>
                  </a:outerShdw>
                </a:effectLst>
              </a:rPr>
              <a:t>Replacement Algorithms</a:t>
            </a:r>
          </a:p>
        </p:txBody>
      </p:sp>
      <p:sp>
        <p:nvSpPr>
          <p:cNvPr id="52227" name="Rectangle 3"/>
          <p:cNvSpPr>
            <a:spLocks noGrp="1" noChangeArrowheads="1"/>
          </p:cNvSpPr>
          <p:nvPr>
            <p:ph idx="1"/>
          </p:nvPr>
        </p:nvSpPr>
        <p:spPr>
          <a:xfrm>
            <a:off x="533400" y="2286000"/>
            <a:ext cx="7556313" cy="4221163"/>
          </a:xfrm>
        </p:spPr>
        <p:txBody>
          <a:bodyPr/>
          <a:lstStyle/>
          <a:p>
            <a:r>
              <a:rPr lang="en-US" dirty="0"/>
              <a:t>Once the cache has been filled, when a new block is brought into the cache, one of the existing blocks must be replaced</a:t>
            </a:r>
          </a:p>
          <a:p>
            <a:r>
              <a:rPr lang="en-US" dirty="0"/>
              <a:t>For direct mapping there is only one possible line for any particular block and no choice is possible</a:t>
            </a:r>
          </a:p>
          <a:p>
            <a:r>
              <a:rPr lang="en-US" dirty="0"/>
              <a:t>For the associative and set-associative techniques a replacement algorithm is needed</a:t>
            </a:r>
          </a:p>
          <a:p>
            <a:r>
              <a:rPr lang="en-US" dirty="0"/>
              <a:t>To achieve high speed, an algorithm must be implemented in hardware</a:t>
            </a:r>
          </a:p>
          <a:p>
            <a:endParaRPr lang="en-US" dirty="0"/>
          </a:p>
        </p:txBody>
      </p:sp>
      <p:pic>
        <p:nvPicPr>
          <p:cNvPr id="4" name="Picture 3"/>
          <p:cNvPicPr>
            <a:picLocks noChangeAspect="1"/>
          </p:cNvPicPr>
          <p:nvPr/>
        </p:nvPicPr>
        <p:blipFill>
          <a:blip r:embed="rId3"/>
          <a:stretch>
            <a:fillRect/>
          </a:stretch>
        </p:blipFill>
        <p:spPr>
          <a:xfrm>
            <a:off x="7010400" y="228600"/>
            <a:ext cx="1739900" cy="1714500"/>
          </a:xfrm>
          <a:prstGeom prst="rect">
            <a:avLst/>
          </a:prstGeom>
        </p:spPr>
      </p:pic>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4"/>
          <p:cNvSpPr>
            <a:spLocks noGrp="1" noChangeArrowheads="1"/>
          </p:cNvSpPr>
          <p:nvPr>
            <p:ph type="title"/>
          </p:nvPr>
        </p:nvSpPr>
        <p:spPr>
          <a:xfrm>
            <a:off x="683568" y="260648"/>
            <a:ext cx="7556313" cy="1116106"/>
          </a:xfrm>
        </p:spPr>
        <p:txBody>
          <a:bodyPr/>
          <a:lstStyle/>
          <a:p>
            <a:r>
              <a:rPr lang="en-US" dirty="0">
                <a:solidFill>
                  <a:srgbClr val="666699"/>
                </a:solidFill>
              </a:rPr>
              <a:t>The most common replacement algorithms are:</a:t>
            </a:r>
          </a:p>
        </p:txBody>
      </p:sp>
      <p:sp>
        <p:nvSpPr>
          <p:cNvPr id="54277" name="Rectangle 5"/>
          <p:cNvSpPr>
            <a:spLocks noGrp="1" noChangeArrowheads="1"/>
          </p:cNvSpPr>
          <p:nvPr>
            <p:ph idx="1"/>
          </p:nvPr>
        </p:nvSpPr>
        <p:spPr>
          <a:xfrm>
            <a:off x="539552" y="1628800"/>
            <a:ext cx="7807326" cy="4648200"/>
          </a:xfrm>
        </p:spPr>
        <p:txBody>
          <a:bodyPr>
            <a:normAutofit lnSpcReduction="10000"/>
          </a:bodyPr>
          <a:lstStyle/>
          <a:p>
            <a:r>
              <a:rPr lang="en-US" dirty="0"/>
              <a:t>Least recently used (LRU)</a:t>
            </a:r>
          </a:p>
          <a:p>
            <a:pPr lvl="1"/>
            <a:r>
              <a:rPr lang="en-US" dirty="0"/>
              <a:t>Most effective</a:t>
            </a:r>
          </a:p>
          <a:p>
            <a:pPr lvl="1"/>
            <a:r>
              <a:rPr lang="en-US" dirty="0"/>
              <a:t>Replace that block in the set that has been in the cache longest with no reference to it</a:t>
            </a:r>
          </a:p>
          <a:p>
            <a:pPr lvl="1"/>
            <a:r>
              <a:rPr lang="en-US" dirty="0"/>
              <a:t>Because of its simplicity of implementation, LRU is the most popular replacement algorithm</a:t>
            </a:r>
          </a:p>
          <a:p>
            <a:r>
              <a:rPr lang="en-US" dirty="0"/>
              <a:t>First-in-first-out (FIFO)</a:t>
            </a:r>
          </a:p>
          <a:p>
            <a:pPr lvl="1"/>
            <a:r>
              <a:rPr lang="en-US" dirty="0"/>
              <a:t>Replace that block in the set that has been in the cache longest</a:t>
            </a:r>
          </a:p>
          <a:p>
            <a:pPr lvl="1"/>
            <a:r>
              <a:rPr lang="en-US" dirty="0"/>
              <a:t>Easily implemented as a round-robin or circular buffer technique</a:t>
            </a:r>
          </a:p>
          <a:p>
            <a:r>
              <a:rPr lang="en-US" dirty="0"/>
              <a:t>Least frequently used (LFU)</a:t>
            </a:r>
          </a:p>
          <a:p>
            <a:pPr lvl="1"/>
            <a:r>
              <a:rPr lang="en-US" dirty="0"/>
              <a:t>Replace that block in the set that has experienced the fewest references</a:t>
            </a:r>
          </a:p>
          <a:p>
            <a:pPr lvl="1"/>
            <a:r>
              <a:rPr lang="en-US" dirty="0"/>
              <a:t>Could be implemented by associating a counter with each line</a:t>
            </a:r>
          </a:p>
        </p:txBody>
      </p:sp>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ontent Placeholder 14"/>
          <p:cNvGraphicFramePr>
            <a:graphicFrameLocks noGrp="1"/>
          </p:cNvGraphicFramePr>
          <p:nvPr>
            <p:ph idx="4294967295"/>
            <p:extLst>
              <p:ext uri="{D42A27DB-BD31-4B8C-83A1-F6EECF244321}">
                <p14:modId xmlns:p14="http://schemas.microsoft.com/office/powerpoint/2010/main" val="2630394324"/>
              </p:ext>
            </p:extLst>
          </p:nvPr>
        </p:nvGraphicFramePr>
        <p:xfrm>
          <a:off x="323528" y="332656"/>
          <a:ext cx="8663880" cy="6932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3250" name="Rectangle 2"/>
          <p:cNvSpPr>
            <a:spLocks noGrp="1" noChangeArrowheads="1"/>
          </p:cNvSpPr>
          <p:nvPr>
            <p:ph type="title" idx="4294967295"/>
          </p:nvPr>
        </p:nvSpPr>
        <p:spPr>
          <a:xfrm>
            <a:off x="3124200" y="304800"/>
            <a:ext cx="2984500" cy="1116013"/>
          </a:xfrm>
        </p:spPr>
        <p:txBody>
          <a:bodyPr/>
          <a:lstStyle/>
          <a:p>
            <a:r>
              <a:rPr lang="en-US" dirty="0">
                <a:effectLst>
                  <a:outerShdw blurRad="38100" dist="38100" dir="2700000" algn="tl">
                    <a:srgbClr val="000000">
                      <a:alpha val="43137"/>
                    </a:srgbClr>
                  </a:outerShdw>
                </a:effectLst>
              </a:rPr>
              <a:t>Write Policy</a:t>
            </a:r>
          </a:p>
        </p:txBody>
      </p:sp>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Write Through</a:t>
            </a:r>
            <a:br>
              <a:rPr lang="en-US" dirty="0">
                <a:effectLst>
                  <a:outerShdw blurRad="38100" dist="38100" dir="2700000" algn="tl">
                    <a:srgbClr val="000000">
                      <a:alpha val="43137"/>
                    </a:srgbClr>
                  </a:outerShdw>
                </a:effectLst>
              </a:rPr>
            </a:br>
            <a:r>
              <a:rPr lang="en-US" dirty="0">
                <a:effectLst>
                  <a:outerShdw blurRad="38100" dist="38100" dir="2700000" algn="tl">
                    <a:srgbClr val="000000">
                      <a:alpha val="43137"/>
                    </a:srgbClr>
                  </a:outerShdw>
                </a:effectLst>
              </a:rPr>
              <a:t>		</a:t>
            </a:r>
            <a:r>
              <a:rPr lang="en-US" dirty="0">
                <a:solidFill>
                  <a:schemeClr val="accent3"/>
                </a:solidFill>
                <a:effectLst>
                  <a:outerShdw blurRad="38100" dist="38100" dir="2700000" algn="tl">
                    <a:srgbClr val="000000">
                      <a:alpha val="43137"/>
                    </a:srgbClr>
                  </a:outerShdw>
                </a:effectLst>
              </a:rPr>
              <a:t>and Write Back</a:t>
            </a:r>
          </a:p>
        </p:txBody>
      </p:sp>
      <p:sp>
        <p:nvSpPr>
          <p:cNvPr id="55299" name="Rectangle 3"/>
          <p:cNvSpPr>
            <a:spLocks noGrp="1" noChangeArrowheads="1"/>
          </p:cNvSpPr>
          <p:nvPr>
            <p:ph idx="1"/>
          </p:nvPr>
        </p:nvSpPr>
        <p:spPr>
          <a:xfrm>
            <a:off x="498474" y="1981200"/>
            <a:ext cx="8035926" cy="4495800"/>
          </a:xfrm>
        </p:spPr>
        <p:txBody>
          <a:bodyPr>
            <a:normAutofit/>
          </a:bodyPr>
          <a:lstStyle/>
          <a:p>
            <a:r>
              <a:rPr lang="en-US" dirty="0"/>
              <a:t>Write through</a:t>
            </a:r>
          </a:p>
          <a:p>
            <a:pPr lvl="1"/>
            <a:r>
              <a:rPr lang="en-US" dirty="0"/>
              <a:t>Simplest technique</a:t>
            </a:r>
          </a:p>
          <a:p>
            <a:pPr lvl="1"/>
            <a:r>
              <a:rPr lang="en-US" dirty="0"/>
              <a:t>All write operations are made to main memory as well as to the cache</a:t>
            </a:r>
          </a:p>
          <a:p>
            <a:pPr lvl="1"/>
            <a:r>
              <a:rPr lang="en-US" dirty="0"/>
              <a:t>The main disadvantage of this technique is that it generates substantial memory traffic and may create a bottleneck</a:t>
            </a:r>
          </a:p>
          <a:p>
            <a:r>
              <a:rPr lang="en-US" dirty="0"/>
              <a:t>Write back</a:t>
            </a:r>
          </a:p>
          <a:p>
            <a:pPr lvl="1"/>
            <a:r>
              <a:rPr lang="en-US" dirty="0"/>
              <a:t>Minimizes memory writes</a:t>
            </a:r>
          </a:p>
          <a:p>
            <a:pPr lvl="1"/>
            <a:r>
              <a:rPr lang="en-US" dirty="0"/>
              <a:t>Updates are made only in the cache</a:t>
            </a:r>
          </a:p>
          <a:p>
            <a:pPr lvl="1"/>
            <a:r>
              <a:rPr lang="en-US" dirty="0"/>
              <a:t>Portions of main memory are invalid and hence accesses by I/O modules can be allowed only through the cache</a:t>
            </a:r>
          </a:p>
          <a:p>
            <a:pPr lvl="1"/>
            <a:r>
              <a:rPr lang="en-US" dirty="0"/>
              <a:t>This makes for complex circuitry and a potential bottleneck</a:t>
            </a:r>
          </a:p>
        </p:txBody>
      </p:sp>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idx="4294967295"/>
          </p:nvPr>
        </p:nvSpPr>
        <p:spPr>
          <a:xfrm>
            <a:off x="395536" y="188640"/>
            <a:ext cx="7556500" cy="1116012"/>
          </a:xfrm>
        </p:spPr>
        <p:txBody>
          <a:bodyPr/>
          <a:lstStyle/>
          <a:p>
            <a:r>
              <a:rPr lang="en-GB" sz="4800" dirty="0">
                <a:effectLst>
                  <a:outerShdw blurRad="38100" dist="38100" dir="2700000" algn="tl">
                    <a:srgbClr val="000000">
                      <a:alpha val="43137"/>
                    </a:srgbClr>
                  </a:outerShdw>
                </a:effectLst>
              </a:rPr>
              <a:t>Line Size</a:t>
            </a:r>
          </a:p>
        </p:txBody>
      </p:sp>
      <p:graphicFrame>
        <p:nvGraphicFramePr>
          <p:cNvPr id="43" name="Content Placeholder 42"/>
          <p:cNvGraphicFramePr>
            <a:graphicFrameLocks noGrp="1"/>
          </p:cNvGraphicFramePr>
          <p:nvPr>
            <p:ph idx="4294967295"/>
            <p:extLst>
              <p:ext uri="{D42A27DB-BD31-4B8C-83A1-F6EECF244321}">
                <p14:modId xmlns:p14="http://schemas.microsoft.com/office/powerpoint/2010/main" val="680838460"/>
              </p:ext>
            </p:extLst>
          </p:nvPr>
        </p:nvGraphicFramePr>
        <p:xfrm>
          <a:off x="29867" y="332656"/>
          <a:ext cx="8964612" cy="63093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Footer Placeholder 1"/>
          <p:cNvSpPr>
            <a:spLocks noGrp="1"/>
          </p:cNvSpPr>
          <p:nvPr>
            <p:ph type="ftr" sz="quarter" idx="11"/>
          </p:nvPr>
        </p:nvSpPr>
        <p:spPr>
          <a:xfrm>
            <a:off x="179512" y="6492875"/>
            <a:ext cx="6122894" cy="365125"/>
          </a:xfrm>
        </p:spPr>
        <p:txBody>
          <a:bodyPr/>
          <a:lstStyle/>
          <a:p>
            <a:r>
              <a:rPr lang="en-US" dirty="0"/>
              <a:t>© 2016 Pearson Education, Inc., Hoboken, NJ. All rights reserved.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Multilevel Caches</a:t>
            </a:r>
          </a:p>
        </p:txBody>
      </p:sp>
      <p:sp>
        <p:nvSpPr>
          <p:cNvPr id="190467" name="Rectangle 3"/>
          <p:cNvSpPr>
            <a:spLocks noGrp="1" noChangeArrowheads="1"/>
          </p:cNvSpPr>
          <p:nvPr>
            <p:ph idx="1"/>
          </p:nvPr>
        </p:nvSpPr>
        <p:spPr>
          <a:xfrm>
            <a:off x="498474" y="1295400"/>
            <a:ext cx="7556313" cy="5257800"/>
          </a:xfrm>
        </p:spPr>
        <p:txBody>
          <a:bodyPr>
            <a:normAutofit fontScale="85000" lnSpcReduction="10000"/>
          </a:bodyPr>
          <a:lstStyle/>
          <a:p>
            <a:r>
              <a:rPr lang="en-GB" dirty="0"/>
              <a:t>As logic density has increased it has become possible to have a cache on the same chip as the processor</a:t>
            </a:r>
          </a:p>
          <a:p>
            <a:r>
              <a:rPr lang="en-GB" dirty="0"/>
              <a:t>The on-chip cache reduces the processor’s external bus activity and speeds up execution time and increases overall system performance</a:t>
            </a:r>
          </a:p>
          <a:p>
            <a:pPr lvl="1"/>
            <a:r>
              <a:rPr lang="en-GB" dirty="0"/>
              <a:t>When the requested instruction or data is found in the on-chip cache, the bus access is eliminated</a:t>
            </a:r>
          </a:p>
          <a:p>
            <a:pPr lvl="1"/>
            <a:r>
              <a:rPr lang="en-GB" dirty="0"/>
              <a:t>On-chip cache accesses will complete appreciably faster than would even zero-wait state bus cycles</a:t>
            </a:r>
          </a:p>
          <a:p>
            <a:pPr lvl="1"/>
            <a:r>
              <a:rPr lang="en-GB" dirty="0"/>
              <a:t>During this period the bus is free to support other transfers</a:t>
            </a:r>
          </a:p>
          <a:p>
            <a:r>
              <a:rPr lang="en-GB" dirty="0"/>
              <a:t>Two-level cache:</a:t>
            </a:r>
          </a:p>
          <a:p>
            <a:pPr lvl="1"/>
            <a:r>
              <a:rPr lang="en-GB" dirty="0"/>
              <a:t>Internal cache designated as level 1 (L1)</a:t>
            </a:r>
          </a:p>
          <a:p>
            <a:pPr lvl="1"/>
            <a:r>
              <a:rPr lang="en-GB" dirty="0"/>
              <a:t>External cache designated as level 2 (L2)</a:t>
            </a:r>
          </a:p>
          <a:p>
            <a:r>
              <a:rPr lang="en-GB" dirty="0"/>
              <a:t>Potential savings due to the use of an L2 cache depends on the hit rates in both the L1 and L2 caches</a:t>
            </a:r>
          </a:p>
          <a:p>
            <a:r>
              <a:rPr lang="en-GB" dirty="0"/>
              <a:t>The use of multilevel caches complicates all of the design issues related to caches, including size, replacement algorithm, and write policy</a:t>
            </a:r>
          </a:p>
          <a:p>
            <a:endParaRPr lang="en-GB" dirty="0"/>
          </a:p>
          <a:p>
            <a:endParaRPr lang="en-GB" dirty="0"/>
          </a:p>
        </p:txBody>
      </p:sp>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7.pdf"/>
          <p:cNvPicPr>
            <a:picLocks noChangeAspect="1"/>
          </p:cNvPicPr>
          <p:nvPr/>
        </p:nvPicPr>
        <p:blipFill rotWithShape="1">
          <a:blip r:embed="rId3">
            <a:extLst>
              <a:ext uri="{28A0092B-C50C-407E-A947-70E740481C1C}">
                <a14:useLocalDpi xmlns:a14="http://schemas.microsoft.com/office/drawing/2010/main" val="0"/>
              </a:ext>
            </a:extLst>
          </a:blip>
          <a:srcRect t="16342" b="12302"/>
          <a:stretch/>
        </p:blipFill>
        <p:spPr>
          <a:xfrm>
            <a:off x="683568" y="-99392"/>
            <a:ext cx="7243035" cy="6688555"/>
          </a:xfrm>
          <a:prstGeom prst="rect">
            <a:avLst/>
          </a:prstGeom>
        </p:spPr>
      </p:pic>
      <p:sp>
        <p:nvSpPr>
          <p:cNvPr id="3" name="Footer Placeholder 2"/>
          <p:cNvSpPr>
            <a:spLocks noGrp="1"/>
          </p:cNvSpPr>
          <p:nvPr>
            <p:ph type="ftr" sz="quarter" idx="11"/>
          </p:nvPr>
        </p:nvSpPr>
        <p:spPr>
          <a:xfrm>
            <a:off x="179512" y="6492875"/>
            <a:ext cx="6122894" cy="365125"/>
          </a:xfrm>
        </p:spPr>
        <p:txBody>
          <a:bodyPr/>
          <a:lstStyle/>
          <a:p>
            <a:r>
              <a:rPr lang="en-US" dirty="0"/>
              <a:t>© 2016 Pearson Education, Inc., Hoboken, NJ. All rights reserved.</a:t>
            </a:r>
          </a:p>
        </p:txBody>
      </p:sp>
    </p:spTree>
  </p:cSld>
  <p:clrMapOvr>
    <a:masterClrMapping/>
  </p:clrMapOvr>
  <p:transition spd="med">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Unified Versus Split Caches</a:t>
            </a:r>
          </a:p>
        </p:txBody>
      </p:sp>
      <p:sp>
        <p:nvSpPr>
          <p:cNvPr id="192515" name="Rectangle 3"/>
          <p:cNvSpPr>
            <a:spLocks noGrp="1" noChangeArrowheads="1"/>
          </p:cNvSpPr>
          <p:nvPr>
            <p:ph idx="1"/>
          </p:nvPr>
        </p:nvSpPr>
        <p:spPr>
          <a:xfrm>
            <a:off x="539552" y="1556792"/>
            <a:ext cx="7556313" cy="4724400"/>
          </a:xfrm>
        </p:spPr>
        <p:txBody>
          <a:bodyPr>
            <a:normAutofit fontScale="92500" lnSpcReduction="20000"/>
          </a:bodyPr>
          <a:lstStyle/>
          <a:p>
            <a:r>
              <a:rPr lang="en-GB" dirty="0"/>
              <a:t>Has become common to split cache:</a:t>
            </a:r>
          </a:p>
          <a:p>
            <a:pPr lvl="1"/>
            <a:r>
              <a:rPr lang="en-GB" dirty="0"/>
              <a:t>One dedicated to instructions</a:t>
            </a:r>
          </a:p>
          <a:p>
            <a:pPr lvl="1"/>
            <a:r>
              <a:rPr lang="en-GB" dirty="0"/>
              <a:t>One dedicated to data</a:t>
            </a:r>
          </a:p>
          <a:p>
            <a:pPr lvl="1"/>
            <a:r>
              <a:rPr lang="en-GB" dirty="0"/>
              <a:t>Both exist at the same level, typically as two L1 caches</a:t>
            </a:r>
          </a:p>
          <a:p>
            <a:r>
              <a:rPr lang="en-GB" dirty="0"/>
              <a:t>Advantages of unified cache:</a:t>
            </a:r>
          </a:p>
          <a:p>
            <a:pPr lvl="1"/>
            <a:r>
              <a:rPr lang="en-GB" dirty="0"/>
              <a:t>Higher hit rate</a:t>
            </a:r>
          </a:p>
          <a:p>
            <a:pPr lvl="2"/>
            <a:r>
              <a:rPr lang="en-GB" dirty="0"/>
              <a:t>Balances load of instruction and data fetches automatically</a:t>
            </a:r>
          </a:p>
          <a:p>
            <a:pPr lvl="2"/>
            <a:r>
              <a:rPr lang="en-GB" dirty="0"/>
              <a:t>Only one cache needs to be designed and implemented</a:t>
            </a:r>
          </a:p>
          <a:p>
            <a:r>
              <a:rPr lang="en-GB" dirty="0"/>
              <a:t>Trend is toward split caches at the L1 and unified caches for higher levels</a:t>
            </a:r>
          </a:p>
          <a:p>
            <a:r>
              <a:rPr lang="en-GB" dirty="0"/>
              <a:t>Advantages of split cache:</a:t>
            </a:r>
          </a:p>
          <a:p>
            <a:pPr lvl="1"/>
            <a:r>
              <a:rPr lang="en-GB" dirty="0"/>
              <a:t>Eliminates cache contention between instruction fetch/decode unit and execution unit</a:t>
            </a:r>
          </a:p>
          <a:p>
            <a:pPr lvl="2"/>
            <a:r>
              <a:rPr lang="en-GB" dirty="0"/>
              <a:t>Important in pipelining</a:t>
            </a:r>
          </a:p>
        </p:txBody>
      </p:sp>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07504" y="19340"/>
            <a:ext cx="7139756" cy="6677685"/>
          </a:xfrm>
          <a:prstGeom prst="rect">
            <a:avLst/>
          </a:prstGeom>
        </p:spPr>
      </p:pic>
      <p:sp>
        <p:nvSpPr>
          <p:cNvPr id="3" name="TextBox 2"/>
          <p:cNvSpPr txBox="1"/>
          <p:nvPr/>
        </p:nvSpPr>
        <p:spPr>
          <a:xfrm>
            <a:off x="7576311" y="1916832"/>
            <a:ext cx="1547664" cy="1785104"/>
          </a:xfrm>
          <a:prstGeom prst="rect">
            <a:avLst/>
          </a:prstGeom>
          <a:noFill/>
        </p:spPr>
        <p:txBody>
          <a:bodyPr wrap="square" rtlCol="0">
            <a:spAutoFit/>
          </a:bodyPr>
          <a:lstStyle/>
          <a:p>
            <a:pPr algn="ctr"/>
            <a:r>
              <a:rPr lang="en-US" dirty="0">
                <a:latin typeface="+mj-lt"/>
              </a:rPr>
              <a:t>Table 4.4    </a:t>
            </a:r>
          </a:p>
          <a:p>
            <a:pPr algn="ctr"/>
            <a:endParaRPr lang="en-US" sz="2000" dirty="0">
              <a:latin typeface="+mj-lt"/>
            </a:endParaRPr>
          </a:p>
          <a:p>
            <a:pPr algn="ctr"/>
            <a:r>
              <a:rPr lang="en-US" sz="2200" dirty="0">
                <a:latin typeface="+mj-lt"/>
              </a:rPr>
              <a:t>Intel </a:t>
            </a:r>
          </a:p>
          <a:p>
            <a:pPr algn="ctr"/>
            <a:r>
              <a:rPr lang="en-US" sz="2200" dirty="0">
                <a:latin typeface="+mj-lt"/>
              </a:rPr>
              <a:t>Cache Evolution </a:t>
            </a:r>
          </a:p>
        </p:txBody>
      </p:sp>
      <p:sp>
        <p:nvSpPr>
          <p:cNvPr id="4" name="TextBox 3"/>
          <p:cNvSpPr txBox="1"/>
          <p:nvPr/>
        </p:nvSpPr>
        <p:spPr>
          <a:xfrm>
            <a:off x="7528607" y="6309320"/>
            <a:ext cx="1619672" cy="461665"/>
          </a:xfrm>
          <a:prstGeom prst="rect">
            <a:avLst/>
          </a:prstGeom>
          <a:noFill/>
        </p:spPr>
        <p:txBody>
          <a:bodyPr wrap="square" rtlCol="0">
            <a:spAutoFit/>
          </a:bodyPr>
          <a:lstStyle/>
          <a:p>
            <a:r>
              <a:rPr lang="en-US" sz="1200" dirty="0">
                <a:latin typeface="+mn-lt"/>
              </a:rPr>
              <a:t>(Table is on page 150 in the textbook.)</a:t>
            </a:r>
          </a:p>
        </p:txBody>
      </p:sp>
      <p:sp>
        <p:nvSpPr>
          <p:cNvPr id="5" name="Footer Placeholder 4"/>
          <p:cNvSpPr>
            <a:spLocks noGrp="1"/>
          </p:cNvSpPr>
          <p:nvPr>
            <p:ph type="ftr" sz="quarter" idx="11"/>
          </p:nvPr>
        </p:nvSpPr>
        <p:spPr>
          <a:xfrm>
            <a:off x="107504" y="6513909"/>
            <a:ext cx="6122894" cy="365125"/>
          </a:xfrm>
        </p:spPr>
        <p:txBody>
          <a:bodyPr/>
          <a:lstStyle/>
          <a:p>
            <a:r>
              <a:rPr lang="en-US" dirty="0"/>
              <a:t>© 2016 Pearson Education, Inc., Hoboken, NJ. All rights reserved.</a:t>
            </a:r>
          </a:p>
        </p:txBody>
      </p:sp>
    </p:spTree>
  </p:cSld>
  <p:clrMapOvr>
    <a:masterClrMapping/>
  </p:clrMapOvr>
  <p:transition spd="med">
    <p:split orient="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8.pdf"/>
          <p:cNvPicPr>
            <a:picLocks noChangeAspect="1"/>
          </p:cNvPicPr>
          <p:nvPr/>
        </p:nvPicPr>
        <p:blipFill rotWithShape="1">
          <a:blip r:embed="rId3">
            <a:extLst>
              <a:ext uri="{28A0092B-C50C-407E-A947-70E740481C1C}">
                <a14:useLocalDpi xmlns:a14="http://schemas.microsoft.com/office/drawing/2010/main" val="0"/>
              </a:ext>
            </a:extLst>
          </a:blip>
          <a:srcRect l="4462" t="13073" r="7433" b="9941"/>
          <a:stretch/>
        </p:blipFill>
        <p:spPr>
          <a:xfrm>
            <a:off x="323528" y="476672"/>
            <a:ext cx="8820472" cy="5955561"/>
          </a:xfrm>
          <a:prstGeom prst="rect">
            <a:avLst/>
          </a:prstGeom>
        </p:spPr>
      </p:pic>
      <p:sp>
        <p:nvSpPr>
          <p:cNvPr id="3" name="Footer Placeholder 2"/>
          <p:cNvSpPr>
            <a:spLocks noGrp="1"/>
          </p:cNvSpPr>
          <p:nvPr>
            <p:ph type="ftr" sz="quarter" idx="11"/>
          </p:nvPr>
        </p:nvSpPr>
        <p:spPr/>
        <p:txBody>
          <a:bodyPr/>
          <a:lstStyle/>
          <a:p>
            <a:r>
              <a:rPr lang="en-US" dirty="0"/>
              <a:t>© 2016 Pearson Education, Inc., Hoboken, NJ. All rights reserved.</a:t>
            </a:r>
          </a:p>
        </p:txBody>
      </p:sp>
    </p:spTree>
  </p:cSld>
  <p:clrMapOvr>
    <a:masterClrMapping/>
  </p:clrMapOvr>
  <p:transition spd="med">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52536" y="1988840"/>
            <a:ext cx="9623484" cy="3468464"/>
          </a:xfrm>
          <a:prstGeom prst="rect">
            <a:avLst/>
          </a:prstGeom>
        </p:spPr>
      </p:pic>
      <p:sp>
        <p:nvSpPr>
          <p:cNvPr id="3" name="Footer Placeholder 2"/>
          <p:cNvSpPr>
            <a:spLocks noGrp="1"/>
          </p:cNvSpPr>
          <p:nvPr>
            <p:ph type="ftr" sz="quarter" idx="11"/>
          </p:nvPr>
        </p:nvSpPr>
        <p:spPr/>
        <p:txBody>
          <a:bodyPr/>
          <a:lstStyle/>
          <a:p>
            <a:r>
              <a:rPr lang="en-US" dirty="0"/>
              <a:t>© 2016 Pearson Education, Inc., Hoboken, NJ. All rights reserved.</a:t>
            </a:r>
          </a:p>
        </p:txBody>
      </p:sp>
    </p:spTree>
  </p:cSld>
  <p:clrMapOvr>
    <a:masterClrMapping/>
  </p:clrMapOvr>
  <p:transition spd="med">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a:t>Summary</a:t>
            </a:r>
          </a:p>
        </p:txBody>
      </p:sp>
      <p:sp>
        <p:nvSpPr>
          <p:cNvPr id="30" name="Content Placeholder 29"/>
          <p:cNvSpPr>
            <a:spLocks noGrp="1"/>
          </p:cNvSpPr>
          <p:nvPr>
            <p:ph sz="half" idx="2"/>
          </p:nvPr>
        </p:nvSpPr>
        <p:spPr>
          <a:xfrm>
            <a:off x="457200" y="2514600"/>
            <a:ext cx="3657600" cy="4343400"/>
          </a:xfrm>
        </p:spPr>
        <p:txBody>
          <a:bodyPr>
            <a:normAutofit/>
          </a:bodyPr>
          <a:lstStyle/>
          <a:p>
            <a:pPr>
              <a:spcBef>
                <a:spcPts val="600"/>
              </a:spcBef>
            </a:pPr>
            <a:r>
              <a:rPr lang="en-US" sz="2400" dirty="0"/>
              <a:t>Computer memory system overview</a:t>
            </a:r>
          </a:p>
          <a:p>
            <a:pPr lvl="1"/>
            <a:r>
              <a:rPr lang="en-US" sz="2200" dirty="0"/>
              <a:t>Characteristics of Memory Systems</a:t>
            </a:r>
          </a:p>
          <a:p>
            <a:pPr lvl="1"/>
            <a:r>
              <a:rPr lang="en-US" sz="2200" dirty="0"/>
              <a:t>Memory Hierarchy</a:t>
            </a:r>
          </a:p>
          <a:p>
            <a:pPr>
              <a:spcBef>
                <a:spcPts val="600"/>
              </a:spcBef>
            </a:pPr>
            <a:r>
              <a:rPr lang="en-US" sz="2400" dirty="0"/>
              <a:t>Cache memory principles</a:t>
            </a:r>
          </a:p>
          <a:p>
            <a:pPr marL="228600" lvl="1">
              <a:buClr>
                <a:schemeClr val="accent1"/>
              </a:buClr>
            </a:pPr>
            <a:r>
              <a:rPr lang="en-US" sz="2400" dirty="0"/>
              <a:t>Pentium 4 cache organization</a:t>
            </a:r>
          </a:p>
        </p:txBody>
      </p:sp>
      <p:sp>
        <p:nvSpPr>
          <p:cNvPr id="32" name="Content Placeholder 31"/>
          <p:cNvSpPr>
            <a:spLocks noGrp="1"/>
          </p:cNvSpPr>
          <p:nvPr>
            <p:ph sz="quarter" idx="4"/>
          </p:nvPr>
        </p:nvSpPr>
        <p:spPr>
          <a:xfrm>
            <a:off x="4495800" y="2362200"/>
            <a:ext cx="3810000" cy="4724400"/>
          </a:xfrm>
        </p:spPr>
        <p:txBody>
          <a:bodyPr>
            <a:normAutofit/>
          </a:bodyPr>
          <a:lstStyle/>
          <a:p>
            <a:pPr marL="228600" lvl="1">
              <a:spcBef>
                <a:spcPts val="1800"/>
              </a:spcBef>
              <a:buClr>
                <a:schemeClr val="accent1"/>
              </a:buClr>
            </a:pPr>
            <a:r>
              <a:rPr lang="en-US" sz="2400" dirty="0"/>
              <a:t>Elements of cache design</a:t>
            </a:r>
          </a:p>
          <a:p>
            <a:pPr lvl="1"/>
            <a:r>
              <a:rPr lang="en-US" sz="2200" dirty="0"/>
              <a:t>Cache addresses</a:t>
            </a:r>
          </a:p>
          <a:p>
            <a:pPr lvl="1"/>
            <a:r>
              <a:rPr lang="en-US" sz="2200" dirty="0"/>
              <a:t>Cache size</a:t>
            </a:r>
          </a:p>
          <a:p>
            <a:pPr lvl="1"/>
            <a:r>
              <a:rPr lang="en-US" sz="2200" dirty="0"/>
              <a:t>Mapping function</a:t>
            </a:r>
          </a:p>
          <a:p>
            <a:pPr lvl="1"/>
            <a:r>
              <a:rPr lang="en-US" sz="2200" dirty="0"/>
              <a:t>Replacement algorithms</a:t>
            </a:r>
          </a:p>
          <a:p>
            <a:pPr lvl="1"/>
            <a:r>
              <a:rPr lang="en-US" sz="2200" dirty="0"/>
              <a:t>Write policy</a:t>
            </a:r>
          </a:p>
          <a:p>
            <a:pPr lvl="1"/>
            <a:r>
              <a:rPr lang="en-US" sz="2200" dirty="0"/>
              <a:t>Line size</a:t>
            </a:r>
          </a:p>
          <a:p>
            <a:pPr lvl="1"/>
            <a:r>
              <a:rPr lang="en-US" sz="2200" dirty="0"/>
              <a:t>Number of caches</a:t>
            </a:r>
          </a:p>
        </p:txBody>
      </p:sp>
      <p:sp>
        <p:nvSpPr>
          <p:cNvPr id="44035" name="Rectangle 3"/>
          <p:cNvSpPr>
            <a:spLocks noGrp="1" noChangeArrowheads="1"/>
          </p:cNvSpPr>
          <p:nvPr>
            <p:ph type="body" idx="1"/>
          </p:nvPr>
        </p:nvSpPr>
        <p:spPr>
          <a:xfrm>
            <a:off x="533400" y="1219200"/>
            <a:ext cx="3657600" cy="1098177"/>
          </a:xfrm>
        </p:spPr>
        <p:txBody>
          <a:bodyPr>
            <a:normAutofit/>
          </a:bodyPr>
          <a:lstStyle/>
          <a:p>
            <a:endParaRPr lang="en-US" sz="800" dirty="0"/>
          </a:p>
          <a:p>
            <a:endParaRPr lang="en-US" sz="800" dirty="0"/>
          </a:p>
          <a:p>
            <a:r>
              <a:rPr lang="en-US" sz="3200" dirty="0"/>
              <a:t>Chapter 4</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a:solidFill>
                  <a:schemeClr val="tx2"/>
                </a:solidFill>
                <a:latin typeface="+mj-lt"/>
                <a:ea typeface="+mj-ea"/>
                <a:cs typeface="+mj-cs"/>
              </a:rPr>
              <a:t>Cache</a:t>
            </a:r>
          </a:p>
          <a:p>
            <a:r>
              <a:rPr lang="en-US" sz="2800" dirty="0">
                <a:solidFill>
                  <a:schemeClr val="tx2"/>
                </a:solidFill>
                <a:latin typeface="+mj-lt"/>
                <a:ea typeface="+mj-ea"/>
                <a:cs typeface="+mj-cs"/>
              </a:rPr>
              <a:t>Memory</a:t>
            </a:r>
            <a:endParaRPr lang="en-US" sz="2800" dirty="0">
              <a:solidFill>
                <a:schemeClr val="tx2"/>
              </a:solidFill>
            </a:endParaRPr>
          </a:p>
        </p:txBody>
      </p:sp>
      <p:sp>
        <p:nvSpPr>
          <p:cNvPr id="2" name="Footer Placeholder 1"/>
          <p:cNvSpPr>
            <a:spLocks noGrp="1"/>
          </p:cNvSpPr>
          <p:nvPr>
            <p:ph type="ftr" sz="quarter" idx="11"/>
          </p:nvPr>
        </p:nvSpPr>
        <p:spPr/>
        <p:txBody>
          <a:bodyPr/>
          <a:lstStyle/>
          <a:p>
            <a:r>
              <a:rPr lang="en-US" dirty="0"/>
              <a:t>© 2016 Pearson Education, Inc., Hoboken, NJ. All rights reserved.</a:t>
            </a:r>
          </a:p>
        </p:txBody>
      </p:sp>
    </p:spTree>
  </p:cSld>
  <p:clrMapOvr>
    <a:masterClrMapping/>
  </p:clrMapOvr>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12187</TotalTime>
  <Words>3862</Words>
  <Application>Microsoft Office PowerPoint</Application>
  <PresentationFormat>On-screen Show (4:3)</PresentationFormat>
  <Paragraphs>402</Paragraphs>
  <Slides>50</Slides>
  <Notes>47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Rockwell</vt:lpstr>
      <vt:lpstr>Times New Roman</vt:lpstr>
      <vt:lpstr>TimesTenLTStd-Bold</vt:lpstr>
      <vt:lpstr>TimesTenLTStd-Roman</vt:lpstr>
      <vt:lpstr>Wingdings</vt:lpstr>
      <vt:lpstr>Advantage</vt:lpstr>
      <vt:lpstr>William Stallings  Computer Organization  and Architecture 10th Edition</vt:lpstr>
      <vt:lpstr>Chapter 4</vt:lpstr>
      <vt:lpstr>PowerPoint Presentation</vt:lpstr>
      <vt:lpstr>Characteristics of Memory Systems</vt:lpstr>
      <vt:lpstr>Method of Accessing Units of Data</vt:lpstr>
      <vt:lpstr>Capacity and Performance:</vt:lpstr>
      <vt:lpstr>Memory</vt:lpstr>
      <vt:lpstr>Memory Hierarchy</vt:lpstr>
      <vt:lpstr>PowerPoint Presentation</vt:lpstr>
      <vt:lpstr>PowerPoint Presentation</vt:lpstr>
      <vt:lpstr>PowerPoint Presentation</vt:lpstr>
      <vt:lpstr>Memory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Cache Addresses</vt:lpstr>
      <vt:lpstr>PowerPoint Presentation</vt:lpstr>
      <vt:lpstr>Table 4.3      Cache Sizes of Some Processors </vt:lpstr>
      <vt:lpstr>Mapping Function</vt:lpstr>
      <vt:lpstr>PowerPoint Presentation</vt:lpstr>
      <vt:lpstr>PowerPoint Presentation</vt:lpstr>
      <vt:lpstr>PowerPoint Presentation</vt:lpstr>
      <vt:lpstr>Direct Mapping Summary</vt:lpstr>
      <vt:lpstr>Victim Cache</vt:lpstr>
      <vt:lpstr>PowerPoint Presentation</vt:lpstr>
      <vt:lpstr>PowerPoint Presentation</vt:lpstr>
      <vt:lpstr>Associative Mapping Summary</vt:lpstr>
      <vt:lpstr>Set Associative Mapping</vt:lpstr>
      <vt:lpstr>PowerPoint Presentation</vt:lpstr>
      <vt:lpstr>PowerPoint Presentation</vt:lpstr>
      <vt:lpstr>Set Associative Mapping Summary</vt:lpstr>
      <vt:lpstr>PowerPoint Presentation</vt:lpstr>
      <vt:lpstr>PowerPoint Presentation</vt:lpstr>
      <vt:lpstr>Replacement Algorithms</vt:lpstr>
      <vt:lpstr>The most common replacement algorithms are:</vt:lpstr>
      <vt:lpstr>Write Policy</vt:lpstr>
      <vt:lpstr>Write Through   and Write Back</vt:lpstr>
      <vt:lpstr>Line Size</vt:lpstr>
      <vt:lpstr>Multilevel Caches</vt:lpstr>
      <vt:lpstr>PowerPoint Presentation</vt:lpstr>
      <vt:lpstr>Unified Versus Split Caches</vt:lpstr>
      <vt:lpstr>PowerPoint Presentation</vt:lpstr>
      <vt:lpstr>PowerPoint Presentation</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04 Cache Memory</dc:title>
  <dc:creator>Adrian J Pullin</dc:creator>
  <cp:lastModifiedBy>Tran Thien Thanh</cp:lastModifiedBy>
  <cp:revision>194</cp:revision>
  <dcterms:created xsi:type="dcterms:W3CDTF">2012-06-19T17:26:14Z</dcterms:created>
  <dcterms:modified xsi:type="dcterms:W3CDTF">2023-02-03T03:36:44Z</dcterms:modified>
</cp:coreProperties>
</file>