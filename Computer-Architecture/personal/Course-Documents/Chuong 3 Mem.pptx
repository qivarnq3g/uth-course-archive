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86" r:id="rId2"/>
  </p:sldMasterIdLst>
  <p:notesMasterIdLst>
    <p:notesMasterId r:id="rId146"/>
  </p:notesMasterIdLst>
  <p:sldIdLst>
    <p:sldId id="422" r:id="rId3"/>
    <p:sldId id="258" r:id="rId4"/>
    <p:sldId id="259" r:id="rId5"/>
    <p:sldId id="332" r:id="rId6"/>
    <p:sldId id="333" r:id="rId7"/>
    <p:sldId id="334" r:id="rId8"/>
    <p:sldId id="420" r:id="rId9"/>
    <p:sldId id="260" r:id="rId10"/>
    <p:sldId id="261" r:id="rId11"/>
    <p:sldId id="329" r:id="rId12"/>
    <p:sldId id="330" r:id="rId13"/>
    <p:sldId id="335" r:id="rId14"/>
    <p:sldId id="423" r:id="rId15"/>
    <p:sldId id="263" r:id="rId16"/>
    <p:sldId id="328" r:id="rId17"/>
    <p:sldId id="264" r:id="rId18"/>
    <p:sldId id="265" r:id="rId19"/>
    <p:sldId id="266" r:id="rId20"/>
    <p:sldId id="267" r:id="rId21"/>
    <p:sldId id="268" r:id="rId22"/>
    <p:sldId id="337" r:id="rId23"/>
    <p:sldId id="269" r:id="rId24"/>
    <p:sldId id="338" r:id="rId25"/>
    <p:sldId id="339"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341" r:id="rId47"/>
    <p:sldId id="340" r:id="rId48"/>
    <p:sldId id="291" r:id="rId49"/>
    <p:sldId id="292" r:id="rId50"/>
    <p:sldId id="293" r:id="rId51"/>
    <p:sldId id="294" r:id="rId52"/>
    <p:sldId id="295" r:id="rId53"/>
    <p:sldId id="296" r:id="rId54"/>
    <p:sldId id="297" r:id="rId55"/>
    <p:sldId id="298" r:id="rId56"/>
    <p:sldId id="301" r:id="rId57"/>
    <p:sldId id="299" r:id="rId58"/>
    <p:sldId id="300" r:id="rId59"/>
    <p:sldId id="302" r:id="rId60"/>
    <p:sldId id="303" r:id="rId61"/>
    <p:sldId id="304" r:id="rId62"/>
    <p:sldId id="305" r:id="rId63"/>
    <p:sldId id="306" r:id="rId64"/>
    <p:sldId id="307" r:id="rId65"/>
    <p:sldId id="343" r:id="rId66"/>
    <p:sldId id="344" r:id="rId67"/>
    <p:sldId id="346" r:id="rId68"/>
    <p:sldId id="347" r:id="rId69"/>
    <p:sldId id="348" r:id="rId70"/>
    <p:sldId id="308" r:id="rId71"/>
    <p:sldId id="309" r:id="rId72"/>
    <p:sldId id="310" r:id="rId73"/>
    <p:sldId id="311" r:id="rId74"/>
    <p:sldId id="312" r:id="rId75"/>
    <p:sldId id="313" r:id="rId76"/>
    <p:sldId id="314" r:id="rId77"/>
    <p:sldId id="320" r:id="rId78"/>
    <p:sldId id="321" r:id="rId79"/>
    <p:sldId id="322" r:id="rId80"/>
    <p:sldId id="323" r:id="rId81"/>
    <p:sldId id="324" r:id="rId82"/>
    <p:sldId id="325" r:id="rId83"/>
    <p:sldId id="326" r:id="rId84"/>
    <p:sldId id="412" r:id="rId85"/>
    <p:sldId id="413" r:id="rId86"/>
    <p:sldId id="315" r:id="rId87"/>
    <p:sldId id="349" r:id="rId88"/>
    <p:sldId id="350" r:id="rId89"/>
    <p:sldId id="351" r:id="rId90"/>
    <p:sldId id="414" r:id="rId91"/>
    <p:sldId id="354" r:id="rId92"/>
    <p:sldId id="415" r:id="rId93"/>
    <p:sldId id="421" r:id="rId94"/>
    <p:sldId id="357" r:id="rId95"/>
    <p:sldId id="358" r:id="rId96"/>
    <p:sldId id="359" r:id="rId97"/>
    <p:sldId id="360" r:id="rId98"/>
    <p:sldId id="361" r:id="rId99"/>
    <p:sldId id="363" r:id="rId100"/>
    <p:sldId id="366" r:id="rId101"/>
    <p:sldId id="367" r:id="rId102"/>
    <p:sldId id="368" r:id="rId103"/>
    <p:sldId id="369" r:id="rId104"/>
    <p:sldId id="370" r:id="rId105"/>
    <p:sldId id="371" r:id="rId106"/>
    <p:sldId id="372" r:id="rId107"/>
    <p:sldId id="373" r:id="rId108"/>
    <p:sldId id="374" r:id="rId109"/>
    <p:sldId id="375" r:id="rId110"/>
    <p:sldId id="376" r:id="rId111"/>
    <p:sldId id="377" r:id="rId112"/>
    <p:sldId id="378" r:id="rId113"/>
    <p:sldId id="379" r:id="rId114"/>
    <p:sldId id="380" r:id="rId115"/>
    <p:sldId id="381" r:id="rId116"/>
    <p:sldId id="382" r:id="rId117"/>
    <p:sldId id="383" r:id="rId118"/>
    <p:sldId id="384" r:id="rId119"/>
    <p:sldId id="385" r:id="rId120"/>
    <p:sldId id="386" r:id="rId121"/>
    <p:sldId id="387" r:id="rId122"/>
    <p:sldId id="388" r:id="rId123"/>
    <p:sldId id="389" r:id="rId124"/>
    <p:sldId id="390" r:id="rId125"/>
    <p:sldId id="391" r:id="rId126"/>
    <p:sldId id="392" r:id="rId127"/>
    <p:sldId id="393" r:id="rId128"/>
    <p:sldId id="394" r:id="rId129"/>
    <p:sldId id="395" r:id="rId130"/>
    <p:sldId id="396" r:id="rId131"/>
    <p:sldId id="397" r:id="rId132"/>
    <p:sldId id="398" r:id="rId133"/>
    <p:sldId id="399" r:id="rId134"/>
    <p:sldId id="400" r:id="rId135"/>
    <p:sldId id="401" r:id="rId136"/>
    <p:sldId id="402" r:id="rId137"/>
    <p:sldId id="403" r:id="rId138"/>
    <p:sldId id="404" r:id="rId139"/>
    <p:sldId id="419" r:id="rId140"/>
    <p:sldId id="418" r:id="rId141"/>
    <p:sldId id="417" r:id="rId142"/>
    <p:sldId id="409" r:id="rId143"/>
    <p:sldId id="416" r:id="rId144"/>
    <p:sldId id="317" r:id="rId1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D97717-12A4-47E8-98F2-B961DADE849F}" type="datetimeFigureOut">
              <a:rPr lang="en-US" smtClean="0"/>
              <a:pPr/>
              <a:t>10/18/2021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83A411-B5DF-4CE2-92BD-8AA9BBB25B1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p>
            <a:fld id="{FDBE9220-9FAA-48BD-9BC3-1293547FAF94}" type="slidenum">
              <a:rPr lang="en-US" smtClean="0">
                <a:latin typeface="Arial" charset="0"/>
              </a:rPr>
              <a:pPr/>
              <a:t>1</a:t>
            </a:fld>
            <a:endParaRPr lang="en-US">
              <a:latin typeface="Arial" charset="0"/>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p:spPr>
        <p:txBody>
          <a:bodyPr/>
          <a:lstStyle/>
          <a:p>
            <a:pPr eaLnBrk="1" hangingPunct="1"/>
            <a:endParaRPr lang="en-US">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E2DD74-DC46-494B-9B83-682BFBCBC000}" type="slidenum">
              <a:rPr lang="en-US"/>
              <a:pPr/>
              <a:t>4</a:t>
            </a:fld>
            <a:endParaRPr lang="en-US"/>
          </a:p>
        </p:txBody>
      </p:sp>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5D1932-5C4A-4BDE-BE77-2182E1650A9B}" type="slidenum">
              <a:rPr lang="en-US"/>
              <a:pPr/>
              <a:t>6</a:t>
            </a:fld>
            <a:endParaRPr lang="en-US"/>
          </a:p>
        </p:txBody>
      </p:sp>
      <p:sp>
        <p:nvSpPr>
          <p:cNvPr id="159746" name="Rectangle 2"/>
          <p:cNvSpPr>
            <a:spLocks noGrp="1" noRot="1" noChangeAspect="1" noChangeArrowheads="1" noTextEdit="1"/>
          </p:cNvSpPr>
          <p:nvPr>
            <p:ph type="sldImg"/>
          </p:nvPr>
        </p:nvSpPr>
        <p:spPr>
          <a:ln/>
        </p:spPr>
      </p:sp>
      <p:sp>
        <p:nvSpPr>
          <p:cNvPr id="15974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9DF39C-160C-4ACE-91A4-7E2680D93EFB}" type="slidenum">
              <a:rPr lang="en-US"/>
              <a:pPr/>
              <a:t>10</a:t>
            </a:fld>
            <a:endParaRPr lang="en-US"/>
          </a:p>
        </p:txBody>
      </p:sp>
      <p:sp>
        <p:nvSpPr>
          <p:cNvPr id="163842" name="Rectangle 2"/>
          <p:cNvSpPr>
            <a:spLocks noGrp="1" noRot="1" noChangeAspect="1" noChangeArrowheads="1" noTextEdit="1"/>
          </p:cNvSpPr>
          <p:nvPr>
            <p:ph type="sldImg"/>
          </p:nvPr>
        </p:nvSpPr>
        <p:spPr>
          <a:ln/>
        </p:spPr>
      </p:sp>
      <p:sp>
        <p:nvSpPr>
          <p:cNvPr id="16384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CFB116-3A8A-44A1-88F4-1C919495C1C9}" type="slidenum">
              <a:rPr lang="en-US"/>
              <a:pPr/>
              <a:t>46</a:t>
            </a:fld>
            <a:endParaRPr lang="en-US"/>
          </a:p>
        </p:txBody>
      </p:sp>
      <p:sp>
        <p:nvSpPr>
          <p:cNvPr id="174082" name="Rectangle 2"/>
          <p:cNvSpPr>
            <a:spLocks noGrp="1" noRot="1" noChangeAspect="1" noChangeArrowheads="1" noTextEdit="1"/>
          </p:cNvSpPr>
          <p:nvPr>
            <p:ph type="sldImg"/>
          </p:nvPr>
        </p:nvSpPr>
        <p:spPr>
          <a:ln/>
        </p:spPr>
      </p:sp>
      <p:sp>
        <p:nvSpPr>
          <p:cNvPr id="17408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979378-9439-41C2-8D8A-CC8324D7D55D}" type="slidenum">
              <a:rPr lang="en-US"/>
              <a:pPr/>
              <a:t>76</a:t>
            </a:fld>
            <a:endParaRPr lang="en-US"/>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A62C24-1D16-436F-8947-A329C2B04248}" type="slidenum">
              <a:rPr lang="en-US"/>
              <a:pPr/>
              <a:t>77</a:t>
            </a:fld>
            <a:endParaRPr lang="en-US"/>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360047-1C8E-49D4-95EC-5D82B6D0A261}" type="slidenum">
              <a:rPr lang="en-US"/>
              <a:pPr/>
              <a:t>78</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B1D070-0A17-46E5-851E-C43FF7669956}" type="slidenum">
              <a:rPr lang="en-US"/>
              <a:pPr/>
              <a:t>79</a:t>
            </a:fld>
            <a:endParaRPr lang="en-US"/>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4EB81A-98F3-4B9B-817A-463A018C5C3C}" type="slidenum">
              <a:rPr lang="en-US"/>
              <a:pPr/>
              <a:t>80</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274D92-E297-40F8-9E8C-7515E21674A9}" type="slidenum">
              <a:rPr lang="en-US"/>
              <a:pPr/>
              <a:t>81</a:t>
            </a:fld>
            <a:endParaRPr 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383A411-B5DF-4CE2-92BD-8AA9BBB25B1F}" type="slidenum">
              <a:rPr lang="en-US" smtClean="0"/>
              <a:pPr/>
              <a:t>86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2473ACD7-E315-471D-9599-48DF4B9ED329}" type="datetimeFigureOut">
              <a:rPr lang="en-US" smtClean="0"/>
              <a:pPr/>
              <a:t>10/18/2021</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EFAEB2A7-4B8A-4592-B666-CF05D58C14E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2473ACD7-E315-471D-9599-48DF4B9ED329}" type="datetimeFigureOut">
              <a:rPr lang="en-US" smtClean="0"/>
              <a:pPr/>
              <a:t>10/18/2021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FAEB2A7-4B8A-4592-B666-CF05D58C14EE}"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2473ACD7-E315-471D-9599-48DF4B9ED329}" type="datetimeFigureOut">
              <a:rPr lang="en-US" smtClean="0"/>
              <a:pPr/>
              <a:t>10/18/2021</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FAEB2A7-4B8A-4592-B666-CF05D58C14EE}"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2473ACD7-E315-471D-9599-48DF4B9ED329}" type="datetimeFigureOut">
              <a:rPr lang="en-US" smtClean="0"/>
              <a:pPr/>
              <a:t>10/18/2021</a:t>
            </a:fld>
            <a:endParaRPr lang="en-US"/>
          </a:p>
        </p:txBody>
      </p:sp>
      <p:sp>
        <p:nvSpPr>
          <p:cNvPr id="10" name="Slide Number Placeholder 9"/>
          <p:cNvSpPr>
            <a:spLocks noGrp="1"/>
          </p:cNvSpPr>
          <p:nvPr>
            <p:ph type="sldNum" sz="quarter" idx="16"/>
          </p:nvPr>
        </p:nvSpPr>
        <p:spPr/>
        <p:txBody>
          <a:bodyPr rtlCol="0"/>
          <a:lstStyle/>
          <a:p>
            <a:fld id="{EFAEB2A7-4B8A-4592-B666-CF05D58C14EE}"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2473ACD7-E315-471D-9599-48DF4B9ED329}" type="datetimeFigureOut">
              <a:rPr lang="en-US" smtClean="0"/>
              <a:pPr/>
              <a:t>10/18/2021</a:t>
            </a:fld>
            <a:endParaRPr lang="en-US"/>
          </a:p>
        </p:txBody>
      </p:sp>
      <p:sp>
        <p:nvSpPr>
          <p:cNvPr id="12" name="Slide Number Placeholder 11"/>
          <p:cNvSpPr>
            <a:spLocks noGrp="1"/>
          </p:cNvSpPr>
          <p:nvPr>
            <p:ph type="sldNum" sz="quarter" idx="16"/>
          </p:nvPr>
        </p:nvSpPr>
        <p:spPr/>
        <p:txBody>
          <a:bodyPr rtlCol="0"/>
          <a:lstStyle/>
          <a:p>
            <a:fld id="{EFAEB2A7-4B8A-4592-B666-CF05D58C14EE}"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2473ACD7-E315-471D-9599-48DF4B9ED329}" type="datetimeFigureOut">
              <a:rPr lang="en-US" smtClean="0"/>
              <a:pPr/>
              <a:t>10/18/2021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FAEB2A7-4B8A-4592-B666-CF05D58C14E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73ACD7-E315-471D-9599-48DF4B9ED329}" type="datetimeFigureOut">
              <a:rPr lang="en-US" smtClean="0"/>
              <a:pPr/>
              <a:t>10/18/2021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FAEB2A7-4B8A-4592-B666-CF05D58C14EE}" type="slidenum">
              <a:rPr lang="en-US" smtClean="0"/>
              <a:pPr/>
              <a:t>‹#›</a:t>
            </a:fld>
            <a:endParaRPr lang="en-US"/>
          </a:p>
        </p:txBody>
      </p:sp>
      <p:pic>
        <p:nvPicPr>
          <p:cNvPr id="5" name="Picture 4">
            <a:extLst>
              <a:ext uri="{FF2B5EF4-FFF2-40B4-BE49-F238E27FC236}">
                <a16:creationId xmlns:a16="http://schemas.microsoft.com/office/drawing/2014/main" id="{27CACED6-E1AA-4EE0-B5D3-3866DD463EC0}"/>
              </a:ext>
            </a:extLst>
          </p:cNvPr>
          <p:cNvPicPr>
            <a:picLocks noChangeAspect="1"/>
          </p:cNvPicPr>
          <p:nvPr userDrawn="1"/>
        </p:nvPicPr>
        <p:blipFill>
          <a:blip r:embed="rId2"/>
          <a:stretch>
            <a:fillRect/>
          </a:stretch>
        </p:blipFill>
        <p:spPr>
          <a:xfrm>
            <a:off x="609600" y="6248206"/>
            <a:ext cx="4477375" cy="60968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2473ACD7-E315-471D-9599-48DF4B9ED329}" type="datetimeFigureOut">
              <a:rPr lang="en-US" smtClean="0"/>
              <a:pPr/>
              <a:t>10/18/2021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EFAEB2A7-4B8A-4592-B666-CF05D58C14EE}"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2473ACD7-E315-471D-9599-48DF4B9ED329}" type="datetimeFigureOut">
              <a:rPr lang="en-US" smtClean="0"/>
              <a:pPr/>
              <a:t>10/18/2021</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FAEB2A7-4B8A-4592-B666-CF05D58C14EE}"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473ACD7-E315-471D-9599-48DF4B9ED329}" type="datetimeFigureOut">
              <a:rPr lang="en-US" smtClean="0"/>
              <a:pPr/>
              <a:t>10/18/2021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AEB2A7-4B8A-4592-B666-CF05D58C14E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2473ACD7-E315-471D-9599-48DF4B9ED329}" type="datetimeFigureOut">
              <a:rPr lang="en-US" smtClean="0"/>
              <a:pPr/>
              <a:t>10/18/2021</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FAEB2A7-4B8A-4592-B666-CF05D58C14EE}" type="slidenum">
              <a:rPr lang="en-US" smtClean="0"/>
              <a:pPr/>
              <a:t>‹#›</a:t>
            </a:fld>
            <a:endParaRPr lang="en-US"/>
          </a:p>
        </p:txBody>
      </p:sp>
      <p:pic>
        <p:nvPicPr>
          <p:cNvPr id="10" name="Picture 9">
            <a:extLst>
              <a:ext uri="{FF2B5EF4-FFF2-40B4-BE49-F238E27FC236}">
                <a16:creationId xmlns:a16="http://schemas.microsoft.com/office/drawing/2014/main" id="{4041C5BF-0FA0-4C23-A591-793BE43B7B91}"/>
              </a:ext>
            </a:extLst>
          </p:cNvPr>
          <p:cNvPicPr>
            <a:picLocks noChangeAspect="1"/>
          </p:cNvPicPr>
          <p:nvPr userDrawn="1"/>
        </p:nvPicPr>
        <p:blipFill>
          <a:blip r:embed="rId2"/>
          <a:stretch>
            <a:fillRect/>
          </a:stretch>
        </p:blipFill>
        <p:spPr>
          <a:xfrm>
            <a:off x="609600" y="6248206"/>
            <a:ext cx="4477375" cy="609685"/>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0" y="-76200"/>
            <a:ext cx="9144000" cy="647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0" y="6629400"/>
            <a:ext cx="1905000" cy="228600"/>
          </a:xfrm>
        </p:spPr>
        <p:txBody>
          <a:bodyPr/>
          <a:lstStyle>
            <a:lvl1pPr>
              <a:defRPr/>
            </a:lvl1pPr>
          </a:lstStyle>
          <a:p>
            <a:endParaRPr lang="en-US"/>
          </a:p>
        </p:txBody>
      </p:sp>
      <p:sp>
        <p:nvSpPr>
          <p:cNvPr id="4" name="Footer Placeholder 3"/>
          <p:cNvSpPr>
            <a:spLocks noGrp="1"/>
          </p:cNvSpPr>
          <p:nvPr>
            <p:ph type="ftr" sz="quarter" idx="11"/>
          </p:nvPr>
        </p:nvSpPr>
        <p:spPr>
          <a:xfrm>
            <a:off x="3124200" y="6629400"/>
            <a:ext cx="2895600" cy="228600"/>
          </a:xfrm>
        </p:spPr>
        <p:txBody>
          <a:bodyPr/>
          <a:lstStyle>
            <a:lvl1pPr>
              <a:defRPr/>
            </a:lvl1pPr>
          </a:lstStyle>
          <a:p>
            <a:endParaRPr lang="en-US"/>
          </a:p>
        </p:txBody>
      </p:sp>
      <p:sp>
        <p:nvSpPr>
          <p:cNvPr id="5" name="Slide Number Placeholder 4"/>
          <p:cNvSpPr>
            <a:spLocks noGrp="1"/>
          </p:cNvSpPr>
          <p:nvPr>
            <p:ph type="sldNum" sz="quarter" idx="12"/>
          </p:nvPr>
        </p:nvSpPr>
        <p:spPr>
          <a:xfrm>
            <a:off x="7239000" y="6629400"/>
            <a:ext cx="1905000" cy="228600"/>
          </a:xfrm>
        </p:spPr>
        <p:txBody>
          <a:bodyPr/>
          <a:lstStyle>
            <a:lvl1pPr>
              <a:defRPr/>
            </a:lvl1pPr>
          </a:lstStyle>
          <a:p>
            <a:fld id="{A725E0F0-A616-4BCE-B9F7-5C880DF379FF}" type="slidenum">
              <a:rPr lang="en-US"/>
              <a:pPr/>
              <a:t>‹#›</a:t>
            </a:fld>
            <a:endParaRPr lang="en-US"/>
          </a:p>
        </p:txBody>
      </p:sp>
    </p:spTree>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gray">
      <p:bgPr>
        <a:solidFill>
          <a:schemeClr val="bg1"/>
        </a:solidFill>
        <a:effectLst/>
      </p:bgPr>
    </p:bg>
    <p:spTree>
      <p:nvGrpSpPr>
        <p:cNvPr id="1" name=""/>
        <p:cNvGrpSpPr/>
        <p:nvPr/>
      </p:nvGrpSpPr>
      <p:grpSpPr>
        <a:xfrm>
          <a:off x="0" y="0"/>
          <a:ext cx="0" cy="0"/>
          <a:chOff x="0" y="0"/>
          <a:chExt cx="0" cy="0"/>
        </a:xfrm>
      </p:grpSpPr>
      <p:sp>
        <p:nvSpPr>
          <p:cNvPr id="4" name="Rectangle 12"/>
          <p:cNvSpPr>
            <a:spLocks noChangeArrowheads="1"/>
          </p:cNvSpPr>
          <p:nvPr/>
        </p:nvSpPr>
        <p:spPr bwMode="gray">
          <a:xfrm>
            <a:off x="0" y="2538413"/>
            <a:ext cx="9144000" cy="38862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a:defRPr/>
            </a:pPr>
            <a:endParaRPr lang="en-US"/>
          </a:p>
        </p:txBody>
      </p:sp>
      <p:sp>
        <p:nvSpPr>
          <p:cNvPr id="5" name="Freeform 13"/>
          <p:cNvSpPr>
            <a:spLocks/>
          </p:cNvSpPr>
          <p:nvPr/>
        </p:nvSpPr>
        <p:spPr bwMode="gray">
          <a:xfrm>
            <a:off x="0" y="2995613"/>
            <a:ext cx="9144000" cy="3862387"/>
          </a:xfrm>
          <a:custGeom>
            <a:avLst/>
            <a:gdLst/>
            <a:ahLst/>
            <a:cxnLst>
              <a:cxn ang="0">
                <a:pos x="13" y="2430"/>
              </a:cxn>
              <a:cxn ang="0">
                <a:pos x="1456" y="0"/>
              </a:cxn>
              <a:cxn ang="0">
                <a:pos x="5754" y="5"/>
              </a:cxn>
              <a:cxn ang="0">
                <a:pos x="5760" y="2433"/>
              </a:cxn>
              <a:cxn ang="0">
                <a:pos x="0" y="2430"/>
              </a:cxn>
            </a:cxnLst>
            <a:rect l="0" t="0" r="r" b="b"/>
            <a:pathLst>
              <a:path w="5760" h="2433">
                <a:moveTo>
                  <a:pt x="13" y="2430"/>
                </a:moveTo>
                <a:lnTo>
                  <a:pt x="1456" y="0"/>
                </a:lnTo>
                <a:lnTo>
                  <a:pt x="5754" y="5"/>
                </a:lnTo>
                <a:lnTo>
                  <a:pt x="5760" y="2433"/>
                </a:lnTo>
                <a:lnTo>
                  <a:pt x="0" y="2430"/>
                </a:lnTo>
              </a:path>
            </a:pathLst>
          </a:custGeom>
          <a:solidFill>
            <a:srgbClr val="FFFFFF">
              <a:alpha val="50000"/>
            </a:srgbClr>
          </a:solidFill>
          <a:ln w="9525">
            <a:noFill/>
            <a:round/>
            <a:headEnd/>
            <a:tailEnd/>
          </a:ln>
          <a:effectLst/>
        </p:spPr>
        <p:txBody>
          <a:bodyPr/>
          <a:lstStyle/>
          <a:p>
            <a:pPr>
              <a:defRPr/>
            </a:pPr>
            <a:endParaRPr lang="en-US"/>
          </a:p>
        </p:txBody>
      </p:sp>
      <p:sp>
        <p:nvSpPr>
          <p:cNvPr id="6" name="Freeform 4"/>
          <p:cNvSpPr>
            <a:spLocks/>
          </p:cNvSpPr>
          <p:nvPr/>
        </p:nvSpPr>
        <p:spPr bwMode="gray">
          <a:xfrm>
            <a:off x="2582863" y="1506538"/>
            <a:ext cx="6562725" cy="1042987"/>
          </a:xfrm>
          <a:custGeom>
            <a:avLst/>
            <a:gdLst/>
            <a:ahLst/>
            <a:cxnLst>
              <a:cxn ang="0">
                <a:pos x="0" y="657"/>
              </a:cxn>
              <a:cxn ang="0">
                <a:pos x="4134" y="657"/>
              </a:cxn>
              <a:cxn ang="0">
                <a:pos x="4134" y="0"/>
              </a:cxn>
              <a:cxn ang="0">
                <a:pos x="373" y="2"/>
              </a:cxn>
              <a:cxn ang="0">
                <a:pos x="0" y="657"/>
              </a:cxn>
            </a:cxnLst>
            <a:rect l="0" t="0" r="r" b="b"/>
            <a:pathLst>
              <a:path w="4134" h="657">
                <a:moveTo>
                  <a:pt x="0" y="657"/>
                </a:moveTo>
                <a:lnTo>
                  <a:pt x="4134" y="657"/>
                </a:lnTo>
                <a:lnTo>
                  <a:pt x="4134" y="0"/>
                </a:lnTo>
                <a:lnTo>
                  <a:pt x="373" y="2"/>
                </a:lnTo>
                <a:lnTo>
                  <a:pt x="0" y="657"/>
                </a:lnTo>
                <a:close/>
              </a:path>
            </a:pathLst>
          </a:custGeom>
          <a:gradFill rotWithShape="1">
            <a:gsLst>
              <a:gs pos="0">
                <a:schemeClr val="accent1">
                  <a:gamma/>
                  <a:shade val="46275"/>
                  <a:invGamma/>
                </a:schemeClr>
              </a:gs>
              <a:gs pos="100000">
                <a:schemeClr val="accent1"/>
              </a:gs>
            </a:gsLst>
            <a:lin ang="0" scaled="1"/>
          </a:gradFill>
          <a:ln w="9525">
            <a:noFill/>
            <a:round/>
            <a:headEnd/>
            <a:tailEnd/>
          </a:ln>
          <a:effectLst/>
        </p:spPr>
        <p:txBody>
          <a:bodyPr/>
          <a:lstStyle/>
          <a:p>
            <a:pPr>
              <a:defRPr/>
            </a:pPr>
            <a:endParaRPr lang="en-US"/>
          </a:p>
        </p:txBody>
      </p:sp>
      <p:sp>
        <p:nvSpPr>
          <p:cNvPr id="7" name="Freeform 5"/>
          <p:cNvSpPr>
            <a:spLocks/>
          </p:cNvSpPr>
          <p:nvPr/>
        </p:nvSpPr>
        <p:spPr bwMode="ltGray">
          <a:xfrm>
            <a:off x="-6350" y="2541588"/>
            <a:ext cx="2593975" cy="461962"/>
          </a:xfrm>
          <a:custGeom>
            <a:avLst/>
            <a:gdLst/>
            <a:ahLst/>
            <a:cxnLst>
              <a:cxn ang="0">
                <a:pos x="0" y="0"/>
              </a:cxn>
              <a:cxn ang="0">
                <a:pos x="1634" y="0"/>
              </a:cxn>
              <a:cxn ang="0">
                <a:pos x="1456" y="289"/>
              </a:cxn>
              <a:cxn ang="0">
                <a:pos x="0" y="286"/>
              </a:cxn>
              <a:cxn ang="0">
                <a:pos x="0" y="0"/>
              </a:cxn>
            </a:cxnLst>
            <a:rect l="0" t="0" r="r" b="b"/>
            <a:pathLst>
              <a:path w="1634" h="289">
                <a:moveTo>
                  <a:pt x="0" y="0"/>
                </a:moveTo>
                <a:lnTo>
                  <a:pt x="1634" y="0"/>
                </a:lnTo>
                <a:lnTo>
                  <a:pt x="1456" y="289"/>
                </a:lnTo>
                <a:lnTo>
                  <a:pt x="0" y="286"/>
                </a:lnTo>
                <a:lnTo>
                  <a:pt x="0" y="0"/>
                </a:lnTo>
                <a:close/>
              </a:path>
            </a:pathLst>
          </a:custGeom>
          <a:solidFill>
            <a:schemeClr val="accent2"/>
          </a:solidFill>
          <a:ln w="9525" cap="flat" cmpd="sng">
            <a:noFill/>
            <a:prstDash val="solid"/>
            <a:round/>
            <a:headEnd type="none" w="med" len="med"/>
            <a:tailEnd type="none" w="med" len="med"/>
          </a:ln>
          <a:effectLst/>
        </p:spPr>
        <p:txBody>
          <a:bodyPr/>
          <a:lstStyle/>
          <a:p>
            <a:pPr>
              <a:defRPr/>
            </a:pPr>
            <a:endParaRPr lang="en-US"/>
          </a:p>
        </p:txBody>
      </p:sp>
      <p:grpSp>
        <p:nvGrpSpPr>
          <p:cNvPr id="2" name="Group 21"/>
          <p:cNvGrpSpPr>
            <a:grpSpLocks/>
          </p:cNvGrpSpPr>
          <p:nvPr/>
        </p:nvGrpSpPr>
        <p:grpSpPr bwMode="auto">
          <a:xfrm>
            <a:off x="8686800" y="5867400"/>
            <a:ext cx="155575" cy="417513"/>
            <a:chOff x="5472" y="3792"/>
            <a:chExt cx="184" cy="120"/>
          </a:xfrm>
        </p:grpSpPr>
        <p:sp>
          <p:nvSpPr>
            <p:cNvPr id="9" name="Rectangle 8"/>
            <p:cNvSpPr>
              <a:spLocks noChangeArrowheads="1"/>
            </p:cNvSpPr>
            <p:nvPr userDrawn="1"/>
          </p:nvSpPr>
          <p:spPr bwMode="auto">
            <a:xfrm>
              <a:off x="5472" y="3792"/>
              <a:ext cx="184" cy="48"/>
            </a:xfrm>
            <a:prstGeom prst="rect">
              <a:avLst/>
            </a:prstGeom>
            <a:solidFill>
              <a:schemeClr val="accent2"/>
            </a:solidFill>
            <a:ln w="9525">
              <a:noFill/>
              <a:miter lim="800000"/>
              <a:headEnd/>
              <a:tailEnd/>
            </a:ln>
            <a:effectLst/>
          </p:spPr>
          <p:txBody>
            <a:bodyPr wrap="none" anchor="ctr"/>
            <a:lstStyle/>
            <a:p>
              <a:pPr>
                <a:defRPr/>
              </a:pPr>
              <a:endParaRPr lang="en-US"/>
            </a:p>
          </p:txBody>
        </p:sp>
        <p:sp>
          <p:nvSpPr>
            <p:cNvPr id="10" name="Rectangle 9"/>
            <p:cNvSpPr>
              <a:spLocks noChangeArrowheads="1"/>
            </p:cNvSpPr>
            <p:nvPr userDrawn="1"/>
          </p:nvSpPr>
          <p:spPr bwMode="auto">
            <a:xfrm>
              <a:off x="5472" y="3864"/>
              <a:ext cx="182" cy="48"/>
            </a:xfrm>
            <a:prstGeom prst="rect">
              <a:avLst/>
            </a:prstGeom>
            <a:solidFill>
              <a:schemeClr val="hlink"/>
            </a:solidFill>
            <a:ln w="9525">
              <a:noFill/>
              <a:miter lim="800000"/>
              <a:headEnd/>
              <a:tailEnd/>
            </a:ln>
            <a:effectLst/>
          </p:spPr>
          <p:txBody>
            <a:bodyPr wrap="none" anchor="ctr"/>
            <a:lstStyle/>
            <a:p>
              <a:pPr>
                <a:defRPr/>
              </a:pPr>
              <a:endParaRPr lang="en-US"/>
            </a:p>
          </p:txBody>
        </p:sp>
      </p:grpSp>
      <p:sp>
        <p:nvSpPr>
          <p:cNvPr id="11" name="Text Box 22"/>
          <p:cNvSpPr txBox="1">
            <a:spLocks noChangeArrowheads="1"/>
          </p:cNvSpPr>
          <p:nvPr userDrawn="1"/>
        </p:nvSpPr>
        <p:spPr bwMode="white">
          <a:xfrm>
            <a:off x="304800" y="5986463"/>
            <a:ext cx="6705600" cy="338137"/>
          </a:xfrm>
          <a:prstGeom prst="rect">
            <a:avLst/>
          </a:prstGeom>
          <a:noFill/>
          <a:ln w="9525">
            <a:noFill/>
            <a:miter lim="800000"/>
            <a:headEnd/>
            <a:tailEnd/>
          </a:ln>
          <a:effectLst/>
        </p:spPr>
        <p:txBody>
          <a:bodyPr>
            <a:spAutoFit/>
          </a:bodyPr>
          <a:lstStyle/>
          <a:p>
            <a:pPr algn="ctr">
              <a:defRPr/>
            </a:pPr>
            <a:r>
              <a:rPr lang="en-US" sz="1600" b="1" dirty="0">
                <a:solidFill>
                  <a:schemeClr val="accent1"/>
                </a:solidFill>
              </a:rPr>
              <a:t>Posts and Telecommunications Institute of Technology</a:t>
            </a:r>
          </a:p>
        </p:txBody>
      </p:sp>
      <p:sp>
        <p:nvSpPr>
          <p:cNvPr id="113670" name="Rectangle 6"/>
          <p:cNvSpPr>
            <a:spLocks noGrp="1" noChangeArrowheads="1"/>
          </p:cNvSpPr>
          <p:nvPr>
            <p:ph type="ctrTitle" sz="quarter"/>
          </p:nvPr>
        </p:nvSpPr>
        <p:spPr>
          <a:xfrm>
            <a:off x="3200400" y="1447800"/>
            <a:ext cx="5943600" cy="1012825"/>
          </a:xfrm>
        </p:spPr>
        <p:txBody>
          <a:bodyPr/>
          <a:lstStyle>
            <a:lvl1pPr>
              <a:defRPr sz="3600">
                <a:latin typeface="Verdana" pitchFamily="34" charset="0"/>
              </a:defRPr>
            </a:lvl1pPr>
          </a:lstStyle>
          <a:p>
            <a:r>
              <a:rPr lang="en-US"/>
              <a:t>RAM (RANDOM ACCESS MEMORY)</a:t>
            </a:r>
          </a:p>
        </p:txBody>
      </p:sp>
      <p:sp>
        <p:nvSpPr>
          <p:cNvPr id="113671" name="Rectangle 7"/>
          <p:cNvSpPr>
            <a:spLocks noGrp="1" noChangeArrowheads="1"/>
          </p:cNvSpPr>
          <p:nvPr>
            <p:ph type="subTitle" sz="quarter" idx="1"/>
          </p:nvPr>
        </p:nvSpPr>
        <p:spPr>
          <a:xfrm>
            <a:off x="1828800" y="5867400"/>
            <a:ext cx="6781800" cy="381000"/>
          </a:xfrm>
        </p:spPr>
        <p:txBody>
          <a:bodyPr/>
          <a:lstStyle>
            <a:lvl1pPr marL="0" indent="0" algn="r">
              <a:buFont typeface="Wingdings" pitchFamily="2" charset="2"/>
              <a:buNone/>
              <a:defRPr sz="2000">
                <a:solidFill>
                  <a:schemeClr val="tx1"/>
                </a:solidFill>
              </a:defRPr>
            </a:lvl1pPr>
          </a:lstStyle>
          <a:p>
            <a:r>
              <a:rPr lang="en-US"/>
              <a:t>Click to edit Master subtitle style</a:t>
            </a:r>
          </a:p>
        </p:txBody>
      </p:sp>
      <p:sp>
        <p:nvSpPr>
          <p:cNvPr id="12" name="Rectangle 8"/>
          <p:cNvSpPr>
            <a:spLocks noGrp="1" noChangeArrowheads="1"/>
          </p:cNvSpPr>
          <p:nvPr>
            <p:ph type="dt" sz="quarter" idx="10"/>
          </p:nvPr>
        </p:nvSpPr>
        <p:spPr>
          <a:xfrm>
            <a:off x="457200" y="6477000"/>
            <a:ext cx="2133600" cy="244475"/>
          </a:xfrm>
        </p:spPr>
        <p:txBody>
          <a:bodyPr/>
          <a:lstStyle>
            <a:lvl1pPr>
              <a:defRPr/>
            </a:lvl1pPr>
          </a:lstStyle>
          <a:p>
            <a:pPr>
              <a:defRPr/>
            </a:pPr>
            <a:endParaRPr lang="en-US"/>
          </a:p>
        </p:txBody>
      </p:sp>
      <p:sp>
        <p:nvSpPr>
          <p:cNvPr id="13" name="Rectangle 9"/>
          <p:cNvSpPr>
            <a:spLocks noGrp="1" noChangeArrowheads="1"/>
          </p:cNvSpPr>
          <p:nvPr>
            <p:ph type="ftr" sz="quarter" idx="11"/>
          </p:nvPr>
        </p:nvSpPr>
        <p:spPr>
          <a:xfrm>
            <a:off x="3124200" y="6477000"/>
            <a:ext cx="2895600" cy="244475"/>
          </a:xfrm>
        </p:spPr>
        <p:txBody>
          <a:bodyPr/>
          <a:lstStyle>
            <a:lvl1pPr>
              <a:defRPr/>
            </a:lvl1pPr>
          </a:lstStyle>
          <a:p>
            <a:pPr>
              <a:defRPr/>
            </a:pPr>
            <a:endParaRPr lang="en-US"/>
          </a:p>
        </p:txBody>
      </p:sp>
      <p:sp>
        <p:nvSpPr>
          <p:cNvPr id="14" name="Rectangle 10"/>
          <p:cNvSpPr>
            <a:spLocks noGrp="1" noChangeArrowheads="1"/>
          </p:cNvSpPr>
          <p:nvPr>
            <p:ph type="sldNum" sz="quarter" idx="12"/>
          </p:nvPr>
        </p:nvSpPr>
        <p:spPr>
          <a:xfrm>
            <a:off x="6553200" y="6477000"/>
            <a:ext cx="2133600" cy="244475"/>
          </a:xfrm>
        </p:spPr>
        <p:txBody>
          <a:bodyPr/>
          <a:lstStyle>
            <a:lvl1pPr>
              <a:defRPr/>
            </a:lvl1pPr>
          </a:lstStyle>
          <a:p>
            <a:pPr>
              <a:defRPr/>
            </a:pPr>
            <a:fld id="{588B6F03-F596-4EE9-BEC7-24C19DD51225}"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9"/>
          <p:cNvSpPr>
            <a:spLocks noGrp="1" noChangeArrowheads="1"/>
          </p:cNvSpPr>
          <p:nvPr>
            <p:ph type="sldNum" sz="quarter" idx="12"/>
          </p:nvPr>
        </p:nvSpPr>
        <p:spPr>
          <a:ln/>
        </p:spPr>
        <p:txBody>
          <a:bodyPr/>
          <a:lstStyle>
            <a:lvl1pPr>
              <a:defRPr/>
            </a:lvl1pPr>
          </a:lstStyle>
          <a:p>
            <a:pPr>
              <a:defRPr/>
            </a:pPr>
            <a:fld id="{72CF43CF-8DDD-4273-8494-05DE2579A0A5}"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9"/>
          <p:cNvSpPr>
            <a:spLocks noGrp="1" noChangeArrowheads="1"/>
          </p:cNvSpPr>
          <p:nvPr>
            <p:ph type="sldNum" sz="quarter" idx="12"/>
          </p:nvPr>
        </p:nvSpPr>
        <p:spPr>
          <a:ln/>
        </p:spPr>
        <p:txBody>
          <a:bodyPr/>
          <a:lstStyle>
            <a:lvl1pPr>
              <a:defRPr/>
            </a:lvl1pPr>
          </a:lstStyle>
          <a:p>
            <a:pPr>
              <a:defRPr/>
            </a:pPr>
            <a:fld id="{68203F66-707A-4871-BC47-BADCE04E2F7D}"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9"/>
          <p:cNvSpPr>
            <a:spLocks noGrp="1" noChangeArrowheads="1"/>
          </p:cNvSpPr>
          <p:nvPr>
            <p:ph type="sldNum" sz="quarter" idx="12"/>
          </p:nvPr>
        </p:nvSpPr>
        <p:spPr>
          <a:ln/>
        </p:spPr>
        <p:txBody>
          <a:bodyPr/>
          <a:lstStyle>
            <a:lvl1pPr>
              <a:defRPr/>
            </a:lvl1pPr>
          </a:lstStyle>
          <a:p>
            <a:pPr>
              <a:defRPr/>
            </a:pPr>
            <a:fld id="{62498C20-30C2-4CE4-9501-58E7C42869A6}"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7"/>
          <p:cNvSpPr>
            <a:spLocks noGrp="1" noChangeArrowheads="1"/>
          </p:cNvSpPr>
          <p:nvPr>
            <p:ph type="dt" sz="half" idx="10"/>
          </p:nvPr>
        </p:nvSpPr>
        <p:spPr>
          <a:ln/>
        </p:spPr>
        <p:txBody>
          <a:bodyPr/>
          <a:lstStyle>
            <a:lvl1pPr>
              <a:defRPr/>
            </a:lvl1pPr>
          </a:lstStyle>
          <a:p>
            <a:pPr>
              <a:defRPr/>
            </a:pPr>
            <a:endParaRPr lang="en-US"/>
          </a:p>
        </p:txBody>
      </p:sp>
      <p:sp>
        <p:nvSpPr>
          <p:cNvPr id="8" name="Rectangle 8"/>
          <p:cNvSpPr>
            <a:spLocks noGrp="1" noChangeArrowheads="1"/>
          </p:cNvSpPr>
          <p:nvPr>
            <p:ph type="ftr" sz="quarter" idx="11"/>
          </p:nvPr>
        </p:nvSpPr>
        <p:spPr>
          <a:ln/>
        </p:spPr>
        <p:txBody>
          <a:bodyPr/>
          <a:lstStyle>
            <a:lvl1pPr>
              <a:defRPr/>
            </a:lvl1pPr>
          </a:lstStyle>
          <a:p>
            <a:pPr>
              <a:defRPr/>
            </a:pPr>
            <a:endParaRPr lang="en-US"/>
          </a:p>
        </p:txBody>
      </p:sp>
      <p:sp>
        <p:nvSpPr>
          <p:cNvPr id="9" name="Rectangle 9"/>
          <p:cNvSpPr>
            <a:spLocks noGrp="1" noChangeArrowheads="1"/>
          </p:cNvSpPr>
          <p:nvPr>
            <p:ph type="sldNum" sz="quarter" idx="12"/>
          </p:nvPr>
        </p:nvSpPr>
        <p:spPr>
          <a:ln/>
        </p:spPr>
        <p:txBody>
          <a:bodyPr/>
          <a:lstStyle>
            <a:lvl1pPr>
              <a:defRPr/>
            </a:lvl1pPr>
          </a:lstStyle>
          <a:p>
            <a:pPr>
              <a:defRPr/>
            </a:pPr>
            <a:fld id="{6A4A4206-EF80-4C2B-8D1C-81A63567FE1F}"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7"/>
          <p:cNvSpPr>
            <a:spLocks noGrp="1" noChangeArrowheads="1"/>
          </p:cNvSpPr>
          <p:nvPr>
            <p:ph type="dt" sz="half" idx="10"/>
          </p:nvPr>
        </p:nvSpPr>
        <p:spPr>
          <a:ln/>
        </p:spPr>
        <p:txBody>
          <a:bodyPr/>
          <a:lstStyle>
            <a:lvl1pPr>
              <a:defRPr/>
            </a:lvl1pPr>
          </a:lstStyle>
          <a:p>
            <a:pPr>
              <a:defRPr/>
            </a:pPr>
            <a:endParaRPr lang="en-US"/>
          </a:p>
        </p:txBody>
      </p:sp>
      <p:sp>
        <p:nvSpPr>
          <p:cNvPr id="4" name="Rectangle 8"/>
          <p:cNvSpPr>
            <a:spLocks noGrp="1" noChangeArrowheads="1"/>
          </p:cNvSpPr>
          <p:nvPr>
            <p:ph type="ftr" sz="quarter" idx="11"/>
          </p:nvPr>
        </p:nvSpPr>
        <p:spPr>
          <a:ln/>
        </p:spPr>
        <p:txBody>
          <a:bodyPr/>
          <a:lstStyle>
            <a:lvl1pPr>
              <a:defRPr/>
            </a:lvl1pPr>
          </a:lstStyle>
          <a:p>
            <a:pPr>
              <a:defRPr/>
            </a:pPr>
            <a:endParaRPr lang="en-US"/>
          </a:p>
        </p:txBody>
      </p:sp>
      <p:sp>
        <p:nvSpPr>
          <p:cNvPr id="5" name="Rectangle 9"/>
          <p:cNvSpPr>
            <a:spLocks noGrp="1" noChangeArrowheads="1"/>
          </p:cNvSpPr>
          <p:nvPr>
            <p:ph type="sldNum" sz="quarter" idx="12"/>
          </p:nvPr>
        </p:nvSpPr>
        <p:spPr>
          <a:ln/>
        </p:spPr>
        <p:txBody>
          <a:bodyPr/>
          <a:lstStyle>
            <a:lvl1pPr>
              <a:defRPr/>
            </a:lvl1pPr>
          </a:lstStyle>
          <a:p>
            <a:pPr>
              <a:defRPr/>
            </a:pPr>
            <a:fld id="{FACEBF13-C45E-476F-949F-D1245E877D25}"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endParaRPr lang="en-US"/>
          </a:p>
        </p:txBody>
      </p:sp>
      <p:sp>
        <p:nvSpPr>
          <p:cNvPr id="3" name="Rectangle 8"/>
          <p:cNvSpPr>
            <a:spLocks noGrp="1" noChangeArrowheads="1"/>
          </p:cNvSpPr>
          <p:nvPr>
            <p:ph type="ftr" sz="quarter" idx="11"/>
          </p:nvPr>
        </p:nvSpPr>
        <p:spPr>
          <a:ln/>
        </p:spPr>
        <p:txBody>
          <a:bodyPr/>
          <a:lstStyle>
            <a:lvl1pPr>
              <a:defRPr/>
            </a:lvl1pPr>
          </a:lstStyle>
          <a:p>
            <a:pPr>
              <a:defRPr/>
            </a:pPr>
            <a:endParaRPr lang="en-US"/>
          </a:p>
        </p:txBody>
      </p:sp>
      <p:sp>
        <p:nvSpPr>
          <p:cNvPr id="4" name="Rectangle 9"/>
          <p:cNvSpPr>
            <a:spLocks noGrp="1" noChangeArrowheads="1"/>
          </p:cNvSpPr>
          <p:nvPr>
            <p:ph type="sldNum" sz="quarter" idx="12"/>
          </p:nvPr>
        </p:nvSpPr>
        <p:spPr>
          <a:ln/>
        </p:spPr>
        <p:txBody>
          <a:bodyPr/>
          <a:lstStyle>
            <a:lvl1pPr>
              <a:defRPr/>
            </a:lvl1pPr>
          </a:lstStyle>
          <a:p>
            <a:pPr>
              <a:defRPr/>
            </a:pPr>
            <a:fld id="{473628BF-BE46-42BC-8819-D3072B0D7C3B}"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9"/>
          <p:cNvSpPr>
            <a:spLocks noGrp="1" noChangeArrowheads="1"/>
          </p:cNvSpPr>
          <p:nvPr>
            <p:ph type="sldNum" sz="quarter" idx="12"/>
          </p:nvPr>
        </p:nvSpPr>
        <p:spPr>
          <a:ln/>
        </p:spPr>
        <p:txBody>
          <a:bodyPr/>
          <a:lstStyle>
            <a:lvl1pPr>
              <a:defRPr/>
            </a:lvl1pPr>
          </a:lstStyle>
          <a:p>
            <a:pPr>
              <a:defRPr/>
            </a:pPr>
            <a:fld id="{3243266E-0A10-42B6-90A3-F4A3453158D7}"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9"/>
          <p:cNvSpPr>
            <a:spLocks noGrp="1" noChangeArrowheads="1"/>
          </p:cNvSpPr>
          <p:nvPr>
            <p:ph type="sldNum" sz="quarter" idx="12"/>
          </p:nvPr>
        </p:nvSpPr>
        <p:spPr>
          <a:ln/>
        </p:spPr>
        <p:txBody>
          <a:bodyPr/>
          <a:lstStyle>
            <a:lvl1pPr>
              <a:defRPr/>
            </a:lvl1pPr>
          </a:lstStyle>
          <a:p>
            <a:pPr>
              <a:defRPr/>
            </a:pPr>
            <a:fld id="{99660BFA-FBC7-405A-A6A8-09EAE5EBA04B}"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9"/>
          <p:cNvSpPr>
            <a:spLocks noGrp="1" noChangeArrowheads="1"/>
          </p:cNvSpPr>
          <p:nvPr>
            <p:ph type="sldNum" sz="quarter" idx="12"/>
          </p:nvPr>
        </p:nvSpPr>
        <p:spPr>
          <a:ln/>
        </p:spPr>
        <p:txBody>
          <a:bodyPr/>
          <a:lstStyle>
            <a:lvl1pPr>
              <a:defRPr/>
            </a:lvl1pPr>
          </a:lstStyle>
          <a:p>
            <a:pPr>
              <a:defRPr/>
            </a:pPr>
            <a:fld id="{9063CB10-18FD-49A7-A0C0-C33728520490}"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274638"/>
            <a:ext cx="2095500" cy="59737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134100" cy="5973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9"/>
          <p:cNvSpPr>
            <a:spLocks noGrp="1" noChangeArrowheads="1"/>
          </p:cNvSpPr>
          <p:nvPr>
            <p:ph type="sldNum" sz="quarter" idx="12"/>
          </p:nvPr>
        </p:nvSpPr>
        <p:spPr>
          <a:ln/>
        </p:spPr>
        <p:txBody>
          <a:bodyPr/>
          <a:lstStyle>
            <a:lvl1pPr>
              <a:defRPr/>
            </a:lvl1pPr>
          </a:lstStyle>
          <a:p>
            <a:pPr>
              <a:defRPr/>
            </a:pPr>
            <a:fld id="{2B8D21ED-03FA-4A35-B48E-680DDE08F1BE}" type="slidenum">
              <a:rPr lang="en-US"/>
              <a:pPr>
                <a:defRPr/>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43200" y="274638"/>
            <a:ext cx="6096000" cy="715962"/>
          </a:xfrm>
        </p:spPr>
        <p:txBody>
          <a:bodyPr/>
          <a:lstStyle/>
          <a:p>
            <a:r>
              <a:rPr lang="en-US"/>
              <a:t>Click to edit Master title style</a:t>
            </a:r>
          </a:p>
        </p:txBody>
      </p:sp>
      <p:sp>
        <p:nvSpPr>
          <p:cNvPr id="3" name="Text Placeholder 2"/>
          <p:cNvSpPr>
            <a:spLocks noGrp="1"/>
          </p:cNvSpPr>
          <p:nvPr>
            <p:ph type="body" sz="half" idx="1"/>
          </p:nvPr>
        </p:nvSpPr>
        <p:spPr>
          <a:xfrm>
            <a:off x="457200" y="1447800"/>
            <a:ext cx="4038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47800"/>
            <a:ext cx="4038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9"/>
          <p:cNvSpPr>
            <a:spLocks noGrp="1" noChangeArrowheads="1"/>
          </p:cNvSpPr>
          <p:nvPr>
            <p:ph type="sldNum" sz="quarter" idx="12"/>
          </p:nvPr>
        </p:nvSpPr>
        <p:spPr>
          <a:ln/>
        </p:spPr>
        <p:txBody>
          <a:bodyPr/>
          <a:lstStyle>
            <a:lvl1pPr>
              <a:defRPr/>
            </a:lvl1pPr>
          </a:lstStyle>
          <a:p>
            <a:pPr>
              <a:defRPr/>
            </a:pPr>
            <a:fld id="{4CA84690-8377-4993-92CD-B3B0BA63EDE3}" type="slidenum">
              <a:rPr lang="en-US"/>
              <a:pPr>
                <a:defRPr/>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743200" y="274638"/>
            <a:ext cx="6096000" cy="715962"/>
          </a:xfrm>
        </p:spPr>
        <p:txBody>
          <a:bodyPr/>
          <a:lstStyle/>
          <a:p>
            <a:r>
              <a:rPr lang="en-US"/>
              <a:t>Click to edit Master title style</a:t>
            </a:r>
          </a:p>
        </p:txBody>
      </p:sp>
      <p:sp>
        <p:nvSpPr>
          <p:cNvPr id="3" name="Table Placeholder 2"/>
          <p:cNvSpPr>
            <a:spLocks noGrp="1"/>
          </p:cNvSpPr>
          <p:nvPr>
            <p:ph type="tbl" idx="1"/>
          </p:nvPr>
        </p:nvSpPr>
        <p:spPr>
          <a:xfrm>
            <a:off x="457200" y="1447800"/>
            <a:ext cx="8229600" cy="4800600"/>
          </a:xfrm>
        </p:spPr>
        <p:txBody>
          <a:bodyPr/>
          <a:lstStyle/>
          <a:p>
            <a:pPr lvl="0"/>
            <a:endParaRPr lang="en-US" noProof="0"/>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9"/>
          <p:cNvSpPr>
            <a:spLocks noGrp="1" noChangeArrowheads="1"/>
          </p:cNvSpPr>
          <p:nvPr>
            <p:ph type="sldNum" sz="quarter" idx="12"/>
          </p:nvPr>
        </p:nvSpPr>
        <p:spPr>
          <a:ln/>
        </p:spPr>
        <p:txBody>
          <a:bodyPr/>
          <a:lstStyle>
            <a:lvl1pPr>
              <a:defRPr/>
            </a:lvl1pPr>
          </a:lstStyle>
          <a:p>
            <a:pPr>
              <a:defRPr/>
            </a:pPr>
            <a:fld id="{142136A1-FF9E-44D9-AE34-E23C0A3B7F7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3.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2473ACD7-E315-471D-9599-48DF4B9ED329}" type="datetimeFigureOut">
              <a:rPr lang="en-US" smtClean="0"/>
              <a:pPr/>
              <a:t>10/18/2021</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FAEB2A7-4B8A-4592-B666-CF05D58C14EE}" type="slidenum">
              <a:rPr lang="en-US" smtClean="0"/>
              <a:pPr/>
              <a:t>‹#›</a:t>
            </a:fld>
            <a:endParaRPr lang="en-US"/>
          </a:p>
        </p:txBody>
      </p:sp>
      <p:pic>
        <p:nvPicPr>
          <p:cNvPr id="10" name="Picture 9">
            <a:extLst>
              <a:ext uri="{FF2B5EF4-FFF2-40B4-BE49-F238E27FC236}">
                <a16:creationId xmlns:a16="http://schemas.microsoft.com/office/drawing/2014/main" id="{7C41FE79-EFF4-4C47-BF97-966F53AB2E28}"/>
              </a:ext>
            </a:extLst>
          </p:cNvPr>
          <p:cNvPicPr>
            <a:picLocks noChangeAspect="1"/>
          </p:cNvPicPr>
          <p:nvPr userDrawn="1"/>
        </p:nvPicPr>
        <p:blipFill>
          <a:blip r:embed="rId14"/>
          <a:stretch>
            <a:fillRect/>
          </a:stretch>
        </p:blipFill>
        <p:spPr>
          <a:xfrm>
            <a:off x="0" y="6172200"/>
            <a:ext cx="4477375" cy="609685"/>
          </a:xfrm>
          <a:prstGeom prst="rect">
            <a:avLst/>
          </a:prstGeom>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112651" name="Rectangle 11"/>
          <p:cNvSpPr>
            <a:spLocks noChangeArrowheads="1"/>
          </p:cNvSpPr>
          <p:nvPr/>
        </p:nvSpPr>
        <p:spPr bwMode="auto">
          <a:xfrm>
            <a:off x="0" y="0"/>
            <a:ext cx="9144000" cy="990600"/>
          </a:xfrm>
          <a:prstGeom prst="rect">
            <a:avLst/>
          </a:prstGeom>
          <a:gradFill rotWithShape="1">
            <a:gsLst>
              <a:gs pos="0">
                <a:schemeClr val="hlink">
                  <a:gamma/>
                  <a:tint val="0"/>
                  <a:invGamma/>
                </a:schemeClr>
              </a:gs>
              <a:gs pos="100000">
                <a:schemeClr val="hlink"/>
              </a:gs>
            </a:gsLst>
            <a:lin ang="5400000" scaled="1"/>
          </a:gradFill>
          <a:ln w="9525">
            <a:noFill/>
            <a:miter lim="800000"/>
            <a:headEnd/>
            <a:tailEnd/>
          </a:ln>
          <a:effectLst/>
        </p:spPr>
        <p:txBody>
          <a:bodyPr wrap="none" anchor="ctr"/>
          <a:lstStyle/>
          <a:p>
            <a:pPr>
              <a:defRPr/>
            </a:pPr>
            <a:endParaRPr lang="en-US"/>
          </a:p>
        </p:txBody>
      </p:sp>
      <p:sp>
        <p:nvSpPr>
          <p:cNvPr id="112643" name="Freeform 3"/>
          <p:cNvSpPr>
            <a:spLocks/>
          </p:cNvSpPr>
          <p:nvPr/>
        </p:nvSpPr>
        <p:spPr bwMode="gray">
          <a:xfrm>
            <a:off x="2124075" y="260350"/>
            <a:ext cx="7027863" cy="720725"/>
          </a:xfrm>
          <a:custGeom>
            <a:avLst/>
            <a:gdLst/>
            <a:ahLst/>
            <a:cxnLst>
              <a:cxn ang="0">
                <a:pos x="0" y="657"/>
              </a:cxn>
              <a:cxn ang="0">
                <a:pos x="4134" y="657"/>
              </a:cxn>
              <a:cxn ang="0">
                <a:pos x="4134" y="0"/>
              </a:cxn>
              <a:cxn ang="0">
                <a:pos x="401" y="1"/>
              </a:cxn>
              <a:cxn ang="0">
                <a:pos x="0" y="657"/>
              </a:cxn>
            </a:cxnLst>
            <a:rect l="0" t="0" r="r" b="b"/>
            <a:pathLst>
              <a:path w="4134" h="657">
                <a:moveTo>
                  <a:pt x="0" y="657"/>
                </a:moveTo>
                <a:lnTo>
                  <a:pt x="4134" y="657"/>
                </a:lnTo>
                <a:lnTo>
                  <a:pt x="4134" y="0"/>
                </a:lnTo>
                <a:lnTo>
                  <a:pt x="401" y="1"/>
                </a:lnTo>
                <a:lnTo>
                  <a:pt x="0" y="657"/>
                </a:lnTo>
                <a:close/>
              </a:path>
            </a:pathLst>
          </a:custGeom>
          <a:gradFill rotWithShape="1">
            <a:gsLst>
              <a:gs pos="0">
                <a:schemeClr val="accent1">
                  <a:gamma/>
                  <a:shade val="46275"/>
                  <a:invGamma/>
                </a:schemeClr>
              </a:gs>
              <a:gs pos="100000">
                <a:schemeClr val="accent1"/>
              </a:gs>
            </a:gsLst>
            <a:lin ang="0" scaled="1"/>
          </a:gradFill>
          <a:ln w="9525">
            <a:noFill/>
            <a:round/>
            <a:headEnd/>
            <a:tailEnd/>
          </a:ln>
          <a:effectLst/>
        </p:spPr>
        <p:txBody>
          <a:bodyPr/>
          <a:lstStyle/>
          <a:p>
            <a:pPr>
              <a:defRPr/>
            </a:pPr>
            <a:endParaRPr lang="en-US"/>
          </a:p>
        </p:txBody>
      </p:sp>
      <p:sp>
        <p:nvSpPr>
          <p:cNvPr id="112644" name="Freeform 4"/>
          <p:cNvSpPr>
            <a:spLocks/>
          </p:cNvSpPr>
          <p:nvPr/>
        </p:nvSpPr>
        <p:spPr bwMode="ltGray">
          <a:xfrm>
            <a:off x="0" y="981075"/>
            <a:ext cx="2124075" cy="288925"/>
          </a:xfrm>
          <a:custGeom>
            <a:avLst/>
            <a:gdLst/>
            <a:ahLst/>
            <a:cxnLst>
              <a:cxn ang="0">
                <a:pos x="0" y="0"/>
              </a:cxn>
              <a:cxn ang="0">
                <a:pos x="1338" y="0"/>
              </a:cxn>
              <a:cxn ang="0">
                <a:pos x="1138" y="182"/>
              </a:cxn>
              <a:cxn ang="0">
                <a:pos x="0" y="181"/>
              </a:cxn>
              <a:cxn ang="0">
                <a:pos x="0" y="0"/>
              </a:cxn>
            </a:cxnLst>
            <a:rect l="0" t="0" r="r" b="b"/>
            <a:pathLst>
              <a:path w="1338" h="182">
                <a:moveTo>
                  <a:pt x="0" y="0"/>
                </a:moveTo>
                <a:lnTo>
                  <a:pt x="1338" y="0"/>
                </a:lnTo>
                <a:lnTo>
                  <a:pt x="1138" y="182"/>
                </a:lnTo>
                <a:lnTo>
                  <a:pt x="0" y="181"/>
                </a:lnTo>
                <a:lnTo>
                  <a:pt x="0" y="0"/>
                </a:lnTo>
                <a:close/>
              </a:path>
            </a:pathLst>
          </a:custGeom>
          <a:solidFill>
            <a:schemeClr val="accent2"/>
          </a:solidFill>
          <a:ln w="9525" cap="flat" cmpd="sng">
            <a:noFill/>
            <a:prstDash val="solid"/>
            <a:round/>
            <a:headEnd type="none" w="med" len="med"/>
            <a:tailEnd type="none" w="med" len="med"/>
          </a:ln>
          <a:effectLst/>
        </p:spPr>
        <p:txBody>
          <a:bodyPr/>
          <a:lstStyle/>
          <a:p>
            <a:pPr>
              <a:defRPr/>
            </a:pPr>
            <a:endParaRPr lang="en-US"/>
          </a:p>
        </p:txBody>
      </p:sp>
      <p:sp>
        <p:nvSpPr>
          <p:cNvPr id="1029" name="Rectangle 5"/>
          <p:cNvSpPr>
            <a:spLocks noGrp="1" noChangeArrowheads="1"/>
          </p:cNvSpPr>
          <p:nvPr>
            <p:ph type="title"/>
          </p:nvPr>
        </p:nvSpPr>
        <p:spPr bwMode="white">
          <a:xfrm>
            <a:off x="2743200" y="274638"/>
            <a:ext cx="6096000" cy="7159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30" name="Rectangle 6"/>
          <p:cNvSpPr>
            <a:spLocks noGrp="1" noChangeArrowheads="1"/>
          </p:cNvSpPr>
          <p:nvPr>
            <p:ph type="body" idx="1"/>
          </p:nvPr>
        </p:nvSpPr>
        <p:spPr bwMode="auto">
          <a:xfrm>
            <a:off x="457200" y="1447800"/>
            <a:ext cx="822960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2647" name="Rectangle 7"/>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j-lt"/>
              </a:defRPr>
            </a:lvl1pPr>
          </a:lstStyle>
          <a:p>
            <a:pPr>
              <a:defRPr/>
            </a:pPr>
            <a:endParaRPr lang="en-US"/>
          </a:p>
        </p:txBody>
      </p:sp>
      <p:sp>
        <p:nvSpPr>
          <p:cNvPr id="112648" name="Rectangle 8"/>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j-lt"/>
              </a:defRPr>
            </a:lvl1pPr>
          </a:lstStyle>
          <a:p>
            <a:pPr>
              <a:defRPr/>
            </a:pPr>
            <a:endParaRPr lang="en-US"/>
          </a:p>
        </p:txBody>
      </p:sp>
      <p:sp>
        <p:nvSpPr>
          <p:cNvPr id="112649" name="Rectangle 9"/>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j-lt"/>
              </a:defRPr>
            </a:lvl1pPr>
          </a:lstStyle>
          <a:p>
            <a:pPr>
              <a:defRPr/>
            </a:pPr>
            <a:fld id="{34649747-F9AA-4208-B3EE-E62F44C88285}" type="slidenum">
              <a:rPr lang="en-US"/>
              <a:pPr>
                <a:defRPr/>
              </a:pPr>
              <a:t>‹#›</a:t>
            </a:fld>
            <a:endParaRPr lang="en-US"/>
          </a:p>
        </p:txBody>
      </p:sp>
      <p:sp>
        <p:nvSpPr>
          <p:cNvPr id="112650" name="Text Box 10"/>
          <p:cNvSpPr txBox="1">
            <a:spLocks noChangeArrowheads="1"/>
          </p:cNvSpPr>
          <p:nvPr/>
        </p:nvSpPr>
        <p:spPr bwMode="auto">
          <a:xfrm>
            <a:off x="9525" y="1023938"/>
            <a:ext cx="2057400" cy="227012"/>
          </a:xfrm>
          <a:prstGeom prst="rect">
            <a:avLst/>
          </a:prstGeom>
          <a:noFill/>
          <a:ln w="9525">
            <a:noFill/>
            <a:miter lim="800000"/>
            <a:headEnd/>
            <a:tailEnd/>
          </a:ln>
          <a:effectLst/>
        </p:spPr>
        <p:txBody>
          <a:bodyPr>
            <a:spAutoFit/>
          </a:bodyPr>
          <a:lstStyle/>
          <a:p>
            <a:pPr algn="ctr">
              <a:lnSpc>
                <a:spcPct val="60000"/>
              </a:lnSpc>
              <a:spcBef>
                <a:spcPct val="50000"/>
              </a:spcBef>
              <a:defRPr/>
            </a:pPr>
            <a:r>
              <a:rPr lang="en-US" sz="1400" b="1" dirty="0">
                <a:solidFill>
                  <a:srgbClr val="F8F8F8"/>
                </a:solidFill>
              </a:rPr>
              <a:t>KTMT</a:t>
            </a:r>
          </a:p>
        </p:txBody>
      </p:sp>
      <p:pic>
        <p:nvPicPr>
          <p:cNvPr id="11" name="Picture 10">
            <a:extLst>
              <a:ext uri="{FF2B5EF4-FFF2-40B4-BE49-F238E27FC236}">
                <a16:creationId xmlns:a16="http://schemas.microsoft.com/office/drawing/2014/main" id="{D7BA6D98-9D54-42C6-A490-15A09FEABE57}"/>
              </a:ext>
            </a:extLst>
          </p:cNvPr>
          <p:cNvPicPr>
            <a:picLocks noChangeAspect="1"/>
          </p:cNvPicPr>
          <p:nvPr userDrawn="1"/>
        </p:nvPicPr>
        <p:blipFill>
          <a:blip r:embed="rId15"/>
          <a:stretch>
            <a:fillRect/>
          </a:stretch>
        </p:blipFill>
        <p:spPr>
          <a:xfrm>
            <a:off x="609600" y="6248206"/>
            <a:ext cx="4477375" cy="609685"/>
          </a:xfrm>
          <a:prstGeom prst="rect">
            <a:avLst/>
          </a:prstGeom>
        </p:spPr>
      </p:pic>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txStyles>
    <p:titleStyle>
      <a:lvl1pPr algn="l" rtl="0" eaLnBrk="0" fontAlgn="base" hangingPunct="0">
        <a:spcBef>
          <a:spcPct val="0"/>
        </a:spcBef>
        <a:spcAft>
          <a:spcPct val="0"/>
        </a:spcAft>
        <a:defRPr sz="3200" b="1" i="1">
          <a:solidFill>
            <a:schemeClr val="bg1"/>
          </a:solidFill>
          <a:latin typeface="+mj-lt"/>
          <a:ea typeface="+mj-ea"/>
          <a:cs typeface="+mj-cs"/>
        </a:defRPr>
      </a:lvl1pPr>
      <a:lvl2pPr algn="l" rtl="0" eaLnBrk="0" fontAlgn="base" hangingPunct="0">
        <a:spcBef>
          <a:spcPct val="0"/>
        </a:spcBef>
        <a:spcAft>
          <a:spcPct val="0"/>
        </a:spcAft>
        <a:defRPr sz="3200" b="1" i="1">
          <a:solidFill>
            <a:schemeClr val="bg1"/>
          </a:solidFill>
          <a:latin typeface="Arial" pitchFamily="34" charset="0"/>
        </a:defRPr>
      </a:lvl2pPr>
      <a:lvl3pPr algn="l" rtl="0" eaLnBrk="0" fontAlgn="base" hangingPunct="0">
        <a:spcBef>
          <a:spcPct val="0"/>
        </a:spcBef>
        <a:spcAft>
          <a:spcPct val="0"/>
        </a:spcAft>
        <a:defRPr sz="3200" b="1" i="1">
          <a:solidFill>
            <a:schemeClr val="bg1"/>
          </a:solidFill>
          <a:latin typeface="Arial" pitchFamily="34" charset="0"/>
        </a:defRPr>
      </a:lvl3pPr>
      <a:lvl4pPr algn="l" rtl="0" eaLnBrk="0" fontAlgn="base" hangingPunct="0">
        <a:spcBef>
          <a:spcPct val="0"/>
        </a:spcBef>
        <a:spcAft>
          <a:spcPct val="0"/>
        </a:spcAft>
        <a:defRPr sz="3200" b="1" i="1">
          <a:solidFill>
            <a:schemeClr val="bg1"/>
          </a:solidFill>
          <a:latin typeface="Arial" pitchFamily="34" charset="0"/>
        </a:defRPr>
      </a:lvl4pPr>
      <a:lvl5pPr algn="l" rtl="0" eaLnBrk="0" fontAlgn="base" hangingPunct="0">
        <a:spcBef>
          <a:spcPct val="0"/>
        </a:spcBef>
        <a:spcAft>
          <a:spcPct val="0"/>
        </a:spcAft>
        <a:defRPr sz="3200" b="1" i="1">
          <a:solidFill>
            <a:schemeClr val="bg1"/>
          </a:solidFill>
          <a:latin typeface="Arial" pitchFamily="34" charset="0"/>
        </a:defRPr>
      </a:lvl5pPr>
      <a:lvl6pPr marL="457200" algn="l" rtl="0" fontAlgn="base">
        <a:spcBef>
          <a:spcPct val="0"/>
        </a:spcBef>
        <a:spcAft>
          <a:spcPct val="0"/>
        </a:spcAft>
        <a:defRPr sz="3200" b="1" i="1">
          <a:solidFill>
            <a:schemeClr val="bg1"/>
          </a:solidFill>
          <a:latin typeface="Arial" pitchFamily="34" charset="0"/>
        </a:defRPr>
      </a:lvl6pPr>
      <a:lvl7pPr marL="914400" algn="l" rtl="0" fontAlgn="base">
        <a:spcBef>
          <a:spcPct val="0"/>
        </a:spcBef>
        <a:spcAft>
          <a:spcPct val="0"/>
        </a:spcAft>
        <a:defRPr sz="3200" b="1" i="1">
          <a:solidFill>
            <a:schemeClr val="bg1"/>
          </a:solidFill>
          <a:latin typeface="Arial" pitchFamily="34" charset="0"/>
        </a:defRPr>
      </a:lvl7pPr>
      <a:lvl8pPr marL="1371600" algn="l" rtl="0" fontAlgn="base">
        <a:spcBef>
          <a:spcPct val="0"/>
        </a:spcBef>
        <a:spcAft>
          <a:spcPct val="0"/>
        </a:spcAft>
        <a:defRPr sz="3200" b="1" i="1">
          <a:solidFill>
            <a:schemeClr val="bg1"/>
          </a:solidFill>
          <a:latin typeface="Arial" pitchFamily="34" charset="0"/>
        </a:defRPr>
      </a:lvl8pPr>
      <a:lvl9pPr marL="1828800" algn="l" rtl="0" fontAlgn="base">
        <a:spcBef>
          <a:spcPct val="0"/>
        </a:spcBef>
        <a:spcAft>
          <a:spcPct val="0"/>
        </a:spcAft>
        <a:defRPr sz="3200" b="1" i="1">
          <a:solidFill>
            <a:schemeClr val="bg1"/>
          </a:solidFill>
          <a:latin typeface="Arial" pitchFamily="34" charset="0"/>
        </a:defRPr>
      </a:lvl9pPr>
    </p:titleStyle>
    <p:bodyStyle>
      <a:lvl1pPr marL="342900" indent="-342900" algn="l" rtl="0" eaLnBrk="0" fontAlgn="base" hangingPunct="0">
        <a:spcBef>
          <a:spcPct val="20000"/>
        </a:spcBef>
        <a:spcAft>
          <a:spcPct val="0"/>
        </a:spcAft>
        <a:buClr>
          <a:schemeClr val="accent1"/>
        </a:buClr>
        <a:buSzPct val="80000"/>
        <a:buFont typeface="Wingdings" pitchFamily="2" charset="2"/>
        <a:buChar char="l"/>
        <a:defRPr sz="2800">
          <a:solidFill>
            <a:schemeClr val="accent1"/>
          </a:solidFill>
          <a:latin typeface="+mn-lt"/>
          <a:ea typeface="+mn-ea"/>
          <a:cs typeface="+mn-cs"/>
        </a:defRPr>
      </a:lvl1pPr>
      <a:lvl2pPr marL="742950" indent="-285750" algn="l" rtl="0" eaLnBrk="0" fontAlgn="base" hangingPunct="0">
        <a:spcBef>
          <a:spcPct val="20000"/>
        </a:spcBef>
        <a:spcAft>
          <a:spcPct val="0"/>
        </a:spcAft>
        <a:buClr>
          <a:schemeClr val="tx1"/>
        </a:buClr>
        <a:buSzPct val="80000"/>
        <a:buFont typeface="Arial" charset="0"/>
        <a:buChar char="–"/>
        <a:defRPr sz="2400">
          <a:solidFill>
            <a:schemeClr val="tx1"/>
          </a:solidFill>
          <a:latin typeface="+mn-lt"/>
        </a:defRPr>
      </a:lvl2pPr>
      <a:lvl3pPr marL="1143000" indent="-228600" algn="l" rtl="0" eaLnBrk="0" fontAlgn="base" hangingPunct="0">
        <a:spcBef>
          <a:spcPct val="20000"/>
        </a:spcBef>
        <a:spcAft>
          <a:spcPct val="0"/>
        </a:spcAft>
        <a:buClr>
          <a:schemeClr val="accent2"/>
        </a:buClr>
        <a:buSzPct val="70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70000"/>
        <a:buFont typeface="Arial" charset="0"/>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l"/>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l"/>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l"/>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l"/>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l"/>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9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file:///C:\CD%20read.exe" TargetMode="Externa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9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8"/>
          <p:cNvSpPr>
            <a:spLocks noGrp="1" noChangeArrowheads="1"/>
          </p:cNvSpPr>
          <p:nvPr>
            <p:ph type="title"/>
          </p:nvPr>
        </p:nvSpPr>
        <p:spPr/>
        <p:txBody>
          <a:bodyPr/>
          <a:lstStyle/>
          <a:p>
            <a:pPr eaLnBrk="1" hangingPunct="1"/>
            <a:r>
              <a:rPr lang="en-US" dirty="0"/>
              <a:t>BỘ NHỚ MÁY TÍNH</a:t>
            </a:r>
          </a:p>
        </p:txBody>
      </p:sp>
      <p:sp>
        <p:nvSpPr>
          <p:cNvPr id="5" name="Rectangle 3"/>
          <p:cNvSpPr txBox="1">
            <a:spLocks noChangeArrowheads="1"/>
          </p:cNvSpPr>
          <p:nvPr/>
        </p:nvSpPr>
        <p:spPr bwMode="gray">
          <a:xfrm>
            <a:off x="533400" y="1524000"/>
            <a:ext cx="8382000" cy="4800600"/>
          </a:xfrm>
          <a:prstGeom prst="rect">
            <a:avLst/>
          </a:prstGeom>
          <a:noFill/>
        </p:spPr>
        <p:txBody>
          <a:bodyPr/>
          <a:lstStyle/>
          <a:p>
            <a:pPr marL="342900" indent="-342900">
              <a:lnSpc>
                <a:spcPct val="90000"/>
              </a:lnSpc>
              <a:spcBef>
                <a:spcPct val="20000"/>
              </a:spcBef>
              <a:buClr>
                <a:schemeClr val="accent1"/>
              </a:buClr>
              <a:buSzPct val="80000"/>
              <a:buFont typeface="Wingdings" pitchFamily="2" charset="2"/>
              <a:buChar char="v"/>
              <a:defRPr/>
            </a:pPr>
            <a:r>
              <a:rPr lang="vi-VN" sz="2400" kern="0" dirty="0">
                <a:solidFill>
                  <a:schemeClr val="accent1"/>
                </a:solidFill>
              </a:rPr>
              <a:t>Phân loại và cấu trúc phân cấp bộ nhớ máy tính</a:t>
            </a:r>
          </a:p>
          <a:p>
            <a:pPr marL="342900" indent="-342900">
              <a:lnSpc>
                <a:spcPct val="90000"/>
              </a:lnSpc>
              <a:spcBef>
                <a:spcPct val="20000"/>
              </a:spcBef>
              <a:buClr>
                <a:schemeClr val="accent1"/>
              </a:buClr>
              <a:buSzPct val="80000"/>
              <a:buFont typeface="Wingdings" pitchFamily="2" charset="2"/>
              <a:buChar char="v"/>
              <a:defRPr/>
            </a:pPr>
            <a:r>
              <a:rPr lang="vi-VN" sz="2400" kern="0" dirty="0">
                <a:solidFill>
                  <a:schemeClr val="accent1"/>
                </a:solidFill>
              </a:rPr>
              <a:t>Bộ nhớ ROM và RAM</a:t>
            </a:r>
          </a:p>
          <a:p>
            <a:pPr marL="342900" indent="-342900">
              <a:lnSpc>
                <a:spcPct val="90000"/>
              </a:lnSpc>
              <a:spcBef>
                <a:spcPct val="20000"/>
              </a:spcBef>
              <a:buClr>
                <a:schemeClr val="accent1"/>
              </a:buClr>
              <a:buSzPct val="80000"/>
              <a:buFont typeface="Wingdings" pitchFamily="2" charset="2"/>
              <a:buChar char="v"/>
              <a:defRPr/>
            </a:pPr>
            <a:r>
              <a:rPr lang="vi-VN" sz="2400" kern="0" dirty="0">
                <a:solidFill>
                  <a:schemeClr val="accent1"/>
                </a:solidFill>
              </a:rPr>
              <a:t>Bộ nhớ cache</a:t>
            </a:r>
            <a:endParaRPr lang="en-US" sz="2400" kern="0" dirty="0">
              <a:solidFill>
                <a:schemeClr val="accent1"/>
              </a:solidFill>
            </a:endParaRPr>
          </a:p>
          <a:p>
            <a:pPr marL="800100" lvl="1" indent="-342900">
              <a:lnSpc>
                <a:spcPct val="90000"/>
              </a:lnSpc>
              <a:spcBef>
                <a:spcPct val="20000"/>
              </a:spcBef>
              <a:buClr>
                <a:schemeClr val="accent1"/>
              </a:buClr>
              <a:buSzPct val="80000"/>
              <a:buFont typeface="Wingdings" pitchFamily="2" charset="2"/>
              <a:buChar char="Ø"/>
              <a:defRPr/>
            </a:pPr>
            <a:r>
              <a:rPr lang="vi-VN" sz="2000" kern="0" dirty="0">
                <a:solidFill>
                  <a:schemeClr val="accent1"/>
                </a:solidFill>
              </a:rPr>
              <a:t>Vai trò và nguyên lý hoạt động</a:t>
            </a:r>
          </a:p>
          <a:p>
            <a:pPr marL="800100" lvl="1" indent="-342900">
              <a:lnSpc>
                <a:spcPct val="90000"/>
              </a:lnSpc>
              <a:spcBef>
                <a:spcPct val="20000"/>
              </a:spcBef>
              <a:buClr>
                <a:schemeClr val="accent1"/>
              </a:buClr>
              <a:buSzPct val="80000"/>
              <a:buFont typeface="Wingdings" pitchFamily="2" charset="2"/>
              <a:buChar char="Ø"/>
              <a:defRPr/>
            </a:pPr>
            <a:r>
              <a:rPr lang="vi-VN" sz="2000" kern="0" dirty="0">
                <a:solidFill>
                  <a:schemeClr val="accent1"/>
                </a:solidFill>
              </a:rPr>
              <a:t>Các dạng kiến trúc và tổ chức/ạnh xạ cache</a:t>
            </a:r>
          </a:p>
          <a:p>
            <a:pPr marL="800100" lvl="1" indent="-342900">
              <a:lnSpc>
                <a:spcPct val="90000"/>
              </a:lnSpc>
              <a:spcBef>
                <a:spcPct val="20000"/>
              </a:spcBef>
              <a:buClr>
                <a:schemeClr val="accent1"/>
              </a:buClr>
              <a:buSzPct val="80000"/>
              <a:buFont typeface="Wingdings" pitchFamily="2" charset="2"/>
              <a:buChar char="Ø"/>
              <a:defRPr/>
            </a:pPr>
            <a:r>
              <a:rPr lang="vi-VN" sz="2000" kern="0" dirty="0">
                <a:solidFill>
                  <a:schemeClr val="accent1"/>
                </a:solidFill>
              </a:rPr>
              <a:t>Các phương pháp đọc ghi và các chính sách thay thế</a:t>
            </a:r>
          </a:p>
          <a:p>
            <a:pPr marL="800100" lvl="1" indent="-342900">
              <a:lnSpc>
                <a:spcPct val="90000"/>
              </a:lnSpc>
              <a:spcBef>
                <a:spcPct val="20000"/>
              </a:spcBef>
              <a:buClr>
                <a:schemeClr val="accent1"/>
              </a:buClr>
              <a:buSzPct val="80000"/>
              <a:buFont typeface="Wingdings" pitchFamily="2" charset="2"/>
              <a:buChar char="Ø"/>
              <a:defRPr/>
            </a:pPr>
            <a:r>
              <a:rPr lang="vi-VN" sz="2000" kern="0" dirty="0">
                <a:solidFill>
                  <a:schemeClr val="accent1"/>
                </a:solidFill>
              </a:rPr>
              <a:t>Hiệu năng cache và các yếu tố ảnh hưởng</a:t>
            </a:r>
          </a:p>
          <a:p>
            <a:pPr marL="800100" lvl="1" indent="-342900">
              <a:lnSpc>
                <a:spcPct val="90000"/>
              </a:lnSpc>
              <a:spcBef>
                <a:spcPct val="20000"/>
              </a:spcBef>
              <a:buClr>
                <a:schemeClr val="accent1"/>
              </a:buClr>
              <a:buSzPct val="80000"/>
              <a:buFont typeface="Wingdings" pitchFamily="2" charset="2"/>
              <a:buChar char="Ø"/>
              <a:defRPr/>
            </a:pPr>
            <a:r>
              <a:rPr lang="vi-VN" sz="2000" kern="0" dirty="0">
                <a:solidFill>
                  <a:schemeClr val="accent1"/>
                </a:solidFill>
              </a:rPr>
              <a:t>Các phương pháp giảm miss cache</a:t>
            </a:r>
            <a:endParaRPr lang="en-US" sz="2000" kern="0" dirty="0">
              <a:solidFill>
                <a:schemeClr val="accent1"/>
              </a:solidFill>
            </a:endParaRPr>
          </a:p>
          <a:p>
            <a:pPr marL="342900" indent="-342900">
              <a:lnSpc>
                <a:spcPct val="90000"/>
              </a:lnSpc>
              <a:spcBef>
                <a:spcPct val="20000"/>
              </a:spcBef>
              <a:buClr>
                <a:schemeClr val="accent1"/>
              </a:buClr>
              <a:buSzPct val="80000"/>
              <a:buFont typeface="Wingdings" pitchFamily="2" charset="2"/>
              <a:buChar char="v"/>
              <a:defRPr/>
            </a:pPr>
            <a:r>
              <a:rPr lang="vi-VN" sz="2400" kern="0" dirty="0">
                <a:solidFill>
                  <a:schemeClr val="accent1"/>
                </a:solidFill>
              </a:rPr>
              <a:t>Bộ nhớ ngoài</a:t>
            </a:r>
            <a:endParaRPr lang="en-US" sz="2400" kern="0" dirty="0">
              <a:solidFill>
                <a:schemeClr val="accent1"/>
              </a:solidFill>
            </a:endParaRPr>
          </a:p>
          <a:p>
            <a:pPr marL="800100" lvl="1" indent="-342900">
              <a:lnSpc>
                <a:spcPct val="90000"/>
              </a:lnSpc>
              <a:spcBef>
                <a:spcPct val="20000"/>
              </a:spcBef>
              <a:buClr>
                <a:schemeClr val="accent1"/>
              </a:buClr>
              <a:buSzPct val="80000"/>
              <a:buFont typeface="Wingdings" pitchFamily="2" charset="2"/>
              <a:buChar char="Ø"/>
              <a:defRPr/>
            </a:pPr>
            <a:r>
              <a:rPr lang="vi-VN" sz="2000" kern="0" dirty="0">
                <a:solidFill>
                  <a:schemeClr val="accent1"/>
                </a:solidFill>
              </a:rPr>
              <a:t>Đĩa từ</a:t>
            </a:r>
          </a:p>
          <a:p>
            <a:pPr marL="800100" lvl="1" indent="-342900">
              <a:lnSpc>
                <a:spcPct val="90000"/>
              </a:lnSpc>
              <a:spcBef>
                <a:spcPct val="20000"/>
              </a:spcBef>
              <a:buClr>
                <a:schemeClr val="accent1"/>
              </a:buClr>
              <a:buSzPct val="80000"/>
              <a:buFont typeface="Wingdings" pitchFamily="2" charset="2"/>
              <a:buChar char="Ø"/>
              <a:defRPr/>
            </a:pPr>
            <a:r>
              <a:rPr lang="vi-VN" sz="2000" kern="0" dirty="0">
                <a:solidFill>
                  <a:schemeClr val="accent1"/>
                </a:solidFill>
              </a:rPr>
              <a:t>Đĩa quang</a:t>
            </a:r>
          </a:p>
          <a:p>
            <a:pPr marL="800100" lvl="1" indent="-342900">
              <a:lnSpc>
                <a:spcPct val="90000"/>
              </a:lnSpc>
              <a:spcBef>
                <a:spcPct val="20000"/>
              </a:spcBef>
              <a:buClr>
                <a:schemeClr val="accent1"/>
              </a:buClr>
              <a:buSzPct val="80000"/>
              <a:buFont typeface="Wingdings" pitchFamily="2" charset="2"/>
              <a:buChar char="Ø"/>
              <a:defRPr/>
            </a:pPr>
            <a:r>
              <a:rPr lang="vi-VN" sz="2000" kern="0" dirty="0">
                <a:solidFill>
                  <a:schemeClr val="accent1"/>
                </a:solidFill>
              </a:rPr>
              <a:t>RAID</a:t>
            </a:r>
          </a:p>
          <a:p>
            <a:pPr marL="800100" lvl="1" indent="-342900">
              <a:lnSpc>
                <a:spcPct val="90000"/>
              </a:lnSpc>
              <a:spcBef>
                <a:spcPct val="20000"/>
              </a:spcBef>
              <a:buClr>
                <a:schemeClr val="accent1"/>
              </a:buClr>
              <a:buSzPct val="80000"/>
              <a:buFont typeface="Wingdings" pitchFamily="2" charset="2"/>
              <a:buChar char="Ø"/>
              <a:defRPr/>
            </a:pPr>
            <a:r>
              <a:rPr lang="vi-VN" sz="2000" kern="0" dirty="0">
                <a:solidFill>
                  <a:schemeClr val="accent1"/>
                </a:solidFill>
              </a:rPr>
              <a:t>NAS và SAN</a:t>
            </a:r>
          </a:p>
          <a:p>
            <a:pPr marL="342900" indent="-342900">
              <a:lnSpc>
                <a:spcPct val="90000"/>
              </a:lnSpc>
              <a:spcBef>
                <a:spcPct val="20000"/>
              </a:spcBef>
              <a:buClr>
                <a:schemeClr val="accent1"/>
              </a:buClr>
              <a:buSzPct val="80000"/>
              <a:buFont typeface="Wingdings" pitchFamily="2" charset="2"/>
              <a:buChar char="v"/>
              <a:defRPr/>
            </a:pPr>
            <a:endParaRPr lang="vi-VN" sz="2400" kern="0"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Các đặc trưng của hệ thống nhớ</a:t>
            </a:r>
          </a:p>
        </p:txBody>
      </p:sp>
      <p:sp>
        <p:nvSpPr>
          <p:cNvPr id="3" name="Content Placeholder 2"/>
          <p:cNvSpPr>
            <a:spLocks noGrp="1"/>
          </p:cNvSpPr>
          <p:nvPr>
            <p:ph sz="quarter" idx="1"/>
          </p:nvPr>
        </p:nvSpPr>
        <p:spPr/>
        <p:txBody>
          <a:bodyPr>
            <a:normAutofit lnSpcReduction="10000"/>
          </a:bodyPr>
          <a:lstStyle/>
          <a:p>
            <a:r>
              <a:rPr lang="vi-VN" dirty="0"/>
              <a:t>Vị trí</a:t>
            </a:r>
          </a:p>
          <a:p>
            <a:pPr lvl="1"/>
            <a:r>
              <a:rPr lang="vi-VN" dirty="0"/>
              <a:t>Bên trong CPU:</a:t>
            </a:r>
          </a:p>
          <a:p>
            <a:pPr lvl="2"/>
            <a:r>
              <a:rPr lang="vi-VN" dirty="0"/>
              <a:t>tập thanh ghi</a:t>
            </a:r>
          </a:p>
          <a:p>
            <a:pPr lvl="1"/>
            <a:r>
              <a:rPr lang="vi-VN" dirty="0"/>
              <a:t>Bộ nhớ trong</a:t>
            </a:r>
          </a:p>
          <a:p>
            <a:pPr lvl="2"/>
            <a:r>
              <a:rPr lang="vi-VN" dirty="0"/>
              <a:t>bộ nhớ chính</a:t>
            </a:r>
          </a:p>
          <a:p>
            <a:pPr lvl="2"/>
            <a:r>
              <a:rPr lang="vi-VN" dirty="0"/>
              <a:t>bộ nhớ cache</a:t>
            </a:r>
          </a:p>
          <a:p>
            <a:pPr lvl="1"/>
            <a:r>
              <a:rPr lang="vi-VN" dirty="0"/>
              <a:t>Bộ nhớ ngoài: các thiết bị nhớ</a:t>
            </a:r>
          </a:p>
          <a:p>
            <a:r>
              <a:rPr lang="vi-VN" dirty="0"/>
              <a:t>Dung lượng</a:t>
            </a:r>
          </a:p>
          <a:p>
            <a:pPr lvl="1"/>
            <a:r>
              <a:rPr lang="vi-VN" dirty="0"/>
              <a:t>Độ dài từ nhớ (tính bằng bit: 16, 32 bit)</a:t>
            </a:r>
          </a:p>
          <a:p>
            <a:pPr lvl="1"/>
            <a:r>
              <a:rPr lang="vi-VN" dirty="0"/>
              <a:t>Số lượng từ nhớ</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Các đặc trưng của hệ thống nhớ</a:t>
            </a:r>
            <a:endParaRPr lang="en-US" dirty="0"/>
          </a:p>
        </p:txBody>
      </p:sp>
      <p:sp>
        <p:nvSpPr>
          <p:cNvPr id="3" name="Content Placeholder 2"/>
          <p:cNvSpPr>
            <a:spLocks noGrp="1"/>
          </p:cNvSpPr>
          <p:nvPr>
            <p:ph sz="quarter" idx="1"/>
          </p:nvPr>
        </p:nvSpPr>
        <p:spPr/>
        <p:txBody>
          <a:bodyPr/>
          <a:lstStyle/>
          <a:p>
            <a:r>
              <a:rPr lang="vi-VN" dirty="0"/>
              <a:t>Đơn vị truyền</a:t>
            </a:r>
          </a:p>
          <a:p>
            <a:pPr lvl="1"/>
            <a:r>
              <a:rPr lang="vi-VN" dirty="0"/>
              <a:t>Từ nhớ (word)</a:t>
            </a:r>
          </a:p>
          <a:p>
            <a:pPr lvl="1"/>
            <a:r>
              <a:rPr lang="vi-VN" dirty="0"/>
              <a:t>Khối nhớ (block)</a:t>
            </a:r>
          </a:p>
          <a:p>
            <a:r>
              <a:rPr lang="vi-VN" dirty="0"/>
              <a:t>Phương pháp truy nhập</a:t>
            </a:r>
          </a:p>
          <a:p>
            <a:pPr lvl="1"/>
            <a:r>
              <a:rPr lang="vi-VN" dirty="0"/>
              <a:t>Truy nhập tuần tự (băng từ)</a:t>
            </a:r>
          </a:p>
          <a:p>
            <a:pPr lvl="1"/>
            <a:r>
              <a:rPr lang="vi-VN" dirty="0"/>
              <a:t>Truy nhập trực tiếp (các loại đĩa)</a:t>
            </a:r>
          </a:p>
          <a:p>
            <a:pPr lvl="1"/>
            <a:r>
              <a:rPr lang="vi-VN" dirty="0"/>
              <a:t>Truy nhập ngẫu nhiên (bộ nhớ bán dẫn)</a:t>
            </a:r>
          </a:p>
          <a:p>
            <a:pPr lvl="1"/>
            <a:r>
              <a:rPr lang="vi-VN" dirty="0"/>
              <a:t>Truy nhập liên kết (cache)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r>
              <a:rPr lang="en-GB" dirty="0" err="1"/>
              <a:t>Phương</a:t>
            </a:r>
            <a:r>
              <a:rPr lang="en-GB" dirty="0"/>
              <a:t> </a:t>
            </a:r>
            <a:r>
              <a:rPr lang="en-GB" dirty="0" err="1"/>
              <a:t>thức</a:t>
            </a:r>
            <a:r>
              <a:rPr lang="en-GB" dirty="0"/>
              <a:t> </a:t>
            </a:r>
            <a:r>
              <a:rPr lang="en-GB" dirty="0" err="1"/>
              <a:t>truy</a:t>
            </a:r>
            <a:r>
              <a:rPr lang="en-GB" dirty="0"/>
              <a:t> </a:t>
            </a:r>
            <a:r>
              <a:rPr lang="en-GB" dirty="0" err="1"/>
              <a:t>cập</a:t>
            </a:r>
            <a:r>
              <a:rPr lang="en-GB" dirty="0"/>
              <a:t> </a:t>
            </a:r>
            <a:r>
              <a:rPr lang="en-GB" dirty="0" err="1"/>
              <a:t>tuần</a:t>
            </a:r>
            <a:r>
              <a:rPr lang="en-GB" dirty="0"/>
              <a:t> </a:t>
            </a:r>
            <a:r>
              <a:rPr lang="en-GB" dirty="0" err="1"/>
              <a:t>tự</a:t>
            </a:r>
            <a:endParaRPr lang="en-GB" dirty="0"/>
          </a:p>
        </p:txBody>
      </p:sp>
      <p:sp>
        <p:nvSpPr>
          <p:cNvPr id="155651" name="Rectangle 3"/>
          <p:cNvSpPr>
            <a:spLocks noGrp="1" noChangeArrowheads="1"/>
          </p:cNvSpPr>
          <p:nvPr>
            <p:ph sz="quarter" idx="1"/>
          </p:nvPr>
        </p:nvSpPr>
        <p:spPr>
          <a:xfrm>
            <a:off x="457200" y="1828800"/>
            <a:ext cx="8178800" cy="1854200"/>
          </a:xfrm>
          <a:ln/>
        </p:spPr>
        <p:txBody>
          <a:bodyPr>
            <a:normAutofit fontScale="92500" lnSpcReduction="10000"/>
          </a:bodyPr>
          <a:lstStyle/>
          <a:p>
            <a:r>
              <a:rPr lang="en-GB" dirty="0" err="1"/>
              <a:t>Bắt</a:t>
            </a:r>
            <a:r>
              <a:rPr lang="en-GB" dirty="0"/>
              <a:t> </a:t>
            </a:r>
            <a:r>
              <a:rPr lang="en-GB" dirty="0" err="1"/>
              <a:t>đầu</a:t>
            </a:r>
            <a:r>
              <a:rPr lang="en-GB" dirty="0"/>
              <a:t> ở first location – </a:t>
            </a:r>
            <a:r>
              <a:rPr lang="en-GB" dirty="0" err="1"/>
              <a:t>đọc</a:t>
            </a:r>
            <a:r>
              <a:rPr lang="en-GB" dirty="0"/>
              <a:t> </a:t>
            </a:r>
            <a:r>
              <a:rPr lang="en-GB" dirty="0" err="1"/>
              <a:t>theo</a:t>
            </a:r>
            <a:r>
              <a:rPr lang="en-GB" dirty="0"/>
              <a:t> </a:t>
            </a:r>
            <a:r>
              <a:rPr lang="en-GB" dirty="0" err="1"/>
              <a:t>thứ</a:t>
            </a:r>
            <a:r>
              <a:rPr lang="en-GB" dirty="0"/>
              <a:t> </a:t>
            </a:r>
            <a:r>
              <a:rPr lang="en-GB" dirty="0" err="1"/>
              <a:t>tự</a:t>
            </a:r>
            <a:endParaRPr lang="en-GB" dirty="0"/>
          </a:p>
          <a:p>
            <a:r>
              <a:rPr lang="en-GB" dirty="0"/>
              <a:t>Access time </a:t>
            </a:r>
            <a:r>
              <a:rPr lang="en-GB" dirty="0" err="1"/>
              <a:t>phụ</a:t>
            </a:r>
            <a:r>
              <a:rPr lang="en-GB" dirty="0"/>
              <a:t> </a:t>
            </a:r>
            <a:r>
              <a:rPr lang="en-GB" dirty="0" err="1"/>
              <a:t>thuộc</a:t>
            </a:r>
            <a:r>
              <a:rPr lang="en-GB" dirty="0"/>
              <a:t> </a:t>
            </a:r>
            <a:r>
              <a:rPr lang="en-GB" dirty="0" err="1"/>
              <a:t>vào</a:t>
            </a:r>
            <a:r>
              <a:rPr lang="en-GB" dirty="0"/>
              <a:t> </a:t>
            </a:r>
            <a:r>
              <a:rPr lang="en-GB" dirty="0" err="1"/>
              <a:t>vị</a:t>
            </a:r>
            <a:r>
              <a:rPr lang="en-GB" dirty="0"/>
              <a:t> </a:t>
            </a:r>
            <a:r>
              <a:rPr lang="en-GB" dirty="0" err="1"/>
              <a:t>trí</a:t>
            </a:r>
            <a:r>
              <a:rPr lang="en-GB" dirty="0"/>
              <a:t> </a:t>
            </a:r>
            <a:r>
              <a:rPr lang="en-GB" dirty="0" err="1"/>
              <a:t>dữ</a:t>
            </a:r>
            <a:r>
              <a:rPr lang="en-GB" dirty="0"/>
              <a:t> </a:t>
            </a:r>
            <a:r>
              <a:rPr lang="en-GB" dirty="0" err="1"/>
              <a:t>liệu</a:t>
            </a:r>
            <a:r>
              <a:rPr lang="en-GB" dirty="0"/>
              <a:t> </a:t>
            </a:r>
            <a:r>
              <a:rPr lang="en-GB" dirty="0" err="1"/>
              <a:t>và</a:t>
            </a:r>
            <a:r>
              <a:rPr lang="en-GB" dirty="0"/>
              <a:t> </a:t>
            </a:r>
            <a:r>
              <a:rPr lang="en-GB" dirty="0" err="1"/>
              <a:t>vị</a:t>
            </a:r>
            <a:r>
              <a:rPr lang="en-GB" dirty="0"/>
              <a:t> </a:t>
            </a:r>
            <a:r>
              <a:rPr lang="en-GB" dirty="0" err="1"/>
              <a:t>trí</a:t>
            </a:r>
            <a:r>
              <a:rPr lang="en-GB" dirty="0"/>
              <a:t> </a:t>
            </a:r>
            <a:r>
              <a:rPr lang="en-GB" dirty="0" err="1"/>
              <a:t>trước</a:t>
            </a:r>
            <a:r>
              <a:rPr lang="en-GB" dirty="0"/>
              <a:t> </a:t>
            </a:r>
            <a:r>
              <a:rPr lang="en-GB" dirty="0" err="1"/>
              <a:t>đó</a:t>
            </a:r>
            <a:endParaRPr lang="en-GB" dirty="0"/>
          </a:p>
          <a:p>
            <a:pPr lvl="1"/>
            <a:r>
              <a:rPr lang="en-GB" dirty="0">
                <a:solidFill>
                  <a:srgbClr val="FF9900"/>
                </a:solidFill>
              </a:rPr>
              <a:t>tape</a:t>
            </a:r>
          </a:p>
        </p:txBody>
      </p:sp>
      <p:sp>
        <p:nvSpPr>
          <p:cNvPr id="155652" name="Rectangle 4"/>
          <p:cNvSpPr>
            <a:spLocks noChangeArrowheads="1"/>
          </p:cNvSpPr>
          <p:nvPr/>
        </p:nvSpPr>
        <p:spPr bwMode="auto">
          <a:xfrm>
            <a:off x="4800600" y="3429000"/>
            <a:ext cx="2514600" cy="2438400"/>
          </a:xfrm>
          <a:prstGeom prst="rect">
            <a:avLst/>
          </a:prstGeom>
          <a:solidFill>
            <a:srgbClr val="EAEAEA"/>
          </a:solidFill>
          <a:ln w="9525">
            <a:solidFill>
              <a:srgbClr val="000000"/>
            </a:solidFill>
            <a:miter lim="800000"/>
            <a:headEnd/>
            <a:tailEnd/>
          </a:ln>
          <a:effectLst/>
        </p:spPr>
        <p:txBody>
          <a:bodyPr wrap="none" anchor="ctr"/>
          <a:lstStyle/>
          <a:p>
            <a:endParaRPr lang="en-US"/>
          </a:p>
        </p:txBody>
      </p:sp>
      <p:sp>
        <p:nvSpPr>
          <p:cNvPr id="155653" name="Rectangle 5"/>
          <p:cNvSpPr>
            <a:spLocks noChangeArrowheads="1"/>
          </p:cNvSpPr>
          <p:nvPr/>
        </p:nvSpPr>
        <p:spPr bwMode="auto">
          <a:xfrm>
            <a:off x="4800600" y="4648200"/>
            <a:ext cx="2514600" cy="304800"/>
          </a:xfrm>
          <a:prstGeom prst="rect">
            <a:avLst/>
          </a:prstGeom>
          <a:solidFill>
            <a:srgbClr val="CCFFFF"/>
          </a:solidFill>
          <a:ln w="9525">
            <a:solidFill>
              <a:srgbClr val="000000"/>
            </a:solidFill>
            <a:miter lim="800000"/>
            <a:headEnd/>
            <a:tailEnd/>
          </a:ln>
          <a:effectLst/>
        </p:spPr>
        <p:txBody>
          <a:bodyPr wrap="none" anchor="ctr"/>
          <a:lstStyle/>
          <a:p>
            <a:pPr algn="ctr"/>
            <a:r>
              <a:rPr lang="en-US" dirty="0"/>
              <a:t>location of interest</a:t>
            </a:r>
          </a:p>
        </p:txBody>
      </p:sp>
      <p:sp>
        <p:nvSpPr>
          <p:cNvPr id="155654" name="Line 6"/>
          <p:cNvSpPr>
            <a:spLocks noChangeShapeType="1"/>
          </p:cNvSpPr>
          <p:nvPr/>
        </p:nvSpPr>
        <p:spPr bwMode="auto">
          <a:xfrm>
            <a:off x="3962400" y="3581400"/>
            <a:ext cx="838200" cy="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55655" name="Text Box 7"/>
          <p:cNvSpPr txBox="1">
            <a:spLocks noChangeArrowheads="1"/>
          </p:cNvSpPr>
          <p:nvPr/>
        </p:nvSpPr>
        <p:spPr bwMode="auto">
          <a:xfrm>
            <a:off x="3167063" y="3352800"/>
            <a:ext cx="942975" cy="457200"/>
          </a:xfrm>
          <a:prstGeom prst="rect">
            <a:avLst/>
          </a:prstGeom>
          <a:noFill/>
          <a:ln w="9525">
            <a:noFill/>
            <a:miter lim="800000"/>
            <a:headEnd/>
            <a:tailEnd/>
          </a:ln>
          <a:effectLst/>
        </p:spPr>
        <p:txBody>
          <a:bodyPr>
            <a:spAutoFit/>
          </a:bodyPr>
          <a:lstStyle/>
          <a:p>
            <a:pPr algn="ctr">
              <a:spcBef>
                <a:spcPct val="50000"/>
              </a:spcBef>
            </a:pPr>
            <a:r>
              <a:rPr lang="en-US" dirty="0"/>
              <a:t>start</a:t>
            </a:r>
          </a:p>
        </p:txBody>
      </p:sp>
      <p:sp>
        <p:nvSpPr>
          <p:cNvPr id="155656" name="Line 8"/>
          <p:cNvSpPr>
            <a:spLocks noChangeShapeType="1"/>
          </p:cNvSpPr>
          <p:nvPr/>
        </p:nvSpPr>
        <p:spPr bwMode="auto">
          <a:xfrm>
            <a:off x="4343400" y="3581400"/>
            <a:ext cx="0" cy="121920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55657" name="Text Box 9"/>
          <p:cNvSpPr txBox="1">
            <a:spLocks noChangeArrowheads="1"/>
          </p:cNvSpPr>
          <p:nvPr/>
        </p:nvSpPr>
        <p:spPr bwMode="auto">
          <a:xfrm>
            <a:off x="2438400" y="4572000"/>
            <a:ext cx="1676400" cy="457200"/>
          </a:xfrm>
          <a:prstGeom prst="rect">
            <a:avLst/>
          </a:prstGeom>
          <a:noFill/>
          <a:ln w="9525">
            <a:noFill/>
            <a:miter lim="800000"/>
            <a:headEnd/>
            <a:tailEnd/>
          </a:ln>
          <a:effectLst/>
        </p:spPr>
        <p:txBody>
          <a:bodyPr>
            <a:spAutoFit/>
          </a:bodyPr>
          <a:lstStyle/>
          <a:p>
            <a:pPr algn="ctr"/>
            <a:r>
              <a:rPr lang="en-US"/>
              <a:t>read to here</a:t>
            </a:r>
          </a:p>
        </p:txBody>
      </p:sp>
      <p:sp>
        <p:nvSpPr>
          <p:cNvPr id="155658" name="Text Box 10"/>
          <p:cNvSpPr txBox="1">
            <a:spLocks noChangeArrowheads="1"/>
          </p:cNvSpPr>
          <p:nvPr/>
        </p:nvSpPr>
        <p:spPr bwMode="auto">
          <a:xfrm rot="5400000">
            <a:off x="5771357" y="3920334"/>
            <a:ext cx="739774" cy="519112"/>
          </a:xfrm>
          <a:prstGeom prst="rect">
            <a:avLst/>
          </a:prstGeom>
          <a:noFill/>
          <a:ln w="9525">
            <a:noFill/>
            <a:miter lim="800000"/>
            <a:headEnd/>
            <a:tailEnd/>
          </a:ln>
          <a:effectLst/>
        </p:spPr>
        <p:txBody>
          <a:bodyPr wrap="square">
            <a:spAutoFit/>
          </a:bodyPr>
          <a:lstStyle/>
          <a:p>
            <a:pPr algn="ctr">
              <a:spcBef>
                <a:spcPct val="50000"/>
              </a:spcBef>
            </a:pPr>
            <a:r>
              <a:rPr lang="en-US" sz="2800" dirty="0"/>
              <a:t>. . .</a:t>
            </a:r>
          </a:p>
        </p:txBody>
      </p:sp>
      <p:sp>
        <p:nvSpPr>
          <p:cNvPr id="155659" name="Rectangle 11"/>
          <p:cNvSpPr>
            <a:spLocks noChangeArrowheads="1"/>
          </p:cNvSpPr>
          <p:nvPr/>
        </p:nvSpPr>
        <p:spPr bwMode="auto">
          <a:xfrm>
            <a:off x="4800600" y="3429000"/>
            <a:ext cx="2514600" cy="304800"/>
          </a:xfrm>
          <a:prstGeom prst="rect">
            <a:avLst/>
          </a:prstGeom>
          <a:solidFill>
            <a:srgbClr val="CCFFFF"/>
          </a:solidFill>
          <a:ln w="9525">
            <a:solidFill>
              <a:srgbClr val="000000"/>
            </a:solidFill>
            <a:miter lim="800000"/>
            <a:headEnd/>
            <a:tailEnd/>
          </a:ln>
          <a:effectLst/>
        </p:spPr>
        <p:txBody>
          <a:bodyPr wrap="none" anchor="ctr"/>
          <a:lstStyle/>
          <a:p>
            <a:pPr algn="ctr"/>
            <a:r>
              <a:rPr lang="en-US"/>
              <a:t>first location</a:t>
            </a:r>
          </a:p>
        </p:txBody>
      </p:sp>
      <p:sp>
        <p:nvSpPr>
          <p:cNvPr id="155660" name="Line 12"/>
          <p:cNvSpPr>
            <a:spLocks noChangeShapeType="1"/>
          </p:cNvSpPr>
          <p:nvPr/>
        </p:nvSpPr>
        <p:spPr bwMode="auto">
          <a:xfrm>
            <a:off x="4233863" y="3962400"/>
            <a:ext cx="228600" cy="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55661" name="Line 13"/>
          <p:cNvSpPr>
            <a:spLocks noChangeShapeType="1"/>
          </p:cNvSpPr>
          <p:nvPr/>
        </p:nvSpPr>
        <p:spPr bwMode="auto">
          <a:xfrm>
            <a:off x="4224338" y="4191000"/>
            <a:ext cx="228600" cy="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55662" name="Line 14"/>
          <p:cNvSpPr>
            <a:spLocks noChangeShapeType="1"/>
          </p:cNvSpPr>
          <p:nvPr/>
        </p:nvSpPr>
        <p:spPr bwMode="auto">
          <a:xfrm>
            <a:off x="4233863" y="4419600"/>
            <a:ext cx="228600" cy="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55663" name="Line 15"/>
          <p:cNvSpPr>
            <a:spLocks noChangeShapeType="1"/>
          </p:cNvSpPr>
          <p:nvPr/>
        </p:nvSpPr>
        <p:spPr bwMode="auto">
          <a:xfrm>
            <a:off x="4191000" y="4800600"/>
            <a:ext cx="609600" cy="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6" name="Text Box 7"/>
          <p:cNvSpPr txBox="1">
            <a:spLocks noChangeArrowheads="1"/>
          </p:cNvSpPr>
          <p:nvPr/>
        </p:nvSpPr>
        <p:spPr bwMode="auto">
          <a:xfrm>
            <a:off x="7848600" y="3810000"/>
            <a:ext cx="942975" cy="369332"/>
          </a:xfrm>
          <a:prstGeom prst="rect">
            <a:avLst/>
          </a:prstGeom>
          <a:noFill/>
          <a:ln w="9525">
            <a:noFill/>
            <a:miter lim="800000"/>
            <a:headEnd/>
            <a:tailEnd/>
          </a:ln>
          <a:effectLst/>
        </p:spPr>
        <p:txBody>
          <a:bodyPr>
            <a:spAutoFit/>
          </a:bodyPr>
          <a:lstStyle/>
          <a:p>
            <a:pPr algn="ctr">
              <a:spcBef>
                <a:spcPct val="50000"/>
              </a:spcBef>
            </a:pPr>
            <a:r>
              <a:rPr lang="en-US" dirty="0" err="1"/>
              <a:t>bản</a:t>
            </a:r>
            <a:r>
              <a:rPr lang="en-US" dirty="0"/>
              <a:t> </a:t>
            </a:r>
            <a:r>
              <a:rPr lang="en-US" dirty="0" err="1"/>
              <a:t>ghi</a:t>
            </a:r>
            <a:endParaRPr lang="en-US" dirty="0"/>
          </a:p>
        </p:txBody>
      </p:sp>
      <p:cxnSp>
        <p:nvCxnSpPr>
          <p:cNvPr id="18" name="Straight Arrow Connector 17"/>
          <p:cNvCxnSpPr>
            <a:stCxn id="16" idx="1"/>
          </p:cNvCxnSpPr>
          <p:nvPr/>
        </p:nvCxnSpPr>
        <p:spPr>
          <a:xfrm rot="10800000">
            <a:off x="7086600" y="3505200"/>
            <a:ext cx="762000" cy="4894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6" idx="1"/>
          </p:cNvCxnSpPr>
          <p:nvPr/>
        </p:nvCxnSpPr>
        <p:spPr>
          <a:xfrm rot="10800000" flipV="1">
            <a:off x="7086600" y="3994666"/>
            <a:ext cx="762000" cy="8821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r>
              <a:rPr lang="en-US" dirty="0" err="1"/>
              <a:t>Phương</a:t>
            </a:r>
            <a:r>
              <a:rPr lang="en-US" dirty="0"/>
              <a:t> </a:t>
            </a:r>
            <a:r>
              <a:rPr lang="en-US" dirty="0" err="1"/>
              <a:t>thức</a:t>
            </a:r>
            <a:r>
              <a:rPr lang="en-US" dirty="0"/>
              <a:t> </a:t>
            </a:r>
            <a:r>
              <a:rPr lang="en-US" dirty="0" err="1"/>
              <a:t>truy</a:t>
            </a:r>
            <a:r>
              <a:rPr lang="en-US" dirty="0"/>
              <a:t> </a:t>
            </a:r>
            <a:r>
              <a:rPr lang="en-US" dirty="0" err="1"/>
              <a:t>cập</a:t>
            </a:r>
            <a:r>
              <a:rPr lang="en-US" dirty="0"/>
              <a:t> </a:t>
            </a:r>
            <a:r>
              <a:rPr lang="en-US" dirty="0" err="1"/>
              <a:t>trực</a:t>
            </a:r>
            <a:r>
              <a:rPr lang="en-US" dirty="0"/>
              <a:t> </a:t>
            </a:r>
            <a:r>
              <a:rPr lang="en-US" dirty="0" err="1"/>
              <a:t>tiếp</a:t>
            </a:r>
            <a:endParaRPr lang="en-US" dirty="0"/>
          </a:p>
        </p:txBody>
      </p:sp>
      <p:sp>
        <p:nvSpPr>
          <p:cNvPr id="157699" name="Rectangle 3"/>
          <p:cNvSpPr>
            <a:spLocks noGrp="1" noChangeArrowheads="1"/>
          </p:cNvSpPr>
          <p:nvPr>
            <p:ph sz="quarter" idx="1"/>
          </p:nvPr>
        </p:nvSpPr>
        <p:spPr>
          <a:xfrm>
            <a:off x="609600" y="1676400"/>
            <a:ext cx="7772400" cy="2209800"/>
          </a:xfrm>
          <a:ln/>
        </p:spPr>
        <p:txBody>
          <a:bodyPr>
            <a:normAutofit fontScale="92500" lnSpcReduction="10000"/>
          </a:bodyPr>
          <a:lstStyle/>
          <a:p>
            <a:r>
              <a:rPr lang="en-GB" sz="2400" dirty="0" err="1"/>
              <a:t>Các</a:t>
            </a:r>
            <a:r>
              <a:rPr lang="en-GB" sz="2400" dirty="0"/>
              <a:t> </a:t>
            </a:r>
            <a:r>
              <a:rPr lang="en-GB" sz="2400" dirty="0" err="1"/>
              <a:t>khối</a:t>
            </a:r>
            <a:r>
              <a:rPr lang="en-GB" sz="2400" dirty="0"/>
              <a:t> </a:t>
            </a:r>
            <a:r>
              <a:rPr lang="en-GB" sz="2400" dirty="0" err="1"/>
              <a:t>dữ</a:t>
            </a:r>
            <a:r>
              <a:rPr lang="en-GB" sz="2400" dirty="0"/>
              <a:t> </a:t>
            </a:r>
            <a:r>
              <a:rPr lang="en-GB" sz="2400" dirty="0" err="1"/>
              <a:t>liệu</a:t>
            </a:r>
            <a:r>
              <a:rPr lang="en-GB" sz="2400" dirty="0"/>
              <a:t> </a:t>
            </a:r>
            <a:r>
              <a:rPr lang="en-GB" sz="2400" dirty="0" err="1"/>
              <a:t>riêng</a:t>
            </a:r>
            <a:r>
              <a:rPr lang="en-GB" sz="2400" dirty="0"/>
              <a:t> </a:t>
            </a:r>
            <a:r>
              <a:rPr lang="en-GB" sz="2400" dirty="0" err="1"/>
              <a:t>có</a:t>
            </a:r>
            <a:r>
              <a:rPr lang="en-GB" sz="2400" dirty="0"/>
              <a:t> </a:t>
            </a:r>
            <a:r>
              <a:rPr lang="en-GB" sz="2400" dirty="0" err="1"/>
              <a:t>địa</a:t>
            </a:r>
            <a:r>
              <a:rPr lang="en-GB" sz="2400" dirty="0"/>
              <a:t> </a:t>
            </a:r>
            <a:r>
              <a:rPr lang="en-GB" sz="2400" dirty="0" err="1"/>
              <a:t>chỉ</a:t>
            </a:r>
            <a:r>
              <a:rPr lang="en-GB" sz="2400" dirty="0"/>
              <a:t> </a:t>
            </a:r>
            <a:r>
              <a:rPr lang="en-GB" sz="2400" dirty="0" err="1"/>
              <a:t>duy</a:t>
            </a:r>
            <a:r>
              <a:rPr lang="en-GB" sz="2400" dirty="0"/>
              <a:t> </a:t>
            </a:r>
            <a:r>
              <a:rPr lang="en-GB" sz="2400" dirty="0" err="1"/>
              <a:t>nhất</a:t>
            </a:r>
            <a:endParaRPr lang="en-GB" sz="2400" dirty="0"/>
          </a:p>
          <a:p>
            <a:r>
              <a:rPr lang="en-GB" sz="2400" dirty="0" err="1"/>
              <a:t>Truy</a:t>
            </a:r>
            <a:r>
              <a:rPr lang="en-GB" sz="2400" dirty="0"/>
              <a:t> </a:t>
            </a:r>
            <a:r>
              <a:rPr lang="en-GB" sz="2400" dirty="0" err="1"/>
              <a:t>xuất</a:t>
            </a:r>
            <a:r>
              <a:rPr lang="en-GB" sz="2400" dirty="0"/>
              <a:t> </a:t>
            </a:r>
            <a:r>
              <a:rPr lang="en-GB" sz="2400" dirty="0" err="1"/>
              <a:t>bằng</a:t>
            </a:r>
            <a:r>
              <a:rPr lang="en-GB" sz="2400" dirty="0"/>
              <a:t> </a:t>
            </a:r>
            <a:r>
              <a:rPr lang="en-GB" sz="2400" dirty="0" err="1"/>
              <a:t>cách</a:t>
            </a:r>
            <a:r>
              <a:rPr lang="en-GB" sz="2400" dirty="0"/>
              <a:t>:</a:t>
            </a:r>
          </a:p>
          <a:p>
            <a:pPr lvl="1"/>
            <a:r>
              <a:rPr lang="en-GB" sz="2100" dirty="0" err="1"/>
              <a:t>nhảy</a:t>
            </a:r>
            <a:r>
              <a:rPr lang="en-GB" sz="2100" dirty="0"/>
              <a:t> </a:t>
            </a:r>
            <a:r>
              <a:rPr lang="en-GB" sz="2100" dirty="0" err="1"/>
              <a:t>đến</a:t>
            </a:r>
            <a:r>
              <a:rPr lang="en-GB" sz="2100" dirty="0"/>
              <a:t> </a:t>
            </a:r>
            <a:r>
              <a:rPr lang="en-GB" sz="2100" dirty="0" err="1"/>
              <a:t>vùng</a:t>
            </a:r>
            <a:r>
              <a:rPr lang="en-GB" sz="2100" dirty="0"/>
              <a:t> </a:t>
            </a:r>
            <a:r>
              <a:rPr lang="en-GB" sz="2100" dirty="0" err="1"/>
              <a:t>kế</a:t>
            </a:r>
            <a:r>
              <a:rPr lang="en-GB" sz="2100" dirty="0"/>
              <a:t> </a:t>
            </a:r>
            <a:r>
              <a:rPr lang="en-GB" sz="2100" dirty="0" err="1"/>
              <a:t>cận</a:t>
            </a:r>
            <a:r>
              <a:rPr lang="en-GB" sz="2100" dirty="0"/>
              <a:t> </a:t>
            </a:r>
          </a:p>
          <a:p>
            <a:pPr lvl="1"/>
            <a:r>
              <a:rPr lang="en-GB" sz="2100" dirty="0" err="1"/>
              <a:t>tìm</a:t>
            </a:r>
            <a:r>
              <a:rPr lang="en-GB" sz="2100" dirty="0"/>
              <a:t> </a:t>
            </a:r>
            <a:r>
              <a:rPr lang="en-GB" sz="2100" dirty="0" err="1"/>
              <a:t>kiếm</a:t>
            </a:r>
            <a:r>
              <a:rPr lang="en-GB" sz="2100" dirty="0"/>
              <a:t> </a:t>
            </a:r>
            <a:r>
              <a:rPr lang="en-GB" sz="2100" dirty="0" err="1"/>
              <a:t>tuần</a:t>
            </a:r>
            <a:r>
              <a:rPr lang="en-GB" sz="2100" dirty="0"/>
              <a:t> </a:t>
            </a:r>
            <a:r>
              <a:rPr lang="en-GB" sz="2100" dirty="0" err="1"/>
              <a:t>tự</a:t>
            </a:r>
            <a:r>
              <a:rPr lang="en-GB" sz="2100" dirty="0"/>
              <a:t> ( </a:t>
            </a:r>
            <a:r>
              <a:rPr lang="en-GB" sz="2100" dirty="0" err="1"/>
              <a:t>hoặc</a:t>
            </a:r>
            <a:r>
              <a:rPr lang="en-GB" sz="2100" dirty="0"/>
              <a:t> </a:t>
            </a:r>
            <a:r>
              <a:rPr lang="en-GB" sz="2100" dirty="0" err="1"/>
              <a:t>đợi</a:t>
            </a:r>
            <a:r>
              <a:rPr lang="en-GB" sz="2100" dirty="0"/>
              <a:t>, </a:t>
            </a:r>
            <a:r>
              <a:rPr lang="en-GB" sz="2100" dirty="0" err="1"/>
              <a:t>ví</a:t>
            </a:r>
            <a:r>
              <a:rPr lang="en-GB" sz="2100" dirty="0"/>
              <a:t> </a:t>
            </a:r>
            <a:r>
              <a:rPr lang="en-GB" sz="2100" dirty="0" err="1"/>
              <a:t>dụ</a:t>
            </a:r>
            <a:r>
              <a:rPr lang="en-GB" sz="2100" dirty="0"/>
              <a:t> </a:t>
            </a:r>
            <a:r>
              <a:rPr lang="en-GB" sz="2100" dirty="0" err="1"/>
              <a:t>như</a:t>
            </a:r>
            <a:r>
              <a:rPr lang="en-GB" sz="2100" dirty="0"/>
              <a:t> </a:t>
            </a:r>
            <a:r>
              <a:rPr lang="en-GB" sz="2100" dirty="0" err="1"/>
              <a:t>đợi</a:t>
            </a:r>
            <a:r>
              <a:rPr lang="en-GB" sz="2100" dirty="0"/>
              <a:t> </a:t>
            </a:r>
            <a:r>
              <a:rPr lang="en-GB" sz="2100" dirty="0" err="1"/>
              <a:t>đĩa</a:t>
            </a:r>
            <a:r>
              <a:rPr lang="en-GB" sz="2100" dirty="0"/>
              <a:t> quay)</a:t>
            </a:r>
          </a:p>
          <a:p>
            <a:r>
              <a:rPr lang="en-GB" sz="2400" dirty="0"/>
              <a:t>Access time </a:t>
            </a:r>
            <a:r>
              <a:rPr lang="en-GB" sz="2400" dirty="0" err="1"/>
              <a:t>phụ</a:t>
            </a:r>
            <a:r>
              <a:rPr lang="en-GB" sz="2400" dirty="0"/>
              <a:t> </a:t>
            </a:r>
            <a:r>
              <a:rPr lang="en-GB" sz="2400" dirty="0" err="1"/>
              <a:t>thuộc</a:t>
            </a:r>
            <a:r>
              <a:rPr lang="en-GB" sz="2400" dirty="0"/>
              <a:t> </a:t>
            </a:r>
            <a:r>
              <a:rPr lang="en-GB" sz="2400" dirty="0" err="1"/>
              <a:t>vào</a:t>
            </a:r>
            <a:r>
              <a:rPr lang="en-GB" sz="2400" dirty="0"/>
              <a:t> </a:t>
            </a:r>
            <a:r>
              <a:rPr lang="en-GB" sz="2400" dirty="0" err="1"/>
              <a:t>vị</a:t>
            </a:r>
            <a:r>
              <a:rPr lang="en-GB" sz="2400" dirty="0"/>
              <a:t> </a:t>
            </a:r>
            <a:r>
              <a:rPr lang="en-GB" sz="2400" dirty="0" err="1"/>
              <a:t>trí</a:t>
            </a:r>
            <a:r>
              <a:rPr lang="en-GB" sz="2400" dirty="0"/>
              <a:t> </a:t>
            </a:r>
            <a:r>
              <a:rPr lang="en-GB" sz="2400" dirty="0" err="1"/>
              <a:t>đích</a:t>
            </a:r>
            <a:r>
              <a:rPr lang="en-GB" sz="2400" dirty="0"/>
              <a:t> </a:t>
            </a:r>
            <a:r>
              <a:rPr lang="en-GB" sz="2400" dirty="0" err="1"/>
              <a:t>và</a:t>
            </a:r>
            <a:r>
              <a:rPr lang="en-GB" sz="2400" dirty="0"/>
              <a:t> </a:t>
            </a:r>
            <a:r>
              <a:rPr lang="en-GB" sz="2400" dirty="0" err="1"/>
              <a:t>vị</a:t>
            </a:r>
            <a:r>
              <a:rPr lang="en-GB" sz="2400" dirty="0"/>
              <a:t> </a:t>
            </a:r>
            <a:r>
              <a:rPr lang="en-GB" sz="2400" dirty="0" err="1"/>
              <a:t>trí</a:t>
            </a:r>
            <a:r>
              <a:rPr lang="en-GB" sz="2400" dirty="0"/>
              <a:t> </a:t>
            </a:r>
            <a:r>
              <a:rPr lang="en-GB" sz="2400" dirty="0" err="1"/>
              <a:t>trước</a:t>
            </a:r>
            <a:r>
              <a:rPr lang="en-GB" sz="2400" dirty="0"/>
              <a:t> </a:t>
            </a:r>
            <a:r>
              <a:rPr lang="en-GB" sz="2400" dirty="0" err="1"/>
              <a:t>đó</a:t>
            </a:r>
            <a:endParaRPr lang="en-GB" sz="2400" dirty="0"/>
          </a:p>
          <a:p>
            <a:pPr lvl="1"/>
            <a:r>
              <a:rPr lang="en-GB" sz="2100" dirty="0">
                <a:solidFill>
                  <a:srgbClr val="FF9900"/>
                </a:solidFill>
              </a:rPr>
              <a:t>disk</a:t>
            </a:r>
            <a:endParaRPr lang="en-US" sz="2100" dirty="0">
              <a:solidFill>
                <a:srgbClr val="FF9900"/>
              </a:solidFill>
            </a:endParaRPr>
          </a:p>
        </p:txBody>
      </p:sp>
      <p:sp>
        <p:nvSpPr>
          <p:cNvPr id="157700" name="Rectangle 4"/>
          <p:cNvSpPr>
            <a:spLocks noChangeArrowheads="1"/>
          </p:cNvSpPr>
          <p:nvPr/>
        </p:nvSpPr>
        <p:spPr bwMode="auto">
          <a:xfrm>
            <a:off x="4191000" y="3886200"/>
            <a:ext cx="3352800" cy="2590800"/>
          </a:xfrm>
          <a:prstGeom prst="rect">
            <a:avLst/>
          </a:prstGeom>
          <a:solidFill>
            <a:srgbClr val="EAEAEA"/>
          </a:solidFill>
          <a:ln w="19050">
            <a:solidFill>
              <a:srgbClr val="000000"/>
            </a:solidFill>
            <a:miter lim="800000"/>
            <a:headEnd/>
            <a:tailEnd/>
          </a:ln>
          <a:effectLst/>
        </p:spPr>
        <p:txBody>
          <a:bodyPr wrap="none" anchor="ctr"/>
          <a:lstStyle/>
          <a:p>
            <a:endParaRPr lang="en-US"/>
          </a:p>
        </p:txBody>
      </p:sp>
      <p:sp>
        <p:nvSpPr>
          <p:cNvPr id="157701" name="Rectangle 5"/>
          <p:cNvSpPr>
            <a:spLocks noChangeArrowheads="1"/>
          </p:cNvSpPr>
          <p:nvPr/>
        </p:nvSpPr>
        <p:spPr bwMode="auto">
          <a:xfrm>
            <a:off x="4191000" y="5181600"/>
            <a:ext cx="3352800" cy="762000"/>
          </a:xfrm>
          <a:prstGeom prst="rect">
            <a:avLst/>
          </a:prstGeom>
          <a:solidFill>
            <a:srgbClr val="FFFF99"/>
          </a:solidFill>
          <a:ln w="9525">
            <a:solidFill>
              <a:srgbClr val="FF0000"/>
            </a:solidFill>
            <a:miter lim="800000"/>
            <a:headEnd/>
            <a:tailEnd/>
          </a:ln>
          <a:effectLst/>
        </p:spPr>
        <p:txBody>
          <a:bodyPr wrap="none" anchor="ctr"/>
          <a:lstStyle/>
          <a:p>
            <a:pPr algn="ctr"/>
            <a:r>
              <a:rPr lang="en-US">
                <a:solidFill>
                  <a:srgbClr val="FF0000"/>
                </a:solidFill>
              </a:rPr>
              <a:t>block i</a:t>
            </a:r>
          </a:p>
        </p:txBody>
      </p:sp>
      <p:sp>
        <p:nvSpPr>
          <p:cNvPr id="157702" name="Text Box 6"/>
          <p:cNvSpPr txBox="1">
            <a:spLocks noChangeArrowheads="1"/>
          </p:cNvSpPr>
          <p:nvPr/>
        </p:nvSpPr>
        <p:spPr bwMode="auto">
          <a:xfrm rot="5400000">
            <a:off x="5490368" y="4263231"/>
            <a:ext cx="815975" cy="519113"/>
          </a:xfrm>
          <a:prstGeom prst="rect">
            <a:avLst/>
          </a:prstGeom>
          <a:noFill/>
          <a:ln w="9525">
            <a:noFill/>
            <a:miter lim="800000"/>
            <a:headEnd/>
            <a:tailEnd/>
          </a:ln>
          <a:effectLst/>
        </p:spPr>
        <p:txBody>
          <a:bodyPr wrap="square">
            <a:spAutoFit/>
          </a:bodyPr>
          <a:lstStyle/>
          <a:p>
            <a:pPr algn="ctr">
              <a:spcBef>
                <a:spcPct val="50000"/>
              </a:spcBef>
            </a:pPr>
            <a:r>
              <a:rPr lang="en-US" sz="2800" dirty="0"/>
              <a:t>. . .</a:t>
            </a:r>
          </a:p>
        </p:txBody>
      </p:sp>
      <p:sp>
        <p:nvSpPr>
          <p:cNvPr id="157703" name="Text Box 7"/>
          <p:cNvSpPr txBox="1">
            <a:spLocks noChangeArrowheads="1"/>
          </p:cNvSpPr>
          <p:nvPr/>
        </p:nvSpPr>
        <p:spPr bwMode="auto">
          <a:xfrm>
            <a:off x="1828800" y="4953000"/>
            <a:ext cx="1828800" cy="457200"/>
          </a:xfrm>
          <a:prstGeom prst="rect">
            <a:avLst/>
          </a:prstGeom>
          <a:noFill/>
          <a:ln w="9525">
            <a:noFill/>
            <a:miter lim="800000"/>
            <a:headEnd/>
            <a:tailEnd/>
          </a:ln>
          <a:effectLst/>
        </p:spPr>
        <p:txBody>
          <a:bodyPr>
            <a:spAutoFit/>
          </a:bodyPr>
          <a:lstStyle/>
          <a:p>
            <a:pPr algn="ctr"/>
            <a:r>
              <a:rPr lang="en-US"/>
              <a:t>jump to here</a:t>
            </a:r>
          </a:p>
        </p:txBody>
      </p:sp>
      <p:sp>
        <p:nvSpPr>
          <p:cNvPr id="157704" name="Line 8"/>
          <p:cNvSpPr>
            <a:spLocks noChangeShapeType="1"/>
          </p:cNvSpPr>
          <p:nvPr/>
        </p:nvSpPr>
        <p:spPr bwMode="auto">
          <a:xfrm>
            <a:off x="3581400" y="5181600"/>
            <a:ext cx="609600" cy="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57705" name="Text Box 9"/>
          <p:cNvSpPr txBox="1">
            <a:spLocks noChangeArrowheads="1"/>
          </p:cNvSpPr>
          <p:nvPr/>
        </p:nvSpPr>
        <p:spPr bwMode="auto">
          <a:xfrm>
            <a:off x="2038350" y="5529263"/>
            <a:ext cx="1676400" cy="457200"/>
          </a:xfrm>
          <a:prstGeom prst="rect">
            <a:avLst/>
          </a:prstGeom>
          <a:noFill/>
          <a:ln w="9525">
            <a:noFill/>
            <a:miter lim="800000"/>
            <a:headEnd/>
            <a:tailEnd/>
          </a:ln>
          <a:effectLst/>
        </p:spPr>
        <p:txBody>
          <a:bodyPr>
            <a:spAutoFit/>
          </a:bodyPr>
          <a:lstStyle/>
          <a:p>
            <a:pPr algn="ctr"/>
            <a:r>
              <a:rPr lang="en-US"/>
              <a:t>read to here</a:t>
            </a:r>
          </a:p>
        </p:txBody>
      </p:sp>
      <p:sp>
        <p:nvSpPr>
          <p:cNvPr id="157706" name="Line 10"/>
          <p:cNvSpPr>
            <a:spLocks noChangeShapeType="1"/>
          </p:cNvSpPr>
          <p:nvPr/>
        </p:nvSpPr>
        <p:spPr bwMode="auto">
          <a:xfrm>
            <a:off x="3657600" y="5791200"/>
            <a:ext cx="533400" cy="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57707" name="Line 11"/>
          <p:cNvSpPr>
            <a:spLocks noChangeShapeType="1"/>
          </p:cNvSpPr>
          <p:nvPr/>
        </p:nvSpPr>
        <p:spPr bwMode="auto">
          <a:xfrm>
            <a:off x="3886200" y="5181600"/>
            <a:ext cx="0" cy="60960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57708" name="Rectangle 12"/>
          <p:cNvSpPr>
            <a:spLocks noChangeArrowheads="1"/>
          </p:cNvSpPr>
          <p:nvPr/>
        </p:nvSpPr>
        <p:spPr bwMode="auto">
          <a:xfrm>
            <a:off x="4191000" y="5710238"/>
            <a:ext cx="3352800" cy="152400"/>
          </a:xfrm>
          <a:prstGeom prst="rect">
            <a:avLst/>
          </a:prstGeom>
          <a:solidFill>
            <a:srgbClr val="CCFFFF"/>
          </a:solidFill>
          <a:ln w="9525">
            <a:solidFill>
              <a:srgbClr val="000000"/>
            </a:solidFill>
            <a:miter lim="800000"/>
            <a:headEnd/>
            <a:tailEnd/>
          </a:ln>
          <a:effectLst/>
        </p:spPr>
        <p:txBody>
          <a:bodyPr wrap="none" anchor="ctr"/>
          <a:lstStyle/>
          <a:p>
            <a:endParaRPr lang="en-US"/>
          </a:p>
        </p:txBody>
      </p:sp>
      <p:sp>
        <p:nvSpPr>
          <p:cNvPr id="157709" name="Line 13"/>
          <p:cNvSpPr>
            <a:spLocks noChangeShapeType="1"/>
          </p:cNvSpPr>
          <p:nvPr/>
        </p:nvSpPr>
        <p:spPr bwMode="auto">
          <a:xfrm>
            <a:off x="3781425" y="5334000"/>
            <a:ext cx="228600" cy="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57710" name="Line 14"/>
          <p:cNvSpPr>
            <a:spLocks noChangeShapeType="1"/>
          </p:cNvSpPr>
          <p:nvPr/>
        </p:nvSpPr>
        <p:spPr bwMode="auto">
          <a:xfrm>
            <a:off x="3781425" y="5486400"/>
            <a:ext cx="228600" cy="0"/>
          </a:xfrm>
          <a:prstGeom prst="line">
            <a:avLst/>
          </a:prstGeom>
          <a:noFill/>
          <a:ln w="9525">
            <a:solidFill>
              <a:srgbClr val="000000"/>
            </a:solidFill>
            <a:round/>
            <a:headEnd/>
            <a:tailEnd type="triangle" w="med" len="med"/>
          </a:ln>
          <a:effectLst/>
        </p:spPr>
        <p:txBody>
          <a:bodyPr wrap="none" anchor="ct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normAutofit/>
          </a:bodyPr>
          <a:lstStyle/>
          <a:p>
            <a:r>
              <a:rPr lang="en-GB" dirty="0" err="1"/>
              <a:t>Phương</a:t>
            </a:r>
            <a:r>
              <a:rPr lang="en-GB" dirty="0"/>
              <a:t> </a:t>
            </a:r>
            <a:r>
              <a:rPr lang="en-GB" dirty="0" err="1"/>
              <a:t>thức</a:t>
            </a:r>
            <a:r>
              <a:rPr lang="en-GB" dirty="0"/>
              <a:t> </a:t>
            </a:r>
            <a:r>
              <a:rPr lang="en-GB" dirty="0" err="1"/>
              <a:t>truy</a:t>
            </a:r>
            <a:r>
              <a:rPr lang="en-GB" dirty="0"/>
              <a:t> </a:t>
            </a:r>
            <a:r>
              <a:rPr lang="en-GB" dirty="0" err="1"/>
              <a:t>cập</a:t>
            </a:r>
            <a:r>
              <a:rPr lang="en-GB" dirty="0"/>
              <a:t> </a:t>
            </a:r>
            <a:r>
              <a:rPr lang="en-GB" dirty="0" err="1"/>
              <a:t>ngẫu</a:t>
            </a:r>
            <a:r>
              <a:rPr lang="en-GB" dirty="0"/>
              <a:t> </a:t>
            </a:r>
            <a:r>
              <a:rPr lang="en-GB" dirty="0" err="1"/>
              <a:t>nhiên</a:t>
            </a:r>
            <a:endParaRPr lang="en-GB" dirty="0"/>
          </a:p>
        </p:txBody>
      </p:sp>
      <p:sp>
        <p:nvSpPr>
          <p:cNvPr id="158723" name="Rectangle 3"/>
          <p:cNvSpPr>
            <a:spLocks noGrp="1" noChangeArrowheads="1"/>
          </p:cNvSpPr>
          <p:nvPr>
            <p:ph sz="quarter" idx="1"/>
          </p:nvPr>
        </p:nvSpPr>
        <p:spPr>
          <a:xfrm>
            <a:off x="609600" y="1600200"/>
            <a:ext cx="7772400" cy="4206875"/>
          </a:xfrm>
          <a:ln/>
        </p:spPr>
        <p:txBody>
          <a:bodyPr/>
          <a:lstStyle/>
          <a:p>
            <a:r>
              <a:rPr lang="en-GB" dirty="0" err="1"/>
              <a:t>Các</a:t>
            </a:r>
            <a:r>
              <a:rPr lang="en-GB" dirty="0"/>
              <a:t> </a:t>
            </a:r>
            <a:r>
              <a:rPr lang="en-GB" dirty="0" err="1"/>
              <a:t>địa</a:t>
            </a:r>
            <a:r>
              <a:rPr lang="en-GB" dirty="0"/>
              <a:t> </a:t>
            </a:r>
            <a:r>
              <a:rPr lang="en-GB" dirty="0" err="1"/>
              <a:t>chỉ</a:t>
            </a:r>
            <a:r>
              <a:rPr lang="en-GB" dirty="0"/>
              <a:t> </a:t>
            </a:r>
            <a:r>
              <a:rPr lang="en-GB" dirty="0" err="1"/>
              <a:t>riêng</a:t>
            </a:r>
            <a:r>
              <a:rPr lang="en-GB" dirty="0"/>
              <a:t> </a:t>
            </a:r>
            <a:r>
              <a:rPr lang="en-GB" dirty="0" err="1"/>
              <a:t>xác</a:t>
            </a:r>
            <a:r>
              <a:rPr lang="en-GB" dirty="0"/>
              <a:t> </a:t>
            </a:r>
            <a:r>
              <a:rPr lang="en-GB" dirty="0" err="1"/>
              <a:t>định</a:t>
            </a:r>
            <a:r>
              <a:rPr lang="en-GB" dirty="0"/>
              <a:t> </a:t>
            </a:r>
            <a:r>
              <a:rPr lang="en-GB" dirty="0" err="1"/>
              <a:t>các</a:t>
            </a:r>
            <a:r>
              <a:rPr lang="en-GB" dirty="0"/>
              <a:t> </a:t>
            </a:r>
            <a:r>
              <a:rPr lang="en-GB" dirty="0" err="1"/>
              <a:t>vị</a:t>
            </a:r>
            <a:r>
              <a:rPr lang="en-GB" dirty="0"/>
              <a:t> </a:t>
            </a:r>
            <a:r>
              <a:rPr lang="en-GB" dirty="0" err="1"/>
              <a:t>trí</a:t>
            </a:r>
            <a:r>
              <a:rPr lang="en-GB" dirty="0"/>
              <a:t> </a:t>
            </a:r>
            <a:r>
              <a:rPr lang="en-GB" dirty="0" err="1"/>
              <a:t>cụ</a:t>
            </a:r>
            <a:r>
              <a:rPr lang="en-GB" dirty="0"/>
              <a:t> </a:t>
            </a:r>
            <a:r>
              <a:rPr lang="en-GB" dirty="0" err="1"/>
              <a:t>thể</a:t>
            </a:r>
            <a:endParaRPr lang="en-GB" dirty="0"/>
          </a:p>
          <a:p>
            <a:r>
              <a:rPr lang="en-GB" dirty="0"/>
              <a:t>Access time </a:t>
            </a:r>
            <a:r>
              <a:rPr lang="en-GB" dirty="0" err="1"/>
              <a:t>độc</a:t>
            </a:r>
            <a:r>
              <a:rPr lang="en-GB" dirty="0"/>
              <a:t> </a:t>
            </a:r>
            <a:r>
              <a:rPr lang="en-GB" dirty="0" err="1"/>
              <a:t>lập</a:t>
            </a:r>
            <a:r>
              <a:rPr lang="en-GB" dirty="0"/>
              <a:t> </a:t>
            </a:r>
            <a:r>
              <a:rPr lang="en-GB" dirty="0" err="1"/>
              <a:t>vị</a:t>
            </a:r>
            <a:r>
              <a:rPr lang="en-GB" dirty="0"/>
              <a:t> </a:t>
            </a:r>
            <a:r>
              <a:rPr lang="en-GB" dirty="0" err="1"/>
              <a:t>trí</a:t>
            </a:r>
            <a:r>
              <a:rPr lang="en-GB" dirty="0"/>
              <a:t> </a:t>
            </a:r>
            <a:r>
              <a:rPr lang="en-GB" dirty="0" err="1"/>
              <a:t>đích</a:t>
            </a:r>
            <a:r>
              <a:rPr lang="en-GB" dirty="0"/>
              <a:t> </a:t>
            </a:r>
            <a:r>
              <a:rPr lang="en-GB" dirty="0" err="1"/>
              <a:t>hoặc</a:t>
            </a:r>
            <a:r>
              <a:rPr lang="en-GB" dirty="0"/>
              <a:t> </a:t>
            </a:r>
            <a:r>
              <a:rPr lang="en-GB" dirty="0" err="1"/>
              <a:t>vị</a:t>
            </a:r>
            <a:r>
              <a:rPr lang="en-GB" dirty="0"/>
              <a:t> </a:t>
            </a:r>
            <a:r>
              <a:rPr lang="en-GB" dirty="0" err="1"/>
              <a:t>trí</a:t>
            </a:r>
            <a:r>
              <a:rPr lang="en-GB" dirty="0"/>
              <a:t> </a:t>
            </a:r>
            <a:r>
              <a:rPr lang="en-GB" dirty="0" err="1"/>
              <a:t>trước</a:t>
            </a:r>
            <a:r>
              <a:rPr lang="en-GB" dirty="0"/>
              <a:t> </a:t>
            </a:r>
            <a:r>
              <a:rPr lang="en-GB" dirty="0" err="1"/>
              <a:t>đó</a:t>
            </a:r>
            <a:endParaRPr lang="en-GB" dirty="0"/>
          </a:p>
          <a:p>
            <a:pPr lvl="1"/>
            <a:r>
              <a:rPr lang="en-GB" dirty="0">
                <a:solidFill>
                  <a:srgbClr val="FF9900"/>
                </a:solidFill>
              </a:rPr>
              <a:t>RAM</a:t>
            </a:r>
          </a:p>
          <a:p>
            <a:pPr>
              <a:buFont typeface="Monotype Sorts" pitchFamily="2" charset="2"/>
              <a:buNone/>
            </a:pPr>
            <a:endParaRPr lang="en-GB" dirty="0"/>
          </a:p>
          <a:p>
            <a:endParaRPr lang="en-GB" sz="2400" dirty="0"/>
          </a:p>
        </p:txBody>
      </p:sp>
      <p:sp>
        <p:nvSpPr>
          <p:cNvPr id="158724" name="Rectangle 4"/>
          <p:cNvSpPr>
            <a:spLocks noChangeArrowheads="1"/>
          </p:cNvSpPr>
          <p:nvPr/>
        </p:nvSpPr>
        <p:spPr bwMode="auto">
          <a:xfrm>
            <a:off x="4191000" y="3429000"/>
            <a:ext cx="3352800" cy="2590800"/>
          </a:xfrm>
          <a:prstGeom prst="rect">
            <a:avLst/>
          </a:prstGeom>
          <a:solidFill>
            <a:srgbClr val="EAEAEA"/>
          </a:solidFill>
          <a:ln w="9525">
            <a:solidFill>
              <a:srgbClr val="000000"/>
            </a:solidFill>
            <a:miter lim="800000"/>
            <a:headEnd/>
            <a:tailEnd/>
          </a:ln>
          <a:effectLst/>
        </p:spPr>
        <p:txBody>
          <a:bodyPr wrap="none" anchor="ctr"/>
          <a:lstStyle/>
          <a:p>
            <a:endParaRPr lang="en-US"/>
          </a:p>
        </p:txBody>
      </p:sp>
      <p:sp>
        <p:nvSpPr>
          <p:cNvPr id="158725" name="Text Box 5"/>
          <p:cNvSpPr txBox="1">
            <a:spLocks noChangeArrowheads="1"/>
          </p:cNvSpPr>
          <p:nvPr/>
        </p:nvSpPr>
        <p:spPr bwMode="auto">
          <a:xfrm rot="5400000">
            <a:off x="5337967" y="4039722"/>
            <a:ext cx="982663" cy="523220"/>
          </a:xfrm>
          <a:prstGeom prst="rect">
            <a:avLst/>
          </a:prstGeom>
          <a:noFill/>
          <a:ln w="9525">
            <a:noFill/>
            <a:miter lim="800000"/>
            <a:headEnd/>
            <a:tailEnd/>
          </a:ln>
          <a:effectLst/>
        </p:spPr>
        <p:txBody>
          <a:bodyPr wrap="square">
            <a:spAutoFit/>
          </a:bodyPr>
          <a:lstStyle/>
          <a:p>
            <a:pPr algn="ctr">
              <a:spcBef>
                <a:spcPct val="50000"/>
              </a:spcBef>
            </a:pPr>
            <a:r>
              <a:rPr lang="en-US" sz="2800" dirty="0"/>
              <a:t>. . .</a:t>
            </a:r>
          </a:p>
        </p:txBody>
      </p:sp>
      <p:sp>
        <p:nvSpPr>
          <p:cNvPr id="158726" name="Text Box 6"/>
          <p:cNvSpPr txBox="1">
            <a:spLocks noChangeArrowheads="1"/>
          </p:cNvSpPr>
          <p:nvPr/>
        </p:nvSpPr>
        <p:spPr bwMode="auto">
          <a:xfrm>
            <a:off x="2038350" y="5072063"/>
            <a:ext cx="1676400" cy="457200"/>
          </a:xfrm>
          <a:prstGeom prst="rect">
            <a:avLst/>
          </a:prstGeom>
          <a:noFill/>
          <a:ln w="9525">
            <a:noFill/>
            <a:miter lim="800000"/>
            <a:headEnd/>
            <a:tailEnd/>
          </a:ln>
          <a:effectLst/>
        </p:spPr>
        <p:txBody>
          <a:bodyPr>
            <a:spAutoFit/>
          </a:bodyPr>
          <a:lstStyle/>
          <a:p>
            <a:pPr algn="ctr"/>
            <a:r>
              <a:rPr lang="en-US"/>
              <a:t>read here</a:t>
            </a:r>
          </a:p>
        </p:txBody>
      </p:sp>
      <p:sp>
        <p:nvSpPr>
          <p:cNvPr id="158727" name="Line 7"/>
          <p:cNvSpPr>
            <a:spLocks noChangeShapeType="1"/>
          </p:cNvSpPr>
          <p:nvPr/>
        </p:nvSpPr>
        <p:spPr bwMode="auto">
          <a:xfrm>
            <a:off x="3657600" y="5334000"/>
            <a:ext cx="533400" cy="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58728" name="Rectangle 8"/>
          <p:cNvSpPr>
            <a:spLocks noChangeArrowheads="1"/>
          </p:cNvSpPr>
          <p:nvPr/>
        </p:nvSpPr>
        <p:spPr bwMode="auto">
          <a:xfrm>
            <a:off x="4191000" y="5253038"/>
            <a:ext cx="3352800" cy="152400"/>
          </a:xfrm>
          <a:prstGeom prst="rect">
            <a:avLst/>
          </a:prstGeom>
          <a:solidFill>
            <a:srgbClr val="CCFFFF"/>
          </a:solidFill>
          <a:ln w="9525">
            <a:solidFill>
              <a:srgbClr val="000000"/>
            </a:solidFill>
            <a:miter lim="800000"/>
            <a:headEnd/>
            <a:tailEnd/>
          </a:ln>
          <a:effectLst/>
        </p:spPr>
        <p:txBody>
          <a:bodyPr wrap="none" anchor="ct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Associative (</a:t>
            </a:r>
            <a:r>
              <a:rPr lang="en-GB" dirty="0" err="1"/>
              <a:t>liên</a:t>
            </a:r>
            <a:r>
              <a:rPr lang="en-GB" dirty="0"/>
              <a:t> </a:t>
            </a:r>
            <a:r>
              <a:rPr lang="en-GB" dirty="0" err="1"/>
              <a:t>kết</a:t>
            </a:r>
            <a:r>
              <a:rPr lang="en-GB" dirty="0"/>
              <a:t>)</a:t>
            </a:r>
            <a:endParaRPr lang="en-US" dirty="0"/>
          </a:p>
        </p:txBody>
      </p:sp>
      <p:sp>
        <p:nvSpPr>
          <p:cNvPr id="3" name="Content Placeholder 2"/>
          <p:cNvSpPr>
            <a:spLocks noGrp="1"/>
          </p:cNvSpPr>
          <p:nvPr>
            <p:ph sz="quarter" idx="1"/>
          </p:nvPr>
        </p:nvSpPr>
        <p:spPr/>
        <p:txBody>
          <a:bodyPr/>
          <a:lstStyle/>
          <a:p>
            <a:r>
              <a:rPr lang="en-GB" dirty="0" err="1"/>
              <a:t>Dữ</a:t>
            </a:r>
            <a:r>
              <a:rPr lang="en-GB" dirty="0"/>
              <a:t> </a:t>
            </a:r>
            <a:r>
              <a:rPr lang="en-GB" dirty="0" err="1"/>
              <a:t>liệu</a:t>
            </a:r>
            <a:r>
              <a:rPr lang="en-GB" dirty="0"/>
              <a:t> </a:t>
            </a:r>
            <a:r>
              <a:rPr lang="en-GB" dirty="0" err="1"/>
              <a:t>được</a:t>
            </a:r>
            <a:r>
              <a:rPr lang="en-GB" dirty="0"/>
              <a:t> </a:t>
            </a:r>
            <a:r>
              <a:rPr lang="en-GB" dirty="0" err="1"/>
              <a:t>định</a:t>
            </a:r>
            <a:r>
              <a:rPr lang="en-GB" dirty="0"/>
              <a:t> </a:t>
            </a:r>
            <a:r>
              <a:rPr lang="en-GB" dirty="0" err="1"/>
              <a:t>vị</a:t>
            </a:r>
            <a:r>
              <a:rPr lang="en-GB" dirty="0"/>
              <a:t> </a:t>
            </a:r>
            <a:r>
              <a:rPr lang="en-GB" dirty="0" err="1"/>
              <a:t>bằng</a:t>
            </a:r>
            <a:r>
              <a:rPr lang="en-GB" dirty="0"/>
              <a:t> </a:t>
            </a:r>
            <a:r>
              <a:rPr lang="en-GB" dirty="0" err="1"/>
              <a:t>cách</a:t>
            </a:r>
            <a:r>
              <a:rPr lang="en-GB" dirty="0"/>
              <a:t> so </a:t>
            </a:r>
            <a:r>
              <a:rPr lang="en-GB" dirty="0" err="1"/>
              <a:t>sánh</a:t>
            </a:r>
            <a:r>
              <a:rPr lang="en-GB" dirty="0"/>
              <a:t> </a:t>
            </a:r>
            <a:r>
              <a:rPr lang="en-GB" dirty="0" err="1"/>
              <a:t>với</a:t>
            </a:r>
            <a:r>
              <a:rPr lang="en-GB" dirty="0"/>
              <a:t> </a:t>
            </a:r>
            <a:r>
              <a:rPr lang="en-GB" dirty="0" err="1"/>
              <a:t>nội</a:t>
            </a:r>
            <a:r>
              <a:rPr lang="en-GB" dirty="0"/>
              <a:t> dung </a:t>
            </a:r>
            <a:r>
              <a:rPr lang="en-GB" dirty="0" err="1"/>
              <a:t>của</a:t>
            </a:r>
            <a:r>
              <a:rPr lang="en-GB" dirty="0"/>
              <a:t> </a:t>
            </a:r>
            <a:r>
              <a:rPr lang="en-GB" dirty="0" err="1"/>
              <a:t>một</a:t>
            </a:r>
            <a:r>
              <a:rPr lang="en-GB" dirty="0"/>
              <a:t> </a:t>
            </a:r>
            <a:r>
              <a:rPr lang="en-GB" dirty="0" err="1"/>
              <a:t>phần</a:t>
            </a:r>
            <a:r>
              <a:rPr lang="en-GB" dirty="0"/>
              <a:t> </a:t>
            </a:r>
            <a:r>
              <a:rPr lang="en-GB" dirty="0" err="1"/>
              <a:t>dữ</a:t>
            </a:r>
            <a:r>
              <a:rPr lang="en-GB" dirty="0"/>
              <a:t> </a:t>
            </a:r>
            <a:r>
              <a:rPr lang="en-GB" dirty="0" err="1"/>
              <a:t>liệu</a:t>
            </a:r>
            <a:r>
              <a:rPr lang="en-GB" dirty="0"/>
              <a:t> </a:t>
            </a:r>
            <a:r>
              <a:rPr lang="en-GB" dirty="0" err="1"/>
              <a:t>được</a:t>
            </a:r>
            <a:r>
              <a:rPr lang="en-GB" dirty="0"/>
              <a:t> </a:t>
            </a:r>
            <a:r>
              <a:rPr lang="en-GB" dirty="0" err="1"/>
              <a:t>lưu</a:t>
            </a:r>
            <a:r>
              <a:rPr lang="en-GB" dirty="0"/>
              <a:t> </a:t>
            </a:r>
            <a:r>
              <a:rPr lang="en-GB" dirty="0" err="1"/>
              <a:t>trữ</a:t>
            </a:r>
            <a:endParaRPr lang="en-GB" dirty="0"/>
          </a:p>
          <a:p>
            <a:r>
              <a:rPr lang="en-GB" dirty="0"/>
              <a:t>Access time </a:t>
            </a:r>
            <a:r>
              <a:rPr lang="en-GB" dirty="0" err="1"/>
              <a:t>độc</a:t>
            </a:r>
            <a:r>
              <a:rPr lang="en-GB" dirty="0"/>
              <a:t> </a:t>
            </a:r>
            <a:r>
              <a:rPr lang="en-GB" dirty="0" err="1"/>
              <a:t>lập</a:t>
            </a:r>
            <a:r>
              <a:rPr lang="en-GB" dirty="0"/>
              <a:t> </a:t>
            </a:r>
            <a:r>
              <a:rPr lang="en-GB" dirty="0" err="1"/>
              <a:t>với</a:t>
            </a:r>
            <a:r>
              <a:rPr lang="en-GB" dirty="0"/>
              <a:t> </a:t>
            </a:r>
            <a:r>
              <a:rPr lang="en-GB" dirty="0" err="1"/>
              <a:t>vị</a:t>
            </a:r>
            <a:r>
              <a:rPr lang="en-GB" dirty="0"/>
              <a:t> </a:t>
            </a:r>
            <a:r>
              <a:rPr lang="en-GB" dirty="0" err="1"/>
              <a:t>trí</a:t>
            </a:r>
            <a:r>
              <a:rPr lang="en-GB" dirty="0"/>
              <a:t> </a:t>
            </a:r>
            <a:r>
              <a:rPr lang="en-GB" dirty="0" err="1"/>
              <a:t>dữ</a:t>
            </a:r>
            <a:r>
              <a:rPr lang="en-GB" dirty="0"/>
              <a:t> </a:t>
            </a:r>
            <a:r>
              <a:rPr lang="en-GB" dirty="0" err="1"/>
              <a:t>liệu</a:t>
            </a:r>
            <a:r>
              <a:rPr lang="en-GB" dirty="0"/>
              <a:t> </a:t>
            </a:r>
            <a:r>
              <a:rPr lang="en-GB" dirty="0" err="1"/>
              <a:t>và</a:t>
            </a:r>
            <a:r>
              <a:rPr lang="en-GB" dirty="0"/>
              <a:t> </a:t>
            </a:r>
            <a:r>
              <a:rPr lang="en-GB" dirty="0" err="1"/>
              <a:t>vị</a:t>
            </a:r>
            <a:r>
              <a:rPr lang="en-GB" dirty="0"/>
              <a:t> </a:t>
            </a:r>
            <a:r>
              <a:rPr lang="en-GB" dirty="0" err="1"/>
              <a:t>trí</a:t>
            </a:r>
            <a:r>
              <a:rPr lang="en-GB" dirty="0"/>
              <a:t> </a:t>
            </a:r>
            <a:r>
              <a:rPr lang="en-GB" dirty="0" err="1"/>
              <a:t>truy</a:t>
            </a:r>
            <a:r>
              <a:rPr lang="en-GB" dirty="0"/>
              <a:t> </a:t>
            </a:r>
            <a:r>
              <a:rPr lang="en-GB" dirty="0" err="1"/>
              <a:t>xuất</a:t>
            </a:r>
            <a:r>
              <a:rPr lang="en-GB" dirty="0"/>
              <a:t> </a:t>
            </a:r>
            <a:r>
              <a:rPr lang="en-GB" dirty="0" err="1"/>
              <a:t>trước</a:t>
            </a:r>
            <a:r>
              <a:rPr lang="en-GB" dirty="0"/>
              <a:t> </a:t>
            </a:r>
            <a:r>
              <a:rPr lang="en-GB" dirty="0" err="1"/>
              <a:t>đó</a:t>
            </a:r>
            <a:r>
              <a:rPr lang="en-GB" dirty="0"/>
              <a:t>.</a:t>
            </a:r>
          </a:p>
          <a:p>
            <a:pPr lvl="1"/>
            <a:r>
              <a:rPr lang="en-GB" dirty="0"/>
              <a:t>cache</a:t>
            </a:r>
            <a:endParaRPr lang="en-GB" sz="1700"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Các đặc trưng của hệ thống nhớ</a:t>
            </a:r>
            <a:endParaRPr lang="en-US" dirty="0"/>
          </a:p>
        </p:txBody>
      </p:sp>
      <p:sp>
        <p:nvSpPr>
          <p:cNvPr id="3" name="Content Placeholder 2"/>
          <p:cNvSpPr>
            <a:spLocks noGrp="1"/>
          </p:cNvSpPr>
          <p:nvPr>
            <p:ph sz="quarter" idx="1"/>
          </p:nvPr>
        </p:nvSpPr>
        <p:spPr>
          <a:xfrm>
            <a:off x="612648" y="1600200"/>
            <a:ext cx="8153400" cy="4876800"/>
          </a:xfrm>
        </p:spPr>
        <p:txBody>
          <a:bodyPr>
            <a:normAutofit fontScale="85000" lnSpcReduction="20000"/>
          </a:bodyPr>
          <a:lstStyle/>
          <a:p>
            <a:r>
              <a:rPr lang="vi-VN" dirty="0"/>
              <a:t>Hiệu năng</a:t>
            </a:r>
          </a:p>
          <a:p>
            <a:pPr lvl="1"/>
            <a:r>
              <a:rPr lang="vi-VN" dirty="0"/>
              <a:t>Thời gian truy </a:t>
            </a:r>
            <a:r>
              <a:rPr lang="en-US" dirty="0"/>
              <a:t>c</a:t>
            </a:r>
            <a:r>
              <a:rPr lang="vi-VN" dirty="0"/>
              <a:t>ập</a:t>
            </a:r>
          </a:p>
          <a:p>
            <a:pPr lvl="1"/>
            <a:r>
              <a:rPr lang="vi-VN" dirty="0"/>
              <a:t>Chu kỳ nhớ</a:t>
            </a:r>
          </a:p>
          <a:p>
            <a:pPr lvl="1"/>
            <a:r>
              <a:rPr lang="vi-VN" dirty="0"/>
              <a:t>Tốc độ truyền</a:t>
            </a:r>
            <a:endParaRPr lang="en-US" dirty="0"/>
          </a:p>
          <a:p>
            <a:pPr lvl="2"/>
            <a:r>
              <a:rPr lang="en-US" dirty="0" err="1"/>
              <a:t>Truy</a:t>
            </a:r>
            <a:r>
              <a:rPr lang="en-US" dirty="0"/>
              <a:t> </a:t>
            </a:r>
            <a:r>
              <a:rPr lang="en-US" dirty="0" err="1"/>
              <a:t>cập</a:t>
            </a:r>
            <a:r>
              <a:rPr lang="en-US" dirty="0"/>
              <a:t> </a:t>
            </a:r>
            <a:r>
              <a:rPr lang="en-US" dirty="0" err="1"/>
              <a:t>ngẫu</a:t>
            </a:r>
            <a:r>
              <a:rPr lang="en-US" dirty="0"/>
              <a:t> </a:t>
            </a:r>
            <a:r>
              <a:rPr lang="en-US" dirty="0" err="1"/>
              <a:t>nhiên</a:t>
            </a:r>
            <a:r>
              <a:rPr lang="en-US" dirty="0"/>
              <a:t>:		1/(</a:t>
            </a:r>
            <a:r>
              <a:rPr lang="en-US" dirty="0" err="1"/>
              <a:t>Thời</a:t>
            </a:r>
            <a:r>
              <a:rPr lang="en-US" dirty="0"/>
              <a:t> </a:t>
            </a:r>
            <a:r>
              <a:rPr lang="en-US" dirty="0" err="1"/>
              <a:t>gian</a:t>
            </a:r>
            <a:r>
              <a:rPr lang="en-US" dirty="0"/>
              <a:t> Chu </a:t>
            </a:r>
            <a:r>
              <a:rPr lang="en-US" dirty="0" err="1"/>
              <a:t>kỳ</a:t>
            </a:r>
            <a:r>
              <a:rPr lang="en-US" dirty="0"/>
              <a:t>)</a:t>
            </a:r>
          </a:p>
          <a:p>
            <a:pPr lvl="2"/>
            <a:r>
              <a:rPr lang="en-US" dirty="0" err="1"/>
              <a:t>Không</a:t>
            </a:r>
            <a:r>
              <a:rPr lang="en-US" dirty="0"/>
              <a:t> </a:t>
            </a:r>
            <a:r>
              <a:rPr lang="en-US" dirty="0" err="1"/>
              <a:t>ngẫu</a:t>
            </a:r>
            <a:r>
              <a:rPr lang="en-US" dirty="0"/>
              <a:t> </a:t>
            </a:r>
            <a:r>
              <a:rPr lang="en-US" dirty="0" err="1"/>
              <a:t>nhiên</a:t>
            </a:r>
            <a:r>
              <a:rPr lang="en-US" dirty="0"/>
              <a:t>:		</a:t>
            </a:r>
            <a:r>
              <a:rPr lang="vi-VN" dirty="0"/>
              <a:t>TN = TA + N/R</a:t>
            </a:r>
            <a:endParaRPr lang="en-US" dirty="0"/>
          </a:p>
          <a:p>
            <a:pPr lvl="8"/>
            <a:r>
              <a:rPr lang="vi-VN" dirty="0"/>
              <a:t>TN = thời gian trung bình để đọc/ghi N bit </a:t>
            </a:r>
          </a:p>
          <a:p>
            <a:pPr lvl="8"/>
            <a:r>
              <a:rPr lang="vi-VN" dirty="0"/>
              <a:t>TA = thời gian truy cập trung bình </a:t>
            </a:r>
          </a:p>
          <a:p>
            <a:pPr lvl="8"/>
            <a:r>
              <a:rPr lang="vi-VN" dirty="0"/>
              <a:t> N = số các bit </a:t>
            </a:r>
          </a:p>
          <a:p>
            <a:pPr lvl="8"/>
            <a:r>
              <a:rPr lang="vi-VN" dirty="0"/>
              <a:t> R = tốc độ truyền, theo đơn vị bit/giây (bps) </a:t>
            </a:r>
            <a:endParaRPr lang="en-US" dirty="0"/>
          </a:p>
          <a:p>
            <a:pPr lvl="5"/>
            <a:endParaRPr lang="vi-VN" dirty="0"/>
          </a:p>
          <a:p>
            <a:r>
              <a:rPr lang="vi-VN" dirty="0"/>
              <a:t>Kiểu vật lý</a:t>
            </a:r>
            <a:r>
              <a:rPr lang="en-US" dirty="0"/>
              <a:t>			</a:t>
            </a:r>
            <a:endParaRPr lang="vi-VN" dirty="0"/>
          </a:p>
          <a:p>
            <a:pPr lvl="1"/>
            <a:r>
              <a:rPr lang="vi-VN" dirty="0"/>
              <a:t>Bộ nhớ bán dẫn</a:t>
            </a:r>
          </a:p>
          <a:p>
            <a:pPr lvl="1"/>
            <a:r>
              <a:rPr lang="vi-VN" dirty="0"/>
              <a:t>Bộ nhớ từ</a:t>
            </a:r>
          </a:p>
          <a:p>
            <a:pPr lvl="1"/>
            <a:r>
              <a:rPr lang="vi-VN" dirty="0"/>
              <a:t>Bộ nhớ quang</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Các đặc trưng của hệ thống nhớ</a:t>
            </a:r>
            <a:endParaRPr lang="en-US" dirty="0"/>
          </a:p>
        </p:txBody>
      </p:sp>
      <p:sp>
        <p:nvSpPr>
          <p:cNvPr id="3" name="Content Placeholder 2"/>
          <p:cNvSpPr>
            <a:spLocks noGrp="1"/>
          </p:cNvSpPr>
          <p:nvPr>
            <p:ph sz="quarter" idx="1"/>
          </p:nvPr>
        </p:nvSpPr>
        <p:spPr/>
        <p:txBody>
          <a:bodyPr/>
          <a:lstStyle/>
          <a:p>
            <a:r>
              <a:rPr lang="vi-VN" dirty="0"/>
              <a:t>Các đặc tính vật lý</a:t>
            </a:r>
          </a:p>
          <a:p>
            <a:pPr lvl="1"/>
            <a:r>
              <a:rPr lang="vi-VN" dirty="0"/>
              <a:t>Khả biến/Không khả biến</a:t>
            </a:r>
            <a:r>
              <a:rPr lang="en-US" dirty="0"/>
              <a:t> </a:t>
            </a:r>
            <a:r>
              <a:rPr lang="vi-VN" dirty="0"/>
              <a:t>(volatile/nonvolatile)</a:t>
            </a:r>
          </a:p>
          <a:p>
            <a:pPr lvl="1"/>
            <a:r>
              <a:rPr lang="vi-VN" dirty="0"/>
              <a:t>Xóa được/Không xóa được</a:t>
            </a:r>
          </a:p>
          <a:p>
            <a:r>
              <a:rPr lang="vi-VN" dirty="0"/>
              <a:t>Tổ chức</a:t>
            </a:r>
            <a:endParaRPr lang="en-US" dirty="0"/>
          </a:p>
          <a:p>
            <a:pPr lvl="1"/>
            <a:r>
              <a:rPr lang="en-US" dirty="0"/>
              <a:t>C</a:t>
            </a:r>
            <a:r>
              <a:rPr lang="vi-VN" dirty="0"/>
              <a:t>ách sắp xếp vật lý các bit để tạo thành các word</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r>
              <a:rPr lang="en-GB" dirty="0" err="1"/>
              <a:t>Phân</a:t>
            </a:r>
            <a:r>
              <a:rPr lang="en-GB" dirty="0"/>
              <a:t> </a:t>
            </a:r>
            <a:r>
              <a:rPr lang="en-GB" dirty="0" err="1"/>
              <a:t>cấp</a:t>
            </a:r>
            <a:r>
              <a:rPr lang="en-GB" dirty="0"/>
              <a:t> </a:t>
            </a:r>
            <a:r>
              <a:rPr lang="en-GB" dirty="0" err="1"/>
              <a:t>hệ</a:t>
            </a:r>
            <a:r>
              <a:rPr lang="en-GB" dirty="0"/>
              <a:t> </a:t>
            </a:r>
            <a:r>
              <a:rPr lang="en-GB" dirty="0" err="1"/>
              <a:t>thống</a:t>
            </a:r>
            <a:r>
              <a:rPr lang="en-GB" dirty="0"/>
              <a:t> </a:t>
            </a:r>
            <a:r>
              <a:rPr lang="en-GB" dirty="0" err="1"/>
              <a:t>nhớ</a:t>
            </a:r>
            <a:endParaRPr lang="en-GB" dirty="0"/>
          </a:p>
        </p:txBody>
      </p:sp>
      <p:sp>
        <p:nvSpPr>
          <p:cNvPr id="162819" name="Rectangle 3"/>
          <p:cNvSpPr>
            <a:spLocks noGrp="1" noChangeArrowheads="1"/>
          </p:cNvSpPr>
          <p:nvPr>
            <p:ph sz="quarter" idx="1"/>
          </p:nvPr>
        </p:nvSpPr>
        <p:spPr>
          <a:xfrm>
            <a:off x="381000" y="2057400"/>
            <a:ext cx="8178800" cy="3535363"/>
          </a:xfrm>
          <a:solidFill>
            <a:srgbClr val="FFFFCC"/>
          </a:solidFill>
          <a:ln>
            <a:solidFill>
              <a:schemeClr val="tx1"/>
            </a:solidFill>
          </a:ln>
        </p:spPr>
        <p:txBody>
          <a:bodyPr>
            <a:normAutofit lnSpcReduction="10000"/>
          </a:bodyPr>
          <a:lstStyle/>
          <a:p>
            <a:r>
              <a:rPr lang="en-GB" dirty="0">
                <a:solidFill>
                  <a:srgbClr val="FF0000"/>
                </a:solidFill>
              </a:rPr>
              <a:t>size ?  speed ?  cost ?</a:t>
            </a:r>
          </a:p>
          <a:p>
            <a:r>
              <a:rPr lang="en-GB" dirty="0"/>
              <a:t>registers</a:t>
            </a:r>
          </a:p>
          <a:p>
            <a:pPr lvl="1"/>
            <a:r>
              <a:rPr lang="en-GB" dirty="0" err="1"/>
              <a:t>trong</a:t>
            </a:r>
            <a:r>
              <a:rPr lang="en-GB" dirty="0"/>
              <a:t> CPU</a:t>
            </a:r>
          </a:p>
          <a:p>
            <a:r>
              <a:rPr lang="en-GB" dirty="0" err="1"/>
              <a:t>Bộ</a:t>
            </a:r>
            <a:r>
              <a:rPr lang="en-GB" dirty="0"/>
              <a:t> </a:t>
            </a:r>
            <a:r>
              <a:rPr lang="en-GB" dirty="0" err="1"/>
              <a:t>nhớ</a:t>
            </a:r>
            <a:r>
              <a:rPr lang="en-GB" dirty="0"/>
              <a:t> </a:t>
            </a:r>
            <a:r>
              <a:rPr lang="en-GB" dirty="0" err="1"/>
              <a:t>trong</a:t>
            </a:r>
            <a:endParaRPr lang="en-GB" dirty="0"/>
          </a:p>
          <a:p>
            <a:pPr lvl="1"/>
            <a:r>
              <a:rPr lang="en-GB" dirty="0" err="1"/>
              <a:t>Có</a:t>
            </a:r>
            <a:r>
              <a:rPr lang="en-GB" dirty="0"/>
              <a:t> </a:t>
            </a:r>
            <a:r>
              <a:rPr lang="en-GB" dirty="0" err="1"/>
              <a:t>thể</a:t>
            </a:r>
            <a:r>
              <a:rPr lang="en-GB" dirty="0"/>
              <a:t> </a:t>
            </a:r>
            <a:r>
              <a:rPr lang="en-GB" dirty="0" err="1"/>
              <a:t>gồm</a:t>
            </a:r>
            <a:r>
              <a:rPr lang="en-GB" dirty="0"/>
              <a:t> 1 </a:t>
            </a:r>
            <a:r>
              <a:rPr lang="en-GB" dirty="0" err="1"/>
              <a:t>hoặc</a:t>
            </a:r>
            <a:r>
              <a:rPr lang="en-GB" dirty="0"/>
              <a:t> </a:t>
            </a:r>
            <a:r>
              <a:rPr lang="en-GB" dirty="0" err="1"/>
              <a:t>nhiều</a:t>
            </a:r>
            <a:r>
              <a:rPr lang="en-GB" dirty="0"/>
              <a:t> </a:t>
            </a:r>
            <a:r>
              <a:rPr lang="en-GB" dirty="0" err="1"/>
              <a:t>mức</a:t>
            </a:r>
            <a:r>
              <a:rPr lang="en-GB" dirty="0"/>
              <a:t> cache</a:t>
            </a:r>
          </a:p>
          <a:p>
            <a:r>
              <a:rPr lang="en-GB" dirty="0" err="1"/>
              <a:t>Bộ</a:t>
            </a:r>
            <a:r>
              <a:rPr lang="en-GB" dirty="0"/>
              <a:t> </a:t>
            </a:r>
            <a:r>
              <a:rPr lang="en-GB" dirty="0" err="1"/>
              <a:t>nhớ</a:t>
            </a:r>
            <a:r>
              <a:rPr lang="en-GB" dirty="0"/>
              <a:t> </a:t>
            </a:r>
            <a:r>
              <a:rPr lang="en-GB" dirty="0" err="1"/>
              <a:t>ngoài</a:t>
            </a:r>
            <a:endParaRPr lang="en-GB" dirty="0"/>
          </a:p>
          <a:p>
            <a:pPr lvl="1"/>
            <a:r>
              <a:rPr lang="en-GB" dirty="0" err="1"/>
              <a:t>Lưu</a:t>
            </a:r>
            <a:r>
              <a:rPr lang="en-GB" dirty="0"/>
              <a:t> </a:t>
            </a:r>
            <a:r>
              <a:rPr lang="en-GB" dirty="0" err="1"/>
              <a:t>trữ</a:t>
            </a:r>
            <a:r>
              <a:rPr lang="en-GB" dirty="0"/>
              <a:t> </a:t>
            </a:r>
            <a:r>
              <a:rPr lang="en-GB" dirty="0" err="1"/>
              <a:t>và</a:t>
            </a:r>
            <a:r>
              <a:rPr lang="en-GB" dirty="0"/>
              <a:t> backup</a:t>
            </a:r>
          </a:p>
        </p:txBody>
      </p:sp>
      <p:sp>
        <p:nvSpPr>
          <p:cNvPr id="162820" name="Rectangle 4"/>
          <p:cNvSpPr>
            <a:spLocks noChangeArrowheads="1"/>
          </p:cNvSpPr>
          <p:nvPr/>
        </p:nvSpPr>
        <p:spPr bwMode="auto">
          <a:xfrm>
            <a:off x="4572000" y="2474913"/>
            <a:ext cx="4343400" cy="831850"/>
          </a:xfrm>
          <a:prstGeom prst="rect">
            <a:avLst/>
          </a:prstGeom>
          <a:solidFill>
            <a:srgbClr val="CCFFFF"/>
          </a:solidFill>
          <a:ln w="9525">
            <a:solidFill>
              <a:srgbClr val="000000"/>
            </a:solidFill>
            <a:miter lim="800000"/>
            <a:headEnd/>
            <a:tailEnd/>
          </a:ln>
          <a:effectLst/>
        </p:spPr>
        <p:txBody>
          <a:bodyPr anchor="ctr">
            <a:spAutoFit/>
          </a:bodyPr>
          <a:lstStyle/>
          <a:p>
            <a:pPr algn="ctr"/>
            <a:r>
              <a:rPr lang="en-GB"/>
              <a:t>smallest, fastest, most expensive, most frequently accessed</a:t>
            </a:r>
            <a:endParaRPr lang="en-US"/>
          </a:p>
        </p:txBody>
      </p:sp>
      <p:sp>
        <p:nvSpPr>
          <p:cNvPr id="162821" name="Rectangle 5"/>
          <p:cNvSpPr>
            <a:spLocks noChangeArrowheads="1"/>
          </p:cNvSpPr>
          <p:nvPr/>
        </p:nvSpPr>
        <p:spPr bwMode="auto">
          <a:xfrm>
            <a:off x="4572000" y="3429000"/>
            <a:ext cx="4343400" cy="533400"/>
          </a:xfrm>
          <a:prstGeom prst="rect">
            <a:avLst/>
          </a:prstGeom>
          <a:solidFill>
            <a:srgbClr val="CCFFFF"/>
          </a:solidFill>
          <a:ln w="9525">
            <a:solidFill>
              <a:srgbClr val="000000"/>
            </a:solidFill>
            <a:miter lim="800000"/>
            <a:headEnd/>
            <a:tailEnd/>
          </a:ln>
          <a:effectLst/>
        </p:spPr>
        <p:txBody>
          <a:bodyPr wrap="none" anchor="ctr"/>
          <a:lstStyle/>
          <a:p>
            <a:pPr algn="ctr"/>
            <a:r>
              <a:rPr lang="en-GB"/>
              <a:t>medium, quick, price varies</a:t>
            </a:r>
            <a:endParaRPr lang="en-US"/>
          </a:p>
        </p:txBody>
      </p:sp>
      <p:sp>
        <p:nvSpPr>
          <p:cNvPr id="162822" name="Rectangle 6"/>
          <p:cNvSpPr>
            <a:spLocks noChangeArrowheads="1"/>
          </p:cNvSpPr>
          <p:nvPr/>
        </p:nvSpPr>
        <p:spPr bwMode="auto">
          <a:xfrm>
            <a:off x="4572000" y="4419600"/>
            <a:ext cx="4343400" cy="831850"/>
          </a:xfrm>
          <a:prstGeom prst="rect">
            <a:avLst/>
          </a:prstGeom>
          <a:solidFill>
            <a:srgbClr val="CCFFFF"/>
          </a:solidFill>
          <a:ln w="9525">
            <a:solidFill>
              <a:srgbClr val="000000"/>
            </a:solidFill>
            <a:miter lim="800000"/>
            <a:headEnd/>
            <a:tailEnd/>
          </a:ln>
          <a:effectLst/>
        </p:spPr>
        <p:txBody>
          <a:bodyPr anchor="ctr">
            <a:spAutoFit/>
          </a:bodyPr>
          <a:lstStyle/>
          <a:p>
            <a:pPr algn="ctr"/>
            <a:r>
              <a:rPr lang="en-GB"/>
              <a:t>largest, slowest, cheapest, least frequently accessed</a:t>
            </a:r>
            <a:endParaRPr lang="en-US"/>
          </a:p>
        </p:txBody>
      </p:sp>
      <p:sp>
        <p:nvSpPr>
          <p:cNvPr id="162823" name="Line 7"/>
          <p:cNvSpPr>
            <a:spLocks noChangeShapeType="1"/>
          </p:cNvSpPr>
          <p:nvPr/>
        </p:nvSpPr>
        <p:spPr bwMode="auto">
          <a:xfrm>
            <a:off x="2438400" y="2819400"/>
            <a:ext cx="1905000" cy="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62824" name="Line 8"/>
          <p:cNvSpPr>
            <a:spLocks noChangeShapeType="1"/>
          </p:cNvSpPr>
          <p:nvPr/>
        </p:nvSpPr>
        <p:spPr bwMode="auto">
          <a:xfrm>
            <a:off x="3124200" y="3733800"/>
            <a:ext cx="1219200" cy="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62825" name="Line 9"/>
          <p:cNvSpPr>
            <a:spLocks noChangeShapeType="1"/>
          </p:cNvSpPr>
          <p:nvPr/>
        </p:nvSpPr>
        <p:spPr bwMode="auto">
          <a:xfrm>
            <a:off x="3581400" y="4648200"/>
            <a:ext cx="762000" cy="0"/>
          </a:xfrm>
          <a:prstGeom prst="line">
            <a:avLst/>
          </a:prstGeom>
          <a:noFill/>
          <a:ln w="9525">
            <a:solidFill>
              <a:srgbClr val="000000"/>
            </a:solidFill>
            <a:round/>
            <a:headEnd/>
            <a:tailEnd type="triangle" w="med" len="med"/>
          </a:ln>
          <a:effectLst/>
        </p:spPr>
        <p:txBody>
          <a:bodyPr wrap="none" anchor="ct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609600" y="381000"/>
            <a:ext cx="7772400" cy="685800"/>
          </a:xfrm>
        </p:spPr>
        <p:txBody>
          <a:bodyPr>
            <a:normAutofit fontScale="90000"/>
          </a:bodyPr>
          <a:lstStyle/>
          <a:p>
            <a:r>
              <a:rPr lang="en-GB" dirty="0" err="1"/>
              <a:t>Phân</a:t>
            </a:r>
            <a:r>
              <a:rPr lang="en-GB" dirty="0"/>
              <a:t> </a:t>
            </a:r>
            <a:r>
              <a:rPr lang="en-GB" dirty="0" err="1"/>
              <a:t>cấp</a:t>
            </a:r>
            <a:r>
              <a:rPr lang="en-GB" dirty="0"/>
              <a:t> </a:t>
            </a:r>
            <a:r>
              <a:rPr lang="en-GB" dirty="0" err="1"/>
              <a:t>hệ</a:t>
            </a:r>
            <a:r>
              <a:rPr lang="en-GB" dirty="0"/>
              <a:t> </a:t>
            </a:r>
            <a:r>
              <a:rPr lang="en-GB" dirty="0" err="1"/>
              <a:t>thống</a:t>
            </a:r>
            <a:r>
              <a:rPr lang="en-GB" dirty="0"/>
              <a:t> </a:t>
            </a:r>
            <a:r>
              <a:rPr lang="en-GB" dirty="0" err="1"/>
              <a:t>nhớ</a:t>
            </a:r>
            <a:endParaRPr lang="en-GB" dirty="0"/>
          </a:p>
        </p:txBody>
      </p:sp>
      <p:pic>
        <p:nvPicPr>
          <p:cNvPr id="164867" name="Picture 3"/>
          <p:cNvPicPr>
            <a:picLocks noChangeAspect="1" noChangeArrowheads="1"/>
          </p:cNvPicPr>
          <p:nvPr/>
        </p:nvPicPr>
        <p:blipFill>
          <a:blip r:embed="rId2" cstate="print"/>
          <a:srcRect l="8824" t="18182" r="8824" b="20454"/>
          <a:stretch>
            <a:fillRect/>
          </a:stretch>
        </p:blipFill>
        <p:spPr bwMode="auto">
          <a:xfrm>
            <a:off x="1143000" y="1524000"/>
            <a:ext cx="6324600" cy="5334000"/>
          </a:xfrm>
          <a:prstGeom prst="rect">
            <a:avLst/>
          </a:prstGeom>
          <a:noFill/>
          <a:ln w="9525">
            <a:noFill/>
            <a:miter lim="800000"/>
            <a:headEnd/>
            <a:tailEnd/>
          </a:ln>
          <a:effectLst/>
        </p:spPr>
      </p:pic>
      <p:sp>
        <p:nvSpPr>
          <p:cNvPr id="164868" name="Line 4"/>
          <p:cNvSpPr>
            <a:spLocks noChangeShapeType="1"/>
          </p:cNvSpPr>
          <p:nvPr/>
        </p:nvSpPr>
        <p:spPr bwMode="auto">
          <a:xfrm>
            <a:off x="990600" y="1828800"/>
            <a:ext cx="0" cy="4038600"/>
          </a:xfrm>
          <a:prstGeom prst="line">
            <a:avLst/>
          </a:prstGeom>
          <a:noFill/>
          <a:ln w="28575">
            <a:solidFill>
              <a:srgbClr val="000000"/>
            </a:solidFill>
            <a:prstDash val="lgDash"/>
            <a:round/>
            <a:headEnd/>
            <a:tailEnd type="stealth" w="lg" len="lg"/>
          </a:ln>
          <a:effectLst/>
        </p:spPr>
        <p:txBody>
          <a:bodyPr wrap="none" anchor="ctr"/>
          <a:lstStyle/>
          <a:p>
            <a:endParaRPr lang="en-US"/>
          </a:p>
        </p:txBody>
      </p:sp>
      <p:sp>
        <p:nvSpPr>
          <p:cNvPr id="164869" name="Rectangle 5"/>
          <p:cNvSpPr>
            <a:spLocks noChangeArrowheads="1"/>
          </p:cNvSpPr>
          <p:nvPr/>
        </p:nvSpPr>
        <p:spPr bwMode="auto">
          <a:xfrm>
            <a:off x="381000" y="1600200"/>
            <a:ext cx="2743200" cy="1196975"/>
          </a:xfrm>
          <a:prstGeom prst="rect">
            <a:avLst/>
          </a:prstGeom>
          <a:solidFill>
            <a:srgbClr val="CCFFFF"/>
          </a:solidFill>
          <a:ln w="9525">
            <a:solidFill>
              <a:srgbClr val="000000"/>
            </a:solidFill>
            <a:miter lim="800000"/>
            <a:headEnd/>
            <a:tailEnd/>
          </a:ln>
          <a:effectLst/>
        </p:spPr>
        <p:txBody>
          <a:bodyPr anchor="ctr">
            <a:spAutoFit/>
          </a:bodyPr>
          <a:lstStyle/>
          <a:p>
            <a:pPr algn="ctr"/>
            <a:r>
              <a:rPr lang="en-US" dirty="0"/>
              <a:t>decreasing</a:t>
            </a:r>
          </a:p>
          <a:p>
            <a:pPr algn="ctr"/>
            <a:r>
              <a:rPr lang="en-US" dirty="0"/>
              <a:t>cost per bit, </a:t>
            </a:r>
            <a:r>
              <a:rPr lang="en-US" dirty="0">
                <a:solidFill>
                  <a:srgbClr val="FF0000"/>
                </a:solidFill>
              </a:rPr>
              <a:t>speed, access frequency</a:t>
            </a:r>
          </a:p>
        </p:txBody>
      </p:sp>
      <p:sp>
        <p:nvSpPr>
          <p:cNvPr id="164870" name="Line 6"/>
          <p:cNvSpPr>
            <a:spLocks noChangeShapeType="1"/>
          </p:cNvSpPr>
          <p:nvPr/>
        </p:nvSpPr>
        <p:spPr bwMode="auto">
          <a:xfrm>
            <a:off x="7696200" y="1981200"/>
            <a:ext cx="0" cy="3962400"/>
          </a:xfrm>
          <a:prstGeom prst="line">
            <a:avLst/>
          </a:prstGeom>
          <a:noFill/>
          <a:ln w="38100">
            <a:solidFill>
              <a:srgbClr val="000000"/>
            </a:solidFill>
            <a:prstDash val="lgDash"/>
            <a:round/>
            <a:headEnd/>
            <a:tailEnd type="stealth" w="lg" len="lg"/>
          </a:ln>
          <a:effectLst/>
        </p:spPr>
        <p:txBody>
          <a:bodyPr wrap="none" anchor="ctr"/>
          <a:lstStyle/>
          <a:p>
            <a:endParaRPr lang="en-US"/>
          </a:p>
        </p:txBody>
      </p:sp>
      <p:sp>
        <p:nvSpPr>
          <p:cNvPr id="164871" name="Rectangle 7"/>
          <p:cNvSpPr>
            <a:spLocks noChangeArrowheads="1"/>
          </p:cNvSpPr>
          <p:nvPr/>
        </p:nvSpPr>
        <p:spPr bwMode="auto">
          <a:xfrm>
            <a:off x="6019800" y="1600200"/>
            <a:ext cx="2743200" cy="685800"/>
          </a:xfrm>
          <a:prstGeom prst="rect">
            <a:avLst/>
          </a:prstGeom>
          <a:solidFill>
            <a:srgbClr val="CCFFFF"/>
          </a:solidFill>
          <a:ln w="9525">
            <a:solidFill>
              <a:srgbClr val="000000"/>
            </a:solidFill>
            <a:miter lim="800000"/>
            <a:headEnd/>
            <a:tailEnd/>
          </a:ln>
          <a:effectLst/>
        </p:spPr>
        <p:txBody>
          <a:bodyPr wrap="none" anchor="ctr"/>
          <a:lstStyle/>
          <a:p>
            <a:pPr algn="ctr"/>
            <a:r>
              <a:rPr lang="en-US"/>
              <a:t>increasing</a:t>
            </a:r>
          </a:p>
          <a:p>
            <a:pPr algn="ctr"/>
            <a:r>
              <a:rPr lang="en-US"/>
              <a:t>capacity, access time</a:t>
            </a:r>
          </a:p>
        </p:txBody>
      </p:sp>
      <p:sp>
        <p:nvSpPr>
          <p:cNvPr id="164872" name="Rectangle 8"/>
          <p:cNvSpPr>
            <a:spLocks noChangeArrowheads="1"/>
          </p:cNvSpPr>
          <p:nvPr/>
        </p:nvSpPr>
        <p:spPr bwMode="auto">
          <a:xfrm>
            <a:off x="304800" y="6096000"/>
            <a:ext cx="1295400" cy="533400"/>
          </a:xfrm>
          <a:prstGeom prst="rect">
            <a:avLst/>
          </a:prstGeom>
          <a:solidFill>
            <a:schemeClr val="bg1"/>
          </a:solidFill>
          <a:ln w="9525">
            <a:noFill/>
            <a:miter lim="800000"/>
            <a:headEnd/>
            <a:tailEnd/>
          </a:ln>
          <a:effectLst/>
        </p:spPr>
        <p:txBody>
          <a:bodyPr wrap="none" anchor="ct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Phân</a:t>
            </a:r>
            <a:r>
              <a:rPr lang="en-US" dirty="0"/>
              <a:t> </a:t>
            </a:r>
            <a:r>
              <a:rPr lang="en-US" dirty="0" err="1"/>
              <a:t>cấp</a:t>
            </a:r>
            <a:r>
              <a:rPr lang="en-US" dirty="0"/>
              <a:t> </a:t>
            </a:r>
            <a:r>
              <a:rPr lang="en-US" dirty="0" err="1"/>
              <a:t>hệ</a:t>
            </a:r>
            <a:r>
              <a:rPr lang="en-US" dirty="0"/>
              <a:t> </a:t>
            </a:r>
            <a:r>
              <a:rPr lang="en-US" dirty="0" err="1"/>
              <a:t>thống</a:t>
            </a:r>
            <a:r>
              <a:rPr lang="en-US" dirty="0"/>
              <a:t> </a:t>
            </a:r>
            <a:r>
              <a:rPr lang="en-US" dirty="0" err="1"/>
              <a:t>nhớ</a:t>
            </a:r>
            <a:endParaRPr lang="en-US" dirty="0"/>
          </a:p>
        </p:txBody>
      </p:sp>
      <p:sp>
        <p:nvSpPr>
          <p:cNvPr id="3" name="Content Placeholder 2"/>
          <p:cNvSpPr>
            <a:spLocks noGrp="1"/>
          </p:cNvSpPr>
          <p:nvPr>
            <p:ph sz="quarter" idx="1"/>
          </p:nvPr>
        </p:nvSpPr>
        <p:spPr>
          <a:xfrm>
            <a:off x="1981200" y="5105400"/>
            <a:ext cx="5562600" cy="1524000"/>
          </a:xfrm>
        </p:spPr>
        <p:txBody>
          <a:bodyPr>
            <a:normAutofit fontScale="85000" lnSpcReduction="20000"/>
          </a:bodyPr>
          <a:lstStyle/>
          <a:p>
            <a:r>
              <a:rPr lang="vi-VN" dirty="0"/>
              <a:t>Từ trái sang phải:</a:t>
            </a:r>
          </a:p>
          <a:p>
            <a:pPr lvl="1"/>
            <a:r>
              <a:rPr lang="vi-VN" dirty="0"/>
              <a:t>dung lượng tăng dần</a:t>
            </a:r>
          </a:p>
          <a:p>
            <a:pPr lvl="1"/>
            <a:r>
              <a:rPr lang="vi-VN" dirty="0"/>
              <a:t>tốc độ giảm dần</a:t>
            </a:r>
          </a:p>
          <a:p>
            <a:pPr lvl="1"/>
            <a:r>
              <a:rPr lang="vi-VN" dirty="0"/>
              <a:t>giá thành/1 bit giảm dần</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685800" y="1752600"/>
            <a:ext cx="7649442" cy="3005138"/>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D3EB2-45FB-4D8C-95D1-1AF9180B33DD}"/>
              </a:ext>
            </a:extLst>
          </p:cNvPr>
          <p:cNvSpPr>
            <a:spLocks noGrp="1"/>
          </p:cNvSpPr>
          <p:nvPr>
            <p:ph type="title"/>
          </p:nvPr>
        </p:nvSpPr>
        <p:spPr/>
        <p:txBody>
          <a:bodyPr/>
          <a:lstStyle/>
          <a:p>
            <a:r>
              <a:rPr lang="en-US" dirty="0" err="1"/>
              <a:t>Phân</a:t>
            </a:r>
            <a:r>
              <a:rPr lang="en-US" dirty="0"/>
              <a:t> </a:t>
            </a:r>
            <a:r>
              <a:rPr lang="en-US" dirty="0" err="1"/>
              <a:t>tích</a:t>
            </a:r>
            <a:r>
              <a:rPr lang="en-US" dirty="0"/>
              <a:t> </a:t>
            </a:r>
            <a:r>
              <a:rPr lang="en-US" dirty="0" err="1"/>
              <a:t>hiệu</a:t>
            </a:r>
            <a:r>
              <a:rPr lang="en-US" dirty="0"/>
              <a:t> </a:t>
            </a:r>
            <a:r>
              <a:rPr lang="en-US" dirty="0" err="1"/>
              <a:t>suất</a:t>
            </a:r>
            <a:r>
              <a:rPr lang="en-US" dirty="0"/>
              <a:t> </a:t>
            </a:r>
            <a:r>
              <a:rPr lang="en-US" dirty="0" err="1"/>
              <a:t>bộ</a:t>
            </a:r>
            <a:r>
              <a:rPr lang="en-US" dirty="0"/>
              <a:t> </a:t>
            </a:r>
            <a:r>
              <a:rPr lang="en-US" dirty="0" err="1"/>
              <a:t>nhớ</a:t>
            </a:r>
            <a:r>
              <a:rPr lang="en-US" dirty="0"/>
              <a:t> cache</a:t>
            </a:r>
          </a:p>
        </p:txBody>
      </p:sp>
      <p:pic>
        <p:nvPicPr>
          <p:cNvPr id="4" name="Content Placeholder 3">
            <a:extLst>
              <a:ext uri="{FF2B5EF4-FFF2-40B4-BE49-F238E27FC236}">
                <a16:creationId xmlns:a16="http://schemas.microsoft.com/office/drawing/2014/main" id="{5C72D294-5D5D-4668-854A-8C4DDBC61BB0}"/>
              </a:ext>
            </a:extLst>
          </p:cNvPr>
          <p:cNvPicPr>
            <a:picLocks noGrp="1" noChangeAspect="1"/>
          </p:cNvPicPr>
          <p:nvPr>
            <p:ph sz="quarter" idx="1"/>
          </p:nvPr>
        </p:nvPicPr>
        <p:blipFill>
          <a:blip r:embed="rId2"/>
          <a:stretch>
            <a:fillRect/>
          </a:stretch>
        </p:blipFill>
        <p:spPr>
          <a:xfrm>
            <a:off x="3581400" y="1592062"/>
            <a:ext cx="4606701" cy="4495800"/>
          </a:xfrm>
          <a:prstGeom prst="rect">
            <a:avLst/>
          </a:prstGeom>
        </p:spPr>
      </p:pic>
      <p:sp>
        <p:nvSpPr>
          <p:cNvPr id="5" name="Content Placeholder 2">
            <a:extLst>
              <a:ext uri="{FF2B5EF4-FFF2-40B4-BE49-F238E27FC236}">
                <a16:creationId xmlns:a16="http://schemas.microsoft.com/office/drawing/2014/main" id="{0120F33D-CAC7-48D4-9B1A-B5D5ABCF40DD}"/>
              </a:ext>
            </a:extLst>
          </p:cNvPr>
          <p:cNvSpPr txBox="1">
            <a:spLocks/>
          </p:cNvSpPr>
          <p:nvPr/>
        </p:nvSpPr>
        <p:spPr>
          <a:xfrm>
            <a:off x="3581400" y="5848905"/>
            <a:ext cx="5184648" cy="475695"/>
          </a:xfrm>
          <a:prstGeom prst="rect">
            <a:avLst/>
          </a:prstGeom>
          <a:solidFill>
            <a:schemeClr val="bg1"/>
          </a:solidFill>
        </p:spPr>
        <p:txBody>
          <a:bodyPr vert="horz">
            <a:normAutofit fontScale="92500" lnSpcReduction="1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err="1"/>
              <a:t>Tỉ</a:t>
            </a:r>
            <a:r>
              <a:rPr lang="en-US" dirty="0"/>
              <a:t> </a:t>
            </a:r>
            <a:r>
              <a:rPr lang="en-US" dirty="0" err="1"/>
              <a:t>lệ</a:t>
            </a:r>
            <a:r>
              <a:rPr lang="en-US" dirty="0"/>
              <a:t> </a:t>
            </a:r>
            <a:r>
              <a:rPr lang="en-US" dirty="0" err="1"/>
              <a:t>truy</a:t>
            </a:r>
            <a:r>
              <a:rPr lang="en-US" dirty="0"/>
              <a:t> </a:t>
            </a:r>
            <a:r>
              <a:rPr lang="en-US" dirty="0" err="1"/>
              <a:t>nhập</a:t>
            </a:r>
            <a:r>
              <a:rPr lang="en-US" dirty="0"/>
              <a:t> </a:t>
            </a:r>
            <a:r>
              <a:rPr lang="en-US" dirty="0" err="1"/>
              <a:t>với</a:t>
            </a:r>
            <a:r>
              <a:rPr lang="en-US" dirty="0"/>
              <a:t> cache level 1</a:t>
            </a:r>
          </a:p>
        </p:txBody>
      </p:sp>
      <p:sp>
        <p:nvSpPr>
          <p:cNvPr id="6" name="Content Placeholder 2">
            <a:extLst>
              <a:ext uri="{FF2B5EF4-FFF2-40B4-BE49-F238E27FC236}">
                <a16:creationId xmlns:a16="http://schemas.microsoft.com/office/drawing/2014/main" id="{0F6B9487-5812-4E88-864E-BE1D1A739FEC}"/>
              </a:ext>
            </a:extLst>
          </p:cNvPr>
          <p:cNvSpPr txBox="1">
            <a:spLocks/>
          </p:cNvSpPr>
          <p:nvPr/>
        </p:nvSpPr>
        <p:spPr>
          <a:xfrm>
            <a:off x="152400" y="1752600"/>
            <a:ext cx="3200400" cy="1524000"/>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err="1"/>
              <a:t>Đọc</a:t>
            </a:r>
            <a:r>
              <a:rPr lang="en-US" dirty="0"/>
              <a:t> </a:t>
            </a:r>
            <a:r>
              <a:rPr lang="en-US" dirty="0" err="1"/>
              <a:t>tài</a:t>
            </a:r>
            <a:r>
              <a:rPr lang="en-US" dirty="0"/>
              <a:t> </a:t>
            </a:r>
            <a:r>
              <a:rPr lang="en-US" dirty="0" err="1"/>
              <a:t>liệu</a:t>
            </a:r>
            <a:r>
              <a:rPr lang="en-US" dirty="0"/>
              <a:t> [1] </a:t>
            </a:r>
            <a:r>
              <a:rPr lang="en-US" dirty="0" err="1"/>
              <a:t>trang</a:t>
            </a:r>
            <a:r>
              <a:rPr lang="en-US" dirty="0"/>
              <a:t> 126</a:t>
            </a:r>
          </a:p>
        </p:txBody>
      </p:sp>
    </p:spTree>
    <p:extLst>
      <p:ext uri="{BB962C8B-B14F-4D97-AF65-F5344CB8AC3E}">
        <p14:creationId xmlns:p14="http://schemas.microsoft.com/office/powerpoint/2010/main" val="3993243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Bộ</a:t>
            </a:r>
            <a:r>
              <a:rPr lang="en-US" dirty="0"/>
              <a:t> </a:t>
            </a:r>
            <a:r>
              <a:rPr lang="en-US" dirty="0" err="1"/>
              <a:t>nhớ</a:t>
            </a:r>
            <a:r>
              <a:rPr lang="en-US" dirty="0"/>
              <a:t> </a:t>
            </a:r>
            <a:r>
              <a:rPr lang="en-US" dirty="0" err="1"/>
              <a:t>bán</a:t>
            </a:r>
            <a:r>
              <a:rPr lang="en-US" dirty="0"/>
              <a:t> </a:t>
            </a:r>
            <a:r>
              <a:rPr lang="en-US" dirty="0" err="1"/>
              <a:t>dẫn</a:t>
            </a:r>
            <a:endParaRPr lang="en-US" dirty="0"/>
          </a:p>
        </p:txBody>
      </p:sp>
      <p:pic>
        <p:nvPicPr>
          <p:cNvPr id="2050" name="Picture 2"/>
          <p:cNvPicPr>
            <a:picLocks noGrp="1" noChangeAspect="1" noChangeArrowheads="1"/>
          </p:cNvPicPr>
          <p:nvPr>
            <p:ph sz="quarter" idx="1"/>
          </p:nvPr>
        </p:nvPicPr>
        <p:blipFill>
          <a:blip r:embed="rId2" cstate="print"/>
          <a:stretch>
            <a:fillRect/>
          </a:stretch>
        </p:blipFill>
        <p:spPr bwMode="auto">
          <a:xfrm>
            <a:off x="1143000" y="1752600"/>
            <a:ext cx="7071226" cy="425767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Tổ</a:t>
            </a:r>
            <a:r>
              <a:rPr lang="en-US" dirty="0"/>
              <a:t> </a:t>
            </a:r>
            <a:r>
              <a:rPr lang="en-US" dirty="0" err="1"/>
              <a:t>chức</a:t>
            </a:r>
            <a:r>
              <a:rPr lang="en-US" dirty="0"/>
              <a:t> ô </a:t>
            </a:r>
            <a:r>
              <a:rPr lang="en-US" dirty="0" err="1"/>
              <a:t>nhớ</a:t>
            </a:r>
            <a:endParaRPr lang="en-US" dirty="0"/>
          </a:p>
        </p:txBody>
      </p:sp>
      <p:pic>
        <p:nvPicPr>
          <p:cNvPr id="1026" name="Picture 2"/>
          <p:cNvPicPr>
            <a:picLocks noGrp="1" noChangeAspect="1" noChangeArrowheads="1"/>
          </p:cNvPicPr>
          <p:nvPr>
            <p:ph sz="quarter" idx="1"/>
          </p:nvPr>
        </p:nvPicPr>
        <p:blipFill>
          <a:blip r:embed="rId2" cstate="print"/>
          <a:srcRect/>
          <a:stretch>
            <a:fillRect/>
          </a:stretch>
        </p:blipFill>
        <p:spPr bwMode="auto">
          <a:xfrm>
            <a:off x="1029256" y="2286000"/>
            <a:ext cx="6895544" cy="34290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ROM (Read Only Memory)</a:t>
            </a:r>
          </a:p>
        </p:txBody>
      </p:sp>
      <p:sp>
        <p:nvSpPr>
          <p:cNvPr id="3" name="Content Placeholder 2"/>
          <p:cNvSpPr>
            <a:spLocks noGrp="1"/>
          </p:cNvSpPr>
          <p:nvPr>
            <p:ph sz="quarter" idx="1"/>
          </p:nvPr>
        </p:nvSpPr>
        <p:spPr/>
        <p:txBody>
          <a:bodyPr/>
          <a:lstStyle/>
          <a:p>
            <a:r>
              <a:rPr lang="vi-VN" dirty="0"/>
              <a:t>Bộ nhớ không khả biến</a:t>
            </a:r>
          </a:p>
          <a:p>
            <a:r>
              <a:rPr lang="vi-VN" dirty="0"/>
              <a:t>Lưu trữ các thông tin sau:</a:t>
            </a:r>
          </a:p>
          <a:p>
            <a:pPr lvl="1"/>
            <a:r>
              <a:rPr lang="en-US" dirty="0"/>
              <a:t>T</a:t>
            </a:r>
            <a:r>
              <a:rPr lang="vi-VN" dirty="0"/>
              <a:t>hư viện các chương trình con</a:t>
            </a:r>
          </a:p>
          <a:p>
            <a:pPr lvl="1"/>
            <a:r>
              <a:rPr lang="vi-VN" dirty="0"/>
              <a:t>Các chương trình điều khiển hệ thống (BIOS)</a:t>
            </a:r>
          </a:p>
          <a:p>
            <a:pPr lvl="1"/>
            <a:r>
              <a:rPr lang="vi-VN" dirty="0"/>
              <a:t>Vi chương trình</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kiểu</a:t>
            </a:r>
            <a:r>
              <a:rPr lang="en-US" dirty="0"/>
              <a:t> ROM</a:t>
            </a:r>
          </a:p>
        </p:txBody>
      </p:sp>
      <p:sp>
        <p:nvSpPr>
          <p:cNvPr id="3" name="Content Placeholder 2"/>
          <p:cNvSpPr>
            <a:spLocks noGrp="1"/>
          </p:cNvSpPr>
          <p:nvPr>
            <p:ph sz="quarter" idx="1"/>
          </p:nvPr>
        </p:nvSpPr>
        <p:spPr/>
        <p:txBody>
          <a:bodyPr>
            <a:normAutofit lnSpcReduction="10000"/>
          </a:bodyPr>
          <a:lstStyle/>
          <a:p>
            <a:r>
              <a:rPr lang="vi-VN" dirty="0"/>
              <a:t>ROM:</a:t>
            </a:r>
          </a:p>
          <a:p>
            <a:pPr lvl="1"/>
            <a:r>
              <a:rPr lang="vi-VN" dirty="0"/>
              <a:t>thông tin được ghi khi sản xuất</a:t>
            </a:r>
          </a:p>
          <a:p>
            <a:pPr lvl="1"/>
            <a:r>
              <a:rPr lang="vi-VN" dirty="0"/>
              <a:t>rất đắt</a:t>
            </a:r>
          </a:p>
          <a:p>
            <a:r>
              <a:rPr lang="vi-VN" dirty="0"/>
              <a:t>PROM (Programmable ROM)</a:t>
            </a:r>
          </a:p>
          <a:p>
            <a:pPr lvl="1"/>
            <a:r>
              <a:rPr lang="vi-VN" dirty="0"/>
              <a:t>Cần thiết bị chuyên dụng  để ghi bằng chương trình </a:t>
            </a:r>
            <a:r>
              <a:rPr lang="en-US" dirty="0"/>
              <a:t>-&gt;</a:t>
            </a:r>
            <a:r>
              <a:rPr lang="vi-VN" dirty="0"/>
              <a:t> chỉ ghi được 1 lần</a:t>
            </a:r>
          </a:p>
          <a:p>
            <a:r>
              <a:rPr lang="vi-VN" dirty="0"/>
              <a:t>EPROM (Erasable PROM)</a:t>
            </a:r>
          </a:p>
          <a:p>
            <a:pPr lvl="1"/>
            <a:r>
              <a:rPr lang="vi-VN" dirty="0"/>
              <a:t>Cần  thiết bị chuyên dụng  để ghi bằng chương trình </a:t>
            </a:r>
            <a:r>
              <a:rPr lang="en-US" dirty="0"/>
              <a:t>-&gt;</a:t>
            </a:r>
            <a:r>
              <a:rPr lang="vi-VN" dirty="0"/>
              <a:t> ghi được nhiều lần</a:t>
            </a:r>
          </a:p>
          <a:p>
            <a:pPr lvl="1"/>
            <a:r>
              <a:rPr lang="vi-VN" dirty="0"/>
              <a:t>Trước khi ghi lại, xóa bằng tia cực tím</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kiểu</a:t>
            </a:r>
            <a:r>
              <a:rPr lang="en-US" dirty="0"/>
              <a:t> ROM</a:t>
            </a:r>
          </a:p>
        </p:txBody>
      </p:sp>
      <p:sp>
        <p:nvSpPr>
          <p:cNvPr id="3" name="Content Placeholder 2"/>
          <p:cNvSpPr>
            <a:spLocks noGrp="1"/>
          </p:cNvSpPr>
          <p:nvPr>
            <p:ph sz="quarter" idx="1"/>
          </p:nvPr>
        </p:nvSpPr>
        <p:spPr/>
        <p:txBody>
          <a:bodyPr/>
          <a:lstStyle/>
          <a:p>
            <a:r>
              <a:rPr lang="vi-VN" dirty="0"/>
              <a:t>EEPROM (Electrically Erasable PROM)</a:t>
            </a:r>
          </a:p>
          <a:p>
            <a:pPr lvl="1"/>
            <a:r>
              <a:rPr lang="vi-VN" dirty="0"/>
              <a:t>Có thể ghi theo từng byte</a:t>
            </a:r>
          </a:p>
          <a:p>
            <a:pPr lvl="1"/>
            <a:r>
              <a:rPr lang="vi-VN" dirty="0"/>
              <a:t>Xóa bằng điện</a:t>
            </a:r>
          </a:p>
          <a:p>
            <a:r>
              <a:rPr lang="vi-VN" dirty="0"/>
              <a:t>Flash Memory (Bộ nhớ cực nhanh)</a:t>
            </a:r>
          </a:p>
          <a:p>
            <a:pPr lvl="1"/>
            <a:r>
              <a:rPr lang="vi-VN" dirty="0"/>
              <a:t>Ghi theo khối</a:t>
            </a:r>
          </a:p>
          <a:p>
            <a:pPr lvl="1"/>
            <a:r>
              <a:rPr lang="vi-VN" dirty="0"/>
              <a:t>Xóa bằng điện</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RAM (Random Access Memory)</a:t>
            </a:r>
          </a:p>
        </p:txBody>
      </p:sp>
      <p:sp>
        <p:nvSpPr>
          <p:cNvPr id="3" name="Content Placeholder 2"/>
          <p:cNvSpPr>
            <a:spLocks noGrp="1"/>
          </p:cNvSpPr>
          <p:nvPr>
            <p:ph sz="quarter" idx="1"/>
          </p:nvPr>
        </p:nvSpPr>
        <p:spPr/>
        <p:txBody>
          <a:bodyPr/>
          <a:lstStyle/>
          <a:p>
            <a:r>
              <a:rPr lang="vi-VN" dirty="0"/>
              <a:t>Bộ nhớ đọc-ghi (Read/Write Memory)</a:t>
            </a:r>
          </a:p>
          <a:p>
            <a:r>
              <a:rPr lang="vi-VN" dirty="0"/>
              <a:t>Khả biến</a:t>
            </a:r>
          </a:p>
          <a:p>
            <a:r>
              <a:rPr lang="vi-VN" dirty="0"/>
              <a:t>Lưu trữ thông tin tạm thời</a:t>
            </a:r>
          </a:p>
          <a:p>
            <a:r>
              <a:rPr lang="vi-VN" dirty="0"/>
              <a:t>Có 2 loại: SRAM và DRAM</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SRAM (Static RAM) – RAM </a:t>
            </a:r>
            <a:r>
              <a:rPr lang="en-US" dirty="0" err="1"/>
              <a:t>tĩnh</a:t>
            </a:r>
            <a:endParaRPr lang="en-US" dirty="0"/>
          </a:p>
        </p:txBody>
      </p:sp>
      <p:sp>
        <p:nvSpPr>
          <p:cNvPr id="3" name="Content Placeholder 2"/>
          <p:cNvSpPr>
            <a:spLocks noGrp="1"/>
          </p:cNvSpPr>
          <p:nvPr>
            <p:ph sz="quarter" idx="1"/>
          </p:nvPr>
        </p:nvSpPr>
        <p:spPr/>
        <p:txBody>
          <a:bodyPr/>
          <a:lstStyle/>
          <a:p>
            <a:r>
              <a:rPr lang="vi-VN" dirty="0"/>
              <a:t>Các bit được lưu trữ bằng các Flip-Flop </a:t>
            </a:r>
            <a:r>
              <a:rPr lang="en-US" dirty="0"/>
              <a:t>    -&gt; </a:t>
            </a:r>
            <a:r>
              <a:rPr lang="vi-VN" dirty="0"/>
              <a:t>thông tin ổn định</a:t>
            </a:r>
          </a:p>
          <a:p>
            <a:r>
              <a:rPr lang="vi-VN" dirty="0"/>
              <a:t>Cấu trúc phức tạp</a:t>
            </a:r>
          </a:p>
          <a:p>
            <a:r>
              <a:rPr lang="vi-VN" dirty="0"/>
              <a:t>Dung lượng chip nhỏ</a:t>
            </a:r>
          </a:p>
          <a:p>
            <a:r>
              <a:rPr lang="vi-VN" dirty="0"/>
              <a:t>Tốc độ nhanh</a:t>
            </a:r>
            <a:r>
              <a:rPr lang="en-US" dirty="0"/>
              <a:t> (6-8ns)</a:t>
            </a:r>
            <a:endParaRPr lang="vi-VN" dirty="0"/>
          </a:p>
          <a:p>
            <a:r>
              <a:rPr lang="vi-VN" dirty="0"/>
              <a:t>Đắt tiền</a:t>
            </a:r>
          </a:p>
          <a:p>
            <a:r>
              <a:rPr lang="vi-VN" dirty="0"/>
              <a:t>Dùng làm bộ nhớ cache</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SRAM cell</a:t>
            </a:r>
          </a:p>
        </p:txBody>
      </p:sp>
      <p:sp>
        <p:nvSpPr>
          <p:cNvPr id="3" name="Content Placeholder 2"/>
          <p:cNvSpPr>
            <a:spLocks noGrp="1"/>
          </p:cNvSpPr>
          <p:nvPr>
            <p:ph sz="quarter" idx="1"/>
          </p:nvPr>
        </p:nvSpPr>
        <p:spPr>
          <a:xfrm>
            <a:off x="228600" y="1676400"/>
            <a:ext cx="8229600" cy="4625609"/>
          </a:xfrm>
        </p:spPr>
        <p:txBody>
          <a:bodyPr/>
          <a:lstStyle/>
          <a:p>
            <a:r>
              <a:rPr lang="en-US" dirty="0"/>
              <a:t>Logic 1:</a:t>
            </a:r>
          </a:p>
          <a:p>
            <a:pPr lvl="1"/>
            <a:r>
              <a:rPr lang="en-US" dirty="0"/>
              <a:t>C1=high, C2=low</a:t>
            </a:r>
          </a:p>
          <a:p>
            <a:pPr lvl="1"/>
            <a:r>
              <a:rPr lang="en-US" dirty="0"/>
              <a:t>T1,T4: off</a:t>
            </a:r>
          </a:p>
          <a:p>
            <a:pPr lvl="1"/>
            <a:r>
              <a:rPr lang="en-US" dirty="0"/>
              <a:t>T2,T3: on</a:t>
            </a:r>
          </a:p>
          <a:p>
            <a:r>
              <a:rPr lang="en-US" dirty="0"/>
              <a:t>Logic 0:</a:t>
            </a:r>
          </a:p>
          <a:p>
            <a:pPr lvl="1"/>
            <a:r>
              <a:rPr lang="en-US" dirty="0"/>
              <a:t>C1=low, C2=high</a:t>
            </a:r>
          </a:p>
          <a:p>
            <a:pPr lvl="1"/>
            <a:r>
              <a:rPr lang="en-US" dirty="0"/>
              <a:t>T1,T4: on</a:t>
            </a:r>
          </a:p>
          <a:p>
            <a:pPr lvl="1"/>
            <a:r>
              <a:rPr lang="en-US" dirty="0"/>
              <a:t>T2,T3: off</a:t>
            </a:r>
          </a:p>
          <a:p>
            <a:pPr lvl="1"/>
            <a:endParaRPr lang="en-US" dirty="0"/>
          </a:p>
        </p:txBody>
      </p:sp>
      <p:pic>
        <p:nvPicPr>
          <p:cNvPr id="2050" name="Picture 2"/>
          <p:cNvPicPr>
            <a:picLocks noChangeAspect="1" noChangeArrowheads="1"/>
          </p:cNvPicPr>
          <p:nvPr/>
        </p:nvPicPr>
        <p:blipFill>
          <a:blip r:embed="rId2" cstate="print"/>
          <a:srcRect/>
          <a:stretch>
            <a:fillRect/>
          </a:stretch>
        </p:blipFill>
        <p:spPr bwMode="auto">
          <a:xfrm rot="5400000">
            <a:off x="3509962" y="1719263"/>
            <a:ext cx="5362575" cy="49149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DRAM (Dynamic RAM) – RAM </a:t>
            </a:r>
            <a:r>
              <a:rPr lang="en-US" sz="3600" dirty="0" err="1"/>
              <a:t>động</a:t>
            </a:r>
            <a:endParaRPr lang="en-US" sz="3600" dirty="0"/>
          </a:p>
        </p:txBody>
      </p:sp>
      <p:sp>
        <p:nvSpPr>
          <p:cNvPr id="3" name="Content Placeholder 2"/>
          <p:cNvSpPr>
            <a:spLocks noGrp="1"/>
          </p:cNvSpPr>
          <p:nvPr>
            <p:ph sz="quarter" idx="1"/>
          </p:nvPr>
        </p:nvSpPr>
        <p:spPr/>
        <p:txBody>
          <a:bodyPr/>
          <a:lstStyle/>
          <a:p>
            <a:r>
              <a:rPr lang="vi-VN" dirty="0"/>
              <a:t>Các bit được lưu trữ trên tụ điện </a:t>
            </a:r>
            <a:r>
              <a:rPr lang="en-US" dirty="0"/>
              <a:t>-&gt; </a:t>
            </a:r>
            <a:r>
              <a:rPr lang="vi-VN" dirty="0"/>
              <a:t>cần phải có</a:t>
            </a:r>
            <a:r>
              <a:rPr lang="en-US" dirty="0"/>
              <a:t> </a:t>
            </a:r>
            <a:r>
              <a:rPr lang="vi-VN" dirty="0"/>
              <a:t>mạch làm tươi</a:t>
            </a:r>
          </a:p>
          <a:p>
            <a:r>
              <a:rPr lang="vi-VN" dirty="0"/>
              <a:t>Cấu trúc đơn giản</a:t>
            </a:r>
          </a:p>
          <a:p>
            <a:r>
              <a:rPr lang="vi-VN" dirty="0"/>
              <a:t>Dung lượng lớn</a:t>
            </a:r>
          </a:p>
          <a:p>
            <a:r>
              <a:rPr lang="en-US" dirty="0"/>
              <a:t>T</a:t>
            </a:r>
            <a:r>
              <a:rPr lang="vi-VN" dirty="0"/>
              <a:t>ốc độ chậm hơn</a:t>
            </a:r>
            <a:r>
              <a:rPr lang="en-US" dirty="0"/>
              <a:t> (60-80ns)</a:t>
            </a:r>
            <a:endParaRPr lang="vi-VN" dirty="0"/>
          </a:p>
          <a:p>
            <a:r>
              <a:rPr lang="vi-VN" dirty="0"/>
              <a:t>Rẻ tiền hơn</a:t>
            </a:r>
          </a:p>
          <a:p>
            <a:r>
              <a:rPr lang="vi-VN" dirty="0"/>
              <a:t>Dùng làm bộ nhớ chính</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DRAM cell</a:t>
            </a:r>
          </a:p>
        </p:txBody>
      </p:sp>
      <p:pic>
        <p:nvPicPr>
          <p:cNvPr id="3074" name="Picture 2"/>
          <p:cNvPicPr>
            <a:picLocks noGrp="1" noChangeAspect="1" noChangeArrowheads="1"/>
          </p:cNvPicPr>
          <p:nvPr>
            <p:ph sz="quarter" idx="1"/>
          </p:nvPr>
        </p:nvPicPr>
        <p:blipFill>
          <a:blip r:embed="rId2" cstate="print"/>
          <a:stretch>
            <a:fillRect/>
          </a:stretch>
        </p:blipFill>
        <p:spPr bwMode="auto">
          <a:xfrm rot="5400000">
            <a:off x="2189162" y="2181225"/>
            <a:ext cx="5000625" cy="38385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DRAM </a:t>
            </a:r>
            <a:r>
              <a:rPr lang="en-US" dirty="0" err="1"/>
              <a:t>tiên</a:t>
            </a:r>
            <a:r>
              <a:rPr lang="en-US" dirty="0"/>
              <a:t> </a:t>
            </a:r>
            <a:r>
              <a:rPr lang="en-US" dirty="0" err="1"/>
              <a:t>tiến</a:t>
            </a:r>
            <a:endParaRPr lang="en-US" dirty="0"/>
          </a:p>
        </p:txBody>
      </p:sp>
      <p:sp>
        <p:nvSpPr>
          <p:cNvPr id="3" name="Content Placeholder 2"/>
          <p:cNvSpPr>
            <a:spLocks noGrp="1"/>
          </p:cNvSpPr>
          <p:nvPr>
            <p:ph sz="quarter" idx="1"/>
          </p:nvPr>
        </p:nvSpPr>
        <p:spPr/>
        <p:txBody>
          <a:bodyPr>
            <a:normAutofit fontScale="92500" lnSpcReduction="10000"/>
          </a:bodyPr>
          <a:lstStyle/>
          <a:p>
            <a:r>
              <a:rPr lang="vi-VN" dirty="0"/>
              <a:t>Enhanced DRAM</a:t>
            </a:r>
            <a:endParaRPr lang="en-US" dirty="0"/>
          </a:p>
          <a:p>
            <a:pPr lvl="1"/>
            <a:r>
              <a:rPr lang="en-US" dirty="0"/>
              <a:t>DRAM </a:t>
            </a:r>
            <a:r>
              <a:rPr lang="en-US" dirty="0" err="1"/>
              <a:t>có</a:t>
            </a:r>
            <a:r>
              <a:rPr lang="en-US" dirty="0"/>
              <a:t> </a:t>
            </a:r>
            <a:r>
              <a:rPr lang="en-US" dirty="0" err="1"/>
              <a:t>bao</a:t>
            </a:r>
            <a:r>
              <a:rPr lang="en-US" dirty="0"/>
              <a:t> </a:t>
            </a:r>
            <a:r>
              <a:rPr lang="en-US" dirty="0" err="1"/>
              <a:t>gồm</a:t>
            </a:r>
            <a:r>
              <a:rPr lang="en-US" dirty="0"/>
              <a:t> </a:t>
            </a:r>
            <a:r>
              <a:rPr lang="en-US" dirty="0" err="1"/>
              <a:t>một</a:t>
            </a:r>
            <a:r>
              <a:rPr lang="en-US" dirty="0"/>
              <a:t> </a:t>
            </a:r>
            <a:r>
              <a:rPr lang="en-US" dirty="0" err="1"/>
              <a:t>phần</a:t>
            </a:r>
            <a:r>
              <a:rPr lang="en-US" dirty="0"/>
              <a:t> </a:t>
            </a:r>
            <a:r>
              <a:rPr lang="en-US" dirty="0" err="1"/>
              <a:t>nhỏ</a:t>
            </a:r>
            <a:r>
              <a:rPr lang="en-US" dirty="0"/>
              <a:t> SRAM </a:t>
            </a:r>
            <a:endParaRPr lang="vi-VN" dirty="0"/>
          </a:p>
          <a:p>
            <a:pPr lvl="1"/>
            <a:r>
              <a:rPr lang="vi-VN" dirty="0"/>
              <a:t>Cache DRAM</a:t>
            </a:r>
            <a:r>
              <a:rPr lang="en-US" dirty="0"/>
              <a:t> (1Mb DRAM, 8kb SRAM)</a:t>
            </a:r>
            <a:endParaRPr lang="vi-VN" dirty="0"/>
          </a:p>
          <a:p>
            <a:r>
              <a:rPr lang="vi-VN" dirty="0"/>
              <a:t>Synchronous DRAM (SDRAM)</a:t>
            </a:r>
            <a:endParaRPr lang="en-US" dirty="0"/>
          </a:p>
          <a:p>
            <a:pPr lvl="1"/>
            <a:r>
              <a:rPr lang="en-US" dirty="0"/>
              <a:t>Đ</a:t>
            </a:r>
            <a:r>
              <a:rPr lang="vi-VN" dirty="0"/>
              <a:t>ồng bộ hóa với xung nhịp của CPU</a:t>
            </a:r>
            <a:endParaRPr lang="en-US" dirty="0"/>
          </a:p>
          <a:p>
            <a:r>
              <a:rPr lang="vi-VN" dirty="0"/>
              <a:t>DDR-SDRAM (Double Data Rate SDRAM</a:t>
            </a:r>
            <a:r>
              <a:rPr lang="en-US" dirty="0"/>
              <a:t>)</a:t>
            </a:r>
          </a:p>
          <a:p>
            <a:pPr lvl="1"/>
            <a:r>
              <a:rPr lang="en-US" dirty="0" err="1"/>
              <a:t>Gấp</a:t>
            </a:r>
            <a:r>
              <a:rPr lang="en-US" dirty="0"/>
              <a:t> </a:t>
            </a:r>
            <a:r>
              <a:rPr lang="en-US" dirty="0" err="1"/>
              <a:t>đôi</a:t>
            </a:r>
            <a:r>
              <a:rPr lang="en-US" dirty="0"/>
              <a:t> </a:t>
            </a:r>
            <a:r>
              <a:rPr lang="en-US" dirty="0" err="1"/>
              <a:t>tốc</a:t>
            </a:r>
            <a:r>
              <a:rPr lang="en-US" dirty="0"/>
              <a:t> </a:t>
            </a:r>
            <a:r>
              <a:rPr lang="en-US" dirty="0" err="1"/>
              <a:t>độ</a:t>
            </a:r>
            <a:r>
              <a:rPr lang="en-US" dirty="0"/>
              <a:t> </a:t>
            </a:r>
            <a:r>
              <a:rPr lang="en-US" dirty="0" err="1"/>
              <a:t>của</a:t>
            </a:r>
            <a:r>
              <a:rPr lang="en-US" dirty="0"/>
              <a:t> SDRAM, 184-pin</a:t>
            </a:r>
            <a:endParaRPr lang="vi-VN" dirty="0"/>
          </a:p>
          <a:p>
            <a:r>
              <a:rPr lang="vi-VN" dirty="0"/>
              <a:t>Rambus DRAM (RDRAM)</a:t>
            </a:r>
            <a:endParaRPr lang="en-US" dirty="0"/>
          </a:p>
          <a:p>
            <a:pPr lvl="1"/>
            <a:r>
              <a:rPr lang="en-US" dirty="0"/>
              <a:t>2</a:t>
            </a:r>
            <a:r>
              <a:rPr lang="vi-VN" dirty="0"/>
              <a:t> kênh truyền thông riêng biệt (dual channel)</a:t>
            </a:r>
            <a:endParaRPr lang="en-US" dirty="0"/>
          </a:p>
          <a:p>
            <a:pPr lvl="1"/>
            <a:r>
              <a:rPr lang="en-US" dirty="0"/>
              <a:t>T</a:t>
            </a:r>
            <a:r>
              <a:rPr lang="vi-VN" dirty="0"/>
              <a:t>ốc độ chuyển dữ liệu lên tới 3.2Gbytes/giây</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Tổ</a:t>
            </a:r>
            <a:r>
              <a:rPr lang="en-US" dirty="0"/>
              <a:t> </a:t>
            </a:r>
            <a:r>
              <a:rPr lang="en-US" dirty="0" err="1"/>
              <a:t>chức</a:t>
            </a:r>
            <a:r>
              <a:rPr lang="en-US" dirty="0"/>
              <a:t> </a:t>
            </a:r>
            <a:r>
              <a:rPr lang="en-US" dirty="0" err="1"/>
              <a:t>của</a:t>
            </a:r>
            <a:r>
              <a:rPr lang="en-US" dirty="0"/>
              <a:t> chip </a:t>
            </a:r>
            <a:r>
              <a:rPr lang="en-US" dirty="0" err="1"/>
              <a:t>nhớ</a:t>
            </a:r>
            <a:endParaRPr lang="en-US" dirty="0"/>
          </a:p>
        </p:txBody>
      </p:sp>
      <p:pic>
        <p:nvPicPr>
          <p:cNvPr id="3074" name="Picture 2"/>
          <p:cNvPicPr>
            <a:picLocks noGrp="1" noChangeAspect="1" noChangeArrowheads="1"/>
          </p:cNvPicPr>
          <p:nvPr>
            <p:ph sz="quarter" idx="1"/>
          </p:nvPr>
        </p:nvPicPr>
        <p:blipFill>
          <a:blip r:embed="rId2" cstate="print"/>
          <a:srcRect/>
          <a:stretch>
            <a:fillRect/>
          </a:stretch>
        </p:blipFill>
        <p:spPr bwMode="auto">
          <a:xfrm>
            <a:off x="1828800" y="1868487"/>
            <a:ext cx="5376567" cy="4532313"/>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tín</a:t>
            </a:r>
            <a:r>
              <a:rPr lang="en-US" dirty="0"/>
              <a:t> </a:t>
            </a:r>
            <a:r>
              <a:rPr lang="en-US" dirty="0" err="1"/>
              <a:t>hiệu</a:t>
            </a:r>
            <a:r>
              <a:rPr lang="en-US" dirty="0"/>
              <a:t> </a:t>
            </a:r>
            <a:r>
              <a:rPr lang="en-US" dirty="0" err="1"/>
              <a:t>của</a:t>
            </a:r>
            <a:r>
              <a:rPr lang="en-US" dirty="0"/>
              <a:t> chip </a:t>
            </a:r>
            <a:r>
              <a:rPr lang="en-US" dirty="0" err="1"/>
              <a:t>nhớ</a:t>
            </a:r>
            <a:endParaRPr lang="en-US" dirty="0"/>
          </a:p>
        </p:txBody>
      </p:sp>
      <p:sp>
        <p:nvSpPr>
          <p:cNvPr id="3" name="Content Placeholder 2"/>
          <p:cNvSpPr>
            <a:spLocks noGrp="1"/>
          </p:cNvSpPr>
          <p:nvPr>
            <p:ph sz="quarter" idx="1"/>
          </p:nvPr>
        </p:nvSpPr>
        <p:spPr/>
        <p:txBody>
          <a:bodyPr>
            <a:normAutofit lnSpcReduction="10000"/>
          </a:bodyPr>
          <a:lstStyle/>
          <a:p>
            <a:r>
              <a:rPr lang="vi-VN" dirty="0"/>
              <a:t>Các đường địa chỉ: A</a:t>
            </a:r>
            <a:r>
              <a:rPr lang="vi-VN" baseline="-25000" dirty="0"/>
              <a:t>n-1</a:t>
            </a:r>
            <a:r>
              <a:rPr lang="vi-VN" dirty="0"/>
              <a:t> ÷</a:t>
            </a:r>
            <a:r>
              <a:rPr lang="en-US" dirty="0"/>
              <a:t> </a:t>
            </a:r>
            <a:r>
              <a:rPr lang="vi-VN" dirty="0"/>
              <a:t>A</a:t>
            </a:r>
            <a:r>
              <a:rPr lang="vi-VN" baseline="-25000" dirty="0"/>
              <a:t>0</a:t>
            </a:r>
            <a:r>
              <a:rPr lang="vi-VN" dirty="0"/>
              <a:t> </a:t>
            </a:r>
            <a:r>
              <a:rPr lang="en-US" dirty="0"/>
              <a:t>-&gt;</a:t>
            </a:r>
            <a:r>
              <a:rPr lang="vi-VN" dirty="0"/>
              <a:t> có</a:t>
            </a:r>
            <a:r>
              <a:rPr lang="en-US" dirty="0"/>
              <a:t> </a:t>
            </a:r>
            <a:r>
              <a:rPr lang="vi-VN" dirty="0"/>
              <a:t>2</a:t>
            </a:r>
            <a:r>
              <a:rPr lang="vi-VN" baseline="30000" dirty="0"/>
              <a:t>n</a:t>
            </a:r>
            <a:r>
              <a:rPr lang="vi-VN" dirty="0"/>
              <a:t> từ nhớ</a:t>
            </a:r>
          </a:p>
          <a:p>
            <a:r>
              <a:rPr lang="vi-VN" dirty="0"/>
              <a:t>Các đường dữ liệu: D</a:t>
            </a:r>
            <a:r>
              <a:rPr lang="vi-VN" baseline="-25000" dirty="0"/>
              <a:t>m-1</a:t>
            </a:r>
            <a:r>
              <a:rPr lang="vi-VN" dirty="0"/>
              <a:t> ÷</a:t>
            </a:r>
            <a:r>
              <a:rPr lang="en-US" dirty="0"/>
              <a:t> </a:t>
            </a:r>
            <a:r>
              <a:rPr lang="vi-VN" dirty="0"/>
              <a:t>D</a:t>
            </a:r>
            <a:r>
              <a:rPr lang="vi-VN" baseline="-25000" dirty="0"/>
              <a:t>0</a:t>
            </a:r>
            <a:r>
              <a:rPr lang="vi-VN" dirty="0"/>
              <a:t> </a:t>
            </a:r>
            <a:r>
              <a:rPr lang="en-US" dirty="0"/>
              <a:t>-&gt;</a:t>
            </a:r>
            <a:r>
              <a:rPr lang="vi-VN" dirty="0"/>
              <a:t> độ dài từ</a:t>
            </a:r>
            <a:r>
              <a:rPr lang="en-US" dirty="0"/>
              <a:t> </a:t>
            </a:r>
            <a:r>
              <a:rPr lang="vi-VN" dirty="0"/>
              <a:t>nhớ = m bit</a:t>
            </a:r>
          </a:p>
          <a:p>
            <a:r>
              <a:rPr lang="vi-VN" dirty="0"/>
              <a:t>Dung lượng chip nhớ = 2</a:t>
            </a:r>
            <a:r>
              <a:rPr lang="vi-VN" baseline="30000" dirty="0"/>
              <a:t>n</a:t>
            </a:r>
            <a:r>
              <a:rPr lang="vi-VN" dirty="0"/>
              <a:t> x m bit</a:t>
            </a:r>
          </a:p>
          <a:p>
            <a:r>
              <a:rPr lang="vi-VN" dirty="0"/>
              <a:t>Các đường điều khiển:</a:t>
            </a:r>
          </a:p>
          <a:p>
            <a:pPr lvl="1"/>
            <a:r>
              <a:rPr lang="vi-VN" dirty="0"/>
              <a:t>Tín hiệu chọn chip CS (Chip Select)</a:t>
            </a:r>
          </a:p>
          <a:p>
            <a:pPr lvl="1"/>
            <a:r>
              <a:rPr lang="vi-VN" dirty="0"/>
              <a:t>Tín hiệu điều khiển đọc OE (Output Enable)</a:t>
            </a:r>
          </a:p>
          <a:p>
            <a:pPr lvl="1"/>
            <a:r>
              <a:rPr lang="vi-VN" dirty="0"/>
              <a:t>Tín hiệu điều khiển ghi WE (Write Enable)</a:t>
            </a:r>
          </a:p>
          <a:p>
            <a:r>
              <a:rPr lang="vi-VN" dirty="0"/>
              <a:t>Các tín hiệu điều khiển tích cực với mức 0</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Tổ</a:t>
            </a:r>
            <a:r>
              <a:rPr lang="en-US" dirty="0"/>
              <a:t> </a:t>
            </a:r>
            <a:r>
              <a:rPr lang="en-US" dirty="0" err="1"/>
              <a:t>chức</a:t>
            </a:r>
            <a:r>
              <a:rPr lang="en-US" dirty="0"/>
              <a:t> </a:t>
            </a:r>
            <a:r>
              <a:rPr lang="en-US" dirty="0" err="1"/>
              <a:t>của</a:t>
            </a:r>
            <a:r>
              <a:rPr lang="en-US" dirty="0"/>
              <a:t> DRAM</a:t>
            </a:r>
          </a:p>
        </p:txBody>
      </p:sp>
      <p:sp>
        <p:nvSpPr>
          <p:cNvPr id="3" name="Content Placeholder 2"/>
          <p:cNvSpPr>
            <a:spLocks noGrp="1"/>
          </p:cNvSpPr>
          <p:nvPr>
            <p:ph sz="quarter" idx="1"/>
          </p:nvPr>
        </p:nvSpPr>
        <p:spPr>
          <a:xfrm>
            <a:off x="457200" y="1775191"/>
            <a:ext cx="8382000" cy="2263409"/>
          </a:xfrm>
        </p:spPr>
        <p:txBody>
          <a:bodyPr>
            <a:normAutofit fontScale="92500" lnSpcReduction="10000"/>
          </a:bodyPr>
          <a:lstStyle/>
          <a:p>
            <a:r>
              <a:rPr lang="vi-VN" dirty="0"/>
              <a:t>Dùng n đường địa chỉ dồn kênh </a:t>
            </a:r>
            <a:r>
              <a:rPr lang="en-US" dirty="0"/>
              <a:t>-&gt;</a:t>
            </a:r>
            <a:r>
              <a:rPr lang="vi-VN" dirty="0"/>
              <a:t> cho phép truyền </a:t>
            </a:r>
            <a:r>
              <a:rPr lang="en-US" dirty="0"/>
              <a:t>2</a:t>
            </a:r>
            <a:r>
              <a:rPr lang="en-US" sz="3300" baseline="30000" dirty="0"/>
              <a:t>n</a:t>
            </a:r>
            <a:r>
              <a:rPr lang="vi-VN" dirty="0"/>
              <a:t> bit địa chỉ</a:t>
            </a:r>
          </a:p>
          <a:p>
            <a:pPr lvl="1"/>
            <a:r>
              <a:rPr lang="vi-VN" dirty="0"/>
              <a:t>Tín hiệu chọn địa chỉ hàng RAS (Row Address Select)</a:t>
            </a:r>
          </a:p>
          <a:p>
            <a:pPr lvl="1"/>
            <a:r>
              <a:rPr lang="vi-VN" dirty="0"/>
              <a:t>Tín hiệu chọn địa chỉ cột CAS (Column Address Select)</a:t>
            </a:r>
          </a:p>
          <a:p>
            <a:r>
              <a:rPr lang="vi-VN" dirty="0"/>
              <a:t>Dung lượng của DRAM = 2</a:t>
            </a:r>
            <a:r>
              <a:rPr lang="vi-VN" baseline="30000" dirty="0"/>
              <a:t>2n</a:t>
            </a:r>
            <a:r>
              <a:rPr lang="vi-VN" dirty="0"/>
              <a:t> x m bit</a:t>
            </a:r>
            <a:endParaRPr lang="en-US" dirty="0"/>
          </a:p>
        </p:txBody>
      </p:sp>
      <p:grpSp>
        <p:nvGrpSpPr>
          <p:cNvPr id="4098" name="Group 2"/>
          <p:cNvGrpSpPr>
            <a:grpSpLocks/>
          </p:cNvGrpSpPr>
          <p:nvPr/>
        </p:nvGrpSpPr>
        <p:grpSpPr bwMode="auto">
          <a:xfrm>
            <a:off x="0" y="4267200"/>
            <a:ext cx="3733800" cy="2103437"/>
            <a:chOff x="2304" y="8640"/>
            <a:chExt cx="6477" cy="3312"/>
          </a:xfrm>
        </p:grpSpPr>
        <p:sp>
          <p:nvSpPr>
            <p:cNvPr id="4099" name="Text Box 3"/>
            <p:cNvSpPr txBox="1">
              <a:spLocks noChangeArrowheads="1"/>
            </p:cNvSpPr>
            <p:nvPr/>
          </p:nvSpPr>
          <p:spPr bwMode="auto">
            <a:xfrm>
              <a:off x="4320" y="8640"/>
              <a:ext cx="2736" cy="201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Memory</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Arial" pitchFamily="34" charset="0"/>
                </a:rPr>
                <a:t>	</a:t>
              </a:r>
              <a:r>
                <a:rPr kumimoji="0" lang="en-US" sz="1100" b="0" i="0" u="none" strike="noStrike" cap="none" normalizeH="0" baseline="0">
                  <a:ln>
                    <a:noFill/>
                  </a:ln>
                  <a:solidFill>
                    <a:schemeClr val="tx1"/>
                  </a:solidFill>
                  <a:effectLst/>
                  <a:latin typeface="Calibri" pitchFamily="34" charset="0"/>
                  <a:cs typeface="Arial" pitchFamily="34" charset="0"/>
                </a:rPr>
                <a:t>  device</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100" name="Line 4"/>
            <p:cNvSpPr>
              <a:spLocks noChangeShapeType="1"/>
            </p:cNvSpPr>
            <p:nvPr/>
          </p:nvSpPr>
          <p:spPr bwMode="auto">
            <a:xfrm>
              <a:off x="7056" y="8928"/>
              <a:ext cx="86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1" name="Line 5"/>
            <p:cNvSpPr>
              <a:spLocks noChangeShapeType="1"/>
            </p:cNvSpPr>
            <p:nvPr/>
          </p:nvSpPr>
          <p:spPr bwMode="auto">
            <a:xfrm>
              <a:off x="7056" y="9216"/>
              <a:ext cx="86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2" name="Line 6"/>
            <p:cNvSpPr>
              <a:spLocks noChangeShapeType="1"/>
            </p:cNvSpPr>
            <p:nvPr/>
          </p:nvSpPr>
          <p:spPr bwMode="auto">
            <a:xfrm>
              <a:off x="7056" y="9504"/>
              <a:ext cx="86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3" name="Line 7"/>
            <p:cNvSpPr>
              <a:spLocks noChangeShapeType="1"/>
            </p:cNvSpPr>
            <p:nvPr/>
          </p:nvSpPr>
          <p:spPr bwMode="auto">
            <a:xfrm>
              <a:off x="7056" y="9792"/>
              <a:ext cx="86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4" name="Line 8"/>
            <p:cNvSpPr>
              <a:spLocks noChangeShapeType="1"/>
            </p:cNvSpPr>
            <p:nvPr/>
          </p:nvSpPr>
          <p:spPr bwMode="auto">
            <a:xfrm>
              <a:off x="7056" y="10080"/>
              <a:ext cx="86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5" name="Line 9"/>
            <p:cNvSpPr>
              <a:spLocks noChangeShapeType="1"/>
            </p:cNvSpPr>
            <p:nvPr/>
          </p:nvSpPr>
          <p:spPr bwMode="auto">
            <a:xfrm>
              <a:off x="3456" y="8928"/>
              <a:ext cx="86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6" name="Line 10"/>
            <p:cNvSpPr>
              <a:spLocks noChangeShapeType="1"/>
            </p:cNvSpPr>
            <p:nvPr/>
          </p:nvSpPr>
          <p:spPr bwMode="auto">
            <a:xfrm>
              <a:off x="3456" y="9216"/>
              <a:ext cx="86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7" name="Line 11"/>
            <p:cNvSpPr>
              <a:spLocks noChangeShapeType="1"/>
            </p:cNvSpPr>
            <p:nvPr/>
          </p:nvSpPr>
          <p:spPr bwMode="auto">
            <a:xfrm>
              <a:off x="3456" y="9504"/>
              <a:ext cx="86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8" name="Line 12"/>
            <p:cNvSpPr>
              <a:spLocks noChangeShapeType="1"/>
            </p:cNvSpPr>
            <p:nvPr/>
          </p:nvSpPr>
          <p:spPr bwMode="auto">
            <a:xfrm>
              <a:off x="3456" y="9792"/>
              <a:ext cx="86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9" name="Line 13"/>
            <p:cNvSpPr>
              <a:spLocks noChangeShapeType="1"/>
            </p:cNvSpPr>
            <p:nvPr/>
          </p:nvSpPr>
          <p:spPr bwMode="auto">
            <a:xfrm>
              <a:off x="3456" y="10080"/>
              <a:ext cx="86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10" name="Line 14"/>
            <p:cNvSpPr>
              <a:spLocks noChangeShapeType="1"/>
            </p:cNvSpPr>
            <p:nvPr/>
          </p:nvSpPr>
          <p:spPr bwMode="auto">
            <a:xfrm>
              <a:off x="4896" y="10656"/>
              <a:ext cx="0" cy="7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11" name="Line 15"/>
            <p:cNvSpPr>
              <a:spLocks noChangeShapeType="1"/>
            </p:cNvSpPr>
            <p:nvPr/>
          </p:nvSpPr>
          <p:spPr bwMode="auto">
            <a:xfrm>
              <a:off x="6480" y="10656"/>
              <a:ext cx="0" cy="7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12" name="Text Box 16"/>
            <p:cNvSpPr txBox="1">
              <a:spLocks noChangeArrowheads="1"/>
            </p:cNvSpPr>
            <p:nvPr/>
          </p:nvSpPr>
          <p:spPr bwMode="auto">
            <a:xfrm>
              <a:off x="7920" y="8928"/>
              <a:ext cx="861" cy="1152"/>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chemeClr val="tx1"/>
                  </a:solidFill>
                  <a:effectLst/>
                  <a:latin typeface="Calibri" pitchFamily="34" charset="0"/>
                  <a:cs typeface="Arial" pitchFamily="34" charset="0"/>
                </a:rPr>
                <a:t>Data</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chemeClr val="tx1"/>
                  </a:solidFill>
                  <a:effectLst/>
                  <a:latin typeface="Calibri" pitchFamily="34" charset="0"/>
                  <a:cs typeface="Arial" pitchFamily="34" charset="0"/>
                </a:rPr>
                <a:t>lines</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chemeClr val="tx1"/>
                  </a:solidFill>
                  <a:effectLst/>
                  <a:latin typeface="Calibri" pitchFamily="34" charset="0"/>
                  <a:cs typeface="Arial" pitchFamily="34" charset="0"/>
                </a:rPr>
                <a:t>  (m)</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4113" name="Text Box 17"/>
            <p:cNvSpPr txBox="1">
              <a:spLocks noChangeArrowheads="1"/>
            </p:cNvSpPr>
            <p:nvPr/>
          </p:nvSpPr>
          <p:spPr bwMode="auto">
            <a:xfrm>
              <a:off x="2304" y="8928"/>
              <a:ext cx="1322" cy="1152"/>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chemeClr val="tx1"/>
                  </a:solidFill>
                  <a:effectLst/>
                  <a:latin typeface="Calibri" pitchFamily="34" charset="0"/>
                  <a:cs typeface="Arial" pitchFamily="34" charset="0"/>
                </a:rPr>
                <a:t>Address</a:t>
              </a:r>
              <a:r>
                <a:rPr lang="en-US" sz="1200" dirty="0">
                  <a:latin typeface="Calibri" pitchFamily="34" charset="0"/>
                  <a:cs typeface="Arial" pitchFamily="34" charset="0"/>
                </a:rPr>
                <a:t> </a:t>
              </a:r>
              <a:r>
                <a:rPr kumimoji="0" lang="en-US" sz="1200" b="0" i="0" u="none" strike="noStrike" cap="none" normalizeH="0" baseline="0" dirty="0">
                  <a:ln>
                    <a:noFill/>
                  </a:ln>
                  <a:solidFill>
                    <a:schemeClr val="tx1"/>
                  </a:solidFill>
                  <a:effectLst/>
                  <a:latin typeface="Calibri" pitchFamily="34" charset="0"/>
                  <a:cs typeface="Arial" pitchFamily="34" charset="0"/>
                </a:rPr>
                <a:t>lines</a:t>
              </a:r>
              <a:r>
                <a:rPr kumimoji="0" lang="en-US" sz="1200" b="0" i="0" u="none" strike="noStrike" cap="none" normalizeH="0" dirty="0">
                  <a:ln>
                    <a:noFill/>
                  </a:ln>
                  <a:solidFill>
                    <a:schemeClr val="tx1"/>
                  </a:solidFill>
                  <a:effectLst/>
                  <a:latin typeface="Calibri" pitchFamily="34" charset="0"/>
                  <a:cs typeface="Arial" pitchFamily="34" charset="0"/>
                </a:rPr>
                <a:t> </a:t>
              </a:r>
              <a:r>
                <a:rPr kumimoji="0" lang="en-US" sz="1200" b="0" i="0" u="none" strike="noStrike" cap="none" normalizeH="0" baseline="0" dirty="0">
                  <a:ln>
                    <a:noFill/>
                  </a:ln>
                  <a:solidFill>
                    <a:schemeClr val="tx1"/>
                  </a:solidFill>
                  <a:effectLst/>
                  <a:latin typeface="Calibri" pitchFamily="34" charset="0"/>
                  <a:cs typeface="Arial" pitchFamily="34" charset="0"/>
                </a:rPr>
                <a:t>(n)</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4114" name="Text Box 18"/>
            <p:cNvSpPr txBox="1">
              <a:spLocks noChangeArrowheads="1"/>
            </p:cNvSpPr>
            <p:nvPr/>
          </p:nvSpPr>
          <p:spPr bwMode="auto">
            <a:xfrm>
              <a:off x="3168" y="10800"/>
              <a:ext cx="1584" cy="1152"/>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a:ln>
                    <a:noFill/>
                  </a:ln>
                  <a:solidFill>
                    <a:schemeClr val="tx1"/>
                  </a:solidFill>
                  <a:effectLst/>
                  <a:latin typeface="Calibri" pitchFamily="34" charset="0"/>
                  <a:cs typeface="Arial" pitchFamily="34" charset="0"/>
                </a:rPr>
                <a:t>Read/write</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a:ln>
                    <a:noFill/>
                  </a:ln>
                  <a:solidFill>
                    <a:schemeClr val="tx1"/>
                  </a:solidFill>
                  <a:effectLst/>
                  <a:latin typeface="Calibri" pitchFamily="34" charset="0"/>
                  <a:cs typeface="Arial" pitchFamily="34" charset="0"/>
                </a:rPr>
                <a:t>    enable (RAM only)</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115" name="Text Box 19"/>
            <p:cNvSpPr txBox="1">
              <a:spLocks noChangeArrowheads="1"/>
            </p:cNvSpPr>
            <p:nvPr/>
          </p:nvSpPr>
          <p:spPr bwMode="auto">
            <a:xfrm>
              <a:off x="6624" y="10800"/>
              <a:ext cx="1760" cy="100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chemeClr val="tx1"/>
                  </a:solidFill>
                  <a:effectLst/>
                  <a:latin typeface="Calibri" pitchFamily="34" charset="0"/>
                  <a:cs typeface="Arial" pitchFamily="34" charset="0"/>
                </a:rPr>
                <a:t>Device(chip)</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dirty="0">
                  <a:ln>
                    <a:noFill/>
                  </a:ln>
                  <a:solidFill>
                    <a:schemeClr val="tx1"/>
                  </a:solidFill>
                  <a:effectLst/>
                  <a:latin typeface="Calibri" pitchFamily="34" charset="0"/>
                  <a:cs typeface="Arial" pitchFamily="34" charset="0"/>
                </a:rPr>
                <a:t>    enable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grpSp>
      <p:grpSp>
        <p:nvGrpSpPr>
          <p:cNvPr id="4116" name="Group 20"/>
          <p:cNvGrpSpPr>
            <a:grpSpLocks/>
          </p:cNvGrpSpPr>
          <p:nvPr/>
        </p:nvGrpSpPr>
        <p:grpSpPr bwMode="auto">
          <a:xfrm>
            <a:off x="4114800" y="3886199"/>
            <a:ext cx="5029200" cy="2468563"/>
            <a:chOff x="1728" y="5760"/>
            <a:chExt cx="8496" cy="3888"/>
          </a:xfrm>
        </p:grpSpPr>
        <p:sp>
          <p:nvSpPr>
            <p:cNvPr id="4117" name="Text Box 21"/>
            <p:cNvSpPr txBox="1">
              <a:spLocks noChangeArrowheads="1"/>
            </p:cNvSpPr>
            <p:nvPr/>
          </p:nvSpPr>
          <p:spPr bwMode="auto">
            <a:xfrm>
              <a:off x="5040" y="7344"/>
              <a:ext cx="2016" cy="14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dirty="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tx1"/>
                  </a:solidFill>
                  <a:effectLst/>
                  <a:latin typeface="Calibri" pitchFamily="34" charset="0"/>
                  <a:cs typeface="Arial" pitchFamily="34" charset="0"/>
                </a:rPr>
                <a:t>      Memory</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tx1"/>
                  </a:solidFill>
                  <a:effectLst/>
                  <a:latin typeface="Calibri" pitchFamily="34" charset="0"/>
                  <a:cs typeface="Arial" pitchFamily="34" charset="0"/>
                </a:rPr>
                <a:t>        matrix</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4118" name="Text Box 22"/>
            <p:cNvSpPr txBox="1">
              <a:spLocks noChangeArrowheads="1"/>
            </p:cNvSpPr>
            <p:nvPr/>
          </p:nvSpPr>
          <p:spPr bwMode="auto">
            <a:xfrm>
              <a:off x="4896" y="5760"/>
              <a:ext cx="2160" cy="72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tx1"/>
                  </a:solidFill>
                  <a:effectLst/>
                  <a:latin typeface="Calibri" pitchFamily="34" charset="0"/>
                  <a:cs typeface="Arial" pitchFamily="34" charset="0"/>
                </a:rPr>
                <a:t> Column address</a:t>
              </a:r>
              <a:r>
                <a:rPr kumimoji="0" lang="en-US" sz="1100" b="0" i="0" u="none" strike="noStrike" cap="none" normalizeH="0" dirty="0">
                  <a:ln>
                    <a:noFill/>
                  </a:ln>
                  <a:solidFill>
                    <a:schemeClr val="tx1"/>
                  </a:solidFill>
                  <a:effectLst/>
                  <a:latin typeface="Calibri" pitchFamily="34" charset="0"/>
                  <a:cs typeface="Arial" pitchFamily="34" charset="0"/>
                </a:rPr>
                <a:t> </a:t>
              </a:r>
              <a:r>
                <a:rPr kumimoji="0" lang="en-US" sz="1100" b="0" i="0" u="none" strike="noStrike" cap="none" normalizeH="0" baseline="0" dirty="0">
                  <a:ln>
                    <a:noFill/>
                  </a:ln>
                  <a:solidFill>
                    <a:schemeClr val="tx1"/>
                  </a:solidFill>
                  <a:effectLst/>
                  <a:latin typeface="Calibri" pitchFamily="34" charset="0"/>
                  <a:cs typeface="Arial" pitchFamily="34" charset="0"/>
                </a:rPr>
                <a:t>selector(CAS)</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4119" name="Text Box 23"/>
            <p:cNvSpPr txBox="1">
              <a:spLocks noChangeArrowheads="1"/>
            </p:cNvSpPr>
            <p:nvPr/>
          </p:nvSpPr>
          <p:spPr bwMode="auto">
            <a:xfrm>
              <a:off x="3327" y="7344"/>
              <a:ext cx="1104" cy="14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tx1"/>
                  </a:solidFill>
                  <a:effectLst/>
                  <a:latin typeface="Calibri" pitchFamily="34" charset="0"/>
                  <a:cs typeface="Arial" pitchFamily="34" charset="0"/>
                </a:rPr>
                <a:t>Row</a:t>
              </a:r>
              <a:r>
                <a:rPr lang="en-US" sz="1100" dirty="0">
                  <a:latin typeface="Calibri" pitchFamily="34" charset="0"/>
                  <a:cs typeface="Arial" pitchFamily="34" charset="0"/>
                </a:rPr>
                <a:t> </a:t>
              </a:r>
              <a:r>
                <a:rPr kumimoji="0" lang="en-US" sz="1100" b="0" i="0" u="none" strike="noStrike" cap="none" normalizeH="0" baseline="0" dirty="0">
                  <a:ln>
                    <a:noFill/>
                  </a:ln>
                  <a:solidFill>
                    <a:schemeClr val="tx1"/>
                  </a:solidFill>
                  <a:effectLst/>
                  <a:latin typeface="Calibri" pitchFamily="34" charset="0"/>
                  <a:cs typeface="Arial" pitchFamily="34" charset="0"/>
                </a:rPr>
                <a:t>Address</a:t>
              </a:r>
              <a:r>
                <a:rPr kumimoji="0" lang="en-US" sz="1100" b="0" i="0" u="none" strike="noStrike" cap="none" normalizeH="0" dirty="0">
                  <a:ln>
                    <a:noFill/>
                  </a:ln>
                  <a:solidFill>
                    <a:schemeClr val="tx1"/>
                  </a:solidFill>
                  <a:effectLst/>
                  <a:latin typeface="Calibri" pitchFamily="34" charset="0"/>
                  <a:cs typeface="Arial" pitchFamily="34" charset="0"/>
                </a:rPr>
                <a:t> </a:t>
              </a:r>
              <a:r>
                <a:rPr kumimoji="0" lang="en-US" sz="1100" b="0" i="0" u="none" strike="noStrike" cap="none" normalizeH="0" baseline="0" dirty="0">
                  <a:ln>
                    <a:noFill/>
                  </a:ln>
                  <a:solidFill>
                    <a:schemeClr val="tx1"/>
                  </a:solidFill>
                  <a:effectLst/>
                  <a:latin typeface="Calibri" pitchFamily="34" charset="0"/>
                  <a:cs typeface="Arial" pitchFamily="34" charset="0"/>
                </a:rPr>
                <a:t>selector</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tx1"/>
                  </a:solidFill>
                  <a:effectLst/>
                  <a:latin typeface="Calibri" pitchFamily="34" charset="0"/>
                  <a:cs typeface="Arial" pitchFamily="34" charset="0"/>
                </a:rPr>
                <a:t> (RAS)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4120" name="Text Box 24"/>
            <p:cNvSpPr txBox="1">
              <a:spLocks noChangeArrowheads="1"/>
            </p:cNvSpPr>
            <p:nvPr/>
          </p:nvSpPr>
          <p:spPr bwMode="auto">
            <a:xfrm>
              <a:off x="7632" y="7344"/>
              <a:ext cx="1008" cy="14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  Data</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Buffers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121" name="Text Box 25"/>
            <p:cNvSpPr txBox="1">
              <a:spLocks noChangeArrowheads="1"/>
            </p:cNvSpPr>
            <p:nvPr/>
          </p:nvSpPr>
          <p:spPr bwMode="auto">
            <a:xfrm>
              <a:off x="1728" y="5760"/>
              <a:ext cx="1152" cy="3024"/>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dirty="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tx1"/>
                  </a:solidFill>
                  <a:effectLst/>
                  <a:latin typeface="Calibri" pitchFamily="34" charset="0"/>
                  <a:cs typeface="Arial" pitchFamily="34" charset="0"/>
                </a:rPr>
                <a:t>Memory</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tx1"/>
                  </a:solidFill>
                  <a:effectLst/>
                  <a:latin typeface="Calibri" pitchFamily="34" charset="0"/>
                  <a:cs typeface="Arial" pitchFamily="34" charset="0"/>
                </a:rPr>
                <a:t> address</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tx1"/>
                  </a:solidFill>
                  <a:effectLst/>
                  <a:latin typeface="Calibri" pitchFamily="34" charset="0"/>
                  <a:cs typeface="Arial" pitchFamily="34" charset="0"/>
                </a:rPr>
                <a:t>  lines</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tx1"/>
                  </a:solidFill>
                  <a:effectLst/>
                  <a:latin typeface="Calibri" pitchFamily="34" charset="0"/>
                  <a:cs typeface="Arial" pitchFamily="34" charset="0"/>
                </a:rPr>
                <a:t>  from</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a:ln>
                    <a:noFill/>
                  </a:ln>
                  <a:solidFill>
                    <a:schemeClr val="tx1"/>
                  </a:solidFill>
                  <a:effectLst/>
                  <a:latin typeface="Calibri" pitchFamily="34" charset="0"/>
                  <a:cs typeface="Arial" pitchFamily="34" charset="0"/>
                </a:rPr>
                <a:t>system</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4122" name="Line 26"/>
            <p:cNvSpPr>
              <a:spLocks noChangeShapeType="1"/>
            </p:cNvSpPr>
            <p:nvPr/>
          </p:nvSpPr>
          <p:spPr bwMode="auto">
            <a:xfrm>
              <a:off x="2016" y="5760"/>
              <a:ext cx="86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23" name="Line 27"/>
            <p:cNvSpPr>
              <a:spLocks noChangeShapeType="1"/>
            </p:cNvSpPr>
            <p:nvPr/>
          </p:nvSpPr>
          <p:spPr bwMode="auto">
            <a:xfrm>
              <a:off x="2880" y="5760"/>
              <a:ext cx="0" cy="302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24" name="Line 28"/>
            <p:cNvSpPr>
              <a:spLocks noChangeShapeType="1"/>
            </p:cNvSpPr>
            <p:nvPr/>
          </p:nvSpPr>
          <p:spPr bwMode="auto">
            <a:xfrm>
              <a:off x="1872" y="8766"/>
              <a:ext cx="1008"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25" name="Line 29"/>
            <p:cNvSpPr>
              <a:spLocks noChangeShapeType="1"/>
            </p:cNvSpPr>
            <p:nvPr/>
          </p:nvSpPr>
          <p:spPr bwMode="auto">
            <a:xfrm>
              <a:off x="2880" y="7920"/>
              <a:ext cx="576" cy="0"/>
            </a:xfrm>
            <a:prstGeom prst="line">
              <a:avLst/>
            </a:prstGeom>
            <a:noFill/>
            <a:ln w="38100" cmpd="dbl">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4126" name="Line 30"/>
            <p:cNvSpPr>
              <a:spLocks noChangeShapeType="1"/>
            </p:cNvSpPr>
            <p:nvPr/>
          </p:nvSpPr>
          <p:spPr bwMode="auto">
            <a:xfrm>
              <a:off x="2880" y="6102"/>
              <a:ext cx="2016" cy="0"/>
            </a:xfrm>
            <a:prstGeom prst="line">
              <a:avLst/>
            </a:prstGeom>
            <a:noFill/>
            <a:ln w="38100" cmpd="dbl">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4127" name="Line 31"/>
            <p:cNvSpPr>
              <a:spLocks noChangeShapeType="1"/>
            </p:cNvSpPr>
            <p:nvPr/>
          </p:nvSpPr>
          <p:spPr bwMode="auto">
            <a:xfrm>
              <a:off x="4464" y="7488"/>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28" name="Line 32"/>
            <p:cNvSpPr>
              <a:spLocks noChangeShapeType="1"/>
            </p:cNvSpPr>
            <p:nvPr/>
          </p:nvSpPr>
          <p:spPr bwMode="auto">
            <a:xfrm>
              <a:off x="4464" y="7776"/>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29" name="Line 33"/>
            <p:cNvSpPr>
              <a:spLocks noChangeShapeType="1"/>
            </p:cNvSpPr>
            <p:nvPr/>
          </p:nvSpPr>
          <p:spPr bwMode="auto">
            <a:xfrm>
              <a:off x="4464" y="8064"/>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30" name="Line 34"/>
            <p:cNvSpPr>
              <a:spLocks noChangeShapeType="1"/>
            </p:cNvSpPr>
            <p:nvPr/>
          </p:nvSpPr>
          <p:spPr bwMode="auto">
            <a:xfrm>
              <a:off x="4464" y="8352"/>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31" name="Line 35"/>
            <p:cNvSpPr>
              <a:spLocks noChangeShapeType="1"/>
            </p:cNvSpPr>
            <p:nvPr/>
          </p:nvSpPr>
          <p:spPr bwMode="auto">
            <a:xfrm>
              <a:off x="7056" y="7488"/>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32" name="Line 36"/>
            <p:cNvSpPr>
              <a:spLocks noChangeShapeType="1"/>
            </p:cNvSpPr>
            <p:nvPr/>
          </p:nvSpPr>
          <p:spPr bwMode="auto">
            <a:xfrm>
              <a:off x="7056" y="7776"/>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33" name="Line 37"/>
            <p:cNvSpPr>
              <a:spLocks noChangeShapeType="1"/>
            </p:cNvSpPr>
            <p:nvPr/>
          </p:nvSpPr>
          <p:spPr bwMode="auto">
            <a:xfrm>
              <a:off x="7056" y="8064"/>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34" name="Line 38"/>
            <p:cNvSpPr>
              <a:spLocks noChangeShapeType="1"/>
            </p:cNvSpPr>
            <p:nvPr/>
          </p:nvSpPr>
          <p:spPr bwMode="auto">
            <a:xfrm>
              <a:off x="7056" y="8352"/>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35" name="Line 39"/>
            <p:cNvSpPr>
              <a:spLocks noChangeShapeType="1"/>
            </p:cNvSpPr>
            <p:nvPr/>
          </p:nvSpPr>
          <p:spPr bwMode="auto">
            <a:xfrm>
              <a:off x="8640" y="7488"/>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36" name="Line 40"/>
            <p:cNvSpPr>
              <a:spLocks noChangeShapeType="1"/>
            </p:cNvSpPr>
            <p:nvPr/>
          </p:nvSpPr>
          <p:spPr bwMode="auto">
            <a:xfrm>
              <a:off x="8640" y="7776"/>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37" name="Line 41"/>
            <p:cNvSpPr>
              <a:spLocks noChangeShapeType="1"/>
            </p:cNvSpPr>
            <p:nvPr/>
          </p:nvSpPr>
          <p:spPr bwMode="auto">
            <a:xfrm>
              <a:off x="8640" y="8064"/>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38" name="Line 42"/>
            <p:cNvSpPr>
              <a:spLocks noChangeShapeType="1"/>
            </p:cNvSpPr>
            <p:nvPr/>
          </p:nvSpPr>
          <p:spPr bwMode="auto">
            <a:xfrm>
              <a:off x="8640" y="8352"/>
              <a:ext cx="576"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39" name="Text Box 43"/>
            <p:cNvSpPr txBox="1">
              <a:spLocks noChangeArrowheads="1"/>
            </p:cNvSpPr>
            <p:nvPr/>
          </p:nvSpPr>
          <p:spPr bwMode="auto">
            <a:xfrm>
              <a:off x="9360" y="7344"/>
              <a:ext cx="864" cy="14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1100" b="0" i="0" u="none" strike="noStrike" cap="none" normalizeH="0" baseline="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Data</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lines</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140" name="Line 44"/>
            <p:cNvSpPr>
              <a:spLocks noChangeShapeType="1"/>
            </p:cNvSpPr>
            <p:nvPr/>
          </p:nvSpPr>
          <p:spPr bwMode="auto">
            <a:xfrm flipV="1">
              <a:off x="8154" y="8784"/>
              <a:ext cx="0" cy="576"/>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4141" name="Line 45"/>
            <p:cNvSpPr>
              <a:spLocks noChangeShapeType="1"/>
            </p:cNvSpPr>
            <p:nvPr/>
          </p:nvSpPr>
          <p:spPr bwMode="auto">
            <a:xfrm>
              <a:off x="8154" y="6624"/>
              <a:ext cx="0" cy="72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4142" name="Line 46"/>
            <p:cNvSpPr>
              <a:spLocks noChangeShapeType="1"/>
            </p:cNvSpPr>
            <p:nvPr/>
          </p:nvSpPr>
          <p:spPr bwMode="auto">
            <a:xfrm>
              <a:off x="5328" y="6480"/>
              <a:ext cx="0" cy="86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43" name="Line 47"/>
            <p:cNvSpPr>
              <a:spLocks noChangeShapeType="1"/>
            </p:cNvSpPr>
            <p:nvPr/>
          </p:nvSpPr>
          <p:spPr bwMode="auto">
            <a:xfrm>
              <a:off x="5760" y="6480"/>
              <a:ext cx="0" cy="86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44" name="Line 48"/>
            <p:cNvSpPr>
              <a:spLocks noChangeShapeType="1"/>
            </p:cNvSpPr>
            <p:nvPr/>
          </p:nvSpPr>
          <p:spPr bwMode="auto">
            <a:xfrm>
              <a:off x="6192" y="6480"/>
              <a:ext cx="0" cy="86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45" name="Line 49"/>
            <p:cNvSpPr>
              <a:spLocks noChangeShapeType="1"/>
            </p:cNvSpPr>
            <p:nvPr/>
          </p:nvSpPr>
          <p:spPr bwMode="auto">
            <a:xfrm>
              <a:off x="6624" y="6480"/>
              <a:ext cx="0" cy="86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46" name="Text Box 50"/>
            <p:cNvSpPr txBox="1">
              <a:spLocks noChangeArrowheads="1"/>
            </p:cNvSpPr>
            <p:nvPr/>
          </p:nvSpPr>
          <p:spPr bwMode="auto">
            <a:xfrm>
              <a:off x="8208" y="6624"/>
              <a:ext cx="2016" cy="576"/>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Read/write enable</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4147" name="Text Box 51"/>
            <p:cNvSpPr txBox="1">
              <a:spLocks noChangeArrowheads="1"/>
            </p:cNvSpPr>
            <p:nvPr/>
          </p:nvSpPr>
          <p:spPr bwMode="auto">
            <a:xfrm>
              <a:off x="8208" y="9072"/>
              <a:ext cx="1728" cy="576"/>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Device  enable</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Chip </a:t>
            </a:r>
            <a:r>
              <a:rPr lang="en-US" dirty="0" err="1"/>
              <a:t>nhớ</a:t>
            </a:r>
            <a:endParaRPr lang="en-US" dirty="0"/>
          </a:p>
        </p:txBody>
      </p:sp>
      <p:pic>
        <p:nvPicPr>
          <p:cNvPr id="4098" name="Picture 2"/>
          <p:cNvPicPr>
            <a:picLocks noGrp="1" noChangeAspect="1" noChangeArrowheads="1"/>
          </p:cNvPicPr>
          <p:nvPr>
            <p:ph sz="quarter" idx="1"/>
          </p:nvPr>
        </p:nvPicPr>
        <p:blipFill>
          <a:blip r:embed="rId2" cstate="print"/>
          <a:srcRect/>
          <a:stretch>
            <a:fillRect/>
          </a:stretch>
        </p:blipFill>
        <p:spPr bwMode="auto">
          <a:xfrm>
            <a:off x="866775" y="1735887"/>
            <a:ext cx="7362825" cy="4817313"/>
          </a:xfrm>
          <a:prstGeom prst="rect">
            <a:avLst/>
          </a:prstGeom>
          <a:noFill/>
          <a:ln w="9525">
            <a:noFill/>
            <a:miter lim="800000"/>
            <a:headEnd/>
            <a:tailEnd/>
          </a:ln>
          <a:effec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Thiết</a:t>
            </a:r>
            <a:r>
              <a:rPr lang="en-US" dirty="0"/>
              <a:t> </a:t>
            </a:r>
            <a:r>
              <a:rPr lang="en-US" dirty="0" err="1"/>
              <a:t>kế</a:t>
            </a:r>
            <a:r>
              <a:rPr lang="en-US" dirty="0"/>
              <a:t> module </a:t>
            </a:r>
            <a:r>
              <a:rPr lang="en-US" dirty="0" err="1"/>
              <a:t>nhớ</a:t>
            </a:r>
            <a:r>
              <a:rPr lang="en-US" dirty="0"/>
              <a:t> </a:t>
            </a:r>
            <a:r>
              <a:rPr lang="en-US" dirty="0" err="1"/>
              <a:t>bán</a:t>
            </a:r>
            <a:r>
              <a:rPr lang="en-US" dirty="0"/>
              <a:t> </a:t>
            </a:r>
            <a:r>
              <a:rPr lang="en-US" dirty="0" err="1"/>
              <a:t>dẫn</a:t>
            </a:r>
            <a:endParaRPr lang="en-US" dirty="0"/>
          </a:p>
        </p:txBody>
      </p:sp>
      <p:sp>
        <p:nvSpPr>
          <p:cNvPr id="3" name="Content Placeholder 2"/>
          <p:cNvSpPr>
            <a:spLocks noGrp="1"/>
          </p:cNvSpPr>
          <p:nvPr>
            <p:ph sz="quarter" idx="1"/>
          </p:nvPr>
        </p:nvSpPr>
        <p:spPr/>
        <p:txBody>
          <a:bodyPr/>
          <a:lstStyle/>
          <a:p>
            <a:r>
              <a:rPr lang="vi-VN" dirty="0"/>
              <a:t>Dung lượng chip nhớ = 2</a:t>
            </a:r>
            <a:r>
              <a:rPr lang="vi-VN" baseline="30000" dirty="0"/>
              <a:t>n</a:t>
            </a:r>
            <a:r>
              <a:rPr lang="vi-VN" dirty="0"/>
              <a:t> x m bit</a:t>
            </a:r>
          </a:p>
          <a:p>
            <a:r>
              <a:rPr lang="vi-VN" dirty="0"/>
              <a:t>Cần thiết kế để tăng dung lượng:</a:t>
            </a:r>
          </a:p>
          <a:p>
            <a:pPr lvl="1"/>
            <a:r>
              <a:rPr lang="vi-VN" dirty="0"/>
              <a:t>Thiết kế tăng độ dài từ nhớ</a:t>
            </a:r>
          </a:p>
          <a:p>
            <a:pPr lvl="1"/>
            <a:r>
              <a:rPr lang="vi-VN" dirty="0"/>
              <a:t>Thiết kế tăng số lượng từ nhớ</a:t>
            </a:r>
          </a:p>
          <a:p>
            <a:pPr lvl="1"/>
            <a:r>
              <a:rPr lang="vi-VN" dirty="0"/>
              <a:t>Thiết kế kết hợp</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Tăng</a:t>
            </a:r>
            <a:r>
              <a:rPr lang="en-US" dirty="0"/>
              <a:t> </a:t>
            </a:r>
            <a:r>
              <a:rPr lang="en-US" dirty="0" err="1"/>
              <a:t>độ</a:t>
            </a:r>
            <a:r>
              <a:rPr lang="en-US" dirty="0"/>
              <a:t> </a:t>
            </a:r>
            <a:r>
              <a:rPr lang="en-US" dirty="0" err="1"/>
              <a:t>dài</a:t>
            </a:r>
            <a:r>
              <a:rPr lang="en-US" dirty="0"/>
              <a:t> </a:t>
            </a:r>
            <a:r>
              <a:rPr lang="en-US" dirty="0" err="1"/>
              <a:t>từ</a:t>
            </a:r>
            <a:r>
              <a:rPr lang="en-US" dirty="0"/>
              <a:t> </a:t>
            </a:r>
            <a:r>
              <a:rPr lang="en-US" dirty="0" err="1"/>
              <a:t>nhớ</a:t>
            </a:r>
            <a:endParaRPr lang="en-US" dirty="0"/>
          </a:p>
        </p:txBody>
      </p:sp>
      <p:sp>
        <p:nvSpPr>
          <p:cNvPr id="3" name="Content Placeholder 2"/>
          <p:cNvSpPr>
            <a:spLocks noGrp="1"/>
          </p:cNvSpPr>
          <p:nvPr>
            <p:ph sz="quarter" idx="1"/>
          </p:nvPr>
        </p:nvSpPr>
        <p:spPr/>
        <p:txBody>
          <a:bodyPr>
            <a:normAutofit fontScale="92500" lnSpcReduction="10000"/>
          </a:bodyPr>
          <a:lstStyle/>
          <a:p>
            <a:r>
              <a:rPr lang="vi-VN" dirty="0"/>
              <a:t>VD1:</a:t>
            </a:r>
          </a:p>
          <a:p>
            <a:pPr lvl="1"/>
            <a:r>
              <a:rPr lang="vi-VN" dirty="0"/>
              <a:t>Cho chip nhớ SRAM 4K x 4 bit</a:t>
            </a:r>
          </a:p>
          <a:p>
            <a:pPr lvl="1"/>
            <a:r>
              <a:rPr lang="vi-VN" dirty="0"/>
              <a:t>Thiết kế mô-đun nhớ 4K x 8 bit</a:t>
            </a:r>
          </a:p>
          <a:p>
            <a:r>
              <a:rPr lang="vi-VN" dirty="0"/>
              <a:t>Giải:</a:t>
            </a:r>
          </a:p>
          <a:p>
            <a:pPr lvl="1"/>
            <a:r>
              <a:rPr lang="vi-VN" dirty="0"/>
              <a:t>Dung lượng chip nhớ = 2</a:t>
            </a:r>
            <a:r>
              <a:rPr lang="vi-VN" sz="2600" baseline="30000" dirty="0"/>
              <a:t>12</a:t>
            </a:r>
            <a:r>
              <a:rPr lang="vi-VN" dirty="0"/>
              <a:t> x 4 bit</a:t>
            </a:r>
          </a:p>
          <a:p>
            <a:pPr lvl="1"/>
            <a:r>
              <a:rPr lang="vi-VN" dirty="0"/>
              <a:t>chip nhớ có:</a:t>
            </a:r>
          </a:p>
          <a:p>
            <a:pPr lvl="2"/>
            <a:r>
              <a:rPr lang="vi-VN" dirty="0"/>
              <a:t>12 chân địa chỉ</a:t>
            </a:r>
          </a:p>
          <a:p>
            <a:pPr lvl="2"/>
            <a:r>
              <a:rPr lang="vi-VN" dirty="0"/>
              <a:t>4 chân dữ liệu</a:t>
            </a:r>
          </a:p>
          <a:p>
            <a:pPr lvl="1"/>
            <a:r>
              <a:rPr lang="vi-VN" dirty="0"/>
              <a:t>mô-đun nhớ cần có:</a:t>
            </a:r>
          </a:p>
          <a:p>
            <a:pPr lvl="2"/>
            <a:r>
              <a:rPr lang="vi-VN" dirty="0"/>
              <a:t>12 chân địa chỉ</a:t>
            </a:r>
          </a:p>
          <a:p>
            <a:pPr lvl="2"/>
            <a:r>
              <a:rPr lang="vi-VN" dirty="0"/>
              <a:t>8 chân dữ liệu</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tăng</a:t>
            </a:r>
            <a:r>
              <a:rPr lang="en-US" dirty="0"/>
              <a:t> </a:t>
            </a:r>
            <a:r>
              <a:rPr lang="en-US" dirty="0" err="1"/>
              <a:t>độ</a:t>
            </a:r>
            <a:r>
              <a:rPr lang="en-US" dirty="0"/>
              <a:t> </a:t>
            </a:r>
            <a:r>
              <a:rPr lang="en-US" dirty="0" err="1"/>
              <a:t>dài</a:t>
            </a:r>
            <a:r>
              <a:rPr lang="en-US" dirty="0"/>
              <a:t> </a:t>
            </a:r>
            <a:r>
              <a:rPr lang="en-US" dirty="0" err="1"/>
              <a:t>từ</a:t>
            </a:r>
            <a:r>
              <a:rPr lang="en-US" dirty="0"/>
              <a:t> </a:t>
            </a:r>
            <a:r>
              <a:rPr lang="en-US" dirty="0" err="1"/>
              <a:t>nhớ</a:t>
            </a:r>
            <a:endParaRPr lang="en-US" dirty="0"/>
          </a:p>
        </p:txBody>
      </p:sp>
      <p:pic>
        <p:nvPicPr>
          <p:cNvPr id="5122" name="Picture 2"/>
          <p:cNvPicPr>
            <a:picLocks noGrp="1" noChangeAspect="1" noChangeArrowheads="1"/>
          </p:cNvPicPr>
          <p:nvPr>
            <p:ph sz="quarter" idx="1"/>
          </p:nvPr>
        </p:nvPicPr>
        <p:blipFill>
          <a:blip r:embed="rId2" cstate="print"/>
          <a:srcRect/>
          <a:stretch>
            <a:fillRect/>
          </a:stretch>
        </p:blipFill>
        <p:spPr bwMode="auto">
          <a:xfrm>
            <a:off x="533400" y="1752600"/>
            <a:ext cx="8055910" cy="48768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err="1"/>
              <a:t>Bài</a:t>
            </a:r>
            <a:r>
              <a:rPr lang="en-US" sz="3600" dirty="0"/>
              <a:t> </a:t>
            </a:r>
            <a:r>
              <a:rPr lang="en-US" sz="3600" dirty="0" err="1"/>
              <a:t>toán</a:t>
            </a:r>
            <a:r>
              <a:rPr lang="en-US" sz="3600" dirty="0"/>
              <a:t> </a:t>
            </a:r>
            <a:r>
              <a:rPr lang="en-US" sz="3600" dirty="0" err="1"/>
              <a:t>tăng</a:t>
            </a:r>
            <a:r>
              <a:rPr lang="en-US" sz="3600" dirty="0"/>
              <a:t> </a:t>
            </a:r>
            <a:r>
              <a:rPr lang="en-US" sz="3600" dirty="0" err="1"/>
              <a:t>độ</a:t>
            </a:r>
            <a:r>
              <a:rPr lang="en-US" sz="3600" dirty="0"/>
              <a:t> </a:t>
            </a:r>
            <a:r>
              <a:rPr lang="en-US" sz="3600" dirty="0" err="1"/>
              <a:t>dài</a:t>
            </a:r>
            <a:r>
              <a:rPr lang="en-US" sz="3600" dirty="0"/>
              <a:t> </a:t>
            </a:r>
            <a:r>
              <a:rPr lang="en-US" sz="3600" dirty="0" err="1"/>
              <a:t>từ</a:t>
            </a:r>
            <a:r>
              <a:rPr lang="en-US" sz="3600" dirty="0"/>
              <a:t> </a:t>
            </a:r>
            <a:r>
              <a:rPr lang="en-US" sz="3600" dirty="0" err="1"/>
              <a:t>nhớ</a:t>
            </a:r>
            <a:r>
              <a:rPr lang="en-US" sz="3600" dirty="0"/>
              <a:t> </a:t>
            </a:r>
            <a:r>
              <a:rPr lang="en-US" sz="3600" dirty="0" err="1"/>
              <a:t>tổng</a:t>
            </a:r>
            <a:r>
              <a:rPr lang="en-US" sz="3600" dirty="0"/>
              <a:t> </a:t>
            </a:r>
            <a:r>
              <a:rPr lang="en-US" sz="3600" dirty="0" err="1"/>
              <a:t>quát</a:t>
            </a:r>
            <a:endParaRPr lang="en-US" sz="3600" dirty="0"/>
          </a:p>
        </p:txBody>
      </p:sp>
      <p:sp>
        <p:nvSpPr>
          <p:cNvPr id="3" name="Content Placeholder 2"/>
          <p:cNvSpPr>
            <a:spLocks noGrp="1"/>
          </p:cNvSpPr>
          <p:nvPr>
            <p:ph sz="quarter" idx="1"/>
          </p:nvPr>
        </p:nvSpPr>
        <p:spPr/>
        <p:txBody>
          <a:bodyPr/>
          <a:lstStyle/>
          <a:p>
            <a:r>
              <a:rPr lang="vi-VN" dirty="0"/>
              <a:t>Cho chip nhớ 2</a:t>
            </a:r>
            <a:r>
              <a:rPr lang="vi-VN" baseline="30000" dirty="0"/>
              <a:t>n</a:t>
            </a:r>
            <a:r>
              <a:rPr lang="vi-VN" dirty="0"/>
              <a:t> x m bit</a:t>
            </a:r>
          </a:p>
          <a:p>
            <a:r>
              <a:rPr lang="vi-VN" dirty="0"/>
              <a:t>Thiết kế mô-đun nhớ 2</a:t>
            </a:r>
            <a:r>
              <a:rPr lang="vi-VN" baseline="30000" dirty="0"/>
              <a:t>n</a:t>
            </a:r>
            <a:r>
              <a:rPr lang="vi-VN" dirty="0"/>
              <a:t> x (k.m) bit</a:t>
            </a:r>
          </a:p>
          <a:p>
            <a:r>
              <a:rPr lang="vi-VN" dirty="0"/>
              <a:t>Dùng k chip nhớ</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Tăng</a:t>
            </a:r>
            <a:r>
              <a:rPr lang="en-US" dirty="0"/>
              <a:t> </a:t>
            </a:r>
            <a:r>
              <a:rPr lang="en-US" dirty="0" err="1"/>
              <a:t>số</a:t>
            </a:r>
            <a:r>
              <a:rPr lang="en-US" dirty="0"/>
              <a:t> </a:t>
            </a:r>
            <a:r>
              <a:rPr lang="en-US" dirty="0" err="1"/>
              <a:t>lượng</a:t>
            </a:r>
            <a:r>
              <a:rPr lang="en-US" dirty="0"/>
              <a:t> </a:t>
            </a:r>
            <a:r>
              <a:rPr lang="en-US" dirty="0" err="1"/>
              <a:t>từ</a:t>
            </a:r>
            <a:r>
              <a:rPr lang="en-US" dirty="0"/>
              <a:t> </a:t>
            </a:r>
            <a:r>
              <a:rPr lang="en-US" dirty="0" err="1"/>
              <a:t>nhớ</a:t>
            </a:r>
            <a:endParaRPr lang="en-US" dirty="0"/>
          </a:p>
        </p:txBody>
      </p:sp>
      <p:sp>
        <p:nvSpPr>
          <p:cNvPr id="3" name="Content Placeholder 2"/>
          <p:cNvSpPr>
            <a:spLocks noGrp="1"/>
          </p:cNvSpPr>
          <p:nvPr>
            <p:ph sz="quarter" idx="1"/>
          </p:nvPr>
        </p:nvSpPr>
        <p:spPr/>
        <p:txBody>
          <a:bodyPr>
            <a:normAutofit fontScale="92500" lnSpcReduction="10000"/>
          </a:bodyPr>
          <a:lstStyle/>
          <a:p>
            <a:r>
              <a:rPr lang="vi-VN" dirty="0"/>
              <a:t>VD2:</a:t>
            </a:r>
          </a:p>
          <a:p>
            <a:pPr lvl="1"/>
            <a:r>
              <a:rPr lang="vi-VN" dirty="0"/>
              <a:t>Cho chip nhớ SRAM 4K x 8 bit</a:t>
            </a:r>
          </a:p>
          <a:p>
            <a:pPr lvl="1"/>
            <a:r>
              <a:rPr lang="vi-VN" dirty="0"/>
              <a:t>Thiết kế mô-đun nhớ 8K x 8 bit</a:t>
            </a:r>
          </a:p>
          <a:p>
            <a:r>
              <a:rPr lang="vi-VN" dirty="0"/>
              <a:t>Giải:</a:t>
            </a:r>
          </a:p>
          <a:p>
            <a:pPr lvl="1"/>
            <a:r>
              <a:rPr lang="vi-VN" dirty="0"/>
              <a:t>Dung lượng chip nhớ = 2</a:t>
            </a:r>
            <a:r>
              <a:rPr lang="vi-VN" baseline="30000" dirty="0"/>
              <a:t>12</a:t>
            </a:r>
            <a:r>
              <a:rPr lang="vi-VN" dirty="0"/>
              <a:t> x 8 bit</a:t>
            </a:r>
          </a:p>
          <a:p>
            <a:pPr lvl="1"/>
            <a:r>
              <a:rPr lang="vi-VN" dirty="0"/>
              <a:t>chip nhớ có:</a:t>
            </a:r>
          </a:p>
          <a:p>
            <a:pPr lvl="2"/>
            <a:r>
              <a:rPr lang="vi-VN" dirty="0"/>
              <a:t>12 chân địa chỉ</a:t>
            </a:r>
          </a:p>
          <a:p>
            <a:pPr lvl="2"/>
            <a:r>
              <a:rPr lang="vi-VN" dirty="0"/>
              <a:t>8 chân dữ liệu</a:t>
            </a:r>
          </a:p>
          <a:p>
            <a:pPr lvl="1"/>
            <a:r>
              <a:rPr lang="vi-VN" dirty="0"/>
              <a:t>Dung lượng mô-đun nhớ = 2</a:t>
            </a:r>
            <a:r>
              <a:rPr lang="vi-VN" baseline="30000" dirty="0"/>
              <a:t>13</a:t>
            </a:r>
            <a:r>
              <a:rPr lang="vi-VN" dirty="0"/>
              <a:t> x 8 bit:</a:t>
            </a:r>
          </a:p>
          <a:p>
            <a:pPr lvl="2"/>
            <a:r>
              <a:rPr lang="vi-VN" dirty="0"/>
              <a:t>13 chân địa chỉ</a:t>
            </a:r>
          </a:p>
          <a:p>
            <a:pPr lvl="2"/>
            <a:r>
              <a:rPr lang="vi-VN" dirty="0"/>
              <a:t>8 chân dữ liệu</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tăng</a:t>
            </a:r>
            <a:r>
              <a:rPr lang="en-US" dirty="0"/>
              <a:t> </a:t>
            </a:r>
            <a:r>
              <a:rPr lang="en-US" dirty="0" err="1"/>
              <a:t>số</a:t>
            </a:r>
            <a:r>
              <a:rPr lang="en-US" dirty="0"/>
              <a:t> </a:t>
            </a:r>
            <a:r>
              <a:rPr lang="en-US" dirty="0" err="1"/>
              <a:t>lượng</a:t>
            </a:r>
            <a:r>
              <a:rPr lang="en-US" dirty="0"/>
              <a:t> </a:t>
            </a:r>
            <a:r>
              <a:rPr lang="en-US" dirty="0" err="1"/>
              <a:t>từ</a:t>
            </a:r>
            <a:r>
              <a:rPr lang="en-US" dirty="0"/>
              <a:t> </a:t>
            </a:r>
            <a:r>
              <a:rPr lang="en-US" dirty="0" err="1"/>
              <a:t>nhớ</a:t>
            </a:r>
            <a:endParaRPr lang="en-US" dirty="0"/>
          </a:p>
        </p:txBody>
      </p:sp>
      <p:pic>
        <p:nvPicPr>
          <p:cNvPr id="6146" name="Picture 2"/>
          <p:cNvPicPr>
            <a:picLocks noGrp="1" noChangeAspect="1" noChangeArrowheads="1"/>
          </p:cNvPicPr>
          <p:nvPr>
            <p:ph sz="quarter" idx="1"/>
          </p:nvPr>
        </p:nvPicPr>
        <p:blipFill>
          <a:blip r:embed="rId2" cstate="print"/>
          <a:srcRect/>
          <a:stretch>
            <a:fillRect/>
          </a:stretch>
        </p:blipFill>
        <p:spPr bwMode="auto">
          <a:xfrm>
            <a:off x="533400" y="1676400"/>
            <a:ext cx="8001000" cy="4979552"/>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Bộ</a:t>
            </a:r>
            <a:r>
              <a:rPr lang="en-US" dirty="0"/>
              <a:t> </a:t>
            </a:r>
            <a:r>
              <a:rPr lang="en-US" dirty="0" err="1"/>
              <a:t>giải</a:t>
            </a:r>
            <a:r>
              <a:rPr lang="en-US" dirty="0"/>
              <a:t> </a:t>
            </a:r>
            <a:r>
              <a:rPr lang="en-US" dirty="0" err="1"/>
              <a:t>mã</a:t>
            </a:r>
            <a:r>
              <a:rPr lang="en-US" dirty="0"/>
              <a:t> 2-&gt;4</a:t>
            </a:r>
          </a:p>
        </p:txBody>
      </p:sp>
      <p:pic>
        <p:nvPicPr>
          <p:cNvPr id="7170" name="Picture 2"/>
          <p:cNvPicPr>
            <a:picLocks noGrp="1" noChangeAspect="1" noChangeArrowheads="1"/>
          </p:cNvPicPr>
          <p:nvPr>
            <p:ph sz="quarter" idx="1"/>
          </p:nvPr>
        </p:nvPicPr>
        <p:blipFill>
          <a:blip r:embed="rId2" cstate="print"/>
          <a:srcRect/>
          <a:stretch>
            <a:fillRect/>
          </a:stretch>
        </p:blipFill>
        <p:spPr bwMode="auto">
          <a:xfrm>
            <a:off x="838200" y="2362200"/>
            <a:ext cx="7594408" cy="342265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sz="quarter" idx="1"/>
          </p:nvPr>
        </p:nvSpPr>
        <p:spPr/>
        <p:txBody>
          <a:bodyPr>
            <a:normAutofit lnSpcReduction="10000"/>
          </a:bodyPr>
          <a:lstStyle/>
          <a:p>
            <a:pPr>
              <a:buNone/>
            </a:pPr>
            <a:r>
              <a:rPr lang="vi-VN" dirty="0"/>
              <a:t>1. Tăng số lượng từ nhớ gấp 4 lần:</a:t>
            </a:r>
          </a:p>
          <a:p>
            <a:r>
              <a:rPr lang="vi-VN" dirty="0"/>
              <a:t>Cho chip nhớ SRAM 4K x 8 bit</a:t>
            </a:r>
          </a:p>
          <a:p>
            <a:r>
              <a:rPr lang="vi-VN" dirty="0"/>
              <a:t>Thiết kế mô-đun nhớ 16K x 8 bit</a:t>
            </a:r>
          </a:p>
          <a:p>
            <a:pPr>
              <a:buNone/>
            </a:pPr>
            <a:r>
              <a:rPr lang="vi-VN" dirty="0"/>
              <a:t>2. Tăng số lượng từ nhớ gấp 8 lần:</a:t>
            </a:r>
          </a:p>
          <a:p>
            <a:r>
              <a:rPr lang="vi-VN" dirty="0"/>
              <a:t>Cho chip nhớ SRAM 4K x 8 bit</a:t>
            </a:r>
          </a:p>
          <a:p>
            <a:r>
              <a:rPr lang="vi-VN" dirty="0"/>
              <a:t>Thiết kế mô-đun nhớ 32K x 8 bit</a:t>
            </a:r>
          </a:p>
          <a:p>
            <a:pPr>
              <a:buNone/>
            </a:pPr>
            <a:r>
              <a:rPr lang="vi-VN" dirty="0"/>
              <a:t>3. Thiết kế kết hợp:</a:t>
            </a:r>
          </a:p>
          <a:p>
            <a:r>
              <a:rPr lang="vi-VN" dirty="0"/>
              <a:t>Cho chip nhớ SRAM 4K x 4 bit</a:t>
            </a:r>
          </a:p>
          <a:p>
            <a:r>
              <a:rPr lang="vi-VN" dirty="0"/>
              <a:t>Thiết kế mô-đun nhớ 8K x 8 bit</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Bộ</a:t>
            </a:r>
            <a:r>
              <a:rPr lang="en-US" dirty="0"/>
              <a:t> </a:t>
            </a:r>
            <a:r>
              <a:rPr lang="en-US" dirty="0" err="1"/>
              <a:t>nhớ</a:t>
            </a:r>
            <a:r>
              <a:rPr lang="en-US" dirty="0"/>
              <a:t> </a:t>
            </a:r>
            <a:r>
              <a:rPr lang="en-US" dirty="0" err="1"/>
              <a:t>chính</a:t>
            </a:r>
            <a:endParaRPr lang="en-US" dirty="0"/>
          </a:p>
        </p:txBody>
      </p:sp>
      <p:sp>
        <p:nvSpPr>
          <p:cNvPr id="3" name="Content Placeholder 2"/>
          <p:cNvSpPr>
            <a:spLocks noGrp="1"/>
          </p:cNvSpPr>
          <p:nvPr>
            <p:ph sz="quarter" idx="1"/>
          </p:nvPr>
        </p:nvSpPr>
        <p:spPr/>
        <p:txBody>
          <a:bodyPr>
            <a:normAutofit fontScale="92500" lnSpcReduction="10000"/>
          </a:bodyPr>
          <a:lstStyle/>
          <a:p>
            <a:pPr>
              <a:buNone/>
            </a:pPr>
            <a:r>
              <a:rPr lang="vi-VN" dirty="0"/>
              <a:t>Các đặc trưng cơ bản</a:t>
            </a:r>
            <a:r>
              <a:rPr lang="en-US" dirty="0"/>
              <a:t>:</a:t>
            </a:r>
            <a:endParaRPr lang="vi-VN" dirty="0"/>
          </a:p>
          <a:p>
            <a:r>
              <a:rPr lang="vi-VN" dirty="0"/>
              <a:t>Chứa các chương trình đang được thực hiện và các dữ liệu đang được sử dụng</a:t>
            </a:r>
          </a:p>
          <a:p>
            <a:r>
              <a:rPr lang="vi-VN" dirty="0"/>
              <a:t>Tồn tại trên mọi hệ thống máy tính</a:t>
            </a:r>
          </a:p>
          <a:p>
            <a:r>
              <a:rPr lang="vi-VN" dirty="0"/>
              <a:t>Bao gồm các ngăn nhớ được đánh địa chỉ trực tiếp bởi CPU</a:t>
            </a:r>
          </a:p>
          <a:p>
            <a:r>
              <a:rPr lang="vi-VN" dirty="0"/>
              <a:t>Dung lượng của bộ nhớ chính nhỏ hơn không gian địa chỉ bộ nhớ mà CPU quản lý</a:t>
            </a:r>
          </a:p>
          <a:p>
            <a:r>
              <a:rPr lang="vi-VN" dirty="0"/>
              <a:t>Việc quản lý logic bộ nhớ chính tùy thuộc  vào hệ điều hành</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Tổ</a:t>
            </a:r>
            <a:r>
              <a:rPr lang="en-US" dirty="0"/>
              <a:t> </a:t>
            </a:r>
            <a:r>
              <a:rPr lang="en-US" dirty="0" err="1"/>
              <a:t>chức</a:t>
            </a:r>
            <a:r>
              <a:rPr lang="en-US" dirty="0"/>
              <a:t> </a:t>
            </a:r>
            <a:r>
              <a:rPr lang="en-US" dirty="0" err="1"/>
              <a:t>bộ</a:t>
            </a:r>
            <a:r>
              <a:rPr lang="en-US" dirty="0"/>
              <a:t> </a:t>
            </a:r>
            <a:r>
              <a:rPr lang="en-US" dirty="0" err="1"/>
              <a:t>nhớ</a:t>
            </a:r>
            <a:r>
              <a:rPr lang="en-US" dirty="0"/>
              <a:t> </a:t>
            </a:r>
            <a:r>
              <a:rPr lang="en-US" dirty="0" err="1"/>
              <a:t>đan</a:t>
            </a:r>
            <a:r>
              <a:rPr lang="en-US" dirty="0"/>
              <a:t> </a:t>
            </a:r>
            <a:r>
              <a:rPr lang="en-US" dirty="0" err="1"/>
              <a:t>xen</a:t>
            </a:r>
            <a:endParaRPr lang="en-US" dirty="0"/>
          </a:p>
        </p:txBody>
      </p:sp>
      <p:sp>
        <p:nvSpPr>
          <p:cNvPr id="3" name="Content Placeholder 2"/>
          <p:cNvSpPr>
            <a:spLocks noGrp="1"/>
          </p:cNvSpPr>
          <p:nvPr>
            <p:ph sz="quarter" idx="1"/>
          </p:nvPr>
        </p:nvSpPr>
        <p:spPr/>
        <p:txBody>
          <a:bodyPr/>
          <a:lstStyle/>
          <a:p>
            <a:r>
              <a:rPr lang="vi-VN" dirty="0"/>
              <a:t>Độ rộng của bus </a:t>
            </a:r>
            <a:r>
              <a:rPr lang="vi-VN" dirty="0">
                <a:solidFill>
                  <a:srgbClr val="FF0000"/>
                </a:solidFill>
              </a:rPr>
              <a:t>dữ liệu </a:t>
            </a:r>
            <a:r>
              <a:rPr lang="vi-VN" dirty="0"/>
              <a:t>để trao đổi với bộ</a:t>
            </a:r>
            <a:r>
              <a:rPr lang="en-US" dirty="0"/>
              <a:t> </a:t>
            </a:r>
            <a:r>
              <a:rPr lang="vi-VN" dirty="0"/>
              <a:t>nhớ: m = 8, 16, 32, 64, 128 … bit</a:t>
            </a:r>
          </a:p>
          <a:p>
            <a:r>
              <a:rPr lang="vi-VN" dirty="0"/>
              <a:t>Các ngăn nhớ được tổ chức theo byte </a:t>
            </a:r>
            <a:r>
              <a:rPr lang="en-US" dirty="0"/>
              <a:t>-&gt; </a:t>
            </a:r>
            <a:r>
              <a:rPr lang="vi-VN" dirty="0"/>
              <a:t>tổ chức bộ nhớ vật lý khác nhau</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z="3600" dirty="0"/>
              <a:t>m=8 bit </a:t>
            </a:r>
            <a:r>
              <a:rPr lang="en-US" sz="3600" dirty="0"/>
              <a:t>-&gt;</a:t>
            </a:r>
            <a:r>
              <a:rPr lang="vi-VN" sz="3600" dirty="0"/>
              <a:t> một băng nhớ tuyến tính</a:t>
            </a:r>
            <a:endParaRPr lang="en-US" sz="3600" dirty="0"/>
          </a:p>
        </p:txBody>
      </p:sp>
      <p:pic>
        <p:nvPicPr>
          <p:cNvPr id="8194" name="Picture 2"/>
          <p:cNvPicPr>
            <a:picLocks noGrp="1" noChangeAspect="1" noChangeArrowheads="1"/>
          </p:cNvPicPr>
          <p:nvPr>
            <p:ph sz="quarter" idx="1"/>
          </p:nvPr>
        </p:nvPicPr>
        <p:blipFill>
          <a:blip r:embed="rId2" cstate="print"/>
          <a:srcRect/>
          <a:stretch>
            <a:fillRect/>
          </a:stretch>
        </p:blipFill>
        <p:spPr bwMode="auto">
          <a:xfrm>
            <a:off x="2909887" y="1805984"/>
            <a:ext cx="3109913" cy="4671016"/>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m=</a:t>
            </a:r>
            <a:r>
              <a:rPr lang="en-US" dirty="0"/>
              <a:t>16</a:t>
            </a:r>
            <a:r>
              <a:rPr lang="vi-VN" dirty="0"/>
              <a:t> bit </a:t>
            </a:r>
            <a:r>
              <a:rPr lang="en-US" dirty="0"/>
              <a:t>-&gt;</a:t>
            </a:r>
            <a:r>
              <a:rPr lang="vi-VN" dirty="0"/>
              <a:t> </a:t>
            </a:r>
            <a:r>
              <a:rPr lang="en-US" dirty="0" err="1"/>
              <a:t>hai</a:t>
            </a:r>
            <a:r>
              <a:rPr lang="vi-VN" dirty="0"/>
              <a:t> băng nhớ </a:t>
            </a:r>
            <a:r>
              <a:rPr lang="en-US" dirty="0" err="1"/>
              <a:t>đan</a:t>
            </a:r>
            <a:r>
              <a:rPr lang="en-US" dirty="0"/>
              <a:t> </a:t>
            </a:r>
            <a:r>
              <a:rPr lang="en-US" dirty="0" err="1"/>
              <a:t>xen</a:t>
            </a:r>
            <a:endParaRPr lang="en-US" dirty="0"/>
          </a:p>
        </p:txBody>
      </p:sp>
      <p:pic>
        <p:nvPicPr>
          <p:cNvPr id="9218" name="Picture 2"/>
          <p:cNvPicPr>
            <a:picLocks noGrp="1" noChangeAspect="1" noChangeArrowheads="1"/>
          </p:cNvPicPr>
          <p:nvPr>
            <p:ph sz="quarter" idx="1"/>
          </p:nvPr>
        </p:nvPicPr>
        <p:blipFill>
          <a:blip r:embed="rId2" cstate="print"/>
          <a:srcRect/>
          <a:stretch>
            <a:fillRect/>
          </a:stretch>
        </p:blipFill>
        <p:spPr bwMode="auto">
          <a:xfrm>
            <a:off x="609600" y="1752600"/>
            <a:ext cx="7706692" cy="4697412"/>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m=</a:t>
            </a:r>
            <a:r>
              <a:rPr lang="en-US" dirty="0"/>
              <a:t>32</a:t>
            </a:r>
            <a:r>
              <a:rPr lang="vi-VN" dirty="0"/>
              <a:t> bit </a:t>
            </a:r>
            <a:r>
              <a:rPr lang="en-US" dirty="0"/>
              <a:t>-&gt;</a:t>
            </a:r>
            <a:r>
              <a:rPr lang="vi-VN" dirty="0"/>
              <a:t> </a:t>
            </a:r>
            <a:r>
              <a:rPr lang="en-US" dirty="0" err="1"/>
              <a:t>bốn</a:t>
            </a:r>
            <a:r>
              <a:rPr lang="vi-VN" dirty="0"/>
              <a:t> băng nhớ </a:t>
            </a:r>
            <a:r>
              <a:rPr lang="en-US" dirty="0" err="1"/>
              <a:t>đan</a:t>
            </a:r>
            <a:r>
              <a:rPr lang="en-US" dirty="0"/>
              <a:t> </a:t>
            </a:r>
            <a:r>
              <a:rPr lang="en-US" dirty="0" err="1"/>
              <a:t>xen</a:t>
            </a:r>
            <a:endParaRPr lang="en-US" dirty="0"/>
          </a:p>
        </p:txBody>
      </p:sp>
      <p:pic>
        <p:nvPicPr>
          <p:cNvPr id="10242" name="Picture 2"/>
          <p:cNvPicPr>
            <a:picLocks noGrp="1" noChangeAspect="1" noChangeArrowheads="1"/>
          </p:cNvPicPr>
          <p:nvPr>
            <p:ph sz="quarter" idx="1"/>
          </p:nvPr>
        </p:nvPicPr>
        <p:blipFill>
          <a:blip r:embed="rId2" cstate="print"/>
          <a:srcRect/>
          <a:stretch>
            <a:fillRect/>
          </a:stretch>
        </p:blipFill>
        <p:spPr bwMode="auto">
          <a:xfrm>
            <a:off x="658117" y="1751013"/>
            <a:ext cx="7876709" cy="4497387"/>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m=</a:t>
            </a:r>
            <a:r>
              <a:rPr lang="en-US" dirty="0"/>
              <a:t>64</a:t>
            </a:r>
            <a:r>
              <a:rPr lang="vi-VN" dirty="0"/>
              <a:t> bit </a:t>
            </a:r>
            <a:r>
              <a:rPr lang="en-US" dirty="0"/>
              <a:t>-&gt;</a:t>
            </a:r>
            <a:r>
              <a:rPr lang="vi-VN" dirty="0"/>
              <a:t> </a:t>
            </a:r>
            <a:r>
              <a:rPr lang="en-US" dirty="0" err="1"/>
              <a:t>tám</a:t>
            </a:r>
            <a:r>
              <a:rPr lang="vi-VN" dirty="0"/>
              <a:t> băng nhớ </a:t>
            </a:r>
            <a:r>
              <a:rPr lang="en-US" dirty="0" err="1"/>
              <a:t>đan</a:t>
            </a:r>
            <a:r>
              <a:rPr lang="en-US" dirty="0"/>
              <a:t> </a:t>
            </a:r>
            <a:r>
              <a:rPr lang="en-US" dirty="0" err="1"/>
              <a:t>xen</a:t>
            </a:r>
            <a:endParaRPr lang="en-US" dirty="0"/>
          </a:p>
        </p:txBody>
      </p:sp>
      <p:pic>
        <p:nvPicPr>
          <p:cNvPr id="11266" name="Picture 2"/>
          <p:cNvPicPr>
            <a:picLocks noGrp="1" noChangeAspect="1" noChangeArrowheads="1"/>
          </p:cNvPicPr>
          <p:nvPr>
            <p:ph sz="quarter" idx="1"/>
          </p:nvPr>
        </p:nvPicPr>
        <p:blipFill>
          <a:blip r:embed="rId2" cstate="print"/>
          <a:stretch>
            <a:fillRect/>
          </a:stretch>
        </p:blipFill>
        <p:spPr bwMode="auto">
          <a:xfrm>
            <a:off x="2027237" y="2024062"/>
            <a:ext cx="5324475" cy="3648075"/>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err="1"/>
              <a:t>Bộ</a:t>
            </a:r>
            <a:r>
              <a:rPr lang="en-US" sz="3600" dirty="0"/>
              <a:t> </a:t>
            </a:r>
            <a:r>
              <a:rPr lang="en-US" sz="3600" dirty="0" err="1"/>
              <a:t>nhớ</a:t>
            </a:r>
            <a:r>
              <a:rPr lang="en-US" sz="3600" dirty="0"/>
              <a:t> </a:t>
            </a:r>
            <a:r>
              <a:rPr lang="en-US" sz="3600" dirty="0" err="1"/>
              <a:t>đệm</a:t>
            </a:r>
            <a:r>
              <a:rPr lang="en-US" sz="3600" dirty="0"/>
              <a:t> </a:t>
            </a:r>
            <a:r>
              <a:rPr lang="en-US" sz="3600" dirty="0" err="1"/>
              <a:t>nhanh</a:t>
            </a:r>
            <a:r>
              <a:rPr lang="en-US" sz="3600" dirty="0"/>
              <a:t> (Cache memory)</a:t>
            </a:r>
          </a:p>
        </p:txBody>
      </p:sp>
      <p:sp>
        <p:nvSpPr>
          <p:cNvPr id="3" name="Content Placeholder 2"/>
          <p:cNvSpPr>
            <a:spLocks noGrp="1"/>
          </p:cNvSpPr>
          <p:nvPr>
            <p:ph sz="quarter" idx="1"/>
          </p:nvPr>
        </p:nvSpPr>
        <p:spPr>
          <a:xfrm>
            <a:off x="457200" y="1775191"/>
            <a:ext cx="8229600" cy="2339609"/>
          </a:xfrm>
        </p:spPr>
        <p:txBody>
          <a:bodyPr>
            <a:normAutofit fontScale="92500" lnSpcReduction="10000"/>
          </a:bodyPr>
          <a:lstStyle/>
          <a:p>
            <a:pPr>
              <a:buNone/>
            </a:pPr>
            <a:r>
              <a:rPr lang="vi-VN" dirty="0"/>
              <a:t>Nguyên tắc chung</a:t>
            </a:r>
            <a:r>
              <a:rPr lang="en-US" dirty="0"/>
              <a:t>:</a:t>
            </a:r>
            <a:endParaRPr lang="vi-VN" dirty="0"/>
          </a:p>
          <a:p>
            <a:r>
              <a:rPr lang="vi-VN" dirty="0"/>
              <a:t>Cache có</a:t>
            </a:r>
            <a:r>
              <a:rPr lang="en-US" dirty="0"/>
              <a:t> </a:t>
            </a:r>
            <a:r>
              <a:rPr lang="vi-VN" dirty="0"/>
              <a:t>tốc độ nhanh hơn bộ nhớ chính</a:t>
            </a:r>
          </a:p>
          <a:p>
            <a:r>
              <a:rPr lang="vi-VN" dirty="0"/>
              <a:t>Cache được đặt giữa CPU và</a:t>
            </a:r>
            <a:r>
              <a:rPr lang="en-US" dirty="0"/>
              <a:t> </a:t>
            </a:r>
            <a:r>
              <a:rPr lang="vi-VN" dirty="0"/>
              <a:t>bộ nhớ chính nhằm tăng tốc độ truy nhập bộ nhớ của CPU</a:t>
            </a:r>
          </a:p>
          <a:p>
            <a:r>
              <a:rPr lang="vi-VN" dirty="0"/>
              <a:t>Cache có thể được đặt trên chip của CPU</a:t>
            </a:r>
            <a:endParaRPr lang="en-US" dirty="0"/>
          </a:p>
        </p:txBody>
      </p:sp>
      <p:pic>
        <p:nvPicPr>
          <p:cNvPr id="12291" name="Picture 3"/>
          <p:cNvPicPr>
            <a:picLocks noChangeAspect="1" noChangeArrowheads="1"/>
          </p:cNvPicPr>
          <p:nvPr/>
        </p:nvPicPr>
        <p:blipFill>
          <a:blip r:embed="rId2" cstate="print"/>
          <a:srcRect/>
          <a:stretch>
            <a:fillRect/>
          </a:stretch>
        </p:blipFill>
        <p:spPr bwMode="auto">
          <a:xfrm>
            <a:off x="2209800" y="3886200"/>
            <a:ext cx="4350843" cy="27432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về</a:t>
            </a:r>
            <a:r>
              <a:rPr lang="en-US" dirty="0"/>
              <a:t> </a:t>
            </a:r>
            <a:r>
              <a:rPr lang="en-US" dirty="0" err="1"/>
              <a:t>thao</a:t>
            </a:r>
            <a:r>
              <a:rPr lang="en-US" dirty="0"/>
              <a:t> </a:t>
            </a:r>
            <a:r>
              <a:rPr lang="en-US" dirty="0" err="1"/>
              <a:t>tác</a:t>
            </a:r>
            <a:r>
              <a:rPr lang="en-US" dirty="0"/>
              <a:t> </a:t>
            </a:r>
            <a:r>
              <a:rPr lang="en-US" dirty="0" err="1"/>
              <a:t>của</a:t>
            </a:r>
            <a:r>
              <a:rPr lang="en-US" dirty="0"/>
              <a:t> cache</a:t>
            </a:r>
          </a:p>
        </p:txBody>
      </p:sp>
      <p:sp>
        <p:nvSpPr>
          <p:cNvPr id="3" name="Content Placeholder 2"/>
          <p:cNvSpPr>
            <a:spLocks noGrp="1"/>
          </p:cNvSpPr>
          <p:nvPr>
            <p:ph sz="quarter" idx="1"/>
          </p:nvPr>
        </p:nvSpPr>
        <p:spPr/>
        <p:txBody>
          <a:bodyPr/>
          <a:lstStyle/>
          <a:p>
            <a:r>
              <a:rPr lang="vi-VN" dirty="0"/>
              <a:t>CPU yêu cầu nội dung của ngăn nhớ</a:t>
            </a:r>
          </a:p>
          <a:p>
            <a:r>
              <a:rPr lang="vi-VN" dirty="0"/>
              <a:t>CPU kiểm tra trên cache với dữ liệu này</a:t>
            </a:r>
          </a:p>
          <a:p>
            <a:r>
              <a:rPr lang="vi-VN" dirty="0"/>
              <a:t>Nếu có, CPU nhận dữ liệu từ cache</a:t>
            </a:r>
            <a:r>
              <a:rPr lang="en-US" dirty="0"/>
              <a:t> </a:t>
            </a:r>
            <a:r>
              <a:rPr lang="vi-VN" dirty="0"/>
              <a:t>(nhanh)</a:t>
            </a:r>
          </a:p>
          <a:p>
            <a:r>
              <a:rPr lang="vi-VN" dirty="0"/>
              <a:t>Nếu không có, đọc block nhớ chứa dữ liệu từ bộ nhớ chính vào cache</a:t>
            </a:r>
          </a:p>
          <a:p>
            <a:r>
              <a:rPr lang="vi-VN" dirty="0"/>
              <a:t>Tiếp đó chuyển dữ liệu từ cache vào CPU</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Rectangle 3"/>
          <p:cNvSpPr>
            <a:spLocks noGrp="1" noChangeArrowheads="1"/>
          </p:cNvSpPr>
          <p:nvPr>
            <p:ph type="title"/>
          </p:nvPr>
        </p:nvSpPr>
        <p:spPr>
          <a:xfrm>
            <a:off x="533400" y="304800"/>
            <a:ext cx="7772400" cy="1066800"/>
          </a:xfrm>
        </p:spPr>
        <p:txBody>
          <a:bodyPr>
            <a:noAutofit/>
          </a:bodyPr>
          <a:lstStyle/>
          <a:p>
            <a:r>
              <a:rPr lang="en-US" sz="3200" dirty="0" err="1"/>
              <a:t>Vì</a:t>
            </a:r>
            <a:r>
              <a:rPr lang="en-US" sz="3200" dirty="0"/>
              <a:t> </a:t>
            </a:r>
            <a:r>
              <a:rPr lang="en-US" sz="3200" dirty="0" err="1"/>
              <a:t>sao</a:t>
            </a:r>
            <a:r>
              <a:rPr lang="en-US" sz="3200" dirty="0"/>
              <a:t> Caching </a:t>
            </a:r>
            <a:r>
              <a:rPr lang="en-US" sz="3200" dirty="0" err="1"/>
              <a:t>nâng</a:t>
            </a:r>
            <a:r>
              <a:rPr lang="en-US" sz="3200" dirty="0"/>
              <a:t> </a:t>
            </a:r>
            <a:r>
              <a:rPr lang="en-US" sz="3200" dirty="0" err="1"/>
              <a:t>cao</a:t>
            </a:r>
            <a:r>
              <a:rPr lang="en-US" sz="3200" dirty="0"/>
              <a:t> </a:t>
            </a:r>
            <a:r>
              <a:rPr lang="en-US" sz="3200" dirty="0" err="1"/>
              <a:t>tốc</a:t>
            </a:r>
            <a:r>
              <a:rPr lang="en-US" sz="3200" dirty="0"/>
              <a:t> </a:t>
            </a:r>
            <a:r>
              <a:rPr lang="en-US" sz="3200" dirty="0" err="1"/>
              <a:t>độ</a:t>
            </a:r>
            <a:r>
              <a:rPr lang="en-US" sz="3200" dirty="0"/>
              <a:t> </a:t>
            </a:r>
            <a:r>
              <a:rPr lang="en-US" sz="3200" dirty="0" err="1"/>
              <a:t>xử</a:t>
            </a:r>
            <a:r>
              <a:rPr lang="en-US" sz="3200" dirty="0"/>
              <a:t> </a:t>
            </a:r>
            <a:r>
              <a:rPr lang="en-US" sz="3200" dirty="0" err="1"/>
              <a:t>lý</a:t>
            </a:r>
            <a:endParaRPr lang="en-US" sz="3200" dirty="0"/>
          </a:p>
        </p:txBody>
      </p:sp>
      <p:sp>
        <p:nvSpPr>
          <p:cNvPr id="172036" name="Rectangle 4"/>
          <p:cNvSpPr>
            <a:spLocks noGrp="1" noChangeArrowheads="1"/>
          </p:cNvSpPr>
          <p:nvPr>
            <p:ph sz="quarter" idx="1"/>
          </p:nvPr>
        </p:nvSpPr>
        <p:spPr>
          <a:xfrm>
            <a:off x="571500" y="1828800"/>
            <a:ext cx="8191500" cy="4724400"/>
          </a:xfrm>
          <a:ln/>
        </p:spPr>
        <p:txBody>
          <a:bodyPr/>
          <a:lstStyle/>
          <a:p>
            <a:pPr>
              <a:lnSpc>
                <a:spcPct val="90000"/>
              </a:lnSpc>
            </a:pPr>
            <a:r>
              <a:rPr lang="en-US" sz="2000" dirty="0" err="1">
                <a:solidFill>
                  <a:srgbClr val="FF0000"/>
                </a:solidFill>
              </a:rPr>
              <a:t>Bộ</a:t>
            </a:r>
            <a:r>
              <a:rPr lang="en-US" sz="2000" dirty="0">
                <a:solidFill>
                  <a:srgbClr val="FF0000"/>
                </a:solidFill>
              </a:rPr>
              <a:t> </a:t>
            </a:r>
            <a:r>
              <a:rPr lang="en-US" sz="2000" dirty="0" err="1">
                <a:solidFill>
                  <a:srgbClr val="FF0000"/>
                </a:solidFill>
              </a:rPr>
              <a:t>nhớ</a:t>
            </a:r>
            <a:r>
              <a:rPr lang="en-US" sz="2000" dirty="0">
                <a:solidFill>
                  <a:srgbClr val="FF0000"/>
                </a:solidFill>
              </a:rPr>
              <a:t> </a:t>
            </a:r>
            <a:r>
              <a:rPr lang="en-US" sz="2000" dirty="0" err="1">
                <a:solidFill>
                  <a:srgbClr val="FF0000"/>
                </a:solidFill>
              </a:rPr>
              <a:t>chính</a:t>
            </a:r>
            <a:r>
              <a:rPr lang="en-US" sz="2000" dirty="0">
                <a:solidFill>
                  <a:srgbClr val="FF0000"/>
                </a:solidFill>
              </a:rPr>
              <a:t> </a:t>
            </a:r>
            <a:r>
              <a:rPr lang="en-US" sz="2000" dirty="0" err="1">
                <a:solidFill>
                  <a:srgbClr val="FF0000"/>
                </a:solidFill>
              </a:rPr>
              <a:t>có</a:t>
            </a:r>
            <a:r>
              <a:rPr lang="en-US" sz="2000" dirty="0">
                <a:solidFill>
                  <a:srgbClr val="FF0000"/>
                </a:solidFill>
              </a:rPr>
              <a:t> 100,000 words, access time </a:t>
            </a:r>
            <a:r>
              <a:rPr lang="en-US" sz="2000" dirty="0" err="1">
                <a:solidFill>
                  <a:srgbClr val="FF0000"/>
                </a:solidFill>
              </a:rPr>
              <a:t>là</a:t>
            </a:r>
            <a:r>
              <a:rPr lang="en-US" sz="2000" dirty="0">
                <a:solidFill>
                  <a:srgbClr val="FF0000"/>
                </a:solidFill>
              </a:rPr>
              <a:t> 0.1 </a:t>
            </a:r>
            <a:r>
              <a:rPr lang="en-US" sz="2000" dirty="0">
                <a:solidFill>
                  <a:srgbClr val="FF0000"/>
                </a:solidFill>
                <a:sym typeface="Symbol" pitchFamily="18" charset="2"/>
              </a:rPr>
              <a:t></a:t>
            </a:r>
            <a:r>
              <a:rPr lang="en-US" sz="2000" dirty="0">
                <a:solidFill>
                  <a:srgbClr val="FF0000"/>
                </a:solidFill>
              </a:rPr>
              <a:t>s</a:t>
            </a:r>
            <a:r>
              <a:rPr lang="en-US" sz="2000" dirty="0"/>
              <a:t>.</a:t>
            </a:r>
          </a:p>
          <a:p>
            <a:pPr>
              <a:lnSpc>
                <a:spcPct val="90000"/>
              </a:lnSpc>
            </a:pPr>
            <a:r>
              <a:rPr lang="en-US" sz="2000" dirty="0">
                <a:solidFill>
                  <a:srgbClr val="CC0099"/>
                </a:solidFill>
              </a:rPr>
              <a:t>Cache có1000 words </a:t>
            </a:r>
            <a:r>
              <a:rPr lang="en-US" sz="2000" dirty="0" err="1">
                <a:solidFill>
                  <a:srgbClr val="CC0099"/>
                </a:solidFill>
              </a:rPr>
              <a:t>và</a:t>
            </a:r>
            <a:r>
              <a:rPr lang="en-US" sz="2000" dirty="0">
                <a:solidFill>
                  <a:srgbClr val="CC0099"/>
                </a:solidFill>
              </a:rPr>
              <a:t> access time </a:t>
            </a:r>
            <a:r>
              <a:rPr lang="en-US" sz="2000" dirty="0" err="1">
                <a:solidFill>
                  <a:srgbClr val="CC0099"/>
                </a:solidFill>
              </a:rPr>
              <a:t>là</a:t>
            </a:r>
            <a:r>
              <a:rPr lang="en-US" sz="2000" dirty="0">
                <a:solidFill>
                  <a:srgbClr val="CC0099"/>
                </a:solidFill>
              </a:rPr>
              <a:t> 0.01 </a:t>
            </a:r>
            <a:r>
              <a:rPr lang="en-US" sz="2000" dirty="0">
                <a:solidFill>
                  <a:srgbClr val="CC0099"/>
                </a:solidFill>
                <a:sym typeface="Symbol" pitchFamily="18" charset="2"/>
              </a:rPr>
              <a:t></a:t>
            </a:r>
            <a:r>
              <a:rPr lang="en-US" sz="2000" dirty="0">
                <a:solidFill>
                  <a:srgbClr val="CC0099"/>
                </a:solidFill>
              </a:rPr>
              <a:t>s</a:t>
            </a:r>
            <a:r>
              <a:rPr lang="en-US" sz="2000" dirty="0"/>
              <a:t>.</a:t>
            </a:r>
          </a:p>
          <a:p>
            <a:pPr>
              <a:lnSpc>
                <a:spcPct val="90000"/>
              </a:lnSpc>
            </a:pPr>
            <a:r>
              <a:rPr lang="en-US" sz="2000" dirty="0" err="1"/>
              <a:t>Nếu</a:t>
            </a:r>
            <a:r>
              <a:rPr lang="en-US" sz="2000" dirty="0"/>
              <a:t> word </a:t>
            </a:r>
          </a:p>
          <a:p>
            <a:pPr lvl="1">
              <a:lnSpc>
                <a:spcPct val="90000"/>
              </a:lnSpc>
            </a:pPr>
            <a:r>
              <a:rPr lang="en-US" sz="2000" dirty="0" err="1"/>
              <a:t>có</a:t>
            </a:r>
            <a:r>
              <a:rPr lang="en-US" sz="2000" dirty="0"/>
              <a:t> </a:t>
            </a:r>
            <a:r>
              <a:rPr lang="en-US" sz="2000" dirty="0" err="1"/>
              <a:t>trong</a:t>
            </a:r>
            <a:r>
              <a:rPr lang="en-US" sz="2000" dirty="0"/>
              <a:t> </a:t>
            </a:r>
            <a:r>
              <a:rPr lang="en-US" sz="2000" dirty="0">
                <a:solidFill>
                  <a:srgbClr val="CC0099"/>
                </a:solidFill>
              </a:rPr>
              <a:t>cache (hit), </a:t>
            </a:r>
            <a:r>
              <a:rPr lang="en-US" sz="2000" dirty="0" err="1">
                <a:solidFill>
                  <a:srgbClr val="CC0099"/>
                </a:solidFill>
              </a:rPr>
              <a:t>nó</a:t>
            </a:r>
            <a:r>
              <a:rPr lang="en-US" sz="2000" dirty="0">
                <a:solidFill>
                  <a:srgbClr val="CC0099"/>
                </a:solidFill>
              </a:rPr>
              <a:t> </a:t>
            </a:r>
            <a:r>
              <a:rPr lang="en-US" sz="2000" dirty="0" err="1">
                <a:solidFill>
                  <a:srgbClr val="CC0099"/>
                </a:solidFill>
              </a:rPr>
              <a:t>có</a:t>
            </a:r>
            <a:r>
              <a:rPr lang="en-US" sz="2000" dirty="0">
                <a:solidFill>
                  <a:srgbClr val="CC0099"/>
                </a:solidFill>
              </a:rPr>
              <a:t> </a:t>
            </a:r>
            <a:r>
              <a:rPr lang="en-US" sz="2000" dirty="0" err="1">
                <a:solidFill>
                  <a:srgbClr val="CC0099"/>
                </a:solidFill>
              </a:rPr>
              <a:t>thể</a:t>
            </a:r>
            <a:r>
              <a:rPr lang="en-US" sz="2000" dirty="0">
                <a:solidFill>
                  <a:srgbClr val="CC0099"/>
                </a:solidFill>
              </a:rPr>
              <a:t> </a:t>
            </a:r>
            <a:r>
              <a:rPr lang="en-US" sz="2000" dirty="0" err="1">
                <a:solidFill>
                  <a:srgbClr val="CC0099"/>
                </a:solidFill>
              </a:rPr>
              <a:t>được</a:t>
            </a:r>
            <a:r>
              <a:rPr lang="en-US" sz="2000" dirty="0">
                <a:solidFill>
                  <a:srgbClr val="CC0099"/>
                </a:solidFill>
              </a:rPr>
              <a:t> </a:t>
            </a:r>
            <a:r>
              <a:rPr lang="en-US" sz="2000" dirty="0" err="1">
                <a:solidFill>
                  <a:srgbClr val="CC0099"/>
                </a:solidFill>
              </a:rPr>
              <a:t>truy</a:t>
            </a:r>
            <a:r>
              <a:rPr lang="en-US" sz="2000" dirty="0">
                <a:solidFill>
                  <a:srgbClr val="CC0099"/>
                </a:solidFill>
              </a:rPr>
              <a:t> </a:t>
            </a:r>
            <a:r>
              <a:rPr lang="en-US" sz="2000" dirty="0" err="1">
                <a:solidFill>
                  <a:srgbClr val="CC0099"/>
                </a:solidFill>
              </a:rPr>
              <a:t>xuất</a:t>
            </a:r>
            <a:r>
              <a:rPr lang="en-US" sz="2000" dirty="0">
                <a:solidFill>
                  <a:srgbClr val="CC0099"/>
                </a:solidFill>
              </a:rPr>
              <a:t> </a:t>
            </a:r>
            <a:r>
              <a:rPr lang="en-US" sz="2000" dirty="0" err="1">
                <a:solidFill>
                  <a:srgbClr val="CC0099"/>
                </a:solidFill>
              </a:rPr>
              <a:t>trực</a:t>
            </a:r>
            <a:r>
              <a:rPr lang="en-US" sz="2000" dirty="0">
                <a:solidFill>
                  <a:srgbClr val="CC0099"/>
                </a:solidFill>
              </a:rPr>
              <a:t> </a:t>
            </a:r>
            <a:r>
              <a:rPr lang="en-US" sz="2000" dirty="0" err="1">
                <a:solidFill>
                  <a:srgbClr val="CC0099"/>
                </a:solidFill>
              </a:rPr>
              <a:t>tiếp</a:t>
            </a:r>
            <a:r>
              <a:rPr lang="en-US" sz="2000" dirty="0">
                <a:solidFill>
                  <a:srgbClr val="CC0099"/>
                </a:solidFill>
              </a:rPr>
              <a:t> </a:t>
            </a:r>
            <a:r>
              <a:rPr lang="en-US" sz="2000" dirty="0" err="1">
                <a:solidFill>
                  <a:srgbClr val="CC0099"/>
                </a:solidFill>
              </a:rPr>
              <a:t>bởi</a:t>
            </a:r>
            <a:r>
              <a:rPr lang="en-US" sz="2000" dirty="0">
                <a:solidFill>
                  <a:srgbClr val="CC0099"/>
                </a:solidFill>
              </a:rPr>
              <a:t> VXL</a:t>
            </a:r>
            <a:r>
              <a:rPr lang="en-US" sz="2000" dirty="0"/>
              <a:t>.</a:t>
            </a:r>
          </a:p>
          <a:p>
            <a:pPr lvl="1">
              <a:lnSpc>
                <a:spcPct val="90000"/>
              </a:lnSpc>
            </a:pPr>
            <a:r>
              <a:rPr lang="en-US" sz="2000" dirty="0" err="1"/>
              <a:t>chỉ</a:t>
            </a:r>
            <a:r>
              <a:rPr lang="en-US" sz="2000" dirty="0"/>
              <a:t> </a:t>
            </a:r>
            <a:r>
              <a:rPr lang="en-US" sz="2000" dirty="0" err="1"/>
              <a:t>có</a:t>
            </a:r>
            <a:r>
              <a:rPr lang="en-US" sz="2000" dirty="0"/>
              <a:t> </a:t>
            </a:r>
            <a:r>
              <a:rPr lang="en-US" sz="2000" dirty="0" err="1"/>
              <a:t>trong</a:t>
            </a:r>
            <a:r>
              <a:rPr lang="en-US" sz="2000" dirty="0"/>
              <a:t> </a:t>
            </a:r>
            <a:r>
              <a:rPr lang="en-US" sz="2000" dirty="0">
                <a:solidFill>
                  <a:srgbClr val="FF3300"/>
                </a:solidFill>
              </a:rPr>
              <a:t>memory (miss), </a:t>
            </a:r>
            <a:r>
              <a:rPr lang="en-US" sz="2000" dirty="0" err="1">
                <a:solidFill>
                  <a:srgbClr val="FF3300"/>
                </a:solidFill>
              </a:rPr>
              <a:t>nó</a:t>
            </a:r>
            <a:r>
              <a:rPr lang="en-US" sz="2000" dirty="0">
                <a:solidFill>
                  <a:srgbClr val="FF3300"/>
                </a:solidFill>
              </a:rPr>
              <a:t> </a:t>
            </a:r>
            <a:r>
              <a:rPr lang="en-US" sz="2000" dirty="0" err="1">
                <a:solidFill>
                  <a:srgbClr val="FF3300"/>
                </a:solidFill>
              </a:rPr>
              <a:t>phải</a:t>
            </a:r>
            <a:r>
              <a:rPr lang="en-US" sz="2000" dirty="0">
                <a:solidFill>
                  <a:srgbClr val="FF3300"/>
                </a:solidFill>
              </a:rPr>
              <a:t> </a:t>
            </a:r>
            <a:r>
              <a:rPr lang="en-US" sz="2000" dirty="0" err="1">
                <a:solidFill>
                  <a:srgbClr val="FF3300"/>
                </a:solidFill>
              </a:rPr>
              <a:t>được</a:t>
            </a:r>
            <a:r>
              <a:rPr lang="en-US" sz="2000" dirty="0">
                <a:solidFill>
                  <a:srgbClr val="FF3300"/>
                </a:solidFill>
              </a:rPr>
              <a:t> </a:t>
            </a:r>
            <a:r>
              <a:rPr lang="en-US" sz="2000" dirty="0" err="1">
                <a:solidFill>
                  <a:srgbClr val="FF3300"/>
                </a:solidFill>
              </a:rPr>
              <a:t>truyền</a:t>
            </a:r>
            <a:r>
              <a:rPr lang="en-US" sz="2000" dirty="0">
                <a:solidFill>
                  <a:srgbClr val="FF3300"/>
                </a:solidFill>
              </a:rPr>
              <a:t> </a:t>
            </a:r>
            <a:r>
              <a:rPr lang="en-US" sz="2000" dirty="0" err="1">
                <a:solidFill>
                  <a:srgbClr val="FF3300"/>
                </a:solidFill>
              </a:rPr>
              <a:t>đến</a:t>
            </a:r>
            <a:r>
              <a:rPr lang="en-US" sz="2000" dirty="0">
                <a:solidFill>
                  <a:srgbClr val="FF3300"/>
                </a:solidFill>
              </a:rPr>
              <a:t> cache </a:t>
            </a:r>
            <a:r>
              <a:rPr lang="en-US" sz="2000" dirty="0" err="1">
                <a:solidFill>
                  <a:srgbClr val="FF3300"/>
                </a:solidFill>
              </a:rPr>
              <a:t>trước</a:t>
            </a:r>
            <a:r>
              <a:rPr lang="en-US" sz="2000" dirty="0">
                <a:solidFill>
                  <a:srgbClr val="FF3300"/>
                </a:solidFill>
              </a:rPr>
              <a:t> </a:t>
            </a:r>
            <a:r>
              <a:rPr lang="en-US" sz="2000" dirty="0" err="1">
                <a:solidFill>
                  <a:srgbClr val="FF3300"/>
                </a:solidFill>
              </a:rPr>
              <a:t>khi</a:t>
            </a:r>
            <a:r>
              <a:rPr lang="en-US" sz="2000" dirty="0">
                <a:solidFill>
                  <a:srgbClr val="FF3300"/>
                </a:solidFill>
              </a:rPr>
              <a:t> </a:t>
            </a:r>
            <a:r>
              <a:rPr lang="en-US" sz="2000" dirty="0" err="1">
                <a:solidFill>
                  <a:srgbClr val="FF3300"/>
                </a:solidFill>
              </a:rPr>
              <a:t>truy</a:t>
            </a:r>
            <a:r>
              <a:rPr lang="en-US" sz="2000" dirty="0">
                <a:solidFill>
                  <a:srgbClr val="FF3300"/>
                </a:solidFill>
              </a:rPr>
              <a:t> </a:t>
            </a:r>
            <a:r>
              <a:rPr lang="en-US" sz="2000" dirty="0" err="1">
                <a:solidFill>
                  <a:srgbClr val="FF3300"/>
                </a:solidFill>
              </a:rPr>
              <a:t>xuất</a:t>
            </a:r>
            <a:endParaRPr lang="en-US" sz="2000" dirty="0"/>
          </a:p>
          <a:p>
            <a:pPr>
              <a:lnSpc>
                <a:spcPct val="90000"/>
              </a:lnSpc>
            </a:pPr>
            <a:r>
              <a:rPr lang="en-US" sz="2000" dirty="0" err="1">
                <a:solidFill>
                  <a:schemeClr val="accent2"/>
                </a:solidFill>
              </a:rPr>
              <a:t>Giả</a:t>
            </a:r>
            <a:r>
              <a:rPr lang="en-US" sz="2000" dirty="0">
                <a:solidFill>
                  <a:schemeClr val="accent2"/>
                </a:solidFill>
              </a:rPr>
              <a:t> </a:t>
            </a:r>
            <a:r>
              <a:rPr lang="en-US" sz="2000" dirty="0" err="1">
                <a:solidFill>
                  <a:schemeClr val="accent2"/>
                </a:solidFill>
              </a:rPr>
              <a:t>sử</a:t>
            </a:r>
            <a:r>
              <a:rPr lang="en-US" sz="2000" dirty="0">
                <a:solidFill>
                  <a:schemeClr val="accent2"/>
                </a:solidFill>
              </a:rPr>
              <a:t> </a:t>
            </a:r>
            <a:r>
              <a:rPr lang="en-US" sz="2000" dirty="0" err="1">
                <a:solidFill>
                  <a:schemeClr val="accent2"/>
                </a:solidFill>
              </a:rPr>
              <a:t>rằng</a:t>
            </a:r>
            <a:r>
              <a:rPr lang="en-US" sz="2000" dirty="0">
                <a:solidFill>
                  <a:schemeClr val="accent2"/>
                </a:solidFill>
              </a:rPr>
              <a:t> 95% </a:t>
            </a:r>
            <a:r>
              <a:rPr lang="en-US" sz="2000" dirty="0" err="1">
                <a:solidFill>
                  <a:schemeClr val="accent2"/>
                </a:solidFill>
              </a:rPr>
              <a:t>các</a:t>
            </a:r>
            <a:r>
              <a:rPr lang="en-US" sz="2000" dirty="0">
                <a:solidFill>
                  <a:schemeClr val="accent2"/>
                </a:solidFill>
              </a:rPr>
              <a:t> </a:t>
            </a:r>
            <a:r>
              <a:rPr lang="en-US" sz="2000" dirty="0" err="1">
                <a:solidFill>
                  <a:schemeClr val="accent2"/>
                </a:solidFill>
              </a:rPr>
              <a:t>yêu</a:t>
            </a:r>
            <a:r>
              <a:rPr lang="en-US" sz="2000" dirty="0">
                <a:solidFill>
                  <a:schemeClr val="accent2"/>
                </a:solidFill>
              </a:rPr>
              <a:t> </a:t>
            </a:r>
            <a:r>
              <a:rPr lang="en-US" sz="2000" dirty="0" err="1">
                <a:solidFill>
                  <a:schemeClr val="accent2"/>
                </a:solidFill>
              </a:rPr>
              <a:t>cầu</a:t>
            </a:r>
            <a:r>
              <a:rPr lang="en-US" sz="2000" dirty="0">
                <a:solidFill>
                  <a:schemeClr val="accent2"/>
                </a:solidFill>
              </a:rPr>
              <a:t> </a:t>
            </a:r>
            <a:r>
              <a:rPr lang="en-US" sz="2000" dirty="0" err="1">
                <a:solidFill>
                  <a:schemeClr val="accent2"/>
                </a:solidFill>
              </a:rPr>
              <a:t>truy</a:t>
            </a:r>
            <a:r>
              <a:rPr lang="en-US" sz="2000" dirty="0">
                <a:solidFill>
                  <a:schemeClr val="accent2"/>
                </a:solidFill>
              </a:rPr>
              <a:t> </a:t>
            </a:r>
            <a:r>
              <a:rPr lang="en-US" sz="2000" dirty="0" err="1">
                <a:solidFill>
                  <a:schemeClr val="accent2"/>
                </a:solidFill>
              </a:rPr>
              <a:t>xuất</a:t>
            </a:r>
            <a:r>
              <a:rPr lang="en-US" sz="2000" dirty="0">
                <a:solidFill>
                  <a:schemeClr val="accent2"/>
                </a:solidFill>
              </a:rPr>
              <a:t> </a:t>
            </a:r>
            <a:r>
              <a:rPr lang="en-US" sz="2000" dirty="0" err="1">
                <a:solidFill>
                  <a:schemeClr val="accent2"/>
                </a:solidFill>
              </a:rPr>
              <a:t>là</a:t>
            </a:r>
            <a:r>
              <a:rPr lang="en-US" sz="2000" dirty="0">
                <a:solidFill>
                  <a:schemeClr val="accent2"/>
                </a:solidFill>
              </a:rPr>
              <a:t> hits</a:t>
            </a:r>
            <a:r>
              <a:rPr lang="en-US" sz="2000" dirty="0"/>
              <a:t>.</a:t>
            </a:r>
          </a:p>
          <a:p>
            <a:pPr>
              <a:lnSpc>
                <a:spcPct val="90000"/>
              </a:lnSpc>
            </a:pPr>
            <a:r>
              <a:rPr lang="en-US" sz="2000" dirty="0"/>
              <a:t>Average time </a:t>
            </a:r>
            <a:r>
              <a:rPr lang="en-US" sz="2000" dirty="0" err="1"/>
              <a:t>để</a:t>
            </a:r>
            <a:r>
              <a:rPr lang="en-US" sz="2000" dirty="0"/>
              <a:t> </a:t>
            </a:r>
            <a:r>
              <a:rPr lang="en-US" sz="2000" dirty="0" err="1"/>
              <a:t>truy</a:t>
            </a:r>
            <a:r>
              <a:rPr lang="en-US" sz="2000" dirty="0"/>
              <a:t> </a:t>
            </a:r>
            <a:r>
              <a:rPr lang="en-US" sz="2000" dirty="0" err="1"/>
              <a:t>xuất</a:t>
            </a:r>
            <a:r>
              <a:rPr lang="en-US" sz="2000" dirty="0"/>
              <a:t> 1 word </a:t>
            </a:r>
            <a:r>
              <a:rPr lang="en-US" sz="2000" dirty="0" err="1"/>
              <a:t>là</a:t>
            </a:r>
            <a:r>
              <a:rPr lang="en-US" sz="2000" dirty="0"/>
              <a:t>:</a:t>
            </a:r>
          </a:p>
          <a:p>
            <a:pPr>
              <a:lnSpc>
                <a:spcPct val="90000"/>
              </a:lnSpc>
              <a:buNone/>
            </a:pPr>
            <a:r>
              <a:rPr lang="en-US" sz="2000" dirty="0">
                <a:solidFill>
                  <a:srgbClr val="CC0099"/>
                </a:solidFill>
              </a:rPr>
              <a:t>	(0.95)(0.01 </a:t>
            </a:r>
            <a:r>
              <a:rPr lang="en-US" sz="2000" dirty="0">
                <a:solidFill>
                  <a:srgbClr val="CC0099"/>
                </a:solidFill>
                <a:sym typeface="Symbol" pitchFamily="18" charset="2"/>
              </a:rPr>
              <a:t></a:t>
            </a:r>
            <a:r>
              <a:rPr lang="en-US" sz="2000" dirty="0">
                <a:solidFill>
                  <a:srgbClr val="CC0099"/>
                </a:solidFill>
              </a:rPr>
              <a:t>s)</a:t>
            </a:r>
            <a:r>
              <a:rPr lang="en-US" sz="2000" dirty="0"/>
              <a:t>+</a:t>
            </a:r>
            <a:r>
              <a:rPr lang="en-US" sz="2000" dirty="0">
                <a:solidFill>
                  <a:srgbClr val="FF0000"/>
                </a:solidFill>
              </a:rPr>
              <a:t>0.05(0.1 </a:t>
            </a:r>
            <a:r>
              <a:rPr lang="en-US" sz="2000" dirty="0">
                <a:solidFill>
                  <a:srgbClr val="FF0000"/>
                </a:solidFill>
                <a:sym typeface="Symbol" pitchFamily="18" charset="2"/>
              </a:rPr>
              <a:t></a:t>
            </a:r>
            <a:r>
              <a:rPr lang="en-US" sz="2000" dirty="0">
                <a:solidFill>
                  <a:srgbClr val="FF0000"/>
                </a:solidFill>
              </a:rPr>
              <a:t>s+ 0.01 </a:t>
            </a:r>
            <a:r>
              <a:rPr lang="en-US" sz="2000" dirty="0">
                <a:solidFill>
                  <a:srgbClr val="FF0000"/>
                </a:solidFill>
                <a:sym typeface="Symbol" pitchFamily="18" charset="2"/>
              </a:rPr>
              <a:t></a:t>
            </a:r>
            <a:r>
              <a:rPr lang="en-US" sz="2000" dirty="0">
                <a:solidFill>
                  <a:srgbClr val="FF0000"/>
                </a:solidFill>
              </a:rPr>
              <a:t>s)</a:t>
            </a:r>
            <a:r>
              <a:rPr lang="en-US" sz="2000" dirty="0"/>
              <a:t> = 0.015 </a:t>
            </a:r>
            <a:r>
              <a:rPr lang="en-US" sz="2000" dirty="0">
                <a:sym typeface="Symbol" pitchFamily="18" charset="2"/>
              </a:rPr>
              <a:t></a:t>
            </a:r>
            <a:r>
              <a:rPr lang="en-US" sz="2000" dirty="0"/>
              <a:t>s </a:t>
            </a:r>
          </a:p>
          <a:p>
            <a:pPr>
              <a:lnSpc>
                <a:spcPct val="90000"/>
              </a:lnSpc>
            </a:pPr>
            <a:endParaRPr lang="en-US" sz="2000" dirty="0"/>
          </a:p>
        </p:txBody>
      </p:sp>
      <p:sp>
        <p:nvSpPr>
          <p:cNvPr id="172037" name="Text Box 5"/>
          <p:cNvSpPr txBox="1">
            <a:spLocks noChangeArrowheads="1"/>
          </p:cNvSpPr>
          <p:nvPr/>
        </p:nvSpPr>
        <p:spPr bwMode="auto">
          <a:xfrm>
            <a:off x="5410200" y="5334000"/>
            <a:ext cx="2738438" cy="466725"/>
          </a:xfrm>
          <a:prstGeom prst="rect">
            <a:avLst/>
          </a:prstGeom>
          <a:solidFill>
            <a:srgbClr val="CCFFFF"/>
          </a:solidFill>
          <a:ln w="9525">
            <a:solidFill>
              <a:schemeClr val="tx1"/>
            </a:solidFill>
            <a:miter lim="800000"/>
            <a:headEnd/>
            <a:tailEnd/>
          </a:ln>
          <a:effectLst/>
        </p:spPr>
        <p:txBody>
          <a:bodyPr wrap="none">
            <a:spAutoFit/>
          </a:bodyPr>
          <a:lstStyle/>
          <a:p>
            <a:pPr algn="ctr"/>
            <a:r>
              <a:rPr lang="en-US" dirty="0"/>
              <a:t>Close to cache speed</a:t>
            </a:r>
          </a:p>
        </p:txBody>
      </p:sp>
      <p:sp>
        <p:nvSpPr>
          <p:cNvPr id="172038" name="Line 6"/>
          <p:cNvSpPr>
            <a:spLocks noChangeShapeType="1"/>
          </p:cNvSpPr>
          <p:nvPr/>
        </p:nvSpPr>
        <p:spPr bwMode="auto">
          <a:xfrm flipH="1" flipV="1">
            <a:off x="5867400" y="4953000"/>
            <a:ext cx="0" cy="381000"/>
          </a:xfrm>
          <a:prstGeom prst="line">
            <a:avLst/>
          </a:prstGeom>
          <a:noFill/>
          <a:ln w="9525">
            <a:solidFill>
              <a:srgbClr val="000000"/>
            </a:solidFill>
            <a:round/>
            <a:headEnd/>
            <a:tailEnd type="triangle" w="med" len="med"/>
          </a:ln>
          <a:effectLst/>
        </p:spPr>
        <p:txBody>
          <a:bodyPr wrap="none" anchor="ct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en-GB" dirty="0" err="1"/>
              <a:t>Hoạt</a:t>
            </a:r>
            <a:r>
              <a:rPr lang="en-GB" dirty="0"/>
              <a:t> </a:t>
            </a:r>
            <a:r>
              <a:rPr lang="en-GB" dirty="0" err="1"/>
              <a:t>động</a:t>
            </a:r>
            <a:r>
              <a:rPr lang="en-GB" dirty="0"/>
              <a:t> </a:t>
            </a:r>
            <a:r>
              <a:rPr lang="en-GB" dirty="0" err="1"/>
              <a:t>đọc</a:t>
            </a:r>
            <a:r>
              <a:rPr lang="en-GB" dirty="0"/>
              <a:t> cache</a:t>
            </a:r>
          </a:p>
        </p:txBody>
      </p:sp>
      <p:sp>
        <p:nvSpPr>
          <p:cNvPr id="173060" name="Rectangle 4"/>
          <p:cNvSpPr>
            <a:spLocks noChangeArrowheads="1"/>
          </p:cNvSpPr>
          <p:nvPr/>
        </p:nvSpPr>
        <p:spPr bwMode="auto">
          <a:xfrm>
            <a:off x="6934200" y="1981200"/>
            <a:ext cx="1828800" cy="457200"/>
          </a:xfrm>
          <a:prstGeom prst="rect">
            <a:avLst/>
          </a:prstGeom>
          <a:solidFill>
            <a:srgbClr val="CCFFFF"/>
          </a:solidFill>
          <a:ln w="9525">
            <a:solidFill>
              <a:srgbClr val="000000"/>
            </a:solidFill>
            <a:miter lim="800000"/>
            <a:headEnd/>
            <a:tailEnd/>
          </a:ln>
          <a:effectLst/>
        </p:spPr>
        <p:txBody>
          <a:bodyPr wrap="none" anchor="ctr"/>
          <a:lstStyle/>
          <a:p>
            <a:pPr algn="ctr"/>
            <a:r>
              <a:rPr lang="en-GB">
                <a:solidFill>
                  <a:srgbClr val="FF0000"/>
                </a:solidFill>
                <a:sym typeface="Wingdings" pitchFamily="2" charset="2"/>
              </a:rPr>
              <a:t>cache </a:t>
            </a:r>
            <a:r>
              <a:rPr lang="en-GB" u="sng">
                <a:solidFill>
                  <a:srgbClr val="FF0000"/>
                </a:solidFill>
                <a:sym typeface="Wingdings" pitchFamily="2" charset="2"/>
              </a:rPr>
              <a:t>hit</a:t>
            </a:r>
            <a:r>
              <a:rPr lang="en-GB">
                <a:solidFill>
                  <a:srgbClr val="FF0000"/>
                </a:solidFill>
                <a:sym typeface="Wingdings" pitchFamily="2" charset="2"/>
              </a:rPr>
              <a:t> !</a:t>
            </a:r>
            <a:endParaRPr lang="en-US">
              <a:solidFill>
                <a:srgbClr val="FF0000"/>
              </a:solidFill>
              <a:sym typeface="Wingdings" pitchFamily="2" charset="2"/>
            </a:endParaRPr>
          </a:p>
        </p:txBody>
      </p:sp>
      <p:sp>
        <p:nvSpPr>
          <p:cNvPr id="173061" name="Line 5"/>
          <p:cNvSpPr>
            <a:spLocks noChangeShapeType="1"/>
          </p:cNvSpPr>
          <p:nvPr/>
        </p:nvSpPr>
        <p:spPr bwMode="auto">
          <a:xfrm flipH="1">
            <a:off x="5943600" y="2209800"/>
            <a:ext cx="990600" cy="60960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73062" name="Rectangle 6"/>
          <p:cNvSpPr>
            <a:spLocks noChangeArrowheads="1"/>
          </p:cNvSpPr>
          <p:nvPr/>
        </p:nvSpPr>
        <p:spPr bwMode="auto">
          <a:xfrm>
            <a:off x="7010400" y="3276600"/>
            <a:ext cx="1828800" cy="457200"/>
          </a:xfrm>
          <a:prstGeom prst="rect">
            <a:avLst/>
          </a:prstGeom>
          <a:solidFill>
            <a:srgbClr val="CCFFFF"/>
          </a:solidFill>
          <a:ln w="9525">
            <a:solidFill>
              <a:srgbClr val="000000"/>
            </a:solidFill>
            <a:miter lim="800000"/>
            <a:headEnd/>
            <a:tailEnd/>
          </a:ln>
          <a:effectLst/>
        </p:spPr>
        <p:txBody>
          <a:bodyPr wrap="none" anchor="ctr"/>
          <a:lstStyle/>
          <a:p>
            <a:pPr algn="ctr"/>
            <a:r>
              <a:rPr lang="en-GB">
                <a:solidFill>
                  <a:srgbClr val="FF0000"/>
                </a:solidFill>
                <a:sym typeface="Wingdings" pitchFamily="2" charset="2"/>
              </a:rPr>
              <a:t>cache </a:t>
            </a:r>
            <a:r>
              <a:rPr lang="en-GB" u="sng">
                <a:solidFill>
                  <a:srgbClr val="FF0000"/>
                </a:solidFill>
                <a:sym typeface="Wingdings" pitchFamily="2" charset="2"/>
              </a:rPr>
              <a:t>miss</a:t>
            </a:r>
            <a:r>
              <a:rPr lang="en-GB">
                <a:solidFill>
                  <a:srgbClr val="FF0000"/>
                </a:solidFill>
                <a:sym typeface="Wingdings" pitchFamily="2" charset="2"/>
              </a:rPr>
              <a:t> !</a:t>
            </a:r>
            <a:endParaRPr lang="en-US">
              <a:solidFill>
                <a:srgbClr val="FF0000"/>
              </a:solidFill>
              <a:sym typeface="Wingdings" pitchFamily="2" charset="2"/>
            </a:endParaRPr>
          </a:p>
        </p:txBody>
      </p:sp>
      <p:sp>
        <p:nvSpPr>
          <p:cNvPr id="173063" name="Line 7"/>
          <p:cNvSpPr>
            <a:spLocks noChangeShapeType="1"/>
          </p:cNvSpPr>
          <p:nvPr/>
        </p:nvSpPr>
        <p:spPr bwMode="auto">
          <a:xfrm flipH="1">
            <a:off x="6400800" y="3581400"/>
            <a:ext cx="609600" cy="457200"/>
          </a:xfrm>
          <a:prstGeom prst="line">
            <a:avLst/>
          </a:prstGeom>
          <a:noFill/>
          <a:ln w="9525">
            <a:solidFill>
              <a:srgbClr val="000000"/>
            </a:solidFill>
            <a:round/>
            <a:headEnd/>
            <a:tailEnd type="triangle" w="med" len="med"/>
          </a:ln>
          <a:effectLst/>
        </p:spPr>
        <p:txBody>
          <a:bodyPr wrap="none" anchor="ctr"/>
          <a:lstStyle/>
          <a:p>
            <a:endParaRPr lang="en-US"/>
          </a:p>
        </p:txBody>
      </p:sp>
      <p:sp>
        <p:nvSpPr>
          <p:cNvPr id="173064" name="Rectangle 8"/>
          <p:cNvSpPr>
            <a:spLocks noChangeArrowheads="1"/>
          </p:cNvSpPr>
          <p:nvPr/>
        </p:nvSpPr>
        <p:spPr bwMode="auto">
          <a:xfrm>
            <a:off x="838200" y="2819400"/>
            <a:ext cx="5943600" cy="533400"/>
          </a:xfrm>
          <a:prstGeom prst="rect">
            <a:avLst/>
          </a:prstGeom>
          <a:solidFill>
            <a:srgbClr val="FFFFCC"/>
          </a:solidFill>
          <a:ln w="9525">
            <a:solidFill>
              <a:srgbClr val="000000"/>
            </a:solidFill>
            <a:miter lim="800000"/>
            <a:headEnd/>
            <a:tailEnd/>
          </a:ln>
          <a:effectLst/>
        </p:spPr>
        <p:txBody>
          <a:bodyPr wrap="none" anchor="ctr"/>
          <a:lstStyle/>
          <a:p>
            <a:r>
              <a:rPr lang="en-GB" dirty="0" err="1">
                <a:solidFill>
                  <a:srgbClr val="FF0000"/>
                </a:solidFill>
              </a:rPr>
              <a:t>Dữ</a:t>
            </a:r>
            <a:r>
              <a:rPr lang="en-GB" dirty="0">
                <a:solidFill>
                  <a:srgbClr val="FF0000"/>
                </a:solidFill>
              </a:rPr>
              <a:t> </a:t>
            </a:r>
            <a:r>
              <a:rPr lang="en-GB" dirty="0" err="1">
                <a:solidFill>
                  <a:srgbClr val="FF0000"/>
                </a:solidFill>
              </a:rPr>
              <a:t>liệu</a:t>
            </a:r>
            <a:r>
              <a:rPr lang="en-GB" dirty="0">
                <a:solidFill>
                  <a:srgbClr val="FF0000"/>
                </a:solidFill>
              </a:rPr>
              <a:t> </a:t>
            </a:r>
            <a:r>
              <a:rPr lang="en-GB" dirty="0" err="1">
                <a:solidFill>
                  <a:srgbClr val="FF0000"/>
                </a:solidFill>
              </a:rPr>
              <a:t>có</a:t>
            </a:r>
            <a:r>
              <a:rPr lang="en-GB" dirty="0">
                <a:solidFill>
                  <a:srgbClr val="FF0000"/>
                </a:solidFill>
              </a:rPr>
              <a:t> </a:t>
            </a:r>
            <a:r>
              <a:rPr lang="en-GB" dirty="0" err="1">
                <a:solidFill>
                  <a:srgbClr val="FF0000"/>
                </a:solidFill>
              </a:rPr>
              <a:t>mặt</a:t>
            </a:r>
            <a:r>
              <a:rPr lang="en-GB" dirty="0">
                <a:solidFill>
                  <a:srgbClr val="FF0000"/>
                </a:solidFill>
              </a:rPr>
              <a:t> </a:t>
            </a:r>
            <a:r>
              <a:rPr lang="en-GB" dirty="0" err="1">
                <a:solidFill>
                  <a:srgbClr val="FF0000"/>
                </a:solidFill>
              </a:rPr>
              <a:t>trong</a:t>
            </a:r>
            <a:r>
              <a:rPr lang="en-GB" dirty="0">
                <a:solidFill>
                  <a:srgbClr val="FF0000"/>
                </a:solidFill>
              </a:rPr>
              <a:t> cache</a:t>
            </a:r>
            <a:r>
              <a:rPr lang="en-GB" dirty="0"/>
              <a:t>  </a:t>
            </a:r>
            <a:r>
              <a:rPr lang="en-GB" dirty="0">
                <a:sym typeface="Wingdings" pitchFamily="2" charset="2"/>
              </a:rPr>
              <a:t> </a:t>
            </a:r>
            <a:r>
              <a:rPr lang="en-GB" dirty="0"/>
              <a:t> </a:t>
            </a:r>
            <a:r>
              <a:rPr lang="en-GB" dirty="0" err="1"/>
              <a:t>Lấy</a:t>
            </a:r>
            <a:r>
              <a:rPr lang="en-GB" dirty="0"/>
              <a:t> </a:t>
            </a:r>
            <a:r>
              <a:rPr lang="en-GB" dirty="0" err="1"/>
              <a:t>dữ</a:t>
            </a:r>
            <a:r>
              <a:rPr lang="en-GB" dirty="0"/>
              <a:t> </a:t>
            </a:r>
            <a:r>
              <a:rPr lang="en-GB" dirty="0" err="1"/>
              <a:t>liệu</a:t>
            </a:r>
            <a:r>
              <a:rPr lang="en-GB" dirty="0"/>
              <a:t> </a:t>
            </a:r>
            <a:r>
              <a:rPr lang="en-GB" dirty="0" err="1"/>
              <a:t>từ</a:t>
            </a:r>
            <a:r>
              <a:rPr lang="en-GB" dirty="0"/>
              <a:t> cache (fast)</a:t>
            </a:r>
            <a:endParaRPr lang="en-US" dirty="0"/>
          </a:p>
        </p:txBody>
      </p:sp>
      <p:sp>
        <p:nvSpPr>
          <p:cNvPr id="173065" name="Rectangle 9"/>
          <p:cNvSpPr>
            <a:spLocks noChangeArrowheads="1"/>
          </p:cNvSpPr>
          <p:nvPr/>
        </p:nvSpPr>
        <p:spPr bwMode="auto">
          <a:xfrm>
            <a:off x="914400" y="4038600"/>
            <a:ext cx="7239000" cy="990600"/>
          </a:xfrm>
          <a:prstGeom prst="rect">
            <a:avLst/>
          </a:prstGeom>
          <a:solidFill>
            <a:srgbClr val="FFFFCC"/>
          </a:solidFill>
          <a:ln w="9525">
            <a:solidFill>
              <a:srgbClr val="000000"/>
            </a:solidFill>
            <a:miter lim="800000"/>
            <a:headEnd/>
            <a:tailEnd/>
          </a:ln>
          <a:effectLst/>
        </p:spPr>
        <p:txBody>
          <a:bodyPr wrap="none" anchor="ctr"/>
          <a:lstStyle/>
          <a:p>
            <a:pPr eaLnBrk="1" hangingPunct="1">
              <a:spcBef>
                <a:spcPct val="50000"/>
              </a:spcBef>
              <a:buClr>
                <a:srgbClr val="990000"/>
              </a:buClr>
              <a:buFont typeface="Wingdings" pitchFamily="2" charset="2"/>
              <a:buNone/>
            </a:pPr>
            <a:r>
              <a:rPr lang="en-GB" dirty="0" err="1">
                <a:solidFill>
                  <a:srgbClr val="FF0000"/>
                </a:solidFill>
              </a:rPr>
              <a:t>Dữ</a:t>
            </a:r>
            <a:r>
              <a:rPr lang="en-GB" dirty="0">
                <a:solidFill>
                  <a:srgbClr val="FF0000"/>
                </a:solidFill>
              </a:rPr>
              <a:t> </a:t>
            </a:r>
            <a:r>
              <a:rPr lang="en-GB" dirty="0" err="1">
                <a:solidFill>
                  <a:srgbClr val="FF0000"/>
                </a:solidFill>
              </a:rPr>
              <a:t>liệu</a:t>
            </a:r>
            <a:r>
              <a:rPr lang="en-GB" dirty="0">
                <a:solidFill>
                  <a:srgbClr val="FF0000"/>
                </a:solidFill>
              </a:rPr>
              <a:t> </a:t>
            </a:r>
            <a:r>
              <a:rPr lang="en-GB" dirty="0" err="1">
                <a:solidFill>
                  <a:srgbClr val="FF0000"/>
                </a:solidFill>
              </a:rPr>
              <a:t>không</a:t>
            </a:r>
            <a:r>
              <a:rPr lang="en-GB" dirty="0">
                <a:solidFill>
                  <a:srgbClr val="FF0000"/>
                </a:solidFill>
              </a:rPr>
              <a:t> </a:t>
            </a:r>
            <a:r>
              <a:rPr lang="en-GB" dirty="0" err="1">
                <a:solidFill>
                  <a:srgbClr val="FF0000"/>
                </a:solidFill>
              </a:rPr>
              <a:t>có</a:t>
            </a:r>
            <a:r>
              <a:rPr lang="en-GB" dirty="0">
                <a:solidFill>
                  <a:srgbClr val="FF0000"/>
                </a:solidFill>
              </a:rPr>
              <a:t> </a:t>
            </a:r>
            <a:r>
              <a:rPr lang="en-GB" dirty="0" err="1">
                <a:solidFill>
                  <a:srgbClr val="FF0000"/>
                </a:solidFill>
              </a:rPr>
              <a:t>mặt</a:t>
            </a:r>
            <a:r>
              <a:rPr lang="en-GB" dirty="0">
                <a:solidFill>
                  <a:srgbClr val="FF0000"/>
                </a:solidFill>
              </a:rPr>
              <a:t> </a:t>
            </a:r>
            <a:r>
              <a:rPr lang="en-GB" dirty="0" err="1">
                <a:solidFill>
                  <a:srgbClr val="FF0000"/>
                </a:solidFill>
              </a:rPr>
              <a:t>trong</a:t>
            </a:r>
            <a:r>
              <a:rPr lang="en-GB" dirty="0">
                <a:solidFill>
                  <a:srgbClr val="FF0000"/>
                </a:solidFill>
              </a:rPr>
              <a:t> cache</a:t>
            </a:r>
            <a:r>
              <a:rPr lang="en-GB" dirty="0">
                <a:sym typeface="Wingdings" pitchFamily="2" charset="2"/>
              </a:rPr>
              <a:t> </a:t>
            </a:r>
            <a:r>
              <a:rPr lang="en-GB" dirty="0"/>
              <a:t> </a:t>
            </a:r>
            <a:r>
              <a:rPr lang="en-GB" dirty="0" err="1"/>
              <a:t>Đọc</a:t>
            </a:r>
            <a:r>
              <a:rPr lang="en-GB" dirty="0"/>
              <a:t> </a:t>
            </a:r>
            <a:r>
              <a:rPr lang="en-GB" dirty="0" err="1"/>
              <a:t>các</a:t>
            </a:r>
            <a:r>
              <a:rPr lang="en-GB" dirty="0"/>
              <a:t> </a:t>
            </a:r>
            <a:r>
              <a:rPr lang="en-GB" dirty="0">
                <a:solidFill>
                  <a:srgbClr val="FF0000"/>
                </a:solidFill>
              </a:rPr>
              <a:t>block</a:t>
            </a:r>
            <a:r>
              <a:rPr lang="en-GB" dirty="0"/>
              <a:t> </a:t>
            </a:r>
            <a:r>
              <a:rPr lang="en-GB" dirty="0" err="1"/>
              <a:t>từ</a:t>
            </a:r>
            <a:r>
              <a:rPr lang="en-GB" dirty="0"/>
              <a:t> </a:t>
            </a:r>
            <a:r>
              <a:rPr lang="en-GB" dirty="0" err="1"/>
              <a:t>bộ</a:t>
            </a:r>
            <a:r>
              <a:rPr lang="en-GB" dirty="0"/>
              <a:t> </a:t>
            </a:r>
            <a:r>
              <a:rPr lang="en-GB" dirty="0" err="1"/>
              <a:t>nhớ</a:t>
            </a:r>
            <a:r>
              <a:rPr lang="en-GB" dirty="0"/>
              <a:t> </a:t>
            </a:r>
            <a:r>
              <a:rPr lang="en-GB" dirty="0" err="1"/>
              <a:t>chính</a:t>
            </a:r>
            <a:endParaRPr lang="en-GB" dirty="0"/>
          </a:p>
          <a:p>
            <a:pPr eaLnBrk="1" hangingPunct="1">
              <a:spcBef>
                <a:spcPct val="50000"/>
              </a:spcBef>
              <a:buClr>
                <a:srgbClr val="990000"/>
              </a:buClr>
              <a:buFont typeface="Wingdings" pitchFamily="2" charset="2"/>
              <a:buNone/>
            </a:pPr>
            <a:r>
              <a:rPr lang="en-GB" dirty="0" err="1"/>
              <a:t>đưa</a:t>
            </a:r>
            <a:r>
              <a:rPr lang="en-GB" dirty="0"/>
              <a:t> </a:t>
            </a:r>
            <a:r>
              <a:rPr lang="en-GB" dirty="0" err="1"/>
              <a:t>vào</a:t>
            </a:r>
            <a:r>
              <a:rPr lang="en-GB" dirty="0"/>
              <a:t> cache, </a:t>
            </a:r>
            <a:r>
              <a:rPr lang="en-GB" dirty="0" err="1"/>
              <a:t>sau</a:t>
            </a:r>
            <a:r>
              <a:rPr lang="en-GB" dirty="0"/>
              <a:t> </a:t>
            </a:r>
            <a:r>
              <a:rPr lang="en-GB" dirty="0" err="1"/>
              <a:t>đó</a:t>
            </a:r>
            <a:r>
              <a:rPr lang="en-GB" dirty="0"/>
              <a:t> </a:t>
            </a:r>
            <a:r>
              <a:rPr lang="en-GB" dirty="0" err="1"/>
              <a:t>chuyển</a:t>
            </a:r>
            <a:r>
              <a:rPr lang="en-GB" dirty="0"/>
              <a:t> </a:t>
            </a:r>
            <a:r>
              <a:rPr lang="en-GB" dirty="0" err="1"/>
              <a:t>dữ</a:t>
            </a:r>
            <a:r>
              <a:rPr lang="en-GB" dirty="0"/>
              <a:t> </a:t>
            </a:r>
            <a:r>
              <a:rPr lang="en-GB" dirty="0" err="1"/>
              <a:t>liệu</a:t>
            </a:r>
            <a:r>
              <a:rPr lang="en-GB" dirty="0"/>
              <a:t> </a:t>
            </a:r>
            <a:r>
              <a:rPr lang="en-GB" dirty="0" err="1"/>
              <a:t>từ</a:t>
            </a:r>
            <a:r>
              <a:rPr lang="en-GB" dirty="0"/>
              <a:t> cache </a:t>
            </a:r>
            <a:r>
              <a:rPr lang="en-GB" dirty="0" err="1"/>
              <a:t>đến</a:t>
            </a:r>
            <a:r>
              <a:rPr lang="en-GB" dirty="0"/>
              <a:t> CPU</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err="1"/>
              <a:t>Cấu</a:t>
            </a:r>
            <a:r>
              <a:rPr lang="en-US" sz="3200" dirty="0"/>
              <a:t> </a:t>
            </a:r>
            <a:r>
              <a:rPr lang="en-US" sz="3200" dirty="0" err="1"/>
              <a:t>trúc</a:t>
            </a:r>
            <a:r>
              <a:rPr lang="en-US" sz="3200" dirty="0"/>
              <a:t> </a:t>
            </a:r>
            <a:r>
              <a:rPr lang="en-US" sz="3200" dirty="0" err="1"/>
              <a:t>chung</a:t>
            </a:r>
            <a:r>
              <a:rPr lang="en-US" sz="3200" dirty="0"/>
              <a:t> </a:t>
            </a:r>
            <a:r>
              <a:rPr lang="en-US" sz="3200" dirty="0" err="1"/>
              <a:t>của</a:t>
            </a:r>
            <a:r>
              <a:rPr lang="en-US" sz="3200" dirty="0"/>
              <a:t> cache/</a:t>
            </a:r>
            <a:r>
              <a:rPr lang="en-US" sz="3200" dirty="0" err="1"/>
              <a:t>bộ</a:t>
            </a:r>
            <a:r>
              <a:rPr lang="en-US" sz="3200" dirty="0"/>
              <a:t> </a:t>
            </a:r>
            <a:r>
              <a:rPr lang="en-US" sz="3200" dirty="0" err="1"/>
              <a:t>nhớ</a:t>
            </a:r>
            <a:r>
              <a:rPr lang="en-US" sz="3200" dirty="0"/>
              <a:t> </a:t>
            </a:r>
            <a:r>
              <a:rPr lang="en-US" sz="3200" dirty="0" err="1"/>
              <a:t>chính</a:t>
            </a:r>
            <a:endParaRPr lang="en-US" sz="3200" dirty="0"/>
          </a:p>
        </p:txBody>
      </p:sp>
      <p:pic>
        <p:nvPicPr>
          <p:cNvPr id="13314" name="Picture 2"/>
          <p:cNvPicPr>
            <a:picLocks noGrp="1" noChangeAspect="1" noChangeArrowheads="1"/>
          </p:cNvPicPr>
          <p:nvPr>
            <p:ph sz="quarter" idx="1"/>
          </p:nvPr>
        </p:nvPicPr>
        <p:blipFill>
          <a:blip r:embed="rId2" cstate="print"/>
          <a:stretch>
            <a:fillRect/>
          </a:stretch>
        </p:blipFill>
        <p:spPr bwMode="auto">
          <a:xfrm>
            <a:off x="2079625" y="2028825"/>
            <a:ext cx="5219700" cy="363855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err="1"/>
              <a:t>Cấu</a:t>
            </a:r>
            <a:r>
              <a:rPr lang="en-US" sz="3200" dirty="0"/>
              <a:t> </a:t>
            </a:r>
            <a:r>
              <a:rPr lang="en-US" sz="3200" dirty="0" err="1"/>
              <a:t>trúc</a:t>
            </a:r>
            <a:r>
              <a:rPr lang="en-US" sz="3200" dirty="0"/>
              <a:t> </a:t>
            </a:r>
            <a:r>
              <a:rPr lang="en-US" sz="3200" dirty="0" err="1"/>
              <a:t>chung</a:t>
            </a:r>
            <a:r>
              <a:rPr lang="en-US" sz="3200" dirty="0"/>
              <a:t> </a:t>
            </a:r>
            <a:r>
              <a:rPr lang="en-US" sz="3200" dirty="0" err="1"/>
              <a:t>của</a:t>
            </a:r>
            <a:r>
              <a:rPr lang="en-US" sz="3200" dirty="0"/>
              <a:t> cache/</a:t>
            </a:r>
            <a:r>
              <a:rPr lang="en-US" sz="3200" dirty="0" err="1"/>
              <a:t>bộ</a:t>
            </a:r>
            <a:r>
              <a:rPr lang="en-US" sz="3200" dirty="0"/>
              <a:t> </a:t>
            </a:r>
            <a:r>
              <a:rPr lang="en-US" sz="3200" dirty="0" err="1"/>
              <a:t>nhớ</a:t>
            </a:r>
            <a:r>
              <a:rPr lang="en-US" sz="3200" dirty="0"/>
              <a:t> </a:t>
            </a:r>
            <a:r>
              <a:rPr lang="en-US" sz="3200" dirty="0" err="1"/>
              <a:t>chính</a:t>
            </a:r>
            <a:endParaRPr lang="en-US" sz="3200" dirty="0"/>
          </a:p>
        </p:txBody>
      </p:sp>
      <p:sp>
        <p:nvSpPr>
          <p:cNvPr id="3" name="Content Placeholder 2"/>
          <p:cNvSpPr>
            <a:spLocks noGrp="1"/>
          </p:cNvSpPr>
          <p:nvPr>
            <p:ph sz="quarter" idx="1"/>
          </p:nvPr>
        </p:nvSpPr>
        <p:spPr/>
        <p:txBody>
          <a:bodyPr>
            <a:normAutofit fontScale="92500" lnSpcReduction="20000"/>
          </a:bodyPr>
          <a:lstStyle/>
          <a:p>
            <a:r>
              <a:rPr lang="vi-VN" dirty="0"/>
              <a:t>Một số Block của bộ nhớ chính được nạp vào các Line của cache.</a:t>
            </a:r>
          </a:p>
          <a:p>
            <a:r>
              <a:rPr lang="vi-VN" dirty="0"/>
              <a:t>Nội dung Tag (thẻ nhớ) cho biết block nào của bộ nhớ</a:t>
            </a:r>
            <a:r>
              <a:rPr lang="en-US" dirty="0"/>
              <a:t> </a:t>
            </a:r>
            <a:r>
              <a:rPr lang="vi-VN" dirty="0"/>
              <a:t>chính hiện đang được chứa ở line đó.</a:t>
            </a:r>
          </a:p>
          <a:p>
            <a:r>
              <a:rPr lang="vi-VN" dirty="0"/>
              <a:t>Khi CPU truy nhập (đọc/ghi) một từ nhớ,</a:t>
            </a:r>
            <a:r>
              <a:rPr lang="en-US" dirty="0"/>
              <a:t> </a:t>
            </a:r>
            <a:r>
              <a:rPr lang="vi-VN" dirty="0"/>
              <a:t>có 2 khả năng xảy ra:</a:t>
            </a:r>
          </a:p>
          <a:p>
            <a:pPr lvl="1"/>
            <a:r>
              <a:rPr lang="vi-VN" dirty="0"/>
              <a:t>Từ nhớ đó có trong cache (cache hit)</a:t>
            </a:r>
          </a:p>
          <a:p>
            <a:pPr lvl="1"/>
            <a:r>
              <a:rPr lang="vi-VN" dirty="0"/>
              <a:t>Từ nhớ đó không có trong cache (cache miss)</a:t>
            </a:r>
          </a:p>
          <a:p>
            <a:r>
              <a:rPr lang="vi-VN" dirty="0"/>
              <a:t>Vì</a:t>
            </a:r>
            <a:r>
              <a:rPr lang="en-US" dirty="0"/>
              <a:t> </a:t>
            </a:r>
            <a:r>
              <a:rPr lang="vi-VN" dirty="0"/>
              <a:t>số line của cache ít hơn số block của bộ nhớ chính, cần có</a:t>
            </a:r>
            <a:r>
              <a:rPr lang="en-US" dirty="0"/>
              <a:t> </a:t>
            </a:r>
            <a:r>
              <a:rPr lang="vi-VN" dirty="0"/>
              <a:t>một </a:t>
            </a:r>
            <a:r>
              <a:rPr lang="vi-VN" dirty="0">
                <a:solidFill>
                  <a:srgbClr val="FF0000"/>
                </a:solidFill>
              </a:rPr>
              <a:t>thuật giải ánh xạ thông  tin  trong bộ nhớ</a:t>
            </a:r>
            <a:r>
              <a:rPr lang="en-US" dirty="0">
                <a:solidFill>
                  <a:srgbClr val="FF0000"/>
                </a:solidFill>
              </a:rPr>
              <a:t> </a:t>
            </a:r>
            <a:r>
              <a:rPr lang="vi-VN" dirty="0">
                <a:solidFill>
                  <a:srgbClr val="FF0000"/>
                </a:solidFill>
              </a:rPr>
              <a:t>chính vào cache</a:t>
            </a:r>
            <a:r>
              <a:rPr lang="vi-VN" dirty="0"/>
              <a:t>.</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Các</a:t>
            </a:r>
            <a:r>
              <a:rPr lang="en-US" dirty="0"/>
              <a:t> </a:t>
            </a:r>
            <a:r>
              <a:rPr lang="en-US" dirty="0" err="1"/>
              <a:t>phương</a:t>
            </a:r>
            <a:r>
              <a:rPr lang="en-US" dirty="0"/>
              <a:t> </a:t>
            </a:r>
            <a:r>
              <a:rPr lang="en-US" dirty="0" err="1"/>
              <a:t>pháp</a:t>
            </a:r>
            <a:r>
              <a:rPr lang="en-US" dirty="0"/>
              <a:t> </a:t>
            </a:r>
            <a:r>
              <a:rPr lang="en-US" dirty="0" err="1"/>
              <a:t>ánh</a:t>
            </a:r>
            <a:r>
              <a:rPr lang="en-US" dirty="0"/>
              <a:t> </a:t>
            </a:r>
            <a:r>
              <a:rPr lang="en-US" dirty="0" err="1"/>
              <a:t>xạ</a:t>
            </a:r>
            <a:r>
              <a:rPr lang="en-US" dirty="0"/>
              <a:t> </a:t>
            </a:r>
            <a:r>
              <a:rPr lang="en-US" dirty="0" err="1"/>
              <a:t>địa</a:t>
            </a:r>
            <a:r>
              <a:rPr lang="en-US" dirty="0"/>
              <a:t> </a:t>
            </a:r>
            <a:r>
              <a:rPr lang="en-US" dirty="0" err="1"/>
              <a:t>chỉ</a:t>
            </a:r>
            <a:endParaRPr lang="en-US" dirty="0"/>
          </a:p>
        </p:txBody>
      </p:sp>
      <p:sp>
        <p:nvSpPr>
          <p:cNvPr id="3" name="Content Placeholder 2"/>
          <p:cNvSpPr>
            <a:spLocks noGrp="1"/>
          </p:cNvSpPr>
          <p:nvPr>
            <p:ph sz="quarter" idx="1"/>
          </p:nvPr>
        </p:nvSpPr>
        <p:spPr/>
        <p:txBody>
          <a:bodyPr>
            <a:normAutofit fontScale="77500" lnSpcReduction="20000"/>
          </a:bodyPr>
          <a:lstStyle/>
          <a:p>
            <a:pPr>
              <a:buNone/>
            </a:pPr>
            <a:r>
              <a:rPr lang="vi-VN" dirty="0"/>
              <a:t>a) Ánh xạ trực tiếp (Direct mapping)</a:t>
            </a:r>
          </a:p>
          <a:p>
            <a:r>
              <a:rPr lang="vi-VN" dirty="0"/>
              <a:t>Mỗi block của bộ nhớ chính chỉ có thể  được nạp  vào 1 line duy nhất của cache.</a:t>
            </a:r>
          </a:p>
          <a:p>
            <a:r>
              <a:rPr lang="vi-VN" dirty="0"/>
              <a:t>Quy ước nạp:</a:t>
            </a:r>
            <a:endParaRPr lang="en-US" dirty="0"/>
          </a:p>
          <a:p>
            <a:pPr lvl="1"/>
            <a:r>
              <a:rPr lang="vi-VN" dirty="0"/>
              <a:t>B0 → L0</a:t>
            </a:r>
          </a:p>
          <a:p>
            <a:pPr lvl="1"/>
            <a:r>
              <a:rPr lang="vi-VN" dirty="0"/>
              <a:t>B1 → L1</a:t>
            </a:r>
          </a:p>
          <a:p>
            <a:pPr lvl="1"/>
            <a:r>
              <a:rPr lang="vi-VN" dirty="0"/>
              <a:t>......</a:t>
            </a:r>
          </a:p>
          <a:p>
            <a:pPr lvl="1"/>
            <a:r>
              <a:rPr lang="vi-VN" dirty="0"/>
              <a:t>Bm-1 → Lm-1</a:t>
            </a:r>
          </a:p>
          <a:p>
            <a:pPr lvl="1"/>
            <a:r>
              <a:rPr lang="vi-VN" dirty="0"/>
              <a:t>Bm → L0</a:t>
            </a:r>
          </a:p>
          <a:p>
            <a:pPr lvl="1"/>
            <a:r>
              <a:rPr lang="vi-VN" dirty="0"/>
              <a:t>Bm+1 → L1</a:t>
            </a:r>
          </a:p>
          <a:p>
            <a:r>
              <a:rPr lang="vi-VN" dirty="0"/>
              <a:t>L0 : B0, Bm, B2m ...</a:t>
            </a:r>
          </a:p>
          <a:p>
            <a:r>
              <a:rPr lang="vi-VN" dirty="0"/>
              <a:t>L1 : B1, Bm+1, B2m+1 ..</a:t>
            </a:r>
          </a:p>
          <a:p>
            <a:r>
              <a:rPr lang="en-US" dirty="0">
                <a:solidFill>
                  <a:srgbClr val="FF0000"/>
                </a:solidFill>
              </a:rPr>
              <a:t>-&gt;</a:t>
            </a:r>
            <a:r>
              <a:rPr lang="vi-VN" dirty="0">
                <a:solidFill>
                  <a:srgbClr val="FF0000"/>
                </a:solidFill>
              </a:rPr>
              <a:t> Bj</a:t>
            </a:r>
            <a:r>
              <a:rPr lang="en-US" dirty="0">
                <a:solidFill>
                  <a:srgbClr val="FF0000"/>
                </a:solidFill>
              </a:rPr>
              <a:t> </a:t>
            </a:r>
            <a:r>
              <a:rPr lang="vi-VN" dirty="0">
                <a:solidFill>
                  <a:srgbClr val="FF0000"/>
                </a:solidFill>
              </a:rPr>
              <a:t>chỉ có thể được nạp vào L</a:t>
            </a:r>
            <a:r>
              <a:rPr lang="en-US" dirty="0">
                <a:solidFill>
                  <a:srgbClr val="FF0000"/>
                </a:solidFill>
              </a:rPr>
              <a:t> (</a:t>
            </a:r>
            <a:r>
              <a:rPr lang="vi-VN" dirty="0">
                <a:solidFill>
                  <a:srgbClr val="FF0000"/>
                </a:solidFill>
              </a:rPr>
              <a:t>j mod m</a:t>
            </a:r>
            <a:r>
              <a:rPr lang="en-US" dirty="0">
                <a:solidFill>
                  <a:srgbClr val="FF0000"/>
                </a:solidFill>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Ánh</a:t>
            </a:r>
            <a:r>
              <a:rPr lang="en-US" dirty="0"/>
              <a:t> </a:t>
            </a:r>
            <a:r>
              <a:rPr lang="en-US" dirty="0" err="1"/>
              <a:t>xạ</a:t>
            </a:r>
            <a:r>
              <a:rPr lang="en-US" dirty="0"/>
              <a:t> </a:t>
            </a:r>
            <a:r>
              <a:rPr lang="en-US" dirty="0" err="1"/>
              <a:t>trực</a:t>
            </a:r>
            <a:r>
              <a:rPr lang="en-US" dirty="0"/>
              <a:t> </a:t>
            </a:r>
            <a:r>
              <a:rPr lang="en-US" dirty="0" err="1"/>
              <a:t>tiếp</a:t>
            </a:r>
            <a:endParaRPr lang="en-US" dirty="0"/>
          </a:p>
        </p:txBody>
      </p:sp>
      <p:pic>
        <p:nvPicPr>
          <p:cNvPr id="14338" name="Picture 2"/>
          <p:cNvPicPr>
            <a:picLocks noGrp="1" noChangeAspect="1" noChangeArrowheads="1"/>
          </p:cNvPicPr>
          <p:nvPr>
            <p:ph sz="quarter" idx="1"/>
          </p:nvPr>
        </p:nvPicPr>
        <p:blipFill>
          <a:blip r:embed="rId2" cstate="print"/>
          <a:srcRect/>
          <a:stretch>
            <a:fillRect/>
          </a:stretch>
        </p:blipFill>
        <p:spPr bwMode="auto">
          <a:xfrm>
            <a:off x="990600" y="1752600"/>
            <a:ext cx="7169403" cy="456565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Ánh</a:t>
            </a:r>
            <a:r>
              <a:rPr lang="en-US" dirty="0"/>
              <a:t> </a:t>
            </a:r>
            <a:r>
              <a:rPr lang="en-US" dirty="0" err="1"/>
              <a:t>xạ</a:t>
            </a:r>
            <a:r>
              <a:rPr lang="en-US" dirty="0"/>
              <a:t> </a:t>
            </a:r>
            <a:r>
              <a:rPr lang="en-US" dirty="0" err="1"/>
              <a:t>trực</a:t>
            </a:r>
            <a:r>
              <a:rPr lang="en-US" dirty="0"/>
              <a:t> </a:t>
            </a:r>
            <a:r>
              <a:rPr lang="en-US" dirty="0" err="1"/>
              <a:t>tiếp</a:t>
            </a:r>
            <a:endParaRPr lang="en-US" dirty="0"/>
          </a:p>
        </p:txBody>
      </p:sp>
      <p:sp>
        <p:nvSpPr>
          <p:cNvPr id="3" name="Content Placeholder 2"/>
          <p:cNvSpPr>
            <a:spLocks noGrp="1"/>
          </p:cNvSpPr>
          <p:nvPr>
            <p:ph sz="quarter" idx="1"/>
          </p:nvPr>
        </p:nvSpPr>
        <p:spPr/>
        <p:txBody>
          <a:bodyPr>
            <a:normAutofit fontScale="92500" lnSpcReduction="10000"/>
          </a:bodyPr>
          <a:lstStyle/>
          <a:p>
            <a:r>
              <a:rPr lang="vi-VN" dirty="0"/>
              <a:t>Địa chỉ CPU phát ra có N bit, được chia thành 3 trường:</a:t>
            </a:r>
          </a:p>
          <a:p>
            <a:pPr lvl="1"/>
            <a:r>
              <a:rPr lang="vi-VN" dirty="0"/>
              <a:t>Trường  Byte  (có</a:t>
            </a:r>
            <a:r>
              <a:rPr lang="en-US" dirty="0"/>
              <a:t> n1</a:t>
            </a:r>
            <a:r>
              <a:rPr lang="vi-VN" dirty="0"/>
              <a:t> bit)  để xác  định  byte  nhớ</a:t>
            </a:r>
            <a:r>
              <a:rPr lang="en-US" dirty="0"/>
              <a:t> </a:t>
            </a:r>
            <a:r>
              <a:rPr lang="vi-VN" dirty="0"/>
              <a:t>trong Line (Block)</a:t>
            </a:r>
          </a:p>
          <a:p>
            <a:pPr lvl="1">
              <a:buNone/>
            </a:pPr>
            <a:r>
              <a:rPr lang="en-US" dirty="0"/>
              <a:t>			</a:t>
            </a:r>
            <a:r>
              <a:rPr lang="vi-VN" dirty="0"/>
              <a:t>2</a:t>
            </a:r>
            <a:r>
              <a:rPr lang="vi-VN" baseline="30000" dirty="0"/>
              <a:t>n1</a:t>
            </a:r>
            <a:r>
              <a:rPr lang="vi-VN" dirty="0"/>
              <a:t> = kích thước 1 Line</a:t>
            </a:r>
          </a:p>
          <a:p>
            <a:pPr lvl="1"/>
            <a:r>
              <a:rPr lang="vi-VN" dirty="0"/>
              <a:t>Trường Line  (có</a:t>
            </a:r>
            <a:r>
              <a:rPr lang="en-US" dirty="0"/>
              <a:t> </a:t>
            </a:r>
            <a:r>
              <a:rPr lang="vi-VN" dirty="0"/>
              <a:t>n2 bit)  để xác  định  Line  trong Cache</a:t>
            </a:r>
          </a:p>
          <a:p>
            <a:pPr lvl="1">
              <a:buNone/>
            </a:pPr>
            <a:r>
              <a:rPr lang="en-US" dirty="0"/>
              <a:t>			</a:t>
            </a:r>
            <a:r>
              <a:rPr lang="vi-VN" dirty="0"/>
              <a:t>2</a:t>
            </a:r>
            <a:r>
              <a:rPr lang="vi-VN" baseline="30000" dirty="0"/>
              <a:t>n2</a:t>
            </a:r>
            <a:r>
              <a:rPr lang="vi-VN" dirty="0"/>
              <a:t> = số Line trong Cache</a:t>
            </a:r>
          </a:p>
          <a:p>
            <a:pPr lvl="1"/>
            <a:r>
              <a:rPr lang="en-US" dirty="0"/>
              <a:t>-&gt; </a:t>
            </a:r>
            <a:r>
              <a:rPr lang="vi-VN" dirty="0"/>
              <a:t>Dung lượng Cache = 2</a:t>
            </a:r>
            <a:r>
              <a:rPr lang="vi-VN" baseline="30000" dirty="0"/>
              <a:t>n1</a:t>
            </a:r>
            <a:r>
              <a:rPr lang="vi-VN" dirty="0"/>
              <a:t> * 2</a:t>
            </a:r>
            <a:r>
              <a:rPr lang="vi-VN" baseline="30000" dirty="0"/>
              <a:t>n2</a:t>
            </a:r>
            <a:r>
              <a:rPr lang="vi-VN" dirty="0"/>
              <a:t> = 2</a:t>
            </a:r>
            <a:r>
              <a:rPr lang="vi-VN" baseline="30000" dirty="0"/>
              <a:t>n1+n2</a:t>
            </a:r>
          </a:p>
          <a:p>
            <a:pPr lvl="1"/>
            <a:r>
              <a:rPr lang="vi-VN" dirty="0"/>
              <a:t>Trường Tag (có</a:t>
            </a:r>
            <a:r>
              <a:rPr lang="en-US" dirty="0"/>
              <a:t> </a:t>
            </a:r>
            <a:r>
              <a:rPr lang="vi-VN" dirty="0"/>
              <a:t>n3 bit): số bit còn lại</a:t>
            </a:r>
            <a:r>
              <a:rPr lang="en-US" dirty="0"/>
              <a:t> </a:t>
            </a:r>
            <a:r>
              <a:rPr lang="vi-VN" dirty="0"/>
              <a:t>n3 = N - (n1 + n2) &gt; 0 vì</a:t>
            </a:r>
            <a:r>
              <a:rPr lang="en-US" dirty="0"/>
              <a:t> </a:t>
            </a:r>
            <a:r>
              <a:rPr lang="vi-VN" dirty="0"/>
              <a:t>2</a:t>
            </a:r>
            <a:r>
              <a:rPr lang="vi-VN" baseline="30000" dirty="0"/>
              <a:t>N</a:t>
            </a:r>
            <a:r>
              <a:rPr lang="vi-VN" dirty="0"/>
              <a:t> &gt;&gt; 2</a:t>
            </a:r>
            <a:r>
              <a:rPr lang="vi-VN" baseline="30000" dirty="0"/>
              <a:t>n1+n2</a:t>
            </a:r>
            <a:endParaRPr lang="en-US" baseline="30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Ánh</a:t>
            </a:r>
            <a:r>
              <a:rPr lang="en-US" dirty="0"/>
              <a:t> </a:t>
            </a:r>
            <a:r>
              <a:rPr lang="en-US" dirty="0" err="1"/>
              <a:t>xạ</a:t>
            </a:r>
            <a:r>
              <a:rPr lang="en-US" dirty="0"/>
              <a:t> </a:t>
            </a:r>
            <a:r>
              <a:rPr lang="en-US" dirty="0" err="1"/>
              <a:t>liên</a:t>
            </a:r>
            <a:r>
              <a:rPr lang="en-US" dirty="0"/>
              <a:t> </a:t>
            </a:r>
            <a:r>
              <a:rPr lang="en-US" dirty="0" err="1"/>
              <a:t>kết</a:t>
            </a:r>
            <a:r>
              <a:rPr lang="en-US" dirty="0"/>
              <a:t> </a:t>
            </a:r>
            <a:r>
              <a:rPr lang="en-US" dirty="0" err="1"/>
              <a:t>toàn</a:t>
            </a:r>
            <a:r>
              <a:rPr lang="en-US" dirty="0"/>
              <a:t> </a:t>
            </a:r>
            <a:r>
              <a:rPr lang="en-US" dirty="0" err="1"/>
              <a:t>phần</a:t>
            </a:r>
            <a:endParaRPr lang="en-US" dirty="0"/>
          </a:p>
        </p:txBody>
      </p:sp>
      <p:sp>
        <p:nvSpPr>
          <p:cNvPr id="3" name="Content Placeholder 2"/>
          <p:cNvSpPr>
            <a:spLocks noGrp="1"/>
          </p:cNvSpPr>
          <p:nvPr>
            <p:ph sz="quarter" idx="1"/>
          </p:nvPr>
        </p:nvSpPr>
        <p:spPr/>
        <p:txBody>
          <a:bodyPr>
            <a:normAutofit/>
          </a:bodyPr>
          <a:lstStyle/>
          <a:p>
            <a:r>
              <a:rPr lang="vi-VN" dirty="0"/>
              <a:t>Fully Associative Mapping</a:t>
            </a:r>
          </a:p>
          <a:p>
            <a:r>
              <a:rPr lang="vi-VN" dirty="0"/>
              <a:t>Mỗi block có thể được nạp vào bất kỳ line nào của cache.</a:t>
            </a:r>
          </a:p>
          <a:p>
            <a:r>
              <a:rPr lang="vi-VN" dirty="0"/>
              <a:t>Địa chỉ bộ nhớ do CPU phát ra được chia thành 2 phần: tag và byte.</a:t>
            </a:r>
          </a:p>
          <a:p>
            <a:r>
              <a:rPr lang="vi-VN" dirty="0"/>
              <a:t>Để kiểm tra xem một block có trong cache hay không, phải đồng  thời kiểm tra tất cả tag của</a:t>
            </a:r>
            <a:r>
              <a:rPr lang="en-US" dirty="0"/>
              <a:t> </a:t>
            </a:r>
            <a:r>
              <a:rPr lang="vi-VN" dirty="0"/>
              <a:t>các line trong cache.</a:t>
            </a:r>
          </a:p>
          <a:p>
            <a:pPr>
              <a:buNone/>
            </a:pPr>
            <a:r>
              <a:rPr lang="en-US" dirty="0"/>
              <a:t>	-&gt; </a:t>
            </a:r>
            <a:r>
              <a:rPr lang="vi-VN" dirty="0"/>
              <a:t>Cần các mạch phức tạp để kiểm tra.</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Ánh</a:t>
            </a:r>
            <a:r>
              <a:rPr lang="en-US" dirty="0"/>
              <a:t> </a:t>
            </a:r>
            <a:r>
              <a:rPr lang="en-US" dirty="0" err="1"/>
              <a:t>xạ</a:t>
            </a:r>
            <a:r>
              <a:rPr lang="en-US" dirty="0"/>
              <a:t> </a:t>
            </a:r>
            <a:r>
              <a:rPr lang="en-US" dirty="0" err="1"/>
              <a:t>liên</a:t>
            </a:r>
            <a:r>
              <a:rPr lang="en-US" dirty="0"/>
              <a:t> </a:t>
            </a:r>
            <a:r>
              <a:rPr lang="en-US" dirty="0" err="1"/>
              <a:t>kết</a:t>
            </a:r>
            <a:r>
              <a:rPr lang="en-US" dirty="0"/>
              <a:t> </a:t>
            </a:r>
            <a:r>
              <a:rPr lang="en-US" dirty="0" err="1"/>
              <a:t>toàn</a:t>
            </a:r>
            <a:r>
              <a:rPr lang="en-US" dirty="0"/>
              <a:t> </a:t>
            </a:r>
            <a:r>
              <a:rPr lang="en-US" dirty="0" err="1"/>
              <a:t>phần</a:t>
            </a:r>
            <a:endParaRPr lang="en-US" dirty="0"/>
          </a:p>
        </p:txBody>
      </p:sp>
      <p:pic>
        <p:nvPicPr>
          <p:cNvPr id="15362" name="Picture 2"/>
          <p:cNvPicPr>
            <a:picLocks noGrp="1" noChangeAspect="1" noChangeArrowheads="1"/>
          </p:cNvPicPr>
          <p:nvPr>
            <p:ph sz="quarter" idx="1"/>
          </p:nvPr>
        </p:nvPicPr>
        <p:blipFill>
          <a:blip r:embed="rId2" cstate="print"/>
          <a:srcRect/>
          <a:stretch>
            <a:fillRect/>
          </a:stretch>
        </p:blipFill>
        <p:spPr bwMode="auto">
          <a:xfrm>
            <a:off x="838200" y="1981200"/>
            <a:ext cx="6915150" cy="436313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Ánh</a:t>
            </a:r>
            <a:r>
              <a:rPr lang="en-US" dirty="0"/>
              <a:t> </a:t>
            </a:r>
            <a:r>
              <a:rPr lang="en-US" dirty="0" err="1"/>
              <a:t>xạ</a:t>
            </a:r>
            <a:r>
              <a:rPr lang="en-US" dirty="0"/>
              <a:t> </a:t>
            </a:r>
            <a:r>
              <a:rPr lang="en-US" dirty="0" err="1"/>
              <a:t>liên</a:t>
            </a:r>
            <a:r>
              <a:rPr lang="en-US" dirty="0"/>
              <a:t> </a:t>
            </a:r>
            <a:r>
              <a:rPr lang="en-US" dirty="0" err="1"/>
              <a:t>kết</a:t>
            </a:r>
            <a:r>
              <a:rPr lang="en-US" dirty="0"/>
              <a:t> </a:t>
            </a:r>
            <a:r>
              <a:rPr lang="en-US" dirty="0" err="1"/>
              <a:t>tập</a:t>
            </a:r>
            <a:r>
              <a:rPr lang="en-US" dirty="0"/>
              <a:t> </a:t>
            </a:r>
            <a:r>
              <a:rPr lang="en-US" dirty="0" err="1"/>
              <a:t>hợp</a:t>
            </a:r>
            <a:endParaRPr lang="en-US" dirty="0"/>
          </a:p>
        </p:txBody>
      </p:sp>
      <p:sp>
        <p:nvSpPr>
          <p:cNvPr id="3" name="Content Placeholder 2"/>
          <p:cNvSpPr>
            <a:spLocks noGrp="1"/>
          </p:cNvSpPr>
          <p:nvPr>
            <p:ph sz="quarter" idx="1"/>
          </p:nvPr>
        </p:nvSpPr>
        <p:spPr>
          <a:xfrm>
            <a:off x="457200" y="1775191"/>
            <a:ext cx="8382000" cy="4625609"/>
          </a:xfrm>
        </p:spPr>
        <p:txBody>
          <a:bodyPr>
            <a:normAutofit fontScale="77500" lnSpcReduction="20000"/>
          </a:bodyPr>
          <a:lstStyle/>
          <a:p>
            <a:r>
              <a:rPr lang="vi-VN" dirty="0"/>
              <a:t>Set Associative Mapping</a:t>
            </a:r>
          </a:p>
          <a:p>
            <a:r>
              <a:rPr lang="vi-VN" dirty="0"/>
              <a:t>Là phương pháp dung hòa của 2 phương pháp trên</a:t>
            </a:r>
          </a:p>
          <a:p>
            <a:r>
              <a:rPr lang="vi-VN" dirty="0">
                <a:solidFill>
                  <a:srgbClr val="FF0000"/>
                </a:solidFill>
              </a:rPr>
              <a:t>Chia cache thành các tập: S0, S1, S2 ...</a:t>
            </a:r>
          </a:p>
          <a:p>
            <a:r>
              <a:rPr lang="vi-VN" dirty="0">
                <a:solidFill>
                  <a:srgbClr val="FF0000"/>
                </a:solidFill>
              </a:rPr>
              <a:t>Mỗi Set có</a:t>
            </a:r>
            <a:r>
              <a:rPr lang="en-US" dirty="0">
                <a:solidFill>
                  <a:srgbClr val="FF0000"/>
                </a:solidFill>
              </a:rPr>
              <a:t> </a:t>
            </a:r>
            <a:r>
              <a:rPr lang="vi-VN" dirty="0">
                <a:solidFill>
                  <a:srgbClr val="FF0000"/>
                </a:solidFill>
              </a:rPr>
              <a:t>một số Line (2, 4, 8, 16 Line)</a:t>
            </a:r>
          </a:p>
          <a:p>
            <a:r>
              <a:rPr lang="en-US" dirty="0" err="1"/>
              <a:t>Ví</a:t>
            </a:r>
            <a:r>
              <a:rPr lang="en-US" dirty="0"/>
              <a:t> </a:t>
            </a:r>
            <a:r>
              <a:rPr lang="en-US" dirty="0" err="1"/>
              <a:t>dụ</a:t>
            </a:r>
            <a:r>
              <a:rPr lang="en-US" dirty="0"/>
              <a:t> </a:t>
            </a:r>
            <a:r>
              <a:rPr lang="vi-VN" dirty="0"/>
              <a:t>mỗi Set có 2 line: 2-way Set Associative Mapping</a:t>
            </a:r>
          </a:p>
          <a:p>
            <a:r>
              <a:rPr lang="vi-VN" dirty="0"/>
              <a:t>Mỗi block được nạp vào 1 line nào đó trong Set nhất định:</a:t>
            </a:r>
          </a:p>
          <a:p>
            <a:pPr lvl="1"/>
            <a:r>
              <a:rPr lang="vi-VN" dirty="0"/>
              <a:t>B0 → S0</a:t>
            </a:r>
          </a:p>
          <a:p>
            <a:pPr lvl="1"/>
            <a:r>
              <a:rPr lang="vi-VN" dirty="0"/>
              <a:t>B1 → S1</a:t>
            </a:r>
          </a:p>
          <a:p>
            <a:pPr lvl="1"/>
            <a:r>
              <a:rPr lang="vi-VN" dirty="0"/>
              <a:t>......</a:t>
            </a:r>
          </a:p>
          <a:p>
            <a:pPr lvl="1"/>
            <a:r>
              <a:rPr lang="vi-VN" dirty="0"/>
              <a:t>Bk-1 → Sk-1</a:t>
            </a:r>
          </a:p>
          <a:p>
            <a:pPr lvl="1"/>
            <a:r>
              <a:rPr lang="vi-VN" dirty="0"/>
              <a:t>Bk → S0</a:t>
            </a:r>
          </a:p>
          <a:p>
            <a:r>
              <a:rPr lang="vi-VN" dirty="0"/>
              <a:t>Địa chỉ do CPU phát ra có 3 trường: Tag, Set, Byte</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Ánh</a:t>
            </a:r>
            <a:r>
              <a:rPr lang="en-US" dirty="0"/>
              <a:t> </a:t>
            </a:r>
            <a:r>
              <a:rPr lang="en-US" dirty="0" err="1"/>
              <a:t>xạ</a:t>
            </a:r>
            <a:r>
              <a:rPr lang="en-US" dirty="0"/>
              <a:t> </a:t>
            </a:r>
            <a:r>
              <a:rPr lang="en-US" dirty="0" err="1"/>
              <a:t>liên</a:t>
            </a:r>
            <a:r>
              <a:rPr lang="en-US" dirty="0"/>
              <a:t> </a:t>
            </a:r>
            <a:r>
              <a:rPr lang="en-US" dirty="0" err="1"/>
              <a:t>kết</a:t>
            </a:r>
            <a:r>
              <a:rPr lang="en-US" dirty="0"/>
              <a:t> </a:t>
            </a:r>
            <a:r>
              <a:rPr lang="en-US" dirty="0" err="1"/>
              <a:t>tập</a:t>
            </a:r>
            <a:r>
              <a:rPr lang="en-US" dirty="0"/>
              <a:t> </a:t>
            </a:r>
            <a:r>
              <a:rPr lang="en-US" dirty="0" err="1"/>
              <a:t>hợp</a:t>
            </a:r>
            <a:endParaRPr lang="en-US" dirty="0"/>
          </a:p>
        </p:txBody>
      </p:sp>
      <p:pic>
        <p:nvPicPr>
          <p:cNvPr id="16386" name="Picture 2"/>
          <p:cNvPicPr>
            <a:picLocks noGrp="1" noChangeAspect="1" noChangeArrowheads="1"/>
          </p:cNvPicPr>
          <p:nvPr>
            <p:ph sz="quarter" idx="1"/>
          </p:nvPr>
        </p:nvPicPr>
        <p:blipFill>
          <a:blip r:embed="rId2" cstate="print"/>
          <a:srcRect/>
          <a:stretch>
            <a:fillRect/>
          </a:stretch>
        </p:blipFill>
        <p:spPr bwMode="auto">
          <a:xfrm>
            <a:off x="790575" y="1828800"/>
            <a:ext cx="7439025" cy="4646301"/>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sz="quarter" idx="1"/>
          </p:nvPr>
        </p:nvSpPr>
        <p:spPr/>
        <p:txBody>
          <a:bodyPr/>
          <a:lstStyle/>
          <a:p>
            <a:r>
              <a:rPr lang="vi-VN" dirty="0"/>
              <a:t>Hệ thống có:</a:t>
            </a:r>
            <a:endParaRPr lang="en-US" dirty="0"/>
          </a:p>
          <a:p>
            <a:pPr lvl="1"/>
            <a:r>
              <a:rPr lang="en-US" dirty="0"/>
              <a:t>B</a:t>
            </a:r>
            <a:r>
              <a:rPr lang="vi-VN" dirty="0"/>
              <a:t>ộ nhớ chính = 256 </a:t>
            </a:r>
            <a:r>
              <a:rPr lang="vi-VN" dirty="0">
                <a:solidFill>
                  <a:srgbClr val="FF0000"/>
                </a:solidFill>
              </a:rPr>
              <a:t>MB</a:t>
            </a:r>
          </a:p>
          <a:p>
            <a:pPr lvl="1"/>
            <a:r>
              <a:rPr lang="vi-VN" dirty="0"/>
              <a:t>Cache = 128 </a:t>
            </a:r>
            <a:r>
              <a:rPr lang="vi-VN" dirty="0">
                <a:solidFill>
                  <a:srgbClr val="FF0000"/>
                </a:solidFill>
              </a:rPr>
              <a:t>KB</a:t>
            </a:r>
          </a:p>
          <a:p>
            <a:pPr lvl="1"/>
            <a:r>
              <a:rPr lang="vi-VN" dirty="0"/>
              <a:t>Line = 16 </a:t>
            </a:r>
            <a:r>
              <a:rPr lang="vi-VN" dirty="0">
                <a:solidFill>
                  <a:srgbClr val="FF0000"/>
                </a:solidFill>
              </a:rPr>
              <a:t>Byte</a:t>
            </a:r>
          </a:p>
          <a:p>
            <a:r>
              <a:rPr lang="vi-VN" dirty="0"/>
              <a:t>Xác định số bit của các trường địa chỉ khi</a:t>
            </a:r>
          </a:p>
          <a:p>
            <a:pPr lvl="1"/>
            <a:r>
              <a:rPr lang="vi-VN" dirty="0"/>
              <a:t>Ánh xạ trực tiếp</a:t>
            </a:r>
          </a:p>
          <a:p>
            <a:pPr lvl="1"/>
            <a:r>
              <a:rPr lang="vi-VN" dirty="0"/>
              <a:t>Ánh xạ liên kết tập hợp 4 Line/Set</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sz="quarter" idx="1"/>
          </p:nvPr>
        </p:nvSpPr>
        <p:spPr/>
        <p:txBody>
          <a:bodyPr>
            <a:normAutofit fontScale="77500" lnSpcReduction="20000"/>
          </a:bodyPr>
          <a:lstStyle/>
          <a:p>
            <a:pPr>
              <a:buNone/>
            </a:pPr>
            <a:r>
              <a:rPr lang="vi-VN" dirty="0"/>
              <a:t>1)2</a:t>
            </a:r>
            <a:r>
              <a:rPr lang="vi-VN" baseline="30000" dirty="0"/>
              <a:t>N</a:t>
            </a:r>
            <a:r>
              <a:rPr lang="vi-VN" dirty="0"/>
              <a:t> = 256.2</a:t>
            </a:r>
            <a:r>
              <a:rPr lang="vi-VN" baseline="30000" dirty="0"/>
              <a:t>20</a:t>
            </a:r>
            <a:r>
              <a:rPr lang="vi-VN" dirty="0"/>
              <a:t> = 2</a:t>
            </a:r>
            <a:r>
              <a:rPr lang="vi-VN" baseline="30000" dirty="0"/>
              <a:t>28</a:t>
            </a:r>
            <a:r>
              <a:rPr lang="vi-VN" dirty="0"/>
              <a:t> </a:t>
            </a:r>
            <a:r>
              <a:rPr lang="en-US" dirty="0"/>
              <a:t>-&gt;</a:t>
            </a:r>
            <a:r>
              <a:rPr lang="vi-VN" dirty="0"/>
              <a:t> N = 28 bit</a:t>
            </a:r>
          </a:p>
          <a:p>
            <a:r>
              <a:rPr lang="vi-VN" dirty="0"/>
              <a:t>Tính cho trường Byte:</a:t>
            </a:r>
          </a:p>
          <a:p>
            <a:r>
              <a:rPr lang="vi-VN" dirty="0"/>
              <a:t>Kích thước line = 16 = 2</a:t>
            </a:r>
            <a:r>
              <a:rPr lang="vi-VN" baseline="30000" dirty="0"/>
              <a:t>4</a:t>
            </a:r>
            <a:r>
              <a:rPr lang="vi-VN" dirty="0"/>
              <a:t> Byte </a:t>
            </a:r>
            <a:r>
              <a:rPr lang="en-US" dirty="0"/>
              <a:t>-&gt;</a:t>
            </a:r>
            <a:r>
              <a:rPr lang="vi-VN" dirty="0"/>
              <a:t> </a:t>
            </a:r>
            <a:r>
              <a:rPr lang="vi-VN" dirty="0">
                <a:solidFill>
                  <a:srgbClr val="FF0000"/>
                </a:solidFill>
              </a:rPr>
              <a:t>n1 = 4 bit</a:t>
            </a:r>
          </a:p>
          <a:p>
            <a:r>
              <a:rPr lang="vi-VN" dirty="0"/>
              <a:t>Tính cho trường Line:</a:t>
            </a:r>
          </a:p>
          <a:p>
            <a:r>
              <a:rPr lang="vi-VN" dirty="0"/>
              <a:t>Số line trong Cache: 128.2</a:t>
            </a:r>
            <a:r>
              <a:rPr lang="vi-VN" baseline="30000" dirty="0"/>
              <a:t>10</a:t>
            </a:r>
            <a:r>
              <a:rPr lang="vi-VN" dirty="0"/>
              <a:t>/16 = 2</a:t>
            </a:r>
            <a:r>
              <a:rPr lang="vi-VN" baseline="30000" dirty="0"/>
              <a:t>13</a:t>
            </a:r>
            <a:r>
              <a:rPr lang="vi-VN" dirty="0"/>
              <a:t> </a:t>
            </a:r>
          </a:p>
          <a:p>
            <a:r>
              <a:rPr lang="en-US" dirty="0"/>
              <a:t>-&gt;</a:t>
            </a:r>
            <a:r>
              <a:rPr lang="vi-VN" dirty="0"/>
              <a:t> </a:t>
            </a:r>
            <a:r>
              <a:rPr lang="vi-VN" dirty="0">
                <a:solidFill>
                  <a:srgbClr val="FF0000"/>
                </a:solidFill>
              </a:rPr>
              <a:t>n2 = 13 bit</a:t>
            </a:r>
          </a:p>
          <a:p>
            <a:r>
              <a:rPr lang="vi-VN" dirty="0"/>
              <a:t>Tính cho trường Tag:</a:t>
            </a:r>
          </a:p>
          <a:p>
            <a:r>
              <a:rPr lang="vi-VN" dirty="0">
                <a:solidFill>
                  <a:srgbClr val="FF0000"/>
                </a:solidFill>
              </a:rPr>
              <a:t>n3</a:t>
            </a:r>
            <a:r>
              <a:rPr lang="vi-VN" dirty="0"/>
              <a:t> = N - (n1 + n2) = 28 - (4 + 13) = </a:t>
            </a:r>
            <a:r>
              <a:rPr lang="vi-VN" dirty="0">
                <a:solidFill>
                  <a:srgbClr val="FF0000"/>
                </a:solidFill>
              </a:rPr>
              <a:t>11 bit</a:t>
            </a:r>
          </a:p>
          <a:p>
            <a:pPr>
              <a:buNone/>
            </a:pPr>
            <a:r>
              <a:rPr lang="vi-VN" dirty="0"/>
              <a:t>2)- Trường Byte: </a:t>
            </a:r>
            <a:r>
              <a:rPr lang="vi-VN" dirty="0">
                <a:solidFill>
                  <a:srgbClr val="FF0000"/>
                </a:solidFill>
              </a:rPr>
              <a:t>n1 = 4 bit</a:t>
            </a:r>
          </a:p>
          <a:p>
            <a:r>
              <a:rPr lang="vi-VN" dirty="0"/>
              <a:t>- Trường Set: </a:t>
            </a:r>
          </a:p>
          <a:p>
            <a:pPr lvl="1">
              <a:buNone/>
            </a:pPr>
            <a:r>
              <a:rPr lang="en-US" dirty="0"/>
              <a:t>	</a:t>
            </a:r>
            <a:r>
              <a:rPr lang="vi-VN" dirty="0">
                <a:solidFill>
                  <a:srgbClr val="FF0000"/>
                </a:solidFill>
              </a:rPr>
              <a:t>Số Set</a:t>
            </a:r>
            <a:r>
              <a:rPr lang="vi-VN" dirty="0"/>
              <a:t> = Số line/4  = 2</a:t>
            </a:r>
            <a:r>
              <a:rPr lang="vi-VN" baseline="30000" dirty="0"/>
              <a:t>13</a:t>
            </a:r>
            <a:r>
              <a:rPr lang="vi-VN" dirty="0"/>
              <a:t>/4 = 2</a:t>
            </a:r>
            <a:r>
              <a:rPr lang="vi-VN" baseline="30000" dirty="0"/>
              <a:t>11</a:t>
            </a:r>
            <a:r>
              <a:rPr lang="vi-VN" dirty="0"/>
              <a:t> </a:t>
            </a:r>
            <a:r>
              <a:rPr lang="en-US" dirty="0"/>
              <a:t>-&gt; </a:t>
            </a:r>
            <a:r>
              <a:rPr lang="vi-VN" dirty="0">
                <a:solidFill>
                  <a:srgbClr val="FF0000"/>
                </a:solidFill>
              </a:rPr>
              <a:t>n2 = 11 bit</a:t>
            </a:r>
          </a:p>
          <a:p>
            <a:r>
              <a:rPr lang="vi-VN" dirty="0"/>
              <a:t>- Trường Tag: </a:t>
            </a:r>
            <a:r>
              <a:rPr lang="vi-VN" dirty="0">
                <a:solidFill>
                  <a:srgbClr val="FF0000"/>
                </a:solidFill>
              </a:rPr>
              <a:t>n3</a:t>
            </a:r>
            <a:r>
              <a:rPr lang="vi-VN" dirty="0"/>
              <a:t> = N - (n1 + n2) = 28 - (4 + 11) = </a:t>
            </a:r>
            <a:r>
              <a:rPr lang="vi-VN" dirty="0">
                <a:solidFill>
                  <a:srgbClr val="FF0000"/>
                </a:solidFill>
              </a:rPr>
              <a:t>13 bit</a:t>
            </a:r>
            <a:endParaRPr lang="en-US"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err="1"/>
              <a:t>Các</a:t>
            </a:r>
            <a:r>
              <a:rPr lang="en-US" sz="3200" dirty="0"/>
              <a:t> </a:t>
            </a:r>
            <a:r>
              <a:rPr lang="en-US" sz="3200" dirty="0" err="1"/>
              <a:t>giải</a:t>
            </a:r>
            <a:r>
              <a:rPr lang="en-US" sz="3200" dirty="0"/>
              <a:t> </a:t>
            </a:r>
            <a:r>
              <a:rPr lang="en-US" sz="3200" dirty="0" err="1"/>
              <a:t>thuật</a:t>
            </a:r>
            <a:r>
              <a:rPr lang="en-US" sz="3200" dirty="0"/>
              <a:t> </a:t>
            </a:r>
            <a:r>
              <a:rPr lang="en-US" sz="3200" dirty="0" err="1"/>
              <a:t>thay</a:t>
            </a:r>
            <a:r>
              <a:rPr lang="en-US" sz="3200" dirty="0"/>
              <a:t> </a:t>
            </a:r>
            <a:r>
              <a:rPr lang="en-US" sz="3200" dirty="0" err="1"/>
              <a:t>thế</a:t>
            </a:r>
            <a:r>
              <a:rPr lang="en-US" sz="3200" dirty="0"/>
              <a:t> block </a:t>
            </a:r>
            <a:r>
              <a:rPr lang="en-US" sz="3200" dirty="0" err="1"/>
              <a:t>trong</a:t>
            </a:r>
            <a:r>
              <a:rPr lang="en-US" sz="3200" dirty="0"/>
              <a:t> cache</a:t>
            </a:r>
          </a:p>
        </p:txBody>
      </p:sp>
      <p:sp>
        <p:nvSpPr>
          <p:cNvPr id="3" name="Content Placeholder 2"/>
          <p:cNvSpPr>
            <a:spLocks noGrp="1"/>
          </p:cNvSpPr>
          <p:nvPr>
            <p:ph sz="quarter" idx="1"/>
          </p:nvPr>
        </p:nvSpPr>
        <p:spPr/>
        <p:txBody>
          <a:bodyPr>
            <a:normAutofit/>
          </a:bodyPr>
          <a:lstStyle/>
          <a:p>
            <a:r>
              <a:rPr lang="vi-VN" dirty="0"/>
              <a:t>Khi CPU truy nhập một thông tin mà không có trong cache (cache miss) thì</a:t>
            </a:r>
            <a:r>
              <a:rPr lang="en-US" dirty="0"/>
              <a:t> </a:t>
            </a:r>
            <a:r>
              <a:rPr lang="vi-VN" dirty="0"/>
              <a:t>nạp block chứa thông tin đó vào trong cache để thay thế block cũ trong cache.</a:t>
            </a:r>
          </a:p>
          <a:p>
            <a:r>
              <a:rPr lang="vi-VN" dirty="0"/>
              <a:t>Ánh xạ trực tiếp </a:t>
            </a:r>
            <a:r>
              <a:rPr lang="en-US" dirty="0"/>
              <a:t>-&gt;</a:t>
            </a:r>
            <a:r>
              <a:rPr lang="vi-VN" dirty="0"/>
              <a:t> chỉ có 1 cách nạp</a:t>
            </a:r>
            <a:r>
              <a:rPr lang="en-US" dirty="0"/>
              <a:t> -&gt; </a:t>
            </a:r>
            <a:r>
              <a:rPr lang="vi-VN" dirty="0"/>
              <a:t>không cần thuật giải để nạp.</a:t>
            </a:r>
          </a:p>
          <a:p>
            <a:r>
              <a:rPr lang="vi-VN" dirty="0"/>
              <a:t>2 phương pháp ánh xạ liên kết </a:t>
            </a:r>
            <a:r>
              <a:rPr lang="en-US" dirty="0"/>
              <a:t>-&gt;</a:t>
            </a:r>
            <a:r>
              <a:rPr lang="vi-VN" dirty="0"/>
              <a:t> cần có</a:t>
            </a:r>
            <a:r>
              <a:rPr lang="en-US" dirty="0"/>
              <a:t> </a:t>
            </a:r>
            <a:r>
              <a:rPr lang="vi-VN" dirty="0"/>
              <a:t>thuật giải để lựa chọn thay thế.</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err="1"/>
              <a:t>Các</a:t>
            </a:r>
            <a:r>
              <a:rPr lang="en-US" sz="3200" dirty="0"/>
              <a:t> </a:t>
            </a:r>
            <a:r>
              <a:rPr lang="en-US" sz="3200" dirty="0" err="1"/>
              <a:t>giải</a:t>
            </a:r>
            <a:r>
              <a:rPr lang="en-US" sz="3200" dirty="0"/>
              <a:t> </a:t>
            </a:r>
            <a:r>
              <a:rPr lang="en-US" sz="3200" dirty="0" err="1"/>
              <a:t>thuật</a:t>
            </a:r>
            <a:r>
              <a:rPr lang="en-US" sz="3200" dirty="0"/>
              <a:t> </a:t>
            </a:r>
            <a:r>
              <a:rPr lang="en-US" sz="3200" dirty="0" err="1"/>
              <a:t>thay</a:t>
            </a:r>
            <a:r>
              <a:rPr lang="en-US" sz="3200" dirty="0"/>
              <a:t> </a:t>
            </a:r>
            <a:r>
              <a:rPr lang="en-US" sz="3200" dirty="0" err="1"/>
              <a:t>thế</a:t>
            </a:r>
            <a:r>
              <a:rPr lang="en-US" sz="3200" dirty="0"/>
              <a:t> block </a:t>
            </a:r>
            <a:r>
              <a:rPr lang="en-US" sz="3200" dirty="0" err="1"/>
              <a:t>trong</a:t>
            </a:r>
            <a:r>
              <a:rPr lang="en-US" sz="3200" dirty="0"/>
              <a:t> cache</a:t>
            </a:r>
          </a:p>
        </p:txBody>
      </p:sp>
      <p:sp>
        <p:nvSpPr>
          <p:cNvPr id="3" name="Content Placeholder 2"/>
          <p:cNvSpPr>
            <a:spLocks noGrp="1"/>
          </p:cNvSpPr>
          <p:nvPr>
            <p:ph sz="quarter" idx="1"/>
          </p:nvPr>
        </p:nvSpPr>
        <p:spPr/>
        <p:txBody>
          <a:bodyPr>
            <a:normAutofit lnSpcReduction="10000"/>
          </a:bodyPr>
          <a:lstStyle/>
          <a:p>
            <a:pPr>
              <a:buNone/>
            </a:pPr>
            <a:r>
              <a:rPr lang="vi-VN" dirty="0"/>
              <a:t>1. Random: thay block một cách ngẫu nhiên.</a:t>
            </a:r>
          </a:p>
          <a:p>
            <a:pPr>
              <a:buNone/>
            </a:pPr>
            <a:r>
              <a:rPr lang="vi-VN" dirty="0"/>
              <a:t>2. FIFO (First  In, First Out): thay thế block đã tồn tại lâu nhất </a:t>
            </a:r>
            <a:r>
              <a:rPr lang="vi-VN" dirty="0">
                <a:solidFill>
                  <a:srgbClr val="FF0000"/>
                </a:solidFill>
              </a:rPr>
              <a:t>trong toàn cache</a:t>
            </a:r>
            <a:r>
              <a:rPr lang="vi-VN" dirty="0"/>
              <a:t> đối với ánh xạ liên kết toàn phần, </a:t>
            </a:r>
            <a:r>
              <a:rPr lang="vi-VN" dirty="0">
                <a:solidFill>
                  <a:srgbClr val="FF0000"/>
                </a:solidFill>
              </a:rPr>
              <a:t>trong set</a:t>
            </a:r>
            <a:r>
              <a:rPr lang="vi-VN" dirty="0"/>
              <a:t> đối với ánh xạ liên kết tập hợp.</a:t>
            </a:r>
          </a:p>
          <a:p>
            <a:pPr>
              <a:buNone/>
            </a:pPr>
            <a:r>
              <a:rPr lang="vi-VN" dirty="0"/>
              <a:t>3. LFU (Least  Frequently  Used):  thay  block  có</a:t>
            </a:r>
            <a:r>
              <a:rPr lang="en-US" dirty="0"/>
              <a:t> </a:t>
            </a:r>
            <a:r>
              <a:rPr lang="vi-VN" dirty="0"/>
              <a:t>số lần truy nhập ít nhất.</a:t>
            </a:r>
          </a:p>
          <a:p>
            <a:pPr>
              <a:buNone/>
            </a:pPr>
            <a:r>
              <a:rPr lang="vi-VN" dirty="0"/>
              <a:t>4. LRU (Least  Recently  Used):  thay  block  có khoảng</a:t>
            </a:r>
            <a:r>
              <a:rPr lang="en-US" dirty="0"/>
              <a:t> </a:t>
            </a:r>
            <a:r>
              <a:rPr lang="vi-VN" dirty="0"/>
              <a:t>thời  gian  dài  nhất  không  được  truy  nhập </a:t>
            </a:r>
            <a:r>
              <a:rPr lang="en-US" dirty="0"/>
              <a:t>-&gt;</a:t>
            </a:r>
            <a:r>
              <a:rPr lang="vi-VN" dirty="0"/>
              <a:t> </a:t>
            </a:r>
            <a:r>
              <a:rPr lang="vi-VN" i="1" dirty="0"/>
              <a:t>được đánh giá là hiệu quả nhất.</a:t>
            </a:r>
            <a:endParaRPr lang="en-US" i="1"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err="1"/>
              <a:t>Phương</a:t>
            </a:r>
            <a:r>
              <a:rPr lang="en-US" sz="3600" dirty="0"/>
              <a:t> </a:t>
            </a:r>
            <a:r>
              <a:rPr lang="en-US" sz="3600" dirty="0" err="1"/>
              <a:t>pháp</a:t>
            </a:r>
            <a:r>
              <a:rPr lang="en-US" sz="3600" dirty="0"/>
              <a:t> </a:t>
            </a:r>
            <a:r>
              <a:rPr lang="en-US" sz="3600" dirty="0" err="1"/>
              <a:t>ghi</a:t>
            </a:r>
            <a:r>
              <a:rPr lang="en-US" sz="3600" dirty="0"/>
              <a:t> </a:t>
            </a:r>
            <a:r>
              <a:rPr lang="en-US" sz="3600" dirty="0" err="1"/>
              <a:t>dữ</a:t>
            </a:r>
            <a:r>
              <a:rPr lang="en-US" sz="3600" dirty="0"/>
              <a:t> </a:t>
            </a:r>
            <a:r>
              <a:rPr lang="en-US" sz="3600" dirty="0" err="1"/>
              <a:t>liệu</a:t>
            </a:r>
            <a:r>
              <a:rPr lang="en-US" sz="3600" dirty="0"/>
              <a:t> </a:t>
            </a:r>
            <a:r>
              <a:rPr lang="en-US" sz="3600" dirty="0" err="1"/>
              <a:t>khi</a:t>
            </a:r>
            <a:r>
              <a:rPr lang="en-US" sz="3600" dirty="0"/>
              <a:t> cache hit</a:t>
            </a:r>
          </a:p>
        </p:txBody>
      </p:sp>
      <p:sp>
        <p:nvSpPr>
          <p:cNvPr id="3" name="Content Placeholder 2"/>
          <p:cNvSpPr>
            <a:spLocks noGrp="1"/>
          </p:cNvSpPr>
          <p:nvPr>
            <p:ph sz="quarter" idx="1"/>
          </p:nvPr>
        </p:nvSpPr>
        <p:spPr/>
        <p:txBody>
          <a:bodyPr/>
          <a:lstStyle/>
          <a:p>
            <a:r>
              <a:rPr lang="vi-VN" dirty="0"/>
              <a:t>Ghi xuyên qua (Write through)</a:t>
            </a:r>
            <a:endParaRPr lang="en-US" dirty="0"/>
          </a:p>
          <a:p>
            <a:pPr lvl="1"/>
            <a:r>
              <a:rPr lang="vi-VN" dirty="0"/>
              <a:t>ghi cả cache và</a:t>
            </a:r>
            <a:r>
              <a:rPr lang="en-US" dirty="0"/>
              <a:t> </a:t>
            </a:r>
            <a:r>
              <a:rPr lang="vi-VN" dirty="0"/>
              <a:t>bộ nhớ chính</a:t>
            </a:r>
            <a:endParaRPr lang="en-US" dirty="0"/>
          </a:p>
          <a:p>
            <a:pPr lvl="1"/>
            <a:r>
              <a:rPr lang="vi-VN" dirty="0"/>
              <a:t>tốc độ chậm</a:t>
            </a:r>
          </a:p>
          <a:p>
            <a:r>
              <a:rPr lang="vi-VN" dirty="0"/>
              <a:t>Ghi trả sau (Write back)</a:t>
            </a:r>
          </a:p>
          <a:p>
            <a:pPr lvl="1"/>
            <a:r>
              <a:rPr lang="vi-VN" dirty="0"/>
              <a:t>chỉ ghi ra cache</a:t>
            </a:r>
          </a:p>
          <a:p>
            <a:pPr lvl="1"/>
            <a:r>
              <a:rPr lang="vi-VN" dirty="0"/>
              <a:t>tốc độ nhanh</a:t>
            </a:r>
          </a:p>
          <a:p>
            <a:endParaRPr lang="en-US" i="1" dirty="0">
              <a:solidFill>
                <a:srgbClr val="FF0000"/>
              </a:solidFill>
            </a:endParaRPr>
          </a:p>
          <a:p>
            <a:r>
              <a:rPr lang="vi-VN" i="1" dirty="0">
                <a:solidFill>
                  <a:srgbClr val="FF0000"/>
                </a:solidFill>
              </a:rPr>
              <a:t>khi block trong cache bị thay thế cần phải ghi trả cả block về bộ nhớ chính</a:t>
            </a:r>
            <a:endParaRPr lang="en-US" i="1" dirty="0">
              <a:solidFill>
                <a:srgbClr val="FF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a:t>
            </a:r>
            <a:r>
              <a:rPr lang="en-US" dirty="0" err="1"/>
              <a:t>trên</a:t>
            </a:r>
            <a:r>
              <a:rPr lang="en-US" dirty="0"/>
              <a:t> </a:t>
            </a:r>
            <a:r>
              <a:rPr lang="en-US" dirty="0" err="1"/>
              <a:t>các</a:t>
            </a:r>
            <a:r>
              <a:rPr lang="en-US" dirty="0"/>
              <a:t> </a:t>
            </a:r>
            <a:r>
              <a:rPr lang="en-US" dirty="0" err="1"/>
              <a:t>bộ</a:t>
            </a:r>
            <a:r>
              <a:rPr lang="en-US" dirty="0"/>
              <a:t> </a:t>
            </a:r>
            <a:r>
              <a:rPr lang="en-US" dirty="0" err="1"/>
              <a:t>xử</a:t>
            </a:r>
            <a:r>
              <a:rPr lang="en-US" dirty="0"/>
              <a:t> </a:t>
            </a:r>
            <a:r>
              <a:rPr lang="en-US" dirty="0" err="1"/>
              <a:t>lý</a:t>
            </a:r>
            <a:r>
              <a:rPr lang="en-US" dirty="0"/>
              <a:t> Intel</a:t>
            </a:r>
          </a:p>
        </p:txBody>
      </p:sp>
      <p:sp>
        <p:nvSpPr>
          <p:cNvPr id="3" name="Content Placeholder 2"/>
          <p:cNvSpPr>
            <a:spLocks noGrp="1"/>
          </p:cNvSpPr>
          <p:nvPr>
            <p:ph sz="quarter" idx="1"/>
          </p:nvPr>
        </p:nvSpPr>
        <p:spPr/>
        <p:txBody>
          <a:bodyPr>
            <a:normAutofit fontScale="85000" lnSpcReduction="20000"/>
          </a:bodyPr>
          <a:lstStyle/>
          <a:p>
            <a:r>
              <a:rPr lang="vi-VN" dirty="0"/>
              <a:t>80386: không có cache trên chip</a:t>
            </a:r>
          </a:p>
          <a:p>
            <a:r>
              <a:rPr lang="vi-VN" dirty="0"/>
              <a:t>80486: 8KB</a:t>
            </a:r>
          </a:p>
          <a:p>
            <a:r>
              <a:rPr lang="vi-VN" dirty="0"/>
              <a:t>Pentium: có 2 cache L1 trên chip</a:t>
            </a:r>
            <a:endParaRPr lang="en-US" dirty="0"/>
          </a:p>
          <a:p>
            <a:pPr lvl="1"/>
            <a:r>
              <a:rPr lang="vi-VN" dirty="0"/>
              <a:t>cache lệnh = 8KB</a:t>
            </a:r>
          </a:p>
          <a:p>
            <a:pPr lvl="1"/>
            <a:r>
              <a:rPr lang="vi-VN" dirty="0"/>
              <a:t>cache dữ liệu = 8KB</a:t>
            </a:r>
          </a:p>
          <a:p>
            <a:r>
              <a:rPr lang="vi-VN" dirty="0"/>
              <a:t>Pentium 4: hai mức cache L1 và L2 trên chip</a:t>
            </a:r>
          </a:p>
          <a:p>
            <a:pPr lvl="1"/>
            <a:r>
              <a:rPr lang="vi-VN" dirty="0"/>
              <a:t>Cache L1:</a:t>
            </a:r>
          </a:p>
          <a:p>
            <a:pPr lvl="2"/>
            <a:r>
              <a:rPr lang="vi-VN" dirty="0"/>
              <a:t>2 cache L1, mỗi cache 8KB</a:t>
            </a:r>
          </a:p>
          <a:p>
            <a:pPr lvl="2"/>
            <a:r>
              <a:rPr lang="vi-VN" dirty="0"/>
              <a:t>kích thước Line = 64 byte</a:t>
            </a:r>
          </a:p>
          <a:p>
            <a:pPr lvl="1"/>
            <a:r>
              <a:rPr lang="vi-VN" dirty="0"/>
              <a:t>Cache L2:</a:t>
            </a:r>
          </a:p>
          <a:p>
            <a:pPr lvl="2"/>
            <a:r>
              <a:rPr lang="vi-VN" dirty="0"/>
              <a:t>256 KB - 2 MB</a:t>
            </a:r>
          </a:p>
          <a:p>
            <a:pPr lvl="2"/>
            <a:r>
              <a:rPr lang="vi-VN" dirty="0"/>
              <a:t>kích thước Line = 128 byte</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Sơ</a:t>
            </a:r>
            <a:r>
              <a:rPr lang="en-US" dirty="0"/>
              <a:t> </a:t>
            </a:r>
            <a:r>
              <a:rPr lang="en-US" dirty="0" err="1"/>
              <a:t>đồ</a:t>
            </a:r>
            <a:r>
              <a:rPr lang="en-US" dirty="0"/>
              <a:t> Pentium 4</a:t>
            </a:r>
          </a:p>
        </p:txBody>
      </p:sp>
      <p:pic>
        <p:nvPicPr>
          <p:cNvPr id="17410" name="Picture 2"/>
          <p:cNvPicPr>
            <a:picLocks noGrp="1" noChangeAspect="1" noChangeArrowheads="1"/>
          </p:cNvPicPr>
          <p:nvPr>
            <p:ph sz="quarter" idx="1"/>
          </p:nvPr>
        </p:nvPicPr>
        <p:blipFill>
          <a:blip r:embed="rId2" cstate="print"/>
          <a:srcRect/>
          <a:stretch>
            <a:fillRect/>
          </a:stretch>
        </p:blipFill>
        <p:spPr bwMode="auto">
          <a:xfrm>
            <a:off x="455797" y="1925637"/>
            <a:ext cx="8154803" cy="4398963"/>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Bộ</a:t>
            </a:r>
            <a:r>
              <a:rPr lang="en-US" dirty="0"/>
              <a:t> </a:t>
            </a:r>
            <a:r>
              <a:rPr lang="en-US" dirty="0" err="1"/>
              <a:t>nhớ</a:t>
            </a:r>
            <a:r>
              <a:rPr lang="en-US" dirty="0"/>
              <a:t> </a:t>
            </a:r>
            <a:r>
              <a:rPr lang="en-US" dirty="0" err="1"/>
              <a:t>ngoài</a:t>
            </a:r>
            <a:endParaRPr lang="en-US" dirty="0"/>
          </a:p>
        </p:txBody>
      </p:sp>
      <p:sp>
        <p:nvSpPr>
          <p:cNvPr id="3" name="Content Placeholder 2"/>
          <p:cNvSpPr>
            <a:spLocks noGrp="1"/>
          </p:cNvSpPr>
          <p:nvPr>
            <p:ph sz="quarter" idx="1"/>
          </p:nvPr>
        </p:nvSpPr>
        <p:spPr/>
        <p:txBody>
          <a:bodyPr/>
          <a:lstStyle/>
          <a:p>
            <a:pPr>
              <a:buNone/>
            </a:pPr>
            <a:r>
              <a:rPr lang="vi-VN" dirty="0"/>
              <a:t>Các kiểu bộ nhớ ngoài</a:t>
            </a:r>
          </a:p>
          <a:p>
            <a:r>
              <a:rPr lang="vi-VN" dirty="0"/>
              <a:t>Đĩa từ (Magnetic Disk)</a:t>
            </a:r>
          </a:p>
          <a:p>
            <a:r>
              <a:rPr lang="vi-VN" dirty="0"/>
              <a:t>Đĩa quang (Optical Disk)</a:t>
            </a:r>
          </a:p>
          <a:p>
            <a:r>
              <a:rPr lang="vi-VN" dirty="0"/>
              <a:t>Flash Disk</a:t>
            </a:r>
          </a:p>
          <a:p>
            <a:r>
              <a:rPr lang="vi-VN" dirty="0"/>
              <a:t>Băng từ (Magnetic Tape)</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GB" dirty="0" err="1"/>
              <a:t>Đĩa</a:t>
            </a:r>
            <a:r>
              <a:rPr lang="en-GB" dirty="0"/>
              <a:t> </a:t>
            </a:r>
            <a:r>
              <a:rPr lang="en-GB" dirty="0" err="1"/>
              <a:t>từ</a:t>
            </a:r>
            <a:endParaRPr lang="en-US" dirty="0"/>
          </a:p>
        </p:txBody>
      </p:sp>
      <p:sp>
        <p:nvSpPr>
          <p:cNvPr id="111619" name="Rectangle 3"/>
          <p:cNvSpPr>
            <a:spLocks noGrp="1" noChangeArrowheads="1"/>
          </p:cNvSpPr>
          <p:nvPr>
            <p:ph sz="quarter" idx="1"/>
          </p:nvPr>
        </p:nvSpPr>
        <p:spPr/>
        <p:txBody>
          <a:bodyPr>
            <a:normAutofit/>
          </a:bodyPr>
          <a:lstStyle/>
          <a:p>
            <a:r>
              <a:rPr lang="en-US" dirty="0" err="1"/>
              <a:t>Bề</a:t>
            </a:r>
            <a:r>
              <a:rPr lang="en-US" dirty="0"/>
              <a:t> </a:t>
            </a:r>
            <a:r>
              <a:rPr lang="en-US" dirty="0" err="1"/>
              <a:t>mặt</a:t>
            </a:r>
            <a:r>
              <a:rPr lang="en-US" dirty="0"/>
              <a:t> </a:t>
            </a:r>
            <a:r>
              <a:rPr lang="en-US" dirty="0" err="1"/>
              <a:t>bao</a:t>
            </a:r>
            <a:r>
              <a:rPr lang="en-US" dirty="0"/>
              <a:t> </a:t>
            </a:r>
            <a:r>
              <a:rPr lang="en-US" dirty="0" err="1"/>
              <a:t>phủ</a:t>
            </a:r>
            <a:r>
              <a:rPr lang="en-US" dirty="0"/>
              <a:t> </a:t>
            </a:r>
            <a:r>
              <a:rPr lang="en-US" dirty="0" err="1"/>
              <a:t>vật</a:t>
            </a:r>
            <a:r>
              <a:rPr lang="en-US" dirty="0"/>
              <a:t> </a:t>
            </a:r>
            <a:r>
              <a:rPr lang="en-US" dirty="0" err="1"/>
              <a:t>liệu</a:t>
            </a:r>
            <a:r>
              <a:rPr lang="en-US" dirty="0"/>
              <a:t> </a:t>
            </a:r>
            <a:r>
              <a:rPr lang="en-US" dirty="0" err="1"/>
              <a:t>từ</a:t>
            </a:r>
            <a:r>
              <a:rPr lang="en-US" dirty="0"/>
              <a:t> </a:t>
            </a:r>
            <a:r>
              <a:rPr lang="en-US" dirty="0" err="1"/>
              <a:t>hoá</a:t>
            </a:r>
            <a:r>
              <a:rPr lang="en-US" dirty="0"/>
              <a:t> (</a:t>
            </a:r>
            <a:r>
              <a:rPr lang="en-US" dirty="0" err="1"/>
              <a:t>oxit</a:t>
            </a:r>
            <a:r>
              <a:rPr lang="en-US" dirty="0"/>
              <a:t> </a:t>
            </a:r>
            <a:r>
              <a:rPr lang="en-US" dirty="0" err="1"/>
              <a:t>sắt</a:t>
            </a:r>
            <a:r>
              <a:rPr lang="en-US" dirty="0"/>
              <a:t>)</a:t>
            </a:r>
          </a:p>
          <a:p>
            <a:r>
              <a:rPr lang="en-US" dirty="0" err="1"/>
              <a:t>Bề</a:t>
            </a:r>
            <a:r>
              <a:rPr lang="en-US" dirty="0"/>
              <a:t> </a:t>
            </a:r>
            <a:r>
              <a:rPr lang="en-US" dirty="0" err="1"/>
              <a:t>mặt</a:t>
            </a:r>
            <a:r>
              <a:rPr lang="en-US" dirty="0"/>
              <a:t> </a:t>
            </a:r>
            <a:r>
              <a:rPr lang="en-US" dirty="0" err="1"/>
              <a:t>sử</a:t>
            </a:r>
            <a:r>
              <a:rPr lang="en-US" dirty="0"/>
              <a:t> </a:t>
            </a:r>
            <a:r>
              <a:rPr lang="en-US" dirty="0" err="1"/>
              <a:t>dụng</a:t>
            </a:r>
            <a:r>
              <a:rPr lang="en-US" dirty="0"/>
              <a:t> </a:t>
            </a:r>
            <a:r>
              <a:rPr lang="en-US" dirty="0" err="1"/>
              <a:t>nhôm</a:t>
            </a:r>
            <a:endParaRPr lang="en-US" dirty="0"/>
          </a:p>
          <a:p>
            <a:r>
              <a:rPr lang="en-US" dirty="0" err="1"/>
              <a:t>Bề</a:t>
            </a:r>
            <a:r>
              <a:rPr lang="en-US" dirty="0"/>
              <a:t> </a:t>
            </a:r>
            <a:r>
              <a:rPr lang="en-US" dirty="0" err="1"/>
              <a:t>mặt</a:t>
            </a:r>
            <a:r>
              <a:rPr lang="en-US" dirty="0"/>
              <a:t> </a:t>
            </a:r>
            <a:r>
              <a:rPr lang="en-US" dirty="0" err="1"/>
              <a:t>bằng</a:t>
            </a:r>
            <a:r>
              <a:rPr lang="en-US" dirty="0"/>
              <a:t> </a:t>
            </a:r>
            <a:r>
              <a:rPr lang="en-US" dirty="0" err="1"/>
              <a:t>thuỷ</a:t>
            </a:r>
            <a:r>
              <a:rPr lang="en-US" dirty="0"/>
              <a:t> </a:t>
            </a:r>
            <a:r>
              <a:rPr lang="en-US" dirty="0" err="1"/>
              <a:t>tinh</a:t>
            </a:r>
            <a:endParaRPr lang="en-US" dirty="0"/>
          </a:p>
          <a:p>
            <a:pPr lvl="1"/>
            <a:r>
              <a:rPr lang="vi-VN" dirty="0"/>
              <a:t>Bề mặt đồng đều làm tăng độ tin cậy</a:t>
            </a:r>
          </a:p>
          <a:p>
            <a:pPr lvl="1"/>
            <a:r>
              <a:rPr lang="vi-VN" dirty="0"/>
              <a:t>Giảm sai sót trong bề mặt -&gt; giảm lỗi đọc viết</a:t>
            </a:r>
          </a:p>
          <a:p>
            <a:pPr lvl="1"/>
            <a:r>
              <a:rPr lang="vi-VN" dirty="0"/>
              <a:t>Cứng hơn</a:t>
            </a:r>
            <a:endParaRPr lang="en-US" dirty="0">
              <a:latin typeface="VNI-Times" pitchFamily="2" charset="0"/>
            </a:endParaRPr>
          </a:p>
          <a:p>
            <a:endParaRPr lang="en-US" dirty="0">
              <a:latin typeface="VNI-Times" pitchFamily="2"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normAutofit/>
          </a:bodyPr>
          <a:lstStyle/>
          <a:p>
            <a:r>
              <a:rPr lang="en-GB" dirty="0" err="1"/>
              <a:t>Kỹ</a:t>
            </a:r>
            <a:r>
              <a:rPr lang="en-GB" dirty="0"/>
              <a:t> </a:t>
            </a:r>
            <a:r>
              <a:rPr lang="en-GB" dirty="0" err="1"/>
              <a:t>thuật</a:t>
            </a:r>
            <a:r>
              <a:rPr lang="en-GB" dirty="0"/>
              <a:t> </a:t>
            </a:r>
            <a:r>
              <a:rPr lang="en-GB" dirty="0" err="1"/>
              <a:t>Đọc</a:t>
            </a:r>
            <a:r>
              <a:rPr lang="en-GB" dirty="0"/>
              <a:t> </a:t>
            </a:r>
            <a:r>
              <a:rPr lang="en-GB" dirty="0" err="1"/>
              <a:t>và</a:t>
            </a:r>
            <a:r>
              <a:rPr lang="en-GB" dirty="0"/>
              <a:t> </a:t>
            </a:r>
            <a:r>
              <a:rPr lang="en-GB" dirty="0" err="1"/>
              <a:t>Ghi</a:t>
            </a:r>
            <a:endParaRPr lang="en-US" dirty="0"/>
          </a:p>
        </p:txBody>
      </p:sp>
      <p:sp>
        <p:nvSpPr>
          <p:cNvPr id="112643" name="Rectangle 3"/>
          <p:cNvSpPr>
            <a:spLocks noGrp="1" noChangeArrowheads="1"/>
          </p:cNvSpPr>
          <p:nvPr>
            <p:ph sz="quarter" idx="1"/>
          </p:nvPr>
        </p:nvSpPr>
        <p:spPr>
          <a:xfrm>
            <a:off x="685800" y="1905000"/>
            <a:ext cx="7924800" cy="3581400"/>
          </a:xfrm>
        </p:spPr>
        <p:txBody>
          <a:bodyPr>
            <a:normAutofit fontScale="85000" lnSpcReduction="20000"/>
          </a:bodyPr>
          <a:lstStyle/>
          <a:p>
            <a:r>
              <a:rPr lang="en-US" dirty="0" err="1"/>
              <a:t>Ghi</a:t>
            </a:r>
            <a:r>
              <a:rPr lang="en-US" dirty="0"/>
              <a:t> </a:t>
            </a:r>
            <a:r>
              <a:rPr lang="en-US" dirty="0" err="1"/>
              <a:t>cảm</a:t>
            </a:r>
            <a:r>
              <a:rPr lang="en-US" dirty="0"/>
              <a:t> </a:t>
            </a:r>
            <a:r>
              <a:rPr lang="en-US" dirty="0" err="1"/>
              <a:t>ứng</a:t>
            </a:r>
            <a:r>
              <a:rPr lang="en-US" dirty="0"/>
              <a:t>:</a:t>
            </a:r>
          </a:p>
          <a:p>
            <a:pPr lvl="1"/>
            <a:r>
              <a:rPr lang="vi-VN" dirty="0"/>
              <a:t>Dòng điện qua cuộn dây sinh ra từ trường</a:t>
            </a:r>
            <a:r>
              <a:rPr lang="en-US" dirty="0"/>
              <a:t> </a:t>
            </a:r>
            <a:r>
              <a:rPr lang="en-US" dirty="0" err="1"/>
              <a:t>làm</a:t>
            </a:r>
            <a:r>
              <a:rPr lang="en-US" dirty="0"/>
              <a:t> </a:t>
            </a:r>
            <a:r>
              <a:rPr lang="en-US" dirty="0" err="1"/>
              <a:t>xoay</a:t>
            </a:r>
            <a:r>
              <a:rPr lang="en-US" dirty="0"/>
              <a:t> </a:t>
            </a:r>
            <a:r>
              <a:rPr lang="en-US" dirty="0" err="1"/>
              <a:t>hướng</a:t>
            </a:r>
            <a:r>
              <a:rPr lang="en-US" dirty="0"/>
              <a:t> </a:t>
            </a:r>
            <a:r>
              <a:rPr lang="en-US" dirty="0" err="1"/>
              <a:t>các</a:t>
            </a:r>
            <a:r>
              <a:rPr lang="en-US" dirty="0"/>
              <a:t> </a:t>
            </a:r>
            <a:r>
              <a:rPr lang="en-US" dirty="0" err="1"/>
              <a:t>hạt</a:t>
            </a:r>
            <a:r>
              <a:rPr lang="en-US" dirty="0"/>
              <a:t> </a:t>
            </a:r>
            <a:r>
              <a:rPr lang="en-US" dirty="0" err="1"/>
              <a:t>từ</a:t>
            </a:r>
            <a:endParaRPr lang="vi-VN" dirty="0"/>
          </a:p>
          <a:p>
            <a:pPr lvl="1"/>
            <a:r>
              <a:rPr lang="vi-VN" dirty="0"/>
              <a:t>Xung gởi đến đầu từ</a:t>
            </a:r>
          </a:p>
          <a:p>
            <a:pPr lvl="1"/>
            <a:r>
              <a:rPr lang="vi-VN" dirty="0"/>
              <a:t>Mẫu từ ghi lại trên mặt dưới</a:t>
            </a:r>
          </a:p>
          <a:p>
            <a:r>
              <a:rPr lang="en-US" dirty="0" err="1"/>
              <a:t>Đọc</a:t>
            </a:r>
            <a:r>
              <a:rPr lang="en-US" dirty="0"/>
              <a:t> </a:t>
            </a:r>
            <a:r>
              <a:rPr lang="en-US" dirty="0" err="1"/>
              <a:t>điện</a:t>
            </a:r>
            <a:r>
              <a:rPr lang="en-US" dirty="0"/>
              <a:t> </a:t>
            </a:r>
            <a:r>
              <a:rPr lang="en-US" dirty="0" err="1"/>
              <a:t>từ</a:t>
            </a:r>
            <a:endParaRPr lang="en-US" dirty="0"/>
          </a:p>
          <a:p>
            <a:pPr lvl="1"/>
            <a:r>
              <a:rPr lang="vi-VN" dirty="0"/>
              <a:t>Từ trường qua cuộn dây sinh ra dòng điện</a:t>
            </a:r>
          </a:p>
          <a:p>
            <a:pPr lvl="1"/>
            <a:endParaRPr lang="en-US" dirty="0"/>
          </a:p>
          <a:p>
            <a:pPr lvl="1"/>
            <a:endParaRPr lang="en-US" dirty="0"/>
          </a:p>
          <a:p>
            <a:r>
              <a:rPr lang="vi-VN" dirty="0"/>
              <a:t>Cuộ</a:t>
            </a:r>
            <a:r>
              <a:rPr lang="en-US" dirty="0"/>
              <a:t>n</a:t>
            </a:r>
            <a:r>
              <a:rPr lang="vi-VN" dirty="0"/>
              <a:t> dây d</a:t>
            </a:r>
            <a:r>
              <a:rPr lang="en-US" dirty="0" err="1"/>
              <a:t>ùng</a:t>
            </a:r>
            <a:r>
              <a:rPr lang="vi-VN" dirty="0"/>
              <a:t> cho việc đọc</a:t>
            </a:r>
            <a:r>
              <a:rPr lang="en-US" dirty="0"/>
              <a:t>/</a:t>
            </a:r>
            <a:r>
              <a:rPr lang="en-US" dirty="0" err="1"/>
              <a:t>ghi</a:t>
            </a:r>
            <a:endParaRPr lang="en-US" dirty="0">
              <a:latin typeface="VNI-Times" pitchFamily="2"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GB" dirty="0" err="1"/>
              <a:t>Ghi</a:t>
            </a:r>
            <a:r>
              <a:rPr lang="en-GB" dirty="0"/>
              <a:t> </a:t>
            </a:r>
            <a:r>
              <a:rPr lang="en-GB" dirty="0" err="1"/>
              <a:t>cảm</a:t>
            </a:r>
            <a:r>
              <a:rPr lang="en-GB" dirty="0"/>
              <a:t> </a:t>
            </a:r>
            <a:r>
              <a:rPr lang="en-GB" dirty="0" err="1"/>
              <a:t>ứng</a:t>
            </a:r>
            <a:r>
              <a:rPr lang="en-GB" dirty="0"/>
              <a:t>/</a:t>
            </a:r>
            <a:r>
              <a:rPr lang="en-GB" dirty="0" err="1"/>
              <a:t>Đọc</a:t>
            </a:r>
            <a:r>
              <a:rPr lang="en-GB" dirty="0"/>
              <a:t> </a:t>
            </a:r>
            <a:r>
              <a:rPr lang="en-GB" dirty="0" err="1"/>
              <a:t>điện</a:t>
            </a:r>
            <a:r>
              <a:rPr lang="en-GB" dirty="0"/>
              <a:t> </a:t>
            </a:r>
            <a:r>
              <a:rPr lang="en-GB" dirty="0" err="1"/>
              <a:t>từ</a:t>
            </a:r>
            <a:r>
              <a:rPr lang="en-GB" dirty="0"/>
              <a:t> </a:t>
            </a:r>
          </a:p>
        </p:txBody>
      </p:sp>
      <p:pic>
        <p:nvPicPr>
          <p:cNvPr id="93188" name="Picture 4"/>
          <p:cNvPicPr>
            <a:picLocks noChangeAspect="1" noChangeArrowheads="1"/>
          </p:cNvPicPr>
          <p:nvPr/>
        </p:nvPicPr>
        <p:blipFill>
          <a:blip r:embed="rId2" cstate="print"/>
          <a:srcRect t="18521" b="38060"/>
          <a:stretch>
            <a:fillRect/>
          </a:stretch>
        </p:blipFill>
        <p:spPr bwMode="auto">
          <a:xfrm>
            <a:off x="152400" y="1609725"/>
            <a:ext cx="8915400" cy="5014913"/>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normAutofit/>
          </a:bodyPr>
          <a:lstStyle/>
          <a:p>
            <a:r>
              <a:rPr lang="en-GB" dirty="0" err="1"/>
              <a:t>Tổ</a:t>
            </a:r>
            <a:r>
              <a:rPr lang="en-GB" dirty="0"/>
              <a:t> </a:t>
            </a:r>
            <a:r>
              <a:rPr lang="en-GB" dirty="0" err="1"/>
              <a:t>chức</a:t>
            </a:r>
            <a:r>
              <a:rPr lang="en-GB" dirty="0"/>
              <a:t> </a:t>
            </a:r>
            <a:r>
              <a:rPr lang="en-GB" dirty="0" err="1"/>
              <a:t>và</a:t>
            </a:r>
            <a:r>
              <a:rPr lang="en-GB" dirty="0"/>
              <a:t> </a:t>
            </a:r>
            <a:r>
              <a:rPr lang="en-GB" dirty="0" err="1"/>
              <a:t>định</a:t>
            </a:r>
            <a:r>
              <a:rPr lang="en-GB" dirty="0"/>
              <a:t> </a:t>
            </a:r>
            <a:r>
              <a:rPr lang="en-GB" dirty="0" err="1"/>
              <a:t>dạng</a:t>
            </a:r>
            <a:r>
              <a:rPr lang="en-GB" dirty="0"/>
              <a:t> </a:t>
            </a:r>
            <a:r>
              <a:rPr lang="en-GB" dirty="0" err="1"/>
              <a:t>dữ</a:t>
            </a:r>
            <a:r>
              <a:rPr lang="en-GB" dirty="0"/>
              <a:t> </a:t>
            </a:r>
            <a:r>
              <a:rPr lang="en-GB" dirty="0" err="1"/>
              <a:t>liệu</a:t>
            </a:r>
            <a:endParaRPr lang="en-US" dirty="0"/>
          </a:p>
        </p:txBody>
      </p:sp>
      <p:sp>
        <p:nvSpPr>
          <p:cNvPr id="114691" name="Rectangle 3"/>
          <p:cNvSpPr>
            <a:spLocks noGrp="1" noChangeArrowheads="1"/>
          </p:cNvSpPr>
          <p:nvPr>
            <p:ph sz="quarter" idx="1"/>
          </p:nvPr>
        </p:nvSpPr>
        <p:spPr>
          <a:xfrm>
            <a:off x="612648" y="1600200"/>
            <a:ext cx="8153400" cy="3581400"/>
          </a:xfrm>
        </p:spPr>
        <p:txBody>
          <a:bodyPr/>
          <a:lstStyle/>
          <a:p>
            <a:r>
              <a:rPr lang="vi-VN" dirty="0"/>
              <a:t>Track: thông tin được ghi thành những vòng tròn đồng tâm</a:t>
            </a:r>
          </a:p>
          <a:p>
            <a:pPr lvl="1"/>
            <a:r>
              <a:rPr lang="en-US" dirty="0" err="1"/>
              <a:t>Giữa</a:t>
            </a:r>
            <a:r>
              <a:rPr lang="en-US" dirty="0"/>
              <a:t> </a:t>
            </a:r>
            <a:r>
              <a:rPr lang="en-US" dirty="0" err="1"/>
              <a:t>các</a:t>
            </a:r>
            <a:r>
              <a:rPr lang="en-US" dirty="0"/>
              <a:t> Track </a:t>
            </a:r>
            <a:r>
              <a:rPr lang="en-US" dirty="0" err="1"/>
              <a:t>có</a:t>
            </a:r>
            <a:r>
              <a:rPr lang="en-US" dirty="0"/>
              <a:t> </a:t>
            </a:r>
            <a:r>
              <a:rPr lang="en-US" dirty="0" err="1"/>
              <a:t>khoảng</a:t>
            </a:r>
            <a:r>
              <a:rPr lang="en-US" dirty="0"/>
              <a:t> </a:t>
            </a:r>
            <a:r>
              <a:rPr lang="en-US" dirty="0" err="1"/>
              <a:t>trống</a:t>
            </a:r>
            <a:endParaRPr lang="en-US" dirty="0"/>
          </a:p>
          <a:p>
            <a:pPr lvl="1"/>
            <a:r>
              <a:rPr lang="vi-VN" dirty="0"/>
              <a:t>Giảm khoảng trống giữa các track sẽ tăng dung lượng</a:t>
            </a:r>
          </a:p>
          <a:p>
            <a:pPr lvl="1"/>
            <a:r>
              <a:rPr lang="vi-VN" dirty="0"/>
              <a:t>Số bit trên track là như nhau</a:t>
            </a:r>
          </a:p>
          <a:p>
            <a:pPr lvl="1"/>
            <a:r>
              <a:rPr lang="en-US" dirty="0" err="1"/>
              <a:t>Vận</a:t>
            </a:r>
            <a:r>
              <a:rPr lang="en-US" dirty="0"/>
              <a:t> </a:t>
            </a:r>
            <a:r>
              <a:rPr lang="en-US" dirty="0" err="1"/>
              <a:t>tốc</a:t>
            </a:r>
            <a:r>
              <a:rPr lang="en-US" dirty="0"/>
              <a:t> </a:t>
            </a:r>
            <a:r>
              <a:rPr lang="en-US" dirty="0" err="1"/>
              <a:t>góc</a:t>
            </a:r>
            <a:r>
              <a:rPr lang="en-US" dirty="0"/>
              <a:t> </a:t>
            </a:r>
            <a:r>
              <a:rPr lang="en-US" dirty="0" err="1"/>
              <a:t>là</a:t>
            </a:r>
            <a:r>
              <a:rPr lang="en-US" dirty="0"/>
              <a:t> </a:t>
            </a:r>
            <a:r>
              <a:rPr lang="en-US" dirty="0" err="1"/>
              <a:t>hằng</a:t>
            </a:r>
            <a:r>
              <a:rPr lang="en-US" dirty="0"/>
              <a:t> </a:t>
            </a:r>
            <a:r>
              <a:rPr lang="en-US" dirty="0" err="1"/>
              <a:t>số</a:t>
            </a:r>
            <a:r>
              <a:rPr lang="en-US" dirty="0"/>
              <a:t> </a:t>
            </a:r>
          </a:p>
          <a:p>
            <a:endParaRPr lang="en-US" dirty="0">
              <a:latin typeface="VNI-Times" pitchFamily="2"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normAutofit/>
          </a:bodyPr>
          <a:lstStyle/>
          <a:p>
            <a:r>
              <a:rPr lang="en-GB" dirty="0" err="1"/>
              <a:t>Tổ</a:t>
            </a:r>
            <a:r>
              <a:rPr lang="en-GB" dirty="0"/>
              <a:t> </a:t>
            </a:r>
            <a:r>
              <a:rPr lang="en-GB" dirty="0" err="1"/>
              <a:t>chức</a:t>
            </a:r>
            <a:r>
              <a:rPr lang="en-GB" dirty="0"/>
              <a:t> </a:t>
            </a:r>
            <a:r>
              <a:rPr lang="en-GB" dirty="0" err="1"/>
              <a:t>và</a:t>
            </a:r>
            <a:r>
              <a:rPr lang="en-GB" dirty="0"/>
              <a:t> </a:t>
            </a:r>
            <a:r>
              <a:rPr lang="en-GB" dirty="0" err="1"/>
              <a:t>định</a:t>
            </a:r>
            <a:r>
              <a:rPr lang="en-GB" dirty="0"/>
              <a:t> </a:t>
            </a:r>
            <a:r>
              <a:rPr lang="en-GB" dirty="0" err="1"/>
              <a:t>dạng</a:t>
            </a:r>
            <a:r>
              <a:rPr lang="en-GB" dirty="0"/>
              <a:t> </a:t>
            </a:r>
            <a:r>
              <a:rPr lang="en-GB" dirty="0" err="1"/>
              <a:t>dữ</a:t>
            </a:r>
            <a:r>
              <a:rPr lang="en-GB" dirty="0"/>
              <a:t> </a:t>
            </a:r>
            <a:r>
              <a:rPr lang="en-GB" dirty="0" err="1"/>
              <a:t>liệu</a:t>
            </a:r>
            <a:endParaRPr lang="en-US" dirty="0"/>
          </a:p>
        </p:txBody>
      </p:sp>
      <p:sp>
        <p:nvSpPr>
          <p:cNvPr id="115715" name="Rectangle 3"/>
          <p:cNvSpPr>
            <a:spLocks noGrp="1" noChangeArrowheads="1"/>
          </p:cNvSpPr>
          <p:nvPr>
            <p:ph sz="quarter" idx="1"/>
          </p:nvPr>
        </p:nvSpPr>
        <p:spPr/>
        <p:txBody>
          <a:bodyPr>
            <a:normAutofit/>
          </a:bodyPr>
          <a:lstStyle/>
          <a:p>
            <a:r>
              <a:rPr lang="en-US" dirty="0" err="1"/>
              <a:t>Các</a:t>
            </a:r>
            <a:r>
              <a:rPr lang="en-US" dirty="0"/>
              <a:t> track </a:t>
            </a:r>
            <a:r>
              <a:rPr lang="en-US" dirty="0" err="1"/>
              <a:t>chia</a:t>
            </a:r>
            <a:r>
              <a:rPr lang="en-US" dirty="0"/>
              <a:t> </a:t>
            </a:r>
            <a:r>
              <a:rPr lang="en-US" dirty="0" err="1"/>
              <a:t>làm</a:t>
            </a:r>
            <a:r>
              <a:rPr lang="en-US" dirty="0"/>
              <a:t> </a:t>
            </a:r>
            <a:r>
              <a:rPr lang="en-US" dirty="0" err="1"/>
              <a:t>nhiều</a:t>
            </a:r>
            <a:r>
              <a:rPr lang="en-US" dirty="0"/>
              <a:t> sector</a:t>
            </a:r>
          </a:p>
          <a:p>
            <a:pPr lvl="1"/>
            <a:r>
              <a:rPr lang="en-US" dirty="0" err="1"/>
              <a:t>Thông</a:t>
            </a:r>
            <a:r>
              <a:rPr lang="en-US" dirty="0"/>
              <a:t> </a:t>
            </a:r>
            <a:r>
              <a:rPr lang="en-US" dirty="0" err="1"/>
              <a:t>thường</a:t>
            </a:r>
            <a:r>
              <a:rPr lang="en-US" dirty="0"/>
              <a:t> 100 sector </a:t>
            </a:r>
            <a:r>
              <a:rPr lang="en-US" dirty="0" err="1"/>
              <a:t>trên</a:t>
            </a:r>
            <a:r>
              <a:rPr lang="en-US" dirty="0"/>
              <a:t> 1 track</a:t>
            </a:r>
          </a:p>
          <a:p>
            <a:pPr lvl="1"/>
            <a:r>
              <a:rPr lang="en-US" dirty="0"/>
              <a:t>1 sector </a:t>
            </a:r>
            <a:r>
              <a:rPr lang="en-US" dirty="0" err="1"/>
              <a:t>khoảng</a:t>
            </a:r>
            <a:r>
              <a:rPr lang="en-US" dirty="0"/>
              <a:t> 512 byte, 256 byte, 1024 byte</a:t>
            </a:r>
          </a:p>
          <a:p>
            <a:pPr lvl="1"/>
            <a:r>
              <a:rPr lang="en-US" dirty="0"/>
              <a:t>1 sector </a:t>
            </a:r>
            <a:r>
              <a:rPr lang="en-US" dirty="0" err="1"/>
              <a:t>có</a:t>
            </a:r>
            <a:r>
              <a:rPr lang="en-US" dirty="0"/>
              <a:t> 1 header </a:t>
            </a:r>
            <a:r>
              <a:rPr lang="en-US" dirty="0" err="1"/>
              <a:t>và</a:t>
            </a:r>
            <a:r>
              <a:rPr lang="en-US" dirty="0"/>
              <a:t> 1 trailer (</a:t>
            </a:r>
            <a:r>
              <a:rPr lang="en-US" dirty="0" err="1"/>
              <a:t>dữ</a:t>
            </a:r>
            <a:r>
              <a:rPr lang="en-US" dirty="0"/>
              <a:t> </a:t>
            </a:r>
            <a:r>
              <a:rPr lang="en-US" dirty="0" err="1"/>
              <a:t>liệu</a:t>
            </a:r>
            <a:r>
              <a:rPr lang="en-US" dirty="0"/>
              <a:t> </a:t>
            </a:r>
            <a:r>
              <a:rPr lang="en-US" dirty="0" err="1"/>
              <a:t>dặc</a:t>
            </a:r>
            <a:r>
              <a:rPr lang="en-US" dirty="0"/>
              <a:t> </a:t>
            </a:r>
            <a:r>
              <a:rPr lang="en-US" dirty="0" err="1"/>
              <a:t>biệt</a:t>
            </a:r>
            <a:r>
              <a:rPr lang="en-US" dirty="0"/>
              <a:t>)</a:t>
            </a:r>
          </a:p>
          <a:p>
            <a:r>
              <a:rPr lang="vi-VN" dirty="0"/>
              <a:t>Kích thước khối nhỏ nhất là một sector</a:t>
            </a:r>
          </a:p>
          <a:p>
            <a:r>
              <a:rPr lang="vi-VN" dirty="0"/>
              <a:t>Có thể có hơn 1 sector trên 1 khối</a:t>
            </a:r>
          </a:p>
          <a:p>
            <a:endParaRPr lang="en-US" dirty="0">
              <a:latin typeface="VNI-Times" pitchFamily="2" charset="0"/>
            </a:endParaRPr>
          </a:p>
          <a:p>
            <a:endParaRPr lang="en-US" dirty="0">
              <a:latin typeface="VNI-Times" pitchFamily="2"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err="1"/>
              <a:t>Đĩa</a:t>
            </a:r>
            <a:r>
              <a:rPr lang="en-US" dirty="0"/>
              <a:t> </a:t>
            </a:r>
            <a:r>
              <a:rPr lang="en-US" dirty="0" err="1"/>
              <a:t>từ</a:t>
            </a:r>
            <a:r>
              <a:rPr lang="en-US" dirty="0"/>
              <a:t> (Platter)</a:t>
            </a:r>
          </a:p>
        </p:txBody>
      </p:sp>
      <p:pic>
        <p:nvPicPr>
          <p:cNvPr id="18434" name="Picture 2"/>
          <p:cNvPicPr>
            <a:picLocks noGrp="1" noChangeAspect="1" noChangeArrowheads="1"/>
          </p:cNvPicPr>
          <p:nvPr>
            <p:ph sz="quarter" idx="1"/>
          </p:nvPr>
        </p:nvPicPr>
        <p:blipFill>
          <a:blip r:embed="rId2" cstate="print"/>
          <a:stretch>
            <a:fillRect/>
          </a:stretch>
        </p:blipFill>
        <p:spPr bwMode="auto">
          <a:xfrm>
            <a:off x="1676400" y="1752600"/>
            <a:ext cx="5650893" cy="4829175"/>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đặc</a:t>
            </a:r>
            <a:r>
              <a:rPr lang="en-US" dirty="0"/>
              <a:t> </a:t>
            </a:r>
            <a:r>
              <a:rPr lang="en-US" dirty="0" err="1"/>
              <a:t>tính</a:t>
            </a:r>
            <a:r>
              <a:rPr lang="en-US" dirty="0"/>
              <a:t> </a:t>
            </a:r>
            <a:r>
              <a:rPr lang="en-US" dirty="0" err="1"/>
              <a:t>đĩa</a:t>
            </a:r>
            <a:r>
              <a:rPr lang="en-US" dirty="0"/>
              <a:t> </a:t>
            </a:r>
            <a:r>
              <a:rPr lang="en-US" dirty="0" err="1"/>
              <a:t>từ</a:t>
            </a:r>
            <a:endParaRPr lang="en-US" dirty="0"/>
          </a:p>
        </p:txBody>
      </p:sp>
      <p:sp>
        <p:nvSpPr>
          <p:cNvPr id="3" name="Content Placeholder 2"/>
          <p:cNvSpPr>
            <a:spLocks noGrp="1"/>
          </p:cNvSpPr>
          <p:nvPr>
            <p:ph sz="quarter" idx="1"/>
          </p:nvPr>
        </p:nvSpPr>
        <p:spPr/>
        <p:txBody>
          <a:bodyPr>
            <a:normAutofit fontScale="92500" lnSpcReduction="10000"/>
          </a:bodyPr>
          <a:lstStyle/>
          <a:p>
            <a:r>
              <a:rPr lang="vi-VN" dirty="0"/>
              <a:t>Đầu từ cố định hay đầu từ di động</a:t>
            </a:r>
          </a:p>
          <a:p>
            <a:r>
              <a:rPr lang="vi-VN" dirty="0"/>
              <a:t>Đĩa cố định hay thay đổi</a:t>
            </a:r>
          </a:p>
          <a:p>
            <a:r>
              <a:rPr lang="vi-VN" dirty="0"/>
              <a:t>Một mặt hay hai mặt</a:t>
            </a:r>
          </a:p>
          <a:p>
            <a:r>
              <a:rPr lang="vi-VN" dirty="0"/>
              <a:t>Một đĩa hay nhiều đĩa</a:t>
            </a:r>
          </a:p>
          <a:p>
            <a:r>
              <a:rPr lang="vi-VN" dirty="0"/>
              <a:t>Cơ chế đầu từ</a:t>
            </a:r>
          </a:p>
          <a:p>
            <a:pPr lvl="1"/>
            <a:r>
              <a:rPr lang="vi-VN" dirty="0"/>
              <a:t>Tiếp xúc (đĩa mềm)</a:t>
            </a:r>
          </a:p>
          <a:p>
            <a:pPr lvl="1"/>
            <a:r>
              <a:rPr lang="vi-VN" dirty="0"/>
              <a:t>Không tiếp xúc</a:t>
            </a:r>
            <a:endParaRPr lang="en-US" dirty="0"/>
          </a:p>
          <a:p>
            <a:r>
              <a:rPr lang="en-US" dirty="0" err="1"/>
              <a:t>Thời</a:t>
            </a:r>
            <a:r>
              <a:rPr lang="en-US" dirty="0"/>
              <a:t> </a:t>
            </a:r>
            <a:r>
              <a:rPr lang="en-US" dirty="0" err="1"/>
              <a:t>gian</a:t>
            </a:r>
            <a:r>
              <a:rPr lang="en-US" dirty="0"/>
              <a:t> </a:t>
            </a:r>
            <a:r>
              <a:rPr lang="en-US" dirty="0" err="1"/>
              <a:t>truy</a:t>
            </a:r>
            <a:r>
              <a:rPr lang="en-US" dirty="0"/>
              <a:t> </a:t>
            </a:r>
            <a:r>
              <a:rPr lang="en-US" dirty="0" err="1"/>
              <a:t>cập</a:t>
            </a:r>
            <a:endParaRPr lang="en-US" dirty="0"/>
          </a:p>
          <a:p>
            <a:pPr lvl="1"/>
            <a:r>
              <a:rPr lang="en-US" dirty="0" err="1"/>
              <a:t>Thời</a:t>
            </a:r>
            <a:r>
              <a:rPr lang="en-US" dirty="0"/>
              <a:t> </a:t>
            </a:r>
            <a:r>
              <a:rPr lang="en-US" dirty="0" err="1"/>
              <a:t>gian</a:t>
            </a:r>
            <a:r>
              <a:rPr lang="en-US" dirty="0"/>
              <a:t> </a:t>
            </a:r>
            <a:r>
              <a:rPr lang="en-US" dirty="0" err="1"/>
              <a:t>tìm</a:t>
            </a:r>
            <a:r>
              <a:rPr lang="en-US" dirty="0"/>
              <a:t> </a:t>
            </a:r>
            <a:r>
              <a:rPr lang="en-US" dirty="0" err="1"/>
              <a:t>kiếm</a:t>
            </a:r>
            <a:r>
              <a:rPr lang="en-US" dirty="0"/>
              <a:t> (track)</a:t>
            </a:r>
          </a:p>
          <a:p>
            <a:pPr lvl="1"/>
            <a:r>
              <a:rPr lang="en-US" dirty="0" err="1"/>
              <a:t>Độ</a:t>
            </a:r>
            <a:r>
              <a:rPr lang="en-US" dirty="0"/>
              <a:t> </a:t>
            </a:r>
            <a:r>
              <a:rPr lang="en-US" dirty="0" err="1"/>
              <a:t>trễ</a:t>
            </a:r>
            <a:r>
              <a:rPr lang="en-US" dirty="0"/>
              <a:t> quay (sector)</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Nhiều đĩa (Multiple Platters)</a:t>
            </a:r>
            <a:endParaRPr lang="en-US" dirty="0"/>
          </a:p>
        </p:txBody>
      </p:sp>
      <p:pic>
        <p:nvPicPr>
          <p:cNvPr id="19458" name="Picture 2"/>
          <p:cNvPicPr>
            <a:picLocks noGrp="1" noChangeAspect="1" noChangeArrowheads="1"/>
          </p:cNvPicPr>
          <p:nvPr>
            <p:ph sz="quarter" idx="1"/>
          </p:nvPr>
        </p:nvPicPr>
        <p:blipFill>
          <a:blip r:embed="rId2" cstate="print"/>
          <a:srcRect/>
          <a:stretch>
            <a:fillRect/>
          </a:stretch>
        </p:blipFill>
        <p:spPr bwMode="auto">
          <a:xfrm>
            <a:off x="2438400" y="1778000"/>
            <a:ext cx="3904654" cy="4775200"/>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Cylinders</a:t>
            </a:r>
          </a:p>
        </p:txBody>
      </p:sp>
      <p:pic>
        <p:nvPicPr>
          <p:cNvPr id="20482" name="Picture 2"/>
          <p:cNvPicPr>
            <a:picLocks noGrp="1" noChangeAspect="1" noChangeArrowheads="1"/>
          </p:cNvPicPr>
          <p:nvPr>
            <p:ph sz="quarter" idx="1"/>
          </p:nvPr>
        </p:nvPicPr>
        <p:blipFill>
          <a:blip r:embed="rId2" cstate="print"/>
          <a:stretch>
            <a:fillRect/>
          </a:stretch>
        </p:blipFill>
        <p:spPr bwMode="auto">
          <a:xfrm>
            <a:off x="1828800" y="2695575"/>
            <a:ext cx="5753100" cy="3629025"/>
          </a:xfrm>
          <a:prstGeom prst="rect">
            <a:avLst/>
          </a:prstGeom>
          <a:noFill/>
          <a:ln w="9525">
            <a:noFill/>
            <a:miter lim="800000"/>
            <a:headEnd/>
            <a:tailEnd/>
          </a:ln>
          <a:effectLst/>
        </p:spPr>
      </p:pic>
      <p:sp>
        <p:nvSpPr>
          <p:cNvPr id="5" name="TextBox 4"/>
          <p:cNvSpPr txBox="1"/>
          <p:nvPr/>
        </p:nvSpPr>
        <p:spPr>
          <a:xfrm>
            <a:off x="914400" y="1752600"/>
            <a:ext cx="7696200" cy="830997"/>
          </a:xfrm>
          <a:prstGeom prst="rect">
            <a:avLst/>
          </a:prstGeom>
          <a:noFill/>
        </p:spPr>
        <p:txBody>
          <a:bodyPr wrap="square" rtlCol="0">
            <a:spAutoFit/>
          </a:bodyPr>
          <a:lstStyle/>
          <a:p>
            <a:r>
              <a:rPr lang="en-US" sz="2400" dirty="0" err="1">
                <a:latin typeface="Arial" pitchFamily="34" charset="0"/>
                <a:cs typeface="Arial" pitchFamily="34" charset="0"/>
              </a:rPr>
              <a:t>Đơn</a:t>
            </a:r>
            <a:r>
              <a:rPr lang="en-US" sz="2400" dirty="0">
                <a:latin typeface="Arial" pitchFamily="34" charset="0"/>
                <a:cs typeface="Arial" pitchFamily="34" charset="0"/>
              </a:rPr>
              <a:t> </a:t>
            </a:r>
            <a:r>
              <a:rPr lang="en-US" sz="2400" dirty="0" err="1">
                <a:latin typeface="Arial" pitchFamily="34" charset="0"/>
                <a:cs typeface="Arial" pitchFamily="34" charset="0"/>
              </a:rPr>
              <a:t>vị</a:t>
            </a:r>
            <a:r>
              <a:rPr lang="en-US" sz="2400" dirty="0">
                <a:latin typeface="Arial" pitchFamily="34" charset="0"/>
                <a:cs typeface="Arial" pitchFamily="34" charset="0"/>
              </a:rPr>
              <a:t> </a:t>
            </a:r>
            <a:r>
              <a:rPr lang="en-US" sz="2400" dirty="0" err="1">
                <a:latin typeface="Arial" pitchFamily="34" charset="0"/>
                <a:cs typeface="Arial" pitchFamily="34" charset="0"/>
              </a:rPr>
              <a:t>lưu</a:t>
            </a:r>
            <a:r>
              <a:rPr lang="en-US" sz="2400" dirty="0">
                <a:latin typeface="Arial" pitchFamily="34" charset="0"/>
                <a:cs typeface="Arial" pitchFamily="34" charset="0"/>
              </a:rPr>
              <a:t> </a:t>
            </a:r>
            <a:r>
              <a:rPr lang="en-US" sz="2400" dirty="0" err="1">
                <a:latin typeface="Arial" pitchFamily="34" charset="0"/>
                <a:cs typeface="Arial" pitchFamily="34" charset="0"/>
              </a:rPr>
              <a:t>trữ</a:t>
            </a:r>
            <a:r>
              <a:rPr lang="en-US" sz="2400" dirty="0">
                <a:latin typeface="Arial" pitchFamily="34" charset="0"/>
                <a:cs typeface="Arial" pitchFamily="34" charset="0"/>
              </a:rPr>
              <a:t> </a:t>
            </a:r>
            <a:r>
              <a:rPr lang="en-US" sz="2400" dirty="0" err="1">
                <a:latin typeface="Arial" pitchFamily="34" charset="0"/>
                <a:cs typeface="Arial" pitchFamily="34" charset="0"/>
              </a:rPr>
              <a:t>bao</a:t>
            </a:r>
            <a:r>
              <a:rPr lang="en-US" sz="2400" dirty="0">
                <a:latin typeface="Arial" pitchFamily="34" charset="0"/>
                <a:cs typeface="Arial" pitchFamily="34" charset="0"/>
              </a:rPr>
              <a:t> </a:t>
            </a:r>
            <a:r>
              <a:rPr lang="en-US" sz="2400" dirty="0" err="1">
                <a:latin typeface="Arial" pitchFamily="34" charset="0"/>
                <a:cs typeface="Arial" pitchFamily="34" charset="0"/>
              </a:rPr>
              <a:t>gồm</a:t>
            </a:r>
            <a:r>
              <a:rPr lang="en-US" sz="2400" dirty="0">
                <a:latin typeface="Arial" pitchFamily="34" charset="0"/>
                <a:cs typeface="Arial" pitchFamily="34" charset="0"/>
              </a:rPr>
              <a:t> </a:t>
            </a:r>
            <a:r>
              <a:rPr lang="en-US" sz="2400" dirty="0" err="1">
                <a:latin typeface="Arial" pitchFamily="34" charset="0"/>
                <a:cs typeface="Arial" pitchFamily="34" charset="0"/>
              </a:rPr>
              <a:t>một</a:t>
            </a:r>
            <a:r>
              <a:rPr lang="en-US" sz="2400" dirty="0">
                <a:latin typeface="Arial" pitchFamily="34" charset="0"/>
                <a:cs typeface="Arial" pitchFamily="34" charset="0"/>
              </a:rPr>
              <a:t> </a:t>
            </a:r>
            <a:r>
              <a:rPr lang="en-US" sz="2400" dirty="0" err="1">
                <a:latin typeface="Arial" pitchFamily="34" charset="0"/>
                <a:cs typeface="Arial" pitchFamily="34" charset="0"/>
              </a:rPr>
              <a:t>tập</a:t>
            </a:r>
            <a:r>
              <a:rPr lang="en-US" sz="2400" dirty="0">
                <a:latin typeface="Arial" pitchFamily="34" charset="0"/>
                <a:cs typeface="Arial" pitchFamily="34" charset="0"/>
              </a:rPr>
              <a:t> </a:t>
            </a:r>
            <a:r>
              <a:rPr lang="en-US" sz="2400" dirty="0" err="1">
                <a:latin typeface="Arial" pitchFamily="34" charset="0"/>
                <a:cs typeface="Arial" pitchFamily="34" charset="0"/>
              </a:rPr>
              <a:t>các</a:t>
            </a:r>
            <a:r>
              <a:rPr lang="en-US" sz="2400" dirty="0">
                <a:latin typeface="Arial" pitchFamily="34" charset="0"/>
                <a:cs typeface="Arial" pitchFamily="34" charset="0"/>
              </a:rPr>
              <a:t> </a:t>
            </a:r>
            <a:r>
              <a:rPr lang="en-US" sz="2400" dirty="0" err="1">
                <a:latin typeface="Arial" pitchFamily="34" charset="0"/>
                <a:cs typeface="Arial" pitchFamily="34" charset="0"/>
              </a:rPr>
              <a:t>rãnh</a:t>
            </a:r>
            <a:r>
              <a:rPr lang="en-US" sz="2400" dirty="0">
                <a:latin typeface="Arial" pitchFamily="34" charset="0"/>
                <a:cs typeface="Arial" pitchFamily="34" charset="0"/>
              </a:rPr>
              <a:t> </a:t>
            </a:r>
            <a:r>
              <a:rPr lang="en-US" sz="2400" dirty="0" err="1">
                <a:latin typeface="Arial" pitchFamily="34" charset="0"/>
                <a:cs typeface="Arial" pitchFamily="34" charset="0"/>
              </a:rPr>
              <a:t>ghi</a:t>
            </a:r>
            <a:r>
              <a:rPr lang="en-US" sz="2400" dirty="0">
                <a:latin typeface="Arial" pitchFamily="34" charset="0"/>
                <a:cs typeface="Arial" pitchFamily="34" charset="0"/>
              </a:rPr>
              <a:t> </a:t>
            </a:r>
            <a:r>
              <a:rPr lang="en-US" sz="2400" dirty="0" err="1">
                <a:latin typeface="Arial" pitchFamily="34" charset="0"/>
                <a:cs typeface="Arial" pitchFamily="34" charset="0"/>
              </a:rPr>
              <a:t>chiếm</a:t>
            </a:r>
            <a:r>
              <a:rPr lang="en-US" sz="2400" dirty="0">
                <a:latin typeface="Arial" pitchFamily="34" charset="0"/>
                <a:cs typeface="Arial" pitchFamily="34" charset="0"/>
              </a:rPr>
              <a:t> </a:t>
            </a:r>
            <a:r>
              <a:rPr lang="en-US" sz="2400" dirty="0" err="1">
                <a:latin typeface="Arial" pitchFamily="34" charset="0"/>
                <a:cs typeface="Arial" pitchFamily="34" charset="0"/>
              </a:rPr>
              <a:t>cùng</a:t>
            </a:r>
            <a:r>
              <a:rPr lang="en-US" sz="2400" dirty="0">
                <a:latin typeface="Arial" pitchFamily="34" charset="0"/>
                <a:cs typeface="Arial" pitchFamily="34" charset="0"/>
              </a:rPr>
              <a:t> </a:t>
            </a:r>
            <a:r>
              <a:rPr lang="en-US" sz="2400" dirty="0" err="1">
                <a:latin typeface="Arial" pitchFamily="34" charset="0"/>
                <a:cs typeface="Arial" pitchFamily="34" charset="0"/>
              </a:rPr>
              <a:t>vị</a:t>
            </a:r>
            <a:r>
              <a:rPr lang="en-US" sz="2400" dirty="0">
                <a:latin typeface="Arial" pitchFamily="34" charset="0"/>
                <a:cs typeface="Arial" pitchFamily="34" charset="0"/>
              </a:rPr>
              <a:t> </a:t>
            </a:r>
            <a:r>
              <a:rPr lang="en-US" sz="2400" dirty="0" err="1">
                <a:latin typeface="Arial" pitchFamily="34" charset="0"/>
                <a:cs typeface="Arial" pitchFamily="34" charset="0"/>
              </a:rPr>
              <a:t>trí</a:t>
            </a:r>
            <a:endParaRPr lang="en-US" sz="2400" dirty="0">
              <a:latin typeface="Arial" pitchFamily="34" charset="0"/>
              <a:cs typeface="Arial"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Điã</a:t>
            </a:r>
            <a:r>
              <a:rPr lang="en-US" dirty="0"/>
              <a:t> </a:t>
            </a:r>
            <a:r>
              <a:rPr lang="en-US" dirty="0" err="1"/>
              <a:t>mềm</a:t>
            </a:r>
            <a:endParaRPr lang="en-US" dirty="0"/>
          </a:p>
        </p:txBody>
      </p:sp>
      <p:sp>
        <p:nvSpPr>
          <p:cNvPr id="3" name="Content Placeholder 2"/>
          <p:cNvSpPr>
            <a:spLocks noGrp="1"/>
          </p:cNvSpPr>
          <p:nvPr>
            <p:ph sz="quarter" idx="1"/>
          </p:nvPr>
        </p:nvSpPr>
        <p:spPr/>
        <p:txBody>
          <a:bodyPr/>
          <a:lstStyle/>
          <a:p>
            <a:r>
              <a:rPr lang="vi-VN" dirty="0"/>
              <a:t>8”, 5.25”, 3.5”</a:t>
            </a:r>
          </a:p>
          <a:p>
            <a:r>
              <a:rPr lang="vi-VN" dirty="0"/>
              <a:t>Dung lượng nhỏ: chỉ tới 1.44 MB</a:t>
            </a:r>
          </a:p>
          <a:p>
            <a:r>
              <a:rPr lang="vi-VN" dirty="0"/>
              <a:t>Tốc độ chậm (360 rpm)</a:t>
            </a:r>
          </a:p>
          <a:p>
            <a:r>
              <a:rPr lang="vi-VN" dirty="0"/>
              <a:t>Thông dụng</a:t>
            </a:r>
          </a:p>
          <a:p>
            <a:r>
              <a:rPr lang="vi-VN" dirty="0"/>
              <a:t>Rẻ tiền</a:t>
            </a:r>
          </a:p>
          <a:p>
            <a:r>
              <a:rPr lang="vi-VN" dirty="0"/>
              <a:t>Tương lai có thể không dùng nữa?</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Đĩa</a:t>
            </a:r>
            <a:r>
              <a:rPr lang="en-US" dirty="0"/>
              <a:t> </a:t>
            </a:r>
            <a:r>
              <a:rPr lang="en-US" dirty="0" err="1"/>
              <a:t>cứng</a:t>
            </a:r>
            <a:endParaRPr lang="en-US" dirty="0"/>
          </a:p>
        </p:txBody>
      </p:sp>
      <p:sp>
        <p:nvSpPr>
          <p:cNvPr id="3" name="Content Placeholder 2"/>
          <p:cNvSpPr>
            <a:spLocks noGrp="1"/>
          </p:cNvSpPr>
          <p:nvPr>
            <p:ph sz="quarter" idx="1"/>
          </p:nvPr>
        </p:nvSpPr>
        <p:spPr/>
        <p:txBody>
          <a:bodyPr/>
          <a:lstStyle/>
          <a:p>
            <a:r>
              <a:rPr lang="vi-VN" dirty="0"/>
              <a:t>Một hoặc nhiều đĩa</a:t>
            </a:r>
          </a:p>
          <a:p>
            <a:r>
              <a:rPr lang="vi-VN" dirty="0"/>
              <a:t>Thông dụng</a:t>
            </a:r>
          </a:p>
          <a:p>
            <a:r>
              <a:rPr lang="vi-VN" dirty="0"/>
              <a:t>Dung lượng tăng lên rất nhanh</a:t>
            </a:r>
          </a:p>
          <a:p>
            <a:pPr lvl="1"/>
            <a:r>
              <a:rPr lang="vi-VN" dirty="0"/>
              <a:t>1993: 200 MB</a:t>
            </a:r>
          </a:p>
          <a:p>
            <a:pPr lvl="1"/>
            <a:r>
              <a:rPr lang="vi-VN" dirty="0"/>
              <a:t>2005: 30 GB, 40 GB, 80 GB, 120 GB …</a:t>
            </a:r>
          </a:p>
          <a:p>
            <a:r>
              <a:rPr lang="vi-VN" dirty="0"/>
              <a:t>Tốc độ đọc/ghi nhanh (5400, 7200 rpm)</a:t>
            </a:r>
          </a:p>
          <a:p>
            <a:r>
              <a:rPr lang="vi-VN" dirty="0"/>
              <a:t>Rẻ tiền</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RAID</a:t>
            </a:r>
          </a:p>
        </p:txBody>
      </p:sp>
      <p:sp>
        <p:nvSpPr>
          <p:cNvPr id="3" name="Content Placeholder 2"/>
          <p:cNvSpPr>
            <a:spLocks noGrp="1"/>
          </p:cNvSpPr>
          <p:nvPr>
            <p:ph sz="quarter" idx="1"/>
          </p:nvPr>
        </p:nvSpPr>
        <p:spPr/>
        <p:txBody>
          <a:bodyPr>
            <a:normAutofit lnSpcReduction="10000"/>
          </a:bodyPr>
          <a:lstStyle/>
          <a:p>
            <a:r>
              <a:rPr lang="vi-VN" dirty="0"/>
              <a:t>Redundant Array of Independent Disks</a:t>
            </a:r>
          </a:p>
          <a:p>
            <a:r>
              <a:rPr lang="vi-VN" dirty="0"/>
              <a:t>Tập các đĩa cứng vật lý được HĐH coi như một ổ</a:t>
            </a:r>
            <a:r>
              <a:rPr lang="en-US" dirty="0"/>
              <a:t> </a:t>
            </a:r>
            <a:r>
              <a:rPr lang="vi-VN" dirty="0"/>
              <a:t>logic duy nhất</a:t>
            </a:r>
          </a:p>
          <a:p>
            <a:r>
              <a:rPr lang="vi-VN" dirty="0"/>
              <a:t>Dữ liệu được lưu trữ phân tán trên các ổ đĩa vật lý</a:t>
            </a:r>
          </a:p>
          <a:p>
            <a:r>
              <a:rPr lang="vi-VN" dirty="0"/>
              <a:t>Có thể sử dụng dung lượng dư thừa để lưu trữ các thông tin kiểm tra chẵn lẻ, cho phép khôi phục lại</a:t>
            </a:r>
            <a:r>
              <a:rPr lang="en-US" dirty="0"/>
              <a:t> </a:t>
            </a:r>
            <a:r>
              <a:rPr lang="vi-VN" dirty="0"/>
              <a:t>thông tin trong trường hợp đĩa bị hỏng</a:t>
            </a:r>
          </a:p>
          <a:p>
            <a:r>
              <a:rPr lang="en-US" dirty="0"/>
              <a:t>7</a:t>
            </a:r>
            <a:r>
              <a:rPr lang="vi-VN" dirty="0"/>
              <a:t> loại phổ biến (RAID 0-</a:t>
            </a:r>
            <a:r>
              <a:rPr lang="en-US" dirty="0"/>
              <a:t>6</a:t>
            </a:r>
            <a:r>
              <a:rPr lang="vi-VN" dirty="0"/>
              <a:t>)</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RAID 0</a:t>
            </a:r>
          </a:p>
        </p:txBody>
      </p:sp>
      <p:sp>
        <p:nvSpPr>
          <p:cNvPr id="21507" name="Rectangle 3"/>
          <p:cNvSpPr>
            <a:spLocks noGrp="1" noChangeArrowheads="1"/>
          </p:cNvSpPr>
          <p:nvPr>
            <p:ph sz="quarter" idx="1"/>
          </p:nvPr>
        </p:nvSpPr>
        <p:spPr>
          <a:xfrm>
            <a:off x="457200" y="1524000"/>
            <a:ext cx="8229600" cy="2568209"/>
          </a:xfrm>
        </p:spPr>
        <p:txBody>
          <a:bodyPr>
            <a:normAutofit fontScale="85000" lnSpcReduction="20000"/>
          </a:bodyPr>
          <a:lstStyle/>
          <a:p>
            <a:r>
              <a:rPr lang="en-US" dirty="0" err="1"/>
              <a:t>Không</a:t>
            </a:r>
            <a:r>
              <a:rPr lang="en-US" dirty="0"/>
              <a:t> </a:t>
            </a:r>
            <a:r>
              <a:rPr lang="en-US" dirty="0" err="1"/>
              <a:t>dư</a:t>
            </a:r>
            <a:r>
              <a:rPr lang="en-US" dirty="0"/>
              <a:t> </a:t>
            </a:r>
            <a:r>
              <a:rPr lang="en-US" dirty="0" err="1"/>
              <a:t>thừa</a:t>
            </a:r>
            <a:endParaRPr lang="en-US" dirty="0"/>
          </a:p>
          <a:p>
            <a:r>
              <a:rPr lang="en-US" dirty="0" err="1"/>
              <a:t>Phân</a:t>
            </a:r>
            <a:r>
              <a:rPr lang="en-US" dirty="0"/>
              <a:t> </a:t>
            </a:r>
            <a:r>
              <a:rPr lang="en-US" dirty="0" err="1"/>
              <a:t>chia</a:t>
            </a:r>
            <a:r>
              <a:rPr lang="en-US" dirty="0"/>
              <a:t> </a:t>
            </a:r>
            <a:r>
              <a:rPr lang="en-US" dirty="0" err="1"/>
              <a:t>đều</a:t>
            </a:r>
            <a:r>
              <a:rPr lang="en-US" dirty="0"/>
              <a:t> </a:t>
            </a:r>
            <a:r>
              <a:rPr lang="en-US" dirty="0" err="1"/>
              <a:t>dữ</a:t>
            </a:r>
            <a:r>
              <a:rPr lang="en-US" dirty="0"/>
              <a:t> </a:t>
            </a:r>
            <a:r>
              <a:rPr lang="en-US" dirty="0" err="1"/>
              <a:t>liệu</a:t>
            </a:r>
            <a:r>
              <a:rPr lang="en-US" dirty="0"/>
              <a:t> </a:t>
            </a:r>
            <a:r>
              <a:rPr lang="en-US" dirty="0" err="1"/>
              <a:t>đến</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đĩa</a:t>
            </a:r>
            <a:endParaRPr lang="en-US" dirty="0"/>
          </a:p>
          <a:p>
            <a:pPr lvl="1"/>
            <a:r>
              <a:rPr lang="en-US" dirty="0"/>
              <a:t>Round Robin</a:t>
            </a:r>
          </a:p>
          <a:p>
            <a:r>
              <a:rPr lang="en-US" dirty="0" err="1"/>
              <a:t>Tăng</a:t>
            </a:r>
            <a:r>
              <a:rPr lang="en-US" dirty="0"/>
              <a:t> </a:t>
            </a:r>
            <a:r>
              <a:rPr lang="en-US" dirty="0" err="1"/>
              <a:t>tốc</a:t>
            </a:r>
            <a:r>
              <a:rPr lang="en-US" dirty="0"/>
              <a:t> </a:t>
            </a:r>
            <a:r>
              <a:rPr lang="en-US" dirty="0" err="1"/>
              <a:t>độ</a:t>
            </a:r>
            <a:r>
              <a:rPr lang="en-US" dirty="0"/>
              <a:t> </a:t>
            </a:r>
            <a:r>
              <a:rPr lang="en-US" dirty="0" err="1"/>
              <a:t>truy</a:t>
            </a:r>
            <a:r>
              <a:rPr lang="en-US" dirty="0"/>
              <a:t> </a:t>
            </a:r>
            <a:r>
              <a:rPr lang="en-US" dirty="0" err="1"/>
              <a:t>xuất</a:t>
            </a:r>
            <a:r>
              <a:rPr lang="en-US" dirty="0"/>
              <a:t> </a:t>
            </a:r>
            <a:r>
              <a:rPr lang="en-US" dirty="0" err="1"/>
              <a:t>dữ</a:t>
            </a:r>
            <a:r>
              <a:rPr lang="en-US" dirty="0"/>
              <a:t> </a:t>
            </a:r>
            <a:r>
              <a:rPr lang="en-US" dirty="0" err="1"/>
              <a:t>liệu</a:t>
            </a:r>
            <a:endParaRPr lang="en-US" dirty="0"/>
          </a:p>
          <a:p>
            <a:pPr lvl="1"/>
            <a:r>
              <a:rPr lang="en-US" dirty="0" err="1"/>
              <a:t>Các</a:t>
            </a:r>
            <a:r>
              <a:rPr lang="en-US" dirty="0"/>
              <a:t> </a:t>
            </a:r>
            <a:r>
              <a:rPr lang="en-US" dirty="0" err="1"/>
              <a:t>nhu</a:t>
            </a:r>
            <a:r>
              <a:rPr lang="en-US" dirty="0"/>
              <a:t> </a:t>
            </a:r>
            <a:r>
              <a:rPr lang="en-US" dirty="0" err="1"/>
              <a:t>cầu</a:t>
            </a:r>
            <a:r>
              <a:rPr lang="en-US" dirty="0"/>
              <a:t> </a:t>
            </a:r>
            <a:r>
              <a:rPr lang="en-US" dirty="0" err="1"/>
              <a:t>về</a:t>
            </a:r>
            <a:r>
              <a:rPr lang="en-US" dirty="0"/>
              <a:t> </a:t>
            </a:r>
            <a:r>
              <a:rPr lang="en-US" dirty="0" err="1"/>
              <a:t>dữ</a:t>
            </a:r>
            <a:r>
              <a:rPr lang="en-US" dirty="0"/>
              <a:t> </a:t>
            </a:r>
            <a:r>
              <a:rPr lang="en-US" dirty="0" err="1"/>
              <a:t>liệu</a:t>
            </a:r>
            <a:r>
              <a:rPr lang="en-US" dirty="0"/>
              <a:t> </a:t>
            </a:r>
            <a:r>
              <a:rPr lang="en-US" dirty="0" err="1"/>
              <a:t>có</a:t>
            </a:r>
            <a:r>
              <a:rPr lang="en-US" dirty="0"/>
              <a:t> </a:t>
            </a:r>
            <a:r>
              <a:rPr lang="en-US" dirty="0" err="1"/>
              <a:t>thể</a:t>
            </a:r>
            <a:r>
              <a:rPr lang="en-US" dirty="0"/>
              <a:t> </a:t>
            </a:r>
            <a:r>
              <a:rPr lang="en-US" dirty="0" err="1"/>
              <a:t>không</a:t>
            </a:r>
            <a:r>
              <a:rPr lang="en-US" dirty="0"/>
              <a:t> </a:t>
            </a:r>
            <a:r>
              <a:rPr lang="en-US" dirty="0" err="1"/>
              <a:t>nằm</a:t>
            </a:r>
            <a:r>
              <a:rPr lang="en-US" dirty="0"/>
              <a:t> </a:t>
            </a:r>
            <a:r>
              <a:rPr lang="en-US" dirty="0" err="1"/>
              <a:t>chung</a:t>
            </a:r>
            <a:r>
              <a:rPr lang="en-US" dirty="0"/>
              <a:t> </a:t>
            </a:r>
            <a:r>
              <a:rPr lang="en-US" dirty="0" err="1"/>
              <a:t>đĩa</a:t>
            </a:r>
            <a:endParaRPr lang="en-US" dirty="0"/>
          </a:p>
          <a:p>
            <a:pPr lvl="1"/>
            <a:r>
              <a:rPr lang="en-US" dirty="0" err="1"/>
              <a:t>Dữ</a:t>
            </a:r>
            <a:r>
              <a:rPr lang="en-US" dirty="0"/>
              <a:t> </a:t>
            </a:r>
            <a:r>
              <a:rPr lang="en-US" dirty="0" err="1"/>
              <a:t>liệu</a:t>
            </a:r>
            <a:r>
              <a:rPr lang="en-US" dirty="0"/>
              <a:t> </a:t>
            </a:r>
            <a:r>
              <a:rPr lang="en-US" dirty="0" err="1"/>
              <a:t>trên</a:t>
            </a:r>
            <a:r>
              <a:rPr lang="en-US" dirty="0"/>
              <a:t> </a:t>
            </a:r>
            <a:r>
              <a:rPr lang="en-US" dirty="0" err="1"/>
              <a:t>các</a:t>
            </a:r>
            <a:r>
              <a:rPr lang="en-US" dirty="0"/>
              <a:t> </a:t>
            </a:r>
            <a:r>
              <a:rPr lang="en-US" dirty="0" err="1"/>
              <a:t>đĩa</a:t>
            </a:r>
            <a:r>
              <a:rPr lang="en-US" dirty="0"/>
              <a:t> </a:t>
            </a:r>
            <a:r>
              <a:rPr lang="en-US" dirty="0" err="1"/>
              <a:t>được</a:t>
            </a:r>
            <a:r>
              <a:rPr lang="en-US" dirty="0"/>
              <a:t> </a:t>
            </a:r>
            <a:r>
              <a:rPr lang="en-US" dirty="0" err="1"/>
              <a:t>tìm</a:t>
            </a:r>
            <a:r>
              <a:rPr lang="en-US" dirty="0"/>
              <a:t> </a:t>
            </a:r>
            <a:r>
              <a:rPr lang="en-US" dirty="0" err="1"/>
              <a:t>kiếm</a:t>
            </a:r>
            <a:r>
              <a:rPr lang="en-US" dirty="0"/>
              <a:t> </a:t>
            </a:r>
            <a:r>
              <a:rPr lang="en-US" dirty="0" err="1"/>
              <a:t>đồng</a:t>
            </a:r>
            <a:r>
              <a:rPr lang="en-US" dirty="0"/>
              <a:t> </a:t>
            </a:r>
            <a:r>
              <a:rPr lang="en-US" dirty="0" err="1"/>
              <a:t>thời</a:t>
            </a:r>
            <a:endParaRPr lang="en-US" dirty="0"/>
          </a:p>
          <a:p>
            <a:pPr lvl="1"/>
            <a:r>
              <a:rPr lang="en-US" dirty="0" err="1"/>
              <a:t>Tập</a:t>
            </a:r>
            <a:r>
              <a:rPr lang="en-US" dirty="0"/>
              <a:t> </a:t>
            </a:r>
            <a:r>
              <a:rPr lang="en-US" dirty="0" err="1"/>
              <a:t>các</a:t>
            </a:r>
            <a:r>
              <a:rPr lang="en-US" dirty="0"/>
              <a:t> </a:t>
            </a:r>
            <a:r>
              <a:rPr lang="en-US" dirty="0" err="1"/>
              <a:t>dữ</a:t>
            </a:r>
            <a:r>
              <a:rPr lang="en-US" dirty="0"/>
              <a:t> </a:t>
            </a:r>
            <a:r>
              <a:rPr lang="en-US" dirty="0" err="1"/>
              <a:t>liệu</a:t>
            </a:r>
            <a:r>
              <a:rPr lang="en-US" dirty="0"/>
              <a:t> </a:t>
            </a:r>
            <a:r>
              <a:rPr lang="en-US" dirty="0" err="1"/>
              <a:t>tương</a:t>
            </a:r>
            <a:r>
              <a:rPr lang="en-US" dirty="0"/>
              <a:t> </a:t>
            </a:r>
            <a:r>
              <a:rPr lang="en-US" dirty="0" err="1"/>
              <a:t>tự</a:t>
            </a:r>
            <a:r>
              <a:rPr lang="en-US" dirty="0"/>
              <a:t> </a:t>
            </a:r>
            <a:r>
              <a:rPr lang="en-US" dirty="0" err="1"/>
              <a:t>nhau</a:t>
            </a:r>
            <a:r>
              <a:rPr lang="en-US" dirty="0"/>
              <a:t> </a:t>
            </a:r>
            <a:r>
              <a:rPr lang="en-US" dirty="0" err="1"/>
              <a:t>được</a:t>
            </a:r>
            <a:r>
              <a:rPr lang="en-US" dirty="0"/>
              <a:t> </a:t>
            </a:r>
            <a:r>
              <a:rPr lang="en-US" dirty="0" err="1"/>
              <a:t>phân</a:t>
            </a:r>
            <a:r>
              <a:rPr lang="en-US" dirty="0"/>
              <a:t> </a:t>
            </a:r>
            <a:r>
              <a:rPr lang="en-US" dirty="0" err="1"/>
              <a:t>chia</a:t>
            </a:r>
            <a:r>
              <a:rPr lang="en-US" dirty="0"/>
              <a:t> </a:t>
            </a:r>
            <a:r>
              <a:rPr lang="en-US" dirty="0" err="1"/>
              <a:t>đến</a:t>
            </a:r>
            <a:r>
              <a:rPr lang="en-US" dirty="0"/>
              <a:t> </a:t>
            </a:r>
            <a:r>
              <a:rPr lang="en-US" dirty="0" err="1"/>
              <a:t>nhiều</a:t>
            </a:r>
            <a:r>
              <a:rPr lang="en-US" dirty="0"/>
              <a:t> </a:t>
            </a:r>
            <a:r>
              <a:rPr lang="en-US" dirty="0" err="1"/>
              <a:t>đĩa</a:t>
            </a:r>
            <a:endParaRPr lang="en-US" dirty="0"/>
          </a:p>
          <a:p>
            <a:endParaRPr lang="en-US" dirty="0"/>
          </a:p>
        </p:txBody>
      </p:sp>
      <p:pic>
        <p:nvPicPr>
          <p:cNvPr id="4" name="Picture 5"/>
          <p:cNvPicPr>
            <a:picLocks noChangeAspect="1" noChangeArrowheads="1"/>
          </p:cNvPicPr>
          <p:nvPr/>
        </p:nvPicPr>
        <p:blipFill>
          <a:blip r:embed="rId3" cstate="print"/>
          <a:srcRect/>
          <a:stretch>
            <a:fillRect/>
          </a:stretch>
        </p:blipFill>
        <p:spPr bwMode="auto">
          <a:xfrm>
            <a:off x="1295400" y="3886200"/>
            <a:ext cx="6953250" cy="2886075"/>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RAID 1</a:t>
            </a:r>
          </a:p>
        </p:txBody>
      </p:sp>
      <p:sp>
        <p:nvSpPr>
          <p:cNvPr id="22531" name="Rectangle 3"/>
          <p:cNvSpPr>
            <a:spLocks noGrp="1" noChangeArrowheads="1"/>
          </p:cNvSpPr>
          <p:nvPr>
            <p:ph sz="quarter" idx="1"/>
          </p:nvPr>
        </p:nvSpPr>
        <p:spPr>
          <a:xfrm>
            <a:off x="457200" y="1600200"/>
            <a:ext cx="8178800" cy="2438400"/>
          </a:xfrm>
        </p:spPr>
        <p:txBody>
          <a:bodyPr>
            <a:normAutofit fontScale="62500" lnSpcReduction="20000"/>
          </a:bodyPr>
          <a:lstStyle/>
          <a:p>
            <a:r>
              <a:rPr lang="en-US" dirty="0" err="1"/>
              <a:t>Các</a:t>
            </a:r>
            <a:r>
              <a:rPr lang="en-US" dirty="0"/>
              <a:t> </a:t>
            </a:r>
            <a:r>
              <a:rPr lang="en-US" dirty="0" err="1"/>
              <a:t>đĩa</a:t>
            </a:r>
            <a:r>
              <a:rPr lang="en-US" dirty="0"/>
              <a:t> </a:t>
            </a:r>
            <a:r>
              <a:rPr lang="en-US" dirty="0" err="1"/>
              <a:t>được</a:t>
            </a:r>
            <a:r>
              <a:rPr lang="en-US" dirty="0"/>
              <a:t> </a:t>
            </a:r>
            <a:r>
              <a:rPr lang="en-US" dirty="0" err="1"/>
              <a:t>nhân</a:t>
            </a:r>
            <a:r>
              <a:rPr lang="en-US" dirty="0"/>
              <a:t> </a:t>
            </a:r>
            <a:r>
              <a:rPr lang="en-US" dirty="0" err="1"/>
              <a:t>đội</a:t>
            </a:r>
            <a:endParaRPr lang="en-US" dirty="0"/>
          </a:p>
          <a:p>
            <a:r>
              <a:rPr lang="en-US" dirty="0" err="1"/>
              <a:t>Dữ</a:t>
            </a:r>
            <a:r>
              <a:rPr lang="en-US" dirty="0"/>
              <a:t> </a:t>
            </a:r>
            <a:r>
              <a:rPr lang="en-US" dirty="0" err="1"/>
              <a:t>liệu</a:t>
            </a:r>
            <a:r>
              <a:rPr lang="en-US" dirty="0"/>
              <a:t> </a:t>
            </a:r>
            <a:r>
              <a:rPr lang="en-US" dirty="0" err="1"/>
              <a:t>được</a:t>
            </a:r>
            <a:r>
              <a:rPr lang="en-US" dirty="0"/>
              <a:t> </a:t>
            </a:r>
            <a:r>
              <a:rPr lang="en-US" dirty="0" err="1"/>
              <a:t>phân</a:t>
            </a:r>
            <a:r>
              <a:rPr lang="en-US" dirty="0"/>
              <a:t> </a:t>
            </a:r>
            <a:r>
              <a:rPr lang="en-US" dirty="0" err="1"/>
              <a:t>chia</a:t>
            </a:r>
            <a:r>
              <a:rPr lang="en-US" dirty="0"/>
              <a:t> </a:t>
            </a:r>
            <a:r>
              <a:rPr lang="en-US" dirty="0" err="1"/>
              <a:t>đều</a:t>
            </a:r>
            <a:r>
              <a:rPr lang="en-US" dirty="0"/>
              <a:t> </a:t>
            </a:r>
            <a:r>
              <a:rPr lang="en-US" dirty="0" err="1"/>
              <a:t>đến</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đĩa</a:t>
            </a:r>
            <a:r>
              <a:rPr lang="en-US" dirty="0"/>
              <a:t>. 2 </a:t>
            </a:r>
            <a:r>
              <a:rPr lang="en-US" dirty="0" err="1"/>
              <a:t>bản</a:t>
            </a:r>
            <a:r>
              <a:rPr lang="en-US" dirty="0"/>
              <a:t> </a:t>
            </a:r>
            <a:r>
              <a:rPr lang="en-US" dirty="0" err="1"/>
              <a:t>giống</a:t>
            </a:r>
            <a:r>
              <a:rPr lang="en-US" dirty="0"/>
              <a:t> </a:t>
            </a:r>
            <a:r>
              <a:rPr lang="en-US" dirty="0" err="1"/>
              <a:t>nhau</a:t>
            </a:r>
            <a:r>
              <a:rPr lang="en-US" dirty="0"/>
              <a:t> </a:t>
            </a:r>
            <a:r>
              <a:rPr lang="en-US" dirty="0" err="1"/>
              <a:t>của</a:t>
            </a:r>
            <a:r>
              <a:rPr lang="en-US" dirty="0"/>
              <a:t> </a:t>
            </a:r>
            <a:r>
              <a:rPr lang="en-US" dirty="0" err="1"/>
              <a:t>cùng</a:t>
            </a:r>
            <a:r>
              <a:rPr lang="en-US" dirty="0"/>
              <a:t> 1 </a:t>
            </a:r>
            <a:r>
              <a:rPr lang="en-US" dirty="0" err="1"/>
              <a:t>dữ</a:t>
            </a:r>
            <a:r>
              <a:rPr lang="en-US" dirty="0"/>
              <a:t> </a:t>
            </a:r>
            <a:r>
              <a:rPr lang="en-US" dirty="0" err="1"/>
              <a:t>liệu</a:t>
            </a:r>
            <a:r>
              <a:rPr lang="en-US" dirty="0"/>
              <a:t> </a:t>
            </a:r>
            <a:r>
              <a:rPr lang="en-US" dirty="0" err="1"/>
              <a:t>được</a:t>
            </a:r>
            <a:r>
              <a:rPr lang="en-US" dirty="0"/>
              <a:t> </a:t>
            </a:r>
            <a:r>
              <a:rPr lang="en-US" dirty="0" err="1"/>
              <a:t>lưu</a:t>
            </a:r>
            <a:r>
              <a:rPr lang="en-US" dirty="0"/>
              <a:t> </a:t>
            </a:r>
            <a:r>
              <a:rPr lang="en-US" dirty="0" err="1"/>
              <a:t>trên</a:t>
            </a:r>
            <a:r>
              <a:rPr lang="en-US" dirty="0"/>
              <a:t> 2 </a:t>
            </a:r>
            <a:r>
              <a:rPr lang="en-US" dirty="0" err="1"/>
              <a:t>đĩa</a:t>
            </a:r>
            <a:endParaRPr lang="en-US" dirty="0"/>
          </a:p>
          <a:p>
            <a:r>
              <a:rPr lang="en-US" dirty="0" err="1">
                <a:solidFill>
                  <a:srgbClr val="FF0000"/>
                </a:solidFill>
              </a:rPr>
              <a:t>Dữ</a:t>
            </a:r>
            <a:r>
              <a:rPr lang="en-US" dirty="0">
                <a:solidFill>
                  <a:srgbClr val="FF0000"/>
                </a:solidFill>
              </a:rPr>
              <a:t> </a:t>
            </a:r>
            <a:r>
              <a:rPr lang="en-US" dirty="0" err="1">
                <a:solidFill>
                  <a:srgbClr val="FF0000"/>
                </a:solidFill>
              </a:rPr>
              <a:t>liệu</a:t>
            </a:r>
            <a:r>
              <a:rPr lang="en-US" dirty="0">
                <a:solidFill>
                  <a:srgbClr val="FF0000"/>
                </a:solidFill>
              </a:rPr>
              <a:t> </a:t>
            </a:r>
            <a:r>
              <a:rPr lang="en-US" dirty="0" err="1">
                <a:solidFill>
                  <a:srgbClr val="FF0000"/>
                </a:solidFill>
              </a:rPr>
              <a:t>được</a:t>
            </a:r>
            <a:r>
              <a:rPr lang="en-US" dirty="0">
                <a:solidFill>
                  <a:srgbClr val="FF0000"/>
                </a:solidFill>
              </a:rPr>
              <a:t> </a:t>
            </a:r>
            <a:r>
              <a:rPr lang="en-US" dirty="0" err="1">
                <a:solidFill>
                  <a:srgbClr val="FF0000"/>
                </a:solidFill>
              </a:rPr>
              <a:t>đọc</a:t>
            </a:r>
            <a:r>
              <a:rPr lang="en-US" dirty="0">
                <a:solidFill>
                  <a:srgbClr val="FF0000"/>
                </a:solidFill>
              </a:rPr>
              <a:t> </a:t>
            </a:r>
            <a:r>
              <a:rPr lang="en-US" dirty="0" err="1">
                <a:solidFill>
                  <a:srgbClr val="FF0000"/>
                </a:solidFill>
              </a:rPr>
              <a:t>từ</a:t>
            </a:r>
            <a:r>
              <a:rPr lang="en-US" dirty="0">
                <a:solidFill>
                  <a:srgbClr val="FF0000"/>
                </a:solidFill>
              </a:rPr>
              <a:t> 1 </a:t>
            </a:r>
            <a:r>
              <a:rPr lang="en-US" dirty="0" err="1">
                <a:solidFill>
                  <a:srgbClr val="FF0000"/>
                </a:solidFill>
              </a:rPr>
              <a:t>trong</a:t>
            </a:r>
            <a:r>
              <a:rPr lang="en-US" dirty="0">
                <a:solidFill>
                  <a:srgbClr val="FF0000"/>
                </a:solidFill>
              </a:rPr>
              <a:t> 2 </a:t>
            </a:r>
            <a:r>
              <a:rPr lang="en-US" dirty="0" err="1">
                <a:solidFill>
                  <a:srgbClr val="FF0000"/>
                </a:solidFill>
              </a:rPr>
              <a:t>đĩa</a:t>
            </a:r>
            <a:r>
              <a:rPr lang="en-US" dirty="0">
                <a:solidFill>
                  <a:srgbClr val="FF0000"/>
                </a:solidFill>
              </a:rPr>
              <a:t>, </a:t>
            </a:r>
            <a:r>
              <a:rPr lang="en-US" dirty="0" err="1">
                <a:solidFill>
                  <a:srgbClr val="FF0000"/>
                </a:solidFill>
              </a:rPr>
              <a:t>ghi</a:t>
            </a:r>
            <a:r>
              <a:rPr lang="en-US" dirty="0">
                <a:solidFill>
                  <a:srgbClr val="FF0000"/>
                </a:solidFill>
              </a:rPr>
              <a:t> </a:t>
            </a:r>
            <a:r>
              <a:rPr lang="en-US" dirty="0" err="1">
                <a:solidFill>
                  <a:srgbClr val="FF0000"/>
                </a:solidFill>
              </a:rPr>
              <a:t>trên</a:t>
            </a:r>
            <a:r>
              <a:rPr lang="en-US" dirty="0">
                <a:solidFill>
                  <a:srgbClr val="FF0000"/>
                </a:solidFill>
              </a:rPr>
              <a:t> </a:t>
            </a:r>
            <a:r>
              <a:rPr lang="en-US" dirty="0" err="1">
                <a:solidFill>
                  <a:srgbClr val="FF0000"/>
                </a:solidFill>
              </a:rPr>
              <a:t>cả</a:t>
            </a:r>
            <a:r>
              <a:rPr lang="en-US" dirty="0">
                <a:solidFill>
                  <a:srgbClr val="FF0000"/>
                </a:solidFill>
              </a:rPr>
              <a:t> 2 </a:t>
            </a:r>
            <a:r>
              <a:rPr lang="en-US" dirty="0" err="1">
                <a:solidFill>
                  <a:srgbClr val="FF0000"/>
                </a:solidFill>
              </a:rPr>
              <a:t>đĩa</a:t>
            </a:r>
            <a:endParaRPr lang="en-US" dirty="0">
              <a:solidFill>
                <a:srgbClr val="FF0000"/>
              </a:solidFill>
            </a:endParaRPr>
          </a:p>
          <a:p>
            <a:r>
              <a:rPr lang="en-US" dirty="0" err="1"/>
              <a:t>Việc</a:t>
            </a:r>
            <a:r>
              <a:rPr lang="en-US" dirty="0"/>
              <a:t> </a:t>
            </a:r>
            <a:r>
              <a:rPr lang="en-US" dirty="0" err="1"/>
              <a:t>khôi</a:t>
            </a:r>
            <a:r>
              <a:rPr lang="en-US" dirty="0"/>
              <a:t> </a:t>
            </a:r>
            <a:r>
              <a:rPr lang="en-US" dirty="0" err="1"/>
              <a:t>phục</a:t>
            </a:r>
            <a:r>
              <a:rPr lang="en-US" dirty="0"/>
              <a:t> </a:t>
            </a:r>
            <a:r>
              <a:rPr lang="en-US" dirty="0" err="1"/>
              <a:t>dữ</a:t>
            </a:r>
            <a:r>
              <a:rPr lang="en-US" dirty="0"/>
              <a:t> </a:t>
            </a:r>
            <a:r>
              <a:rPr lang="en-US" dirty="0" err="1"/>
              <a:t>liệu</a:t>
            </a:r>
            <a:r>
              <a:rPr lang="en-US" dirty="0"/>
              <a:t> </a:t>
            </a:r>
            <a:r>
              <a:rPr lang="en-US" dirty="0" err="1"/>
              <a:t>rất</a:t>
            </a:r>
            <a:r>
              <a:rPr lang="en-US" dirty="0"/>
              <a:t> </a:t>
            </a:r>
            <a:r>
              <a:rPr lang="en-US" dirty="0" err="1"/>
              <a:t>đơn</a:t>
            </a:r>
            <a:r>
              <a:rPr lang="en-US" dirty="0"/>
              <a:t> </a:t>
            </a:r>
            <a:r>
              <a:rPr lang="en-US" dirty="0" err="1"/>
              <a:t>giản</a:t>
            </a:r>
            <a:endParaRPr lang="en-US" dirty="0"/>
          </a:p>
          <a:p>
            <a:pPr lvl="1"/>
            <a:r>
              <a:rPr lang="en-US" dirty="0" err="1"/>
              <a:t>Thay</a:t>
            </a:r>
            <a:r>
              <a:rPr lang="en-US" dirty="0"/>
              <a:t> </a:t>
            </a:r>
            <a:r>
              <a:rPr lang="en-US" dirty="0" err="1"/>
              <a:t>đĩa</a:t>
            </a:r>
            <a:r>
              <a:rPr lang="en-US" dirty="0"/>
              <a:t> </a:t>
            </a:r>
            <a:r>
              <a:rPr lang="en-US" dirty="0" err="1"/>
              <a:t>bị</a:t>
            </a:r>
            <a:r>
              <a:rPr lang="en-US" dirty="0"/>
              <a:t> </a:t>
            </a:r>
            <a:r>
              <a:rPr lang="en-US" dirty="0" err="1"/>
              <a:t>hư</a:t>
            </a:r>
            <a:r>
              <a:rPr lang="en-US" dirty="0"/>
              <a:t> </a:t>
            </a:r>
            <a:r>
              <a:rPr lang="en-US" dirty="0" err="1"/>
              <a:t>và</a:t>
            </a:r>
            <a:r>
              <a:rPr lang="en-US" dirty="0"/>
              <a:t> </a:t>
            </a:r>
            <a:r>
              <a:rPr lang="en-US" dirty="0" err="1"/>
              <a:t>thực</a:t>
            </a:r>
            <a:r>
              <a:rPr lang="en-US" dirty="0"/>
              <a:t> </a:t>
            </a:r>
            <a:r>
              <a:rPr lang="en-US" dirty="0" err="1"/>
              <a:t>hiện</a:t>
            </a:r>
            <a:r>
              <a:rPr lang="en-US" dirty="0"/>
              <a:t> </a:t>
            </a:r>
            <a:r>
              <a:rPr lang="en-US" dirty="0" err="1"/>
              <a:t>nhân</a:t>
            </a:r>
            <a:r>
              <a:rPr lang="en-US" dirty="0"/>
              <a:t> </a:t>
            </a:r>
            <a:r>
              <a:rPr lang="en-US" dirty="0" err="1"/>
              <a:t>bản</a:t>
            </a:r>
            <a:r>
              <a:rPr lang="en-US" dirty="0"/>
              <a:t> </a:t>
            </a:r>
            <a:r>
              <a:rPr lang="en-US" dirty="0" err="1"/>
              <a:t>lại</a:t>
            </a:r>
            <a:endParaRPr lang="en-US" dirty="0"/>
          </a:p>
          <a:p>
            <a:pPr lvl="1"/>
            <a:r>
              <a:rPr lang="en-US" dirty="0" err="1"/>
              <a:t>Không</a:t>
            </a:r>
            <a:r>
              <a:rPr lang="en-US" dirty="0"/>
              <a:t> </a:t>
            </a:r>
            <a:r>
              <a:rPr lang="en-US" dirty="0" err="1"/>
              <a:t>có</a:t>
            </a:r>
            <a:r>
              <a:rPr lang="en-US" dirty="0"/>
              <a:t> downtime</a:t>
            </a:r>
          </a:p>
          <a:p>
            <a:r>
              <a:rPr lang="en-US" dirty="0"/>
              <a:t>Chi </a:t>
            </a:r>
            <a:r>
              <a:rPr lang="en-US" dirty="0" err="1"/>
              <a:t>phí</a:t>
            </a:r>
            <a:r>
              <a:rPr lang="en-US" dirty="0"/>
              <a:t> </a:t>
            </a:r>
            <a:r>
              <a:rPr lang="en-US" dirty="0" err="1"/>
              <a:t>cao</a:t>
            </a:r>
            <a:endParaRPr lang="en-US" dirty="0"/>
          </a:p>
        </p:txBody>
      </p:sp>
      <p:pic>
        <p:nvPicPr>
          <p:cNvPr id="4" name="Picture 5" descr="01"/>
          <p:cNvPicPr>
            <a:picLocks noChangeAspect="1" noChangeArrowheads="1"/>
          </p:cNvPicPr>
          <p:nvPr/>
        </p:nvPicPr>
        <p:blipFill>
          <a:blip r:embed="rId3" cstate="print"/>
          <a:srcRect/>
          <a:stretch>
            <a:fillRect/>
          </a:stretch>
        </p:blipFill>
        <p:spPr bwMode="auto">
          <a:xfrm>
            <a:off x="1447800" y="3962400"/>
            <a:ext cx="7010400" cy="2895600"/>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RAID 2</a:t>
            </a:r>
          </a:p>
        </p:txBody>
      </p:sp>
      <p:sp>
        <p:nvSpPr>
          <p:cNvPr id="23555" name="Rectangle 3"/>
          <p:cNvSpPr>
            <a:spLocks noGrp="1" noChangeArrowheads="1"/>
          </p:cNvSpPr>
          <p:nvPr>
            <p:ph sz="quarter" idx="1"/>
          </p:nvPr>
        </p:nvSpPr>
        <p:spPr>
          <a:xfrm>
            <a:off x="457200" y="1524000"/>
            <a:ext cx="8458200" cy="2362200"/>
          </a:xfrm>
        </p:spPr>
        <p:txBody>
          <a:bodyPr>
            <a:noAutofit/>
          </a:bodyPr>
          <a:lstStyle/>
          <a:p>
            <a:r>
              <a:rPr lang="en-US" sz="1600" dirty="0" err="1"/>
              <a:t>Các</a:t>
            </a:r>
            <a:r>
              <a:rPr lang="en-US" sz="1600" dirty="0"/>
              <a:t> </a:t>
            </a:r>
            <a:r>
              <a:rPr lang="en-US" sz="1600" dirty="0" err="1"/>
              <a:t>đĩa</a:t>
            </a:r>
            <a:r>
              <a:rPr lang="en-US" sz="1600" dirty="0"/>
              <a:t> </a:t>
            </a:r>
            <a:r>
              <a:rPr lang="en-US" sz="1600" dirty="0" err="1"/>
              <a:t>được</a:t>
            </a:r>
            <a:r>
              <a:rPr lang="en-US" sz="1600" dirty="0"/>
              <a:t> </a:t>
            </a:r>
            <a:r>
              <a:rPr lang="en-US" sz="1600" dirty="0" err="1"/>
              <a:t>đồng</a:t>
            </a:r>
            <a:r>
              <a:rPr lang="en-US" sz="1600" dirty="0"/>
              <a:t> </a:t>
            </a:r>
            <a:r>
              <a:rPr lang="en-US" sz="1600" dirty="0" err="1"/>
              <a:t>bộ</a:t>
            </a:r>
            <a:endParaRPr lang="en-US" sz="1600" dirty="0"/>
          </a:p>
          <a:p>
            <a:r>
              <a:rPr lang="en-US" sz="1600" dirty="0" err="1"/>
              <a:t>Chỉ</a:t>
            </a:r>
            <a:r>
              <a:rPr lang="en-US" sz="1600" dirty="0"/>
              <a:t> </a:t>
            </a:r>
            <a:r>
              <a:rPr lang="en-US" sz="1600" dirty="0" err="1"/>
              <a:t>phân</a:t>
            </a:r>
            <a:r>
              <a:rPr lang="en-US" sz="1600" dirty="0"/>
              <a:t> </a:t>
            </a:r>
            <a:r>
              <a:rPr lang="en-US" sz="1600" dirty="0" err="1"/>
              <a:t>chia</a:t>
            </a:r>
            <a:r>
              <a:rPr lang="en-US" sz="1600" dirty="0"/>
              <a:t> </a:t>
            </a:r>
            <a:r>
              <a:rPr lang="en-US" sz="1600" dirty="0" err="1"/>
              <a:t>một</a:t>
            </a:r>
            <a:r>
              <a:rPr lang="en-US" sz="1600" dirty="0"/>
              <a:t> </a:t>
            </a:r>
            <a:r>
              <a:rPr lang="en-US" sz="1600" dirty="0" err="1"/>
              <a:t>ít</a:t>
            </a:r>
            <a:r>
              <a:rPr lang="en-US" sz="1600" dirty="0"/>
              <a:t> </a:t>
            </a:r>
            <a:r>
              <a:rPr lang="en-US" sz="1600" dirty="0" err="1"/>
              <a:t>dữ</a:t>
            </a:r>
            <a:r>
              <a:rPr lang="en-US" sz="1600" dirty="0"/>
              <a:t> </a:t>
            </a:r>
            <a:r>
              <a:rPr lang="en-US" sz="1600" dirty="0" err="1"/>
              <a:t>liêu</a:t>
            </a:r>
            <a:r>
              <a:rPr lang="en-US" sz="1600" dirty="0"/>
              <a:t> (byte/word)</a:t>
            </a:r>
          </a:p>
          <a:p>
            <a:r>
              <a:rPr lang="en-US" sz="1600" dirty="0" err="1"/>
              <a:t>Việc</a:t>
            </a:r>
            <a:r>
              <a:rPr lang="en-US" sz="1600" dirty="0"/>
              <a:t> </a:t>
            </a:r>
            <a:r>
              <a:rPr lang="en-US" sz="1600" dirty="0" err="1"/>
              <a:t>sửa</a:t>
            </a:r>
            <a:r>
              <a:rPr lang="en-US" sz="1600" dirty="0"/>
              <a:t> </a:t>
            </a:r>
            <a:r>
              <a:rPr lang="en-US" sz="1600" dirty="0" err="1"/>
              <a:t>lỗi</a:t>
            </a:r>
            <a:r>
              <a:rPr lang="en-US" sz="1600" dirty="0"/>
              <a:t> </a:t>
            </a:r>
            <a:r>
              <a:rPr lang="en-US" sz="1600" dirty="0" err="1"/>
              <a:t>được</a:t>
            </a:r>
            <a:r>
              <a:rPr lang="en-US" sz="1600" dirty="0"/>
              <a:t> </a:t>
            </a:r>
            <a:r>
              <a:rPr lang="en-US" sz="1600" dirty="0" err="1"/>
              <a:t>tính</a:t>
            </a:r>
            <a:r>
              <a:rPr lang="en-US" sz="1600" dirty="0"/>
              <a:t> </a:t>
            </a:r>
            <a:r>
              <a:rPr lang="en-US" sz="1600" dirty="0" err="1"/>
              <a:t>nhờ</a:t>
            </a:r>
            <a:r>
              <a:rPr lang="en-US" sz="1600" dirty="0"/>
              <a:t> </a:t>
            </a:r>
            <a:r>
              <a:rPr lang="en-US" sz="1600" dirty="0" err="1"/>
              <a:t>các</a:t>
            </a:r>
            <a:r>
              <a:rPr lang="en-US" sz="1600" dirty="0"/>
              <a:t> bit </a:t>
            </a:r>
            <a:r>
              <a:rPr lang="en-US" sz="1600" dirty="0" err="1"/>
              <a:t>tương</a:t>
            </a:r>
            <a:r>
              <a:rPr lang="en-US" sz="1600" dirty="0"/>
              <a:t> </a:t>
            </a:r>
            <a:r>
              <a:rPr lang="en-US" sz="1600" dirty="0" err="1"/>
              <a:t>ứng</a:t>
            </a:r>
            <a:r>
              <a:rPr lang="en-US" sz="1600" dirty="0"/>
              <a:t> </a:t>
            </a:r>
            <a:r>
              <a:rPr lang="en-US" sz="1600" dirty="0" err="1"/>
              <a:t>trên</a:t>
            </a:r>
            <a:r>
              <a:rPr lang="en-US" sz="1600" dirty="0"/>
              <a:t> </a:t>
            </a:r>
            <a:r>
              <a:rPr lang="en-US" sz="1600" dirty="0" err="1"/>
              <a:t>các</a:t>
            </a:r>
            <a:r>
              <a:rPr lang="en-US" sz="1600" dirty="0"/>
              <a:t> </a:t>
            </a:r>
            <a:r>
              <a:rPr lang="en-US" sz="1600" dirty="0" err="1"/>
              <a:t>đĩa</a:t>
            </a:r>
            <a:endParaRPr lang="en-US" sz="1600" dirty="0"/>
          </a:p>
          <a:p>
            <a:r>
              <a:rPr lang="en-US" sz="1600" dirty="0" err="1"/>
              <a:t>Nhiều</a:t>
            </a:r>
            <a:r>
              <a:rPr lang="en-US" sz="1600" dirty="0"/>
              <a:t> </a:t>
            </a:r>
            <a:r>
              <a:rPr lang="en-US" sz="1600" dirty="0" err="1"/>
              <a:t>đĩa</a:t>
            </a:r>
            <a:r>
              <a:rPr lang="en-US" sz="1600" dirty="0"/>
              <a:t> parity </a:t>
            </a:r>
            <a:r>
              <a:rPr lang="en-US" sz="1600" dirty="0" err="1"/>
              <a:t>chứa</a:t>
            </a:r>
            <a:r>
              <a:rPr lang="en-US" sz="1600" dirty="0"/>
              <a:t> </a:t>
            </a:r>
            <a:r>
              <a:rPr lang="en-US" sz="1600" dirty="0" err="1"/>
              <a:t>mã</a:t>
            </a:r>
            <a:r>
              <a:rPr lang="en-US" sz="1600" dirty="0"/>
              <a:t> </a:t>
            </a:r>
            <a:r>
              <a:rPr lang="en-US" sz="1600" dirty="0" err="1"/>
              <a:t>sửa</a:t>
            </a:r>
            <a:r>
              <a:rPr lang="en-US" sz="1600" dirty="0"/>
              <a:t> </a:t>
            </a:r>
            <a:r>
              <a:rPr lang="en-US" sz="1600" dirty="0" err="1"/>
              <a:t>lỗi</a:t>
            </a:r>
            <a:r>
              <a:rPr lang="en-US" sz="1600" dirty="0"/>
              <a:t> Hamming </a:t>
            </a:r>
            <a:r>
              <a:rPr lang="en-US" sz="1600" dirty="0" err="1"/>
              <a:t>tại</a:t>
            </a:r>
            <a:r>
              <a:rPr lang="en-US" sz="1600" dirty="0"/>
              <a:t> </a:t>
            </a:r>
            <a:r>
              <a:rPr lang="en-US" sz="1600" dirty="0" err="1"/>
              <a:t>các</a:t>
            </a:r>
            <a:r>
              <a:rPr lang="en-US" sz="1600" dirty="0"/>
              <a:t> </a:t>
            </a:r>
            <a:r>
              <a:rPr lang="en-US" sz="1600" dirty="0" err="1"/>
              <a:t>vị</a:t>
            </a:r>
            <a:r>
              <a:rPr lang="en-US" sz="1600" dirty="0"/>
              <a:t> </a:t>
            </a:r>
            <a:r>
              <a:rPr lang="en-US" sz="1600" dirty="0" err="1"/>
              <a:t>trí</a:t>
            </a:r>
            <a:r>
              <a:rPr lang="en-US" sz="1600" dirty="0"/>
              <a:t> </a:t>
            </a:r>
            <a:r>
              <a:rPr lang="en-US" sz="1600" dirty="0" err="1"/>
              <a:t>tương</a:t>
            </a:r>
            <a:r>
              <a:rPr lang="en-US" sz="1600" dirty="0"/>
              <a:t> </a:t>
            </a:r>
            <a:r>
              <a:rPr lang="en-US" sz="1600" dirty="0" err="1"/>
              <a:t>ứng</a:t>
            </a:r>
            <a:endParaRPr lang="en-US" sz="1600" dirty="0"/>
          </a:p>
          <a:p>
            <a:r>
              <a:rPr lang="en-US" sz="1600" dirty="0" err="1"/>
              <a:t>Nhiều</a:t>
            </a:r>
            <a:r>
              <a:rPr lang="en-US" sz="1600" dirty="0"/>
              <a:t> </a:t>
            </a:r>
            <a:r>
              <a:rPr lang="en-US" sz="1600" dirty="0" err="1"/>
              <a:t>dư</a:t>
            </a:r>
            <a:r>
              <a:rPr lang="en-US" sz="1600" dirty="0"/>
              <a:t> </a:t>
            </a:r>
            <a:r>
              <a:rPr lang="en-US" sz="1600" dirty="0" err="1"/>
              <a:t>thừa</a:t>
            </a:r>
            <a:endParaRPr lang="en-US" sz="1600" dirty="0"/>
          </a:p>
          <a:p>
            <a:pPr lvl="1"/>
            <a:r>
              <a:rPr lang="en-US" sz="1600" dirty="0"/>
              <a:t>Chi </a:t>
            </a:r>
            <a:r>
              <a:rPr lang="en-US" sz="1600" dirty="0" err="1"/>
              <a:t>phí</a:t>
            </a:r>
            <a:r>
              <a:rPr lang="en-US" sz="1600" dirty="0"/>
              <a:t> </a:t>
            </a:r>
            <a:r>
              <a:rPr lang="en-US" sz="1600" dirty="0" err="1"/>
              <a:t>cao</a:t>
            </a:r>
            <a:endParaRPr lang="en-US" sz="1600" dirty="0"/>
          </a:p>
          <a:p>
            <a:pPr lvl="1"/>
            <a:r>
              <a:rPr lang="en-US" sz="1600" dirty="0" err="1"/>
              <a:t>Không</a:t>
            </a:r>
            <a:r>
              <a:rPr lang="en-US" sz="1600" dirty="0"/>
              <a:t> </a:t>
            </a:r>
            <a:r>
              <a:rPr lang="en-US" sz="1600" dirty="0" err="1"/>
              <a:t>được</a:t>
            </a:r>
            <a:r>
              <a:rPr lang="en-US" sz="1600" dirty="0"/>
              <a:t> </a:t>
            </a:r>
            <a:r>
              <a:rPr lang="en-US" sz="1600" dirty="0" err="1"/>
              <a:t>sử</a:t>
            </a:r>
            <a:r>
              <a:rPr lang="en-US" sz="1600" dirty="0"/>
              <a:t> </a:t>
            </a:r>
            <a:r>
              <a:rPr lang="en-US" sz="1600" dirty="0" err="1"/>
              <a:t>dụng</a:t>
            </a:r>
            <a:endParaRPr lang="en-US" sz="1600" dirty="0"/>
          </a:p>
        </p:txBody>
      </p:sp>
      <p:pic>
        <p:nvPicPr>
          <p:cNvPr id="4" name="Picture 4" descr="02"/>
          <p:cNvPicPr>
            <a:picLocks noChangeAspect="1" noChangeArrowheads="1"/>
          </p:cNvPicPr>
          <p:nvPr/>
        </p:nvPicPr>
        <p:blipFill>
          <a:blip r:embed="rId3" cstate="print"/>
          <a:srcRect/>
          <a:stretch>
            <a:fillRect/>
          </a:stretch>
        </p:blipFill>
        <p:spPr>
          <a:xfrm>
            <a:off x="1066800" y="3932237"/>
            <a:ext cx="7620000" cy="2925763"/>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RAID 3</a:t>
            </a:r>
          </a:p>
        </p:txBody>
      </p:sp>
      <p:sp>
        <p:nvSpPr>
          <p:cNvPr id="24579" name="Rectangle 3"/>
          <p:cNvSpPr>
            <a:spLocks noGrp="1" noChangeArrowheads="1"/>
          </p:cNvSpPr>
          <p:nvPr>
            <p:ph sz="quarter" idx="1"/>
          </p:nvPr>
        </p:nvSpPr>
        <p:spPr>
          <a:xfrm>
            <a:off x="457200" y="1546591"/>
            <a:ext cx="8229600" cy="2187209"/>
          </a:xfrm>
        </p:spPr>
        <p:txBody>
          <a:bodyPr>
            <a:normAutofit fontScale="77500" lnSpcReduction="20000"/>
          </a:bodyPr>
          <a:lstStyle/>
          <a:p>
            <a:r>
              <a:rPr lang="en-US" dirty="0" err="1"/>
              <a:t>Tương</a:t>
            </a:r>
            <a:r>
              <a:rPr lang="en-US" dirty="0"/>
              <a:t> </a:t>
            </a:r>
            <a:r>
              <a:rPr lang="en-US" dirty="0" err="1"/>
              <a:t>tự</a:t>
            </a:r>
            <a:r>
              <a:rPr lang="en-US" dirty="0"/>
              <a:t> RAID 2</a:t>
            </a:r>
          </a:p>
          <a:p>
            <a:r>
              <a:rPr lang="en-US" dirty="0" err="1"/>
              <a:t>Chỉ</a:t>
            </a:r>
            <a:r>
              <a:rPr lang="en-US" dirty="0"/>
              <a:t> 1 </a:t>
            </a:r>
            <a:r>
              <a:rPr lang="en-US" dirty="0" err="1"/>
              <a:t>đĩa</a:t>
            </a:r>
            <a:r>
              <a:rPr lang="en-US" dirty="0"/>
              <a:t> </a:t>
            </a:r>
            <a:r>
              <a:rPr lang="en-US" dirty="0" err="1"/>
              <a:t>dư</a:t>
            </a:r>
            <a:r>
              <a:rPr lang="en-US" dirty="0"/>
              <a:t> </a:t>
            </a:r>
            <a:r>
              <a:rPr lang="en-US" dirty="0" err="1"/>
              <a:t>thừa</a:t>
            </a:r>
            <a:endParaRPr lang="en-US" dirty="0"/>
          </a:p>
          <a:p>
            <a:r>
              <a:rPr lang="en-US" dirty="0"/>
              <a:t>Parity bit </a:t>
            </a:r>
            <a:r>
              <a:rPr lang="en-US" dirty="0" err="1"/>
              <a:t>đơn</a:t>
            </a:r>
            <a:r>
              <a:rPr lang="en-US" dirty="0"/>
              <a:t> </a:t>
            </a:r>
            <a:r>
              <a:rPr lang="en-US" dirty="0" err="1"/>
              <a:t>giản</a:t>
            </a:r>
            <a:r>
              <a:rPr lang="en-US" dirty="0"/>
              <a:t> </a:t>
            </a:r>
            <a:r>
              <a:rPr lang="en-US" dirty="0" err="1"/>
              <a:t>cho</a:t>
            </a:r>
            <a:r>
              <a:rPr lang="en-US" dirty="0"/>
              <a:t> </a:t>
            </a:r>
            <a:r>
              <a:rPr lang="en-US" dirty="0" err="1"/>
              <a:t>mỗi</a:t>
            </a:r>
            <a:r>
              <a:rPr lang="en-US" dirty="0"/>
              <a:t> </a:t>
            </a:r>
            <a:r>
              <a:rPr lang="en-US" dirty="0" err="1"/>
              <a:t>tập</a:t>
            </a:r>
            <a:r>
              <a:rPr lang="en-US" dirty="0"/>
              <a:t> </a:t>
            </a:r>
            <a:r>
              <a:rPr lang="en-US" dirty="0" err="1"/>
              <a:t>các</a:t>
            </a:r>
            <a:r>
              <a:rPr lang="en-US" dirty="0"/>
              <a:t> bit </a:t>
            </a:r>
            <a:r>
              <a:rPr lang="en-US" dirty="0" err="1"/>
              <a:t>tương</a:t>
            </a:r>
            <a:r>
              <a:rPr lang="en-US" dirty="0"/>
              <a:t> </a:t>
            </a:r>
            <a:r>
              <a:rPr lang="en-US" dirty="0" err="1"/>
              <a:t>ứng</a:t>
            </a:r>
            <a:endParaRPr lang="en-US" dirty="0"/>
          </a:p>
          <a:p>
            <a:r>
              <a:rPr lang="en-US" dirty="0" err="1"/>
              <a:t>Dữ</a:t>
            </a:r>
            <a:r>
              <a:rPr lang="en-US" dirty="0"/>
              <a:t> </a:t>
            </a:r>
            <a:r>
              <a:rPr lang="en-US" dirty="0" err="1"/>
              <a:t>liệu</a:t>
            </a:r>
            <a:r>
              <a:rPr lang="en-US" dirty="0"/>
              <a:t> </a:t>
            </a:r>
            <a:r>
              <a:rPr lang="en-US" dirty="0" err="1"/>
              <a:t>trên</a:t>
            </a:r>
            <a:r>
              <a:rPr lang="en-US" dirty="0"/>
              <a:t> </a:t>
            </a:r>
            <a:r>
              <a:rPr lang="en-US" dirty="0" err="1"/>
              <a:t>đĩa</a:t>
            </a:r>
            <a:r>
              <a:rPr lang="en-US" dirty="0"/>
              <a:t> </a:t>
            </a:r>
            <a:r>
              <a:rPr lang="en-US" dirty="0" err="1"/>
              <a:t>lỗi</a:t>
            </a:r>
            <a:r>
              <a:rPr lang="en-US" dirty="0"/>
              <a:t> </a:t>
            </a:r>
            <a:r>
              <a:rPr lang="en-US" dirty="0" err="1"/>
              <a:t>có</a:t>
            </a:r>
            <a:r>
              <a:rPr lang="en-US" dirty="0"/>
              <a:t> </a:t>
            </a:r>
            <a:r>
              <a:rPr lang="en-US" dirty="0" err="1"/>
              <a:t>thể</a:t>
            </a:r>
            <a:r>
              <a:rPr lang="en-US" dirty="0"/>
              <a:t> </a:t>
            </a:r>
            <a:r>
              <a:rPr lang="en-US" dirty="0" err="1"/>
              <a:t>được</a:t>
            </a:r>
            <a:r>
              <a:rPr lang="en-US" dirty="0"/>
              <a:t> </a:t>
            </a:r>
            <a:r>
              <a:rPr lang="en-US" dirty="0" err="1"/>
              <a:t>tái</a:t>
            </a:r>
            <a:r>
              <a:rPr lang="en-US" dirty="0"/>
              <a:t> </a:t>
            </a:r>
            <a:r>
              <a:rPr lang="en-US" dirty="0" err="1"/>
              <a:t>tạo</a:t>
            </a:r>
            <a:r>
              <a:rPr lang="en-US" dirty="0"/>
              <a:t> </a:t>
            </a:r>
            <a:r>
              <a:rPr lang="en-US" dirty="0" err="1"/>
              <a:t>lại</a:t>
            </a:r>
            <a:r>
              <a:rPr lang="en-US" dirty="0"/>
              <a:t> </a:t>
            </a:r>
            <a:r>
              <a:rPr lang="en-US" dirty="0" err="1"/>
              <a:t>dựa</a:t>
            </a:r>
            <a:r>
              <a:rPr lang="en-US" dirty="0"/>
              <a:t> </a:t>
            </a:r>
            <a:r>
              <a:rPr lang="en-US" dirty="0" err="1"/>
              <a:t>vào</a:t>
            </a:r>
            <a:r>
              <a:rPr lang="en-US" dirty="0"/>
              <a:t> </a:t>
            </a:r>
            <a:r>
              <a:rPr lang="en-US" dirty="0" err="1"/>
              <a:t>các</a:t>
            </a:r>
            <a:r>
              <a:rPr lang="en-US" dirty="0"/>
              <a:t> </a:t>
            </a:r>
            <a:r>
              <a:rPr lang="en-US" dirty="0" err="1"/>
              <a:t>dữ</a:t>
            </a:r>
            <a:r>
              <a:rPr lang="en-US" dirty="0"/>
              <a:t> </a:t>
            </a:r>
            <a:r>
              <a:rPr lang="en-US" dirty="0" err="1"/>
              <a:t>liệu</a:t>
            </a:r>
            <a:r>
              <a:rPr lang="en-US" dirty="0"/>
              <a:t> </a:t>
            </a:r>
            <a:r>
              <a:rPr lang="en-US" dirty="0" err="1"/>
              <a:t>còn</a:t>
            </a:r>
            <a:r>
              <a:rPr lang="en-US" dirty="0"/>
              <a:t> </a:t>
            </a:r>
            <a:r>
              <a:rPr lang="en-US" dirty="0" err="1"/>
              <a:t>lại</a:t>
            </a:r>
            <a:r>
              <a:rPr lang="en-US" dirty="0"/>
              <a:t> </a:t>
            </a:r>
            <a:r>
              <a:rPr lang="en-US" dirty="0" err="1"/>
              <a:t>và</a:t>
            </a:r>
            <a:r>
              <a:rPr lang="en-US" dirty="0"/>
              <a:t> </a:t>
            </a:r>
            <a:r>
              <a:rPr lang="en-US" dirty="0" err="1"/>
              <a:t>thông</a:t>
            </a:r>
            <a:r>
              <a:rPr lang="en-US" dirty="0"/>
              <a:t> tin parity</a:t>
            </a:r>
          </a:p>
          <a:p>
            <a:r>
              <a:rPr lang="en-US" dirty="0" err="1"/>
              <a:t>Tốc</a:t>
            </a:r>
            <a:r>
              <a:rPr lang="en-US" dirty="0"/>
              <a:t> </a:t>
            </a:r>
            <a:r>
              <a:rPr lang="en-US" dirty="0" err="1"/>
              <a:t>độ</a:t>
            </a:r>
            <a:r>
              <a:rPr lang="en-US" dirty="0"/>
              <a:t> </a:t>
            </a:r>
            <a:r>
              <a:rPr lang="en-US" dirty="0" err="1"/>
              <a:t>truy</a:t>
            </a:r>
            <a:r>
              <a:rPr lang="en-US" dirty="0"/>
              <a:t> </a:t>
            </a:r>
            <a:r>
              <a:rPr lang="en-US" dirty="0" err="1"/>
              <a:t>xuất</a:t>
            </a:r>
            <a:r>
              <a:rPr lang="en-US" dirty="0"/>
              <a:t> </a:t>
            </a:r>
            <a:r>
              <a:rPr lang="en-US" dirty="0" err="1"/>
              <a:t>dữ</a:t>
            </a:r>
            <a:r>
              <a:rPr lang="en-US" dirty="0"/>
              <a:t> </a:t>
            </a:r>
            <a:r>
              <a:rPr lang="en-US" dirty="0" err="1"/>
              <a:t>liệu</a:t>
            </a:r>
            <a:r>
              <a:rPr lang="en-US" dirty="0"/>
              <a:t> </a:t>
            </a:r>
            <a:r>
              <a:rPr lang="en-US" dirty="0" err="1"/>
              <a:t>rất</a:t>
            </a:r>
            <a:r>
              <a:rPr lang="en-US" dirty="0"/>
              <a:t> </a:t>
            </a:r>
            <a:r>
              <a:rPr lang="en-US" dirty="0" err="1"/>
              <a:t>cao</a:t>
            </a:r>
            <a:endParaRPr lang="en-US" dirty="0"/>
          </a:p>
        </p:txBody>
      </p:sp>
      <p:pic>
        <p:nvPicPr>
          <p:cNvPr id="4" name="Picture 4" descr="03"/>
          <p:cNvPicPr>
            <a:picLocks noChangeAspect="1" noChangeArrowheads="1"/>
          </p:cNvPicPr>
          <p:nvPr/>
        </p:nvPicPr>
        <p:blipFill>
          <a:blip r:embed="rId3" cstate="print"/>
          <a:srcRect/>
          <a:stretch>
            <a:fillRect/>
          </a:stretch>
        </p:blipFill>
        <p:spPr>
          <a:xfrm>
            <a:off x="990600" y="3616325"/>
            <a:ext cx="7620000" cy="3241675"/>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t>RAID 4</a:t>
            </a:r>
          </a:p>
        </p:txBody>
      </p:sp>
      <p:sp>
        <p:nvSpPr>
          <p:cNvPr id="25603" name="Rectangle 3"/>
          <p:cNvSpPr>
            <a:spLocks noGrp="1" noChangeArrowheads="1"/>
          </p:cNvSpPr>
          <p:nvPr>
            <p:ph sz="quarter" idx="1"/>
          </p:nvPr>
        </p:nvSpPr>
        <p:spPr>
          <a:xfrm>
            <a:off x="457200" y="1600200"/>
            <a:ext cx="8229600" cy="2568209"/>
          </a:xfrm>
        </p:spPr>
        <p:txBody>
          <a:bodyPr>
            <a:normAutofit/>
          </a:bodyPr>
          <a:lstStyle/>
          <a:p>
            <a:r>
              <a:rPr lang="en-US" sz="1800" dirty="0" err="1"/>
              <a:t>Mỗi</a:t>
            </a:r>
            <a:r>
              <a:rPr lang="en-US" sz="1800" dirty="0"/>
              <a:t> </a:t>
            </a:r>
            <a:r>
              <a:rPr lang="en-US" sz="1800" dirty="0" err="1"/>
              <a:t>đĩa</a:t>
            </a:r>
            <a:r>
              <a:rPr lang="en-US" sz="1800" dirty="0"/>
              <a:t> </a:t>
            </a:r>
            <a:r>
              <a:rPr lang="en-US" sz="1800" dirty="0" err="1"/>
              <a:t>hoạt</a:t>
            </a:r>
            <a:r>
              <a:rPr lang="en-US" sz="1800" dirty="0"/>
              <a:t> </a:t>
            </a:r>
            <a:r>
              <a:rPr lang="en-US" sz="1800" dirty="0" err="1"/>
              <a:t>đồng</a:t>
            </a:r>
            <a:r>
              <a:rPr lang="en-US" sz="1800" dirty="0"/>
              <a:t> </a:t>
            </a:r>
            <a:r>
              <a:rPr lang="en-US" sz="1800" dirty="0" err="1"/>
              <a:t>độc</a:t>
            </a:r>
            <a:r>
              <a:rPr lang="en-US" sz="1800" dirty="0"/>
              <a:t> </a:t>
            </a:r>
            <a:r>
              <a:rPr lang="en-US" sz="1800" dirty="0" err="1"/>
              <a:t>lập</a:t>
            </a:r>
            <a:endParaRPr lang="en-US" sz="1800" dirty="0"/>
          </a:p>
          <a:p>
            <a:r>
              <a:rPr lang="en-US" sz="1800" dirty="0" err="1"/>
              <a:t>Phù</a:t>
            </a:r>
            <a:r>
              <a:rPr lang="en-US" sz="1800" dirty="0"/>
              <a:t> </a:t>
            </a:r>
            <a:r>
              <a:rPr lang="en-US" sz="1800" dirty="0" err="1"/>
              <a:t>hợp</a:t>
            </a:r>
            <a:r>
              <a:rPr lang="en-US" sz="1800" dirty="0"/>
              <a:t> </a:t>
            </a:r>
            <a:r>
              <a:rPr lang="en-US" sz="1800" dirty="0" err="1"/>
              <a:t>với</a:t>
            </a:r>
            <a:r>
              <a:rPr lang="en-US" sz="1800" dirty="0"/>
              <a:t> </a:t>
            </a:r>
            <a:r>
              <a:rPr lang="en-US" sz="1800" dirty="0" err="1"/>
              <a:t>các</a:t>
            </a:r>
            <a:r>
              <a:rPr lang="en-US" sz="1800" dirty="0"/>
              <a:t> </a:t>
            </a:r>
            <a:r>
              <a:rPr lang="en-US" sz="1800" dirty="0" err="1"/>
              <a:t>yêu</a:t>
            </a:r>
            <a:r>
              <a:rPr lang="en-US" sz="1800" dirty="0"/>
              <a:t> </a:t>
            </a:r>
            <a:r>
              <a:rPr lang="en-US" sz="1800" dirty="0" err="1"/>
              <a:t>cầu</a:t>
            </a:r>
            <a:r>
              <a:rPr lang="en-US" sz="1800" dirty="0"/>
              <a:t> I/O </a:t>
            </a:r>
            <a:r>
              <a:rPr lang="en-US" sz="1800" dirty="0" err="1"/>
              <a:t>tốc</a:t>
            </a:r>
            <a:r>
              <a:rPr lang="en-US" sz="1800" dirty="0"/>
              <a:t> </a:t>
            </a:r>
            <a:r>
              <a:rPr lang="en-US" sz="1800" dirty="0" err="1"/>
              <a:t>độ</a:t>
            </a:r>
            <a:r>
              <a:rPr lang="en-US" sz="1800" dirty="0"/>
              <a:t> </a:t>
            </a:r>
            <a:r>
              <a:rPr lang="en-US" sz="1800" dirty="0" err="1"/>
              <a:t>cao</a:t>
            </a:r>
            <a:endParaRPr lang="en-US" sz="1800" dirty="0"/>
          </a:p>
          <a:p>
            <a:r>
              <a:rPr lang="en-US" sz="1800" dirty="0" err="1"/>
              <a:t>Lượng</a:t>
            </a:r>
            <a:r>
              <a:rPr lang="en-US" sz="1800" dirty="0"/>
              <a:t> </a:t>
            </a:r>
            <a:r>
              <a:rPr lang="en-US" sz="1800" dirty="0" err="1"/>
              <a:t>dữ</a:t>
            </a:r>
            <a:r>
              <a:rPr lang="en-US" sz="1800" dirty="0"/>
              <a:t> </a:t>
            </a:r>
            <a:r>
              <a:rPr lang="en-US" sz="1800" dirty="0" err="1"/>
              <a:t>liệu</a:t>
            </a:r>
            <a:r>
              <a:rPr lang="en-US" sz="1800" dirty="0"/>
              <a:t> </a:t>
            </a:r>
            <a:r>
              <a:rPr lang="en-US" sz="1800" dirty="0" err="1"/>
              <a:t>được</a:t>
            </a:r>
            <a:r>
              <a:rPr lang="en-US" sz="1800" dirty="0"/>
              <a:t> </a:t>
            </a:r>
            <a:r>
              <a:rPr lang="en-US" sz="1800" dirty="0" err="1"/>
              <a:t>phân</a:t>
            </a:r>
            <a:r>
              <a:rPr lang="en-US" sz="1800" dirty="0"/>
              <a:t> </a:t>
            </a:r>
            <a:r>
              <a:rPr lang="en-US" sz="1800" dirty="0" err="1"/>
              <a:t>chia</a:t>
            </a:r>
            <a:r>
              <a:rPr lang="en-US" sz="1800" dirty="0"/>
              <a:t> </a:t>
            </a:r>
            <a:r>
              <a:rPr lang="en-US" sz="1800" dirty="0" err="1"/>
              <a:t>trên</a:t>
            </a:r>
            <a:r>
              <a:rPr lang="en-US" sz="1800" dirty="0"/>
              <a:t> </a:t>
            </a:r>
            <a:r>
              <a:rPr lang="en-US" sz="1800" dirty="0" err="1"/>
              <a:t>các</a:t>
            </a:r>
            <a:r>
              <a:rPr lang="en-US" sz="1800" dirty="0"/>
              <a:t> </a:t>
            </a:r>
            <a:r>
              <a:rPr lang="en-US" sz="1800" dirty="0" err="1"/>
              <a:t>đĩa</a:t>
            </a:r>
            <a:r>
              <a:rPr lang="en-US" sz="1800" dirty="0"/>
              <a:t> </a:t>
            </a:r>
            <a:r>
              <a:rPr lang="en-US" sz="1800" dirty="0" err="1"/>
              <a:t>khá</a:t>
            </a:r>
            <a:r>
              <a:rPr lang="en-US" sz="1800" dirty="0"/>
              <a:t> </a:t>
            </a:r>
            <a:r>
              <a:rPr lang="en-US" sz="1800" dirty="0" err="1"/>
              <a:t>lớn</a:t>
            </a:r>
            <a:endParaRPr lang="en-US" sz="1800" dirty="0"/>
          </a:p>
          <a:p>
            <a:r>
              <a:rPr lang="en-US" sz="1800" dirty="0" err="1"/>
              <a:t>Việc</a:t>
            </a:r>
            <a:r>
              <a:rPr lang="en-US" sz="1800" dirty="0"/>
              <a:t> </a:t>
            </a:r>
            <a:r>
              <a:rPr lang="en-US" sz="1800" dirty="0" err="1"/>
              <a:t>kiểm</a:t>
            </a:r>
            <a:r>
              <a:rPr lang="en-US" sz="1800" dirty="0"/>
              <a:t> </a:t>
            </a:r>
            <a:r>
              <a:rPr lang="en-US" sz="1800" dirty="0" err="1"/>
              <a:t>tra</a:t>
            </a:r>
            <a:r>
              <a:rPr lang="en-US" sz="1800" dirty="0"/>
              <a:t> parity </a:t>
            </a:r>
            <a:r>
              <a:rPr lang="en-US" sz="1800" dirty="0" err="1"/>
              <a:t>được</a:t>
            </a:r>
            <a:r>
              <a:rPr lang="en-US" sz="1800" dirty="0"/>
              <a:t> </a:t>
            </a:r>
            <a:r>
              <a:rPr lang="en-US" sz="1800" dirty="0" err="1"/>
              <a:t>thực</a:t>
            </a:r>
            <a:r>
              <a:rPr lang="en-US" sz="1800" dirty="0"/>
              <a:t> </a:t>
            </a:r>
            <a:r>
              <a:rPr lang="en-US" sz="1800" dirty="0" err="1"/>
              <a:t>hiện</a:t>
            </a:r>
            <a:r>
              <a:rPr lang="en-US" sz="1800" dirty="0"/>
              <a:t> </a:t>
            </a:r>
            <a:r>
              <a:rPr lang="en-US" sz="1800" dirty="0" err="1"/>
              <a:t>từng</a:t>
            </a:r>
            <a:r>
              <a:rPr lang="en-US" sz="1800" dirty="0"/>
              <a:t> bit </a:t>
            </a:r>
            <a:r>
              <a:rPr lang="en-US" sz="1800" dirty="0" err="1"/>
              <a:t>một</a:t>
            </a:r>
            <a:r>
              <a:rPr lang="en-US" sz="1800" dirty="0"/>
              <a:t> </a:t>
            </a:r>
            <a:r>
              <a:rPr lang="en-US" sz="1800" dirty="0" err="1"/>
              <a:t>dọc</a:t>
            </a:r>
            <a:r>
              <a:rPr lang="en-US" sz="1800" dirty="0"/>
              <a:t> </a:t>
            </a:r>
            <a:r>
              <a:rPr lang="en-US" sz="1800" dirty="0" err="1"/>
              <a:t>theo</a:t>
            </a:r>
            <a:r>
              <a:rPr lang="en-US" sz="1800" dirty="0"/>
              <a:t> </a:t>
            </a:r>
            <a:r>
              <a:rPr lang="en-US" sz="1800" dirty="0" err="1"/>
              <a:t>các</a:t>
            </a:r>
            <a:r>
              <a:rPr lang="en-US" sz="1800" dirty="0"/>
              <a:t> </a:t>
            </a:r>
            <a:r>
              <a:rPr lang="en-US" sz="1800" dirty="0" err="1"/>
              <a:t>dữ</a:t>
            </a:r>
            <a:r>
              <a:rPr lang="en-US" sz="1800" dirty="0"/>
              <a:t> </a:t>
            </a:r>
            <a:r>
              <a:rPr lang="en-US" sz="1800" dirty="0" err="1"/>
              <a:t>liệu</a:t>
            </a:r>
            <a:r>
              <a:rPr lang="en-US" sz="1800" dirty="0"/>
              <a:t> </a:t>
            </a:r>
            <a:r>
              <a:rPr lang="en-US" sz="1800" dirty="0" err="1"/>
              <a:t>được</a:t>
            </a:r>
            <a:r>
              <a:rPr lang="en-US" sz="1800" dirty="0"/>
              <a:t> </a:t>
            </a:r>
            <a:r>
              <a:rPr lang="en-US" sz="1800" dirty="0" err="1"/>
              <a:t>phân</a:t>
            </a:r>
            <a:r>
              <a:rPr lang="en-US" sz="1800" dirty="0"/>
              <a:t> </a:t>
            </a:r>
            <a:r>
              <a:rPr lang="en-US" sz="1800" dirty="0" err="1"/>
              <a:t>chia</a:t>
            </a:r>
            <a:r>
              <a:rPr lang="en-US" sz="1800" dirty="0"/>
              <a:t> </a:t>
            </a:r>
            <a:r>
              <a:rPr lang="en-US" sz="1800" dirty="0" err="1"/>
              <a:t>trên</a:t>
            </a:r>
            <a:r>
              <a:rPr lang="en-US" sz="1800" dirty="0"/>
              <a:t> </a:t>
            </a:r>
            <a:r>
              <a:rPr lang="en-US" sz="1800" dirty="0" err="1"/>
              <a:t>mỗi</a:t>
            </a:r>
            <a:r>
              <a:rPr lang="en-US" sz="1800" dirty="0"/>
              <a:t> </a:t>
            </a:r>
            <a:r>
              <a:rPr lang="en-US" sz="1800" dirty="0" err="1"/>
              <a:t>đĩa</a:t>
            </a:r>
            <a:endParaRPr lang="en-US" sz="1800" dirty="0"/>
          </a:p>
          <a:p>
            <a:r>
              <a:rPr lang="en-US" sz="1800" dirty="0"/>
              <a:t>Parity </a:t>
            </a:r>
            <a:r>
              <a:rPr lang="en-US" sz="1800" dirty="0" err="1"/>
              <a:t>được</a:t>
            </a:r>
            <a:r>
              <a:rPr lang="en-US" sz="1800" dirty="0"/>
              <a:t> </a:t>
            </a:r>
            <a:r>
              <a:rPr lang="en-US" sz="1800" dirty="0" err="1"/>
              <a:t>lưu</a:t>
            </a:r>
            <a:r>
              <a:rPr lang="en-US" sz="1800" dirty="0"/>
              <a:t> </a:t>
            </a:r>
            <a:r>
              <a:rPr lang="en-US" sz="1800" dirty="0" err="1"/>
              <a:t>trên</a:t>
            </a:r>
            <a:r>
              <a:rPr lang="en-US" sz="1800" dirty="0"/>
              <a:t> parity disk</a:t>
            </a:r>
          </a:p>
        </p:txBody>
      </p:sp>
      <p:pic>
        <p:nvPicPr>
          <p:cNvPr id="4" name="Picture 4" descr="04"/>
          <p:cNvPicPr>
            <a:picLocks noChangeAspect="1" noChangeArrowheads="1"/>
          </p:cNvPicPr>
          <p:nvPr/>
        </p:nvPicPr>
        <p:blipFill>
          <a:blip r:embed="rId3" cstate="print"/>
          <a:srcRect/>
          <a:stretch>
            <a:fillRect/>
          </a:stretch>
        </p:blipFill>
        <p:spPr bwMode="auto">
          <a:xfrm>
            <a:off x="1219200" y="3733800"/>
            <a:ext cx="6934200" cy="3124200"/>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a:t>RAID 5</a:t>
            </a:r>
          </a:p>
        </p:txBody>
      </p:sp>
      <p:sp>
        <p:nvSpPr>
          <p:cNvPr id="26627" name="Rectangle 3"/>
          <p:cNvSpPr>
            <a:spLocks noGrp="1" noChangeArrowheads="1"/>
          </p:cNvSpPr>
          <p:nvPr>
            <p:ph sz="quarter" idx="1"/>
          </p:nvPr>
        </p:nvSpPr>
        <p:spPr>
          <a:xfrm>
            <a:off x="457200" y="1524000"/>
            <a:ext cx="8229600" cy="2415809"/>
          </a:xfrm>
        </p:spPr>
        <p:txBody>
          <a:bodyPr>
            <a:normAutofit/>
          </a:bodyPr>
          <a:lstStyle/>
          <a:p>
            <a:r>
              <a:rPr lang="en-US" sz="2000" dirty="0" err="1"/>
              <a:t>Giống</a:t>
            </a:r>
            <a:r>
              <a:rPr lang="en-US" sz="2000" dirty="0"/>
              <a:t> RAID 4</a:t>
            </a:r>
          </a:p>
          <a:p>
            <a:r>
              <a:rPr lang="en-US" sz="2000" dirty="0"/>
              <a:t>Parity </a:t>
            </a:r>
            <a:r>
              <a:rPr lang="en-US" sz="2000" dirty="0" err="1"/>
              <a:t>được</a:t>
            </a:r>
            <a:r>
              <a:rPr lang="en-US" sz="2000" dirty="0"/>
              <a:t> </a:t>
            </a:r>
            <a:r>
              <a:rPr lang="en-US" sz="2000" dirty="0" err="1"/>
              <a:t>phân</a:t>
            </a:r>
            <a:r>
              <a:rPr lang="en-US" sz="2000" dirty="0"/>
              <a:t> </a:t>
            </a:r>
            <a:r>
              <a:rPr lang="en-US" sz="2000" dirty="0" err="1"/>
              <a:t>chia</a:t>
            </a:r>
            <a:r>
              <a:rPr lang="en-US" sz="2000" dirty="0"/>
              <a:t> </a:t>
            </a:r>
            <a:r>
              <a:rPr lang="en-US" sz="2000" dirty="0" err="1"/>
              <a:t>đều</a:t>
            </a:r>
            <a:r>
              <a:rPr lang="en-US" sz="2000" dirty="0"/>
              <a:t> </a:t>
            </a:r>
            <a:r>
              <a:rPr lang="en-US" sz="2000" dirty="0" err="1"/>
              <a:t>trên</a:t>
            </a:r>
            <a:r>
              <a:rPr lang="en-US" sz="2000" dirty="0"/>
              <a:t> </a:t>
            </a:r>
            <a:r>
              <a:rPr lang="en-US" sz="2000" dirty="0" err="1"/>
              <a:t>tất</a:t>
            </a:r>
            <a:r>
              <a:rPr lang="en-US" sz="2000" dirty="0"/>
              <a:t> </a:t>
            </a:r>
            <a:r>
              <a:rPr lang="en-US" sz="2000" dirty="0" err="1"/>
              <a:t>cả</a:t>
            </a:r>
            <a:r>
              <a:rPr lang="en-US" sz="2000" dirty="0"/>
              <a:t> </a:t>
            </a:r>
            <a:r>
              <a:rPr lang="en-US" sz="2000" dirty="0" err="1"/>
              <a:t>các</a:t>
            </a:r>
            <a:r>
              <a:rPr lang="en-US" sz="2000" dirty="0"/>
              <a:t> </a:t>
            </a:r>
            <a:r>
              <a:rPr lang="en-US" sz="2000" dirty="0" err="1"/>
              <a:t>đĩa</a:t>
            </a:r>
            <a:endParaRPr lang="en-US" sz="2000" dirty="0"/>
          </a:p>
          <a:p>
            <a:pPr lvl="1"/>
            <a:r>
              <a:rPr lang="en-US" sz="2000" dirty="0"/>
              <a:t>Round robin</a:t>
            </a:r>
          </a:p>
          <a:p>
            <a:r>
              <a:rPr lang="en-US" sz="2000" dirty="0" err="1"/>
              <a:t>Tránh</a:t>
            </a:r>
            <a:r>
              <a:rPr lang="en-US" sz="2000" dirty="0"/>
              <a:t> </a:t>
            </a:r>
            <a:r>
              <a:rPr lang="en-US" sz="2000" dirty="0" err="1"/>
              <a:t>hiện</a:t>
            </a:r>
            <a:r>
              <a:rPr lang="en-US" sz="2000" dirty="0"/>
              <a:t> </a:t>
            </a:r>
            <a:r>
              <a:rPr lang="en-US" sz="2000" dirty="0" err="1"/>
              <a:t>tượng</a:t>
            </a:r>
            <a:r>
              <a:rPr lang="en-US" sz="2000" dirty="0"/>
              <a:t> </a:t>
            </a:r>
            <a:r>
              <a:rPr lang="en-US" sz="2000" dirty="0" err="1"/>
              <a:t>nghẽn</a:t>
            </a:r>
            <a:r>
              <a:rPr lang="en-US" sz="2000" dirty="0"/>
              <a:t> </a:t>
            </a:r>
            <a:r>
              <a:rPr lang="en-US" sz="2000" dirty="0" err="1"/>
              <a:t>cổ</a:t>
            </a:r>
            <a:r>
              <a:rPr lang="en-US" sz="2000" dirty="0"/>
              <a:t> </a:t>
            </a:r>
            <a:r>
              <a:rPr lang="en-US" sz="2000" dirty="0" err="1"/>
              <a:t>chai</a:t>
            </a:r>
            <a:r>
              <a:rPr lang="en-US" sz="2000" dirty="0"/>
              <a:t> ở parity disk </a:t>
            </a:r>
            <a:r>
              <a:rPr lang="en-US" sz="2000" dirty="0" err="1"/>
              <a:t>của</a:t>
            </a:r>
            <a:r>
              <a:rPr lang="en-US" sz="2000" dirty="0"/>
              <a:t> RAID 4</a:t>
            </a:r>
          </a:p>
          <a:p>
            <a:r>
              <a:rPr lang="en-US" sz="2000" dirty="0" err="1"/>
              <a:t>Thường</a:t>
            </a:r>
            <a:r>
              <a:rPr lang="en-US" sz="2000" dirty="0"/>
              <a:t> </a:t>
            </a:r>
            <a:r>
              <a:rPr lang="en-US" sz="2000" dirty="0" err="1"/>
              <a:t>được</a:t>
            </a:r>
            <a:r>
              <a:rPr lang="en-US" sz="2000" dirty="0"/>
              <a:t> </a:t>
            </a:r>
            <a:r>
              <a:rPr lang="en-US" sz="2000" dirty="0" err="1"/>
              <a:t>sử</a:t>
            </a:r>
            <a:r>
              <a:rPr lang="en-US" sz="2000" dirty="0"/>
              <a:t> </a:t>
            </a:r>
            <a:r>
              <a:rPr lang="en-US" sz="2000" dirty="0" err="1"/>
              <a:t>dụng</a:t>
            </a:r>
            <a:r>
              <a:rPr lang="en-US" sz="2000" dirty="0"/>
              <a:t> </a:t>
            </a:r>
            <a:r>
              <a:rPr lang="en-US" sz="2000" dirty="0" err="1"/>
              <a:t>trong</a:t>
            </a:r>
            <a:r>
              <a:rPr lang="en-US" sz="2000" dirty="0"/>
              <a:t> </a:t>
            </a:r>
            <a:r>
              <a:rPr lang="en-US" sz="2000" dirty="0" err="1"/>
              <a:t>các</a:t>
            </a:r>
            <a:r>
              <a:rPr lang="en-US" sz="2000" dirty="0"/>
              <a:t> network servers</a:t>
            </a:r>
          </a:p>
        </p:txBody>
      </p:sp>
      <p:pic>
        <p:nvPicPr>
          <p:cNvPr id="4" name="Picture 5"/>
          <p:cNvPicPr>
            <a:picLocks noChangeAspect="1" noChangeArrowheads="1"/>
          </p:cNvPicPr>
          <p:nvPr/>
        </p:nvPicPr>
        <p:blipFill>
          <a:blip r:embed="rId3" cstate="print"/>
          <a:srcRect/>
          <a:stretch>
            <a:fillRect/>
          </a:stretch>
        </p:blipFill>
        <p:spPr bwMode="auto">
          <a:xfrm>
            <a:off x="1219200" y="3867150"/>
            <a:ext cx="6943725" cy="2990850"/>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RAID 6</a:t>
            </a:r>
          </a:p>
        </p:txBody>
      </p:sp>
      <p:sp>
        <p:nvSpPr>
          <p:cNvPr id="3" name="Content Placeholder 2"/>
          <p:cNvSpPr>
            <a:spLocks noGrp="1"/>
          </p:cNvSpPr>
          <p:nvPr>
            <p:ph sz="quarter" idx="1"/>
          </p:nvPr>
        </p:nvSpPr>
        <p:spPr>
          <a:xfrm>
            <a:off x="457200" y="1600200"/>
            <a:ext cx="8229600" cy="1905000"/>
          </a:xfrm>
        </p:spPr>
        <p:txBody>
          <a:bodyPr>
            <a:normAutofit/>
          </a:bodyPr>
          <a:lstStyle/>
          <a:p>
            <a:r>
              <a:rPr lang="en-US" sz="2400" dirty="0" err="1">
                <a:cs typeface="Times New Roman" charset="0"/>
              </a:rPr>
              <a:t>Dữ</a:t>
            </a:r>
            <a:r>
              <a:rPr lang="en-US" sz="2400" dirty="0">
                <a:cs typeface="Times New Roman" charset="0"/>
              </a:rPr>
              <a:t> </a:t>
            </a:r>
            <a:r>
              <a:rPr lang="en-US" sz="2400" dirty="0" err="1">
                <a:cs typeface="Times New Roman" charset="0"/>
              </a:rPr>
              <a:t>liệu</a:t>
            </a:r>
            <a:r>
              <a:rPr lang="en-US" sz="2400" dirty="0">
                <a:cs typeface="Times New Roman" charset="0"/>
              </a:rPr>
              <a:t> </a:t>
            </a:r>
            <a:r>
              <a:rPr lang="en-US" sz="2400" dirty="0" err="1">
                <a:cs typeface="Times New Roman" charset="0"/>
              </a:rPr>
              <a:t>được</a:t>
            </a:r>
            <a:r>
              <a:rPr lang="en-US" sz="2400" dirty="0">
                <a:cs typeface="Times New Roman" charset="0"/>
              </a:rPr>
              <a:t> </a:t>
            </a:r>
            <a:r>
              <a:rPr lang="en-US" sz="2400" dirty="0" err="1">
                <a:cs typeface="Times New Roman" charset="0"/>
              </a:rPr>
              <a:t>ghi</a:t>
            </a:r>
            <a:r>
              <a:rPr lang="en-US" sz="2400" dirty="0">
                <a:cs typeface="Times New Roman" charset="0"/>
              </a:rPr>
              <a:t> </a:t>
            </a:r>
            <a:r>
              <a:rPr lang="en-US" sz="2400" dirty="0" err="1">
                <a:cs typeface="Times New Roman" charset="0"/>
              </a:rPr>
              <a:t>trên</a:t>
            </a:r>
            <a:r>
              <a:rPr lang="en-US" sz="2400" dirty="0">
                <a:cs typeface="Times New Roman" charset="0"/>
              </a:rPr>
              <a:t> </a:t>
            </a:r>
            <a:r>
              <a:rPr lang="en-US" sz="2400" dirty="0" err="1">
                <a:cs typeface="Times New Roman" charset="0"/>
              </a:rPr>
              <a:t>các</a:t>
            </a:r>
            <a:r>
              <a:rPr lang="en-US" sz="2400" dirty="0">
                <a:cs typeface="Times New Roman" charset="0"/>
              </a:rPr>
              <a:t> </a:t>
            </a:r>
            <a:r>
              <a:rPr lang="en-US" sz="2400" dirty="0" err="1">
                <a:cs typeface="Times New Roman" charset="0"/>
              </a:rPr>
              <a:t>đĩa</a:t>
            </a:r>
            <a:r>
              <a:rPr lang="en-US" sz="2400" dirty="0">
                <a:cs typeface="Times New Roman" charset="0"/>
              </a:rPr>
              <a:t> </a:t>
            </a:r>
            <a:r>
              <a:rPr lang="en-US" sz="2400" dirty="0" err="1">
                <a:cs typeface="Times New Roman" charset="0"/>
              </a:rPr>
              <a:t>độc</a:t>
            </a:r>
            <a:r>
              <a:rPr lang="en-US" sz="2400" dirty="0">
                <a:cs typeface="Times New Roman" charset="0"/>
              </a:rPr>
              <a:t> </a:t>
            </a:r>
            <a:r>
              <a:rPr lang="en-US" sz="2400" dirty="0" err="1">
                <a:cs typeface="Times New Roman" charset="0"/>
              </a:rPr>
              <a:t>lập</a:t>
            </a:r>
            <a:r>
              <a:rPr lang="en-US" sz="2400" dirty="0">
                <a:cs typeface="Times New Roman" charset="0"/>
              </a:rPr>
              <a:t>, </a:t>
            </a:r>
            <a:r>
              <a:rPr lang="en-US" sz="2400" dirty="0" err="1">
                <a:cs typeface="Times New Roman" charset="0"/>
              </a:rPr>
              <a:t>sử</a:t>
            </a:r>
            <a:r>
              <a:rPr lang="en-US" sz="2400" dirty="0">
                <a:cs typeface="Times New Roman" charset="0"/>
              </a:rPr>
              <a:t> </a:t>
            </a:r>
            <a:r>
              <a:rPr lang="en-US" sz="2400" dirty="0" err="1">
                <a:cs typeface="Times New Roman" charset="0"/>
              </a:rPr>
              <a:t>dụng</a:t>
            </a:r>
            <a:r>
              <a:rPr lang="en-US" sz="2400" dirty="0">
                <a:cs typeface="Times New Roman" charset="0"/>
              </a:rPr>
              <a:t> </a:t>
            </a:r>
            <a:r>
              <a:rPr lang="en-US" sz="2400" dirty="0" err="1">
                <a:cs typeface="Times New Roman" charset="0"/>
              </a:rPr>
              <a:t>phối</a:t>
            </a:r>
            <a:r>
              <a:rPr lang="en-US" sz="2400" dirty="0">
                <a:cs typeface="Times New Roman" charset="0"/>
              </a:rPr>
              <a:t> </a:t>
            </a:r>
            <a:r>
              <a:rPr lang="en-US" sz="2400" dirty="0" err="1">
                <a:cs typeface="Times New Roman" charset="0"/>
              </a:rPr>
              <a:t>hợp</a:t>
            </a:r>
            <a:r>
              <a:rPr lang="en-US" sz="2400" dirty="0">
                <a:cs typeface="Times New Roman" charset="0"/>
              </a:rPr>
              <a:t> 2 parity </a:t>
            </a:r>
            <a:r>
              <a:rPr lang="en-US" sz="2400" dirty="0" err="1">
                <a:cs typeface="Times New Roman" charset="0"/>
              </a:rPr>
              <a:t>riêng</a:t>
            </a:r>
            <a:r>
              <a:rPr lang="en-US" sz="2400" dirty="0">
                <a:cs typeface="Times New Roman" charset="0"/>
              </a:rPr>
              <a:t> </a:t>
            </a:r>
            <a:r>
              <a:rPr lang="en-US" sz="2400" dirty="0" err="1">
                <a:cs typeface="Times New Roman" charset="0"/>
              </a:rPr>
              <a:t>biệt</a:t>
            </a:r>
            <a:endParaRPr lang="en-US" sz="2400" dirty="0">
              <a:cs typeface="Times New Roman" charset="0"/>
            </a:endParaRPr>
          </a:p>
          <a:p>
            <a:r>
              <a:rPr lang="en-US" sz="2400" dirty="0" err="1">
                <a:cs typeface="Times New Roman" charset="0"/>
              </a:rPr>
              <a:t>Tương</a:t>
            </a:r>
            <a:r>
              <a:rPr lang="en-US" sz="2400" dirty="0">
                <a:cs typeface="Times New Roman" charset="0"/>
              </a:rPr>
              <a:t> </a:t>
            </a:r>
            <a:r>
              <a:rPr lang="en-US" sz="2400" dirty="0" err="1">
                <a:cs typeface="Times New Roman" charset="0"/>
              </a:rPr>
              <a:t>tự</a:t>
            </a:r>
            <a:r>
              <a:rPr lang="en-US" sz="2400" dirty="0">
                <a:cs typeface="Times New Roman" charset="0"/>
              </a:rPr>
              <a:t> </a:t>
            </a:r>
            <a:r>
              <a:rPr lang="en-US" sz="2400" dirty="0" err="1">
                <a:cs typeface="Times New Roman" charset="0"/>
              </a:rPr>
              <a:t>như</a:t>
            </a:r>
            <a:r>
              <a:rPr lang="en-US" sz="2400" dirty="0">
                <a:cs typeface="Times New Roman" charset="0"/>
              </a:rPr>
              <a:t> RAID 5, </a:t>
            </a:r>
            <a:r>
              <a:rPr lang="en-US" sz="2400" dirty="0" err="1">
                <a:cs typeface="Times New Roman" charset="0"/>
              </a:rPr>
              <a:t>nhưng</a:t>
            </a:r>
            <a:r>
              <a:rPr lang="en-US" sz="2400" dirty="0">
                <a:cs typeface="Times New Roman" charset="0"/>
              </a:rPr>
              <a:t> RAID 6 </a:t>
            </a:r>
            <a:r>
              <a:rPr lang="en-US" sz="2400" dirty="0" err="1">
                <a:cs typeface="Times New Roman" charset="0"/>
              </a:rPr>
              <a:t>sử</a:t>
            </a:r>
            <a:r>
              <a:rPr lang="en-US" sz="2400" dirty="0">
                <a:cs typeface="Times New Roman" charset="0"/>
              </a:rPr>
              <a:t> </a:t>
            </a:r>
            <a:r>
              <a:rPr lang="en-US" sz="2400" dirty="0" err="1">
                <a:cs typeface="Times New Roman" charset="0"/>
              </a:rPr>
              <a:t>dụng</a:t>
            </a:r>
            <a:r>
              <a:rPr lang="en-US" sz="2400" dirty="0">
                <a:cs typeface="Times New Roman" charset="0"/>
              </a:rPr>
              <a:t> </a:t>
            </a:r>
            <a:r>
              <a:rPr lang="en-US" sz="2400" dirty="0" err="1">
                <a:cs typeface="Times New Roman" charset="0"/>
              </a:rPr>
              <a:t>thêm</a:t>
            </a:r>
            <a:r>
              <a:rPr lang="en-US" sz="2400" dirty="0">
                <a:cs typeface="Times New Roman" charset="0"/>
              </a:rPr>
              <a:t> 1 parity </a:t>
            </a:r>
            <a:r>
              <a:rPr lang="en-US" sz="2400" dirty="0" err="1">
                <a:cs typeface="Times New Roman" charset="0"/>
              </a:rPr>
              <a:t>chịu</a:t>
            </a:r>
            <a:r>
              <a:rPr lang="en-US" sz="2400" dirty="0">
                <a:cs typeface="Times New Roman" charset="0"/>
              </a:rPr>
              <a:t> </a:t>
            </a:r>
            <a:r>
              <a:rPr lang="en-US" sz="2400" dirty="0" err="1">
                <a:cs typeface="Times New Roman" charset="0"/>
              </a:rPr>
              <a:t>lỗi</a:t>
            </a:r>
            <a:r>
              <a:rPr lang="en-US" sz="2400" dirty="0">
                <a:cs typeface="Times New Roman" charset="0"/>
              </a:rPr>
              <a:t> </a:t>
            </a:r>
            <a:r>
              <a:rPr lang="en-US" sz="2400" dirty="0" err="1">
                <a:cs typeface="Times New Roman" charset="0"/>
              </a:rPr>
              <a:t>thứ</a:t>
            </a:r>
            <a:r>
              <a:rPr lang="en-US" sz="2400" dirty="0">
                <a:cs typeface="Times New Roman" charset="0"/>
              </a:rPr>
              <a:t> 2.</a:t>
            </a:r>
          </a:p>
        </p:txBody>
      </p:sp>
      <p:pic>
        <p:nvPicPr>
          <p:cNvPr id="4" name="Picture 4" descr="06"/>
          <p:cNvPicPr>
            <a:picLocks noChangeAspect="1" noChangeArrowheads="1"/>
          </p:cNvPicPr>
          <p:nvPr/>
        </p:nvPicPr>
        <p:blipFill>
          <a:blip r:embed="rId2" cstate="print"/>
          <a:srcRect/>
          <a:stretch>
            <a:fillRect/>
          </a:stretch>
        </p:blipFill>
        <p:spPr bwMode="auto">
          <a:xfrm>
            <a:off x="1219200" y="3352800"/>
            <a:ext cx="6705600" cy="3429000"/>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400" dirty="0"/>
              <a:t>Network Attached Storage (NAS)</a:t>
            </a:r>
            <a:br>
              <a:rPr lang="en-US" sz="2400" dirty="0"/>
            </a:br>
            <a:r>
              <a:rPr lang="en-US" sz="2400" dirty="0" err="1"/>
              <a:t>vs</a:t>
            </a:r>
            <a:br>
              <a:rPr lang="en-US" sz="2400" dirty="0"/>
            </a:br>
            <a:r>
              <a:rPr lang="en-US" sz="2400" dirty="0"/>
              <a:t>Storage Area Network (SAN)</a:t>
            </a:r>
          </a:p>
        </p:txBody>
      </p:sp>
      <p:sp>
        <p:nvSpPr>
          <p:cNvPr id="3" name="Content Placeholder 2"/>
          <p:cNvSpPr>
            <a:spLocks noGrp="1"/>
          </p:cNvSpPr>
          <p:nvPr>
            <p:ph sz="quarter" idx="1"/>
          </p:nvPr>
        </p:nvSpPr>
        <p:spPr>
          <a:xfrm>
            <a:off x="612648" y="1600200"/>
            <a:ext cx="8153400" cy="2514600"/>
          </a:xfrm>
        </p:spPr>
        <p:txBody>
          <a:bodyPr>
            <a:normAutofit/>
          </a:bodyPr>
          <a:lstStyle/>
          <a:p>
            <a:r>
              <a:rPr lang="en-US" sz="1800" b="1" dirty="0"/>
              <a:t>Wires</a:t>
            </a:r>
            <a:endParaRPr lang="en-US" sz="1800" dirty="0"/>
          </a:p>
          <a:p>
            <a:pPr lvl="1"/>
            <a:r>
              <a:rPr lang="en-US" sz="1800" dirty="0"/>
              <a:t>NAS </a:t>
            </a:r>
            <a:r>
              <a:rPr lang="en-US" sz="1800" dirty="0" err="1"/>
              <a:t>dùng</a:t>
            </a:r>
            <a:r>
              <a:rPr lang="en-US" sz="1800" dirty="0"/>
              <a:t> TCP/IP Networks</a:t>
            </a:r>
          </a:p>
          <a:p>
            <a:pPr lvl="2"/>
            <a:r>
              <a:rPr lang="en-US" sz="1500" dirty="0"/>
              <a:t>Ethernet, FDDI, ATM (TCP/IP over </a:t>
            </a:r>
            <a:r>
              <a:rPr lang="en-US" sz="1500" dirty="0" err="1"/>
              <a:t>Fibre</a:t>
            </a:r>
            <a:r>
              <a:rPr lang="en-US" sz="1500" dirty="0"/>
              <a:t> Channel)</a:t>
            </a:r>
          </a:p>
          <a:p>
            <a:pPr lvl="1"/>
            <a:r>
              <a:rPr lang="en-US" sz="1800" dirty="0"/>
              <a:t>SAN </a:t>
            </a:r>
            <a:r>
              <a:rPr lang="en-US" sz="1800" dirty="0" err="1"/>
              <a:t>dùng</a:t>
            </a:r>
            <a:r>
              <a:rPr lang="en-US" sz="1800" dirty="0"/>
              <a:t> </a:t>
            </a:r>
            <a:r>
              <a:rPr lang="en-US" sz="1800" dirty="0" err="1"/>
              <a:t>Fibre</a:t>
            </a:r>
            <a:r>
              <a:rPr lang="en-US" sz="1800" dirty="0"/>
              <a:t> Channel</a:t>
            </a:r>
          </a:p>
          <a:p>
            <a:r>
              <a:rPr lang="en-US" sz="1800" b="1" dirty="0"/>
              <a:t>Protocols</a:t>
            </a:r>
            <a:endParaRPr lang="en-US" sz="1800" dirty="0"/>
          </a:p>
          <a:p>
            <a:pPr lvl="1"/>
            <a:r>
              <a:rPr lang="en-US" sz="1800" dirty="0"/>
              <a:t>NAS </a:t>
            </a:r>
            <a:r>
              <a:rPr lang="en-US" sz="1800" dirty="0" err="1"/>
              <a:t>dùng</a:t>
            </a:r>
            <a:r>
              <a:rPr lang="en-US" sz="1800" dirty="0"/>
              <a:t> TCP/IP and NFS/CIFS/HTTP</a:t>
            </a:r>
          </a:p>
          <a:p>
            <a:pPr lvl="1"/>
            <a:r>
              <a:rPr lang="en-US" sz="1800" dirty="0"/>
              <a:t>SAN </a:t>
            </a:r>
            <a:r>
              <a:rPr lang="en-US" sz="1800" dirty="0" err="1"/>
              <a:t>dùng</a:t>
            </a:r>
            <a:r>
              <a:rPr lang="en-US" sz="1800" dirty="0"/>
              <a:t> Encapsulated SCSI </a:t>
            </a:r>
          </a:p>
          <a:p>
            <a:endParaRPr lang="en-US" sz="1800" dirty="0"/>
          </a:p>
        </p:txBody>
      </p:sp>
      <p:pic>
        <p:nvPicPr>
          <p:cNvPr id="1026" name="Picture 2"/>
          <p:cNvPicPr>
            <a:picLocks noChangeAspect="1" noChangeArrowheads="1"/>
          </p:cNvPicPr>
          <p:nvPr/>
        </p:nvPicPr>
        <p:blipFill>
          <a:blip r:embed="rId2" cstate="print"/>
          <a:srcRect/>
          <a:stretch>
            <a:fillRect/>
          </a:stretch>
        </p:blipFill>
        <p:spPr bwMode="auto">
          <a:xfrm>
            <a:off x="1371600" y="4114800"/>
            <a:ext cx="2857500" cy="252412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5181600" y="4105275"/>
            <a:ext cx="2857500" cy="2524125"/>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NAS </a:t>
            </a:r>
            <a:r>
              <a:rPr lang="en-US" dirty="0" err="1"/>
              <a:t>vs</a:t>
            </a:r>
            <a:r>
              <a:rPr lang="en-US" dirty="0"/>
              <a:t> SAN (</a:t>
            </a:r>
            <a:r>
              <a:rPr lang="en-US" dirty="0" err="1"/>
              <a:t>tt</a:t>
            </a:r>
            <a:r>
              <a:rPr lang="en-US" dirty="0"/>
              <a:t>)</a:t>
            </a:r>
          </a:p>
        </p:txBody>
      </p:sp>
      <p:graphicFrame>
        <p:nvGraphicFramePr>
          <p:cNvPr id="4" name="Content Placeholder 3"/>
          <p:cNvGraphicFramePr>
            <a:graphicFrameLocks noGrp="1"/>
          </p:cNvGraphicFramePr>
          <p:nvPr>
            <p:ph sz="quarter" idx="1"/>
          </p:nvPr>
        </p:nvGraphicFramePr>
        <p:xfrm>
          <a:off x="304800" y="1600200"/>
          <a:ext cx="8610601" cy="4623344"/>
        </p:xfrm>
        <a:graphic>
          <a:graphicData uri="http://schemas.openxmlformats.org/drawingml/2006/table">
            <a:tbl>
              <a:tblPr/>
              <a:tblGrid>
                <a:gridCol w="3967630">
                  <a:extLst>
                    <a:ext uri="{9D8B030D-6E8A-4147-A177-3AD203B41FA5}">
                      <a16:colId xmlns:a16="http://schemas.microsoft.com/office/drawing/2014/main" val="20000"/>
                    </a:ext>
                  </a:extLst>
                </a:gridCol>
                <a:gridCol w="91588">
                  <a:extLst>
                    <a:ext uri="{9D8B030D-6E8A-4147-A177-3AD203B41FA5}">
                      <a16:colId xmlns:a16="http://schemas.microsoft.com/office/drawing/2014/main" val="20001"/>
                    </a:ext>
                  </a:extLst>
                </a:gridCol>
                <a:gridCol w="4551383">
                  <a:extLst>
                    <a:ext uri="{9D8B030D-6E8A-4147-A177-3AD203B41FA5}">
                      <a16:colId xmlns:a16="http://schemas.microsoft.com/office/drawing/2014/main" val="20002"/>
                    </a:ext>
                  </a:extLst>
                </a:gridCol>
              </a:tblGrid>
              <a:tr h="289266">
                <a:tc>
                  <a:txBody>
                    <a:bodyPr/>
                    <a:lstStyle/>
                    <a:p>
                      <a:pPr algn="ctr"/>
                      <a:r>
                        <a:rPr lang="en-US" sz="1800" b="1" dirty="0"/>
                        <a:t>NAS</a:t>
                      </a:r>
                      <a:endParaRPr lang="en-US" sz="1800" dirty="0"/>
                    </a:p>
                  </a:txBody>
                  <a:tcPr marL="28636" marR="28636" marT="14318" marB="14318">
                    <a:lnL>
                      <a:noFill/>
                    </a:lnL>
                    <a:lnR>
                      <a:noFill/>
                    </a:lnR>
                    <a:lnT>
                      <a:noFill/>
                    </a:lnT>
                    <a:lnB>
                      <a:noFill/>
                    </a:lnB>
                  </a:tcPr>
                </a:tc>
                <a:tc>
                  <a:txBody>
                    <a:bodyPr/>
                    <a:lstStyle/>
                    <a:p>
                      <a:r>
                        <a:rPr lang="en-US" sz="1800"/>
                        <a:t> </a:t>
                      </a:r>
                    </a:p>
                  </a:txBody>
                  <a:tcPr marL="28636" marR="28636" marT="14318" marB="14318" anchor="ctr">
                    <a:lnL>
                      <a:noFill/>
                    </a:lnL>
                    <a:lnR>
                      <a:noFill/>
                    </a:lnR>
                    <a:lnT>
                      <a:noFill/>
                    </a:lnT>
                    <a:lnB>
                      <a:noFill/>
                    </a:lnB>
                  </a:tcPr>
                </a:tc>
                <a:tc>
                  <a:txBody>
                    <a:bodyPr/>
                    <a:lstStyle/>
                    <a:p>
                      <a:pPr algn="ctr"/>
                      <a:r>
                        <a:rPr lang="en-US" sz="1800" b="1" dirty="0"/>
                        <a:t>SAN</a:t>
                      </a:r>
                      <a:endParaRPr lang="en-US" sz="1800" dirty="0"/>
                    </a:p>
                  </a:txBody>
                  <a:tcPr marL="28636" marR="28636" marT="14318" marB="14318">
                    <a:lnL>
                      <a:noFill/>
                    </a:lnL>
                    <a:lnR>
                      <a:noFill/>
                    </a:lnR>
                    <a:lnT>
                      <a:noFill/>
                    </a:lnT>
                    <a:lnB>
                      <a:noFill/>
                    </a:lnB>
                  </a:tcPr>
                </a:tc>
                <a:extLst>
                  <a:ext uri="{0D108BD9-81ED-4DB2-BD59-A6C34878D82A}">
                    <a16:rowId xmlns:a16="http://schemas.microsoft.com/office/drawing/2014/main" val="10000"/>
                  </a:ext>
                </a:extLst>
              </a:tr>
              <a:tr h="929618">
                <a:tc>
                  <a:txBody>
                    <a:bodyPr/>
                    <a:lstStyle/>
                    <a:p>
                      <a:r>
                        <a:rPr lang="en-US" sz="1800" dirty="0" err="1"/>
                        <a:t>Tất</a:t>
                      </a:r>
                      <a:r>
                        <a:rPr lang="en-US" sz="1800" baseline="0" dirty="0"/>
                        <a:t> </a:t>
                      </a:r>
                      <a:r>
                        <a:rPr lang="en-US" sz="1800" baseline="0" dirty="0" err="1"/>
                        <a:t>cả</a:t>
                      </a:r>
                      <a:r>
                        <a:rPr lang="en-US" sz="1800" baseline="0" dirty="0"/>
                        <a:t> </a:t>
                      </a:r>
                      <a:r>
                        <a:rPr lang="en-US" sz="1800" baseline="0" dirty="0" err="1"/>
                        <a:t>các</a:t>
                      </a:r>
                      <a:r>
                        <a:rPr lang="en-US" sz="1800" baseline="0" dirty="0"/>
                        <a:t> </a:t>
                      </a:r>
                      <a:r>
                        <a:rPr lang="en-US" sz="1800" baseline="0" dirty="0" err="1"/>
                        <a:t>máy</a:t>
                      </a:r>
                      <a:r>
                        <a:rPr lang="en-US" sz="1800" baseline="0" dirty="0"/>
                        <a:t> </a:t>
                      </a:r>
                      <a:r>
                        <a:rPr lang="en-US" sz="1800" baseline="0" dirty="0" err="1"/>
                        <a:t>có</a:t>
                      </a:r>
                      <a:r>
                        <a:rPr lang="en-US" sz="1800" baseline="0" dirty="0"/>
                        <a:t> </a:t>
                      </a:r>
                      <a:r>
                        <a:rPr lang="en-US" sz="1800" baseline="0" dirty="0" err="1"/>
                        <a:t>thể</a:t>
                      </a:r>
                      <a:r>
                        <a:rPr lang="en-US" sz="1800" baseline="0" dirty="0"/>
                        <a:t> </a:t>
                      </a:r>
                      <a:r>
                        <a:rPr lang="en-US" sz="1800" baseline="0" dirty="0" err="1"/>
                        <a:t>kết</a:t>
                      </a:r>
                      <a:r>
                        <a:rPr lang="en-US" sz="1800" baseline="0" dirty="0"/>
                        <a:t> </a:t>
                      </a:r>
                      <a:r>
                        <a:rPr lang="en-US" sz="1800" baseline="0" dirty="0" err="1"/>
                        <a:t>nối</a:t>
                      </a:r>
                      <a:r>
                        <a:rPr lang="en-US" sz="1800" baseline="0" dirty="0"/>
                        <a:t> </a:t>
                      </a:r>
                      <a:r>
                        <a:rPr lang="en-US" sz="1800" baseline="0" dirty="0" err="1"/>
                        <a:t>đến</a:t>
                      </a:r>
                      <a:r>
                        <a:rPr lang="en-US" sz="1800" baseline="0" dirty="0"/>
                        <a:t> NAS </a:t>
                      </a:r>
                      <a:r>
                        <a:rPr lang="en-US" sz="1800" baseline="0" dirty="0" err="1"/>
                        <a:t>thông</a:t>
                      </a:r>
                      <a:r>
                        <a:rPr lang="en-US" sz="1800" baseline="0" dirty="0"/>
                        <a:t> qua LAN </a:t>
                      </a:r>
                      <a:r>
                        <a:rPr lang="en-US" sz="1800" baseline="0" dirty="0" err="1"/>
                        <a:t>hoặc</a:t>
                      </a:r>
                      <a:r>
                        <a:rPr lang="en-US" sz="1800" baseline="0" dirty="0"/>
                        <a:t> WAN </a:t>
                      </a:r>
                      <a:r>
                        <a:rPr lang="en-US" sz="1800" baseline="0" dirty="0" err="1"/>
                        <a:t>để</a:t>
                      </a:r>
                      <a:r>
                        <a:rPr lang="en-US" sz="1800" baseline="0" dirty="0"/>
                        <a:t> </a:t>
                      </a:r>
                      <a:r>
                        <a:rPr lang="en-US" sz="1800" baseline="0" dirty="0" err="1"/>
                        <a:t>chia</a:t>
                      </a:r>
                      <a:r>
                        <a:rPr lang="en-US" sz="1800" baseline="0" dirty="0"/>
                        <a:t> </a:t>
                      </a:r>
                      <a:r>
                        <a:rPr lang="en-US" sz="1800" baseline="0" dirty="0" err="1"/>
                        <a:t>sẻ</a:t>
                      </a:r>
                      <a:r>
                        <a:rPr lang="en-US" sz="1800" baseline="0" dirty="0"/>
                        <a:t> files.</a:t>
                      </a:r>
                      <a:endParaRPr lang="en-US" sz="1800" dirty="0"/>
                    </a:p>
                  </a:txBody>
                  <a:tcPr marL="28636" marR="28636" marT="14318" marB="14318">
                    <a:lnL>
                      <a:noFill/>
                    </a:lnL>
                    <a:lnR>
                      <a:noFill/>
                    </a:lnR>
                    <a:lnT>
                      <a:noFill/>
                    </a:lnT>
                    <a:lnB>
                      <a:noFill/>
                    </a:lnB>
                  </a:tcPr>
                </a:tc>
                <a:tc>
                  <a:txBody>
                    <a:bodyPr/>
                    <a:lstStyle/>
                    <a:p>
                      <a:r>
                        <a:rPr lang="en-US" sz="1800"/>
                        <a:t> </a:t>
                      </a:r>
                    </a:p>
                  </a:txBody>
                  <a:tcPr marL="28636" marR="28636" marT="14318" marB="14318" anchor="ctr">
                    <a:lnL>
                      <a:noFill/>
                    </a:lnL>
                    <a:lnR>
                      <a:noFill/>
                    </a:lnR>
                    <a:lnT>
                      <a:noFill/>
                    </a:lnT>
                    <a:lnB>
                      <a:noFill/>
                    </a:lnB>
                    <a:solidFill>
                      <a:srgbClr val="300098"/>
                    </a:solidFill>
                  </a:tcPr>
                </a:tc>
                <a:tc>
                  <a:txBody>
                    <a:bodyPr/>
                    <a:lstStyle/>
                    <a:p>
                      <a:r>
                        <a:rPr lang="en-US" sz="1800" dirty="0" err="1"/>
                        <a:t>Chí</a:t>
                      </a:r>
                      <a:r>
                        <a:rPr lang="en-US" sz="1800" baseline="0" dirty="0"/>
                        <a:t> </a:t>
                      </a:r>
                      <a:r>
                        <a:rPr lang="en-US" sz="1800" baseline="0" dirty="0" err="1"/>
                        <a:t>có</a:t>
                      </a:r>
                      <a:r>
                        <a:rPr lang="en-US" sz="1800" baseline="0" dirty="0"/>
                        <a:t> server </a:t>
                      </a:r>
                      <a:r>
                        <a:rPr lang="en-US" sz="1800" baseline="0" dirty="0" err="1"/>
                        <a:t>dùng</a:t>
                      </a:r>
                      <a:r>
                        <a:rPr lang="en-US" sz="1800" baseline="0" dirty="0"/>
                        <a:t> </a:t>
                      </a:r>
                      <a:r>
                        <a:rPr lang="en-US" sz="1800" dirty="0"/>
                        <a:t>SCSI </a:t>
                      </a:r>
                      <a:r>
                        <a:rPr lang="en-US" sz="1800" dirty="0" err="1"/>
                        <a:t>Fibre</a:t>
                      </a:r>
                      <a:r>
                        <a:rPr lang="en-US" sz="1800" dirty="0"/>
                        <a:t> Channel </a:t>
                      </a:r>
                      <a:r>
                        <a:rPr lang="en-US" sz="1800" dirty="0" err="1"/>
                        <a:t>mới</a:t>
                      </a:r>
                      <a:r>
                        <a:rPr lang="en-US" sz="1800" baseline="0" dirty="0"/>
                        <a:t> </a:t>
                      </a:r>
                      <a:r>
                        <a:rPr lang="en-US" sz="1800" baseline="0" dirty="0" err="1"/>
                        <a:t>có</a:t>
                      </a:r>
                      <a:r>
                        <a:rPr lang="en-US" sz="1800" baseline="0" dirty="0"/>
                        <a:t> </a:t>
                      </a:r>
                      <a:r>
                        <a:rPr lang="en-US" sz="1800" baseline="0" dirty="0" err="1"/>
                        <a:t>thể</a:t>
                      </a:r>
                      <a:r>
                        <a:rPr lang="en-US" sz="1800" baseline="0" dirty="0"/>
                        <a:t> </a:t>
                      </a:r>
                      <a:r>
                        <a:rPr lang="en-US" sz="1800" baseline="0" dirty="0" err="1"/>
                        <a:t>kết</a:t>
                      </a:r>
                      <a:r>
                        <a:rPr lang="en-US" sz="1800" baseline="0" dirty="0"/>
                        <a:t> </a:t>
                      </a:r>
                      <a:r>
                        <a:rPr lang="en-US" sz="1800" baseline="0" dirty="0" err="1"/>
                        <a:t>nối</a:t>
                      </a:r>
                      <a:r>
                        <a:rPr lang="en-US" sz="1800" baseline="0" dirty="0"/>
                        <a:t> </a:t>
                      </a:r>
                      <a:r>
                        <a:rPr lang="en-US" sz="1800" baseline="0" dirty="0" err="1"/>
                        <a:t>đến</a:t>
                      </a:r>
                      <a:r>
                        <a:rPr lang="en-US" sz="1800" dirty="0"/>
                        <a:t> SAN. </a:t>
                      </a:r>
                      <a:r>
                        <a:rPr lang="en-US" sz="1800" dirty="0" err="1"/>
                        <a:t>Giới</a:t>
                      </a:r>
                      <a:r>
                        <a:rPr lang="en-US" sz="1800" baseline="0" dirty="0"/>
                        <a:t> </a:t>
                      </a:r>
                      <a:r>
                        <a:rPr lang="en-US" sz="1800" baseline="0" dirty="0" err="1"/>
                        <a:t>hạn</a:t>
                      </a:r>
                      <a:r>
                        <a:rPr lang="en-US" sz="1800" baseline="0" dirty="0"/>
                        <a:t> 10km</a:t>
                      </a:r>
                      <a:endParaRPr lang="en-US" sz="1800" dirty="0"/>
                    </a:p>
                  </a:txBody>
                  <a:tcPr marL="28636" marR="28636" marT="14318" marB="14318">
                    <a:lnL>
                      <a:noFill/>
                    </a:lnL>
                    <a:lnR>
                      <a:noFill/>
                    </a:lnR>
                    <a:lnT>
                      <a:noFill/>
                    </a:lnT>
                    <a:lnB>
                      <a:noFill/>
                    </a:lnB>
                  </a:tcPr>
                </a:tc>
                <a:extLst>
                  <a:ext uri="{0D108BD9-81ED-4DB2-BD59-A6C34878D82A}">
                    <a16:rowId xmlns:a16="http://schemas.microsoft.com/office/drawing/2014/main" val="10001"/>
                  </a:ext>
                </a:extLst>
              </a:tr>
              <a:tr h="977226">
                <a:tc>
                  <a:txBody>
                    <a:bodyPr/>
                    <a:lstStyle/>
                    <a:p>
                      <a:r>
                        <a:rPr lang="en-US" sz="1800" dirty="0" err="1"/>
                        <a:t>Xác</a:t>
                      </a:r>
                      <a:r>
                        <a:rPr lang="en-US" sz="1800" baseline="0" dirty="0"/>
                        <a:t> </a:t>
                      </a:r>
                      <a:r>
                        <a:rPr lang="en-US" sz="1800" baseline="0" dirty="0" err="1"/>
                        <a:t>định</a:t>
                      </a:r>
                      <a:r>
                        <a:rPr lang="en-US" sz="1800" baseline="0" dirty="0"/>
                        <a:t> </a:t>
                      </a:r>
                      <a:r>
                        <a:rPr lang="en-US" sz="1800" baseline="0" dirty="0" err="1"/>
                        <a:t>dữ</a:t>
                      </a:r>
                      <a:r>
                        <a:rPr lang="en-US" sz="1800" baseline="0" dirty="0"/>
                        <a:t> </a:t>
                      </a:r>
                      <a:r>
                        <a:rPr lang="en-US" sz="1800" baseline="0" dirty="0" err="1"/>
                        <a:t>liệu</a:t>
                      </a:r>
                      <a:r>
                        <a:rPr lang="en-US" sz="1800" baseline="0" dirty="0"/>
                        <a:t> </a:t>
                      </a:r>
                      <a:r>
                        <a:rPr lang="en-US" sz="1800" baseline="0" dirty="0" err="1"/>
                        <a:t>dựa</a:t>
                      </a:r>
                      <a:r>
                        <a:rPr lang="en-US" sz="1800" baseline="0" dirty="0"/>
                        <a:t> </a:t>
                      </a:r>
                      <a:r>
                        <a:rPr lang="en-US" sz="1800" baseline="0" dirty="0" err="1"/>
                        <a:t>vào</a:t>
                      </a:r>
                      <a:r>
                        <a:rPr lang="en-US" sz="1800" baseline="0" dirty="0"/>
                        <a:t> </a:t>
                      </a:r>
                      <a:r>
                        <a:rPr lang="en-US" sz="1800" baseline="0" dirty="0" err="1"/>
                        <a:t>tên</a:t>
                      </a:r>
                      <a:r>
                        <a:rPr lang="en-US" sz="1800" baseline="0" dirty="0"/>
                        <a:t> file </a:t>
                      </a:r>
                      <a:r>
                        <a:rPr lang="en-US" sz="1800" baseline="0" dirty="0" err="1"/>
                        <a:t>và</a:t>
                      </a:r>
                      <a:r>
                        <a:rPr lang="en-US" sz="1800" baseline="0" dirty="0"/>
                        <a:t> </a:t>
                      </a:r>
                      <a:r>
                        <a:rPr lang="en-US" sz="1800" baseline="0" dirty="0" err="1"/>
                        <a:t>các</a:t>
                      </a:r>
                      <a:r>
                        <a:rPr lang="en-US" sz="1800" baseline="0" dirty="0"/>
                        <a:t> </a:t>
                      </a:r>
                      <a:r>
                        <a:rPr lang="en-US" sz="1800" dirty="0"/>
                        <a:t>byte offsets, </a:t>
                      </a:r>
                      <a:r>
                        <a:rPr lang="en-US" sz="1800" dirty="0" err="1"/>
                        <a:t>truyền</a:t>
                      </a:r>
                      <a:r>
                        <a:rPr lang="en-US" sz="1800" baseline="0" dirty="0"/>
                        <a:t> </a:t>
                      </a:r>
                      <a:r>
                        <a:rPr lang="en-US" sz="1800" dirty="0"/>
                        <a:t>file data or file meta-data</a:t>
                      </a:r>
                    </a:p>
                  </a:txBody>
                  <a:tcPr marL="28636" marR="28636" marT="14318" marB="14318">
                    <a:lnL>
                      <a:noFill/>
                    </a:lnL>
                    <a:lnR>
                      <a:noFill/>
                    </a:lnR>
                    <a:lnT>
                      <a:noFill/>
                    </a:lnT>
                    <a:lnB>
                      <a:noFill/>
                    </a:lnB>
                  </a:tcPr>
                </a:tc>
                <a:tc>
                  <a:txBody>
                    <a:bodyPr/>
                    <a:lstStyle/>
                    <a:p>
                      <a:r>
                        <a:rPr lang="en-US" sz="1800"/>
                        <a:t> </a:t>
                      </a:r>
                    </a:p>
                  </a:txBody>
                  <a:tcPr marL="28636" marR="28636" marT="14318" marB="14318" anchor="ctr">
                    <a:lnL>
                      <a:noFill/>
                    </a:lnL>
                    <a:lnR>
                      <a:noFill/>
                    </a:lnR>
                    <a:lnT>
                      <a:noFill/>
                    </a:lnT>
                    <a:lnB>
                      <a:noFill/>
                    </a:lnB>
                    <a:solidFill>
                      <a:srgbClr val="300098"/>
                    </a:solidFill>
                  </a:tcPr>
                </a:tc>
                <a:tc>
                  <a:txBody>
                    <a:bodyPr/>
                    <a:lstStyle/>
                    <a:p>
                      <a:r>
                        <a:rPr lang="en-US" sz="1800" dirty="0" err="1"/>
                        <a:t>Xác</a:t>
                      </a:r>
                      <a:r>
                        <a:rPr lang="en-US" sz="1800" baseline="0" dirty="0"/>
                        <a:t> </a:t>
                      </a:r>
                      <a:r>
                        <a:rPr lang="en-US" sz="1800" baseline="0" dirty="0" err="1"/>
                        <a:t>định</a:t>
                      </a:r>
                      <a:r>
                        <a:rPr lang="en-US" sz="1800" baseline="0" dirty="0"/>
                        <a:t> </a:t>
                      </a:r>
                      <a:r>
                        <a:rPr lang="en-US" sz="1800" baseline="0" dirty="0" err="1"/>
                        <a:t>dữ</a:t>
                      </a:r>
                      <a:r>
                        <a:rPr lang="en-US" sz="1800" baseline="0" dirty="0"/>
                        <a:t> </a:t>
                      </a:r>
                      <a:r>
                        <a:rPr lang="en-US" sz="1800" baseline="0" dirty="0" err="1"/>
                        <a:t>liệu</a:t>
                      </a:r>
                      <a:r>
                        <a:rPr lang="en-US" sz="1800" baseline="0" dirty="0"/>
                        <a:t> </a:t>
                      </a:r>
                      <a:r>
                        <a:rPr lang="en-US" sz="1800" baseline="0" dirty="0" err="1"/>
                        <a:t>dựa</a:t>
                      </a:r>
                      <a:r>
                        <a:rPr lang="en-US" sz="1800" baseline="0" dirty="0"/>
                        <a:t> </a:t>
                      </a:r>
                      <a:r>
                        <a:rPr lang="en-US" sz="1800" baseline="0" dirty="0" err="1"/>
                        <a:t>trên</a:t>
                      </a:r>
                      <a:r>
                        <a:rPr lang="en-US" sz="1800" baseline="0" dirty="0"/>
                        <a:t> </a:t>
                      </a:r>
                      <a:r>
                        <a:rPr lang="en-US" sz="1800" baseline="0" dirty="0" err="1"/>
                        <a:t>số</a:t>
                      </a:r>
                      <a:r>
                        <a:rPr lang="en-US" sz="1800" baseline="0" dirty="0"/>
                        <a:t> </a:t>
                      </a:r>
                      <a:r>
                        <a:rPr lang="en-US" sz="1800" baseline="0" dirty="0" err="1"/>
                        <a:t>hiệu</a:t>
                      </a:r>
                      <a:r>
                        <a:rPr lang="en-US" sz="1800" baseline="0" dirty="0"/>
                        <a:t> </a:t>
                      </a:r>
                      <a:r>
                        <a:rPr lang="en-US" sz="1800" baseline="0" dirty="0" err="1"/>
                        <a:t>khối</a:t>
                      </a:r>
                      <a:r>
                        <a:rPr lang="en-US" sz="1800" baseline="0" dirty="0"/>
                        <a:t> </a:t>
                      </a:r>
                      <a:r>
                        <a:rPr lang="en-US" sz="1800" baseline="0" dirty="0" err="1"/>
                        <a:t>và</a:t>
                      </a:r>
                      <a:r>
                        <a:rPr lang="en-US" sz="1800" baseline="0" dirty="0"/>
                        <a:t> </a:t>
                      </a:r>
                      <a:r>
                        <a:rPr lang="en-US" sz="1800" baseline="0" dirty="0" err="1"/>
                        <a:t>truyền</a:t>
                      </a:r>
                      <a:r>
                        <a:rPr lang="en-US" sz="1800" baseline="0" dirty="0"/>
                        <a:t> </a:t>
                      </a:r>
                      <a:r>
                        <a:rPr lang="en-US" sz="1800" baseline="0" dirty="0" err="1"/>
                        <a:t>các</a:t>
                      </a:r>
                      <a:r>
                        <a:rPr lang="en-US" sz="1800" baseline="0" dirty="0"/>
                        <a:t> </a:t>
                      </a:r>
                      <a:r>
                        <a:rPr lang="en-US" sz="1800" baseline="0" dirty="0" err="1"/>
                        <a:t>khối</a:t>
                      </a:r>
                      <a:r>
                        <a:rPr lang="en-US" sz="1800" baseline="0" dirty="0"/>
                        <a:t> </a:t>
                      </a:r>
                      <a:r>
                        <a:rPr lang="en-US" sz="1800" baseline="0" dirty="0" err="1"/>
                        <a:t>dữ</a:t>
                      </a:r>
                      <a:r>
                        <a:rPr lang="en-US" sz="1800" baseline="0" dirty="0"/>
                        <a:t> </a:t>
                      </a:r>
                      <a:r>
                        <a:rPr lang="en-US" sz="1800" baseline="0" dirty="0" err="1"/>
                        <a:t>liệu</a:t>
                      </a:r>
                      <a:r>
                        <a:rPr lang="en-US" sz="1800" baseline="0" dirty="0"/>
                        <a:t> </a:t>
                      </a:r>
                      <a:r>
                        <a:rPr lang="en-US" sz="1800" baseline="0" dirty="0" err="1"/>
                        <a:t>thô</a:t>
                      </a:r>
                      <a:r>
                        <a:rPr lang="en-US" sz="1800" baseline="0" dirty="0"/>
                        <a:t>.</a:t>
                      </a:r>
                      <a:endParaRPr lang="en-US" sz="1800" dirty="0"/>
                    </a:p>
                  </a:txBody>
                  <a:tcPr marL="28636" marR="28636" marT="14318" marB="14318">
                    <a:lnL>
                      <a:noFill/>
                    </a:lnL>
                    <a:lnR>
                      <a:noFill/>
                    </a:lnR>
                    <a:lnT>
                      <a:noFill/>
                    </a:lnT>
                    <a:lnB>
                      <a:noFill/>
                    </a:lnB>
                  </a:tcPr>
                </a:tc>
                <a:extLst>
                  <a:ext uri="{0D108BD9-81ED-4DB2-BD59-A6C34878D82A}">
                    <a16:rowId xmlns:a16="http://schemas.microsoft.com/office/drawing/2014/main" val="10002"/>
                  </a:ext>
                </a:extLst>
              </a:tr>
              <a:tr h="838200">
                <a:tc>
                  <a:txBody>
                    <a:bodyPr/>
                    <a:lstStyle/>
                    <a:p>
                      <a:r>
                        <a:rPr lang="en-US" sz="1800" dirty="0"/>
                        <a:t>Cho </a:t>
                      </a:r>
                      <a:r>
                        <a:rPr lang="en-US" sz="1800" dirty="0" err="1"/>
                        <a:t>phép</a:t>
                      </a:r>
                      <a:r>
                        <a:rPr lang="en-US" sz="1800" baseline="0" dirty="0"/>
                        <a:t> </a:t>
                      </a:r>
                      <a:r>
                        <a:rPr lang="en-US" sz="1800" baseline="0" dirty="0" err="1"/>
                        <a:t>khả</a:t>
                      </a:r>
                      <a:r>
                        <a:rPr lang="en-US" sz="1800" baseline="0" dirty="0"/>
                        <a:t> </a:t>
                      </a:r>
                      <a:r>
                        <a:rPr lang="en-US" sz="1800" baseline="0" dirty="0" err="1"/>
                        <a:t>năng</a:t>
                      </a:r>
                      <a:r>
                        <a:rPr lang="en-US" sz="1800" baseline="0" dirty="0"/>
                        <a:t> </a:t>
                      </a:r>
                      <a:r>
                        <a:rPr lang="en-US" sz="1800" baseline="0" dirty="0" err="1"/>
                        <a:t>chia</a:t>
                      </a:r>
                      <a:r>
                        <a:rPr lang="en-US" sz="1800" baseline="0" dirty="0"/>
                        <a:t> </a:t>
                      </a:r>
                      <a:r>
                        <a:rPr lang="en-US" sz="1800" baseline="0" dirty="0" err="1"/>
                        <a:t>sẻ</a:t>
                      </a:r>
                      <a:r>
                        <a:rPr lang="en-US" sz="1800" baseline="0" dirty="0"/>
                        <a:t> </a:t>
                      </a:r>
                      <a:r>
                        <a:rPr lang="en-US" sz="1800" baseline="0" dirty="0" err="1"/>
                        <a:t>thông</a:t>
                      </a:r>
                      <a:r>
                        <a:rPr lang="en-US" sz="1800" baseline="0" dirty="0"/>
                        <a:t> tin </a:t>
                      </a:r>
                      <a:r>
                        <a:rPr lang="en-US" sz="1800" baseline="0" dirty="0" err="1"/>
                        <a:t>giữa</a:t>
                      </a:r>
                      <a:r>
                        <a:rPr lang="en-US" sz="1800" baseline="0" dirty="0"/>
                        <a:t> </a:t>
                      </a:r>
                      <a:r>
                        <a:rPr lang="en-US" sz="1800" baseline="0" dirty="0" err="1"/>
                        <a:t>các</a:t>
                      </a:r>
                      <a:r>
                        <a:rPr lang="en-US" sz="1800" baseline="0" dirty="0"/>
                        <a:t> </a:t>
                      </a:r>
                      <a:r>
                        <a:rPr lang="en-US" sz="1800" baseline="0" dirty="0" err="1"/>
                        <a:t>hệ</a:t>
                      </a:r>
                      <a:r>
                        <a:rPr lang="en-US" sz="1800" baseline="0" dirty="0"/>
                        <a:t> </a:t>
                      </a:r>
                      <a:r>
                        <a:rPr lang="en-US" sz="1800" baseline="0" dirty="0" err="1"/>
                        <a:t>điều</a:t>
                      </a:r>
                      <a:r>
                        <a:rPr lang="en-US" sz="1800" baseline="0" dirty="0"/>
                        <a:t> </a:t>
                      </a:r>
                      <a:r>
                        <a:rPr lang="en-US" sz="1800" baseline="0" dirty="0" err="1"/>
                        <a:t>hành</a:t>
                      </a:r>
                      <a:r>
                        <a:rPr lang="en-US" sz="1800" baseline="0" dirty="0"/>
                        <a:t> </a:t>
                      </a:r>
                      <a:r>
                        <a:rPr lang="en-US" sz="1800" baseline="0" dirty="0" err="1"/>
                        <a:t>khác</a:t>
                      </a:r>
                      <a:r>
                        <a:rPr lang="en-US" sz="1800" baseline="0" dirty="0"/>
                        <a:t> </a:t>
                      </a:r>
                      <a:r>
                        <a:rPr lang="en-US" sz="1800" baseline="0" dirty="0" err="1"/>
                        <a:t>nhau</a:t>
                      </a:r>
                      <a:endParaRPr lang="en-US" sz="1800" dirty="0"/>
                    </a:p>
                  </a:txBody>
                  <a:tcPr marL="28636" marR="28636" marT="14318" marB="14318">
                    <a:lnL>
                      <a:noFill/>
                    </a:lnL>
                    <a:lnR>
                      <a:noFill/>
                    </a:lnR>
                    <a:lnT>
                      <a:noFill/>
                    </a:lnT>
                    <a:lnB>
                      <a:noFill/>
                    </a:lnB>
                  </a:tcPr>
                </a:tc>
                <a:tc>
                  <a:txBody>
                    <a:bodyPr/>
                    <a:lstStyle/>
                    <a:p>
                      <a:r>
                        <a:rPr lang="en-US" sz="1800"/>
                        <a:t> </a:t>
                      </a:r>
                    </a:p>
                  </a:txBody>
                  <a:tcPr marL="28636" marR="28636" marT="14318" marB="14318" anchor="ctr">
                    <a:lnL>
                      <a:noFill/>
                    </a:lnL>
                    <a:lnR>
                      <a:noFill/>
                    </a:lnR>
                    <a:lnT>
                      <a:noFill/>
                    </a:lnT>
                    <a:lnB>
                      <a:noFill/>
                    </a:lnB>
                    <a:solidFill>
                      <a:srgbClr val="300098"/>
                    </a:solidFill>
                  </a:tcPr>
                </a:tc>
                <a:tc>
                  <a:txBody>
                    <a:bodyPr/>
                    <a:lstStyle/>
                    <a:p>
                      <a:r>
                        <a:rPr lang="en-US" sz="1800" dirty="0"/>
                        <a:t>File Sharing </a:t>
                      </a:r>
                      <a:r>
                        <a:rPr lang="en-US" sz="1800" dirty="0" err="1"/>
                        <a:t>phụ</a:t>
                      </a:r>
                      <a:r>
                        <a:rPr lang="en-US" sz="1800" baseline="0" dirty="0"/>
                        <a:t> </a:t>
                      </a:r>
                      <a:r>
                        <a:rPr lang="en-US" sz="1800" baseline="0" dirty="0" err="1"/>
                        <a:t>thuộc</a:t>
                      </a:r>
                      <a:r>
                        <a:rPr lang="en-US" sz="1800" baseline="0" dirty="0"/>
                        <a:t> </a:t>
                      </a:r>
                      <a:r>
                        <a:rPr lang="en-US" sz="1800" baseline="0" dirty="0" err="1"/>
                        <a:t>hệ</a:t>
                      </a:r>
                      <a:r>
                        <a:rPr lang="en-US" sz="1800" baseline="0" dirty="0"/>
                        <a:t> </a:t>
                      </a:r>
                      <a:r>
                        <a:rPr lang="en-US" sz="1800" baseline="0" dirty="0" err="1"/>
                        <a:t>điều</a:t>
                      </a:r>
                      <a:r>
                        <a:rPr lang="en-US" sz="1800" baseline="0" dirty="0"/>
                        <a:t> </a:t>
                      </a:r>
                      <a:r>
                        <a:rPr lang="en-US" sz="1800" baseline="0" dirty="0" err="1"/>
                        <a:t>hành</a:t>
                      </a:r>
                      <a:r>
                        <a:rPr lang="en-US" sz="1800" baseline="0" dirty="0"/>
                        <a:t> </a:t>
                      </a:r>
                      <a:r>
                        <a:rPr lang="en-US" sz="1800" baseline="0" dirty="0" err="1"/>
                        <a:t>và</a:t>
                      </a:r>
                      <a:r>
                        <a:rPr lang="en-US" sz="1800" baseline="0" dirty="0"/>
                        <a:t> </a:t>
                      </a:r>
                      <a:r>
                        <a:rPr lang="en-US" sz="1800" baseline="0" dirty="0" err="1"/>
                        <a:t>không</a:t>
                      </a:r>
                      <a:r>
                        <a:rPr lang="en-US" sz="1800" baseline="0" dirty="0"/>
                        <a:t> </a:t>
                      </a:r>
                      <a:r>
                        <a:rPr lang="en-US" sz="1800" baseline="0" dirty="0" err="1"/>
                        <a:t>có</a:t>
                      </a:r>
                      <a:r>
                        <a:rPr lang="en-US" sz="1800" baseline="0" dirty="0"/>
                        <a:t> </a:t>
                      </a:r>
                      <a:r>
                        <a:rPr lang="en-US" sz="1800" baseline="0" dirty="0" err="1"/>
                        <a:t>nhiều</a:t>
                      </a:r>
                      <a:r>
                        <a:rPr lang="en-US" sz="1800" baseline="0" dirty="0"/>
                        <a:t> </a:t>
                      </a:r>
                      <a:r>
                        <a:rPr lang="en-US" sz="1800" baseline="0" dirty="0" err="1"/>
                        <a:t>hệ</a:t>
                      </a:r>
                      <a:r>
                        <a:rPr lang="en-US" sz="1800" baseline="0" dirty="0"/>
                        <a:t> </a:t>
                      </a:r>
                      <a:r>
                        <a:rPr lang="en-US" sz="1800" baseline="0" dirty="0" err="1"/>
                        <a:t>điều</a:t>
                      </a:r>
                      <a:r>
                        <a:rPr lang="en-US" sz="1800" baseline="0" dirty="0"/>
                        <a:t> </a:t>
                      </a:r>
                      <a:r>
                        <a:rPr lang="en-US" sz="1800" baseline="0" dirty="0" err="1"/>
                        <a:t>hành</a:t>
                      </a:r>
                      <a:r>
                        <a:rPr lang="en-US" sz="1800" baseline="0" dirty="0"/>
                        <a:t> </a:t>
                      </a:r>
                      <a:r>
                        <a:rPr lang="en-US" sz="1800" baseline="0" dirty="0" err="1"/>
                        <a:t>hỗ</a:t>
                      </a:r>
                      <a:r>
                        <a:rPr lang="en-US" sz="1800" baseline="0" dirty="0"/>
                        <a:t> </a:t>
                      </a:r>
                      <a:r>
                        <a:rPr lang="en-US" sz="1800" baseline="0" dirty="0" err="1"/>
                        <a:t>trợ</a:t>
                      </a:r>
                      <a:endParaRPr lang="en-US" sz="1800" dirty="0"/>
                    </a:p>
                  </a:txBody>
                  <a:tcPr marL="28636" marR="28636" marT="14318" marB="14318">
                    <a:lnL>
                      <a:noFill/>
                    </a:lnL>
                    <a:lnR>
                      <a:noFill/>
                    </a:lnR>
                    <a:lnT>
                      <a:noFill/>
                    </a:lnT>
                    <a:lnB>
                      <a:noFill/>
                    </a:lnB>
                  </a:tcPr>
                </a:tc>
                <a:extLst>
                  <a:ext uri="{0D108BD9-81ED-4DB2-BD59-A6C34878D82A}">
                    <a16:rowId xmlns:a16="http://schemas.microsoft.com/office/drawing/2014/main" val="10003"/>
                  </a:ext>
                </a:extLst>
              </a:tr>
              <a:tr h="481676">
                <a:tc>
                  <a:txBody>
                    <a:bodyPr/>
                    <a:lstStyle/>
                    <a:p>
                      <a:r>
                        <a:rPr lang="en-US" sz="1800" dirty="0"/>
                        <a:t>File System </a:t>
                      </a:r>
                      <a:r>
                        <a:rPr lang="en-US" sz="1800" dirty="0" err="1"/>
                        <a:t>được</a:t>
                      </a:r>
                      <a:r>
                        <a:rPr lang="en-US" sz="1800" baseline="0" dirty="0"/>
                        <a:t> </a:t>
                      </a:r>
                      <a:r>
                        <a:rPr lang="en-US" sz="1800" baseline="0" dirty="0" err="1"/>
                        <a:t>quản</a:t>
                      </a:r>
                      <a:r>
                        <a:rPr lang="en-US" sz="1800" baseline="0" dirty="0"/>
                        <a:t> </a:t>
                      </a:r>
                      <a:r>
                        <a:rPr lang="en-US" sz="1800" baseline="0" dirty="0" err="1"/>
                        <a:t>lý</a:t>
                      </a:r>
                      <a:r>
                        <a:rPr lang="en-US" sz="1800" baseline="0" dirty="0"/>
                        <a:t> </a:t>
                      </a:r>
                      <a:r>
                        <a:rPr lang="en-US" sz="1800" baseline="0" dirty="0" err="1"/>
                        <a:t>bởi</a:t>
                      </a:r>
                      <a:r>
                        <a:rPr lang="en-US" sz="1800" baseline="0" dirty="0"/>
                        <a:t> </a:t>
                      </a:r>
                      <a:r>
                        <a:rPr lang="en-US" sz="1800" dirty="0"/>
                        <a:t>NAS</a:t>
                      </a:r>
                    </a:p>
                  </a:txBody>
                  <a:tcPr marL="28636" marR="28636" marT="14318" marB="14318">
                    <a:lnL>
                      <a:noFill/>
                    </a:lnL>
                    <a:lnR>
                      <a:noFill/>
                    </a:lnR>
                    <a:lnT>
                      <a:noFill/>
                    </a:lnT>
                    <a:lnB>
                      <a:noFill/>
                    </a:lnB>
                  </a:tcPr>
                </a:tc>
                <a:tc>
                  <a:txBody>
                    <a:bodyPr/>
                    <a:lstStyle/>
                    <a:p>
                      <a:r>
                        <a:rPr lang="en-US" sz="1800"/>
                        <a:t> </a:t>
                      </a:r>
                    </a:p>
                  </a:txBody>
                  <a:tcPr marL="28636" marR="28636" marT="14318" marB="14318" anchor="ctr">
                    <a:lnL>
                      <a:noFill/>
                    </a:lnL>
                    <a:lnR>
                      <a:noFill/>
                    </a:lnR>
                    <a:lnT>
                      <a:noFill/>
                    </a:lnT>
                    <a:lnB>
                      <a:noFill/>
                    </a:lnB>
                    <a:solidFill>
                      <a:srgbClr val="300098"/>
                    </a:solidFill>
                  </a:tcPr>
                </a:tc>
                <a:tc>
                  <a:txBody>
                    <a:bodyPr/>
                    <a:lstStyle/>
                    <a:p>
                      <a:r>
                        <a:rPr lang="en-US" sz="1800" dirty="0"/>
                        <a:t>File System </a:t>
                      </a:r>
                      <a:r>
                        <a:rPr lang="en-US" sz="1800" dirty="0" err="1"/>
                        <a:t>được</a:t>
                      </a:r>
                      <a:r>
                        <a:rPr lang="en-US" sz="1800" baseline="0" dirty="0"/>
                        <a:t> </a:t>
                      </a:r>
                      <a:r>
                        <a:rPr lang="en-US" sz="1800" baseline="0" dirty="0" err="1"/>
                        <a:t>quản</a:t>
                      </a:r>
                      <a:r>
                        <a:rPr lang="en-US" sz="1800" baseline="0" dirty="0"/>
                        <a:t> </a:t>
                      </a:r>
                      <a:r>
                        <a:rPr lang="en-US" sz="1800" baseline="0" dirty="0" err="1"/>
                        <a:t>lý</a:t>
                      </a:r>
                      <a:r>
                        <a:rPr lang="en-US" sz="1800" baseline="0" dirty="0"/>
                        <a:t> </a:t>
                      </a:r>
                      <a:r>
                        <a:rPr lang="en-US" sz="1800" baseline="0" dirty="0" err="1"/>
                        <a:t>bởi</a:t>
                      </a:r>
                      <a:r>
                        <a:rPr lang="en-US" sz="1800" baseline="0" dirty="0"/>
                        <a:t> </a:t>
                      </a:r>
                      <a:r>
                        <a:rPr lang="en-US" sz="1800" dirty="0"/>
                        <a:t>servers</a:t>
                      </a:r>
                    </a:p>
                  </a:txBody>
                  <a:tcPr marL="28636" marR="28636" marT="14318" marB="14318">
                    <a:lnL>
                      <a:noFill/>
                    </a:lnL>
                    <a:lnR>
                      <a:noFill/>
                    </a:lnR>
                    <a:lnT>
                      <a:noFill/>
                    </a:lnT>
                    <a:lnB>
                      <a:noFill/>
                    </a:lnB>
                  </a:tcPr>
                </a:tc>
                <a:extLst>
                  <a:ext uri="{0D108BD9-81ED-4DB2-BD59-A6C34878D82A}">
                    <a16:rowId xmlns:a16="http://schemas.microsoft.com/office/drawing/2014/main" val="10004"/>
                  </a:ext>
                </a:extLst>
              </a:tr>
              <a:tr h="1093668">
                <a:tc>
                  <a:txBody>
                    <a:bodyPr/>
                    <a:lstStyle/>
                    <a:p>
                      <a:r>
                        <a:rPr lang="en-US" sz="1800" dirty="0"/>
                        <a:t>Backups and mirrors </a:t>
                      </a:r>
                      <a:r>
                        <a:rPr lang="en-US" sz="1800" dirty="0" err="1"/>
                        <a:t>được</a:t>
                      </a:r>
                      <a:r>
                        <a:rPr lang="en-US" sz="1800" baseline="0" dirty="0"/>
                        <a:t> </a:t>
                      </a:r>
                      <a:r>
                        <a:rPr lang="en-US" sz="1800" baseline="0" dirty="0" err="1"/>
                        <a:t>thực</a:t>
                      </a:r>
                      <a:r>
                        <a:rPr lang="en-US" sz="1800" baseline="0" dirty="0"/>
                        <a:t> </a:t>
                      </a:r>
                      <a:r>
                        <a:rPr lang="en-US" sz="1800" baseline="0" dirty="0" err="1"/>
                        <a:t>hiện</a:t>
                      </a:r>
                      <a:r>
                        <a:rPr lang="en-US" sz="1800" baseline="0" dirty="0"/>
                        <a:t> </a:t>
                      </a:r>
                      <a:r>
                        <a:rPr lang="en-US" sz="1800" baseline="0" dirty="0" err="1"/>
                        <a:t>trên</a:t>
                      </a:r>
                      <a:r>
                        <a:rPr lang="en-US" sz="1800" baseline="0" dirty="0"/>
                        <a:t> </a:t>
                      </a:r>
                      <a:r>
                        <a:rPr lang="en-US" sz="1800" dirty="0"/>
                        <a:t>files, </a:t>
                      </a:r>
                      <a:r>
                        <a:rPr lang="en-US" sz="1800" dirty="0" err="1"/>
                        <a:t>tiết</a:t>
                      </a:r>
                      <a:r>
                        <a:rPr lang="en-US" sz="1800" baseline="0" dirty="0"/>
                        <a:t> </a:t>
                      </a:r>
                      <a:r>
                        <a:rPr lang="en-US" sz="1800" baseline="0" dirty="0" err="1"/>
                        <a:t>kiệm</a:t>
                      </a:r>
                      <a:r>
                        <a:rPr lang="en-US" sz="1800" baseline="0" dirty="0"/>
                        <a:t> </a:t>
                      </a:r>
                      <a:r>
                        <a:rPr lang="en-US" sz="1800" dirty="0"/>
                        <a:t>bandwidth </a:t>
                      </a:r>
                      <a:r>
                        <a:rPr lang="en-US" sz="1800" dirty="0" err="1"/>
                        <a:t>và</a:t>
                      </a:r>
                      <a:r>
                        <a:rPr lang="en-US" sz="1800" baseline="0" dirty="0"/>
                        <a:t> </a:t>
                      </a:r>
                      <a:r>
                        <a:rPr lang="en-US" sz="1800" baseline="0" dirty="0" err="1"/>
                        <a:t>thời</a:t>
                      </a:r>
                      <a:r>
                        <a:rPr lang="en-US" sz="1800" baseline="0" dirty="0"/>
                        <a:t> </a:t>
                      </a:r>
                      <a:r>
                        <a:rPr lang="en-US" sz="1800" baseline="0" dirty="0" err="1"/>
                        <a:t>gian</a:t>
                      </a:r>
                      <a:endParaRPr lang="en-US" sz="1800" dirty="0"/>
                    </a:p>
                  </a:txBody>
                  <a:tcPr marL="28636" marR="28636" marT="14318" marB="14318">
                    <a:lnL>
                      <a:noFill/>
                    </a:lnL>
                    <a:lnR>
                      <a:noFill/>
                    </a:lnR>
                    <a:lnT>
                      <a:noFill/>
                    </a:lnT>
                    <a:lnB>
                      <a:noFill/>
                    </a:lnB>
                  </a:tcPr>
                </a:tc>
                <a:tc>
                  <a:txBody>
                    <a:bodyPr/>
                    <a:lstStyle/>
                    <a:p>
                      <a:r>
                        <a:rPr lang="en-US" sz="1800"/>
                        <a:t> </a:t>
                      </a:r>
                    </a:p>
                  </a:txBody>
                  <a:tcPr marL="28636" marR="28636" marT="14318" marB="14318" anchor="ctr">
                    <a:lnL>
                      <a:noFill/>
                    </a:lnL>
                    <a:lnR>
                      <a:noFill/>
                    </a:lnR>
                    <a:lnT>
                      <a:noFill/>
                    </a:lnT>
                    <a:lnB>
                      <a:noFill/>
                    </a:lnB>
                    <a:solidFill>
                      <a:srgbClr val="300098"/>
                    </a:solidFill>
                  </a:tcPr>
                </a:tc>
                <a:tc>
                  <a:txBody>
                    <a:bodyPr/>
                    <a:lstStyle/>
                    <a:p>
                      <a:r>
                        <a:rPr lang="en-US" sz="1800" dirty="0"/>
                        <a:t>Backups </a:t>
                      </a:r>
                      <a:r>
                        <a:rPr lang="en-US" sz="1800" dirty="0" err="1"/>
                        <a:t>và</a:t>
                      </a:r>
                      <a:r>
                        <a:rPr lang="en-US" sz="1800" baseline="0" dirty="0"/>
                        <a:t> </a:t>
                      </a:r>
                      <a:r>
                        <a:rPr lang="en-US" sz="1800" baseline="0" dirty="0" err="1"/>
                        <a:t>mirors</a:t>
                      </a:r>
                      <a:r>
                        <a:rPr lang="en-US" sz="1800" baseline="0" dirty="0"/>
                        <a:t> </a:t>
                      </a:r>
                      <a:r>
                        <a:rPr lang="en-US" sz="1800" baseline="0" dirty="0" err="1"/>
                        <a:t>dữ</a:t>
                      </a:r>
                      <a:r>
                        <a:rPr lang="en-US" sz="1800" baseline="0" dirty="0"/>
                        <a:t> </a:t>
                      </a:r>
                      <a:r>
                        <a:rPr lang="en-US" sz="1800" baseline="0" dirty="0" err="1"/>
                        <a:t>liệu</a:t>
                      </a:r>
                      <a:r>
                        <a:rPr lang="en-US" sz="1800" baseline="0" dirty="0"/>
                        <a:t> </a:t>
                      </a:r>
                      <a:r>
                        <a:rPr lang="en-US" sz="1800" baseline="0" dirty="0" err="1"/>
                        <a:t>trên</a:t>
                      </a:r>
                      <a:r>
                        <a:rPr lang="en-US" sz="1800" baseline="0" dirty="0"/>
                        <a:t> </a:t>
                      </a:r>
                      <a:r>
                        <a:rPr lang="en-US" sz="1800" baseline="0" dirty="0" err="1"/>
                        <a:t>từng</a:t>
                      </a:r>
                      <a:r>
                        <a:rPr lang="en-US" sz="1800" baseline="0" dirty="0"/>
                        <a:t> block </a:t>
                      </a:r>
                      <a:r>
                        <a:rPr lang="en-US" sz="1800" baseline="0" dirty="0" err="1"/>
                        <a:t>một</a:t>
                      </a:r>
                      <a:endParaRPr lang="en-US" sz="1800" dirty="0"/>
                    </a:p>
                  </a:txBody>
                  <a:tcPr marL="28636" marR="28636" marT="14318" marB="14318">
                    <a:lnL>
                      <a:noFill/>
                    </a:lnL>
                    <a:lnR>
                      <a:noFill/>
                    </a:lnR>
                    <a:lnT>
                      <a:noFill/>
                    </a:lnT>
                    <a:lnB>
                      <a:noFill/>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Đĩa</a:t>
            </a:r>
            <a:r>
              <a:rPr lang="en-US" dirty="0"/>
              <a:t> </a:t>
            </a:r>
            <a:r>
              <a:rPr lang="en-US" dirty="0" err="1"/>
              <a:t>quang</a:t>
            </a:r>
            <a:r>
              <a:rPr lang="en-US" dirty="0"/>
              <a:t> - CD</a:t>
            </a:r>
          </a:p>
        </p:txBody>
      </p:sp>
      <p:sp>
        <p:nvSpPr>
          <p:cNvPr id="3" name="Content Placeholder 2"/>
          <p:cNvSpPr>
            <a:spLocks noGrp="1"/>
          </p:cNvSpPr>
          <p:nvPr>
            <p:ph sz="quarter" idx="1"/>
          </p:nvPr>
        </p:nvSpPr>
        <p:spPr/>
        <p:txBody>
          <a:bodyPr>
            <a:normAutofit/>
          </a:bodyPr>
          <a:lstStyle/>
          <a:p>
            <a:r>
              <a:rPr lang="vi-VN" dirty="0"/>
              <a:t>CD-ROM (Compact Disk ROM)</a:t>
            </a:r>
          </a:p>
          <a:p>
            <a:r>
              <a:rPr lang="vi-VN" dirty="0"/>
              <a:t>CD-R (Recordable CD)</a:t>
            </a:r>
          </a:p>
          <a:p>
            <a:r>
              <a:rPr lang="vi-VN" dirty="0"/>
              <a:t>CD-RW (Rewriteable CD)</a:t>
            </a:r>
          </a:p>
          <a:p>
            <a:r>
              <a:rPr lang="vi-VN" dirty="0"/>
              <a:t>Dung lượng thông dụng 700 MB</a:t>
            </a:r>
          </a:p>
          <a:p>
            <a:r>
              <a:rPr lang="vi-VN" dirty="0"/>
              <a:t>Ổ đĩa CD:</a:t>
            </a:r>
          </a:p>
          <a:p>
            <a:pPr lvl="1"/>
            <a:r>
              <a:rPr lang="vi-VN" dirty="0"/>
              <a:t>Ổ đĩa CD-ROM</a:t>
            </a:r>
          </a:p>
          <a:p>
            <a:pPr lvl="1"/>
            <a:r>
              <a:rPr lang="vi-VN" dirty="0"/>
              <a:t>Ổ CD-Writer: ghi một phiên hoặc ghi nhiều phiên</a:t>
            </a:r>
          </a:p>
          <a:p>
            <a:r>
              <a:rPr lang="vi-VN" dirty="0"/>
              <a:t>Tốc độ đọc cơ sở 150 KB/s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9" name="Picture 5" descr="cd-crosssection"/>
          <p:cNvPicPr>
            <a:picLocks noChangeAspect="1" noChangeArrowheads="1"/>
          </p:cNvPicPr>
          <p:nvPr/>
        </p:nvPicPr>
        <p:blipFill>
          <a:blip r:embed="rId3" cstate="print"/>
          <a:srcRect/>
          <a:stretch>
            <a:fillRect/>
          </a:stretch>
        </p:blipFill>
        <p:spPr bwMode="auto">
          <a:xfrm>
            <a:off x="1524000" y="1447800"/>
            <a:ext cx="5867400" cy="1976438"/>
          </a:xfrm>
          <a:prstGeom prst="rect">
            <a:avLst/>
          </a:prstGeom>
          <a:noFill/>
        </p:spPr>
      </p:pic>
      <p:sp>
        <p:nvSpPr>
          <p:cNvPr id="6" name="Content Placeholder 2"/>
          <p:cNvSpPr>
            <a:spLocks noGrp="1"/>
          </p:cNvSpPr>
          <p:nvPr>
            <p:ph sz="quarter" idx="1"/>
          </p:nvPr>
        </p:nvSpPr>
        <p:spPr>
          <a:xfrm>
            <a:off x="612648" y="3505200"/>
            <a:ext cx="8153400" cy="3048000"/>
          </a:xfrm>
        </p:spPr>
        <p:txBody>
          <a:bodyPr>
            <a:normAutofit/>
          </a:bodyPr>
          <a:lstStyle/>
          <a:p>
            <a:pPr>
              <a:buFont typeface="Wingdings" pitchFamily="2" charset="2"/>
              <a:buChar char="q"/>
            </a:pPr>
            <a:r>
              <a:rPr lang="en-US" sz="2000" dirty="0">
                <a:latin typeface="Times New Roman" pitchFamily="18" charset="0"/>
                <a:cs typeface="Times New Roman" pitchFamily="18" charset="0"/>
              </a:rPr>
              <a:t>CD </a:t>
            </a:r>
            <a:r>
              <a:rPr lang="en-US" sz="2000" dirty="0" err="1">
                <a:latin typeface="Times New Roman" pitchFamily="18" charset="0"/>
                <a:cs typeface="Times New Roman" pitchFamily="18" charset="0"/>
              </a:rPr>
              <a:t>là</a:t>
            </a:r>
            <a:r>
              <a:rPr lang="en-US" sz="2000" dirty="0">
                <a:latin typeface="Times New Roman" pitchFamily="18" charset="0"/>
                <a:cs typeface="Times New Roman" pitchFamily="18" charset="0"/>
              </a:rPr>
              <a:t> 1 </a:t>
            </a:r>
            <a:r>
              <a:rPr lang="en-US" sz="2000" dirty="0" err="1">
                <a:latin typeface="Times New Roman" pitchFamily="18" charset="0"/>
                <a:cs typeface="Times New Roman" pitchFamily="18" charset="0"/>
              </a:rPr>
              <a:t>mẫu</a:t>
            </a:r>
            <a:r>
              <a:rPr lang="en-US" sz="2000" dirty="0">
                <a:latin typeface="Times New Roman" pitchFamily="18" charset="0"/>
                <a:cs typeface="Times New Roman" pitchFamily="18" charset="0"/>
              </a:rPr>
              <a:t> plastic </a:t>
            </a:r>
            <a:r>
              <a:rPr lang="en-US" sz="2000" dirty="0" err="1">
                <a:latin typeface="Times New Roman" pitchFamily="18" charset="0"/>
                <a:cs typeface="Times New Roman" pitchFamily="18" charset="0"/>
              </a:rPr>
              <a:t>nhỏ</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dày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khoảng</a:t>
            </a:r>
            <a:r>
              <a:rPr lang="en-US" sz="2000" dirty="0">
                <a:latin typeface="Times New Roman" pitchFamily="18" charset="0"/>
                <a:cs typeface="Times New Roman" pitchFamily="18" charset="0"/>
              </a:rPr>
              <a:t> 1,2 mm</a:t>
            </a:r>
          </a:p>
          <a:p>
            <a:pPr lvl="1">
              <a:buFont typeface="Wingdings" pitchFamily="2" charset="2"/>
              <a:buChar char="q"/>
            </a:pPr>
            <a:r>
              <a:rPr lang="en-US" sz="2000" dirty="0" err="1">
                <a:latin typeface="Times New Roman" pitchFamily="18" charset="0"/>
                <a:cs typeface="Times New Roman" pitchFamily="18" charset="0"/>
              </a:rPr>
              <a:t>Lớp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nhựa</a:t>
            </a:r>
            <a:r>
              <a:rPr lang="en-US" sz="2000" dirty="0">
                <a:latin typeface="Times New Roman" pitchFamily="18" charset="0"/>
                <a:cs typeface="Times New Roman" pitchFamily="18" charset="0"/>
              </a:rPr>
              <a:t> polycarbonate</a:t>
            </a:r>
          </a:p>
          <a:p>
            <a:pPr lvl="1">
              <a:buFont typeface="Wingdings" pitchFamily="2" charset="2"/>
              <a:buChar char="q"/>
            </a:pPr>
            <a:r>
              <a:rPr lang="vi-VN" sz="2000" dirty="0">
                <a:latin typeface="Times New Roman" pitchFamily="18" charset="0"/>
                <a:cs typeface="Times New Roman" pitchFamily="18" charset="0"/>
              </a:rPr>
              <a:t>Lớp mảng Bump (lớp bọt không khí) (những mảng bump được in liên tục và kéo dài thành những track data hình xoắn ốc).</a:t>
            </a:r>
          </a:p>
          <a:p>
            <a:pPr lvl="1">
              <a:buFont typeface="Wingdings" pitchFamily="2" charset="2"/>
              <a:buChar char="q"/>
            </a:pPr>
            <a:r>
              <a:rPr lang="vi-VN" sz="2000" dirty="0">
                <a:latin typeface="Times New Roman" pitchFamily="18" charset="0"/>
                <a:cs typeface="Times New Roman" pitchFamily="18" charset="0"/>
              </a:rPr>
              <a:t>Lớp nhôm mỏng phản chiếu để bảo vệ lớp bump (gờ).</a:t>
            </a:r>
          </a:p>
          <a:p>
            <a:pPr lvl="1">
              <a:buFont typeface="Wingdings" pitchFamily="2" charset="2"/>
              <a:buChar char="q"/>
            </a:pPr>
            <a:r>
              <a:rPr lang="vi-VN" sz="2000" dirty="0">
                <a:latin typeface="Times New Roman" pitchFamily="18" charset="0"/>
                <a:cs typeface="Times New Roman" pitchFamily="18" charset="0"/>
              </a:rPr>
              <a:t>Lớp axít Acrylic được phun nhẹ lên trên lớp nhôm để bảo vệ nó.</a:t>
            </a:r>
          </a:p>
          <a:p>
            <a:pPr lvl="1">
              <a:buFont typeface="Wingdings" pitchFamily="2" charset="2"/>
              <a:buChar char="q"/>
            </a:pPr>
            <a:r>
              <a:rPr lang="vi-VN" sz="2000" dirty="0">
                <a:latin typeface="Times New Roman" pitchFamily="18" charset="0"/>
                <a:cs typeface="Times New Roman" pitchFamily="18" charset="0"/>
              </a:rPr>
              <a:t>Nhãn đĩa được in chồng lên lớp axit.</a:t>
            </a:r>
          </a:p>
          <a:p>
            <a:endParaRPr lang="vi-VN" dirty="0"/>
          </a:p>
        </p:txBody>
      </p:sp>
      <p:sp>
        <p:nvSpPr>
          <p:cNvPr id="7" name="Title 1"/>
          <p:cNvSpPr txBox="1">
            <a:spLocks/>
          </p:cNvSpPr>
          <p:nvPr/>
        </p:nvSpPr>
        <p:spPr>
          <a:xfrm>
            <a:off x="609600" y="228600"/>
            <a:ext cx="8153400" cy="990600"/>
          </a:xfrm>
          <a:prstGeom prst="rect">
            <a:avLst/>
          </a:prstGeom>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err="1">
                <a:ln>
                  <a:noFill/>
                </a:ln>
                <a:solidFill>
                  <a:schemeClr val="tx2"/>
                </a:solidFill>
                <a:effectLst/>
                <a:uLnTx/>
                <a:uFillTx/>
                <a:latin typeface="+mj-lt"/>
                <a:ea typeface="+mj-ea"/>
                <a:cs typeface="+mj-cs"/>
              </a:rPr>
              <a:t>Đĩa</a:t>
            </a:r>
            <a:r>
              <a:rPr kumimoji="0" lang="en-US" sz="4400" b="0" i="0" u="none" strike="noStrike" kern="1200" cap="none" spc="0" normalizeH="0" baseline="0" noProof="0" dirty="0">
                <a:ln>
                  <a:noFill/>
                </a:ln>
                <a:solidFill>
                  <a:schemeClr val="tx2"/>
                </a:solidFill>
                <a:effectLst/>
                <a:uLnTx/>
                <a:uFillTx/>
                <a:latin typeface="+mj-lt"/>
                <a:ea typeface="+mj-ea"/>
                <a:cs typeface="+mj-cs"/>
              </a:rPr>
              <a:t> </a:t>
            </a:r>
            <a:r>
              <a:rPr kumimoji="0" lang="en-US" sz="4400" b="0" i="0" u="none" strike="noStrike" kern="1200" cap="none" spc="0" normalizeH="0" baseline="0" noProof="0" dirty="0" err="1">
                <a:ln>
                  <a:noFill/>
                </a:ln>
                <a:solidFill>
                  <a:schemeClr val="tx2"/>
                </a:solidFill>
                <a:effectLst/>
                <a:uLnTx/>
                <a:uFillTx/>
                <a:latin typeface="+mj-lt"/>
                <a:ea typeface="+mj-ea"/>
                <a:cs typeface="+mj-cs"/>
              </a:rPr>
              <a:t>quang</a:t>
            </a:r>
            <a:r>
              <a:rPr kumimoji="0" lang="en-US" sz="4400" b="0" i="0" u="none" strike="noStrike" kern="1200" cap="none" spc="0" normalizeH="0" baseline="0" noProof="0" dirty="0">
                <a:ln>
                  <a:noFill/>
                </a:ln>
                <a:solidFill>
                  <a:schemeClr val="tx2"/>
                </a:solidFill>
                <a:effectLst/>
                <a:uLnTx/>
                <a:uFillTx/>
                <a:latin typeface="+mj-lt"/>
                <a:ea typeface="+mj-ea"/>
                <a:cs typeface="+mj-cs"/>
              </a:rPr>
              <a:t> - CD</a:t>
            </a: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6" name="Picture 4" descr="CD-ROM Cross-Section"/>
          <p:cNvPicPr>
            <a:picLocks noChangeAspect="1" noChangeArrowheads="1"/>
          </p:cNvPicPr>
          <p:nvPr/>
        </p:nvPicPr>
        <p:blipFill>
          <a:blip r:embed="rId2" cstate="print"/>
          <a:srcRect/>
          <a:stretch>
            <a:fillRect/>
          </a:stretch>
        </p:blipFill>
        <p:spPr bwMode="auto">
          <a:xfrm>
            <a:off x="609600" y="1524000"/>
            <a:ext cx="8534400" cy="5334000"/>
          </a:xfrm>
          <a:prstGeom prst="rect">
            <a:avLst/>
          </a:prstGeom>
          <a:noFill/>
        </p:spPr>
      </p:pic>
      <p:sp>
        <p:nvSpPr>
          <p:cNvPr id="5" name="Title 1"/>
          <p:cNvSpPr txBox="1">
            <a:spLocks/>
          </p:cNvSpPr>
          <p:nvPr/>
        </p:nvSpPr>
        <p:spPr>
          <a:xfrm>
            <a:off x="609600" y="228600"/>
            <a:ext cx="8153400" cy="990600"/>
          </a:xfrm>
          <a:prstGeom prst="rect">
            <a:avLst/>
          </a:prstGeom>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err="1">
                <a:ln>
                  <a:noFill/>
                </a:ln>
                <a:solidFill>
                  <a:schemeClr val="tx2"/>
                </a:solidFill>
                <a:effectLst/>
                <a:uLnTx/>
                <a:uFillTx/>
                <a:latin typeface="+mj-lt"/>
                <a:ea typeface="+mj-ea"/>
                <a:cs typeface="+mj-cs"/>
              </a:rPr>
              <a:t>Đĩa</a:t>
            </a:r>
            <a:r>
              <a:rPr kumimoji="0" lang="en-US" sz="4400" b="0" i="0" u="none" strike="noStrike" kern="1200" cap="none" spc="0" normalizeH="0" baseline="0" noProof="0" dirty="0">
                <a:ln>
                  <a:noFill/>
                </a:ln>
                <a:solidFill>
                  <a:schemeClr val="tx2"/>
                </a:solidFill>
                <a:effectLst/>
                <a:uLnTx/>
                <a:uFillTx/>
                <a:latin typeface="+mj-lt"/>
                <a:ea typeface="+mj-ea"/>
                <a:cs typeface="+mj-cs"/>
              </a:rPr>
              <a:t> </a:t>
            </a:r>
            <a:r>
              <a:rPr kumimoji="0" lang="en-US" sz="4400" b="0" i="0" u="none" strike="noStrike" kern="1200" cap="none" spc="0" normalizeH="0" baseline="0" noProof="0" dirty="0" err="1">
                <a:ln>
                  <a:noFill/>
                </a:ln>
                <a:solidFill>
                  <a:schemeClr val="tx2"/>
                </a:solidFill>
                <a:effectLst/>
                <a:uLnTx/>
                <a:uFillTx/>
                <a:latin typeface="+mj-lt"/>
                <a:ea typeface="+mj-ea"/>
                <a:cs typeface="+mj-cs"/>
              </a:rPr>
              <a:t>quang</a:t>
            </a:r>
            <a:r>
              <a:rPr kumimoji="0" lang="en-US" sz="4400" b="0" i="0" u="none" strike="noStrike" kern="1200" cap="none" spc="0" normalizeH="0" baseline="0" noProof="0" dirty="0">
                <a:ln>
                  <a:noFill/>
                </a:ln>
                <a:solidFill>
                  <a:schemeClr val="tx2"/>
                </a:solidFill>
                <a:effectLst/>
                <a:uLnTx/>
                <a:uFillTx/>
                <a:latin typeface="+mj-lt"/>
                <a:ea typeface="+mj-ea"/>
                <a:cs typeface="+mj-cs"/>
              </a:rPr>
              <a:t> - CD</a:t>
            </a: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3" name="Picture 5" descr="cd-spiral"/>
          <p:cNvPicPr>
            <a:picLocks noChangeAspect="1" noChangeArrowheads="1"/>
          </p:cNvPicPr>
          <p:nvPr/>
        </p:nvPicPr>
        <p:blipFill>
          <a:blip r:embed="rId2" cstate="print"/>
          <a:srcRect/>
          <a:stretch>
            <a:fillRect/>
          </a:stretch>
        </p:blipFill>
        <p:spPr bwMode="auto">
          <a:xfrm>
            <a:off x="5535612" y="2971800"/>
            <a:ext cx="3379788" cy="3581400"/>
          </a:xfrm>
          <a:prstGeom prst="rect">
            <a:avLst/>
          </a:prstGeom>
          <a:noFill/>
        </p:spPr>
      </p:pic>
      <p:sp>
        <p:nvSpPr>
          <p:cNvPr id="6" name="Title 5"/>
          <p:cNvSpPr>
            <a:spLocks noGrp="1"/>
          </p:cNvSpPr>
          <p:nvPr>
            <p:ph type="title"/>
          </p:nvPr>
        </p:nvSpPr>
        <p:spPr/>
        <p:txBody>
          <a:bodyPr/>
          <a:lstStyle/>
          <a:p>
            <a:pPr lvl="0">
              <a:defRPr/>
            </a:pPr>
            <a:r>
              <a:rPr lang="en-US" dirty="0" err="1"/>
              <a:t>Đĩa</a:t>
            </a:r>
            <a:r>
              <a:rPr lang="en-US" dirty="0"/>
              <a:t> </a:t>
            </a:r>
            <a:r>
              <a:rPr lang="en-US" dirty="0" err="1"/>
              <a:t>quang</a:t>
            </a:r>
            <a:r>
              <a:rPr lang="en-US" dirty="0"/>
              <a:t> - CD</a:t>
            </a:r>
          </a:p>
        </p:txBody>
      </p:sp>
      <p:sp>
        <p:nvSpPr>
          <p:cNvPr id="7" name="Content Placeholder 2"/>
          <p:cNvSpPr>
            <a:spLocks noGrp="1"/>
          </p:cNvSpPr>
          <p:nvPr>
            <p:ph sz="quarter" idx="1"/>
          </p:nvPr>
        </p:nvSpPr>
        <p:spPr>
          <a:xfrm>
            <a:off x="612648" y="4724400"/>
            <a:ext cx="4873752" cy="1828800"/>
          </a:xfrm>
        </p:spPr>
        <p:txBody>
          <a:bodyPr>
            <a:normAutofit/>
          </a:bodyPr>
          <a:lstStyle/>
          <a:p>
            <a:r>
              <a:rPr lang="vi-VN" sz="1800" dirty="0"/>
              <a:t>Bề rộng của đường xoắn ốc là 0,5 µm</a:t>
            </a:r>
            <a:endParaRPr lang="en-US" sz="1800" dirty="0"/>
          </a:p>
          <a:p>
            <a:r>
              <a:rPr lang="vi-VN" sz="1800" dirty="0"/>
              <a:t>Khoảng cách giữa 2 đường tròn xoắn ốc liên tiếp là 1,6 µm</a:t>
            </a:r>
          </a:p>
          <a:p>
            <a:r>
              <a:rPr lang="vi-VN" sz="1800" dirty="0"/>
              <a:t>Các Bump (gờ) nằm trên đường đi của vòng xoắn ốc này.</a:t>
            </a:r>
          </a:p>
        </p:txBody>
      </p:sp>
      <p:sp>
        <p:nvSpPr>
          <p:cNvPr id="8" name="Content Placeholder 2"/>
          <p:cNvSpPr txBox="1">
            <a:spLocks/>
          </p:cNvSpPr>
          <p:nvPr/>
        </p:nvSpPr>
        <p:spPr>
          <a:xfrm>
            <a:off x="609600" y="1752600"/>
            <a:ext cx="7924800" cy="1447800"/>
          </a:xfrm>
          <a:prstGeom prst="rect">
            <a:avLst/>
          </a:prstGeom>
        </p:spPr>
        <p:txBody>
          <a:bodyPr vert="horz">
            <a:normAutofit/>
          </a:bodyPr>
          <a:lstStyle/>
          <a:p>
            <a:pPr marL="320040" indent="-320040">
              <a:spcBef>
                <a:spcPts val="700"/>
              </a:spcBef>
              <a:buClr>
                <a:schemeClr val="accent2"/>
              </a:buClr>
              <a:buSzPct val="60000"/>
              <a:buFont typeface="Wingdings"/>
              <a:buChar char=""/>
            </a:pPr>
            <a:r>
              <a:rPr lang="vi-VN" dirty="0"/>
              <a:t>Đường dữ liệu chạy theo đường xoắn ốc từ trong (trung tâm) ra ngoài.</a:t>
            </a:r>
            <a:endParaRPr lang="en-US" dirty="0"/>
          </a:p>
          <a:p>
            <a:pPr marL="320040" indent="-320040">
              <a:spcBef>
                <a:spcPts val="700"/>
              </a:spcBef>
              <a:buClr>
                <a:schemeClr val="accent2"/>
              </a:buClr>
              <a:buSzPct val="60000"/>
              <a:buFont typeface="Wingdings"/>
              <a:buChar char=""/>
            </a:pPr>
            <a:r>
              <a:rPr lang="vi-VN" dirty="0"/>
              <a:t>Kích thước CD có thể nhỏ hơn 4,8 inch nếu muốn (trên thực tế có nhiều mẫu CD với kích thước rất bé</a:t>
            </a:r>
            <a:r>
              <a:rPr lang="en-US" dirty="0"/>
              <a:t>,</a:t>
            </a:r>
            <a:r>
              <a:rPr lang="vi-VN" dirty="0"/>
              <a:t> dung lượng khoảng 2MB)</a:t>
            </a: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endParaRPr kumimoji="0" lang="vi-VN" sz="1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600200"/>
            <a:ext cx="8156448" cy="2209800"/>
          </a:xfrm>
        </p:spPr>
        <p:txBody>
          <a:bodyPr>
            <a:normAutofit/>
          </a:bodyPr>
          <a:lstStyle/>
          <a:p>
            <a:r>
              <a:rPr lang="vi-VN" sz="2400" dirty="0"/>
              <a:t>Những mảng Bump được kéo dài tạo thành track có độ rộng 0,5 µm, dài 0,83 µm và cao 125 nm.</a:t>
            </a:r>
            <a:endParaRPr lang="en-US" sz="2400" dirty="0"/>
          </a:p>
          <a:p>
            <a:pPr lvl="1"/>
            <a:r>
              <a:rPr lang="vi-VN" sz="2400" dirty="0"/>
              <a:t>pit </a:t>
            </a:r>
            <a:r>
              <a:rPr lang="en-US" sz="2400" dirty="0"/>
              <a:t>- </a:t>
            </a:r>
            <a:r>
              <a:rPr lang="vi-VN" sz="2400" dirty="0"/>
              <a:t>vết lỏm</a:t>
            </a:r>
            <a:endParaRPr lang="en-US" sz="2400" dirty="0"/>
          </a:p>
          <a:p>
            <a:pPr lvl="1"/>
            <a:r>
              <a:rPr lang="vi-VN" sz="2400" dirty="0"/>
              <a:t>Bump</a:t>
            </a:r>
            <a:r>
              <a:rPr lang="en-US" sz="2400" dirty="0"/>
              <a:t> - </a:t>
            </a:r>
            <a:r>
              <a:rPr lang="vi-VN" sz="2400" dirty="0"/>
              <a:t>mảng gờ</a:t>
            </a:r>
          </a:p>
        </p:txBody>
      </p:sp>
      <p:pic>
        <p:nvPicPr>
          <p:cNvPr id="4" name="Picture 6" descr="cd-bumps"/>
          <p:cNvPicPr>
            <a:picLocks noChangeAspect="1" noChangeArrowheads="1"/>
          </p:cNvPicPr>
          <p:nvPr/>
        </p:nvPicPr>
        <p:blipFill>
          <a:blip r:embed="rId2" cstate="print"/>
          <a:srcRect/>
          <a:stretch>
            <a:fillRect/>
          </a:stretch>
        </p:blipFill>
        <p:spPr bwMode="auto">
          <a:xfrm>
            <a:off x="685800" y="3810000"/>
            <a:ext cx="8229600" cy="2562225"/>
          </a:xfrm>
          <a:prstGeom prst="rect">
            <a:avLst/>
          </a:prstGeom>
          <a:noFill/>
        </p:spPr>
      </p:pic>
      <p:sp>
        <p:nvSpPr>
          <p:cNvPr id="5" name="Title 5"/>
          <p:cNvSpPr>
            <a:spLocks noGrp="1"/>
          </p:cNvSpPr>
          <p:nvPr>
            <p:ph type="title"/>
          </p:nvPr>
        </p:nvSpPr>
        <p:spPr>
          <a:xfrm>
            <a:off x="612648" y="228600"/>
            <a:ext cx="8153400" cy="990600"/>
          </a:xfrm>
        </p:spPr>
        <p:txBody>
          <a:bodyPr/>
          <a:lstStyle/>
          <a:p>
            <a:pPr lvl="0">
              <a:defRPr/>
            </a:pPr>
            <a:r>
              <a:rPr lang="en-US" dirty="0" err="1"/>
              <a:t>Đĩa</a:t>
            </a:r>
            <a:r>
              <a:rPr lang="en-US" dirty="0"/>
              <a:t> </a:t>
            </a:r>
            <a:r>
              <a:rPr lang="en-US" dirty="0" err="1"/>
              <a:t>quang</a:t>
            </a:r>
            <a:r>
              <a:rPr lang="en-US" dirty="0"/>
              <a:t> - CD</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2" name="Picture 4" descr="cd_pits"/>
          <p:cNvPicPr>
            <a:picLocks noChangeAspect="1" noChangeArrowheads="1"/>
          </p:cNvPicPr>
          <p:nvPr/>
        </p:nvPicPr>
        <p:blipFill>
          <a:blip r:embed="rId2" cstate="print"/>
          <a:srcRect/>
          <a:stretch>
            <a:fillRect/>
          </a:stretch>
        </p:blipFill>
        <p:spPr bwMode="auto">
          <a:xfrm>
            <a:off x="4572000" y="1981200"/>
            <a:ext cx="4191000" cy="3143250"/>
          </a:xfrm>
          <a:prstGeom prst="rect">
            <a:avLst/>
          </a:prstGeom>
          <a:noFill/>
        </p:spPr>
      </p:pic>
      <p:pic>
        <p:nvPicPr>
          <p:cNvPr id="104454" name="Picture 6" descr="pit_cd"/>
          <p:cNvPicPr>
            <a:picLocks noChangeAspect="1" noChangeArrowheads="1"/>
          </p:cNvPicPr>
          <p:nvPr/>
        </p:nvPicPr>
        <p:blipFill>
          <a:blip r:embed="rId3" cstate="print"/>
          <a:srcRect/>
          <a:stretch>
            <a:fillRect/>
          </a:stretch>
        </p:blipFill>
        <p:spPr bwMode="auto">
          <a:xfrm>
            <a:off x="381000" y="1981200"/>
            <a:ext cx="3962400" cy="3154363"/>
          </a:xfrm>
          <a:prstGeom prst="rect">
            <a:avLst/>
          </a:prstGeom>
          <a:noFill/>
        </p:spPr>
      </p:pic>
      <p:sp>
        <p:nvSpPr>
          <p:cNvPr id="5" name="Rectangle 4"/>
          <p:cNvSpPr/>
          <p:nvPr/>
        </p:nvSpPr>
        <p:spPr>
          <a:xfrm>
            <a:off x="609600" y="5867400"/>
            <a:ext cx="7772400" cy="369332"/>
          </a:xfrm>
          <a:prstGeom prst="rect">
            <a:avLst/>
          </a:prstGeom>
        </p:spPr>
        <p:txBody>
          <a:bodyPr wrap="square">
            <a:spAutoFit/>
          </a:bodyPr>
          <a:lstStyle/>
          <a:p>
            <a:r>
              <a:rPr lang="en-US" b="1" dirty="0"/>
              <a:t>B</a:t>
            </a:r>
            <a:r>
              <a:rPr lang="vi-VN" b="1" dirty="0"/>
              <a:t>ề rộng chỉ có 0,5 µm và dài gần 3,5 dặm (5km)</a:t>
            </a:r>
          </a:p>
        </p:txBody>
      </p:sp>
      <p:sp>
        <p:nvSpPr>
          <p:cNvPr id="6" name="Title 5"/>
          <p:cNvSpPr>
            <a:spLocks noGrp="1"/>
          </p:cNvSpPr>
          <p:nvPr>
            <p:ph type="title"/>
          </p:nvPr>
        </p:nvSpPr>
        <p:spPr>
          <a:xfrm>
            <a:off x="612648" y="228600"/>
            <a:ext cx="8153400" cy="990600"/>
          </a:xfrm>
        </p:spPr>
        <p:txBody>
          <a:bodyPr/>
          <a:lstStyle/>
          <a:p>
            <a:pPr lvl="0">
              <a:defRPr/>
            </a:pPr>
            <a:r>
              <a:rPr lang="en-US" dirty="0" err="1"/>
              <a:t>Đĩa</a:t>
            </a:r>
            <a:r>
              <a:rPr lang="en-US" dirty="0"/>
              <a:t> </a:t>
            </a:r>
            <a:r>
              <a:rPr lang="en-US" dirty="0" err="1"/>
              <a:t>quang</a:t>
            </a:r>
            <a:r>
              <a:rPr lang="en-US" dirty="0"/>
              <a:t> - CD</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153400" cy="990600"/>
          </a:xfrm>
        </p:spPr>
        <p:txBody>
          <a:bodyPr/>
          <a:lstStyle/>
          <a:p>
            <a:r>
              <a:rPr lang="en-US" dirty="0" err="1"/>
              <a:t>Đĩa</a:t>
            </a:r>
            <a:r>
              <a:rPr lang="en-US" dirty="0"/>
              <a:t> </a:t>
            </a:r>
            <a:r>
              <a:rPr lang="en-US" dirty="0" err="1"/>
              <a:t>quang</a:t>
            </a:r>
            <a:r>
              <a:rPr lang="en-US" dirty="0"/>
              <a:t> - CD Player</a:t>
            </a:r>
          </a:p>
        </p:txBody>
      </p:sp>
      <p:sp>
        <p:nvSpPr>
          <p:cNvPr id="3" name="Content Placeholder 2"/>
          <p:cNvSpPr>
            <a:spLocks noGrp="1"/>
          </p:cNvSpPr>
          <p:nvPr>
            <p:ph sz="quarter" idx="1"/>
          </p:nvPr>
        </p:nvSpPr>
        <p:spPr>
          <a:xfrm>
            <a:off x="76200" y="2819400"/>
            <a:ext cx="3733800" cy="3352800"/>
          </a:xfrm>
        </p:spPr>
        <p:txBody>
          <a:bodyPr>
            <a:normAutofit/>
          </a:bodyPr>
          <a:lstStyle/>
          <a:p>
            <a:r>
              <a:rPr lang="en-US" sz="1800" dirty="0"/>
              <a:t>G</a:t>
            </a:r>
            <a:r>
              <a:rPr lang="vi-VN" sz="1800" dirty="0"/>
              <a:t>ồm 3 phần:</a:t>
            </a:r>
          </a:p>
          <a:p>
            <a:pPr lvl="1"/>
            <a:r>
              <a:rPr lang="vi-VN" sz="1800" dirty="0"/>
              <a:t>Drive Motor quay đĩa.</a:t>
            </a:r>
            <a:endParaRPr lang="en-US" sz="1800" dirty="0"/>
          </a:p>
          <a:p>
            <a:pPr lvl="2"/>
            <a:r>
              <a:rPr lang="vi-VN" sz="1800" dirty="0"/>
              <a:t>được điều khiển quay chính xác 200 đến 500 vòng</a:t>
            </a:r>
          </a:p>
          <a:p>
            <a:pPr lvl="1"/>
            <a:r>
              <a:rPr lang="vi-VN" sz="1800" dirty="0"/>
              <a:t>Laser và một hệ thống thấu kính hội tụ để đọc Bump.</a:t>
            </a:r>
          </a:p>
          <a:p>
            <a:pPr lvl="1"/>
            <a:r>
              <a:rPr lang="en-US" sz="1800" dirty="0"/>
              <a:t>H</a:t>
            </a:r>
            <a:r>
              <a:rPr lang="vi-VN" sz="1800" dirty="0"/>
              <a:t>ệ thống truyền động</a:t>
            </a:r>
            <a:endParaRPr lang="en-US" sz="1800" dirty="0"/>
          </a:p>
          <a:p>
            <a:pPr lvl="2"/>
            <a:r>
              <a:rPr lang="vi-VN" sz="1800" dirty="0"/>
              <a:t>điều khiển tia laser theo những track xoắn ốc.</a:t>
            </a:r>
          </a:p>
          <a:p>
            <a:endParaRPr lang="en-US" sz="1800" dirty="0"/>
          </a:p>
        </p:txBody>
      </p:sp>
      <p:pic>
        <p:nvPicPr>
          <p:cNvPr id="4" name="Picture 7" descr="cd-parts"/>
          <p:cNvPicPr>
            <a:picLocks noChangeAspect="1" noChangeArrowheads="1"/>
          </p:cNvPicPr>
          <p:nvPr/>
        </p:nvPicPr>
        <p:blipFill>
          <a:blip r:embed="rId2" cstate="print"/>
          <a:srcRect/>
          <a:stretch>
            <a:fillRect/>
          </a:stretch>
        </p:blipFill>
        <p:spPr bwMode="auto">
          <a:xfrm>
            <a:off x="3926095" y="2969210"/>
            <a:ext cx="5141705" cy="3812590"/>
          </a:xfrm>
          <a:prstGeom prst="rect">
            <a:avLst/>
          </a:prstGeom>
          <a:noFill/>
        </p:spPr>
      </p:pic>
      <p:sp>
        <p:nvSpPr>
          <p:cNvPr id="5" name="Rectangle 4"/>
          <p:cNvSpPr/>
          <p:nvPr/>
        </p:nvSpPr>
        <p:spPr>
          <a:xfrm>
            <a:off x="685800" y="1600200"/>
            <a:ext cx="8077200" cy="369332"/>
          </a:xfrm>
          <a:prstGeom prst="rect">
            <a:avLst/>
          </a:prstGeom>
        </p:spPr>
        <p:txBody>
          <a:bodyPr wrap="square">
            <a:spAutoFit/>
          </a:bodyPr>
          <a:lstStyle/>
          <a:p>
            <a:r>
              <a:rPr lang="en-US" b="1" dirty="0"/>
              <a:t>T</a:t>
            </a:r>
            <a:r>
              <a:rPr lang="vi-VN" b="1" dirty="0"/>
              <a:t>ìm và đọc dữ liệu được lưu thành những Bump trên CD</a:t>
            </a:r>
            <a:r>
              <a:rPr lang="en-US" b="1" dirty="0"/>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2" name="Picture 4"/>
          <p:cNvPicPr>
            <a:picLocks noChangeAspect="1" noChangeArrowheads="1"/>
          </p:cNvPicPr>
          <p:nvPr/>
        </p:nvPicPr>
        <p:blipFill>
          <a:blip r:embed="rId2" cstate="print"/>
          <a:srcRect/>
          <a:stretch>
            <a:fillRect/>
          </a:stretch>
        </p:blipFill>
        <p:spPr bwMode="auto">
          <a:xfrm>
            <a:off x="1981200" y="1600200"/>
            <a:ext cx="3048000" cy="1953315"/>
          </a:xfrm>
          <a:prstGeom prst="rect">
            <a:avLst/>
          </a:prstGeom>
          <a:noFill/>
        </p:spPr>
      </p:pic>
      <p:pic>
        <p:nvPicPr>
          <p:cNvPr id="89093" name="Picture 5"/>
          <p:cNvPicPr>
            <a:picLocks noChangeAspect="1" noChangeArrowheads="1"/>
          </p:cNvPicPr>
          <p:nvPr/>
        </p:nvPicPr>
        <p:blipFill>
          <a:blip r:embed="rId3" cstate="print"/>
          <a:srcRect/>
          <a:stretch>
            <a:fillRect/>
          </a:stretch>
        </p:blipFill>
        <p:spPr bwMode="auto">
          <a:xfrm>
            <a:off x="5410200" y="1600200"/>
            <a:ext cx="3048000" cy="1950555"/>
          </a:xfrm>
          <a:prstGeom prst="rect">
            <a:avLst/>
          </a:prstGeom>
          <a:noFill/>
        </p:spPr>
      </p:pic>
      <p:pic>
        <p:nvPicPr>
          <p:cNvPr id="89094" name="Picture 6"/>
          <p:cNvPicPr>
            <a:picLocks noChangeAspect="1" noChangeArrowheads="1"/>
          </p:cNvPicPr>
          <p:nvPr/>
        </p:nvPicPr>
        <p:blipFill>
          <a:blip r:embed="rId4" cstate="print"/>
          <a:srcRect/>
          <a:stretch>
            <a:fillRect/>
          </a:stretch>
        </p:blipFill>
        <p:spPr bwMode="auto">
          <a:xfrm>
            <a:off x="5486400" y="3810000"/>
            <a:ext cx="3048000" cy="1950555"/>
          </a:xfrm>
          <a:prstGeom prst="rect">
            <a:avLst/>
          </a:prstGeom>
          <a:noFill/>
        </p:spPr>
      </p:pic>
      <p:sp>
        <p:nvSpPr>
          <p:cNvPr id="6" name="Title 1"/>
          <p:cNvSpPr>
            <a:spLocks noGrp="1"/>
          </p:cNvSpPr>
          <p:nvPr>
            <p:ph type="title"/>
          </p:nvPr>
        </p:nvSpPr>
        <p:spPr>
          <a:xfrm>
            <a:off x="609600" y="228600"/>
            <a:ext cx="8153400" cy="990600"/>
          </a:xfrm>
        </p:spPr>
        <p:txBody>
          <a:bodyPr/>
          <a:lstStyle/>
          <a:p>
            <a:r>
              <a:rPr lang="en-US" dirty="0" err="1"/>
              <a:t>Đĩa</a:t>
            </a:r>
            <a:r>
              <a:rPr lang="en-US" dirty="0"/>
              <a:t> </a:t>
            </a:r>
            <a:r>
              <a:rPr lang="en-US" dirty="0" err="1"/>
              <a:t>quang</a:t>
            </a:r>
            <a:r>
              <a:rPr lang="en-US" dirty="0"/>
              <a:t> - CD Player</a:t>
            </a:r>
          </a:p>
        </p:txBody>
      </p:sp>
      <p:sp>
        <p:nvSpPr>
          <p:cNvPr id="7" name="Rectangle 6"/>
          <p:cNvSpPr>
            <a:spLocks noGrp="1" noChangeArrowheads="1"/>
          </p:cNvSpPr>
          <p:nvPr>
            <p:ph sz="quarter" idx="1"/>
          </p:nvPr>
        </p:nvSpPr>
        <p:spPr>
          <a:xfrm>
            <a:off x="304800" y="3810000"/>
            <a:ext cx="5105400" cy="2057400"/>
          </a:xfrm>
          <a:noFill/>
          <a:ln/>
        </p:spPr>
        <p:txBody>
          <a:bodyPr>
            <a:normAutofit fontScale="55000" lnSpcReduction="20000"/>
          </a:bodyPr>
          <a:lstStyle/>
          <a:p>
            <a:r>
              <a:rPr lang="vi-VN" sz="3600" dirty="0"/>
              <a:t>Disc Motor quay đĩa, Tracking Motor điều khiển laser dọc theo trục để đọc track trên đĩa. </a:t>
            </a:r>
            <a:endParaRPr lang="en-US" sz="3600" dirty="0"/>
          </a:p>
          <a:p>
            <a:r>
              <a:rPr lang="vi-VN" sz="3600" dirty="0"/>
              <a:t>Tốc độ đọc những Bump phải bằng nhau, vì vậy khi laser </a:t>
            </a:r>
            <a:r>
              <a:rPr lang="vi-VN" sz="3600" dirty="0">
                <a:solidFill>
                  <a:srgbClr val="FF0000"/>
                </a:solidFill>
              </a:rPr>
              <a:t>di chuyển ra </a:t>
            </a:r>
            <a:r>
              <a:rPr lang="vi-VN" sz="3600" dirty="0"/>
              <a:t>bên ngoài thì tốc độ quay đĩa phải </a:t>
            </a:r>
            <a:r>
              <a:rPr lang="vi-VN" sz="3600" dirty="0">
                <a:solidFill>
                  <a:srgbClr val="FF0000"/>
                </a:solidFill>
              </a:rPr>
              <a:t>chậm lại </a:t>
            </a:r>
            <a:r>
              <a:rPr lang="vi-VN" sz="3600" dirty="0"/>
              <a:t>như trên hình.</a:t>
            </a:r>
          </a:p>
          <a:p>
            <a:endParaRPr lang="en-US" sz="3600" i="0" dirty="0">
              <a:solidFill>
                <a:schemeClr val="tx2"/>
              </a:solidFill>
              <a:latin typeface="Times New Roman" pitchFamily="18"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70" name="Picture 6">
            <a:hlinkClick r:id="rId2" action="ppaction://program"/>
          </p:cNvPr>
          <p:cNvPicPr>
            <a:picLocks noChangeAspect="1" noChangeArrowheads="1"/>
          </p:cNvPicPr>
          <p:nvPr/>
        </p:nvPicPr>
        <p:blipFill>
          <a:blip r:embed="rId3" cstate="print"/>
          <a:srcRect/>
          <a:stretch>
            <a:fillRect/>
          </a:stretch>
        </p:blipFill>
        <p:spPr bwMode="auto">
          <a:xfrm>
            <a:off x="914400" y="3502025"/>
            <a:ext cx="7239000" cy="1908175"/>
          </a:xfrm>
          <a:prstGeom prst="rect">
            <a:avLst/>
          </a:prstGeom>
          <a:noFill/>
        </p:spPr>
      </p:pic>
      <p:pic>
        <p:nvPicPr>
          <p:cNvPr id="88072" name="Picture 8"/>
          <p:cNvPicPr>
            <a:picLocks noChangeAspect="1" noChangeArrowheads="1"/>
          </p:cNvPicPr>
          <p:nvPr/>
        </p:nvPicPr>
        <p:blipFill>
          <a:blip r:embed="rId4" cstate="print"/>
          <a:srcRect/>
          <a:stretch>
            <a:fillRect/>
          </a:stretch>
        </p:blipFill>
        <p:spPr bwMode="auto">
          <a:xfrm>
            <a:off x="914400" y="1562100"/>
            <a:ext cx="7239000" cy="1943100"/>
          </a:xfrm>
          <a:prstGeom prst="rect">
            <a:avLst/>
          </a:prstGeom>
          <a:noFill/>
        </p:spPr>
      </p:pic>
      <p:sp>
        <p:nvSpPr>
          <p:cNvPr id="5" name="Title 1"/>
          <p:cNvSpPr>
            <a:spLocks noGrp="1"/>
          </p:cNvSpPr>
          <p:nvPr>
            <p:ph type="title"/>
          </p:nvPr>
        </p:nvSpPr>
        <p:spPr>
          <a:xfrm>
            <a:off x="609600" y="228600"/>
            <a:ext cx="8153400" cy="990600"/>
          </a:xfrm>
        </p:spPr>
        <p:txBody>
          <a:bodyPr/>
          <a:lstStyle/>
          <a:p>
            <a:r>
              <a:rPr lang="en-US" dirty="0" err="1"/>
              <a:t>Đĩa</a:t>
            </a:r>
            <a:r>
              <a:rPr lang="en-US" dirty="0"/>
              <a:t> </a:t>
            </a:r>
            <a:r>
              <a:rPr lang="en-US" dirty="0" err="1"/>
              <a:t>quang</a:t>
            </a:r>
            <a:r>
              <a:rPr lang="en-US" dirty="0"/>
              <a:t> - CD Player</a:t>
            </a:r>
          </a:p>
        </p:txBody>
      </p:sp>
      <p:sp>
        <p:nvSpPr>
          <p:cNvPr id="6" name="Content Placeholder 2"/>
          <p:cNvSpPr>
            <a:spLocks noGrp="1"/>
          </p:cNvSpPr>
          <p:nvPr>
            <p:ph sz="quarter" idx="1"/>
          </p:nvPr>
        </p:nvSpPr>
        <p:spPr>
          <a:xfrm>
            <a:off x="914400" y="5410200"/>
            <a:ext cx="7848600" cy="1447800"/>
          </a:xfrm>
        </p:spPr>
        <p:txBody>
          <a:bodyPr>
            <a:normAutofit lnSpcReduction="10000"/>
          </a:bodyPr>
          <a:lstStyle/>
          <a:p>
            <a:r>
              <a:rPr lang="vi-VN" sz="1800" dirty="0"/>
              <a:t>Tia laser chiếu xuyên qua lớp nhựa polycarbonate, bị lớp nhôm phản xạ ngược lại gặp thiết bị Opto điện tử dùng để phát hiện những thay đổi của ánh sáng.</a:t>
            </a:r>
          </a:p>
          <a:p>
            <a:r>
              <a:rPr lang="en-US" sz="1800" dirty="0" err="1"/>
              <a:t>Khi</a:t>
            </a:r>
            <a:r>
              <a:rPr lang="en-US" sz="1800" dirty="0"/>
              <a:t> </a:t>
            </a:r>
            <a:r>
              <a:rPr lang="en-US" sz="1800" dirty="0" err="1"/>
              <a:t>tia</a:t>
            </a:r>
            <a:r>
              <a:rPr lang="en-US" sz="1800" dirty="0"/>
              <a:t> laser </a:t>
            </a:r>
            <a:r>
              <a:rPr lang="en-US" sz="1800" dirty="0" err="1"/>
              <a:t>quét</a:t>
            </a:r>
            <a:r>
              <a:rPr lang="en-US" sz="1800" dirty="0"/>
              <a:t> qua </a:t>
            </a:r>
            <a:r>
              <a:rPr lang="en-US" sz="1800" dirty="0" err="1"/>
              <a:t>những</a:t>
            </a:r>
            <a:r>
              <a:rPr lang="en-US" sz="1800" dirty="0"/>
              <a:t> </a:t>
            </a:r>
            <a:r>
              <a:rPr lang="en-US" sz="1800" dirty="0" err="1"/>
              <a:t>lỗ</a:t>
            </a:r>
            <a:r>
              <a:rPr lang="en-US" sz="1800" dirty="0"/>
              <a:t> </a:t>
            </a:r>
            <a:r>
              <a:rPr lang="en-US" sz="1800" dirty="0" err="1"/>
              <a:t>hổng</a:t>
            </a:r>
            <a:r>
              <a:rPr lang="en-US" sz="1800" dirty="0"/>
              <a:t> (pit) </a:t>
            </a:r>
            <a:r>
              <a:rPr lang="en-US" sz="1800" dirty="0" err="1"/>
              <a:t>và</a:t>
            </a:r>
            <a:r>
              <a:rPr lang="en-US" sz="1800" dirty="0"/>
              <a:t> land (bump) </a:t>
            </a:r>
            <a:r>
              <a:rPr lang="en-US" sz="1800" dirty="0" err="1"/>
              <a:t>sẽ</a:t>
            </a:r>
            <a:r>
              <a:rPr lang="en-US" sz="1800" dirty="0"/>
              <a:t> </a:t>
            </a:r>
            <a:r>
              <a:rPr lang="en-US" sz="1800" dirty="0" err="1"/>
              <a:t>phản</a:t>
            </a:r>
            <a:r>
              <a:rPr lang="en-US" sz="1800" dirty="0"/>
              <a:t> </a:t>
            </a:r>
            <a:r>
              <a:rPr lang="en-US" sz="1800" dirty="0" err="1"/>
              <a:t>xạ</a:t>
            </a:r>
            <a:r>
              <a:rPr lang="en-US" sz="1800" dirty="0"/>
              <a:t> </a:t>
            </a:r>
            <a:r>
              <a:rPr lang="en-US" sz="1800" dirty="0" err="1"/>
              <a:t>lên</a:t>
            </a:r>
            <a:r>
              <a:rPr lang="en-US" sz="1800" dirty="0"/>
              <a:t> </a:t>
            </a:r>
            <a:r>
              <a:rPr lang="en-US" sz="1800" dirty="0" err="1"/>
              <a:t>cảm</a:t>
            </a:r>
            <a:r>
              <a:rPr lang="en-US" sz="1800" dirty="0"/>
              <a:t> </a:t>
            </a:r>
            <a:r>
              <a:rPr lang="en-US" sz="1800" dirty="0" err="1"/>
              <a:t>biến</a:t>
            </a:r>
            <a:r>
              <a:rPr lang="en-US" sz="1800" dirty="0"/>
              <a:t> </a:t>
            </a:r>
            <a:r>
              <a:rPr lang="en-US" sz="1800" dirty="0" err="1"/>
              <a:t>Opto</a:t>
            </a:r>
            <a:r>
              <a:rPr lang="en-US" sz="1800" dirty="0"/>
              <a:t> </a:t>
            </a:r>
            <a:r>
              <a:rPr lang="en-US" sz="1800" dirty="0" err="1"/>
              <a:t>tạo</a:t>
            </a:r>
            <a:r>
              <a:rPr lang="en-US" sz="1800" dirty="0"/>
              <a:t> </a:t>
            </a:r>
            <a:r>
              <a:rPr lang="en-US" sz="1800" dirty="0" err="1"/>
              <a:t>thành</a:t>
            </a:r>
            <a:r>
              <a:rPr lang="en-US" sz="1800" dirty="0"/>
              <a:t> </a:t>
            </a:r>
            <a:r>
              <a:rPr lang="en-US" sz="1800" dirty="0" err="1"/>
              <a:t>những</a:t>
            </a:r>
            <a:r>
              <a:rPr lang="en-US" sz="1800" dirty="0"/>
              <a:t> bit 0, 1.</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81" name="Picture 5" descr="pits3"/>
          <p:cNvPicPr>
            <a:picLocks noChangeAspect="1" noChangeArrowheads="1"/>
          </p:cNvPicPr>
          <p:nvPr/>
        </p:nvPicPr>
        <p:blipFill>
          <a:blip r:embed="rId2" cstate="print"/>
          <a:srcRect/>
          <a:stretch>
            <a:fillRect/>
          </a:stretch>
        </p:blipFill>
        <p:spPr bwMode="auto">
          <a:xfrm>
            <a:off x="1905000" y="1524000"/>
            <a:ext cx="5451475" cy="5334000"/>
          </a:xfrm>
          <a:prstGeom prst="rect">
            <a:avLst/>
          </a:prstGeom>
          <a:noFill/>
        </p:spPr>
      </p:pic>
      <p:sp>
        <p:nvSpPr>
          <p:cNvPr id="3" name="Title 1"/>
          <p:cNvSpPr>
            <a:spLocks noGrp="1"/>
          </p:cNvSpPr>
          <p:nvPr>
            <p:ph type="title"/>
          </p:nvPr>
        </p:nvSpPr>
        <p:spPr>
          <a:xfrm>
            <a:off x="609600" y="228600"/>
            <a:ext cx="8153400" cy="990600"/>
          </a:xfrm>
        </p:spPr>
        <p:txBody>
          <a:bodyPr/>
          <a:lstStyle/>
          <a:p>
            <a:r>
              <a:rPr lang="en-US" dirty="0" err="1"/>
              <a:t>Đĩa</a:t>
            </a:r>
            <a:r>
              <a:rPr lang="en-US" dirty="0"/>
              <a:t> </a:t>
            </a:r>
            <a:r>
              <a:rPr lang="en-US" dirty="0" err="1"/>
              <a:t>quang</a:t>
            </a:r>
            <a:r>
              <a:rPr lang="en-US" dirty="0"/>
              <a:t> - CD</a:t>
            </a: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7" name="Picture 5" descr="compact_disk_3"/>
          <p:cNvPicPr>
            <a:picLocks noChangeAspect="1" noChangeArrowheads="1"/>
          </p:cNvPicPr>
          <p:nvPr/>
        </p:nvPicPr>
        <p:blipFill>
          <a:blip r:embed="rId2" cstate="print"/>
          <a:srcRect/>
          <a:stretch>
            <a:fillRect/>
          </a:stretch>
        </p:blipFill>
        <p:spPr bwMode="auto">
          <a:xfrm>
            <a:off x="685800" y="1524000"/>
            <a:ext cx="8305800" cy="5257800"/>
          </a:xfrm>
          <a:prstGeom prst="rect">
            <a:avLst/>
          </a:prstGeom>
          <a:noFill/>
        </p:spPr>
      </p:pic>
      <p:sp>
        <p:nvSpPr>
          <p:cNvPr id="3" name="Title 1"/>
          <p:cNvSpPr>
            <a:spLocks noGrp="1"/>
          </p:cNvSpPr>
          <p:nvPr>
            <p:ph type="title"/>
          </p:nvPr>
        </p:nvSpPr>
        <p:spPr>
          <a:xfrm>
            <a:off x="609600" y="228600"/>
            <a:ext cx="8153400" cy="990600"/>
          </a:xfrm>
        </p:spPr>
        <p:txBody>
          <a:bodyPr/>
          <a:lstStyle/>
          <a:p>
            <a:r>
              <a:rPr lang="en-US" dirty="0" err="1"/>
              <a:t>Đĩa</a:t>
            </a:r>
            <a:r>
              <a:rPr lang="en-US" dirty="0"/>
              <a:t> </a:t>
            </a:r>
            <a:r>
              <a:rPr lang="en-US" dirty="0" err="1"/>
              <a:t>quang</a:t>
            </a:r>
            <a:r>
              <a:rPr lang="en-US" dirty="0"/>
              <a:t> - CD</a:t>
            </a: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501" name="Picture 5" descr="compact_disk_3"/>
          <p:cNvPicPr>
            <a:picLocks noChangeAspect="1" noChangeArrowheads="1"/>
          </p:cNvPicPr>
          <p:nvPr/>
        </p:nvPicPr>
        <p:blipFill>
          <a:blip r:embed="rId2" cstate="print"/>
          <a:srcRect/>
          <a:stretch>
            <a:fillRect/>
          </a:stretch>
        </p:blipFill>
        <p:spPr bwMode="auto">
          <a:xfrm>
            <a:off x="685800" y="1524000"/>
            <a:ext cx="8001000" cy="5283679"/>
          </a:xfrm>
          <a:prstGeom prst="rect">
            <a:avLst/>
          </a:prstGeom>
          <a:noFill/>
        </p:spPr>
      </p:pic>
      <p:sp>
        <p:nvSpPr>
          <p:cNvPr id="3" name="Title 1"/>
          <p:cNvSpPr>
            <a:spLocks noGrp="1"/>
          </p:cNvSpPr>
          <p:nvPr>
            <p:ph type="title"/>
          </p:nvPr>
        </p:nvSpPr>
        <p:spPr>
          <a:xfrm>
            <a:off x="609600" y="228600"/>
            <a:ext cx="8153400" cy="990600"/>
          </a:xfrm>
        </p:spPr>
        <p:txBody>
          <a:bodyPr/>
          <a:lstStyle/>
          <a:p>
            <a:r>
              <a:rPr lang="en-US" dirty="0" err="1"/>
              <a:t>Đĩa</a:t>
            </a:r>
            <a:r>
              <a:rPr lang="en-US" dirty="0"/>
              <a:t> </a:t>
            </a:r>
            <a:r>
              <a:rPr lang="en-US" dirty="0" err="1"/>
              <a:t>quang</a:t>
            </a:r>
            <a:r>
              <a:rPr lang="en-US" dirty="0"/>
              <a:t> - CD</a:t>
            </a: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5" name="Picture 5" descr="compact_disk_4"/>
          <p:cNvPicPr>
            <a:picLocks noChangeAspect="1" noChangeArrowheads="1"/>
          </p:cNvPicPr>
          <p:nvPr/>
        </p:nvPicPr>
        <p:blipFill>
          <a:blip r:embed="rId2" cstate="print"/>
          <a:srcRect/>
          <a:stretch>
            <a:fillRect/>
          </a:stretch>
        </p:blipFill>
        <p:spPr bwMode="auto">
          <a:xfrm>
            <a:off x="990600" y="1600200"/>
            <a:ext cx="7543800" cy="5105399"/>
          </a:xfrm>
          <a:prstGeom prst="rect">
            <a:avLst/>
          </a:prstGeom>
          <a:noFill/>
        </p:spPr>
      </p:pic>
      <p:sp>
        <p:nvSpPr>
          <p:cNvPr id="3" name="Title 1"/>
          <p:cNvSpPr>
            <a:spLocks noGrp="1"/>
          </p:cNvSpPr>
          <p:nvPr>
            <p:ph type="title"/>
          </p:nvPr>
        </p:nvSpPr>
        <p:spPr>
          <a:xfrm>
            <a:off x="609600" y="228600"/>
            <a:ext cx="8153400" cy="990600"/>
          </a:xfrm>
        </p:spPr>
        <p:txBody>
          <a:bodyPr/>
          <a:lstStyle/>
          <a:p>
            <a:r>
              <a:rPr lang="en-US" dirty="0" err="1"/>
              <a:t>Đĩa</a:t>
            </a:r>
            <a:r>
              <a:rPr lang="en-US" dirty="0"/>
              <a:t> </a:t>
            </a:r>
            <a:r>
              <a:rPr lang="en-US" dirty="0" err="1"/>
              <a:t>quang</a:t>
            </a:r>
            <a:r>
              <a:rPr lang="en-US" dirty="0"/>
              <a:t> - CD</a:t>
            </a: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60" name="Picture 4"/>
          <p:cNvPicPr>
            <a:picLocks noChangeAspect="1" noChangeArrowheads="1"/>
          </p:cNvPicPr>
          <p:nvPr/>
        </p:nvPicPr>
        <p:blipFill>
          <a:blip r:embed="rId2" cstate="print"/>
          <a:srcRect/>
          <a:stretch>
            <a:fillRect/>
          </a:stretch>
        </p:blipFill>
        <p:spPr bwMode="auto">
          <a:xfrm>
            <a:off x="1295400" y="1600200"/>
            <a:ext cx="6934200" cy="5029200"/>
          </a:xfrm>
          <a:prstGeom prst="rect">
            <a:avLst/>
          </a:prstGeom>
          <a:noFill/>
        </p:spPr>
      </p:pic>
      <p:sp>
        <p:nvSpPr>
          <p:cNvPr id="6" name="Title 1"/>
          <p:cNvSpPr>
            <a:spLocks noGrp="1"/>
          </p:cNvSpPr>
          <p:nvPr>
            <p:ph type="title"/>
          </p:nvPr>
        </p:nvSpPr>
        <p:spPr>
          <a:xfrm>
            <a:off x="609600" y="228600"/>
            <a:ext cx="8153400" cy="990600"/>
          </a:xfrm>
        </p:spPr>
        <p:txBody>
          <a:bodyPr/>
          <a:lstStyle/>
          <a:p>
            <a:r>
              <a:rPr lang="en-US" dirty="0" err="1"/>
              <a:t>Đĩa</a:t>
            </a:r>
            <a:r>
              <a:rPr lang="en-US" dirty="0"/>
              <a:t> </a:t>
            </a:r>
            <a:r>
              <a:rPr lang="en-US" dirty="0" err="1"/>
              <a:t>quang</a:t>
            </a:r>
            <a:r>
              <a:rPr lang="en-US" dirty="0"/>
              <a:t> - CD</a:t>
            </a: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50" name="Rectangle 6"/>
          <p:cNvSpPr>
            <a:spLocks noGrp="1" noChangeArrowheads="1"/>
          </p:cNvSpPr>
          <p:nvPr>
            <p:ph sz="quarter" idx="1"/>
          </p:nvPr>
        </p:nvSpPr>
        <p:spPr>
          <a:xfrm>
            <a:off x="152400" y="1905000"/>
            <a:ext cx="8686800" cy="3886200"/>
          </a:xfrm>
          <a:noFill/>
          <a:ln/>
        </p:spPr>
        <p:txBody>
          <a:bodyPr>
            <a:normAutofit/>
          </a:bodyPr>
          <a:lstStyle/>
          <a:p>
            <a:r>
              <a:rPr lang="en-US" sz="2800" i="0" dirty="0">
                <a:latin typeface="Times New Roman" pitchFamily="18" charset="0"/>
              </a:rPr>
              <a:t>DVD (Digital Video Disc) </a:t>
            </a:r>
            <a:r>
              <a:rPr lang="en-US" sz="2800" i="0" dirty="0" err="1">
                <a:latin typeface="Times New Roman" pitchFamily="18" charset="0"/>
              </a:rPr>
              <a:t>cũng</a:t>
            </a:r>
            <a:r>
              <a:rPr lang="en-US" sz="2800" i="0" dirty="0">
                <a:latin typeface="Times New Roman" pitchFamily="18" charset="0"/>
              </a:rPr>
              <a:t> </a:t>
            </a:r>
            <a:r>
              <a:rPr lang="en-US" sz="2800" i="0" dirty="0" err="1">
                <a:latin typeface="Times New Roman" pitchFamily="18" charset="0"/>
              </a:rPr>
              <a:t>có</a:t>
            </a:r>
            <a:r>
              <a:rPr lang="en-US" sz="2800" i="0" dirty="0">
                <a:latin typeface="Times New Roman" pitchFamily="18" charset="0"/>
              </a:rPr>
              <a:t> </a:t>
            </a:r>
            <a:r>
              <a:rPr lang="en-US" sz="2800" i="0" dirty="0" err="1">
                <a:latin typeface="Times New Roman" pitchFamily="18" charset="0"/>
              </a:rPr>
              <a:t>thể</a:t>
            </a:r>
            <a:r>
              <a:rPr lang="en-US" sz="2800" i="0" dirty="0">
                <a:latin typeface="Times New Roman" pitchFamily="18" charset="0"/>
              </a:rPr>
              <a:t> </a:t>
            </a:r>
            <a:r>
              <a:rPr lang="en-US" sz="2800" i="0" dirty="0" err="1">
                <a:latin typeface="Times New Roman" pitchFamily="18" charset="0"/>
              </a:rPr>
              <a:t>được</a:t>
            </a:r>
            <a:r>
              <a:rPr lang="en-US" sz="2800" i="0" dirty="0">
                <a:latin typeface="Times New Roman" pitchFamily="18" charset="0"/>
              </a:rPr>
              <a:t> </a:t>
            </a:r>
            <a:r>
              <a:rPr lang="en-US" sz="2800" i="0" dirty="0" err="1">
                <a:latin typeface="Times New Roman" pitchFamily="18" charset="0"/>
              </a:rPr>
              <a:t>hiểu</a:t>
            </a:r>
            <a:r>
              <a:rPr lang="en-US" sz="2800" i="0" dirty="0">
                <a:latin typeface="Times New Roman" pitchFamily="18" charset="0"/>
              </a:rPr>
              <a:t> </a:t>
            </a:r>
            <a:r>
              <a:rPr lang="en-US" sz="2800" i="0" dirty="0" err="1">
                <a:latin typeface="Times New Roman" pitchFamily="18" charset="0"/>
              </a:rPr>
              <a:t>là</a:t>
            </a:r>
            <a:r>
              <a:rPr lang="en-US" sz="2800" i="0" dirty="0">
                <a:latin typeface="Times New Roman" pitchFamily="18" charset="0"/>
              </a:rPr>
              <a:t> Digital Versatile Disc. (</a:t>
            </a:r>
            <a:r>
              <a:rPr lang="en-US" sz="2800" i="0" dirty="0" err="1">
                <a:latin typeface="Times New Roman" pitchFamily="18" charset="0"/>
              </a:rPr>
              <a:t>đĩa</a:t>
            </a:r>
            <a:r>
              <a:rPr lang="en-US" sz="2800" i="0" dirty="0">
                <a:latin typeface="Times New Roman" pitchFamily="18" charset="0"/>
              </a:rPr>
              <a:t> </a:t>
            </a:r>
            <a:r>
              <a:rPr lang="en-US" sz="2800" i="0" dirty="0" err="1">
                <a:latin typeface="Times New Roman" pitchFamily="18" charset="0"/>
              </a:rPr>
              <a:t>kĩ</a:t>
            </a:r>
            <a:r>
              <a:rPr lang="en-US" sz="2800" i="0" dirty="0">
                <a:latin typeface="Times New Roman" pitchFamily="18" charset="0"/>
              </a:rPr>
              <a:t> </a:t>
            </a:r>
            <a:r>
              <a:rPr lang="en-US" sz="2800" i="0" dirty="0" err="1">
                <a:latin typeface="Times New Roman" pitchFamily="18" charset="0"/>
              </a:rPr>
              <a:t>thuật</a:t>
            </a:r>
            <a:r>
              <a:rPr lang="en-US" sz="2800" i="0" dirty="0">
                <a:latin typeface="Times New Roman" pitchFamily="18" charset="0"/>
              </a:rPr>
              <a:t> </a:t>
            </a:r>
            <a:r>
              <a:rPr lang="en-US" sz="2800" i="0" dirty="0" err="1">
                <a:latin typeface="Times New Roman" pitchFamily="18" charset="0"/>
              </a:rPr>
              <a:t>số</a:t>
            </a:r>
            <a:r>
              <a:rPr lang="en-US" sz="2800" i="0" dirty="0">
                <a:latin typeface="Times New Roman" pitchFamily="18" charset="0"/>
              </a:rPr>
              <a:t> </a:t>
            </a:r>
            <a:r>
              <a:rPr lang="en-US" sz="2800" i="0" dirty="0" err="1">
                <a:latin typeface="Times New Roman" pitchFamily="18" charset="0"/>
              </a:rPr>
              <a:t>đa</a:t>
            </a:r>
            <a:r>
              <a:rPr lang="en-US" sz="2800" i="0" dirty="0">
                <a:latin typeface="Times New Roman" pitchFamily="18" charset="0"/>
              </a:rPr>
              <a:t> </a:t>
            </a:r>
            <a:r>
              <a:rPr lang="en-US" sz="2800" i="0" dirty="0" err="1">
                <a:latin typeface="Times New Roman" pitchFamily="18" charset="0"/>
              </a:rPr>
              <a:t>năng</a:t>
            </a:r>
            <a:r>
              <a:rPr lang="en-US" sz="2800" i="0" dirty="0">
                <a:latin typeface="Times New Roman" pitchFamily="18" charset="0"/>
              </a:rPr>
              <a:t>). </a:t>
            </a:r>
          </a:p>
          <a:p>
            <a:r>
              <a:rPr lang="en-US" sz="2800" i="0" dirty="0">
                <a:latin typeface="Times New Roman" pitchFamily="18" charset="0"/>
              </a:rPr>
              <a:t>DVD </a:t>
            </a:r>
            <a:r>
              <a:rPr lang="en-US" sz="2800" i="0" dirty="0" err="1">
                <a:latin typeface="Times New Roman" pitchFamily="18" charset="0"/>
              </a:rPr>
              <a:t>là</a:t>
            </a:r>
            <a:r>
              <a:rPr lang="en-US" sz="2800" i="0" dirty="0">
                <a:latin typeface="Times New Roman" pitchFamily="18" charset="0"/>
              </a:rPr>
              <a:t>  </a:t>
            </a:r>
            <a:r>
              <a:rPr lang="en-US" sz="2800" i="0" dirty="0" err="1">
                <a:latin typeface="Times New Roman" pitchFamily="18" charset="0"/>
              </a:rPr>
              <a:t>một</a:t>
            </a:r>
            <a:r>
              <a:rPr lang="en-US" sz="2800" i="0" dirty="0">
                <a:latin typeface="Times New Roman" pitchFamily="18" charset="0"/>
              </a:rPr>
              <a:t> </a:t>
            </a:r>
            <a:r>
              <a:rPr lang="en-US" sz="2800" i="0" dirty="0" err="1">
                <a:latin typeface="Times New Roman" pitchFamily="18" charset="0"/>
              </a:rPr>
              <a:t>hệ</a:t>
            </a:r>
            <a:r>
              <a:rPr lang="en-US" sz="2800" i="0" dirty="0">
                <a:latin typeface="Times New Roman" pitchFamily="18" charset="0"/>
              </a:rPr>
              <a:t> </a:t>
            </a:r>
            <a:r>
              <a:rPr lang="en-US" sz="2800" i="0" dirty="0" err="1">
                <a:latin typeface="Times New Roman" pitchFamily="18" charset="0"/>
              </a:rPr>
              <a:t>thống</a:t>
            </a:r>
            <a:r>
              <a:rPr lang="en-US" sz="2800" i="0" dirty="0">
                <a:latin typeface="Times New Roman" pitchFamily="18" charset="0"/>
              </a:rPr>
              <a:t> </a:t>
            </a:r>
            <a:r>
              <a:rPr lang="en-US" sz="2800" i="0" dirty="0" err="1">
                <a:latin typeface="Times New Roman" pitchFamily="18" charset="0"/>
              </a:rPr>
              <a:t>lưu</a:t>
            </a:r>
            <a:r>
              <a:rPr lang="en-US" sz="2800" i="0" dirty="0">
                <a:latin typeface="Times New Roman" pitchFamily="18" charset="0"/>
              </a:rPr>
              <a:t> </a:t>
            </a:r>
            <a:r>
              <a:rPr lang="en-US" sz="2800" i="0" dirty="0" err="1">
                <a:latin typeface="Times New Roman" pitchFamily="18" charset="0"/>
              </a:rPr>
              <a:t>trữ</a:t>
            </a:r>
            <a:r>
              <a:rPr lang="en-US" sz="2800" i="0" dirty="0">
                <a:latin typeface="Times New Roman" pitchFamily="18" charset="0"/>
              </a:rPr>
              <a:t> </a:t>
            </a:r>
            <a:r>
              <a:rPr lang="en-US" sz="2800" i="0" dirty="0" err="1">
                <a:latin typeface="Times New Roman" pitchFamily="18" charset="0"/>
              </a:rPr>
              <a:t>quang</a:t>
            </a:r>
            <a:r>
              <a:rPr lang="en-US" sz="2800" i="0" dirty="0">
                <a:latin typeface="Times New Roman" pitchFamily="18" charset="0"/>
              </a:rPr>
              <a:t> </a:t>
            </a:r>
            <a:r>
              <a:rPr lang="en-US" sz="2800" i="0" dirty="0" err="1">
                <a:latin typeface="Times New Roman" pitchFamily="18" charset="0"/>
              </a:rPr>
              <a:t>chỉ</a:t>
            </a:r>
            <a:r>
              <a:rPr lang="en-US" sz="2800" i="0" dirty="0">
                <a:latin typeface="Times New Roman" pitchFamily="18" charset="0"/>
              </a:rPr>
              <a:t> </a:t>
            </a:r>
            <a:r>
              <a:rPr lang="en-US" sz="2800" i="0" dirty="0" err="1">
                <a:latin typeface="Times New Roman" pitchFamily="18" charset="0"/>
              </a:rPr>
              <a:t>đọc</a:t>
            </a:r>
            <a:r>
              <a:rPr lang="en-US" sz="2800" i="0" dirty="0">
                <a:latin typeface="Times New Roman" pitchFamily="18" charset="0"/>
              </a:rPr>
              <a:t>, </a:t>
            </a:r>
            <a:r>
              <a:rPr lang="en-US" sz="2800" i="0" dirty="0" err="1">
                <a:latin typeface="Times New Roman" pitchFamily="18" charset="0"/>
              </a:rPr>
              <a:t>có</a:t>
            </a:r>
            <a:r>
              <a:rPr lang="en-US" sz="2800" i="0" dirty="0">
                <a:latin typeface="Times New Roman" pitchFamily="18" charset="0"/>
              </a:rPr>
              <a:t> </a:t>
            </a:r>
            <a:r>
              <a:rPr lang="en-US" sz="2800" i="0" dirty="0" err="1">
                <a:latin typeface="Times New Roman" pitchFamily="18" charset="0"/>
              </a:rPr>
              <a:t>khả</a:t>
            </a:r>
            <a:r>
              <a:rPr lang="en-US" sz="2800" i="0" dirty="0">
                <a:latin typeface="Times New Roman" pitchFamily="18" charset="0"/>
              </a:rPr>
              <a:t> </a:t>
            </a:r>
            <a:r>
              <a:rPr lang="en-US" sz="2800" i="0" dirty="0" err="1">
                <a:latin typeface="Times New Roman" pitchFamily="18" charset="0"/>
              </a:rPr>
              <a:t>năng</a:t>
            </a:r>
            <a:r>
              <a:rPr lang="en-US" sz="2800" i="0" dirty="0">
                <a:latin typeface="Times New Roman" pitchFamily="18" charset="0"/>
              </a:rPr>
              <a:t> </a:t>
            </a:r>
            <a:r>
              <a:rPr lang="en-US" sz="2800" i="0" dirty="0" err="1">
                <a:latin typeface="Times New Roman" pitchFamily="18" charset="0"/>
              </a:rPr>
              <a:t>lưu</a:t>
            </a:r>
            <a:r>
              <a:rPr lang="en-US" sz="2800" i="0" dirty="0">
                <a:latin typeface="Times New Roman" pitchFamily="18" charset="0"/>
              </a:rPr>
              <a:t> </a:t>
            </a:r>
            <a:r>
              <a:rPr lang="en-US" sz="2800" i="0" dirty="0" err="1">
                <a:latin typeface="Times New Roman" pitchFamily="18" charset="0"/>
              </a:rPr>
              <a:t>trữ</a:t>
            </a:r>
            <a:r>
              <a:rPr lang="en-US" sz="2800" i="0" dirty="0">
                <a:latin typeface="Times New Roman" pitchFamily="18" charset="0"/>
              </a:rPr>
              <a:t> </a:t>
            </a:r>
            <a:r>
              <a:rPr lang="en-US" sz="2800" i="0" dirty="0" err="1">
                <a:latin typeface="Times New Roman" pitchFamily="18" charset="0"/>
              </a:rPr>
              <a:t>và</a:t>
            </a:r>
            <a:r>
              <a:rPr lang="en-US" sz="2800" i="0" dirty="0">
                <a:latin typeface="Times New Roman" pitchFamily="18" charset="0"/>
              </a:rPr>
              <a:t> </a:t>
            </a:r>
            <a:r>
              <a:rPr lang="en-US" sz="2800" i="0" dirty="0" err="1">
                <a:latin typeface="Times New Roman" pitchFamily="18" charset="0"/>
              </a:rPr>
              <a:t>sao</a:t>
            </a:r>
            <a:r>
              <a:rPr lang="en-US" sz="2800" i="0" dirty="0">
                <a:latin typeface="Times New Roman" pitchFamily="18" charset="0"/>
              </a:rPr>
              <a:t> </a:t>
            </a:r>
            <a:r>
              <a:rPr lang="en-US" sz="2800" i="0" dirty="0" err="1">
                <a:latin typeface="Times New Roman" pitchFamily="18" charset="0"/>
              </a:rPr>
              <a:t>chép</a:t>
            </a:r>
            <a:r>
              <a:rPr lang="en-US" sz="2800" i="0" dirty="0">
                <a:latin typeface="Times New Roman" pitchFamily="18" charset="0"/>
              </a:rPr>
              <a:t>. </a:t>
            </a:r>
          </a:p>
          <a:p>
            <a:r>
              <a:rPr lang="en-US" sz="2800" i="0" dirty="0" err="1">
                <a:latin typeface="Times New Roman" pitchFamily="18" charset="0"/>
              </a:rPr>
              <a:t>Tương</a:t>
            </a:r>
            <a:r>
              <a:rPr lang="en-US" sz="2800" i="0" dirty="0">
                <a:latin typeface="Times New Roman" pitchFamily="18" charset="0"/>
              </a:rPr>
              <a:t> </a:t>
            </a:r>
            <a:r>
              <a:rPr lang="en-US" sz="2800" i="0" dirty="0" err="1">
                <a:latin typeface="Times New Roman" pitchFamily="18" charset="0"/>
              </a:rPr>
              <a:t>tự</a:t>
            </a:r>
            <a:r>
              <a:rPr lang="en-US" sz="2800" i="0" dirty="0">
                <a:latin typeface="Times New Roman" pitchFamily="18" charset="0"/>
              </a:rPr>
              <a:t> CD </a:t>
            </a:r>
            <a:r>
              <a:rPr lang="en-US" sz="2800" i="0" dirty="0" err="1">
                <a:latin typeface="Times New Roman" pitchFamily="18" charset="0"/>
              </a:rPr>
              <a:t>về</a:t>
            </a:r>
            <a:r>
              <a:rPr lang="en-US" sz="2800" i="0" dirty="0">
                <a:latin typeface="Times New Roman" pitchFamily="18" charset="0"/>
              </a:rPr>
              <a:t> </a:t>
            </a:r>
            <a:r>
              <a:rPr lang="en-US" sz="2800" i="0" dirty="0" err="1">
                <a:latin typeface="Times New Roman" pitchFamily="18" charset="0"/>
              </a:rPr>
              <a:t>nhiều</a:t>
            </a:r>
            <a:r>
              <a:rPr lang="en-US" sz="2800" i="0" dirty="0">
                <a:latin typeface="Times New Roman" pitchFamily="18" charset="0"/>
              </a:rPr>
              <a:t> </a:t>
            </a:r>
            <a:r>
              <a:rPr lang="en-US" sz="2800" i="0" dirty="0" err="1">
                <a:latin typeface="Times New Roman" pitchFamily="18" charset="0"/>
              </a:rPr>
              <a:t>mặt</a:t>
            </a:r>
            <a:r>
              <a:rPr lang="en-US" sz="2800" i="0" dirty="0">
                <a:latin typeface="Times New Roman" pitchFamily="18" charset="0"/>
              </a:rPr>
              <a:t>.</a:t>
            </a:r>
          </a:p>
        </p:txBody>
      </p:sp>
      <p:sp>
        <p:nvSpPr>
          <p:cNvPr id="5" name="Title 1"/>
          <p:cNvSpPr>
            <a:spLocks noGrp="1"/>
          </p:cNvSpPr>
          <p:nvPr>
            <p:ph type="title"/>
          </p:nvPr>
        </p:nvSpPr>
        <p:spPr>
          <a:xfrm>
            <a:off x="609600" y="228600"/>
            <a:ext cx="8153400" cy="990600"/>
          </a:xfrm>
        </p:spPr>
        <p:txBody>
          <a:bodyPr/>
          <a:lstStyle/>
          <a:p>
            <a:r>
              <a:rPr lang="en-US" dirty="0"/>
              <a:t>DVD</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645" name="Group 53"/>
          <p:cNvGraphicFramePr>
            <a:graphicFrameLocks noGrp="1"/>
          </p:cNvGraphicFramePr>
          <p:nvPr>
            <p:ph/>
          </p:nvPr>
        </p:nvGraphicFramePr>
        <p:xfrm>
          <a:off x="457200" y="2133600"/>
          <a:ext cx="8229600" cy="4145280"/>
        </p:xfrm>
        <a:graphic>
          <a:graphicData uri="http://schemas.openxmlformats.org/drawingml/2006/table">
            <a:tbl>
              <a:tblPr/>
              <a:tblGrid>
                <a:gridCol w="4038600">
                  <a:extLst>
                    <a:ext uri="{9D8B030D-6E8A-4147-A177-3AD203B41FA5}">
                      <a16:colId xmlns:a16="http://schemas.microsoft.com/office/drawing/2014/main" val="20000"/>
                    </a:ext>
                  </a:extLst>
                </a:gridCol>
                <a:gridCol w="2449513">
                  <a:extLst>
                    <a:ext uri="{9D8B030D-6E8A-4147-A177-3AD203B41FA5}">
                      <a16:colId xmlns:a16="http://schemas.microsoft.com/office/drawing/2014/main" val="20001"/>
                    </a:ext>
                  </a:extLst>
                </a:gridCol>
                <a:gridCol w="1741487">
                  <a:extLst>
                    <a:ext uri="{9D8B030D-6E8A-4147-A177-3AD203B41FA5}">
                      <a16:colId xmlns:a16="http://schemas.microsoft.com/office/drawing/2014/main" val="20002"/>
                    </a:ext>
                  </a:extLst>
                </a:gridCol>
              </a:tblGrid>
              <a:tr h="411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Times New Roman" pitchFamily="18" charset="0"/>
                        </a:rPr>
                        <a:t>Đặc</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tính</a:t>
                      </a:r>
                      <a:endParaRPr kumimoji="0" lang="en-US" sz="2800" b="0" i="0" u="none" strike="noStrike" cap="none" normalizeH="0" baseline="0" dirty="0">
                        <a:ln>
                          <a:noFill/>
                        </a:ln>
                        <a:solidFill>
                          <a:schemeClr val="tx1"/>
                        </a:solidFill>
                        <a:effectLst/>
                        <a:latin typeface="Times New Roman" pitchFamily="18" charset="0"/>
                      </a:endParaRPr>
                    </a:p>
                  </a:txBody>
                  <a:tcPr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DVD</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CD-ROM</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Times New Roman" pitchFamily="18" charset="0"/>
                        </a:rPr>
                        <a:t>Đường</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kính</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độ</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dày</a:t>
                      </a:r>
                      <a:r>
                        <a:rPr kumimoji="0" lang="en-US" sz="2800" b="0" i="0" u="none" strike="noStrike" cap="none" normalizeH="0" baseline="0" dirty="0">
                          <a:ln>
                            <a:noFill/>
                          </a:ln>
                          <a:solidFill>
                            <a:schemeClr val="tx1"/>
                          </a:solidFill>
                          <a:effectLst/>
                          <a:latin typeface="Times New Roman" pitchFamily="18" charset="0"/>
                        </a:rPr>
                        <a:t>(mm)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120/1.2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120/1.2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Times New Roman" pitchFamily="18" charset="0"/>
                        </a:rPr>
                        <a:t>Mặt</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dùng</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1 </a:t>
                      </a:r>
                      <a:r>
                        <a:rPr kumimoji="0" lang="en-US" sz="2800" b="0" i="0" u="none" strike="noStrike" cap="none" normalizeH="0" baseline="0" dirty="0" err="1">
                          <a:ln>
                            <a:noFill/>
                          </a:ln>
                          <a:solidFill>
                            <a:schemeClr val="tx1"/>
                          </a:solidFill>
                          <a:effectLst/>
                          <a:latin typeface="Times New Roman" pitchFamily="18" charset="0"/>
                        </a:rPr>
                        <a:t>hoặc</a:t>
                      </a:r>
                      <a:r>
                        <a:rPr kumimoji="0" lang="en-US" sz="2800" b="0" i="0" u="none" strike="noStrike" cap="none" normalizeH="0" baseline="0" dirty="0">
                          <a:ln>
                            <a:noFill/>
                          </a:ln>
                          <a:solidFill>
                            <a:schemeClr val="tx1"/>
                          </a:solidFill>
                          <a:effectLst/>
                          <a:latin typeface="Times New Roman" pitchFamily="18" charset="0"/>
                        </a:rPr>
                        <a:t>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Times New Roman" pitchFamily="18" charset="0"/>
                        </a:rPr>
                        <a:t>Số</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lớp</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 hoặc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Dung </a:t>
                      </a:r>
                      <a:r>
                        <a:rPr kumimoji="0" lang="en-US" sz="2800" b="0" i="0" u="none" strike="noStrike" cap="none" normalizeH="0" baseline="0" dirty="0" err="1">
                          <a:ln>
                            <a:noFill/>
                          </a:ln>
                          <a:solidFill>
                            <a:schemeClr val="tx1"/>
                          </a:solidFill>
                          <a:effectLst/>
                          <a:latin typeface="Times New Roman" pitchFamily="18" charset="0"/>
                        </a:rPr>
                        <a:t>lượng</a:t>
                      </a:r>
                      <a:r>
                        <a:rPr kumimoji="0" lang="en-US" sz="2800" b="0" i="0" u="none" strike="noStrike" cap="none" normalizeH="0" baseline="0" dirty="0">
                          <a:ln>
                            <a:noFill/>
                          </a:ln>
                          <a:solidFill>
                            <a:schemeClr val="tx1"/>
                          </a:solidFill>
                          <a:effectLst/>
                          <a:latin typeface="Times New Roman" pitchFamily="18" charset="0"/>
                        </a:rPr>
                        <a:t> (GB)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4.7;8.54;9.4;17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Times New Roman" pitchFamily="18" charset="0"/>
                        </a:rPr>
                        <a:t>Bước</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của</a:t>
                      </a:r>
                      <a:r>
                        <a:rPr kumimoji="0" lang="en-US" sz="2800" b="0" i="0" u="none" strike="noStrike" cap="none" normalizeH="0" baseline="0" dirty="0">
                          <a:ln>
                            <a:noFill/>
                          </a:ln>
                          <a:solidFill>
                            <a:schemeClr val="tx1"/>
                          </a:solidFill>
                          <a:effectLst/>
                          <a:latin typeface="Times New Roman" pitchFamily="18" charset="0"/>
                        </a:rPr>
                        <a:t> track (micron)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0.74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Times New Roman" pitchFamily="18" charset="0"/>
                        </a:rPr>
                        <a:t>Độ</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dài</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tối</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thiểu</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của</a:t>
                      </a:r>
                      <a:r>
                        <a:rPr kumimoji="0" lang="en-US" sz="2800" b="0" i="0" u="none" strike="noStrike" cap="none" normalizeH="0" baseline="0" dirty="0">
                          <a:ln>
                            <a:noFill/>
                          </a:ln>
                          <a:solidFill>
                            <a:schemeClr val="tx1"/>
                          </a:solidFill>
                          <a:effectLst/>
                          <a:latin typeface="Times New Roman" pitchFamily="18" charset="0"/>
                        </a:rPr>
                        <a:t> pit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0.4-0.44(micr)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0.83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a:ln>
                  <a:noFill/>
                </a:ln>
                <a:solidFill>
                  <a:schemeClr val="tx2"/>
                </a:solidFill>
                <a:effectLst/>
                <a:uLnTx/>
                <a:uFillTx/>
                <a:latin typeface="+mn-lt"/>
                <a:ea typeface="+mn-ea"/>
                <a:cs typeface="+mn-cs"/>
              </a:rPr>
              <a:t>DVD vs. CD</a:t>
            </a:r>
          </a:p>
        </p:txBody>
      </p:sp>
    </p:spTree>
  </p:cSld>
  <p:clrMapOvr>
    <a:masterClrMapping/>
  </p:clrMapOvr>
  <p:transition>
    <p:fade thruBlk="1"/>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88" name="Group 48"/>
          <p:cNvGraphicFramePr>
            <a:graphicFrameLocks noGrp="1"/>
          </p:cNvGraphicFramePr>
          <p:nvPr>
            <p:ph/>
          </p:nvPr>
        </p:nvGraphicFramePr>
        <p:xfrm>
          <a:off x="381000" y="2133600"/>
          <a:ext cx="8305800" cy="3723641"/>
        </p:xfrm>
        <a:graphic>
          <a:graphicData uri="http://schemas.openxmlformats.org/drawingml/2006/table">
            <a:tbl>
              <a:tblPr/>
              <a:tblGrid>
                <a:gridCol w="4073525">
                  <a:extLst>
                    <a:ext uri="{9D8B030D-6E8A-4147-A177-3AD203B41FA5}">
                      <a16:colId xmlns:a16="http://schemas.microsoft.com/office/drawing/2014/main" val="20000"/>
                    </a:ext>
                  </a:extLst>
                </a:gridCol>
                <a:gridCol w="2239963">
                  <a:extLst>
                    <a:ext uri="{9D8B030D-6E8A-4147-A177-3AD203B41FA5}">
                      <a16:colId xmlns:a16="http://schemas.microsoft.com/office/drawing/2014/main" val="20001"/>
                    </a:ext>
                  </a:extLst>
                </a:gridCol>
                <a:gridCol w="1992312">
                  <a:extLst>
                    <a:ext uri="{9D8B030D-6E8A-4147-A177-3AD203B41FA5}">
                      <a16:colId xmlns:a16="http://schemas.microsoft.com/office/drawing/2014/main" val="20002"/>
                    </a:ext>
                  </a:extLst>
                </a:gridCol>
              </a:tblGrid>
              <a:tr h="5508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Times New Roman" pitchFamily="18" charset="0"/>
                        </a:rPr>
                        <a:t>Đặc</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tính</a:t>
                      </a:r>
                      <a:endParaRPr kumimoji="0" lang="en-US" sz="2800" b="0" i="0" u="none" strike="noStrike" cap="none" normalizeH="0" baseline="0" dirty="0">
                        <a:ln>
                          <a:noFill/>
                        </a:ln>
                        <a:solidFill>
                          <a:schemeClr val="tx1"/>
                        </a:solidFill>
                        <a:effectLst/>
                        <a:latin typeface="Times New Roman" pitchFamily="18" charset="0"/>
                      </a:endParaRPr>
                    </a:p>
                  </a:txBody>
                  <a:tcPr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DVD</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CD-ROM</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95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Times New Roman" pitchFamily="18" charset="0"/>
                        </a:rPr>
                        <a:t>Bước</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sóng</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sử</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dụng</a:t>
                      </a:r>
                      <a:r>
                        <a:rPr kumimoji="0" lang="en-US" sz="2800" b="0" i="0" u="none" strike="noStrike" cap="none" normalizeH="0" baseline="0" dirty="0">
                          <a:ln>
                            <a:noFill/>
                          </a:ln>
                          <a:solidFill>
                            <a:schemeClr val="tx1"/>
                          </a:solidFill>
                          <a:effectLst/>
                          <a:latin typeface="Times New Roman" pitchFamily="18" charset="0"/>
                        </a:rPr>
                        <a:t> (nm)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635 hoặc 650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780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1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Times New Roman" pitchFamily="18" charset="0"/>
                        </a:rPr>
                        <a:t>Khẩu</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độ</a:t>
                      </a:r>
                      <a:r>
                        <a:rPr kumimoji="0" lang="en-US" sz="2800" b="0" i="0" u="none" strike="noStrike" cap="none" normalizeH="0" baseline="0" dirty="0">
                          <a:ln>
                            <a:noFill/>
                          </a:ln>
                          <a:solidFill>
                            <a:schemeClr val="tx1"/>
                          </a:solidFill>
                          <a:effectLst/>
                          <a:latin typeface="Times New Roman" pitchFamily="18" charset="0"/>
                        </a:rPr>
                        <a:t> </a:t>
                      </a:r>
                      <a:r>
                        <a:rPr kumimoji="0" lang="en-US" sz="2800" b="0" i="0" u="none" strike="noStrike" cap="none" normalizeH="0" baseline="0" dirty="0" err="1">
                          <a:ln>
                            <a:noFill/>
                          </a:ln>
                          <a:solidFill>
                            <a:schemeClr val="tx1"/>
                          </a:solidFill>
                          <a:effectLst/>
                          <a:latin typeface="Times New Roman" pitchFamily="18" charset="0"/>
                        </a:rPr>
                        <a:t>số</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0.45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9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Modulation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8-16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EMF(8-17)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Mã sửa lỗi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RSPC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CIRC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1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Độ bền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cao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cao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50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Tốc độ quét vạch  (m/s)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pitchFamily="18" charset="0"/>
                        </a:rPr>
                        <a:t>3.5-3.84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pitchFamily="18"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a:ln>
                  <a:noFill/>
                </a:ln>
                <a:solidFill>
                  <a:schemeClr val="tx2"/>
                </a:solidFill>
                <a:effectLst/>
                <a:uLnTx/>
                <a:uFillTx/>
                <a:latin typeface="+mn-lt"/>
                <a:ea typeface="+mn-ea"/>
                <a:cs typeface="+mn-cs"/>
              </a:rPr>
              <a:t>DVD vs. CD</a:t>
            </a:r>
          </a:p>
        </p:txBody>
      </p:sp>
    </p:spTree>
  </p:cSld>
  <p:clrMapOvr>
    <a:masterClrMapping/>
  </p:clrMapOvr>
  <p:transition>
    <p:fade thruBlk="1"/>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4"/>
          <p:cNvSpPr>
            <a:spLocks noGrp="1" noChangeArrowheads="1"/>
          </p:cNvSpPr>
          <p:nvPr>
            <p:ph sz="quarter" idx="1"/>
          </p:nvPr>
        </p:nvSpPr>
        <p:spPr>
          <a:xfrm>
            <a:off x="381000" y="2133600"/>
            <a:ext cx="8334375" cy="3429000"/>
          </a:xfrm>
          <a:noFill/>
          <a:ln/>
        </p:spPr>
        <p:txBody>
          <a:bodyPr>
            <a:normAutofit/>
          </a:bodyPr>
          <a:lstStyle/>
          <a:p>
            <a:r>
              <a:rPr lang="en-US" sz="3200" i="0" dirty="0" err="1">
                <a:latin typeface="Times New Roman" pitchFamily="18" charset="0"/>
              </a:rPr>
              <a:t>Tương</a:t>
            </a:r>
            <a:r>
              <a:rPr lang="en-US" sz="3200" i="0" dirty="0">
                <a:latin typeface="Times New Roman" pitchFamily="18" charset="0"/>
              </a:rPr>
              <a:t> </a:t>
            </a:r>
            <a:r>
              <a:rPr lang="en-US" sz="3200" i="0" dirty="0" err="1">
                <a:latin typeface="Times New Roman" pitchFamily="18" charset="0"/>
              </a:rPr>
              <a:t>thích</a:t>
            </a:r>
            <a:r>
              <a:rPr lang="en-US" sz="3200" i="0" dirty="0">
                <a:latin typeface="Times New Roman" pitchFamily="18" charset="0"/>
              </a:rPr>
              <a:t> </a:t>
            </a:r>
            <a:r>
              <a:rPr lang="en-US" sz="3200" i="0" dirty="0" err="1">
                <a:latin typeface="Times New Roman" pitchFamily="18" charset="0"/>
              </a:rPr>
              <a:t>với</a:t>
            </a:r>
            <a:r>
              <a:rPr lang="en-US" sz="3200" i="0" dirty="0">
                <a:latin typeface="Times New Roman" pitchFamily="18" charset="0"/>
              </a:rPr>
              <a:t> </a:t>
            </a:r>
            <a:r>
              <a:rPr lang="en-US" sz="3200" i="0" dirty="0" err="1">
                <a:latin typeface="Times New Roman" pitchFamily="18" charset="0"/>
              </a:rPr>
              <a:t>các</a:t>
            </a:r>
            <a:r>
              <a:rPr lang="en-US" sz="3200" i="0" dirty="0">
                <a:latin typeface="Times New Roman" pitchFamily="18" charset="0"/>
              </a:rPr>
              <a:t> </a:t>
            </a:r>
            <a:r>
              <a:rPr lang="en-US" sz="3200" i="0" dirty="0" err="1">
                <a:latin typeface="Times New Roman" pitchFamily="18" charset="0"/>
              </a:rPr>
              <a:t>loại</a:t>
            </a:r>
            <a:r>
              <a:rPr lang="en-US" sz="3200" i="0" dirty="0">
                <a:latin typeface="Times New Roman" pitchFamily="18" charset="0"/>
              </a:rPr>
              <a:t> CD </a:t>
            </a:r>
            <a:r>
              <a:rPr lang="en-US" sz="3200" i="0" dirty="0" err="1">
                <a:latin typeface="Times New Roman" pitchFamily="18" charset="0"/>
              </a:rPr>
              <a:t>trước</a:t>
            </a:r>
            <a:r>
              <a:rPr lang="en-US" sz="3200" i="0" dirty="0">
                <a:latin typeface="Times New Roman" pitchFamily="18" charset="0"/>
              </a:rPr>
              <a:t>.</a:t>
            </a:r>
          </a:p>
          <a:p>
            <a:r>
              <a:rPr lang="en-US" sz="3200" i="0" dirty="0" err="1">
                <a:latin typeface="Times New Roman" pitchFamily="18" charset="0"/>
              </a:rPr>
              <a:t>Giống</a:t>
            </a:r>
            <a:r>
              <a:rPr lang="en-US" sz="3200" i="0" dirty="0">
                <a:latin typeface="Times New Roman" pitchFamily="18" charset="0"/>
              </a:rPr>
              <a:t> CD </a:t>
            </a:r>
            <a:r>
              <a:rPr lang="en-US" sz="3200" i="0" dirty="0" err="1">
                <a:latin typeface="Times New Roman" pitchFamily="18" charset="0"/>
              </a:rPr>
              <a:t>về</a:t>
            </a:r>
            <a:r>
              <a:rPr lang="en-US" sz="3200" i="0" dirty="0">
                <a:latin typeface="Times New Roman" pitchFamily="18" charset="0"/>
              </a:rPr>
              <a:t> </a:t>
            </a:r>
            <a:r>
              <a:rPr lang="en-US" sz="3200" i="0" dirty="0" err="1">
                <a:latin typeface="Times New Roman" pitchFamily="18" charset="0"/>
              </a:rPr>
              <a:t>mặt</a:t>
            </a:r>
            <a:r>
              <a:rPr lang="en-US" sz="3200" i="0" dirty="0">
                <a:latin typeface="Times New Roman" pitchFamily="18" charset="0"/>
              </a:rPr>
              <a:t> </a:t>
            </a:r>
            <a:r>
              <a:rPr lang="en-US" sz="3200" i="0" dirty="0" err="1">
                <a:latin typeface="Times New Roman" pitchFamily="18" charset="0"/>
              </a:rPr>
              <a:t>vật</a:t>
            </a:r>
            <a:r>
              <a:rPr lang="en-US" sz="3200" i="0" dirty="0">
                <a:latin typeface="Times New Roman" pitchFamily="18" charset="0"/>
              </a:rPr>
              <a:t> </a:t>
            </a:r>
            <a:r>
              <a:rPr lang="en-US" sz="3200" i="0" dirty="0" err="1">
                <a:latin typeface="Times New Roman" pitchFamily="18" charset="0"/>
              </a:rPr>
              <a:t>lý</a:t>
            </a:r>
            <a:r>
              <a:rPr lang="en-US" sz="3200" i="0" dirty="0">
                <a:latin typeface="Times New Roman" pitchFamily="18" charset="0"/>
              </a:rPr>
              <a:t> </a:t>
            </a:r>
            <a:r>
              <a:rPr lang="en-US" sz="3200" i="0" dirty="0" err="1">
                <a:latin typeface="Times New Roman" pitchFamily="18" charset="0"/>
              </a:rPr>
              <a:t>nhưng</a:t>
            </a:r>
            <a:r>
              <a:rPr lang="en-US" sz="3200" i="0" dirty="0">
                <a:latin typeface="Times New Roman" pitchFamily="18" charset="0"/>
              </a:rPr>
              <a:t> dung </a:t>
            </a:r>
            <a:r>
              <a:rPr lang="en-US" sz="3200" i="0" dirty="0" err="1">
                <a:latin typeface="Times New Roman" pitchFamily="18" charset="0"/>
              </a:rPr>
              <a:t>lượng</a:t>
            </a:r>
            <a:r>
              <a:rPr lang="en-US" sz="3200" i="0" dirty="0">
                <a:latin typeface="Times New Roman" pitchFamily="18" charset="0"/>
              </a:rPr>
              <a:t> </a:t>
            </a:r>
            <a:r>
              <a:rPr lang="en-US" sz="3200" i="0" dirty="0" err="1">
                <a:latin typeface="Times New Roman" pitchFamily="18" charset="0"/>
              </a:rPr>
              <a:t>lớn</a:t>
            </a:r>
            <a:r>
              <a:rPr lang="en-US" sz="3200" i="0" dirty="0">
                <a:latin typeface="Times New Roman" pitchFamily="18" charset="0"/>
              </a:rPr>
              <a:t> </a:t>
            </a:r>
            <a:r>
              <a:rPr lang="en-US" sz="3200" i="0" dirty="0" err="1">
                <a:latin typeface="Times New Roman" pitchFamily="18" charset="0"/>
              </a:rPr>
              <a:t>hơn</a:t>
            </a:r>
            <a:r>
              <a:rPr lang="en-US" sz="3200" i="0" dirty="0">
                <a:latin typeface="Times New Roman" pitchFamily="18" charset="0"/>
              </a:rPr>
              <a:t> 7 </a:t>
            </a:r>
            <a:r>
              <a:rPr lang="en-US" sz="3200" i="0" dirty="0" err="1">
                <a:latin typeface="Times New Roman" pitchFamily="18" charset="0"/>
              </a:rPr>
              <a:t>lần</a:t>
            </a:r>
            <a:r>
              <a:rPr lang="en-US" sz="3200" i="0" dirty="0">
                <a:latin typeface="Times New Roman" pitchFamily="18" charset="0"/>
              </a:rPr>
              <a:t>. </a:t>
            </a:r>
          </a:p>
          <a:p>
            <a:r>
              <a:rPr lang="en-US" sz="3200" i="0" dirty="0" err="1">
                <a:latin typeface="Times New Roman" pitchFamily="18" charset="0"/>
              </a:rPr>
              <a:t>Tuỳ</a:t>
            </a:r>
            <a:r>
              <a:rPr lang="en-US" sz="3200" i="0" dirty="0">
                <a:latin typeface="Times New Roman" pitchFamily="18" charset="0"/>
              </a:rPr>
              <a:t> </a:t>
            </a:r>
            <a:r>
              <a:rPr lang="en-US" sz="3200" i="0" dirty="0" err="1">
                <a:latin typeface="Times New Roman" pitchFamily="18" charset="0"/>
              </a:rPr>
              <a:t>vào</a:t>
            </a:r>
            <a:r>
              <a:rPr lang="en-US" sz="3200" i="0" dirty="0">
                <a:latin typeface="Times New Roman" pitchFamily="18" charset="0"/>
              </a:rPr>
              <a:t> </a:t>
            </a:r>
            <a:r>
              <a:rPr lang="en-US" sz="3200" i="0" dirty="0" err="1">
                <a:latin typeface="Times New Roman" pitchFamily="18" charset="0"/>
              </a:rPr>
              <a:t>cấu</a:t>
            </a:r>
            <a:r>
              <a:rPr lang="en-US" sz="3200" i="0" dirty="0">
                <a:latin typeface="Times New Roman" pitchFamily="18" charset="0"/>
              </a:rPr>
              <a:t> </a:t>
            </a:r>
            <a:r>
              <a:rPr lang="en-US" sz="3200" i="0" dirty="0" err="1">
                <a:latin typeface="Times New Roman" pitchFamily="18" charset="0"/>
              </a:rPr>
              <a:t>trúc</a:t>
            </a:r>
            <a:r>
              <a:rPr lang="en-US" sz="3200" i="0" dirty="0">
                <a:latin typeface="Times New Roman" pitchFamily="18" charset="0"/>
              </a:rPr>
              <a:t> </a:t>
            </a:r>
            <a:r>
              <a:rPr lang="en-US" sz="3200" i="0" dirty="0" err="1">
                <a:latin typeface="Times New Roman" pitchFamily="18" charset="0"/>
              </a:rPr>
              <a:t>đĩa</a:t>
            </a:r>
            <a:r>
              <a:rPr lang="en-US" sz="3200" i="0" dirty="0">
                <a:latin typeface="Times New Roman" pitchFamily="18" charset="0"/>
              </a:rPr>
              <a:t> </a:t>
            </a:r>
            <a:r>
              <a:rPr lang="en-US" sz="3200" i="0" dirty="0" err="1">
                <a:latin typeface="Times New Roman" pitchFamily="18" charset="0"/>
              </a:rPr>
              <a:t>mà</a:t>
            </a:r>
            <a:r>
              <a:rPr lang="en-US" sz="3200" i="0" dirty="0">
                <a:latin typeface="Times New Roman" pitchFamily="18" charset="0"/>
              </a:rPr>
              <a:t> </a:t>
            </a:r>
            <a:r>
              <a:rPr lang="en-US" sz="3200" i="0" dirty="0" err="1">
                <a:latin typeface="Times New Roman" pitchFamily="18" charset="0"/>
              </a:rPr>
              <a:t>có</a:t>
            </a:r>
            <a:r>
              <a:rPr lang="en-US" sz="3200" i="0" dirty="0">
                <a:latin typeface="Times New Roman" pitchFamily="18" charset="0"/>
              </a:rPr>
              <a:t> </a:t>
            </a:r>
            <a:r>
              <a:rPr lang="en-US" sz="3200" i="0" dirty="0" err="1">
                <a:latin typeface="Times New Roman" pitchFamily="18" charset="0"/>
              </a:rPr>
              <a:t>các</a:t>
            </a:r>
            <a:r>
              <a:rPr lang="en-US" sz="3200" i="0" dirty="0">
                <a:latin typeface="Times New Roman" pitchFamily="18" charset="0"/>
              </a:rPr>
              <a:t> dung luợng:4.7GB, 8.54GB,9.4GB,17.08GB.</a:t>
            </a:r>
          </a:p>
          <a:p>
            <a:r>
              <a:rPr lang="en-US" sz="3200" i="0" dirty="0" err="1">
                <a:latin typeface="Times New Roman" pitchFamily="18" charset="0"/>
              </a:rPr>
              <a:t>Có</a:t>
            </a:r>
            <a:r>
              <a:rPr lang="en-US" sz="3200" i="0" dirty="0">
                <a:latin typeface="Times New Roman" pitchFamily="18" charset="0"/>
              </a:rPr>
              <a:t> </a:t>
            </a:r>
            <a:r>
              <a:rPr lang="en-US" sz="3200" i="0" dirty="0" err="1">
                <a:latin typeface="Times New Roman" pitchFamily="18" charset="0"/>
              </a:rPr>
              <a:t>loại</a:t>
            </a:r>
            <a:r>
              <a:rPr lang="en-US" sz="3200" i="0" dirty="0">
                <a:latin typeface="Times New Roman" pitchFamily="18" charset="0"/>
              </a:rPr>
              <a:t> </a:t>
            </a:r>
            <a:r>
              <a:rPr lang="en-US" sz="3200" i="0" dirty="0" err="1">
                <a:latin typeface="Times New Roman" pitchFamily="18" charset="0"/>
              </a:rPr>
              <a:t>đơn</a:t>
            </a:r>
            <a:r>
              <a:rPr lang="en-US" sz="3200" i="0" dirty="0">
                <a:latin typeface="Times New Roman" pitchFamily="18" charset="0"/>
              </a:rPr>
              <a:t>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và</a:t>
            </a:r>
            <a:r>
              <a:rPr lang="en-US" sz="3200" i="0" dirty="0">
                <a:latin typeface="Times New Roman" pitchFamily="18" charset="0"/>
              </a:rPr>
              <a:t> </a:t>
            </a:r>
            <a:r>
              <a:rPr lang="en-US" sz="3200" i="0" dirty="0" err="1">
                <a:latin typeface="Times New Roman" pitchFamily="18" charset="0"/>
              </a:rPr>
              <a:t>loại</a:t>
            </a:r>
            <a:r>
              <a:rPr lang="en-US" sz="3200" i="0" dirty="0">
                <a:latin typeface="Times New Roman" pitchFamily="18" charset="0"/>
              </a:rPr>
              <a:t> </a:t>
            </a:r>
            <a:r>
              <a:rPr lang="en-US" sz="3200" i="0" dirty="0" err="1">
                <a:latin typeface="Times New Roman" pitchFamily="18" charset="0"/>
              </a:rPr>
              <a:t>đa</a:t>
            </a:r>
            <a:r>
              <a:rPr lang="en-US" sz="3200" i="0" dirty="0">
                <a:latin typeface="Times New Roman" pitchFamily="18" charset="0"/>
              </a:rPr>
              <a:t> </a:t>
            </a:r>
            <a:r>
              <a:rPr lang="en-US" sz="3200" i="0" dirty="0" err="1">
                <a:latin typeface="Times New Roman" pitchFamily="18" charset="0"/>
              </a:rPr>
              <a:t>lớp</a:t>
            </a:r>
            <a:r>
              <a:rPr lang="en-US" sz="3200" i="0" dirty="0">
                <a:latin typeface="Times New Roman" pitchFamily="18" charset="0"/>
              </a:rPr>
              <a:t>. </a:t>
            </a: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7" name="Rectangle 5"/>
          <p:cNvSpPr>
            <a:spLocks noGrp="1" noChangeArrowheads="1"/>
          </p:cNvSpPr>
          <p:nvPr>
            <p:ph sz="quarter" idx="1"/>
          </p:nvPr>
        </p:nvSpPr>
        <p:spPr>
          <a:xfrm>
            <a:off x="228600" y="2514600"/>
            <a:ext cx="8610600" cy="2819400"/>
          </a:xfrm>
          <a:noFill/>
          <a:ln/>
        </p:spPr>
        <p:txBody>
          <a:bodyPr>
            <a:normAutofit fontScale="92500" lnSpcReduction="10000"/>
          </a:bodyPr>
          <a:lstStyle/>
          <a:p>
            <a:r>
              <a:rPr lang="en-US" sz="3600" i="0" dirty="0" err="1">
                <a:latin typeface="Times New Roman" pitchFamily="18" charset="0"/>
              </a:rPr>
              <a:t>Chất</a:t>
            </a:r>
            <a:r>
              <a:rPr lang="en-US" sz="3600" i="0" dirty="0">
                <a:latin typeface="Times New Roman" pitchFamily="18" charset="0"/>
              </a:rPr>
              <a:t> </a:t>
            </a:r>
            <a:r>
              <a:rPr lang="en-US" sz="3600" i="0" dirty="0" err="1">
                <a:latin typeface="Times New Roman" pitchFamily="18" charset="0"/>
              </a:rPr>
              <a:t>lượng</a:t>
            </a:r>
            <a:r>
              <a:rPr lang="en-US" sz="3600" i="0" dirty="0">
                <a:latin typeface="Times New Roman" pitchFamily="18" charset="0"/>
              </a:rPr>
              <a:t> </a:t>
            </a:r>
            <a:r>
              <a:rPr lang="en-US" sz="3600" i="0" dirty="0" err="1">
                <a:latin typeface="Times New Roman" pitchFamily="18" charset="0"/>
              </a:rPr>
              <a:t>hình</a:t>
            </a:r>
            <a:r>
              <a:rPr lang="en-US" sz="3600" i="0" dirty="0">
                <a:latin typeface="Times New Roman" pitchFamily="18" charset="0"/>
              </a:rPr>
              <a:t> </a:t>
            </a:r>
            <a:r>
              <a:rPr lang="en-US" sz="3600" i="0" dirty="0" err="1">
                <a:latin typeface="Times New Roman" pitchFamily="18" charset="0"/>
              </a:rPr>
              <a:t>ảnh</a:t>
            </a:r>
            <a:r>
              <a:rPr lang="en-US" sz="3600" i="0" dirty="0">
                <a:latin typeface="Times New Roman" pitchFamily="18" charset="0"/>
              </a:rPr>
              <a:t>, </a:t>
            </a:r>
            <a:r>
              <a:rPr lang="en-US" sz="3600" i="0" dirty="0" err="1">
                <a:latin typeface="Times New Roman" pitchFamily="18" charset="0"/>
              </a:rPr>
              <a:t>âm</a:t>
            </a:r>
            <a:r>
              <a:rPr lang="en-US" sz="3600" i="0" dirty="0">
                <a:latin typeface="Times New Roman" pitchFamily="18" charset="0"/>
              </a:rPr>
              <a:t> </a:t>
            </a:r>
            <a:r>
              <a:rPr lang="en-US" sz="3600" i="0" dirty="0" err="1">
                <a:latin typeface="Times New Roman" pitchFamily="18" charset="0"/>
              </a:rPr>
              <a:t>thanh</a:t>
            </a:r>
            <a:r>
              <a:rPr lang="en-US" sz="3600" i="0" dirty="0">
                <a:latin typeface="Times New Roman" pitchFamily="18" charset="0"/>
              </a:rPr>
              <a:t> </a:t>
            </a:r>
            <a:r>
              <a:rPr lang="en-US" sz="3600" i="0" dirty="0" err="1">
                <a:latin typeface="Times New Roman" pitchFamily="18" charset="0"/>
              </a:rPr>
              <a:t>tốt</a:t>
            </a:r>
            <a:r>
              <a:rPr lang="en-US" sz="3600" i="0" dirty="0">
                <a:latin typeface="Times New Roman" pitchFamily="18" charset="0"/>
              </a:rPr>
              <a:t> </a:t>
            </a:r>
            <a:r>
              <a:rPr lang="en-US" sz="3600" i="0" dirty="0" err="1">
                <a:latin typeface="Times New Roman" pitchFamily="18" charset="0"/>
              </a:rPr>
              <a:t>hơn</a:t>
            </a:r>
            <a:r>
              <a:rPr lang="en-US" sz="3600" i="0" dirty="0">
                <a:latin typeface="Times New Roman" pitchFamily="18" charset="0"/>
              </a:rPr>
              <a:t> </a:t>
            </a:r>
            <a:r>
              <a:rPr lang="en-US" sz="3600" i="0" dirty="0" err="1">
                <a:latin typeface="Times New Roman" pitchFamily="18" charset="0"/>
              </a:rPr>
              <a:t>và</a:t>
            </a:r>
            <a:r>
              <a:rPr lang="en-US" sz="3600" i="0" dirty="0">
                <a:latin typeface="Times New Roman" pitchFamily="18" charset="0"/>
              </a:rPr>
              <a:t> </a:t>
            </a:r>
            <a:r>
              <a:rPr lang="en-US" sz="3600" i="0" dirty="0" err="1">
                <a:latin typeface="Times New Roman" pitchFamily="18" charset="0"/>
              </a:rPr>
              <a:t>cũng</a:t>
            </a:r>
            <a:r>
              <a:rPr lang="en-US" sz="3600" i="0" dirty="0">
                <a:latin typeface="Times New Roman" pitchFamily="18" charset="0"/>
              </a:rPr>
              <a:t> </a:t>
            </a:r>
            <a:r>
              <a:rPr lang="en-US" sz="3600" i="0" dirty="0" err="1">
                <a:latin typeface="Times New Roman" pitchFamily="18" charset="0"/>
              </a:rPr>
              <a:t>dài</a:t>
            </a:r>
            <a:r>
              <a:rPr lang="en-US" sz="3600" i="0" dirty="0">
                <a:latin typeface="Times New Roman" pitchFamily="18" charset="0"/>
              </a:rPr>
              <a:t> </a:t>
            </a:r>
            <a:r>
              <a:rPr lang="en-US" sz="3600" i="0" dirty="0" err="1">
                <a:latin typeface="Times New Roman" pitchFamily="18" charset="0"/>
              </a:rPr>
              <a:t>hơn</a:t>
            </a:r>
            <a:r>
              <a:rPr lang="en-US" sz="3600" i="0" dirty="0">
                <a:latin typeface="Times New Roman" pitchFamily="18" charset="0"/>
              </a:rPr>
              <a:t>. </a:t>
            </a:r>
          </a:p>
          <a:p>
            <a:r>
              <a:rPr lang="en-US" sz="3600" i="0" dirty="0" err="1">
                <a:latin typeface="Times New Roman" pitchFamily="18" charset="0"/>
              </a:rPr>
              <a:t>Tăng</a:t>
            </a:r>
            <a:r>
              <a:rPr lang="en-US" sz="3600" i="0" dirty="0">
                <a:latin typeface="Times New Roman" pitchFamily="18" charset="0"/>
              </a:rPr>
              <a:t> </a:t>
            </a:r>
            <a:r>
              <a:rPr lang="en-US" sz="3600" i="0" dirty="0" err="1">
                <a:latin typeface="Times New Roman" pitchFamily="18" charset="0"/>
              </a:rPr>
              <a:t>chất</a:t>
            </a:r>
            <a:r>
              <a:rPr lang="en-US" sz="3600" i="0" dirty="0">
                <a:latin typeface="Times New Roman" pitchFamily="18" charset="0"/>
              </a:rPr>
              <a:t> </a:t>
            </a:r>
            <a:r>
              <a:rPr lang="en-US" sz="3600" i="0" dirty="0" err="1">
                <a:latin typeface="Times New Roman" pitchFamily="18" charset="0"/>
              </a:rPr>
              <a:t>lượng</a:t>
            </a:r>
            <a:r>
              <a:rPr lang="en-US" sz="3600" i="0" dirty="0">
                <a:latin typeface="Times New Roman" pitchFamily="18" charset="0"/>
              </a:rPr>
              <a:t> </a:t>
            </a:r>
            <a:r>
              <a:rPr lang="en-US" sz="3600" i="0" dirty="0" err="1">
                <a:latin typeface="Times New Roman" pitchFamily="18" charset="0"/>
              </a:rPr>
              <a:t>của</a:t>
            </a:r>
            <a:r>
              <a:rPr lang="en-US" sz="3600" i="0" dirty="0">
                <a:latin typeface="Times New Roman" pitchFamily="18" charset="0"/>
              </a:rPr>
              <a:t> </a:t>
            </a:r>
            <a:r>
              <a:rPr lang="en-US" sz="3600" i="0" dirty="0" err="1">
                <a:latin typeface="Times New Roman" pitchFamily="18" charset="0"/>
              </a:rPr>
              <a:t>các</a:t>
            </a:r>
            <a:r>
              <a:rPr lang="en-US" sz="3600" i="0" dirty="0">
                <a:latin typeface="Times New Roman" pitchFamily="18" charset="0"/>
              </a:rPr>
              <a:t> </a:t>
            </a:r>
            <a:r>
              <a:rPr lang="en-US" sz="3600" i="0" dirty="0" err="1">
                <a:latin typeface="Times New Roman" pitchFamily="18" charset="0"/>
              </a:rPr>
              <a:t>ứng</a:t>
            </a:r>
            <a:r>
              <a:rPr lang="en-US" sz="3600" i="0" dirty="0">
                <a:latin typeface="Times New Roman" pitchFamily="18" charset="0"/>
              </a:rPr>
              <a:t> </a:t>
            </a:r>
            <a:r>
              <a:rPr lang="en-US" sz="3600" i="0" dirty="0" err="1">
                <a:latin typeface="Times New Roman" pitchFamily="18" charset="0"/>
              </a:rPr>
              <a:t>dụng</a:t>
            </a:r>
            <a:r>
              <a:rPr lang="en-US" sz="3600" i="0" dirty="0">
                <a:latin typeface="Times New Roman" pitchFamily="18" charset="0"/>
              </a:rPr>
              <a:t>. </a:t>
            </a:r>
          </a:p>
          <a:p>
            <a:r>
              <a:rPr lang="en-US" sz="3600" i="0" dirty="0" err="1">
                <a:latin typeface="Times New Roman" pitchFamily="18" charset="0"/>
              </a:rPr>
              <a:t>Tất</a:t>
            </a:r>
            <a:r>
              <a:rPr lang="en-US" sz="3600" i="0" dirty="0">
                <a:latin typeface="Times New Roman" pitchFamily="18" charset="0"/>
              </a:rPr>
              <a:t> </a:t>
            </a:r>
            <a:r>
              <a:rPr lang="en-US" sz="3600" i="0" dirty="0" err="1">
                <a:latin typeface="Times New Roman" pitchFamily="18" charset="0"/>
              </a:rPr>
              <a:t>cả</a:t>
            </a:r>
            <a:r>
              <a:rPr lang="en-US" sz="3600" i="0" dirty="0">
                <a:latin typeface="Times New Roman" pitchFamily="18" charset="0"/>
              </a:rPr>
              <a:t> </a:t>
            </a:r>
            <a:r>
              <a:rPr lang="en-US" sz="3600" i="0" dirty="0" err="1">
                <a:latin typeface="Times New Roman" pitchFamily="18" charset="0"/>
              </a:rPr>
              <a:t>định</a:t>
            </a:r>
            <a:r>
              <a:rPr lang="en-US" sz="3600" i="0" dirty="0">
                <a:latin typeface="Times New Roman" pitchFamily="18" charset="0"/>
              </a:rPr>
              <a:t> </a:t>
            </a:r>
            <a:r>
              <a:rPr lang="en-US" sz="3600" i="0" dirty="0" err="1">
                <a:latin typeface="Times New Roman" pitchFamily="18" charset="0"/>
              </a:rPr>
              <a:t>dạng</a:t>
            </a:r>
            <a:r>
              <a:rPr lang="en-US" sz="3600" i="0" dirty="0">
                <a:latin typeface="Times New Roman" pitchFamily="18" charset="0"/>
              </a:rPr>
              <a:t> </a:t>
            </a:r>
            <a:r>
              <a:rPr lang="en-US" sz="3600" i="0" dirty="0" err="1">
                <a:latin typeface="Times New Roman" pitchFamily="18" charset="0"/>
              </a:rPr>
              <a:t>sử</a:t>
            </a:r>
            <a:r>
              <a:rPr lang="en-US" sz="3600" i="0" dirty="0">
                <a:latin typeface="Times New Roman" pitchFamily="18" charset="0"/>
              </a:rPr>
              <a:t> </a:t>
            </a:r>
            <a:r>
              <a:rPr lang="en-US" sz="3600" i="0" dirty="0" err="1">
                <a:latin typeface="Times New Roman" pitchFamily="18" charset="0"/>
              </a:rPr>
              <a:t>dụng</a:t>
            </a:r>
            <a:r>
              <a:rPr lang="en-US" sz="3600" i="0" dirty="0">
                <a:latin typeface="Times New Roman" pitchFamily="18" charset="0"/>
              </a:rPr>
              <a:t> file </a:t>
            </a:r>
            <a:r>
              <a:rPr lang="en-US" sz="3600" i="0" dirty="0" err="1">
                <a:latin typeface="Times New Roman" pitchFamily="18" charset="0"/>
              </a:rPr>
              <a:t>hệ</a:t>
            </a:r>
            <a:r>
              <a:rPr lang="en-US" sz="3600" i="0" dirty="0">
                <a:latin typeface="Times New Roman" pitchFamily="18" charset="0"/>
              </a:rPr>
              <a:t> </a:t>
            </a:r>
            <a:r>
              <a:rPr lang="en-US" sz="3600" i="0" dirty="0" err="1">
                <a:latin typeface="Times New Roman" pitchFamily="18" charset="0"/>
              </a:rPr>
              <a:t>thống</a:t>
            </a:r>
            <a:r>
              <a:rPr lang="en-US" sz="3600" i="0" dirty="0">
                <a:latin typeface="Times New Roman" pitchFamily="18" charset="0"/>
              </a:rPr>
              <a:t> </a:t>
            </a:r>
            <a:r>
              <a:rPr lang="en-US" sz="3600" i="0" dirty="0" err="1">
                <a:latin typeface="Times New Roman" pitchFamily="18" charset="0"/>
              </a:rPr>
              <a:t>chung</a:t>
            </a:r>
            <a:r>
              <a:rPr lang="en-US" sz="3600" i="0" dirty="0">
                <a:latin typeface="Times New Roman" pitchFamily="18" charset="0"/>
              </a:rPr>
              <a:t>. </a:t>
            </a:r>
          </a:p>
          <a:p>
            <a:r>
              <a:rPr lang="en-US" sz="3600" i="0" dirty="0" err="1">
                <a:latin typeface="Times New Roman" pitchFamily="18" charset="0"/>
              </a:rPr>
              <a:t>Xây</a:t>
            </a:r>
            <a:r>
              <a:rPr lang="en-US" sz="3600" i="0" dirty="0">
                <a:latin typeface="Times New Roman" pitchFamily="18" charset="0"/>
              </a:rPr>
              <a:t> </a:t>
            </a:r>
            <a:r>
              <a:rPr lang="en-US" sz="3600" i="0" dirty="0" err="1">
                <a:latin typeface="Times New Roman" pitchFamily="18" charset="0"/>
              </a:rPr>
              <a:t>dựng</a:t>
            </a:r>
            <a:r>
              <a:rPr lang="en-US" sz="3600" i="0" dirty="0">
                <a:latin typeface="Times New Roman" pitchFamily="18" charset="0"/>
              </a:rPr>
              <a:t> </a:t>
            </a:r>
            <a:r>
              <a:rPr lang="en-US" sz="3600" i="0" dirty="0" err="1">
                <a:latin typeface="Times New Roman" pitchFamily="18" charset="0"/>
              </a:rPr>
              <a:t>bảo</a:t>
            </a:r>
            <a:r>
              <a:rPr lang="en-US" sz="3600" i="0" dirty="0">
                <a:latin typeface="Times New Roman" pitchFamily="18" charset="0"/>
              </a:rPr>
              <a:t> </a:t>
            </a:r>
            <a:r>
              <a:rPr lang="en-US" sz="3600" i="0" dirty="0" err="1">
                <a:latin typeface="Times New Roman" pitchFamily="18" charset="0"/>
              </a:rPr>
              <a:t>vệ</a:t>
            </a:r>
            <a:r>
              <a:rPr lang="en-US" sz="3600" i="0" dirty="0">
                <a:latin typeface="Times New Roman" pitchFamily="18" charset="0"/>
              </a:rPr>
              <a:t> copy </a:t>
            </a:r>
            <a:r>
              <a:rPr lang="en-US" sz="3600" i="0" dirty="0" err="1">
                <a:latin typeface="Times New Roman" pitchFamily="18" charset="0"/>
              </a:rPr>
              <a:t>theo</a:t>
            </a:r>
            <a:r>
              <a:rPr lang="en-US" sz="3600" i="0" dirty="0">
                <a:latin typeface="Times New Roman" pitchFamily="18" charset="0"/>
              </a:rPr>
              <a:t> </a:t>
            </a:r>
            <a:r>
              <a:rPr lang="en-US" sz="3600" i="0" dirty="0" err="1">
                <a:latin typeface="Times New Roman" pitchFamily="18" charset="0"/>
              </a:rPr>
              <a:t>chuẩn</a:t>
            </a:r>
            <a:r>
              <a:rPr lang="en-US" sz="3600" i="0" dirty="0">
                <a:latin typeface="Times New Roman" pitchFamily="18" charset="0"/>
              </a:rPr>
              <a:t>. </a:t>
            </a:r>
          </a:p>
        </p:txBody>
      </p:sp>
      <p:sp>
        <p:nvSpPr>
          <p:cNvPr id="4" name="Title 1"/>
          <p:cNvSpPr txBox="1">
            <a:spLocks/>
          </p:cNvSpPr>
          <p:nvPr/>
        </p:nvSpPr>
        <p:spPr>
          <a:xfrm>
            <a:off x="5334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Rectangle 4"/>
          <p:cNvSpPr>
            <a:spLocks noGrp="1" noChangeArrowheads="1"/>
          </p:cNvSpPr>
          <p:nvPr>
            <p:ph sz="quarter" idx="1"/>
          </p:nvPr>
        </p:nvSpPr>
        <p:spPr>
          <a:xfrm>
            <a:off x="381000" y="2362200"/>
            <a:ext cx="8334375" cy="3271838"/>
          </a:xfrm>
          <a:noFill/>
          <a:ln/>
        </p:spPr>
        <p:txBody>
          <a:bodyPr>
            <a:normAutofit/>
          </a:bodyPr>
          <a:lstStyle/>
          <a:p>
            <a:r>
              <a:rPr lang="en-US" sz="3200" i="0" dirty="0" err="1">
                <a:latin typeface="Times New Roman" pitchFamily="18" charset="0"/>
              </a:rPr>
              <a:t>Bước</a:t>
            </a:r>
            <a:r>
              <a:rPr lang="en-US" sz="3200" i="0" dirty="0">
                <a:latin typeface="Times New Roman" pitchFamily="18" charset="0"/>
              </a:rPr>
              <a:t> </a:t>
            </a:r>
            <a:r>
              <a:rPr lang="en-US" sz="3200" i="0" dirty="0" err="1">
                <a:latin typeface="Times New Roman" pitchFamily="18" charset="0"/>
              </a:rPr>
              <a:t>sóng</a:t>
            </a:r>
            <a:r>
              <a:rPr lang="en-US" sz="3200" i="0" dirty="0">
                <a:latin typeface="Times New Roman" pitchFamily="18" charset="0"/>
              </a:rPr>
              <a:t> </a:t>
            </a:r>
            <a:r>
              <a:rPr lang="en-US" sz="3200" i="0" dirty="0" err="1">
                <a:latin typeface="Times New Roman" pitchFamily="18" charset="0"/>
              </a:rPr>
              <a:t>sử</a:t>
            </a:r>
            <a:r>
              <a:rPr lang="en-US" sz="3200" i="0" dirty="0">
                <a:latin typeface="Times New Roman" pitchFamily="18" charset="0"/>
              </a:rPr>
              <a:t> </a:t>
            </a:r>
            <a:r>
              <a:rPr lang="en-US" sz="3200" i="0" dirty="0" err="1">
                <a:latin typeface="Times New Roman" pitchFamily="18" charset="0"/>
              </a:rPr>
              <a:t>dụng</a:t>
            </a:r>
            <a:r>
              <a:rPr lang="en-US" sz="3200" i="0" dirty="0">
                <a:latin typeface="Times New Roman" pitchFamily="18" charset="0"/>
              </a:rPr>
              <a:t> </a:t>
            </a:r>
            <a:r>
              <a:rPr lang="en-US" sz="3200" i="0" dirty="0" err="1">
                <a:latin typeface="Times New Roman" pitchFamily="18" charset="0"/>
              </a:rPr>
              <a:t>là</a:t>
            </a:r>
            <a:r>
              <a:rPr lang="en-US" sz="3200" i="0" dirty="0">
                <a:latin typeface="Times New Roman" pitchFamily="18" charset="0"/>
              </a:rPr>
              <a:t> </a:t>
            </a:r>
            <a:r>
              <a:rPr lang="en-US" sz="3200" i="0" dirty="0" err="1">
                <a:latin typeface="Times New Roman" pitchFamily="18" charset="0"/>
              </a:rPr>
              <a:t>một</a:t>
            </a:r>
            <a:r>
              <a:rPr lang="en-US" sz="3200" i="0" dirty="0">
                <a:latin typeface="Times New Roman" pitchFamily="18" charset="0"/>
              </a:rPr>
              <a:t> </a:t>
            </a:r>
            <a:r>
              <a:rPr lang="en-US" sz="3200" i="0" dirty="0" err="1">
                <a:latin typeface="Times New Roman" pitchFamily="18" charset="0"/>
              </a:rPr>
              <a:t>trong</a:t>
            </a:r>
            <a:r>
              <a:rPr lang="en-US" sz="3200" i="0" dirty="0">
                <a:latin typeface="Times New Roman" pitchFamily="18" charset="0"/>
              </a:rPr>
              <a:t> </a:t>
            </a:r>
            <a:r>
              <a:rPr lang="en-US" sz="3200" i="0" dirty="0" err="1">
                <a:latin typeface="Times New Roman" pitchFamily="18" charset="0"/>
              </a:rPr>
              <a:t>những</a:t>
            </a:r>
            <a:r>
              <a:rPr lang="en-US" sz="3200" i="0" dirty="0">
                <a:latin typeface="Times New Roman" pitchFamily="18" charset="0"/>
              </a:rPr>
              <a:t> </a:t>
            </a:r>
            <a:r>
              <a:rPr lang="en-US" sz="3200" i="0" dirty="0" err="1">
                <a:latin typeface="Times New Roman" pitchFamily="18" charset="0"/>
              </a:rPr>
              <a:t>tham</a:t>
            </a:r>
            <a:r>
              <a:rPr lang="en-US" sz="3200" i="0" dirty="0">
                <a:latin typeface="Times New Roman" pitchFamily="18" charset="0"/>
              </a:rPr>
              <a:t> </a:t>
            </a:r>
            <a:r>
              <a:rPr lang="en-US" sz="3200" i="0" dirty="0" err="1">
                <a:latin typeface="Times New Roman" pitchFamily="18" charset="0"/>
              </a:rPr>
              <a:t>số</a:t>
            </a:r>
            <a:r>
              <a:rPr lang="en-US" sz="3200" i="0" dirty="0">
                <a:latin typeface="Times New Roman" pitchFamily="18" charset="0"/>
              </a:rPr>
              <a:t> </a:t>
            </a:r>
            <a:r>
              <a:rPr lang="en-US" sz="3200" i="0" dirty="0" err="1">
                <a:latin typeface="Times New Roman" pitchFamily="18" charset="0"/>
              </a:rPr>
              <a:t>làm</a:t>
            </a:r>
            <a:r>
              <a:rPr lang="en-US" sz="3200" i="0" dirty="0">
                <a:latin typeface="Times New Roman" pitchFamily="18" charset="0"/>
              </a:rPr>
              <a:t> </a:t>
            </a:r>
            <a:r>
              <a:rPr lang="en-US" sz="3200" i="0" dirty="0" err="1">
                <a:latin typeface="Times New Roman" pitchFamily="18" charset="0"/>
              </a:rPr>
              <a:t>ảnh</a:t>
            </a:r>
            <a:r>
              <a:rPr lang="en-US" sz="3200" i="0" dirty="0">
                <a:latin typeface="Times New Roman" pitchFamily="18" charset="0"/>
              </a:rPr>
              <a:t> </a:t>
            </a:r>
            <a:r>
              <a:rPr lang="en-US" sz="3200" i="0" dirty="0" err="1">
                <a:latin typeface="Times New Roman" pitchFamily="18" charset="0"/>
              </a:rPr>
              <a:t>hưởng</a:t>
            </a:r>
            <a:r>
              <a:rPr lang="en-US" sz="3200" i="0" dirty="0">
                <a:latin typeface="Times New Roman" pitchFamily="18" charset="0"/>
              </a:rPr>
              <a:t> </a:t>
            </a:r>
            <a:r>
              <a:rPr lang="en-US" sz="3200" i="0" dirty="0" err="1">
                <a:latin typeface="Times New Roman" pitchFamily="18" charset="0"/>
              </a:rPr>
              <a:t>tới</a:t>
            </a:r>
            <a:r>
              <a:rPr lang="en-US" sz="3200" i="0" dirty="0">
                <a:latin typeface="Times New Roman" pitchFamily="18" charset="0"/>
              </a:rPr>
              <a:t> </a:t>
            </a:r>
            <a:r>
              <a:rPr lang="en-US" sz="3200" i="0" dirty="0" err="1">
                <a:latin typeface="Times New Roman" pitchFamily="18" charset="0"/>
              </a:rPr>
              <a:t>mật</a:t>
            </a:r>
            <a:r>
              <a:rPr lang="en-US" sz="3200" i="0" dirty="0">
                <a:latin typeface="Times New Roman" pitchFamily="18" charset="0"/>
              </a:rPr>
              <a:t> </a:t>
            </a:r>
            <a:r>
              <a:rPr lang="en-US" sz="3200" i="0" dirty="0" err="1">
                <a:latin typeface="Times New Roman" pitchFamily="18" charset="0"/>
              </a:rPr>
              <a:t>độ</a:t>
            </a:r>
            <a:r>
              <a:rPr lang="en-US" sz="3200" i="0" dirty="0">
                <a:latin typeface="Times New Roman" pitchFamily="18" charset="0"/>
              </a:rPr>
              <a:t> bit </a:t>
            </a:r>
            <a:r>
              <a:rPr lang="en-US" sz="3200" i="0" dirty="0" err="1">
                <a:latin typeface="Times New Roman" pitchFamily="18" charset="0"/>
              </a:rPr>
              <a:t>trên</a:t>
            </a:r>
            <a:r>
              <a:rPr lang="en-US" sz="3200" i="0" dirty="0">
                <a:latin typeface="Times New Roman" pitchFamily="18" charset="0"/>
              </a:rPr>
              <a:t> </a:t>
            </a:r>
            <a:r>
              <a:rPr lang="en-US" sz="3200" i="0" dirty="0" err="1">
                <a:latin typeface="Times New Roman" pitchFamily="18" charset="0"/>
              </a:rPr>
              <a:t>đĩa</a:t>
            </a:r>
            <a:r>
              <a:rPr lang="en-US" sz="3200" i="0" dirty="0">
                <a:latin typeface="Times New Roman" pitchFamily="18" charset="0"/>
              </a:rPr>
              <a:t> (</a:t>
            </a:r>
            <a:r>
              <a:rPr lang="en-US" sz="3200" i="0" dirty="0" err="1">
                <a:latin typeface="Times New Roman" pitchFamily="18" charset="0"/>
              </a:rPr>
              <a:t>khoảng</a:t>
            </a:r>
            <a:r>
              <a:rPr lang="en-US" sz="3200" i="0" dirty="0">
                <a:latin typeface="Times New Roman" pitchFamily="18" charset="0"/>
              </a:rPr>
              <a:t> 635 </a:t>
            </a:r>
            <a:r>
              <a:rPr lang="en-US" sz="3200" i="0" dirty="0" err="1">
                <a:latin typeface="Times New Roman" pitchFamily="18" charset="0"/>
              </a:rPr>
              <a:t>đến</a:t>
            </a:r>
            <a:r>
              <a:rPr lang="en-US" sz="3200" i="0" dirty="0">
                <a:latin typeface="Times New Roman" pitchFamily="18" charset="0"/>
              </a:rPr>
              <a:t> 650 nm</a:t>
            </a:r>
            <a:r>
              <a:rPr lang="en-US" sz="3200" dirty="0">
                <a:latin typeface="Times New Roman" pitchFamily="18" charset="0"/>
              </a:rPr>
              <a:t>)</a:t>
            </a:r>
            <a:endParaRPr lang="en-US" sz="3200" i="0" dirty="0">
              <a:latin typeface="Times New Roman" pitchFamily="18" charset="0"/>
            </a:endParaRPr>
          </a:p>
          <a:p>
            <a:r>
              <a:rPr lang="en-US" sz="3200" i="0" dirty="0" err="1">
                <a:latin typeface="Times New Roman" pitchFamily="18" charset="0"/>
              </a:rPr>
              <a:t>Một</a:t>
            </a:r>
            <a:r>
              <a:rPr lang="en-US" sz="3200" i="0" dirty="0">
                <a:latin typeface="Times New Roman" pitchFamily="18" charset="0"/>
              </a:rPr>
              <a:t> </a:t>
            </a:r>
            <a:r>
              <a:rPr lang="en-US" sz="3200" i="0" dirty="0" err="1">
                <a:latin typeface="Times New Roman" pitchFamily="18" charset="0"/>
              </a:rPr>
              <a:t>thông</a:t>
            </a:r>
            <a:r>
              <a:rPr lang="en-US" sz="3200" i="0" dirty="0">
                <a:latin typeface="Times New Roman" pitchFamily="18" charset="0"/>
              </a:rPr>
              <a:t> </a:t>
            </a:r>
            <a:r>
              <a:rPr lang="en-US" sz="3200" i="0" dirty="0" err="1">
                <a:latin typeface="Times New Roman" pitchFamily="18" charset="0"/>
              </a:rPr>
              <a:t>số</a:t>
            </a:r>
            <a:r>
              <a:rPr lang="en-US" sz="3200" i="0" dirty="0">
                <a:latin typeface="Times New Roman" pitchFamily="18" charset="0"/>
              </a:rPr>
              <a:t> </a:t>
            </a:r>
            <a:r>
              <a:rPr lang="en-US" sz="3200" i="0" dirty="0" err="1">
                <a:latin typeface="Times New Roman" pitchFamily="18" charset="0"/>
              </a:rPr>
              <a:t>khác</a:t>
            </a:r>
            <a:r>
              <a:rPr lang="en-US" sz="3200" i="0" dirty="0">
                <a:latin typeface="Times New Roman" pitchFamily="18" charset="0"/>
              </a:rPr>
              <a:t> </a:t>
            </a:r>
            <a:r>
              <a:rPr lang="en-US" sz="3200" i="0" dirty="0" err="1">
                <a:latin typeface="Times New Roman" pitchFamily="18" charset="0"/>
              </a:rPr>
              <a:t>cũng</a:t>
            </a:r>
            <a:r>
              <a:rPr lang="en-US" sz="3200" i="0" dirty="0">
                <a:latin typeface="Times New Roman" pitchFamily="18" charset="0"/>
              </a:rPr>
              <a:t> </a:t>
            </a:r>
            <a:r>
              <a:rPr lang="en-US" sz="3200" i="0" dirty="0" err="1">
                <a:latin typeface="Times New Roman" pitchFamily="18" charset="0"/>
              </a:rPr>
              <a:t>ảnh</a:t>
            </a:r>
            <a:r>
              <a:rPr lang="en-US" sz="3200" i="0" dirty="0">
                <a:latin typeface="Times New Roman" pitchFamily="18" charset="0"/>
              </a:rPr>
              <a:t> </a:t>
            </a:r>
            <a:r>
              <a:rPr lang="en-US" sz="3200" i="0" dirty="0" err="1">
                <a:latin typeface="Times New Roman" pitchFamily="18" charset="0"/>
              </a:rPr>
              <a:t>hưởng</a:t>
            </a:r>
            <a:r>
              <a:rPr lang="en-US" sz="3200" i="0" dirty="0">
                <a:latin typeface="Times New Roman" pitchFamily="18" charset="0"/>
              </a:rPr>
              <a:t> </a:t>
            </a:r>
            <a:r>
              <a:rPr lang="en-US" sz="3200" i="0" dirty="0" err="1">
                <a:latin typeface="Times New Roman" pitchFamily="18" charset="0"/>
              </a:rPr>
              <a:t>đến</a:t>
            </a:r>
            <a:r>
              <a:rPr lang="en-US" sz="3200" i="0" dirty="0">
                <a:latin typeface="Times New Roman" pitchFamily="18" charset="0"/>
              </a:rPr>
              <a:t> </a:t>
            </a:r>
            <a:r>
              <a:rPr lang="en-US" sz="3200" i="0" dirty="0" err="1">
                <a:latin typeface="Times New Roman" pitchFamily="18" charset="0"/>
              </a:rPr>
              <a:t>mật</a:t>
            </a:r>
            <a:r>
              <a:rPr lang="en-US" sz="3200" i="0" dirty="0">
                <a:latin typeface="Times New Roman" pitchFamily="18" charset="0"/>
              </a:rPr>
              <a:t> </a:t>
            </a:r>
            <a:r>
              <a:rPr lang="en-US" sz="3200" i="0" dirty="0" err="1">
                <a:latin typeface="Times New Roman" pitchFamily="18" charset="0"/>
              </a:rPr>
              <a:t>độ</a:t>
            </a:r>
            <a:r>
              <a:rPr lang="en-US" sz="3200" i="0" dirty="0">
                <a:latin typeface="Times New Roman" pitchFamily="18" charset="0"/>
              </a:rPr>
              <a:t> bit </a:t>
            </a:r>
            <a:r>
              <a:rPr lang="en-US" sz="3200" i="0" dirty="0" err="1">
                <a:latin typeface="Times New Roman" pitchFamily="18" charset="0"/>
              </a:rPr>
              <a:t>nữa</a:t>
            </a:r>
            <a:r>
              <a:rPr lang="en-US" sz="3200" i="0" dirty="0">
                <a:latin typeface="Times New Roman" pitchFamily="18" charset="0"/>
              </a:rPr>
              <a:t> </a:t>
            </a:r>
            <a:r>
              <a:rPr lang="en-US" sz="3200" i="0" dirty="0" err="1">
                <a:latin typeface="Times New Roman" pitchFamily="18" charset="0"/>
              </a:rPr>
              <a:t>là</a:t>
            </a:r>
            <a:r>
              <a:rPr lang="en-US" sz="3200" i="0" dirty="0">
                <a:latin typeface="Times New Roman" pitchFamily="18" charset="0"/>
              </a:rPr>
              <a:t> </a:t>
            </a:r>
            <a:r>
              <a:rPr lang="en-US" sz="3200" i="0" dirty="0" err="1">
                <a:latin typeface="Times New Roman" pitchFamily="18" charset="0"/>
              </a:rPr>
              <a:t>khẩu</a:t>
            </a:r>
            <a:r>
              <a:rPr lang="en-US" sz="3200" i="0" dirty="0">
                <a:latin typeface="Times New Roman" pitchFamily="18" charset="0"/>
              </a:rPr>
              <a:t> </a:t>
            </a:r>
            <a:r>
              <a:rPr lang="en-US" sz="3200" i="0" dirty="0" err="1">
                <a:latin typeface="Times New Roman" pitchFamily="18" charset="0"/>
              </a:rPr>
              <a:t>độ</a:t>
            </a:r>
            <a:r>
              <a:rPr lang="en-US" sz="3200" i="0" dirty="0">
                <a:latin typeface="Times New Roman" pitchFamily="18" charset="0"/>
              </a:rPr>
              <a:t> </a:t>
            </a:r>
            <a:r>
              <a:rPr lang="en-US" sz="3200" i="0" dirty="0" err="1">
                <a:latin typeface="Times New Roman" pitchFamily="18" charset="0"/>
              </a:rPr>
              <a:t>số</a:t>
            </a:r>
            <a:r>
              <a:rPr lang="en-US" sz="3200" i="0" dirty="0">
                <a:latin typeface="Times New Roman" pitchFamily="18" charset="0"/>
              </a:rPr>
              <a:t> Number Aperture (NA). </a:t>
            </a:r>
          </a:p>
        </p:txBody>
      </p:sp>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4" name="Rectangle 4"/>
          <p:cNvSpPr>
            <a:spLocks noGrp="1" noChangeArrowheads="1"/>
          </p:cNvSpPr>
          <p:nvPr>
            <p:ph sz="quarter" idx="1"/>
          </p:nvPr>
        </p:nvSpPr>
        <p:spPr>
          <a:xfrm>
            <a:off x="609600" y="2362200"/>
            <a:ext cx="8105775" cy="3429000"/>
          </a:xfrm>
          <a:noFill/>
          <a:ln/>
        </p:spPr>
        <p:txBody>
          <a:bodyPr>
            <a:normAutofit/>
          </a:bodyPr>
          <a:lstStyle/>
          <a:p>
            <a:r>
              <a:rPr lang="en-US" sz="3200" i="0" dirty="0" err="1">
                <a:latin typeface="Times New Roman" pitchFamily="18" charset="0"/>
              </a:rPr>
              <a:t>Điều</a:t>
            </a:r>
            <a:r>
              <a:rPr lang="en-US" sz="3200" i="0" dirty="0">
                <a:latin typeface="Times New Roman" pitchFamily="18" charset="0"/>
              </a:rPr>
              <a:t> </a:t>
            </a:r>
            <a:r>
              <a:rPr lang="en-US" sz="3200" i="0" dirty="0" err="1">
                <a:latin typeface="Times New Roman" pitchFamily="18" charset="0"/>
              </a:rPr>
              <a:t>chế</a:t>
            </a:r>
            <a:r>
              <a:rPr lang="en-US" sz="3200" i="0" dirty="0">
                <a:latin typeface="Times New Roman" pitchFamily="18" charset="0"/>
              </a:rPr>
              <a:t> </a:t>
            </a:r>
            <a:r>
              <a:rPr lang="en-US" sz="3200" i="0" dirty="0" err="1">
                <a:latin typeface="Times New Roman" pitchFamily="18" charset="0"/>
              </a:rPr>
              <a:t>số</a:t>
            </a:r>
            <a:r>
              <a:rPr lang="en-US" sz="3200" i="0" dirty="0">
                <a:latin typeface="Times New Roman" pitchFamily="18" charset="0"/>
              </a:rPr>
              <a:t> </a:t>
            </a:r>
            <a:r>
              <a:rPr lang="en-US" sz="3200" i="0" dirty="0" err="1">
                <a:latin typeface="Times New Roman" pitchFamily="18" charset="0"/>
              </a:rPr>
              <a:t>của</a:t>
            </a:r>
            <a:r>
              <a:rPr lang="en-US" sz="3200" i="0" dirty="0">
                <a:latin typeface="Times New Roman" pitchFamily="18" charset="0"/>
              </a:rPr>
              <a:t> DVD </a:t>
            </a:r>
            <a:r>
              <a:rPr lang="en-US" sz="3200" i="0" dirty="0" err="1">
                <a:latin typeface="Times New Roman" pitchFamily="18" charset="0"/>
              </a:rPr>
              <a:t>và</a:t>
            </a:r>
            <a:r>
              <a:rPr lang="en-US" sz="3200" i="0" dirty="0">
                <a:latin typeface="Times New Roman" pitchFamily="18" charset="0"/>
              </a:rPr>
              <a:t> ECC(error correction code) </a:t>
            </a:r>
            <a:r>
              <a:rPr lang="en-US" sz="3200" i="0" dirty="0" err="1">
                <a:latin typeface="Times New Roman" pitchFamily="18" charset="0"/>
              </a:rPr>
              <a:t>cũng</a:t>
            </a:r>
            <a:r>
              <a:rPr lang="en-US" sz="3200" i="0" dirty="0">
                <a:latin typeface="Times New Roman" pitchFamily="18" charset="0"/>
              </a:rPr>
              <a:t> </a:t>
            </a:r>
            <a:r>
              <a:rPr lang="en-US" sz="3200" i="0" dirty="0" err="1">
                <a:latin typeface="Times New Roman" pitchFamily="18" charset="0"/>
              </a:rPr>
              <a:t>làm</a:t>
            </a:r>
            <a:r>
              <a:rPr lang="en-US" sz="3200" i="0" dirty="0">
                <a:latin typeface="Times New Roman" pitchFamily="18" charset="0"/>
              </a:rPr>
              <a:t> </a:t>
            </a:r>
            <a:r>
              <a:rPr lang="en-US" sz="3200" i="0" dirty="0" err="1">
                <a:latin typeface="Times New Roman" pitchFamily="18" charset="0"/>
              </a:rPr>
              <a:t>tăng</a:t>
            </a:r>
            <a:r>
              <a:rPr lang="en-US" sz="3200" i="0" dirty="0">
                <a:latin typeface="Times New Roman" pitchFamily="18" charset="0"/>
              </a:rPr>
              <a:t> dung </a:t>
            </a:r>
            <a:r>
              <a:rPr lang="en-US" sz="3200" i="0" dirty="0" err="1">
                <a:latin typeface="Times New Roman" pitchFamily="18" charset="0"/>
              </a:rPr>
              <a:t>lượng</a:t>
            </a:r>
            <a:r>
              <a:rPr lang="en-US" sz="3200" i="0" dirty="0">
                <a:latin typeface="Times New Roman" pitchFamily="18" charset="0"/>
              </a:rPr>
              <a:t> </a:t>
            </a:r>
            <a:r>
              <a:rPr lang="en-US" sz="3200" i="0" dirty="0" err="1">
                <a:latin typeface="Times New Roman" pitchFamily="18" charset="0"/>
              </a:rPr>
              <a:t>lưu</a:t>
            </a:r>
            <a:r>
              <a:rPr lang="en-US" sz="3200" i="0" dirty="0">
                <a:latin typeface="Times New Roman" pitchFamily="18" charset="0"/>
              </a:rPr>
              <a:t> </a:t>
            </a:r>
            <a:r>
              <a:rPr lang="en-US" sz="3200" i="0" dirty="0" err="1">
                <a:latin typeface="Times New Roman" pitchFamily="18" charset="0"/>
              </a:rPr>
              <a:t>trữ</a:t>
            </a:r>
            <a:r>
              <a:rPr lang="en-US" sz="3200" i="0" dirty="0">
                <a:latin typeface="Times New Roman" pitchFamily="18" charset="0"/>
              </a:rPr>
              <a:t> </a:t>
            </a:r>
            <a:r>
              <a:rPr lang="en-US" sz="3200" i="0" dirty="0" err="1">
                <a:latin typeface="Times New Roman" pitchFamily="18" charset="0"/>
              </a:rPr>
              <a:t>của</a:t>
            </a:r>
            <a:r>
              <a:rPr lang="en-US" sz="3200" i="0" dirty="0">
                <a:latin typeface="Times New Roman" pitchFamily="18" charset="0"/>
              </a:rPr>
              <a:t> </a:t>
            </a:r>
            <a:r>
              <a:rPr lang="en-US" sz="3200" i="0" dirty="0" err="1">
                <a:latin typeface="Times New Roman" pitchFamily="18" charset="0"/>
              </a:rPr>
              <a:t>đĩa</a:t>
            </a:r>
            <a:r>
              <a:rPr lang="en-US" sz="3200" i="0" dirty="0">
                <a:latin typeface="Times New Roman" pitchFamily="18" charset="0"/>
              </a:rPr>
              <a:t>. </a:t>
            </a:r>
          </a:p>
          <a:p>
            <a:r>
              <a:rPr lang="en-US" sz="3200" i="0" dirty="0" err="1">
                <a:latin typeface="Times New Roman" pitchFamily="18" charset="0"/>
              </a:rPr>
              <a:t>Bên</a:t>
            </a:r>
            <a:r>
              <a:rPr lang="en-US" sz="3200" i="0" dirty="0">
                <a:latin typeface="Times New Roman" pitchFamily="18" charset="0"/>
              </a:rPr>
              <a:t> </a:t>
            </a:r>
            <a:r>
              <a:rPr lang="en-US" sz="3200" i="0" dirty="0" err="1">
                <a:latin typeface="Times New Roman" pitchFamily="18" charset="0"/>
              </a:rPr>
              <a:t>cạnh</a:t>
            </a:r>
            <a:r>
              <a:rPr lang="en-US" sz="3200" i="0" dirty="0">
                <a:latin typeface="Times New Roman" pitchFamily="18" charset="0"/>
              </a:rPr>
              <a:t> </a:t>
            </a:r>
            <a:r>
              <a:rPr lang="en-US" sz="3200" i="0" dirty="0" err="1">
                <a:latin typeface="Times New Roman" pitchFamily="18" charset="0"/>
              </a:rPr>
              <a:t>đó</a:t>
            </a:r>
            <a:r>
              <a:rPr lang="en-US" sz="3200" i="0" dirty="0">
                <a:latin typeface="Times New Roman" pitchFamily="18" charset="0"/>
              </a:rPr>
              <a:t> </a:t>
            </a:r>
            <a:r>
              <a:rPr lang="en-US" sz="3200" i="0" dirty="0" err="1">
                <a:latin typeface="Times New Roman" pitchFamily="18" charset="0"/>
              </a:rPr>
              <a:t>mã</a:t>
            </a:r>
            <a:r>
              <a:rPr lang="en-US" sz="3200" i="0" dirty="0">
                <a:latin typeface="Times New Roman" pitchFamily="18" charset="0"/>
              </a:rPr>
              <a:t> </a:t>
            </a:r>
            <a:r>
              <a:rPr lang="en-US" sz="3200" i="0" dirty="0" err="1">
                <a:latin typeface="Times New Roman" pitchFamily="18" charset="0"/>
              </a:rPr>
              <a:t>sửa</a:t>
            </a:r>
            <a:r>
              <a:rPr lang="en-US" sz="3200" i="0" dirty="0">
                <a:latin typeface="Times New Roman" pitchFamily="18" charset="0"/>
              </a:rPr>
              <a:t> </a:t>
            </a:r>
            <a:r>
              <a:rPr lang="en-US" sz="3200" i="0" dirty="0" err="1">
                <a:latin typeface="Times New Roman" pitchFamily="18" charset="0"/>
              </a:rPr>
              <a:t>sai</a:t>
            </a:r>
            <a:r>
              <a:rPr lang="en-US" sz="3200" i="0" dirty="0">
                <a:latin typeface="Times New Roman" pitchFamily="18" charset="0"/>
              </a:rPr>
              <a:t> RS-PC </a:t>
            </a:r>
            <a:r>
              <a:rPr lang="en-US" sz="3200" i="0" dirty="0" err="1">
                <a:latin typeface="Times New Roman" pitchFamily="18" charset="0"/>
              </a:rPr>
              <a:t>có</a:t>
            </a:r>
            <a:r>
              <a:rPr lang="en-US" sz="3200" i="0" dirty="0">
                <a:latin typeface="Times New Roman" pitchFamily="18" charset="0"/>
              </a:rPr>
              <a:t> </a:t>
            </a:r>
            <a:r>
              <a:rPr lang="en-US" sz="3200" i="0" dirty="0" err="1">
                <a:latin typeface="Times New Roman" pitchFamily="18" charset="0"/>
              </a:rPr>
              <a:t>khả</a:t>
            </a:r>
            <a:r>
              <a:rPr lang="en-US" sz="3200" i="0" dirty="0">
                <a:latin typeface="Times New Roman" pitchFamily="18" charset="0"/>
              </a:rPr>
              <a:t> </a:t>
            </a:r>
            <a:r>
              <a:rPr lang="en-US" sz="3200" i="0" dirty="0" err="1">
                <a:latin typeface="Times New Roman" pitchFamily="18" charset="0"/>
              </a:rPr>
              <a:t>năng</a:t>
            </a:r>
            <a:r>
              <a:rPr lang="en-US" sz="3200" i="0" dirty="0">
                <a:latin typeface="Times New Roman" pitchFamily="18" charset="0"/>
              </a:rPr>
              <a:t> </a:t>
            </a:r>
            <a:r>
              <a:rPr lang="en-US" sz="3200" i="0" dirty="0" err="1">
                <a:latin typeface="Times New Roman" pitchFamily="18" charset="0"/>
              </a:rPr>
              <a:t>lớn</a:t>
            </a:r>
            <a:r>
              <a:rPr lang="en-US" sz="3200" i="0" dirty="0">
                <a:latin typeface="Times New Roman" pitchFamily="18" charset="0"/>
              </a:rPr>
              <a:t> </a:t>
            </a:r>
            <a:r>
              <a:rPr lang="en-US" sz="3200" i="0" dirty="0" err="1">
                <a:latin typeface="Times New Roman" pitchFamily="18" charset="0"/>
              </a:rPr>
              <a:t>hơn</a:t>
            </a:r>
            <a:r>
              <a:rPr lang="en-US" sz="3200" i="0" dirty="0">
                <a:latin typeface="Times New Roman" pitchFamily="18" charset="0"/>
              </a:rPr>
              <a:t> 10 </a:t>
            </a:r>
            <a:r>
              <a:rPr lang="en-US" sz="3200" i="0" dirty="0" err="1">
                <a:latin typeface="Times New Roman" pitchFamily="18" charset="0"/>
              </a:rPr>
              <a:t>lần</a:t>
            </a:r>
            <a:r>
              <a:rPr lang="en-US" sz="3200" i="0" dirty="0">
                <a:latin typeface="Times New Roman" pitchFamily="18" charset="0"/>
              </a:rPr>
              <a:t> so </a:t>
            </a:r>
            <a:r>
              <a:rPr lang="en-US" sz="3200" i="0" dirty="0" err="1">
                <a:latin typeface="Times New Roman" pitchFamily="18" charset="0"/>
              </a:rPr>
              <a:t>với</a:t>
            </a:r>
            <a:r>
              <a:rPr lang="en-US" sz="3200" i="0" dirty="0">
                <a:latin typeface="Times New Roman" pitchFamily="18" charset="0"/>
              </a:rPr>
              <a:t> </a:t>
            </a:r>
            <a:r>
              <a:rPr lang="en-US" sz="3200" i="0" dirty="0" err="1">
                <a:latin typeface="Times New Roman" pitchFamily="18" charset="0"/>
              </a:rPr>
              <a:t>cách</a:t>
            </a:r>
            <a:r>
              <a:rPr lang="en-US" sz="3200" i="0" dirty="0">
                <a:latin typeface="Times New Roman" pitchFamily="18" charset="0"/>
              </a:rPr>
              <a:t> </a:t>
            </a:r>
            <a:r>
              <a:rPr lang="en-US" sz="3200" i="0" dirty="0" err="1">
                <a:latin typeface="Times New Roman" pitchFamily="18" charset="0"/>
              </a:rPr>
              <a:t>đang</a:t>
            </a:r>
            <a:r>
              <a:rPr lang="en-US" sz="3200" i="0" dirty="0">
                <a:latin typeface="Times New Roman" pitchFamily="18" charset="0"/>
              </a:rPr>
              <a:t> </a:t>
            </a:r>
            <a:r>
              <a:rPr lang="en-US" sz="3200" i="0" dirty="0" err="1">
                <a:latin typeface="Times New Roman" pitchFamily="18" charset="0"/>
              </a:rPr>
              <a:t>sử</a:t>
            </a:r>
            <a:r>
              <a:rPr lang="en-US" sz="3200" i="0" dirty="0">
                <a:latin typeface="Times New Roman" pitchFamily="18" charset="0"/>
              </a:rPr>
              <a:t> </a:t>
            </a:r>
            <a:r>
              <a:rPr lang="en-US" sz="3200" i="0" dirty="0" err="1">
                <a:latin typeface="Times New Roman" pitchFamily="18" charset="0"/>
              </a:rPr>
              <a:t>dụng</a:t>
            </a:r>
            <a:r>
              <a:rPr lang="en-US" sz="3200" i="0" dirty="0">
                <a:latin typeface="Times New Roman" pitchFamily="18" charset="0"/>
              </a:rPr>
              <a:t> </a:t>
            </a:r>
            <a:r>
              <a:rPr lang="en-US" sz="3200" i="0" dirty="0" err="1">
                <a:latin typeface="Times New Roman" pitchFamily="18" charset="0"/>
              </a:rPr>
              <a:t>hiện</a:t>
            </a:r>
            <a:r>
              <a:rPr lang="en-US" sz="3200" i="0" dirty="0">
                <a:latin typeface="Times New Roman" pitchFamily="18" charset="0"/>
              </a:rPr>
              <a:t> </a:t>
            </a:r>
            <a:r>
              <a:rPr lang="en-US" sz="3200" i="0" dirty="0" err="1">
                <a:latin typeface="Times New Roman" pitchFamily="18" charset="0"/>
              </a:rPr>
              <a:t>tại</a:t>
            </a:r>
            <a:r>
              <a:rPr lang="en-US" sz="3200" i="0" dirty="0">
                <a:latin typeface="Times New Roman" pitchFamily="18" charset="0"/>
              </a:rPr>
              <a:t> </a:t>
            </a:r>
            <a:r>
              <a:rPr lang="en-US" sz="3200" i="0" dirty="0" err="1">
                <a:latin typeface="Times New Roman" pitchFamily="18" charset="0"/>
              </a:rPr>
              <a:t>cho</a:t>
            </a:r>
            <a:r>
              <a:rPr lang="en-US" sz="3200" i="0" dirty="0">
                <a:latin typeface="Times New Roman" pitchFamily="18" charset="0"/>
              </a:rPr>
              <a:t> CD .</a:t>
            </a: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8" name="Rectangle 4"/>
          <p:cNvSpPr>
            <a:spLocks noGrp="1" noChangeArrowheads="1"/>
          </p:cNvSpPr>
          <p:nvPr>
            <p:ph sz="quarter" idx="1"/>
          </p:nvPr>
        </p:nvSpPr>
        <p:spPr>
          <a:xfrm>
            <a:off x="304800" y="2362200"/>
            <a:ext cx="5638800" cy="3652838"/>
          </a:xfrm>
          <a:noFill/>
          <a:ln/>
        </p:spPr>
        <p:txBody>
          <a:bodyPr>
            <a:normAutofit/>
          </a:bodyPr>
          <a:lstStyle/>
          <a:p>
            <a:r>
              <a:rPr lang="en-US" sz="3200" i="0" dirty="0" err="1">
                <a:latin typeface="Times New Roman" pitchFamily="18" charset="0"/>
              </a:rPr>
              <a:t>Các</a:t>
            </a:r>
            <a:r>
              <a:rPr lang="en-US" sz="3200" i="0" dirty="0">
                <a:latin typeface="Times New Roman" pitchFamily="18" charset="0"/>
              </a:rPr>
              <a:t> </a:t>
            </a:r>
            <a:r>
              <a:rPr lang="en-US" sz="3200" i="0" dirty="0" err="1">
                <a:latin typeface="Times New Roman" pitchFamily="18" charset="0"/>
              </a:rPr>
              <a:t>dạng</a:t>
            </a:r>
            <a:r>
              <a:rPr lang="en-US" sz="3200" i="0" dirty="0">
                <a:latin typeface="Times New Roman" pitchFamily="18" charset="0"/>
              </a:rPr>
              <a:t> DVD </a:t>
            </a:r>
            <a:r>
              <a:rPr lang="en-US" sz="3200" i="0" dirty="0" err="1">
                <a:latin typeface="Times New Roman" pitchFamily="18" charset="0"/>
              </a:rPr>
              <a:t>khác</a:t>
            </a:r>
            <a:r>
              <a:rPr lang="en-US" sz="3200" i="0" dirty="0">
                <a:latin typeface="Times New Roman" pitchFamily="18" charset="0"/>
              </a:rPr>
              <a:t> </a:t>
            </a:r>
            <a:r>
              <a:rPr lang="en-US" sz="3200" i="0" dirty="0" err="1">
                <a:latin typeface="Times New Roman" pitchFamily="18" charset="0"/>
              </a:rPr>
              <a:t>có</a:t>
            </a:r>
            <a:r>
              <a:rPr lang="en-US" sz="3200" i="0" dirty="0">
                <a:latin typeface="Times New Roman" pitchFamily="18" charset="0"/>
              </a:rPr>
              <a:t> </a:t>
            </a:r>
            <a:r>
              <a:rPr lang="en-US" sz="3200" i="0" dirty="0" err="1">
                <a:latin typeface="Times New Roman" pitchFamily="18" charset="0"/>
              </a:rPr>
              <a:t>được</a:t>
            </a:r>
            <a:r>
              <a:rPr lang="en-US" sz="3200" i="0" dirty="0">
                <a:latin typeface="Times New Roman" pitchFamily="18" charset="0"/>
              </a:rPr>
              <a:t> do </a:t>
            </a:r>
            <a:r>
              <a:rPr lang="en-US" sz="3200" i="0" dirty="0" err="1">
                <a:latin typeface="Times New Roman" pitchFamily="18" charset="0"/>
              </a:rPr>
              <a:t>hình</a:t>
            </a:r>
            <a:r>
              <a:rPr lang="en-US" sz="3200" i="0" dirty="0">
                <a:latin typeface="Times New Roman" pitchFamily="18" charset="0"/>
              </a:rPr>
              <a:t> </a:t>
            </a:r>
            <a:r>
              <a:rPr lang="en-US" sz="3200" i="0" dirty="0" err="1">
                <a:latin typeface="Times New Roman" pitchFamily="18" charset="0"/>
              </a:rPr>
              <a:t>dạng</a:t>
            </a:r>
            <a:r>
              <a:rPr lang="en-US" sz="3200" i="0" dirty="0">
                <a:latin typeface="Times New Roman" pitchFamily="18" charset="0"/>
              </a:rPr>
              <a:t> </a:t>
            </a:r>
            <a:r>
              <a:rPr lang="en-US" sz="3200" i="0" dirty="0" err="1">
                <a:latin typeface="Times New Roman" pitchFamily="18" charset="0"/>
              </a:rPr>
              <a:t>của</a:t>
            </a:r>
            <a:r>
              <a:rPr lang="en-US" sz="3200" i="0" dirty="0">
                <a:latin typeface="Times New Roman" pitchFamily="18" charset="0"/>
              </a:rPr>
              <a:t> </a:t>
            </a:r>
            <a:r>
              <a:rPr lang="en-US" sz="3200" i="0" dirty="0" err="1">
                <a:latin typeface="Times New Roman" pitchFamily="18" charset="0"/>
              </a:rPr>
              <a:t>các</a:t>
            </a:r>
            <a:r>
              <a:rPr lang="en-US" sz="3200" i="0" dirty="0">
                <a:latin typeface="Times New Roman" pitchFamily="18" charset="0"/>
              </a:rPr>
              <a:t>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dữ</a:t>
            </a:r>
            <a:r>
              <a:rPr lang="en-US" sz="3200" i="0" dirty="0">
                <a:latin typeface="Times New Roman" pitchFamily="18" charset="0"/>
              </a:rPr>
              <a:t> </a:t>
            </a:r>
            <a:r>
              <a:rPr lang="en-US" sz="3200" i="0" dirty="0" err="1">
                <a:latin typeface="Times New Roman" pitchFamily="18" charset="0"/>
              </a:rPr>
              <a:t>liệu</a:t>
            </a:r>
            <a:r>
              <a:rPr lang="en-US" sz="3200" i="0" dirty="0">
                <a:latin typeface="Times New Roman" pitchFamily="18" charset="0"/>
              </a:rPr>
              <a:t>.</a:t>
            </a:r>
          </a:p>
          <a:p>
            <a:r>
              <a:rPr lang="en-US" sz="3200" i="0" dirty="0" err="1">
                <a:latin typeface="Times New Roman" pitchFamily="18" charset="0"/>
              </a:rPr>
              <a:t>Sự</a:t>
            </a:r>
            <a:r>
              <a:rPr lang="en-US" sz="3200" i="0" dirty="0">
                <a:latin typeface="Times New Roman" pitchFamily="18" charset="0"/>
              </a:rPr>
              <a:t> </a:t>
            </a:r>
            <a:r>
              <a:rPr lang="en-US" sz="3200" i="0" dirty="0" err="1">
                <a:latin typeface="Times New Roman" pitchFamily="18" charset="0"/>
              </a:rPr>
              <a:t>khác</a:t>
            </a:r>
            <a:r>
              <a:rPr lang="en-US" sz="3200" i="0" dirty="0">
                <a:latin typeface="Times New Roman" pitchFamily="18" charset="0"/>
              </a:rPr>
              <a:t> </a:t>
            </a:r>
            <a:r>
              <a:rPr lang="en-US" sz="3200" i="0" dirty="0" err="1">
                <a:latin typeface="Times New Roman" pitchFamily="18" charset="0"/>
              </a:rPr>
              <a:t>nhau</a:t>
            </a:r>
            <a:r>
              <a:rPr lang="en-US" sz="3200" i="0" dirty="0">
                <a:latin typeface="Times New Roman" pitchFamily="18" charset="0"/>
              </a:rPr>
              <a:t> </a:t>
            </a:r>
            <a:r>
              <a:rPr lang="en-US" sz="3200" i="0" dirty="0" err="1">
                <a:latin typeface="Times New Roman" pitchFamily="18" charset="0"/>
              </a:rPr>
              <a:t>này</a:t>
            </a:r>
            <a:r>
              <a:rPr lang="en-US" sz="3200" i="0" dirty="0">
                <a:latin typeface="Times New Roman" pitchFamily="18" charset="0"/>
              </a:rPr>
              <a:t> </a:t>
            </a:r>
            <a:r>
              <a:rPr lang="en-US" sz="3200" i="0" dirty="0" err="1">
                <a:latin typeface="Times New Roman" pitchFamily="18" charset="0"/>
              </a:rPr>
              <a:t>được</a:t>
            </a:r>
            <a:r>
              <a:rPr lang="en-US" sz="3200" i="0" dirty="0">
                <a:latin typeface="Times New Roman" pitchFamily="18" charset="0"/>
              </a:rPr>
              <a:t> </a:t>
            </a:r>
            <a:r>
              <a:rPr lang="en-US" sz="3200" i="0" dirty="0" err="1">
                <a:latin typeface="Times New Roman" pitchFamily="18" charset="0"/>
              </a:rPr>
              <a:t>thiết</a:t>
            </a:r>
            <a:r>
              <a:rPr lang="en-US" sz="3200" i="0" dirty="0">
                <a:latin typeface="Times New Roman" pitchFamily="18" charset="0"/>
              </a:rPr>
              <a:t> </a:t>
            </a:r>
            <a:r>
              <a:rPr lang="en-US" sz="3200" i="0" dirty="0" err="1">
                <a:latin typeface="Times New Roman" pitchFamily="18" charset="0"/>
              </a:rPr>
              <a:t>kế</a:t>
            </a:r>
            <a:r>
              <a:rPr lang="en-US" sz="3200" i="0" dirty="0">
                <a:latin typeface="Times New Roman" pitchFamily="18" charset="0"/>
              </a:rPr>
              <a:t> </a:t>
            </a:r>
            <a:r>
              <a:rPr lang="en-US" sz="3200" i="0" dirty="0" err="1">
                <a:latin typeface="Times New Roman" pitchFamily="18" charset="0"/>
              </a:rPr>
              <a:t>để</a:t>
            </a:r>
            <a:r>
              <a:rPr lang="en-US" sz="3200" i="0" dirty="0">
                <a:latin typeface="Times New Roman" pitchFamily="18" charset="0"/>
              </a:rPr>
              <a:t> </a:t>
            </a:r>
            <a:r>
              <a:rPr lang="en-US" sz="3200" i="0" dirty="0" err="1">
                <a:latin typeface="Times New Roman" pitchFamily="18" charset="0"/>
              </a:rPr>
              <a:t>tăng</a:t>
            </a:r>
            <a:r>
              <a:rPr lang="en-US" sz="3200" i="0" dirty="0">
                <a:latin typeface="Times New Roman" pitchFamily="18" charset="0"/>
              </a:rPr>
              <a:t> </a:t>
            </a:r>
            <a:r>
              <a:rPr lang="en-US" sz="3200" i="0" dirty="0" err="1">
                <a:latin typeface="Times New Roman" pitchFamily="18" charset="0"/>
              </a:rPr>
              <a:t>thêm</a:t>
            </a:r>
            <a:r>
              <a:rPr lang="en-US" sz="3200" i="0" dirty="0">
                <a:latin typeface="Times New Roman" pitchFamily="18" charset="0"/>
              </a:rPr>
              <a:t> dung </a:t>
            </a:r>
            <a:r>
              <a:rPr lang="en-US" sz="3200" i="0" dirty="0" err="1">
                <a:latin typeface="Times New Roman" pitchFamily="18" charset="0"/>
              </a:rPr>
              <a:t>lượng</a:t>
            </a:r>
            <a:r>
              <a:rPr lang="en-US" sz="3200" i="0" dirty="0">
                <a:latin typeface="Times New Roman" pitchFamily="18" charset="0"/>
              </a:rPr>
              <a:t> </a:t>
            </a:r>
            <a:r>
              <a:rPr lang="en-US" sz="3200" i="0" dirty="0" err="1">
                <a:latin typeface="Times New Roman" pitchFamily="18" charset="0"/>
              </a:rPr>
              <a:t>chứa</a:t>
            </a:r>
            <a:r>
              <a:rPr lang="en-US" sz="3200" i="0" dirty="0">
                <a:latin typeface="Times New Roman" pitchFamily="18" charset="0"/>
              </a:rPr>
              <a:t> </a:t>
            </a:r>
            <a:r>
              <a:rPr lang="en-US" sz="3200" i="0" dirty="0" err="1">
                <a:latin typeface="Times New Roman" pitchFamily="18" charset="0"/>
              </a:rPr>
              <a:t>của</a:t>
            </a:r>
            <a:r>
              <a:rPr lang="en-US" sz="3200" i="0" dirty="0">
                <a:latin typeface="Times New Roman" pitchFamily="18" charset="0"/>
              </a:rPr>
              <a:t> </a:t>
            </a:r>
            <a:r>
              <a:rPr lang="en-US" sz="3200" i="0" dirty="0" err="1">
                <a:latin typeface="Times New Roman" pitchFamily="18" charset="0"/>
              </a:rPr>
              <a:t>đĩa</a:t>
            </a:r>
            <a:r>
              <a:rPr lang="en-US" sz="3200" i="0" dirty="0">
                <a:latin typeface="Times New Roman" pitchFamily="18" charset="0"/>
              </a:rPr>
              <a:t>. </a:t>
            </a:r>
            <a:endParaRPr lang="en-US" sz="3200" i="0" dirty="0">
              <a:latin typeface="Times New Roman" pitchFamily="18" charset="0"/>
              <a:cs typeface="Times New Roman" pitchFamily="18" charset="0"/>
            </a:endParaRPr>
          </a:p>
        </p:txBody>
      </p:sp>
      <p:pic>
        <p:nvPicPr>
          <p:cNvPr id="118790" name="Picture 6"/>
          <p:cNvPicPr>
            <a:picLocks noChangeAspect="1" noChangeArrowheads="1"/>
          </p:cNvPicPr>
          <p:nvPr/>
        </p:nvPicPr>
        <p:blipFill>
          <a:blip r:embed="rId2" cstate="print"/>
          <a:srcRect/>
          <a:stretch>
            <a:fillRect/>
          </a:stretch>
        </p:blipFill>
        <p:spPr bwMode="auto">
          <a:xfrm>
            <a:off x="6096000" y="2057400"/>
            <a:ext cx="2882900" cy="3657600"/>
          </a:xfrm>
          <a:prstGeom prst="rect">
            <a:avLst/>
          </a:prstGeom>
          <a:noFill/>
        </p:spPr>
      </p:pic>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Rectangle 4"/>
          <p:cNvSpPr>
            <a:spLocks noGrp="1" noChangeArrowheads="1"/>
          </p:cNvSpPr>
          <p:nvPr>
            <p:ph sz="quarter" idx="1"/>
          </p:nvPr>
        </p:nvSpPr>
        <p:spPr>
          <a:xfrm>
            <a:off x="609600" y="1981200"/>
            <a:ext cx="7958138" cy="3881438"/>
          </a:xfrm>
          <a:noFill/>
          <a:ln/>
        </p:spPr>
        <p:txBody>
          <a:bodyPr>
            <a:normAutofit/>
          </a:bodyPr>
          <a:lstStyle/>
          <a:p>
            <a:r>
              <a:rPr lang="en-US" sz="3200" i="0" dirty="0">
                <a:latin typeface="Times New Roman" pitchFamily="18" charset="0"/>
              </a:rPr>
              <a:t>DVD </a:t>
            </a:r>
            <a:r>
              <a:rPr lang="en-US" sz="3200" i="0" dirty="0" err="1">
                <a:latin typeface="Times New Roman" pitchFamily="18" charset="0"/>
              </a:rPr>
              <a:t>là</a:t>
            </a:r>
            <a:r>
              <a:rPr lang="en-US" sz="3200" i="0" dirty="0">
                <a:latin typeface="Times New Roman" pitchFamily="18" charset="0"/>
              </a:rPr>
              <a:t> </a:t>
            </a:r>
            <a:r>
              <a:rPr lang="en-US" sz="3200" i="0" dirty="0" err="1">
                <a:latin typeface="Times New Roman" pitchFamily="18" charset="0"/>
              </a:rPr>
              <a:t>loại</a:t>
            </a:r>
            <a:r>
              <a:rPr lang="en-US" sz="3200" i="0" dirty="0">
                <a:latin typeface="Times New Roman" pitchFamily="18" charset="0"/>
              </a:rPr>
              <a:t> </a:t>
            </a:r>
            <a:r>
              <a:rPr lang="en-US" sz="3200" i="0" dirty="0" err="1">
                <a:latin typeface="Times New Roman" pitchFamily="18" charset="0"/>
              </a:rPr>
              <a:t>đĩa</a:t>
            </a:r>
            <a:r>
              <a:rPr lang="en-US" sz="3200" i="0" dirty="0">
                <a:latin typeface="Times New Roman" pitchFamily="18" charset="0"/>
              </a:rPr>
              <a:t> </a:t>
            </a:r>
            <a:r>
              <a:rPr lang="en-US" sz="3200" i="0" dirty="0" err="1">
                <a:latin typeface="Times New Roman" pitchFamily="18" charset="0"/>
              </a:rPr>
              <a:t>tạo</a:t>
            </a:r>
            <a:r>
              <a:rPr lang="en-US" sz="3200" i="0" dirty="0">
                <a:latin typeface="Times New Roman" pitchFamily="18" charset="0"/>
              </a:rPr>
              <a:t> </a:t>
            </a:r>
            <a:r>
              <a:rPr lang="en-US" sz="3200" i="0" dirty="0" err="1">
                <a:latin typeface="Times New Roman" pitchFamily="18" charset="0"/>
              </a:rPr>
              <a:t>bởi</a:t>
            </a:r>
            <a:r>
              <a:rPr lang="en-US" sz="3200" i="0" dirty="0">
                <a:latin typeface="Times New Roman" pitchFamily="18" charset="0"/>
              </a:rPr>
              <a:t> 2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nối</a:t>
            </a:r>
            <a:r>
              <a:rPr lang="en-US" sz="3200" i="0" dirty="0">
                <a:latin typeface="Times New Roman" pitchFamily="18" charset="0"/>
              </a:rPr>
              <a:t> </a:t>
            </a:r>
            <a:r>
              <a:rPr lang="en-US" sz="3200" i="0" dirty="0" err="1">
                <a:latin typeface="Times New Roman" pitchFamily="18" charset="0"/>
              </a:rPr>
              <a:t>dày</a:t>
            </a:r>
            <a:r>
              <a:rPr lang="en-US" sz="3200" i="0" dirty="0">
                <a:latin typeface="Times New Roman" pitchFamily="18" charset="0"/>
              </a:rPr>
              <a:t> 0.6 mm </a:t>
            </a:r>
            <a:r>
              <a:rPr lang="en-US" sz="3200" i="0" dirty="0" err="1">
                <a:latin typeface="Times New Roman" pitchFamily="18" charset="0"/>
              </a:rPr>
              <a:t>và</a:t>
            </a:r>
            <a:r>
              <a:rPr lang="en-US" sz="3200" i="0" dirty="0">
                <a:latin typeface="Times New Roman" pitchFamily="18" charset="0"/>
              </a:rPr>
              <a:t> </a:t>
            </a:r>
            <a:r>
              <a:rPr lang="en-US" sz="3200" i="0" dirty="0" err="1">
                <a:latin typeface="Times New Roman" pitchFamily="18" charset="0"/>
              </a:rPr>
              <a:t>một</a:t>
            </a:r>
            <a:r>
              <a:rPr lang="en-US" sz="3200" i="0" dirty="0">
                <a:latin typeface="Times New Roman" pitchFamily="18" charset="0"/>
              </a:rPr>
              <a:t> </a:t>
            </a:r>
            <a:r>
              <a:rPr lang="en-US" sz="3200" i="0" dirty="0" err="1">
                <a:latin typeface="Times New Roman" pitchFamily="18" charset="0"/>
              </a:rPr>
              <a:t>số</a:t>
            </a:r>
            <a:r>
              <a:rPr lang="en-US" sz="3200" i="0" dirty="0">
                <a:latin typeface="Times New Roman" pitchFamily="18" charset="0"/>
              </a:rPr>
              <a:t> </a:t>
            </a:r>
            <a:r>
              <a:rPr lang="en-US" sz="3200" i="0" dirty="0" err="1">
                <a:latin typeface="Times New Roman" pitchFamily="18" charset="0"/>
              </a:rPr>
              <a:t>sự</a:t>
            </a:r>
            <a:r>
              <a:rPr lang="en-US" sz="3200" i="0" dirty="0">
                <a:latin typeface="Times New Roman" pitchFamily="18" charset="0"/>
              </a:rPr>
              <a:t> </a:t>
            </a:r>
            <a:r>
              <a:rPr lang="en-US" sz="3200" i="0" dirty="0" err="1">
                <a:latin typeface="Times New Roman" pitchFamily="18" charset="0"/>
              </a:rPr>
              <a:t>khác</a:t>
            </a:r>
            <a:r>
              <a:rPr lang="en-US" sz="3200" i="0" dirty="0">
                <a:latin typeface="Times New Roman" pitchFamily="18" charset="0"/>
              </a:rPr>
              <a:t> </a:t>
            </a:r>
            <a:r>
              <a:rPr lang="en-US" sz="3200" i="0" dirty="0" err="1">
                <a:latin typeface="Times New Roman" pitchFamily="18" charset="0"/>
              </a:rPr>
              <a:t>nhau</a:t>
            </a:r>
            <a:r>
              <a:rPr lang="en-US" sz="3200" i="0" dirty="0">
                <a:latin typeface="Times New Roman" pitchFamily="18" charset="0"/>
              </a:rPr>
              <a:t> </a:t>
            </a:r>
            <a:r>
              <a:rPr lang="en-US" sz="3200" i="0" dirty="0" err="1">
                <a:latin typeface="Times New Roman" pitchFamily="18" charset="0"/>
              </a:rPr>
              <a:t>cơ</a:t>
            </a:r>
            <a:r>
              <a:rPr lang="en-US" sz="3200" i="0" dirty="0">
                <a:latin typeface="Times New Roman" pitchFamily="18" charset="0"/>
              </a:rPr>
              <a:t> </a:t>
            </a:r>
            <a:r>
              <a:rPr lang="en-US" sz="3200" i="0" dirty="0" err="1">
                <a:latin typeface="Times New Roman" pitchFamily="18" charset="0"/>
              </a:rPr>
              <a:t>bản</a:t>
            </a:r>
            <a:r>
              <a:rPr lang="en-US" sz="3200" i="0" dirty="0">
                <a:latin typeface="Times New Roman" pitchFamily="18" charset="0"/>
              </a:rPr>
              <a:t> </a:t>
            </a:r>
            <a:r>
              <a:rPr lang="en-US" sz="3200" i="0" dirty="0" err="1">
                <a:latin typeface="Times New Roman" pitchFamily="18" charset="0"/>
              </a:rPr>
              <a:t>giữa</a:t>
            </a:r>
            <a:r>
              <a:rPr lang="en-US" sz="3200" i="0" dirty="0">
                <a:latin typeface="Times New Roman" pitchFamily="18" charset="0"/>
              </a:rPr>
              <a:t> CD </a:t>
            </a:r>
            <a:r>
              <a:rPr lang="en-US" sz="3200" i="0" dirty="0" err="1">
                <a:latin typeface="Times New Roman" pitchFamily="18" charset="0"/>
              </a:rPr>
              <a:t>và</a:t>
            </a:r>
            <a:r>
              <a:rPr lang="en-US" sz="3200" i="0" dirty="0">
                <a:latin typeface="Times New Roman" pitchFamily="18" charset="0"/>
              </a:rPr>
              <a:t> DVD </a:t>
            </a:r>
            <a:r>
              <a:rPr lang="en-US" sz="3200" i="0" dirty="0" err="1">
                <a:latin typeface="Times New Roman" pitchFamily="18" charset="0"/>
              </a:rPr>
              <a:t>nằm</a:t>
            </a:r>
            <a:r>
              <a:rPr lang="en-US" sz="3200" i="0" dirty="0">
                <a:latin typeface="Times New Roman" pitchFamily="18" charset="0"/>
              </a:rPr>
              <a:t> </a:t>
            </a:r>
            <a:r>
              <a:rPr lang="en-US" sz="3200" i="0" dirty="0" err="1">
                <a:latin typeface="Times New Roman" pitchFamily="18" charset="0"/>
              </a:rPr>
              <a:t>bên</a:t>
            </a:r>
            <a:r>
              <a:rPr lang="en-US" sz="3200" i="0" dirty="0">
                <a:latin typeface="Times New Roman" pitchFamily="18" charset="0"/>
              </a:rPr>
              <a:t> </a:t>
            </a:r>
            <a:r>
              <a:rPr lang="en-US" sz="3200" i="0" dirty="0" err="1">
                <a:latin typeface="Times New Roman" pitchFamily="18" charset="0"/>
              </a:rPr>
              <a:t>dưới</a:t>
            </a:r>
            <a:r>
              <a:rPr lang="en-US" sz="3200" i="0" dirty="0">
                <a:latin typeface="Times New Roman" pitchFamily="18" charset="0"/>
              </a:rPr>
              <a:t> </a:t>
            </a:r>
            <a:r>
              <a:rPr lang="en-US" sz="3200" i="0" dirty="0" err="1">
                <a:latin typeface="Times New Roman" pitchFamily="18" charset="0"/>
              </a:rPr>
              <a:t>bề</a:t>
            </a:r>
            <a:r>
              <a:rPr lang="en-US" sz="3200" i="0" dirty="0">
                <a:latin typeface="Times New Roman" pitchFamily="18" charset="0"/>
              </a:rPr>
              <a:t> </a:t>
            </a:r>
            <a:r>
              <a:rPr lang="en-US" sz="3200" i="0" dirty="0" err="1">
                <a:latin typeface="Times New Roman" pitchFamily="18" charset="0"/>
              </a:rPr>
              <a:t>mặt</a:t>
            </a:r>
            <a:r>
              <a:rPr lang="en-US" sz="3200" i="0" dirty="0">
                <a:latin typeface="Times New Roman" pitchFamily="18" charset="0"/>
              </a:rPr>
              <a:t>.</a:t>
            </a:r>
          </a:p>
          <a:p>
            <a:r>
              <a:rPr lang="en-US" sz="3200" i="0" dirty="0" err="1">
                <a:latin typeface="Times New Roman" pitchFamily="18" charset="0"/>
              </a:rPr>
              <a:t>Loại</a:t>
            </a:r>
            <a:r>
              <a:rPr lang="en-US" sz="3200" i="0" dirty="0">
                <a:latin typeface="Times New Roman" pitchFamily="18" charset="0"/>
              </a:rPr>
              <a:t> 2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ngoài</a:t>
            </a:r>
            <a:r>
              <a:rPr lang="en-US" sz="3200" i="0" dirty="0">
                <a:latin typeface="Times New Roman" pitchFamily="18" charset="0"/>
              </a:rPr>
              <a:t>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phản</a:t>
            </a:r>
            <a:r>
              <a:rPr lang="en-US" sz="3200" i="0" dirty="0">
                <a:latin typeface="Times New Roman" pitchFamily="18" charset="0"/>
              </a:rPr>
              <a:t> </a:t>
            </a:r>
            <a:r>
              <a:rPr lang="en-US" sz="3200" i="0" dirty="0" err="1">
                <a:latin typeface="Times New Roman" pitchFamily="18" charset="0"/>
              </a:rPr>
              <a:t>xạ</a:t>
            </a:r>
            <a:r>
              <a:rPr lang="en-US" sz="3200" i="0" dirty="0">
                <a:latin typeface="Times New Roman" pitchFamily="18" charset="0"/>
              </a:rPr>
              <a:t> </a:t>
            </a:r>
            <a:r>
              <a:rPr lang="en-US" sz="3200" i="0" dirty="0" err="1">
                <a:latin typeface="Times New Roman" pitchFamily="18" charset="0"/>
              </a:rPr>
              <a:t>còn</a:t>
            </a:r>
            <a:r>
              <a:rPr lang="en-US" sz="3200" i="0" dirty="0">
                <a:latin typeface="Times New Roman" pitchFamily="18" charset="0"/>
              </a:rPr>
              <a:t> </a:t>
            </a:r>
            <a:r>
              <a:rPr lang="en-US" sz="3200" i="0" dirty="0" err="1">
                <a:latin typeface="Times New Roman" pitchFamily="18" charset="0"/>
              </a:rPr>
              <a:t>có</a:t>
            </a:r>
            <a:r>
              <a:rPr lang="en-US" sz="3200" i="0" dirty="0">
                <a:latin typeface="Times New Roman" pitchFamily="18" charset="0"/>
              </a:rPr>
              <a:t>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bán</a:t>
            </a:r>
            <a:r>
              <a:rPr lang="en-US" sz="3200" i="0" dirty="0">
                <a:latin typeface="Times New Roman" pitchFamily="18" charset="0"/>
              </a:rPr>
              <a:t> </a:t>
            </a:r>
            <a:r>
              <a:rPr lang="en-US" sz="3200" i="0" dirty="0" err="1">
                <a:latin typeface="Times New Roman" pitchFamily="18" charset="0"/>
              </a:rPr>
              <a:t>phản</a:t>
            </a:r>
            <a:r>
              <a:rPr lang="en-US" sz="3200" i="0" dirty="0">
                <a:latin typeface="Times New Roman" pitchFamily="18" charset="0"/>
              </a:rPr>
              <a:t> </a:t>
            </a:r>
            <a:r>
              <a:rPr lang="en-US" sz="3200" i="0" dirty="0" err="1">
                <a:latin typeface="Times New Roman" pitchFamily="18" charset="0"/>
              </a:rPr>
              <a:t>xạ</a:t>
            </a:r>
            <a:endParaRPr lang="en-US" sz="3200" i="0" dirty="0">
              <a:latin typeface="Times New Roman" pitchFamily="18" charset="0"/>
            </a:endParaRP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7" name="Picture 5"/>
          <p:cNvPicPr>
            <a:picLocks noChangeAspect="1" noChangeArrowheads="1"/>
          </p:cNvPicPr>
          <p:nvPr/>
        </p:nvPicPr>
        <p:blipFill>
          <a:blip r:embed="rId2" cstate="print"/>
          <a:srcRect/>
          <a:stretch>
            <a:fillRect/>
          </a:stretch>
        </p:blipFill>
        <p:spPr bwMode="auto">
          <a:xfrm>
            <a:off x="152400" y="2209800"/>
            <a:ext cx="8839200" cy="4038600"/>
          </a:xfrm>
          <a:prstGeom prst="rect">
            <a:avLst/>
          </a:prstGeom>
          <a:noFill/>
        </p:spPr>
      </p:pic>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0" name="Rectangle 4"/>
          <p:cNvSpPr>
            <a:spLocks noGrp="1" noChangeArrowheads="1"/>
          </p:cNvSpPr>
          <p:nvPr>
            <p:ph sz="quarter" idx="1"/>
          </p:nvPr>
        </p:nvSpPr>
        <p:spPr>
          <a:xfrm>
            <a:off x="228600" y="1828800"/>
            <a:ext cx="8610600" cy="3881438"/>
          </a:xfrm>
          <a:noFill/>
          <a:ln/>
        </p:spPr>
        <p:txBody>
          <a:bodyPr/>
          <a:lstStyle/>
          <a:p>
            <a:r>
              <a:rPr lang="en-US" i="0" dirty="0" err="1">
                <a:latin typeface="Times New Roman" pitchFamily="18" charset="0"/>
              </a:rPr>
              <a:t>Cũng</a:t>
            </a:r>
            <a:r>
              <a:rPr lang="en-US" i="0" dirty="0">
                <a:latin typeface="Times New Roman" pitchFamily="18" charset="0"/>
              </a:rPr>
              <a:t> </a:t>
            </a:r>
            <a:r>
              <a:rPr lang="en-US" i="0" dirty="0" err="1">
                <a:latin typeface="Times New Roman" pitchFamily="18" charset="0"/>
              </a:rPr>
              <a:t>như</a:t>
            </a:r>
            <a:r>
              <a:rPr lang="en-US" i="0" dirty="0">
                <a:latin typeface="Times New Roman" pitchFamily="18" charset="0"/>
              </a:rPr>
              <a:t> CD, </a:t>
            </a:r>
            <a:r>
              <a:rPr lang="en-US" i="0" dirty="0" err="1">
                <a:latin typeface="Times New Roman" pitchFamily="18" charset="0"/>
              </a:rPr>
              <a:t>dữ</a:t>
            </a:r>
            <a:r>
              <a:rPr lang="en-US" i="0" dirty="0">
                <a:latin typeface="Times New Roman" pitchFamily="18" charset="0"/>
              </a:rPr>
              <a:t> </a:t>
            </a:r>
            <a:r>
              <a:rPr lang="en-US" i="0" dirty="0" err="1">
                <a:latin typeface="Times New Roman" pitchFamily="18" charset="0"/>
              </a:rPr>
              <a:t>liệu</a:t>
            </a:r>
            <a:r>
              <a:rPr lang="en-US" i="0" dirty="0">
                <a:latin typeface="Times New Roman" pitchFamily="18" charset="0"/>
              </a:rPr>
              <a:t> </a:t>
            </a:r>
            <a:r>
              <a:rPr lang="en-US" i="0" dirty="0" err="1">
                <a:latin typeface="Times New Roman" pitchFamily="18" charset="0"/>
              </a:rPr>
              <a:t>trên</a:t>
            </a:r>
            <a:r>
              <a:rPr lang="en-US" i="0" dirty="0">
                <a:latin typeface="Times New Roman" pitchFamily="18" charset="0"/>
              </a:rPr>
              <a:t> DVD </a:t>
            </a:r>
            <a:r>
              <a:rPr lang="en-US" i="0" dirty="0" err="1">
                <a:latin typeface="Times New Roman" pitchFamily="18" charset="0"/>
              </a:rPr>
              <a:t>cũng</a:t>
            </a:r>
            <a:r>
              <a:rPr lang="en-US" i="0" dirty="0">
                <a:latin typeface="Times New Roman" pitchFamily="18" charset="0"/>
              </a:rPr>
              <a:t> </a:t>
            </a:r>
            <a:r>
              <a:rPr lang="en-US" i="0" dirty="0" err="1">
                <a:latin typeface="Times New Roman" pitchFamily="18" charset="0"/>
              </a:rPr>
              <a:t>được</a:t>
            </a:r>
            <a:r>
              <a:rPr lang="en-US" i="0" dirty="0">
                <a:latin typeface="Times New Roman" pitchFamily="18" charset="0"/>
              </a:rPr>
              <a:t> </a:t>
            </a:r>
            <a:r>
              <a:rPr lang="en-US" i="0" dirty="0" err="1">
                <a:latin typeface="Times New Roman" pitchFamily="18" charset="0"/>
              </a:rPr>
              <a:t>mã</a:t>
            </a:r>
            <a:r>
              <a:rPr lang="en-US" i="0" dirty="0">
                <a:latin typeface="Times New Roman" pitchFamily="18" charset="0"/>
              </a:rPr>
              <a:t> </a:t>
            </a:r>
            <a:r>
              <a:rPr lang="en-US" i="0" dirty="0" err="1">
                <a:latin typeface="Times New Roman" pitchFamily="18" charset="0"/>
              </a:rPr>
              <a:t>hóa</a:t>
            </a:r>
            <a:r>
              <a:rPr lang="en-US" i="0" dirty="0">
                <a:latin typeface="Times New Roman" pitchFamily="18" charset="0"/>
              </a:rPr>
              <a:t> </a:t>
            </a:r>
            <a:r>
              <a:rPr lang="en-US" i="0" dirty="0" err="1">
                <a:latin typeface="Times New Roman" pitchFamily="18" charset="0"/>
              </a:rPr>
              <a:t>dưới</a:t>
            </a:r>
            <a:r>
              <a:rPr lang="en-US" i="0" dirty="0">
                <a:latin typeface="Times New Roman" pitchFamily="18" charset="0"/>
              </a:rPr>
              <a:t> </a:t>
            </a:r>
            <a:r>
              <a:rPr lang="en-US" i="0" dirty="0" err="1">
                <a:latin typeface="Times New Roman" pitchFamily="18" charset="0"/>
              </a:rPr>
              <a:t>dạng</a:t>
            </a:r>
            <a:r>
              <a:rPr lang="en-US" i="0" dirty="0">
                <a:latin typeface="Times New Roman" pitchFamily="18" charset="0"/>
              </a:rPr>
              <a:t> </a:t>
            </a:r>
            <a:r>
              <a:rPr lang="en-US" i="0" dirty="0" err="1">
                <a:latin typeface="Times New Roman" pitchFamily="18" charset="0"/>
              </a:rPr>
              <a:t>các</a:t>
            </a:r>
            <a:r>
              <a:rPr lang="en-US" i="0" dirty="0">
                <a:latin typeface="Times New Roman" pitchFamily="18" charset="0"/>
              </a:rPr>
              <a:t> “pit” </a:t>
            </a:r>
            <a:r>
              <a:rPr lang="en-US" i="0" dirty="0" err="1">
                <a:latin typeface="Times New Roman" pitchFamily="18" charset="0"/>
              </a:rPr>
              <a:t>trên</a:t>
            </a:r>
            <a:r>
              <a:rPr lang="en-US" i="0" dirty="0">
                <a:latin typeface="Times New Roman" pitchFamily="18" charset="0"/>
              </a:rPr>
              <a:t> </a:t>
            </a:r>
            <a:r>
              <a:rPr lang="en-US" i="0" dirty="0" err="1">
                <a:latin typeface="Times New Roman" pitchFamily="18" charset="0"/>
              </a:rPr>
              <a:t>các</a:t>
            </a:r>
            <a:r>
              <a:rPr lang="en-US" i="0" dirty="0">
                <a:latin typeface="Times New Roman" pitchFamily="18" charset="0"/>
              </a:rPr>
              <a:t> track </a:t>
            </a:r>
            <a:r>
              <a:rPr lang="en-US" i="0" dirty="0" err="1">
                <a:latin typeface="Times New Roman" pitchFamily="18" charset="0"/>
              </a:rPr>
              <a:t>của</a:t>
            </a:r>
            <a:r>
              <a:rPr lang="en-US" i="0" dirty="0">
                <a:latin typeface="Times New Roman" pitchFamily="18" charset="0"/>
              </a:rPr>
              <a:t> </a:t>
            </a:r>
            <a:r>
              <a:rPr lang="en-US" i="0" dirty="0" err="1">
                <a:latin typeface="Times New Roman" pitchFamily="18" charset="0"/>
              </a:rPr>
              <a:t>đĩa</a:t>
            </a:r>
            <a:r>
              <a:rPr lang="en-US" i="0" dirty="0">
                <a:latin typeface="Times New Roman" pitchFamily="18" charset="0"/>
              </a:rPr>
              <a:t>.</a:t>
            </a:r>
          </a:p>
          <a:p>
            <a:r>
              <a:rPr lang="en-US" i="0" dirty="0" err="1">
                <a:latin typeface="Times New Roman" pitchFamily="18" charset="0"/>
              </a:rPr>
              <a:t>Lớp</a:t>
            </a:r>
            <a:r>
              <a:rPr lang="en-US" i="0" dirty="0">
                <a:latin typeface="Times New Roman" pitchFamily="18" charset="0"/>
              </a:rPr>
              <a:t> </a:t>
            </a:r>
            <a:r>
              <a:rPr lang="en-US" i="0" dirty="0" err="1">
                <a:latin typeface="Times New Roman" pitchFamily="18" charset="0"/>
              </a:rPr>
              <a:t>bên</a:t>
            </a:r>
            <a:r>
              <a:rPr lang="en-US" i="0" dirty="0">
                <a:latin typeface="Times New Roman" pitchFamily="18" charset="0"/>
              </a:rPr>
              <a:t> </a:t>
            </a:r>
            <a:r>
              <a:rPr lang="en-US" i="0" dirty="0" err="1">
                <a:latin typeface="Times New Roman" pitchFamily="18" charset="0"/>
              </a:rPr>
              <a:t>ngoài</a:t>
            </a:r>
            <a:r>
              <a:rPr lang="en-US" i="0" dirty="0">
                <a:latin typeface="Times New Roman" pitchFamily="18" charset="0"/>
              </a:rPr>
              <a:t> </a:t>
            </a:r>
            <a:r>
              <a:rPr lang="en-US" i="0" dirty="0" err="1">
                <a:latin typeface="Times New Roman" pitchFamily="18" charset="0"/>
              </a:rPr>
              <a:t>bằng</a:t>
            </a:r>
            <a:r>
              <a:rPr lang="en-US" i="0" dirty="0">
                <a:latin typeface="Times New Roman" pitchFamily="18" charset="0"/>
              </a:rPr>
              <a:t> Polycarbonate </a:t>
            </a:r>
            <a:r>
              <a:rPr lang="en-US" i="0" dirty="0" err="1">
                <a:latin typeface="Times New Roman" pitchFamily="18" charset="0"/>
              </a:rPr>
              <a:t>không</a:t>
            </a:r>
            <a:r>
              <a:rPr lang="en-US" i="0" dirty="0">
                <a:latin typeface="Times New Roman" pitchFamily="18" charset="0"/>
              </a:rPr>
              <a:t> </a:t>
            </a:r>
            <a:r>
              <a:rPr lang="en-US" i="0" dirty="0" err="1">
                <a:latin typeface="Times New Roman" pitchFamily="18" charset="0"/>
              </a:rPr>
              <a:t>có</a:t>
            </a:r>
            <a:r>
              <a:rPr lang="en-US" i="0" dirty="0">
                <a:latin typeface="Times New Roman" pitchFamily="18" charset="0"/>
              </a:rPr>
              <a:t> </a:t>
            </a:r>
            <a:r>
              <a:rPr lang="en-US" i="0" dirty="0" err="1">
                <a:latin typeface="Times New Roman" pitchFamily="18" charset="0"/>
              </a:rPr>
              <a:t>tác</a:t>
            </a:r>
            <a:r>
              <a:rPr lang="en-US" i="0" dirty="0">
                <a:latin typeface="Times New Roman" pitchFamily="18" charset="0"/>
              </a:rPr>
              <a:t> </a:t>
            </a:r>
            <a:r>
              <a:rPr lang="en-US" i="0" dirty="0" err="1">
                <a:latin typeface="Times New Roman" pitchFamily="18" charset="0"/>
              </a:rPr>
              <a:t>dụng</a:t>
            </a:r>
            <a:r>
              <a:rPr lang="en-US" i="0" dirty="0">
                <a:latin typeface="Times New Roman" pitchFamily="18" charset="0"/>
              </a:rPr>
              <a:t> </a:t>
            </a:r>
            <a:r>
              <a:rPr lang="en-US" i="0" dirty="0" err="1">
                <a:latin typeface="Times New Roman" pitchFamily="18" charset="0"/>
              </a:rPr>
              <a:t>lưu</a:t>
            </a:r>
            <a:r>
              <a:rPr lang="en-US" i="0" dirty="0">
                <a:latin typeface="Times New Roman" pitchFamily="18" charset="0"/>
              </a:rPr>
              <a:t> </a:t>
            </a:r>
            <a:r>
              <a:rPr lang="en-US" i="0" dirty="0" err="1">
                <a:latin typeface="Times New Roman" pitchFamily="18" charset="0"/>
              </a:rPr>
              <a:t>trữ</a:t>
            </a:r>
            <a:r>
              <a:rPr lang="en-US" i="0" dirty="0">
                <a:latin typeface="Times New Roman" pitchFamily="18" charset="0"/>
              </a:rPr>
              <a:t>.</a:t>
            </a:r>
          </a:p>
          <a:p>
            <a:r>
              <a:rPr lang="en-US" i="0" dirty="0" err="1">
                <a:latin typeface="Times New Roman" pitchFamily="18" charset="0"/>
              </a:rPr>
              <a:t>Lớp</a:t>
            </a:r>
            <a:r>
              <a:rPr lang="en-US" i="0" dirty="0">
                <a:latin typeface="Times New Roman" pitchFamily="18" charset="0"/>
              </a:rPr>
              <a:t> </a:t>
            </a:r>
            <a:r>
              <a:rPr lang="en-US" i="0" dirty="0" err="1">
                <a:latin typeface="Times New Roman" pitchFamily="18" charset="0"/>
              </a:rPr>
              <a:t>phản</a:t>
            </a:r>
            <a:r>
              <a:rPr lang="en-US" i="0" dirty="0">
                <a:latin typeface="Times New Roman" pitchFamily="18" charset="0"/>
              </a:rPr>
              <a:t> </a:t>
            </a:r>
            <a:r>
              <a:rPr lang="en-US" i="0" dirty="0" err="1">
                <a:latin typeface="Times New Roman" pitchFamily="18" charset="0"/>
              </a:rPr>
              <a:t>xạ</a:t>
            </a:r>
            <a:r>
              <a:rPr lang="en-US" i="0" dirty="0">
                <a:latin typeface="Times New Roman" pitchFamily="18" charset="0"/>
              </a:rPr>
              <a:t> </a:t>
            </a:r>
            <a:r>
              <a:rPr lang="en-US" i="0" dirty="0" err="1">
                <a:latin typeface="Times New Roman" pitchFamily="18" charset="0"/>
              </a:rPr>
              <a:t>có</a:t>
            </a:r>
            <a:r>
              <a:rPr lang="en-US" i="0" dirty="0">
                <a:latin typeface="Times New Roman" pitchFamily="18" charset="0"/>
              </a:rPr>
              <a:t> </a:t>
            </a:r>
            <a:r>
              <a:rPr lang="en-US" i="0" dirty="0" err="1">
                <a:latin typeface="Times New Roman" pitchFamily="18" charset="0"/>
              </a:rPr>
              <a:t>tác</a:t>
            </a:r>
            <a:r>
              <a:rPr lang="en-US" i="0" dirty="0">
                <a:latin typeface="Times New Roman" pitchFamily="18" charset="0"/>
              </a:rPr>
              <a:t> </a:t>
            </a:r>
            <a:r>
              <a:rPr lang="en-US" i="0" dirty="0" err="1">
                <a:latin typeface="Times New Roman" pitchFamily="18" charset="0"/>
              </a:rPr>
              <a:t>dụng</a:t>
            </a:r>
            <a:r>
              <a:rPr lang="en-US" i="0" dirty="0">
                <a:latin typeface="Times New Roman" pitchFamily="18" charset="0"/>
              </a:rPr>
              <a:t> </a:t>
            </a:r>
            <a:r>
              <a:rPr lang="en-US" i="0" dirty="0" err="1">
                <a:latin typeface="Times New Roman" pitchFamily="18" charset="0"/>
              </a:rPr>
              <a:t>phản</a:t>
            </a:r>
            <a:r>
              <a:rPr lang="en-US" i="0" dirty="0">
                <a:latin typeface="Times New Roman" pitchFamily="18" charset="0"/>
              </a:rPr>
              <a:t> </a:t>
            </a:r>
            <a:r>
              <a:rPr lang="en-US" i="0" dirty="0" err="1">
                <a:latin typeface="Times New Roman" pitchFamily="18" charset="0"/>
              </a:rPr>
              <a:t>xạ</a:t>
            </a:r>
            <a:r>
              <a:rPr lang="en-US" i="0" dirty="0">
                <a:latin typeface="Times New Roman" pitchFamily="18" charset="0"/>
              </a:rPr>
              <a:t> </a:t>
            </a:r>
            <a:r>
              <a:rPr lang="en-US" i="0" dirty="0" err="1">
                <a:latin typeface="Times New Roman" pitchFamily="18" charset="0"/>
              </a:rPr>
              <a:t>chùm</a:t>
            </a:r>
            <a:r>
              <a:rPr lang="en-US" i="0" dirty="0">
                <a:latin typeface="Times New Roman" pitchFamily="18" charset="0"/>
              </a:rPr>
              <a:t> </a:t>
            </a:r>
            <a:r>
              <a:rPr lang="en-US" i="0" dirty="0" err="1">
                <a:latin typeface="Times New Roman" pitchFamily="18" charset="0"/>
              </a:rPr>
              <a:t>tia</a:t>
            </a:r>
            <a:r>
              <a:rPr lang="en-US" i="0" dirty="0">
                <a:latin typeface="Times New Roman" pitchFamily="18" charset="0"/>
              </a:rPr>
              <a:t> Laser.</a:t>
            </a:r>
          </a:p>
          <a:p>
            <a:endParaRPr lang="en-US" i="0" dirty="0">
              <a:latin typeface="Times New Roman" pitchFamily="18" charset="0"/>
            </a:endParaRP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Rectangle 4"/>
          <p:cNvSpPr>
            <a:spLocks noGrp="1" noChangeArrowheads="1"/>
          </p:cNvSpPr>
          <p:nvPr>
            <p:ph sz="quarter" idx="1"/>
          </p:nvPr>
        </p:nvSpPr>
        <p:spPr>
          <a:xfrm>
            <a:off x="685800" y="1676400"/>
            <a:ext cx="7958138" cy="4724400"/>
          </a:xfrm>
          <a:noFill/>
          <a:ln/>
        </p:spPr>
        <p:txBody>
          <a:bodyPr>
            <a:normAutofit/>
          </a:bodyPr>
          <a:lstStyle/>
          <a:p>
            <a:r>
              <a:rPr lang="en-US" sz="2800" i="0" dirty="0" err="1">
                <a:latin typeface="Times New Roman" pitchFamily="18" charset="0"/>
              </a:rPr>
              <a:t>Lớp</a:t>
            </a:r>
            <a:r>
              <a:rPr lang="en-US" sz="2800" i="0" dirty="0">
                <a:latin typeface="Times New Roman" pitchFamily="18" charset="0"/>
              </a:rPr>
              <a:t> </a:t>
            </a:r>
            <a:r>
              <a:rPr lang="en-US" sz="2800" i="0" dirty="0" err="1">
                <a:latin typeface="Times New Roman" pitchFamily="18" charset="0"/>
              </a:rPr>
              <a:t>nhôm</a:t>
            </a:r>
            <a:r>
              <a:rPr lang="en-US" sz="2800" i="0" dirty="0">
                <a:latin typeface="Times New Roman" pitchFamily="18" charset="0"/>
              </a:rPr>
              <a:t> </a:t>
            </a:r>
            <a:r>
              <a:rPr lang="en-US" sz="2800" i="0" dirty="0" err="1">
                <a:latin typeface="Times New Roman" pitchFamily="18" charset="0"/>
              </a:rPr>
              <a:t>có</a:t>
            </a:r>
            <a:r>
              <a:rPr lang="en-US" sz="2800" i="0" dirty="0">
                <a:latin typeface="Times New Roman" pitchFamily="18" charset="0"/>
              </a:rPr>
              <a:t> </a:t>
            </a:r>
            <a:r>
              <a:rPr lang="en-US" sz="2800" i="0" dirty="0" err="1">
                <a:latin typeface="Times New Roman" pitchFamily="18" charset="0"/>
              </a:rPr>
              <a:t>tác</a:t>
            </a:r>
            <a:r>
              <a:rPr lang="en-US" sz="2800" i="0" dirty="0">
                <a:latin typeface="Times New Roman" pitchFamily="18" charset="0"/>
              </a:rPr>
              <a:t> </a:t>
            </a:r>
            <a:r>
              <a:rPr lang="en-US" sz="2800" i="0" dirty="0" err="1">
                <a:latin typeface="Times New Roman" pitchFamily="18" charset="0"/>
              </a:rPr>
              <a:t>dụng</a:t>
            </a:r>
            <a:r>
              <a:rPr lang="en-US" sz="2800" i="0" dirty="0">
                <a:latin typeface="Times New Roman" pitchFamily="18" charset="0"/>
              </a:rPr>
              <a:t> </a:t>
            </a:r>
            <a:r>
              <a:rPr lang="en-US" sz="2800" i="0" dirty="0" err="1">
                <a:latin typeface="Times New Roman" pitchFamily="18" charset="0"/>
              </a:rPr>
              <a:t>phản</a:t>
            </a:r>
            <a:r>
              <a:rPr lang="en-US" sz="2800" i="0" dirty="0">
                <a:latin typeface="Times New Roman" pitchFamily="18" charset="0"/>
              </a:rPr>
              <a:t> </a:t>
            </a:r>
            <a:r>
              <a:rPr lang="en-US" sz="2800" i="0" dirty="0" err="1">
                <a:latin typeface="Times New Roman" pitchFamily="18" charset="0"/>
              </a:rPr>
              <a:t>xạ</a:t>
            </a:r>
            <a:r>
              <a:rPr lang="en-US" sz="2800" i="0" dirty="0">
                <a:latin typeface="Times New Roman" pitchFamily="18" charset="0"/>
              </a:rPr>
              <a:t> ở </a:t>
            </a:r>
            <a:r>
              <a:rPr lang="en-US" sz="2800" i="0" dirty="0" err="1">
                <a:latin typeface="Times New Roman" pitchFamily="18" charset="0"/>
              </a:rPr>
              <a:t>bên</a:t>
            </a:r>
            <a:r>
              <a:rPr lang="en-US" sz="2800" i="0" dirty="0">
                <a:latin typeface="Times New Roman" pitchFamily="18" charset="0"/>
              </a:rPr>
              <a:t> </a:t>
            </a:r>
            <a:r>
              <a:rPr lang="en-US" sz="2800" i="0" dirty="0" err="1">
                <a:latin typeface="Times New Roman" pitchFamily="18" charset="0"/>
              </a:rPr>
              <a:t>trong</a:t>
            </a:r>
            <a:r>
              <a:rPr lang="en-US" sz="2800" i="0" dirty="0">
                <a:latin typeface="Times New Roman" pitchFamily="18" charset="0"/>
              </a:rPr>
              <a:t>, </a:t>
            </a:r>
            <a:r>
              <a:rPr lang="en-US" sz="2800" i="0" dirty="0" err="1">
                <a:latin typeface="Times New Roman" pitchFamily="18" charset="0"/>
              </a:rPr>
              <a:t>ngoài</a:t>
            </a:r>
            <a:r>
              <a:rPr lang="en-US" sz="2800" i="0" dirty="0">
                <a:latin typeface="Times New Roman" pitchFamily="18" charset="0"/>
              </a:rPr>
              <a:t> </a:t>
            </a:r>
            <a:r>
              <a:rPr lang="en-US" sz="2800" i="0" dirty="0" err="1">
                <a:latin typeface="Times New Roman" pitchFamily="18" charset="0"/>
              </a:rPr>
              <a:t>ra</a:t>
            </a:r>
            <a:r>
              <a:rPr lang="en-US" sz="2800" i="0" dirty="0">
                <a:latin typeface="Times New Roman" pitchFamily="18" charset="0"/>
              </a:rPr>
              <a:t> </a:t>
            </a:r>
            <a:r>
              <a:rPr lang="en-US" sz="2800" i="0" dirty="0" err="1">
                <a:latin typeface="Times New Roman" pitchFamily="18" charset="0"/>
              </a:rPr>
              <a:t>còn</a:t>
            </a:r>
            <a:r>
              <a:rPr lang="en-US" sz="2800" i="0" dirty="0">
                <a:latin typeface="Times New Roman" pitchFamily="18" charset="0"/>
              </a:rPr>
              <a:t> </a:t>
            </a:r>
            <a:r>
              <a:rPr lang="en-US" sz="2800" i="0" dirty="0" err="1">
                <a:latin typeface="Times New Roman" pitchFamily="18" charset="0"/>
              </a:rPr>
              <a:t>có</a:t>
            </a:r>
            <a:r>
              <a:rPr lang="en-US" sz="2800" i="0" dirty="0">
                <a:latin typeface="Times New Roman" pitchFamily="18" charset="0"/>
              </a:rPr>
              <a:t> 1 </a:t>
            </a:r>
            <a:r>
              <a:rPr lang="en-US" sz="2800" i="0" dirty="0" err="1">
                <a:latin typeface="Times New Roman" pitchFamily="18" charset="0"/>
              </a:rPr>
              <a:t>lớp</a:t>
            </a:r>
            <a:r>
              <a:rPr lang="en-US" sz="2800" i="0" dirty="0">
                <a:latin typeface="Times New Roman" pitchFamily="18" charset="0"/>
              </a:rPr>
              <a:t> </a:t>
            </a:r>
            <a:r>
              <a:rPr lang="en-US" sz="2800" i="0" dirty="0" err="1">
                <a:latin typeface="Times New Roman" pitchFamily="18" charset="0"/>
              </a:rPr>
              <a:t>vàng</a:t>
            </a:r>
            <a:r>
              <a:rPr lang="en-US" sz="2800" i="0" dirty="0">
                <a:latin typeface="Times New Roman" pitchFamily="18" charset="0"/>
              </a:rPr>
              <a:t> </a:t>
            </a:r>
            <a:r>
              <a:rPr lang="en-US" sz="2800" i="0" dirty="0" err="1">
                <a:latin typeface="Times New Roman" pitchFamily="18" charset="0"/>
              </a:rPr>
              <a:t>mỏng</a:t>
            </a:r>
            <a:r>
              <a:rPr lang="en-US" sz="2800" i="0" dirty="0">
                <a:latin typeface="Times New Roman" pitchFamily="18" charset="0"/>
              </a:rPr>
              <a:t> </a:t>
            </a:r>
            <a:r>
              <a:rPr lang="en-US" sz="2800" i="0" dirty="0" err="1">
                <a:latin typeface="Times New Roman" pitchFamily="18" charset="0"/>
              </a:rPr>
              <a:t>làm</a:t>
            </a:r>
            <a:r>
              <a:rPr lang="en-US" sz="2800" i="0" dirty="0">
                <a:latin typeface="Times New Roman" pitchFamily="18" charset="0"/>
              </a:rPr>
              <a:t> </a:t>
            </a:r>
            <a:r>
              <a:rPr lang="en-US" sz="2800" i="0" dirty="0" err="1">
                <a:latin typeface="Times New Roman" pitchFamily="18" charset="0"/>
              </a:rPr>
              <a:t>lớp</a:t>
            </a:r>
            <a:r>
              <a:rPr lang="en-US" sz="2800" i="0" dirty="0">
                <a:latin typeface="Times New Roman" pitchFamily="18" charset="0"/>
              </a:rPr>
              <a:t> </a:t>
            </a:r>
            <a:r>
              <a:rPr lang="en-US" sz="2800" i="0" dirty="0" err="1">
                <a:latin typeface="Times New Roman" pitchFamily="18" charset="0"/>
              </a:rPr>
              <a:t>bán</a:t>
            </a:r>
            <a:r>
              <a:rPr lang="en-US" sz="2800" i="0" dirty="0">
                <a:latin typeface="Times New Roman" pitchFamily="18" charset="0"/>
              </a:rPr>
              <a:t> </a:t>
            </a:r>
            <a:r>
              <a:rPr lang="en-US" sz="2800" i="0" dirty="0" err="1">
                <a:latin typeface="Times New Roman" pitchFamily="18" charset="0"/>
              </a:rPr>
              <a:t>phản</a:t>
            </a:r>
            <a:r>
              <a:rPr lang="en-US" sz="2800" i="0" dirty="0">
                <a:latin typeface="Times New Roman" pitchFamily="18" charset="0"/>
              </a:rPr>
              <a:t> </a:t>
            </a:r>
            <a:r>
              <a:rPr lang="en-US" sz="2800" i="0" dirty="0" err="1">
                <a:latin typeface="Times New Roman" pitchFamily="18" charset="0"/>
              </a:rPr>
              <a:t>xạ</a:t>
            </a:r>
            <a:r>
              <a:rPr lang="en-US" sz="2800" i="0" dirty="0">
                <a:latin typeface="Times New Roman" pitchFamily="18" charset="0"/>
              </a:rPr>
              <a:t> </a:t>
            </a:r>
            <a:r>
              <a:rPr lang="en-US" sz="2800" i="0" dirty="0" err="1">
                <a:latin typeface="Times New Roman" pitchFamily="18" charset="0"/>
              </a:rPr>
              <a:t>cho</a:t>
            </a:r>
            <a:r>
              <a:rPr lang="en-US" sz="2800" i="0" dirty="0">
                <a:latin typeface="Times New Roman" pitchFamily="18" charset="0"/>
              </a:rPr>
              <a:t> </a:t>
            </a:r>
            <a:r>
              <a:rPr lang="en-US" sz="2800" i="0" dirty="0" err="1">
                <a:latin typeface="Times New Roman" pitchFamily="18" charset="0"/>
              </a:rPr>
              <a:t>phép</a:t>
            </a:r>
            <a:r>
              <a:rPr lang="en-US" sz="2800" i="0" dirty="0">
                <a:latin typeface="Times New Roman" pitchFamily="18" charset="0"/>
              </a:rPr>
              <a:t> </a:t>
            </a:r>
            <a:r>
              <a:rPr lang="en-US" sz="2800" i="0" dirty="0" err="1">
                <a:latin typeface="Times New Roman" pitchFamily="18" charset="0"/>
              </a:rPr>
              <a:t>tia</a:t>
            </a:r>
            <a:r>
              <a:rPr lang="en-US" sz="2800" i="0" dirty="0">
                <a:latin typeface="Times New Roman" pitchFamily="18" charset="0"/>
              </a:rPr>
              <a:t> </a:t>
            </a:r>
            <a:r>
              <a:rPr lang="en-US" sz="2800" i="0" dirty="0" err="1">
                <a:latin typeface="Times New Roman" pitchFamily="18" charset="0"/>
              </a:rPr>
              <a:t>sáng</a:t>
            </a:r>
            <a:r>
              <a:rPr lang="en-US" sz="2800" i="0" dirty="0">
                <a:latin typeface="Times New Roman" pitchFamily="18" charset="0"/>
              </a:rPr>
              <a:t> </a:t>
            </a:r>
            <a:r>
              <a:rPr lang="en-US" sz="2800" i="0" dirty="0" err="1">
                <a:latin typeface="Times New Roman" pitchFamily="18" charset="0"/>
              </a:rPr>
              <a:t>xuyên</a:t>
            </a:r>
            <a:r>
              <a:rPr lang="en-US" sz="2800" i="0" dirty="0">
                <a:latin typeface="Times New Roman" pitchFamily="18" charset="0"/>
              </a:rPr>
              <a:t> qua.</a:t>
            </a:r>
          </a:p>
          <a:p>
            <a:r>
              <a:rPr lang="en-US" sz="2800" i="0" dirty="0" err="1">
                <a:latin typeface="Times New Roman" pitchFamily="18" charset="0"/>
              </a:rPr>
              <a:t>Loại</a:t>
            </a:r>
            <a:r>
              <a:rPr lang="en-US" sz="2800" i="0" dirty="0">
                <a:latin typeface="Times New Roman" pitchFamily="18" charset="0"/>
              </a:rPr>
              <a:t> </a:t>
            </a:r>
            <a:r>
              <a:rPr lang="en-US" sz="2800" i="0" dirty="0" err="1">
                <a:latin typeface="Times New Roman" pitchFamily="18" charset="0"/>
              </a:rPr>
              <a:t>đĩa</a:t>
            </a:r>
            <a:r>
              <a:rPr lang="en-US" sz="2800" i="0" dirty="0">
                <a:latin typeface="Times New Roman" pitchFamily="18" charset="0"/>
              </a:rPr>
              <a:t> 1 </a:t>
            </a:r>
            <a:r>
              <a:rPr lang="en-US" sz="2800" i="0" dirty="0" err="1">
                <a:latin typeface="Times New Roman" pitchFamily="18" charset="0"/>
              </a:rPr>
              <a:t>mặt</a:t>
            </a:r>
            <a:r>
              <a:rPr lang="en-US" sz="2800" i="0" dirty="0">
                <a:latin typeface="Times New Roman" pitchFamily="18" charset="0"/>
              </a:rPr>
              <a:t> </a:t>
            </a:r>
            <a:r>
              <a:rPr lang="en-US" sz="2800" i="0" dirty="0" err="1">
                <a:latin typeface="Times New Roman" pitchFamily="18" charset="0"/>
              </a:rPr>
              <a:t>thì</a:t>
            </a:r>
            <a:r>
              <a:rPr lang="en-US" sz="2800" i="0" dirty="0">
                <a:latin typeface="Times New Roman" pitchFamily="18" charset="0"/>
              </a:rPr>
              <a:t> </a:t>
            </a:r>
            <a:r>
              <a:rPr lang="en-US" sz="2800" i="0" dirty="0" err="1">
                <a:latin typeface="Times New Roman" pitchFamily="18" charset="0"/>
              </a:rPr>
              <a:t>nhãn</a:t>
            </a:r>
            <a:r>
              <a:rPr lang="en-US" sz="2800" i="0" dirty="0">
                <a:latin typeface="Times New Roman" pitchFamily="18" charset="0"/>
              </a:rPr>
              <a:t> </a:t>
            </a:r>
            <a:r>
              <a:rPr lang="en-US" sz="2800" i="0" dirty="0" err="1">
                <a:latin typeface="Times New Roman" pitchFamily="18" charset="0"/>
              </a:rPr>
              <a:t>được</a:t>
            </a:r>
            <a:r>
              <a:rPr lang="en-US" sz="2800" i="0" dirty="0">
                <a:latin typeface="Times New Roman" pitchFamily="18" charset="0"/>
              </a:rPr>
              <a:t> in </a:t>
            </a:r>
            <a:r>
              <a:rPr lang="en-US" sz="2800" i="0" dirty="0" err="1">
                <a:latin typeface="Times New Roman" pitchFamily="18" charset="0"/>
              </a:rPr>
              <a:t>trên</a:t>
            </a:r>
            <a:r>
              <a:rPr lang="en-US" sz="2800" i="0" dirty="0">
                <a:latin typeface="Times New Roman" pitchFamily="18" charset="0"/>
              </a:rPr>
              <a:t> </a:t>
            </a:r>
            <a:r>
              <a:rPr lang="en-US" sz="2800" i="0" dirty="0" err="1">
                <a:latin typeface="Times New Roman" pitchFamily="18" charset="0"/>
              </a:rPr>
              <a:t>mặt</a:t>
            </a:r>
            <a:r>
              <a:rPr lang="en-US" sz="2800" i="0" dirty="0">
                <a:latin typeface="Times New Roman" pitchFamily="18" charset="0"/>
              </a:rPr>
              <a:t> </a:t>
            </a:r>
            <a:r>
              <a:rPr lang="en-US" sz="2800" i="0" dirty="0" err="1">
                <a:latin typeface="Times New Roman" pitchFamily="18" charset="0"/>
              </a:rPr>
              <a:t>không</a:t>
            </a:r>
            <a:r>
              <a:rPr lang="en-US" sz="2800" i="0" dirty="0">
                <a:latin typeface="Times New Roman" pitchFamily="18" charset="0"/>
              </a:rPr>
              <a:t> </a:t>
            </a:r>
            <a:r>
              <a:rPr lang="en-US" sz="2800" i="0" dirty="0" err="1">
                <a:latin typeface="Times New Roman" pitchFamily="18" charset="0"/>
              </a:rPr>
              <a:t>lưu</a:t>
            </a:r>
            <a:r>
              <a:rPr lang="en-US" sz="2800" i="0" dirty="0">
                <a:latin typeface="Times New Roman" pitchFamily="18" charset="0"/>
              </a:rPr>
              <a:t> </a:t>
            </a:r>
            <a:r>
              <a:rPr lang="en-US" sz="2800" i="0" dirty="0" err="1">
                <a:latin typeface="Times New Roman" pitchFamily="18" charset="0"/>
              </a:rPr>
              <a:t>trữ</a:t>
            </a:r>
            <a:r>
              <a:rPr lang="en-US" sz="2800" i="0" dirty="0">
                <a:latin typeface="Times New Roman" pitchFamily="18" charset="0"/>
              </a:rPr>
              <a:t>, </a:t>
            </a:r>
            <a:r>
              <a:rPr lang="en-US" sz="2800" i="0" dirty="0" err="1">
                <a:latin typeface="Times New Roman" pitchFamily="18" charset="0"/>
              </a:rPr>
              <a:t>đối</a:t>
            </a:r>
            <a:r>
              <a:rPr lang="en-US" sz="2800" i="0" dirty="0">
                <a:latin typeface="Times New Roman" pitchFamily="18" charset="0"/>
              </a:rPr>
              <a:t> </a:t>
            </a:r>
            <a:r>
              <a:rPr lang="en-US" sz="2800" i="0" dirty="0" err="1">
                <a:latin typeface="Times New Roman" pitchFamily="18" charset="0"/>
              </a:rPr>
              <a:t>với</a:t>
            </a:r>
            <a:r>
              <a:rPr lang="en-US" sz="2800" i="0" dirty="0">
                <a:latin typeface="Times New Roman" pitchFamily="18" charset="0"/>
              </a:rPr>
              <a:t> </a:t>
            </a:r>
            <a:r>
              <a:rPr lang="en-US" sz="2800" i="0" dirty="0" err="1">
                <a:latin typeface="Times New Roman" pitchFamily="18" charset="0"/>
              </a:rPr>
              <a:t>loại</a:t>
            </a:r>
            <a:r>
              <a:rPr lang="en-US" sz="2800" i="0" dirty="0">
                <a:latin typeface="Times New Roman" pitchFamily="18" charset="0"/>
              </a:rPr>
              <a:t> 2 </a:t>
            </a:r>
            <a:r>
              <a:rPr lang="en-US" sz="2800" i="0" dirty="0" err="1">
                <a:latin typeface="Times New Roman" pitchFamily="18" charset="0"/>
              </a:rPr>
              <a:t>mặt</a:t>
            </a:r>
            <a:r>
              <a:rPr lang="en-US" sz="2800" i="0" dirty="0">
                <a:latin typeface="Times New Roman" pitchFamily="18" charset="0"/>
              </a:rPr>
              <a:t> </a:t>
            </a:r>
            <a:r>
              <a:rPr lang="en-US" sz="2800" i="0" dirty="0" err="1">
                <a:latin typeface="Times New Roman" pitchFamily="18" charset="0"/>
              </a:rPr>
              <a:t>thì</a:t>
            </a:r>
            <a:r>
              <a:rPr lang="en-US" sz="2800" i="0" dirty="0">
                <a:latin typeface="Times New Roman" pitchFamily="18" charset="0"/>
              </a:rPr>
              <a:t> </a:t>
            </a:r>
            <a:r>
              <a:rPr lang="en-US" sz="2800" i="0" dirty="0" err="1">
                <a:latin typeface="Times New Roman" pitchFamily="18" charset="0"/>
              </a:rPr>
              <a:t>việc</a:t>
            </a:r>
            <a:r>
              <a:rPr lang="en-US" sz="2800" i="0" dirty="0">
                <a:latin typeface="Times New Roman" pitchFamily="18" charset="0"/>
              </a:rPr>
              <a:t> in </a:t>
            </a:r>
            <a:r>
              <a:rPr lang="en-US" sz="2800" i="0" dirty="0" err="1">
                <a:latin typeface="Times New Roman" pitchFamily="18" charset="0"/>
              </a:rPr>
              <a:t>nhãn</a:t>
            </a:r>
            <a:r>
              <a:rPr lang="en-US" sz="2800" i="0" dirty="0">
                <a:latin typeface="Times New Roman" pitchFamily="18" charset="0"/>
              </a:rPr>
              <a:t> </a:t>
            </a:r>
            <a:r>
              <a:rPr lang="en-US" sz="2800" i="0" dirty="0" err="1">
                <a:latin typeface="Times New Roman" pitchFamily="18" charset="0"/>
              </a:rPr>
              <a:t>được</a:t>
            </a:r>
            <a:r>
              <a:rPr lang="en-US" sz="2800" i="0" dirty="0">
                <a:latin typeface="Times New Roman" pitchFamily="18" charset="0"/>
              </a:rPr>
              <a:t> </a:t>
            </a:r>
            <a:r>
              <a:rPr lang="en-US" sz="2800" i="0" dirty="0" err="1">
                <a:latin typeface="Times New Roman" pitchFamily="18" charset="0"/>
              </a:rPr>
              <a:t>thực</a:t>
            </a:r>
            <a:r>
              <a:rPr lang="en-US" sz="2800" i="0" dirty="0">
                <a:latin typeface="Times New Roman" pitchFamily="18" charset="0"/>
              </a:rPr>
              <a:t> </a:t>
            </a:r>
            <a:r>
              <a:rPr lang="en-US" sz="2800" i="0" dirty="0" err="1">
                <a:latin typeface="Times New Roman" pitchFamily="18" charset="0"/>
              </a:rPr>
              <a:t>hiện</a:t>
            </a:r>
            <a:r>
              <a:rPr lang="en-US" sz="2800" i="0" dirty="0">
                <a:latin typeface="Times New Roman" pitchFamily="18" charset="0"/>
              </a:rPr>
              <a:t> </a:t>
            </a:r>
            <a:r>
              <a:rPr lang="en-US" sz="2800" i="0" dirty="0" err="1">
                <a:latin typeface="Times New Roman" pitchFamily="18" charset="0"/>
              </a:rPr>
              <a:t>trong</a:t>
            </a:r>
            <a:r>
              <a:rPr lang="en-US" sz="2800" i="0" dirty="0">
                <a:latin typeface="Times New Roman" pitchFamily="18" charset="0"/>
              </a:rPr>
              <a:t> </a:t>
            </a:r>
            <a:r>
              <a:rPr lang="en-US" sz="2800" i="0" dirty="0" err="1">
                <a:latin typeface="Times New Roman" pitchFamily="18" charset="0"/>
              </a:rPr>
              <a:t>phần</a:t>
            </a:r>
            <a:r>
              <a:rPr lang="en-US" sz="2800" i="0" dirty="0">
                <a:latin typeface="Times New Roman" pitchFamily="18" charset="0"/>
              </a:rPr>
              <a:t> </a:t>
            </a:r>
            <a:r>
              <a:rPr lang="en-US" sz="2800" i="0" dirty="0" err="1">
                <a:latin typeface="Times New Roman" pitchFamily="18" charset="0"/>
              </a:rPr>
              <a:t>giữa</a:t>
            </a:r>
            <a:r>
              <a:rPr lang="en-US" sz="2800" i="0" dirty="0">
                <a:latin typeface="Times New Roman" pitchFamily="18" charset="0"/>
              </a:rPr>
              <a:t> </a:t>
            </a:r>
            <a:r>
              <a:rPr lang="en-US" sz="2800" i="0" dirty="0" err="1">
                <a:latin typeface="Times New Roman" pitchFamily="18" charset="0"/>
              </a:rPr>
              <a:t>trục</a:t>
            </a:r>
            <a:r>
              <a:rPr lang="en-US" sz="2800" i="0" dirty="0">
                <a:latin typeface="Times New Roman" pitchFamily="18" charset="0"/>
              </a:rPr>
              <a:t> </a:t>
            </a:r>
            <a:r>
              <a:rPr lang="en-US" sz="2800" i="0" dirty="0" err="1">
                <a:latin typeface="Times New Roman" pitchFamily="18" charset="0"/>
              </a:rPr>
              <a:t>của</a:t>
            </a:r>
            <a:r>
              <a:rPr lang="en-US" sz="2800" i="0" dirty="0">
                <a:latin typeface="Times New Roman" pitchFamily="18" charset="0"/>
              </a:rPr>
              <a:t> </a:t>
            </a:r>
            <a:r>
              <a:rPr lang="en-US" sz="2800" i="0" dirty="0" err="1">
                <a:latin typeface="Times New Roman" pitchFamily="18" charset="0"/>
              </a:rPr>
              <a:t>đĩa</a:t>
            </a:r>
            <a:r>
              <a:rPr lang="en-US" sz="2800" i="0" dirty="0">
                <a:latin typeface="Times New Roman" pitchFamily="18" charset="0"/>
              </a:rPr>
              <a:t> </a:t>
            </a: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8" name="Rectangle 4"/>
          <p:cNvSpPr>
            <a:spLocks noGrp="1" noChangeArrowheads="1"/>
          </p:cNvSpPr>
          <p:nvPr>
            <p:ph sz="quarter" idx="1"/>
          </p:nvPr>
        </p:nvSpPr>
        <p:spPr>
          <a:xfrm>
            <a:off x="609600" y="1676400"/>
            <a:ext cx="7958138" cy="1066800"/>
          </a:xfrm>
          <a:noFill/>
          <a:ln/>
        </p:spPr>
        <p:txBody>
          <a:bodyPr>
            <a:normAutofit/>
          </a:bodyPr>
          <a:lstStyle/>
          <a:p>
            <a:r>
              <a:rPr lang="en-US" i="0" dirty="0" err="1">
                <a:solidFill>
                  <a:schemeClr val="tx2"/>
                </a:solidFill>
                <a:latin typeface="Times New Roman" pitchFamily="18" charset="0"/>
              </a:rPr>
              <a:t>Dữ</a:t>
            </a:r>
            <a:r>
              <a:rPr lang="en-US" i="0" dirty="0">
                <a:solidFill>
                  <a:schemeClr val="tx2"/>
                </a:solidFill>
                <a:latin typeface="Times New Roman" pitchFamily="18" charset="0"/>
              </a:rPr>
              <a:t> </a:t>
            </a:r>
            <a:r>
              <a:rPr lang="en-US" i="0" dirty="0" err="1">
                <a:solidFill>
                  <a:schemeClr val="tx2"/>
                </a:solidFill>
                <a:latin typeface="Times New Roman" pitchFamily="18" charset="0"/>
              </a:rPr>
              <a:t>liệu</a:t>
            </a:r>
            <a:r>
              <a:rPr lang="en-US" i="0" dirty="0">
                <a:solidFill>
                  <a:schemeClr val="tx2"/>
                </a:solidFill>
                <a:latin typeface="Times New Roman" pitchFamily="18" charset="0"/>
              </a:rPr>
              <a:t> </a:t>
            </a:r>
            <a:r>
              <a:rPr lang="en-US" i="0" dirty="0" err="1">
                <a:solidFill>
                  <a:schemeClr val="tx2"/>
                </a:solidFill>
                <a:latin typeface="Times New Roman" pitchFamily="18" charset="0"/>
              </a:rPr>
              <a:t>được</a:t>
            </a:r>
            <a:r>
              <a:rPr lang="en-US" i="0" dirty="0">
                <a:solidFill>
                  <a:schemeClr val="tx2"/>
                </a:solidFill>
                <a:latin typeface="Times New Roman" pitchFamily="18" charset="0"/>
              </a:rPr>
              <a:t> </a:t>
            </a:r>
            <a:r>
              <a:rPr lang="en-US" i="0" dirty="0" err="1">
                <a:solidFill>
                  <a:schemeClr val="tx2"/>
                </a:solidFill>
                <a:latin typeface="Times New Roman" pitchFamily="18" charset="0"/>
              </a:rPr>
              <a:t>ghi</a:t>
            </a:r>
            <a:r>
              <a:rPr lang="en-US" i="0" dirty="0">
                <a:solidFill>
                  <a:schemeClr val="tx2"/>
                </a:solidFill>
                <a:latin typeface="Times New Roman" pitchFamily="18" charset="0"/>
              </a:rPr>
              <a:t> </a:t>
            </a:r>
            <a:r>
              <a:rPr lang="en-US" i="0" dirty="0" err="1">
                <a:solidFill>
                  <a:schemeClr val="tx2"/>
                </a:solidFill>
                <a:latin typeface="Times New Roman" pitchFamily="18" charset="0"/>
              </a:rPr>
              <a:t>trên</a:t>
            </a:r>
            <a:r>
              <a:rPr lang="en-US" i="0" dirty="0">
                <a:solidFill>
                  <a:schemeClr val="tx2"/>
                </a:solidFill>
                <a:latin typeface="Times New Roman" pitchFamily="18" charset="0"/>
              </a:rPr>
              <a:t> </a:t>
            </a:r>
            <a:r>
              <a:rPr lang="en-US" i="0" dirty="0" err="1">
                <a:solidFill>
                  <a:schemeClr val="tx2"/>
                </a:solidFill>
                <a:latin typeface="Times New Roman" pitchFamily="18" charset="0"/>
              </a:rPr>
              <a:t>những</a:t>
            </a:r>
            <a:r>
              <a:rPr lang="en-US" i="0" dirty="0">
                <a:solidFill>
                  <a:schemeClr val="tx2"/>
                </a:solidFill>
                <a:latin typeface="Times New Roman" pitchFamily="18" charset="0"/>
              </a:rPr>
              <a:t> </a:t>
            </a:r>
            <a:r>
              <a:rPr lang="en-US" i="0" dirty="0" err="1">
                <a:solidFill>
                  <a:schemeClr val="tx2"/>
                </a:solidFill>
                <a:latin typeface="Times New Roman" pitchFamily="18" charset="0"/>
              </a:rPr>
              <a:t>vòng</a:t>
            </a:r>
            <a:r>
              <a:rPr lang="en-US" i="0" dirty="0">
                <a:solidFill>
                  <a:schemeClr val="tx2"/>
                </a:solidFill>
                <a:latin typeface="Times New Roman" pitchFamily="18" charset="0"/>
              </a:rPr>
              <a:t> </a:t>
            </a:r>
            <a:r>
              <a:rPr lang="en-US" i="0" dirty="0" err="1">
                <a:solidFill>
                  <a:schemeClr val="tx2"/>
                </a:solidFill>
                <a:latin typeface="Times New Roman" pitchFamily="18" charset="0"/>
              </a:rPr>
              <a:t>tròn</a:t>
            </a:r>
            <a:r>
              <a:rPr lang="en-US" i="0" dirty="0">
                <a:solidFill>
                  <a:schemeClr val="tx2"/>
                </a:solidFill>
                <a:latin typeface="Times New Roman" pitchFamily="18" charset="0"/>
              </a:rPr>
              <a:t> </a:t>
            </a:r>
            <a:r>
              <a:rPr lang="en-US" i="0" dirty="0" err="1">
                <a:solidFill>
                  <a:schemeClr val="tx2"/>
                </a:solidFill>
                <a:latin typeface="Times New Roman" pitchFamily="18" charset="0"/>
              </a:rPr>
              <a:t>xoắn</a:t>
            </a:r>
            <a:r>
              <a:rPr lang="en-US" i="0" dirty="0">
                <a:solidFill>
                  <a:schemeClr val="tx2"/>
                </a:solidFill>
                <a:latin typeface="Times New Roman" pitchFamily="18" charset="0"/>
              </a:rPr>
              <a:t> </a:t>
            </a:r>
            <a:r>
              <a:rPr lang="en-US" i="0" dirty="0" err="1">
                <a:solidFill>
                  <a:schemeClr val="tx2"/>
                </a:solidFill>
                <a:latin typeface="Times New Roman" pitchFamily="18" charset="0"/>
              </a:rPr>
              <a:t>ốc</a:t>
            </a:r>
            <a:r>
              <a:rPr lang="en-US" i="0" dirty="0">
                <a:solidFill>
                  <a:schemeClr val="tx2"/>
                </a:solidFill>
                <a:latin typeface="Times New Roman" pitchFamily="18" charset="0"/>
              </a:rPr>
              <a:t> </a:t>
            </a:r>
            <a:r>
              <a:rPr lang="en-US" i="0" dirty="0" err="1">
                <a:solidFill>
                  <a:schemeClr val="tx2"/>
                </a:solidFill>
                <a:latin typeface="Times New Roman" pitchFamily="18" charset="0"/>
              </a:rPr>
              <a:t>gồm</a:t>
            </a:r>
            <a:r>
              <a:rPr lang="en-US" i="0" dirty="0">
                <a:solidFill>
                  <a:schemeClr val="tx2"/>
                </a:solidFill>
                <a:latin typeface="Times New Roman" pitchFamily="18" charset="0"/>
              </a:rPr>
              <a:t> </a:t>
            </a:r>
            <a:r>
              <a:rPr lang="en-US" i="0" dirty="0" err="1">
                <a:solidFill>
                  <a:schemeClr val="tx2"/>
                </a:solidFill>
                <a:latin typeface="Times New Roman" pitchFamily="18" charset="0"/>
              </a:rPr>
              <a:t>nhiều</a:t>
            </a:r>
            <a:r>
              <a:rPr lang="en-US" i="0" dirty="0">
                <a:solidFill>
                  <a:schemeClr val="tx2"/>
                </a:solidFill>
                <a:latin typeface="Times New Roman" pitchFamily="18" charset="0"/>
              </a:rPr>
              <a:t> track. </a:t>
            </a:r>
          </a:p>
        </p:txBody>
      </p:sp>
      <p:pic>
        <p:nvPicPr>
          <p:cNvPr id="123910" name="Picture 6"/>
          <p:cNvPicPr>
            <a:picLocks noChangeAspect="1" noChangeArrowheads="1"/>
          </p:cNvPicPr>
          <p:nvPr/>
        </p:nvPicPr>
        <p:blipFill>
          <a:blip r:embed="rId2" cstate="print"/>
          <a:srcRect/>
          <a:stretch>
            <a:fillRect/>
          </a:stretch>
        </p:blipFill>
        <p:spPr bwMode="auto">
          <a:xfrm>
            <a:off x="2971800" y="2819400"/>
            <a:ext cx="3276600" cy="3657600"/>
          </a:xfrm>
          <a:prstGeom prst="rect">
            <a:avLst/>
          </a:prstGeom>
          <a:noFill/>
        </p:spPr>
      </p:pic>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Rectangle 4"/>
          <p:cNvSpPr>
            <a:spLocks noGrp="1" noChangeArrowheads="1"/>
          </p:cNvSpPr>
          <p:nvPr>
            <p:ph sz="quarter" idx="1"/>
          </p:nvPr>
        </p:nvSpPr>
        <p:spPr>
          <a:xfrm>
            <a:off x="381000" y="1981200"/>
            <a:ext cx="7958138" cy="681038"/>
          </a:xfrm>
          <a:noFill/>
          <a:ln/>
        </p:spPr>
        <p:txBody>
          <a:bodyPr>
            <a:normAutofit/>
          </a:bodyPr>
          <a:lstStyle/>
          <a:p>
            <a:r>
              <a:rPr lang="en-US" sz="3600" i="0" dirty="0" err="1">
                <a:solidFill>
                  <a:schemeClr val="tx2"/>
                </a:solidFill>
                <a:latin typeface="Times New Roman" pitchFamily="18" charset="0"/>
              </a:rPr>
              <a:t>Các</a:t>
            </a:r>
            <a:r>
              <a:rPr lang="en-US" sz="3600" i="0" dirty="0">
                <a:solidFill>
                  <a:schemeClr val="tx2"/>
                </a:solidFill>
                <a:latin typeface="Times New Roman" pitchFamily="18" charset="0"/>
              </a:rPr>
              <a:t> track </a:t>
            </a:r>
            <a:r>
              <a:rPr lang="en-US" sz="3600" i="0" dirty="0" err="1">
                <a:solidFill>
                  <a:schemeClr val="tx2"/>
                </a:solidFill>
                <a:latin typeface="Times New Roman" pitchFamily="18" charset="0"/>
              </a:rPr>
              <a:t>trên</a:t>
            </a:r>
            <a:r>
              <a:rPr lang="en-US" sz="3600" i="0" dirty="0">
                <a:solidFill>
                  <a:schemeClr val="tx2"/>
                </a:solidFill>
                <a:latin typeface="Times New Roman" pitchFamily="18" charset="0"/>
              </a:rPr>
              <a:t> </a:t>
            </a:r>
            <a:r>
              <a:rPr lang="en-US" sz="3600" i="0" dirty="0" err="1">
                <a:solidFill>
                  <a:schemeClr val="tx2"/>
                </a:solidFill>
                <a:latin typeface="Times New Roman" pitchFamily="18" charset="0"/>
              </a:rPr>
              <a:t>đĩa</a:t>
            </a:r>
            <a:r>
              <a:rPr lang="en-US" sz="3600" i="0" dirty="0">
                <a:solidFill>
                  <a:schemeClr val="tx2"/>
                </a:solidFill>
                <a:latin typeface="Times New Roman" pitchFamily="18" charset="0"/>
              </a:rPr>
              <a:t>:</a:t>
            </a:r>
          </a:p>
          <a:p>
            <a:pPr>
              <a:buFontTx/>
              <a:buNone/>
            </a:pPr>
            <a:endParaRPr lang="en-US" sz="3600" i="0" dirty="0">
              <a:solidFill>
                <a:schemeClr val="tx2"/>
              </a:solidFill>
              <a:latin typeface="Times New Roman" pitchFamily="18" charset="0"/>
            </a:endParaRPr>
          </a:p>
        </p:txBody>
      </p:sp>
      <p:pic>
        <p:nvPicPr>
          <p:cNvPr id="124934" name="Picture 6"/>
          <p:cNvPicPr>
            <a:picLocks noChangeAspect="1" noChangeArrowheads="1"/>
          </p:cNvPicPr>
          <p:nvPr/>
        </p:nvPicPr>
        <p:blipFill>
          <a:blip r:embed="rId2" cstate="print"/>
          <a:srcRect/>
          <a:stretch>
            <a:fillRect/>
          </a:stretch>
        </p:blipFill>
        <p:spPr bwMode="auto">
          <a:xfrm>
            <a:off x="1828800" y="2819400"/>
            <a:ext cx="5410200" cy="3733800"/>
          </a:xfrm>
          <a:prstGeom prst="rect">
            <a:avLst/>
          </a:prstGeom>
          <a:noFill/>
        </p:spPr>
      </p:pic>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4"/>
          <p:cNvSpPr>
            <a:spLocks noGrp="1" noChangeArrowheads="1"/>
          </p:cNvSpPr>
          <p:nvPr>
            <p:ph sz="quarter" idx="1"/>
          </p:nvPr>
        </p:nvSpPr>
        <p:spPr>
          <a:xfrm>
            <a:off x="381000" y="2057400"/>
            <a:ext cx="7958138" cy="685800"/>
          </a:xfrm>
          <a:noFill/>
          <a:ln/>
        </p:spPr>
        <p:txBody>
          <a:bodyPr/>
          <a:lstStyle/>
          <a:p>
            <a:r>
              <a:rPr lang="en-US" i="0" dirty="0" err="1">
                <a:solidFill>
                  <a:schemeClr val="tx2"/>
                </a:solidFill>
                <a:latin typeface="Times New Roman" pitchFamily="18" charset="0"/>
              </a:rPr>
              <a:t>Mật</a:t>
            </a:r>
            <a:r>
              <a:rPr lang="en-US" i="0" dirty="0">
                <a:solidFill>
                  <a:schemeClr val="tx2"/>
                </a:solidFill>
                <a:latin typeface="Times New Roman" pitchFamily="18" charset="0"/>
              </a:rPr>
              <a:t> </a:t>
            </a:r>
            <a:r>
              <a:rPr lang="en-US" i="0" dirty="0" err="1">
                <a:solidFill>
                  <a:schemeClr val="tx2"/>
                </a:solidFill>
                <a:latin typeface="Times New Roman" pitchFamily="18" charset="0"/>
              </a:rPr>
              <a:t>độ</a:t>
            </a:r>
            <a:r>
              <a:rPr lang="en-US" i="0" dirty="0">
                <a:solidFill>
                  <a:schemeClr val="tx2"/>
                </a:solidFill>
                <a:latin typeface="Times New Roman" pitchFamily="18" charset="0"/>
              </a:rPr>
              <a:t> </a:t>
            </a:r>
            <a:r>
              <a:rPr lang="en-US" i="0" dirty="0" err="1">
                <a:solidFill>
                  <a:schemeClr val="tx2"/>
                </a:solidFill>
                <a:latin typeface="Times New Roman" pitchFamily="18" charset="0"/>
              </a:rPr>
              <a:t>lưu</a:t>
            </a:r>
            <a:r>
              <a:rPr lang="en-US" i="0" dirty="0">
                <a:solidFill>
                  <a:schemeClr val="tx2"/>
                </a:solidFill>
                <a:latin typeface="Times New Roman" pitchFamily="18" charset="0"/>
              </a:rPr>
              <a:t> </a:t>
            </a:r>
            <a:r>
              <a:rPr lang="en-US" i="0" dirty="0" err="1">
                <a:solidFill>
                  <a:schemeClr val="tx2"/>
                </a:solidFill>
                <a:latin typeface="Times New Roman" pitchFamily="18" charset="0"/>
              </a:rPr>
              <a:t>trữ</a:t>
            </a:r>
            <a:r>
              <a:rPr lang="en-US" i="0" dirty="0">
                <a:solidFill>
                  <a:schemeClr val="tx2"/>
                </a:solidFill>
                <a:latin typeface="Times New Roman" pitchFamily="18" charset="0"/>
              </a:rPr>
              <a:t> </a:t>
            </a:r>
            <a:r>
              <a:rPr lang="en-US" i="0" dirty="0" err="1">
                <a:solidFill>
                  <a:schemeClr val="tx2"/>
                </a:solidFill>
                <a:latin typeface="Times New Roman" pitchFamily="18" charset="0"/>
              </a:rPr>
              <a:t>cao</a:t>
            </a:r>
            <a:endParaRPr lang="en-US" i="0" dirty="0">
              <a:solidFill>
                <a:schemeClr val="tx2"/>
              </a:solidFill>
              <a:latin typeface="Times New Roman" pitchFamily="18" charset="0"/>
            </a:endParaRPr>
          </a:p>
        </p:txBody>
      </p:sp>
      <p:pic>
        <p:nvPicPr>
          <p:cNvPr id="125958" name="Picture 6"/>
          <p:cNvPicPr>
            <a:picLocks noChangeAspect="1" noChangeArrowheads="1"/>
          </p:cNvPicPr>
          <p:nvPr/>
        </p:nvPicPr>
        <p:blipFill>
          <a:blip r:embed="rId2" cstate="print"/>
          <a:srcRect/>
          <a:stretch>
            <a:fillRect/>
          </a:stretch>
        </p:blipFill>
        <p:spPr bwMode="auto">
          <a:xfrm>
            <a:off x="609600" y="3048000"/>
            <a:ext cx="7848600" cy="2914650"/>
          </a:xfrm>
          <a:prstGeom prst="rect">
            <a:avLst/>
          </a:prstGeom>
          <a:noFill/>
        </p:spPr>
      </p:pic>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0" name="Rectangle 4"/>
          <p:cNvSpPr>
            <a:spLocks noGrp="1" noChangeArrowheads="1"/>
          </p:cNvSpPr>
          <p:nvPr>
            <p:ph sz="quarter" idx="1"/>
          </p:nvPr>
        </p:nvSpPr>
        <p:spPr>
          <a:xfrm>
            <a:off x="381000" y="2209800"/>
            <a:ext cx="7958138" cy="604838"/>
          </a:xfrm>
          <a:noFill/>
          <a:ln/>
        </p:spPr>
        <p:txBody>
          <a:bodyPr>
            <a:normAutofit/>
          </a:bodyPr>
          <a:lstStyle/>
          <a:p>
            <a:r>
              <a:rPr lang="en-US" i="0" dirty="0" err="1">
                <a:solidFill>
                  <a:schemeClr val="tx2"/>
                </a:solidFill>
                <a:latin typeface="Times New Roman" pitchFamily="18" charset="0"/>
              </a:rPr>
              <a:t>Nhiều</a:t>
            </a:r>
            <a:r>
              <a:rPr lang="en-US" i="0" dirty="0">
                <a:solidFill>
                  <a:schemeClr val="tx2"/>
                </a:solidFill>
                <a:latin typeface="Times New Roman" pitchFamily="18" charset="0"/>
              </a:rPr>
              <a:t> </a:t>
            </a:r>
            <a:r>
              <a:rPr lang="en-US" i="0" dirty="0" err="1">
                <a:solidFill>
                  <a:schemeClr val="tx2"/>
                </a:solidFill>
                <a:latin typeface="Times New Roman" pitchFamily="18" charset="0"/>
              </a:rPr>
              <a:t>lớp</a:t>
            </a:r>
            <a:endParaRPr lang="en-US" i="0" dirty="0">
              <a:solidFill>
                <a:schemeClr val="tx2"/>
              </a:solidFill>
              <a:latin typeface="Times New Roman" pitchFamily="18" charset="0"/>
            </a:endParaRPr>
          </a:p>
        </p:txBody>
      </p:sp>
      <p:pic>
        <p:nvPicPr>
          <p:cNvPr id="126982" name="Picture 6"/>
          <p:cNvPicPr>
            <a:picLocks noChangeAspect="1" noChangeArrowheads="1"/>
          </p:cNvPicPr>
          <p:nvPr/>
        </p:nvPicPr>
        <p:blipFill>
          <a:blip r:embed="rId2" cstate="print"/>
          <a:srcRect/>
          <a:stretch>
            <a:fillRect/>
          </a:stretch>
        </p:blipFill>
        <p:spPr bwMode="auto">
          <a:xfrm>
            <a:off x="381000" y="3200400"/>
            <a:ext cx="8382000" cy="2971800"/>
          </a:xfrm>
          <a:prstGeom prst="rect">
            <a:avLst/>
          </a:prstGeom>
          <a:noFill/>
        </p:spPr>
      </p:pic>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Một</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số</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đặc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điểm</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4" name="Rectangle 4"/>
          <p:cNvSpPr>
            <a:spLocks noGrp="1" noChangeArrowheads="1"/>
          </p:cNvSpPr>
          <p:nvPr>
            <p:ph sz="quarter" idx="1"/>
          </p:nvPr>
        </p:nvSpPr>
        <p:spPr>
          <a:xfrm>
            <a:off x="457200" y="1981200"/>
            <a:ext cx="8334375" cy="4114800"/>
          </a:xfrm>
          <a:noFill/>
          <a:ln/>
        </p:spPr>
        <p:txBody>
          <a:bodyPr>
            <a:normAutofit/>
          </a:bodyPr>
          <a:lstStyle/>
          <a:p>
            <a:r>
              <a:rPr lang="en-US" sz="3200" i="0" dirty="0" err="1">
                <a:latin typeface="Times New Roman" pitchFamily="18" charset="0"/>
              </a:rPr>
              <a:t>Tất</a:t>
            </a:r>
            <a:r>
              <a:rPr lang="en-US" sz="3200" i="0" dirty="0">
                <a:latin typeface="Times New Roman" pitchFamily="18" charset="0"/>
              </a:rPr>
              <a:t> </a:t>
            </a:r>
            <a:r>
              <a:rPr lang="en-US" sz="3200" i="0" dirty="0" err="1">
                <a:latin typeface="Times New Roman" pitchFamily="18" charset="0"/>
              </a:rPr>
              <a:t>cả</a:t>
            </a:r>
            <a:r>
              <a:rPr lang="en-US" sz="3200" i="0" dirty="0">
                <a:latin typeface="Times New Roman" pitchFamily="18" charset="0"/>
              </a:rPr>
              <a:t> </a:t>
            </a:r>
            <a:r>
              <a:rPr lang="en-US" sz="3200" i="0" dirty="0" err="1">
                <a:latin typeface="Times New Roman" pitchFamily="18" charset="0"/>
              </a:rPr>
              <a:t>các</a:t>
            </a:r>
            <a:r>
              <a:rPr lang="en-US" sz="3200" i="0" dirty="0">
                <a:latin typeface="Times New Roman" pitchFamily="18" charset="0"/>
              </a:rPr>
              <a:t> </a:t>
            </a:r>
            <a:r>
              <a:rPr lang="en-US" sz="3200" i="0" dirty="0" err="1">
                <a:latin typeface="Times New Roman" pitchFamily="18" charset="0"/>
              </a:rPr>
              <a:t>loại</a:t>
            </a:r>
            <a:r>
              <a:rPr lang="en-US" sz="3200" i="0" dirty="0">
                <a:latin typeface="Times New Roman" pitchFamily="18" charset="0"/>
              </a:rPr>
              <a:t> DVD-5 </a:t>
            </a:r>
            <a:r>
              <a:rPr lang="en-US" sz="3200" i="0" dirty="0" err="1">
                <a:latin typeface="Times New Roman" pitchFamily="18" charset="0"/>
              </a:rPr>
              <a:t>đến</a:t>
            </a:r>
            <a:r>
              <a:rPr lang="en-US" sz="3200" i="0" dirty="0">
                <a:latin typeface="Times New Roman" pitchFamily="18" charset="0"/>
              </a:rPr>
              <a:t> DVD-8 </a:t>
            </a:r>
            <a:r>
              <a:rPr lang="en-US" sz="3200" i="0" dirty="0" err="1">
                <a:latin typeface="Times New Roman" pitchFamily="18" charset="0"/>
              </a:rPr>
              <a:t>thì</a:t>
            </a:r>
            <a:r>
              <a:rPr lang="en-US" sz="3200" i="0" dirty="0">
                <a:latin typeface="Times New Roman" pitchFamily="18" charset="0"/>
              </a:rPr>
              <a:t> </a:t>
            </a:r>
            <a:r>
              <a:rPr lang="en-US" sz="3200" i="0" dirty="0" err="1">
                <a:latin typeface="Times New Roman" pitchFamily="18" charset="0"/>
              </a:rPr>
              <a:t>cũng</a:t>
            </a:r>
            <a:r>
              <a:rPr lang="en-US" sz="3200" i="0" dirty="0">
                <a:latin typeface="Times New Roman" pitchFamily="18" charset="0"/>
              </a:rPr>
              <a:t> </a:t>
            </a:r>
            <a:r>
              <a:rPr lang="en-US" sz="3200" i="0" dirty="0" err="1">
                <a:latin typeface="Times New Roman" pitchFamily="18" charset="0"/>
              </a:rPr>
              <a:t>tương</a:t>
            </a:r>
            <a:r>
              <a:rPr lang="en-US" sz="3200" i="0" dirty="0">
                <a:latin typeface="Times New Roman" pitchFamily="18" charset="0"/>
              </a:rPr>
              <a:t> </a:t>
            </a:r>
            <a:r>
              <a:rPr lang="en-US" sz="3200" i="0" dirty="0" err="1">
                <a:latin typeface="Times New Roman" pitchFamily="18" charset="0"/>
              </a:rPr>
              <a:t>tự</a:t>
            </a:r>
            <a:r>
              <a:rPr lang="en-US" sz="3200" i="0" dirty="0">
                <a:latin typeface="Times New Roman" pitchFamily="18" charset="0"/>
              </a:rPr>
              <a:t> </a:t>
            </a:r>
            <a:r>
              <a:rPr lang="en-US" sz="3200" i="0" dirty="0" err="1">
                <a:latin typeface="Times New Roman" pitchFamily="18" charset="0"/>
              </a:rPr>
              <a:t>như</a:t>
            </a:r>
            <a:r>
              <a:rPr lang="en-US" sz="3200" i="0" dirty="0">
                <a:latin typeface="Times New Roman" pitchFamily="18" charset="0"/>
              </a:rPr>
              <a:t> ở CD.</a:t>
            </a:r>
          </a:p>
          <a:p>
            <a:r>
              <a:rPr lang="en-US" sz="3200" i="0" dirty="0" err="1">
                <a:latin typeface="Times New Roman" pitchFamily="18" charset="0"/>
              </a:rPr>
              <a:t>Có</a:t>
            </a:r>
            <a:r>
              <a:rPr lang="en-US" sz="3200" i="0" dirty="0">
                <a:latin typeface="Times New Roman" pitchFamily="18" charset="0"/>
              </a:rPr>
              <a:t> </a:t>
            </a:r>
            <a:r>
              <a:rPr lang="en-US" sz="3200" i="0" dirty="0" err="1">
                <a:latin typeface="Times New Roman" pitchFamily="18" charset="0"/>
              </a:rPr>
              <a:t>một</a:t>
            </a:r>
            <a:r>
              <a:rPr lang="en-US" sz="3200" i="0" dirty="0">
                <a:latin typeface="Times New Roman" pitchFamily="18" charset="0"/>
              </a:rPr>
              <a:t>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kim</a:t>
            </a:r>
            <a:r>
              <a:rPr lang="en-US" sz="3200" i="0" dirty="0">
                <a:latin typeface="Times New Roman" pitchFamily="18" charset="0"/>
              </a:rPr>
              <a:t> </a:t>
            </a:r>
            <a:r>
              <a:rPr lang="en-US" sz="3200" i="0" dirty="0" err="1">
                <a:latin typeface="Times New Roman" pitchFamily="18" charset="0"/>
              </a:rPr>
              <a:t>loại</a:t>
            </a:r>
            <a:r>
              <a:rPr lang="en-US" sz="3200" i="0" dirty="0">
                <a:latin typeface="Times New Roman" pitchFamily="18" charset="0"/>
              </a:rPr>
              <a:t> </a:t>
            </a:r>
            <a:r>
              <a:rPr lang="en-US" sz="3200" i="0" dirty="0" err="1">
                <a:latin typeface="Times New Roman" pitchFamily="18" charset="0"/>
              </a:rPr>
              <a:t>mỏng</a:t>
            </a:r>
            <a:r>
              <a:rPr lang="en-US" sz="3200" i="0" dirty="0">
                <a:latin typeface="Times New Roman" pitchFamily="18" charset="0"/>
              </a:rPr>
              <a:t> </a:t>
            </a:r>
            <a:r>
              <a:rPr lang="en-US" sz="3200" i="0" dirty="0" err="1">
                <a:latin typeface="Times New Roman" pitchFamily="18" charset="0"/>
              </a:rPr>
              <a:t>để</a:t>
            </a:r>
            <a:r>
              <a:rPr lang="en-US" sz="3200" i="0" dirty="0">
                <a:latin typeface="Times New Roman" pitchFamily="18" charset="0"/>
              </a:rPr>
              <a:t> </a:t>
            </a:r>
            <a:r>
              <a:rPr lang="en-US" sz="3200" i="0" dirty="0" err="1">
                <a:latin typeface="Times New Roman" pitchFamily="18" charset="0"/>
              </a:rPr>
              <a:t>phản</a:t>
            </a:r>
            <a:r>
              <a:rPr lang="en-US" sz="3200" i="0" dirty="0">
                <a:latin typeface="Times New Roman" pitchFamily="18" charset="0"/>
              </a:rPr>
              <a:t> </a:t>
            </a:r>
            <a:r>
              <a:rPr lang="en-US" sz="3200" i="0" dirty="0" err="1">
                <a:latin typeface="Times New Roman" pitchFamily="18" charset="0"/>
              </a:rPr>
              <a:t>xạ</a:t>
            </a:r>
            <a:r>
              <a:rPr lang="en-US" sz="3200" i="0" dirty="0">
                <a:latin typeface="Times New Roman" pitchFamily="18" charset="0"/>
              </a:rPr>
              <a:t> </a:t>
            </a:r>
            <a:r>
              <a:rPr lang="en-US" sz="3200" i="0" dirty="0" err="1">
                <a:latin typeface="Times New Roman" pitchFamily="18" charset="0"/>
              </a:rPr>
              <a:t>chùm</a:t>
            </a:r>
            <a:r>
              <a:rPr lang="en-US" sz="3200" i="0" dirty="0">
                <a:latin typeface="Times New Roman" pitchFamily="18" charset="0"/>
              </a:rPr>
              <a:t> </a:t>
            </a:r>
            <a:r>
              <a:rPr lang="en-US" sz="3200" i="0" dirty="0" err="1">
                <a:latin typeface="Times New Roman" pitchFamily="18" charset="0"/>
              </a:rPr>
              <a:t>sáng</a:t>
            </a:r>
            <a:r>
              <a:rPr lang="en-US" sz="3200" i="0" dirty="0">
                <a:latin typeface="Times New Roman" pitchFamily="18" charset="0"/>
              </a:rPr>
              <a:t> Laser </a:t>
            </a:r>
            <a:r>
              <a:rPr lang="en-US" sz="3200" i="0" dirty="0" err="1">
                <a:latin typeface="Times New Roman" pitchFamily="18" charset="0"/>
              </a:rPr>
              <a:t>lại</a:t>
            </a:r>
            <a:r>
              <a:rPr lang="en-US" sz="3200" i="0" dirty="0">
                <a:latin typeface="Times New Roman" pitchFamily="18" charset="0"/>
              </a:rPr>
              <a:t> </a:t>
            </a:r>
            <a:r>
              <a:rPr lang="en-US" sz="3200" i="0" dirty="0" err="1">
                <a:latin typeface="Times New Roman" pitchFamily="18" charset="0"/>
              </a:rPr>
              <a:t>cho</a:t>
            </a:r>
            <a:r>
              <a:rPr lang="en-US" sz="3200" i="0" dirty="0">
                <a:latin typeface="Times New Roman" pitchFamily="18" charset="0"/>
              </a:rPr>
              <a:t> sensor </a:t>
            </a:r>
            <a:r>
              <a:rPr lang="en-US" sz="3200" i="0" dirty="0" err="1">
                <a:latin typeface="Times New Roman" pitchFamily="18" charset="0"/>
              </a:rPr>
              <a:t>quang</a:t>
            </a:r>
            <a:r>
              <a:rPr lang="en-US" sz="3200" i="0" dirty="0">
                <a:latin typeface="Times New Roman" pitchFamily="18" charset="0"/>
              </a:rPr>
              <a:t>. </a:t>
            </a:r>
            <a:r>
              <a:rPr lang="en-US" sz="3200" i="0" dirty="0" err="1">
                <a:latin typeface="Times New Roman" pitchFamily="18" charset="0"/>
              </a:rPr>
              <a:t>Một</a:t>
            </a:r>
            <a:r>
              <a:rPr lang="en-US" sz="3200" i="0" dirty="0">
                <a:latin typeface="Times New Roman" pitchFamily="18" charset="0"/>
              </a:rPr>
              <a:t> </a:t>
            </a:r>
            <a:r>
              <a:rPr lang="en-US" sz="3200" i="0" dirty="0" err="1">
                <a:latin typeface="Times New Roman" pitchFamily="18" charset="0"/>
              </a:rPr>
              <a:t>mặt</a:t>
            </a:r>
            <a:r>
              <a:rPr lang="en-US" sz="3200" i="0" dirty="0">
                <a:latin typeface="Times New Roman" pitchFamily="18" charset="0"/>
              </a:rPr>
              <a:t> </a:t>
            </a:r>
            <a:r>
              <a:rPr lang="en-US" sz="3200" i="0" dirty="0" err="1">
                <a:latin typeface="Times New Roman" pitchFamily="18" charset="0"/>
              </a:rPr>
              <a:t>để</a:t>
            </a:r>
            <a:r>
              <a:rPr lang="en-US" sz="3200" i="0" dirty="0">
                <a:latin typeface="Times New Roman" pitchFamily="18" charset="0"/>
              </a:rPr>
              <a:t> </a:t>
            </a:r>
            <a:r>
              <a:rPr lang="en-US" sz="3200" i="0" dirty="0" err="1">
                <a:latin typeface="Times New Roman" pitchFamily="18" charset="0"/>
              </a:rPr>
              <a:t>trống</a:t>
            </a:r>
            <a:r>
              <a:rPr lang="en-US" sz="3200" i="0" dirty="0">
                <a:latin typeface="Times New Roman" pitchFamily="18" charset="0"/>
              </a:rPr>
              <a:t>.</a:t>
            </a:r>
          </a:p>
          <a:p>
            <a:r>
              <a:rPr lang="en-US" sz="3200" i="0" dirty="0" err="1">
                <a:latin typeface="Times New Roman" pitchFamily="18" charset="0"/>
              </a:rPr>
              <a:t>Kích</a:t>
            </a:r>
            <a:r>
              <a:rPr lang="en-US" sz="3200" i="0" dirty="0">
                <a:latin typeface="Times New Roman" pitchFamily="18" charset="0"/>
              </a:rPr>
              <a:t> </a:t>
            </a:r>
            <a:r>
              <a:rPr lang="en-US" sz="3200" i="0" dirty="0" err="1">
                <a:latin typeface="Times New Roman" pitchFamily="18" charset="0"/>
              </a:rPr>
              <a:t>cỡ</a:t>
            </a:r>
            <a:r>
              <a:rPr lang="en-US" sz="3200" i="0" dirty="0">
                <a:latin typeface="Times New Roman" pitchFamily="18" charset="0"/>
              </a:rPr>
              <a:t> </a:t>
            </a:r>
            <a:r>
              <a:rPr lang="en-US" sz="3200" i="0" dirty="0" err="1">
                <a:latin typeface="Times New Roman" pitchFamily="18" charset="0"/>
              </a:rPr>
              <a:t>của</a:t>
            </a:r>
            <a:r>
              <a:rPr lang="en-US" sz="3200" i="0" dirty="0">
                <a:latin typeface="Times New Roman" pitchFamily="18" charset="0"/>
              </a:rPr>
              <a:t> </a:t>
            </a:r>
            <a:r>
              <a:rPr lang="en-US" sz="3200" i="0" dirty="0" err="1">
                <a:latin typeface="Times New Roman" pitchFamily="18" charset="0"/>
              </a:rPr>
              <a:t>khe</a:t>
            </a:r>
            <a:r>
              <a:rPr lang="en-US" sz="3200" i="0" dirty="0">
                <a:latin typeface="Times New Roman" pitchFamily="18" charset="0"/>
              </a:rPr>
              <a:t> </a:t>
            </a:r>
            <a:r>
              <a:rPr lang="en-US" sz="3200" i="0" dirty="0" err="1">
                <a:latin typeface="Times New Roman" pitchFamily="18" charset="0"/>
              </a:rPr>
              <a:t>nhỏ</a:t>
            </a:r>
            <a:r>
              <a:rPr lang="en-US" sz="3200" i="0" dirty="0">
                <a:latin typeface="Times New Roman" pitchFamily="18" charset="0"/>
              </a:rPr>
              <a:t> </a:t>
            </a:r>
            <a:r>
              <a:rPr lang="en-US" sz="3200" i="0" dirty="0" err="1">
                <a:latin typeface="Times New Roman" pitchFamily="18" charset="0"/>
              </a:rPr>
              <a:t>hơn</a:t>
            </a:r>
            <a:r>
              <a:rPr lang="en-US" sz="3200" i="0" dirty="0">
                <a:latin typeface="Times New Roman" pitchFamily="18" charset="0"/>
              </a:rPr>
              <a:t>, bit </a:t>
            </a:r>
            <a:r>
              <a:rPr lang="en-US" sz="3200" i="0" dirty="0" err="1">
                <a:latin typeface="Times New Roman" pitchFamily="18" charset="0"/>
              </a:rPr>
              <a:t>nhỏ</a:t>
            </a:r>
            <a:r>
              <a:rPr lang="en-US" sz="3200" i="0" dirty="0">
                <a:latin typeface="Times New Roman" pitchFamily="18" charset="0"/>
              </a:rPr>
              <a:t> </a:t>
            </a:r>
            <a:r>
              <a:rPr lang="en-US" sz="3200" i="0" dirty="0" err="1">
                <a:latin typeface="Times New Roman" pitchFamily="18" charset="0"/>
              </a:rPr>
              <a:t>hơn</a:t>
            </a:r>
            <a:r>
              <a:rPr lang="en-US" sz="3200" i="0" dirty="0">
                <a:latin typeface="Times New Roman" pitchFamily="18" charset="0"/>
              </a:rPr>
              <a:t> </a:t>
            </a:r>
            <a:r>
              <a:rPr lang="en-US" sz="3200" i="0" dirty="0" err="1">
                <a:latin typeface="Times New Roman" pitchFamily="18" charset="0"/>
              </a:rPr>
              <a:t>và</a:t>
            </a:r>
            <a:r>
              <a:rPr lang="en-US" sz="3200" i="0" dirty="0">
                <a:latin typeface="Times New Roman" pitchFamily="18" charset="0"/>
              </a:rPr>
              <a:t> track </a:t>
            </a:r>
            <a:r>
              <a:rPr lang="en-US" sz="3200" i="0" dirty="0" err="1">
                <a:latin typeface="Times New Roman" pitchFamily="18" charset="0"/>
              </a:rPr>
              <a:t>khít</a:t>
            </a:r>
            <a:r>
              <a:rPr lang="en-US" sz="3200" i="0" dirty="0">
                <a:latin typeface="Times New Roman" pitchFamily="18" charset="0"/>
              </a:rPr>
              <a:t> </a:t>
            </a:r>
            <a:r>
              <a:rPr lang="en-US" sz="3200" i="0" dirty="0" err="1">
                <a:latin typeface="Times New Roman" pitchFamily="18" charset="0"/>
              </a:rPr>
              <a:t>hơn</a:t>
            </a:r>
            <a:r>
              <a:rPr lang="en-US" sz="3200" i="0" dirty="0">
                <a:latin typeface="Times New Roman" pitchFamily="18" charset="0"/>
              </a:rPr>
              <a:t> so </a:t>
            </a:r>
            <a:r>
              <a:rPr lang="en-US" sz="3200" i="0" dirty="0" err="1">
                <a:latin typeface="Times New Roman" pitchFamily="18" charset="0"/>
              </a:rPr>
              <a:t>với</a:t>
            </a:r>
            <a:r>
              <a:rPr lang="en-US" sz="3200" i="0" dirty="0">
                <a:latin typeface="Times New Roman" pitchFamily="18" charset="0"/>
              </a:rPr>
              <a:t> ở CD.</a:t>
            </a:r>
            <a:endParaRPr lang="en-US" sz="3200" i="0" dirty="0">
              <a:latin typeface="Times New Roman" pitchFamily="18" charset="0"/>
              <a:cs typeface="Times New Roman" pitchFamily="18" charset="0"/>
            </a:endParaRP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Các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loại</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8" name="Rectangle 4"/>
          <p:cNvSpPr>
            <a:spLocks noGrp="1" noChangeArrowheads="1"/>
          </p:cNvSpPr>
          <p:nvPr>
            <p:ph sz="quarter" idx="1"/>
          </p:nvPr>
        </p:nvSpPr>
        <p:spPr>
          <a:xfrm>
            <a:off x="381000" y="1676400"/>
            <a:ext cx="3657600" cy="609600"/>
          </a:xfrm>
          <a:noFill/>
          <a:ln/>
        </p:spPr>
        <p:txBody>
          <a:bodyPr>
            <a:normAutofit/>
          </a:bodyPr>
          <a:lstStyle/>
          <a:p>
            <a:r>
              <a:rPr lang="en-US" i="0" dirty="0">
                <a:solidFill>
                  <a:schemeClr val="tx2"/>
                </a:solidFill>
                <a:latin typeface="Times New Roman" pitchFamily="18" charset="0"/>
              </a:rPr>
              <a:t>Minh </a:t>
            </a:r>
            <a:r>
              <a:rPr lang="en-US" i="0" dirty="0" err="1">
                <a:solidFill>
                  <a:schemeClr val="tx2"/>
                </a:solidFill>
                <a:latin typeface="Times New Roman" pitchFamily="18" charset="0"/>
              </a:rPr>
              <a:t>họa</a:t>
            </a:r>
            <a:r>
              <a:rPr lang="en-US" i="0" dirty="0">
                <a:solidFill>
                  <a:schemeClr val="tx2"/>
                </a:solidFill>
                <a:latin typeface="Times New Roman" pitchFamily="18" charset="0"/>
              </a:rPr>
              <a:t> </a:t>
            </a:r>
            <a:r>
              <a:rPr lang="en-US" i="0" dirty="0" err="1">
                <a:solidFill>
                  <a:schemeClr val="tx2"/>
                </a:solidFill>
                <a:latin typeface="Times New Roman" pitchFamily="18" charset="0"/>
              </a:rPr>
              <a:t>cấu</a:t>
            </a:r>
            <a:r>
              <a:rPr lang="en-US" i="0" dirty="0">
                <a:solidFill>
                  <a:schemeClr val="tx2"/>
                </a:solidFill>
                <a:latin typeface="Times New Roman" pitchFamily="18" charset="0"/>
              </a:rPr>
              <a:t> </a:t>
            </a:r>
            <a:r>
              <a:rPr lang="en-US" i="0" dirty="0" err="1">
                <a:solidFill>
                  <a:schemeClr val="tx2"/>
                </a:solidFill>
                <a:latin typeface="Times New Roman" pitchFamily="18" charset="0"/>
              </a:rPr>
              <a:t>tạo</a:t>
            </a:r>
            <a:r>
              <a:rPr lang="en-US" i="0" dirty="0">
                <a:solidFill>
                  <a:schemeClr val="tx2"/>
                </a:solidFill>
                <a:latin typeface="Times New Roman" pitchFamily="18" charset="0"/>
              </a:rPr>
              <a:t>:</a:t>
            </a:r>
            <a:endParaRPr lang="en-US" sz="3600" i="0" dirty="0">
              <a:solidFill>
                <a:schemeClr val="tx2"/>
              </a:solidFill>
              <a:latin typeface="Times New Roman" pitchFamily="18" charset="0"/>
            </a:endParaRPr>
          </a:p>
        </p:txBody>
      </p:sp>
      <p:pic>
        <p:nvPicPr>
          <p:cNvPr id="129030" name="Picture 6"/>
          <p:cNvPicPr>
            <a:picLocks noChangeAspect="1" noChangeArrowheads="1"/>
          </p:cNvPicPr>
          <p:nvPr/>
        </p:nvPicPr>
        <p:blipFill>
          <a:blip r:embed="rId2" cstate="print"/>
          <a:srcRect/>
          <a:stretch>
            <a:fillRect/>
          </a:stretch>
        </p:blipFill>
        <p:spPr bwMode="auto">
          <a:xfrm>
            <a:off x="1752600" y="2514600"/>
            <a:ext cx="5943600" cy="4167188"/>
          </a:xfrm>
          <a:prstGeom prst="rect">
            <a:avLst/>
          </a:prstGeom>
          <a:noFill/>
        </p:spPr>
      </p:pic>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Các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loại</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Rectangle 4"/>
          <p:cNvSpPr>
            <a:spLocks noGrp="1" noChangeArrowheads="1"/>
          </p:cNvSpPr>
          <p:nvPr>
            <p:ph sz="quarter" idx="1"/>
          </p:nvPr>
        </p:nvSpPr>
        <p:spPr>
          <a:xfrm>
            <a:off x="533400" y="1905000"/>
            <a:ext cx="8334375" cy="4643438"/>
          </a:xfrm>
          <a:noFill/>
          <a:ln/>
        </p:spPr>
        <p:txBody>
          <a:bodyPr>
            <a:normAutofit/>
          </a:bodyPr>
          <a:lstStyle/>
          <a:p>
            <a:r>
              <a:rPr lang="en-US" sz="3200" i="0" dirty="0" err="1">
                <a:latin typeface="Times New Roman" pitchFamily="18" charset="0"/>
              </a:rPr>
              <a:t>Sự</a:t>
            </a:r>
            <a:r>
              <a:rPr lang="en-US" sz="3200" i="0" dirty="0">
                <a:latin typeface="Times New Roman" pitchFamily="18" charset="0"/>
              </a:rPr>
              <a:t> </a:t>
            </a:r>
            <a:r>
              <a:rPr lang="en-US" sz="3200" i="0" dirty="0" err="1">
                <a:latin typeface="Times New Roman" pitchFamily="18" charset="0"/>
              </a:rPr>
              <a:t>giống</a:t>
            </a:r>
            <a:r>
              <a:rPr lang="en-US" sz="3200" i="0" dirty="0">
                <a:latin typeface="Times New Roman" pitchFamily="18" charset="0"/>
              </a:rPr>
              <a:t> </a:t>
            </a:r>
            <a:r>
              <a:rPr lang="en-US" sz="3200" i="0" dirty="0" err="1">
                <a:latin typeface="Times New Roman" pitchFamily="18" charset="0"/>
              </a:rPr>
              <a:t>nhau</a:t>
            </a:r>
            <a:r>
              <a:rPr lang="en-US" sz="3200" i="0" dirty="0">
                <a:latin typeface="Times New Roman" pitchFamily="18" charset="0"/>
              </a:rPr>
              <a:t> </a:t>
            </a:r>
            <a:r>
              <a:rPr lang="en-US" sz="3200" i="0" dirty="0" err="1">
                <a:latin typeface="Times New Roman" pitchFamily="18" charset="0"/>
              </a:rPr>
              <a:t>giữa</a:t>
            </a:r>
            <a:r>
              <a:rPr lang="en-US" sz="3200" i="0" dirty="0">
                <a:latin typeface="Times New Roman" pitchFamily="18" charset="0"/>
              </a:rPr>
              <a:t> CD </a:t>
            </a:r>
            <a:r>
              <a:rPr lang="en-US" sz="3200" i="0" dirty="0" err="1">
                <a:latin typeface="Times New Roman" pitchFamily="18" charset="0"/>
              </a:rPr>
              <a:t>và</a:t>
            </a:r>
            <a:r>
              <a:rPr lang="en-US" sz="3200" i="0" dirty="0">
                <a:latin typeface="Times New Roman" pitchFamily="18" charset="0"/>
              </a:rPr>
              <a:t> DVD </a:t>
            </a:r>
            <a:r>
              <a:rPr lang="en-US" sz="3200" i="0" dirty="0" err="1">
                <a:latin typeface="Times New Roman" pitchFamily="18" charset="0"/>
              </a:rPr>
              <a:t>càng</a:t>
            </a:r>
            <a:r>
              <a:rPr lang="en-US" sz="3200" i="0" dirty="0">
                <a:latin typeface="Times New Roman" pitchFamily="18" charset="0"/>
              </a:rPr>
              <a:t> </a:t>
            </a:r>
            <a:r>
              <a:rPr lang="en-US" sz="3200" i="0" dirty="0" err="1">
                <a:latin typeface="Times New Roman" pitchFamily="18" charset="0"/>
              </a:rPr>
              <a:t>ít</a:t>
            </a:r>
            <a:r>
              <a:rPr lang="en-US" sz="3200" i="0" dirty="0">
                <a:latin typeface="Times New Roman" pitchFamily="18" charset="0"/>
              </a:rPr>
              <a:t> </a:t>
            </a:r>
            <a:r>
              <a:rPr lang="en-US" sz="3200" i="0" dirty="0" err="1">
                <a:latin typeface="Times New Roman" pitchFamily="18" charset="0"/>
              </a:rPr>
              <a:t>hơn</a:t>
            </a:r>
            <a:r>
              <a:rPr lang="en-US" sz="3200" i="0" dirty="0">
                <a:latin typeface="Times New Roman" pitchFamily="18" charset="0"/>
              </a:rPr>
              <a:t> </a:t>
            </a:r>
            <a:r>
              <a:rPr lang="en-US" sz="3200" i="0" dirty="0" err="1">
                <a:latin typeface="Times New Roman" pitchFamily="18" charset="0"/>
              </a:rPr>
              <a:t>đối</a:t>
            </a:r>
            <a:r>
              <a:rPr lang="en-US" sz="3200" i="0" dirty="0">
                <a:latin typeface="Times New Roman" pitchFamily="18" charset="0"/>
              </a:rPr>
              <a:t> </a:t>
            </a:r>
            <a:r>
              <a:rPr lang="en-US" sz="3200" i="0" dirty="0" err="1">
                <a:latin typeface="Times New Roman" pitchFamily="18" charset="0"/>
              </a:rPr>
              <a:t>với</a:t>
            </a:r>
            <a:r>
              <a:rPr lang="en-US" sz="3200" i="0" dirty="0">
                <a:latin typeface="Times New Roman" pitchFamily="18" charset="0"/>
              </a:rPr>
              <a:t> </a:t>
            </a:r>
            <a:r>
              <a:rPr lang="en-US" sz="3200" i="0" dirty="0" err="1">
                <a:latin typeface="Times New Roman" pitchFamily="18" charset="0"/>
              </a:rPr>
              <a:t>loại</a:t>
            </a:r>
            <a:r>
              <a:rPr lang="en-US" sz="3200" i="0" dirty="0">
                <a:latin typeface="Times New Roman" pitchFamily="18" charset="0"/>
              </a:rPr>
              <a:t> DVD-9, </a:t>
            </a:r>
            <a:r>
              <a:rPr lang="en-US" sz="3200" i="0" dirty="0" err="1">
                <a:latin typeface="Times New Roman" pitchFamily="18" charset="0"/>
              </a:rPr>
              <a:t>sử</a:t>
            </a:r>
            <a:r>
              <a:rPr lang="en-US" sz="3200" i="0" dirty="0">
                <a:latin typeface="Times New Roman" pitchFamily="18" charset="0"/>
              </a:rPr>
              <a:t> </a:t>
            </a:r>
            <a:r>
              <a:rPr lang="en-US" sz="3200" i="0" dirty="0" err="1">
                <a:latin typeface="Times New Roman" pitchFamily="18" charset="0"/>
              </a:rPr>
              <a:t>dụng</a:t>
            </a:r>
            <a:r>
              <a:rPr lang="en-US" sz="3200" i="0" dirty="0">
                <a:latin typeface="Times New Roman" pitchFamily="18" charset="0"/>
              </a:rPr>
              <a:t> 2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lưu</a:t>
            </a:r>
            <a:r>
              <a:rPr lang="en-US" sz="3200" i="0" dirty="0">
                <a:latin typeface="Times New Roman" pitchFamily="18" charset="0"/>
              </a:rPr>
              <a:t> </a:t>
            </a:r>
            <a:r>
              <a:rPr lang="en-US" sz="3200" i="0" dirty="0" err="1">
                <a:latin typeface="Times New Roman" pitchFamily="18" charset="0"/>
              </a:rPr>
              <a:t>trữ</a:t>
            </a:r>
            <a:r>
              <a:rPr lang="en-US" sz="3200" i="0" dirty="0">
                <a:latin typeface="Times New Roman" pitchFamily="18" charset="0"/>
              </a:rPr>
              <a:t> </a:t>
            </a:r>
            <a:r>
              <a:rPr lang="en-US" sz="3200" i="0" dirty="0" err="1">
                <a:latin typeface="Times New Roman" pitchFamily="18" charset="0"/>
              </a:rPr>
              <a:t>thông</a:t>
            </a:r>
            <a:r>
              <a:rPr lang="en-US" sz="3200" i="0" dirty="0">
                <a:latin typeface="Times New Roman" pitchFamily="18" charset="0"/>
              </a:rPr>
              <a:t> tin </a:t>
            </a:r>
            <a:r>
              <a:rPr lang="en-US" sz="3200" i="0" dirty="0" err="1">
                <a:latin typeface="Times New Roman" pitchFamily="18" charset="0"/>
              </a:rPr>
              <a:t>và</a:t>
            </a:r>
            <a:r>
              <a:rPr lang="en-US" sz="3200" i="0" dirty="0">
                <a:latin typeface="Times New Roman" pitchFamily="18" charset="0"/>
              </a:rPr>
              <a:t> 2 </a:t>
            </a:r>
            <a:r>
              <a:rPr lang="en-US" sz="3200" i="0" dirty="0" err="1">
                <a:latin typeface="Times New Roman" pitchFamily="18" charset="0"/>
              </a:rPr>
              <a:t>chùm</a:t>
            </a:r>
            <a:r>
              <a:rPr lang="en-US" sz="3200" i="0" dirty="0">
                <a:latin typeface="Times New Roman" pitchFamily="18" charset="0"/>
              </a:rPr>
              <a:t> </a:t>
            </a:r>
            <a:r>
              <a:rPr lang="en-US" sz="3200" i="0" dirty="0" err="1">
                <a:latin typeface="Times New Roman" pitchFamily="18" charset="0"/>
              </a:rPr>
              <a:t>tia</a:t>
            </a:r>
            <a:r>
              <a:rPr lang="en-US" sz="3200" i="0" dirty="0">
                <a:latin typeface="Times New Roman" pitchFamily="18" charset="0"/>
              </a:rPr>
              <a:t> Laser </a:t>
            </a:r>
            <a:r>
              <a:rPr lang="en-US" sz="3200" i="0" dirty="0" err="1">
                <a:latin typeface="Times New Roman" pitchFamily="18" charset="0"/>
              </a:rPr>
              <a:t>để</a:t>
            </a:r>
            <a:r>
              <a:rPr lang="en-US" sz="3200" i="0" dirty="0">
                <a:latin typeface="Times New Roman" pitchFamily="18" charset="0"/>
              </a:rPr>
              <a:t> </a:t>
            </a:r>
            <a:r>
              <a:rPr lang="en-US" sz="3200" i="0" dirty="0" err="1">
                <a:latin typeface="Times New Roman" pitchFamily="18" charset="0"/>
              </a:rPr>
              <a:t>lấy</a:t>
            </a:r>
            <a:r>
              <a:rPr lang="en-US" sz="3200" i="0" dirty="0">
                <a:latin typeface="Times New Roman" pitchFamily="18" charset="0"/>
              </a:rPr>
              <a:t> </a:t>
            </a:r>
            <a:r>
              <a:rPr lang="en-US" sz="3200" i="0" dirty="0" err="1">
                <a:latin typeface="Times New Roman" pitchFamily="18" charset="0"/>
              </a:rPr>
              <a:t>thông</a:t>
            </a:r>
            <a:r>
              <a:rPr lang="en-US" sz="3200" i="0" dirty="0">
                <a:latin typeface="Times New Roman" pitchFamily="18" charset="0"/>
              </a:rPr>
              <a:t> tin. </a:t>
            </a:r>
          </a:p>
          <a:p>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đầu</a:t>
            </a:r>
            <a:r>
              <a:rPr lang="en-US" sz="3200" i="0" dirty="0">
                <a:latin typeface="Times New Roman" pitchFamily="18" charset="0"/>
              </a:rPr>
              <a:t> </a:t>
            </a:r>
            <a:r>
              <a:rPr lang="en-US" sz="3200" i="0" dirty="0" err="1">
                <a:latin typeface="Times New Roman" pitchFamily="18" charset="0"/>
              </a:rPr>
              <a:t>tiên</a:t>
            </a:r>
            <a:r>
              <a:rPr lang="en-US" sz="3200" i="0" dirty="0">
                <a:latin typeface="Times New Roman" pitchFamily="18" charset="0"/>
              </a:rPr>
              <a:t> </a:t>
            </a:r>
            <a:r>
              <a:rPr lang="en-US" sz="3200" i="0" dirty="0" err="1">
                <a:latin typeface="Times New Roman" pitchFamily="18" charset="0"/>
              </a:rPr>
              <a:t>là</a:t>
            </a:r>
            <a:r>
              <a:rPr lang="en-US" sz="3200" i="0" dirty="0">
                <a:latin typeface="Times New Roman" pitchFamily="18" charset="0"/>
              </a:rPr>
              <a:t>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bán</a:t>
            </a:r>
            <a:r>
              <a:rPr lang="en-US" sz="3200" i="0" dirty="0">
                <a:latin typeface="Times New Roman" pitchFamily="18" charset="0"/>
              </a:rPr>
              <a:t> </a:t>
            </a:r>
            <a:r>
              <a:rPr lang="en-US" sz="3200" i="0" dirty="0" err="1">
                <a:latin typeface="Times New Roman" pitchFamily="18" charset="0"/>
              </a:rPr>
              <a:t>phản</a:t>
            </a:r>
            <a:r>
              <a:rPr lang="en-US" sz="3200" i="0" dirty="0">
                <a:latin typeface="Times New Roman" pitchFamily="18" charset="0"/>
              </a:rPr>
              <a:t> </a:t>
            </a:r>
            <a:r>
              <a:rPr lang="en-US" sz="3200" i="0" dirty="0" err="1">
                <a:latin typeface="Times New Roman" pitchFamily="18" charset="0"/>
              </a:rPr>
              <a:t>xạ</a:t>
            </a:r>
            <a:r>
              <a:rPr lang="en-US" sz="3200" i="0" dirty="0">
                <a:latin typeface="Times New Roman" pitchFamily="18" charset="0"/>
              </a:rPr>
              <a:t>, </a:t>
            </a:r>
            <a:r>
              <a:rPr lang="en-US" sz="3200" i="0" dirty="0" err="1">
                <a:latin typeface="Times New Roman" pitchFamily="18" charset="0"/>
              </a:rPr>
              <a:t>nó</a:t>
            </a:r>
            <a:r>
              <a:rPr lang="en-US" sz="3200" i="0" dirty="0">
                <a:latin typeface="Times New Roman" pitchFamily="18" charset="0"/>
              </a:rPr>
              <a:t> </a:t>
            </a:r>
            <a:r>
              <a:rPr lang="en-US" sz="3200" i="0" dirty="0" err="1">
                <a:latin typeface="Times New Roman" pitchFamily="18" charset="0"/>
              </a:rPr>
              <a:t>cho</a:t>
            </a:r>
            <a:r>
              <a:rPr lang="en-US" sz="3200" i="0" dirty="0">
                <a:latin typeface="Times New Roman" pitchFamily="18" charset="0"/>
              </a:rPr>
              <a:t> </a:t>
            </a:r>
            <a:r>
              <a:rPr lang="en-US" sz="3200" i="0" dirty="0" err="1">
                <a:latin typeface="Times New Roman" pitchFamily="18" charset="0"/>
              </a:rPr>
              <a:t>phép</a:t>
            </a:r>
            <a:r>
              <a:rPr lang="en-US" sz="3200" i="0" dirty="0">
                <a:latin typeface="Times New Roman" pitchFamily="18" charset="0"/>
              </a:rPr>
              <a:t> </a:t>
            </a:r>
            <a:r>
              <a:rPr lang="en-US" sz="3200" i="0" dirty="0" err="1">
                <a:latin typeface="Times New Roman" pitchFamily="18" charset="0"/>
              </a:rPr>
              <a:t>chùm</a:t>
            </a:r>
            <a:r>
              <a:rPr lang="en-US" sz="3200" i="0" dirty="0">
                <a:latin typeface="Times New Roman" pitchFamily="18" charset="0"/>
              </a:rPr>
              <a:t> </a:t>
            </a:r>
            <a:r>
              <a:rPr lang="en-US" sz="3200" i="0" dirty="0" err="1">
                <a:latin typeface="Times New Roman" pitchFamily="18" charset="0"/>
              </a:rPr>
              <a:t>tia</a:t>
            </a:r>
            <a:r>
              <a:rPr lang="en-US" sz="3200" i="0" dirty="0">
                <a:latin typeface="Times New Roman" pitchFamily="18" charset="0"/>
              </a:rPr>
              <a:t> </a:t>
            </a:r>
            <a:r>
              <a:rPr lang="en-US" sz="3200" i="0" dirty="0" err="1">
                <a:latin typeface="Times New Roman" pitchFamily="18" charset="0"/>
              </a:rPr>
              <a:t>thứ</a:t>
            </a:r>
            <a:r>
              <a:rPr lang="en-US" sz="3200" i="0" dirty="0">
                <a:latin typeface="Times New Roman" pitchFamily="18" charset="0"/>
              </a:rPr>
              <a:t> 2 </a:t>
            </a:r>
            <a:r>
              <a:rPr lang="en-US" sz="3200" i="0" dirty="0" err="1">
                <a:latin typeface="Times New Roman" pitchFamily="18" charset="0"/>
              </a:rPr>
              <a:t>đọc</a:t>
            </a:r>
            <a:r>
              <a:rPr lang="en-US" sz="3200" i="0" dirty="0">
                <a:latin typeface="Times New Roman" pitchFamily="18" charset="0"/>
              </a:rPr>
              <a:t> </a:t>
            </a:r>
            <a:r>
              <a:rPr lang="en-US" sz="3200" i="0" dirty="0" err="1">
                <a:latin typeface="Times New Roman" pitchFamily="18" charset="0"/>
              </a:rPr>
              <a:t>được</a:t>
            </a:r>
            <a:r>
              <a:rPr lang="en-US" sz="3200" i="0" dirty="0">
                <a:latin typeface="Times New Roman" pitchFamily="18" charset="0"/>
              </a:rPr>
              <a:t> </a:t>
            </a:r>
            <a:r>
              <a:rPr lang="en-US" sz="3200" i="0" dirty="0" err="1">
                <a:latin typeface="Times New Roman" pitchFamily="18" charset="0"/>
              </a:rPr>
              <a:t>thông</a:t>
            </a:r>
            <a:r>
              <a:rPr lang="en-US" sz="3200" i="0" dirty="0">
                <a:latin typeface="Times New Roman" pitchFamily="18" charset="0"/>
              </a:rPr>
              <a:t> tin ở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thứ</a:t>
            </a:r>
            <a:r>
              <a:rPr lang="en-US" sz="3200" i="0" dirty="0">
                <a:latin typeface="Times New Roman" pitchFamily="18" charset="0"/>
              </a:rPr>
              <a:t> 2-là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phản</a:t>
            </a:r>
            <a:r>
              <a:rPr lang="en-US" sz="3200" i="0" dirty="0">
                <a:latin typeface="Times New Roman" pitchFamily="18" charset="0"/>
              </a:rPr>
              <a:t> </a:t>
            </a:r>
            <a:r>
              <a:rPr lang="en-US" sz="3200" i="0" dirty="0" err="1">
                <a:latin typeface="Times New Roman" pitchFamily="18" charset="0"/>
              </a:rPr>
              <a:t>xạ</a:t>
            </a:r>
            <a:r>
              <a:rPr lang="en-US" sz="3200" i="0" dirty="0">
                <a:latin typeface="Times New Roman" pitchFamily="18" charset="0"/>
              </a:rPr>
              <a:t> </a:t>
            </a:r>
            <a:r>
              <a:rPr lang="en-US" sz="3200" i="0" dirty="0" err="1">
                <a:latin typeface="Times New Roman" pitchFamily="18" charset="0"/>
              </a:rPr>
              <a:t>toàn</a:t>
            </a:r>
            <a:r>
              <a:rPr lang="en-US" sz="3200" i="0" dirty="0">
                <a:latin typeface="Times New Roman" pitchFamily="18" charset="0"/>
              </a:rPr>
              <a:t> </a:t>
            </a:r>
            <a:r>
              <a:rPr lang="en-US" sz="3200" i="0" dirty="0" err="1">
                <a:latin typeface="Times New Roman" pitchFamily="18" charset="0"/>
              </a:rPr>
              <a:t>phần</a:t>
            </a:r>
            <a:r>
              <a:rPr lang="en-US" sz="3200" i="0" dirty="0">
                <a:latin typeface="Times New Roman" pitchFamily="18" charset="0"/>
              </a:rPr>
              <a:t>.</a:t>
            </a: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Các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loại</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6" name="Rectangle 4"/>
          <p:cNvSpPr>
            <a:spLocks noGrp="1" noChangeArrowheads="1"/>
          </p:cNvSpPr>
          <p:nvPr>
            <p:ph sz="quarter" idx="1"/>
          </p:nvPr>
        </p:nvSpPr>
        <p:spPr>
          <a:xfrm>
            <a:off x="381000" y="2590800"/>
            <a:ext cx="8334375" cy="2662238"/>
          </a:xfrm>
          <a:noFill/>
          <a:ln/>
        </p:spPr>
        <p:txBody>
          <a:bodyPr>
            <a:normAutofit/>
          </a:bodyPr>
          <a:lstStyle/>
          <a:p>
            <a:r>
              <a:rPr lang="en-US" sz="3200" i="0" dirty="0" err="1">
                <a:latin typeface="Times New Roman" pitchFamily="18" charset="0"/>
              </a:rPr>
              <a:t>Đĩa</a:t>
            </a:r>
            <a:r>
              <a:rPr lang="en-US" sz="3200" i="0" dirty="0">
                <a:latin typeface="Times New Roman" pitchFamily="18" charset="0"/>
              </a:rPr>
              <a:t> </a:t>
            </a:r>
            <a:r>
              <a:rPr lang="en-US" sz="3200" i="0" dirty="0" err="1">
                <a:latin typeface="Times New Roman" pitchFamily="18" charset="0"/>
              </a:rPr>
              <a:t>này</a:t>
            </a:r>
            <a:r>
              <a:rPr lang="en-US" sz="3200" i="0" dirty="0">
                <a:latin typeface="Times New Roman" pitchFamily="18" charset="0"/>
              </a:rPr>
              <a:t> </a:t>
            </a:r>
            <a:r>
              <a:rPr lang="en-US" sz="3200" i="0" dirty="0" err="1">
                <a:latin typeface="Times New Roman" pitchFamily="18" charset="0"/>
              </a:rPr>
              <a:t>được</a:t>
            </a:r>
            <a:r>
              <a:rPr lang="en-US" sz="3200" i="0" dirty="0">
                <a:latin typeface="Times New Roman" pitchFamily="18" charset="0"/>
              </a:rPr>
              <a:t> </a:t>
            </a:r>
            <a:r>
              <a:rPr lang="en-US" sz="3200" i="0" dirty="0" err="1">
                <a:latin typeface="Times New Roman" pitchFamily="18" charset="0"/>
              </a:rPr>
              <a:t>tạo</a:t>
            </a:r>
            <a:r>
              <a:rPr lang="en-US" sz="3200" i="0" dirty="0">
                <a:latin typeface="Times New Roman" pitchFamily="18" charset="0"/>
              </a:rPr>
              <a:t> </a:t>
            </a:r>
            <a:r>
              <a:rPr lang="en-US" sz="3200" i="0" dirty="0" err="1">
                <a:latin typeface="Times New Roman" pitchFamily="18" charset="0"/>
              </a:rPr>
              <a:t>bởi</a:t>
            </a:r>
            <a:r>
              <a:rPr lang="en-US" sz="3200" i="0" dirty="0">
                <a:latin typeface="Times New Roman" pitchFamily="18" charset="0"/>
              </a:rPr>
              <a:t> </a:t>
            </a:r>
            <a:r>
              <a:rPr lang="en-US" sz="3200" i="0" dirty="0" err="1">
                <a:latin typeface="Times New Roman" pitchFamily="18" charset="0"/>
              </a:rPr>
              <a:t>sự</a:t>
            </a:r>
            <a:r>
              <a:rPr lang="en-US" sz="3200" i="0" dirty="0">
                <a:latin typeface="Times New Roman" pitchFamily="18" charset="0"/>
              </a:rPr>
              <a:t> </a:t>
            </a:r>
            <a:r>
              <a:rPr lang="en-US" sz="3200" i="0" dirty="0" err="1">
                <a:latin typeface="Times New Roman" pitchFamily="18" charset="0"/>
              </a:rPr>
              <a:t>kết</a:t>
            </a:r>
            <a:r>
              <a:rPr lang="en-US" sz="3200" i="0" dirty="0">
                <a:latin typeface="Times New Roman" pitchFamily="18" charset="0"/>
              </a:rPr>
              <a:t> </a:t>
            </a:r>
            <a:r>
              <a:rPr lang="en-US" sz="3200" i="0" dirty="0" err="1">
                <a:latin typeface="Times New Roman" pitchFamily="18" charset="0"/>
              </a:rPr>
              <a:t>dính</a:t>
            </a:r>
            <a:r>
              <a:rPr lang="en-US" sz="3200" i="0" dirty="0">
                <a:latin typeface="Times New Roman" pitchFamily="18" charset="0"/>
              </a:rPr>
              <a:t> </a:t>
            </a:r>
            <a:r>
              <a:rPr lang="en-US" sz="3200" i="0" dirty="0" err="1">
                <a:latin typeface="Times New Roman" pitchFamily="18" charset="0"/>
              </a:rPr>
              <a:t>của</a:t>
            </a:r>
            <a:r>
              <a:rPr lang="en-US" sz="3200" i="0" dirty="0">
                <a:latin typeface="Times New Roman" pitchFamily="18" charset="0"/>
              </a:rPr>
              <a:t> 2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bề</a:t>
            </a:r>
            <a:r>
              <a:rPr lang="en-US" sz="3200" i="0" dirty="0">
                <a:latin typeface="Times New Roman" pitchFamily="18" charset="0"/>
              </a:rPr>
              <a:t> </a:t>
            </a:r>
            <a:r>
              <a:rPr lang="en-US" sz="3200" i="0" dirty="0" err="1">
                <a:latin typeface="Times New Roman" pitchFamily="18" charset="0"/>
              </a:rPr>
              <a:t>mặt</a:t>
            </a:r>
            <a:r>
              <a:rPr lang="en-US" sz="3200" i="0" dirty="0">
                <a:latin typeface="Times New Roman" pitchFamily="18" charset="0"/>
              </a:rPr>
              <a:t> </a:t>
            </a:r>
            <a:r>
              <a:rPr lang="en-US" sz="3200" i="0" dirty="0" err="1">
                <a:latin typeface="Times New Roman" pitchFamily="18" charset="0"/>
              </a:rPr>
              <a:t>trong</a:t>
            </a:r>
            <a:r>
              <a:rPr lang="en-US" sz="3200" i="0" dirty="0">
                <a:latin typeface="Times New Roman" pitchFamily="18" charset="0"/>
              </a:rPr>
              <a:t> </a:t>
            </a:r>
            <a:r>
              <a:rPr lang="en-US" sz="3200" i="0" dirty="0" err="1">
                <a:latin typeface="Times New Roman" pitchFamily="18" charset="0"/>
              </a:rPr>
              <a:t>suốt</a:t>
            </a:r>
            <a:r>
              <a:rPr lang="en-US" sz="3200" i="0" dirty="0">
                <a:latin typeface="Times New Roman" pitchFamily="18" charset="0"/>
              </a:rPr>
              <a:t> </a:t>
            </a:r>
            <a:r>
              <a:rPr lang="en-US" sz="3200" i="0" dirty="0" err="1">
                <a:latin typeface="Times New Roman" pitchFamily="18" charset="0"/>
              </a:rPr>
              <a:t>đối</a:t>
            </a:r>
            <a:r>
              <a:rPr lang="en-US" sz="3200" i="0" dirty="0">
                <a:latin typeface="Times New Roman" pitchFamily="18" charset="0"/>
              </a:rPr>
              <a:t> </a:t>
            </a:r>
            <a:r>
              <a:rPr lang="en-US" sz="3200" i="0" dirty="0" err="1">
                <a:latin typeface="Times New Roman" pitchFamily="18" charset="0"/>
              </a:rPr>
              <a:t>với</a:t>
            </a:r>
            <a:r>
              <a:rPr lang="en-US" sz="3200" i="0" dirty="0">
                <a:latin typeface="Times New Roman" pitchFamily="18" charset="0"/>
              </a:rPr>
              <a:t> </a:t>
            </a:r>
            <a:r>
              <a:rPr lang="en-US" sz="3200" i="0" dirty="0" err="1">
                <a:latin typeface="Times New Roman" pitchFamily="18" charset="0"/>
              </a:rPr>
              <a:t>tia</a:t>
            </a:r>
            <a:r>
              <a:rPr lang="en-US" sz="3200" i="0" dirty="0">
                <a:latin typeface="Times New Roman" pitchFamily="18" charset="0"/>
              </a:rPr>
              <a:t> </a:t>
            </a:r>
            <a:r>
              <a:rPr lang="en-US" sz="3200" i="0" dirty="0" err="1">
                <a:latin typeface="Times New Roman" pitchFamily="18" charset="0"/>
              </a:rPr>
              <a:t>cực</a:t>
            </a:r>
            <a:r>
              <a:rPr lang="en-US" sz="3200" i="0" dirty="0">
                <a:latin typeface="Times New Roman" pitchFamily="18" charset="0"/>
              </a:rPr>
              <a:t> </a:t>
            </a:r>
            <a:r>
              <a:rPr lang="en-US" sz="3200" i="0" dirty="0" err="1">
                <a:latin typeface="Times New Roman" pitchFamily="18" charset="0"/>
              </a:rPr>
              <a:t>tím</a:t>
            </a:r>
            <a:r>
              <a:rPr lang="en-US" sz="3200" i="0" dirty="0">
                <a:latin typeface="Times New Roman" pitchFamily="18" charset="0"/>
              </a:rPr>
              <a:t>. </a:t>
            </a:r>
          </a:p>
          <a:p>
            <a:r>
              <a:rPr lang="en-US" sz="3200" i="0" dirty="0" err="1">
                <a:latin typeface="Times New Roman" pitchFamily="18" charset="0"/>
              </a:rPr>
              <a:t>Đĩa</a:t>
            </a:r>
            <a:r>
              <a:rPr lang="en-US" sz="3200" i="0" dirty="0">
                <a:latin typeface="Times New Roman" pitchFamily="18" charset="0"/>
              </a:rPr>
              <a:t> </a:t>
            </a:r>
            <a:r>
              <a:rPr lang="en-US" sz="3200" i="0" dirty="0" err="1">
                <a:latin typeface="Times New Roman" pitchFamily="18" charset="0"/>
              </a:rPr>
              <a:t>được</a:t>
            </a:r>
            <a:r>
              <a:rPr lang="en-US" sz="3200" i="0" dirty="0">
                <a:latin typeface="Times New Roman" pitchFamily="18" charset="0"/>
              </a:rPr>
              <a:t> </a:t>
            </a:r>
            <a:r>
              <a:rPr lang="en-US" sz="3200" i="0" dirty="0" err="1">
                <a:latin typeface="Times New Roman" pitchFamily="18" charset="0"/>
              </a:rPr>
              <a:t>thiết</a:t>
            </a:r>
            <a:r>
              <a:rPr lang="en-US" sz="3200" i="0" dirty="0">
                <a:latin typeface="Times New Roman" pitchFamily="18" charset="0"/>
              </a:rPr>
              <a:t> </a:t>
            </a:r>
            <a:r>
              <a:rPr lang="en-US" sz="3200" i="0" dirty="0" err="1">
                <a:latin typeface="Times New Roman" pitchFamily="18" charset="0"/>
              </a:rPr>
              <a:t>kế</a:t>
            </a:r>
            <a:r>
              <a:rPr lang="en-US" sz="3200" i="0" dirty="0">
                <a:latin typeface="Times New Roman" pitchFamily="18" charset="0"/>
              </a:rPr>
              <a:t> </a:t>
            </a:r>
            <a:r>
              <a:rPr lang="en-US" sz="3200" i="0" dirty="0" err="1">
                <a:latin typeface="Times New Roman" pitchFamily="18" charset="0"/>
              </a:rPr>
              <a:t>cho</a:t>
            </a:r>
            <a:r>
              <a:rPr lang="en-US" sz="3200" i="0" dirty="0">
                <a:latin typeface="Times New Roman" pitchFamily="18" charset="0"/>
              </a:rPr>
              <a:t> </a:t>
            </a:r>
            <a:r>
              <a:rPr lang="en-US" sz="3200" i="0" dirty="0" err="1">
                <a:latin typeface="Times New Roman" pitchFamily="18" charset="0"/>
              </a:rPr>
              <a:t>phép</a:t>
            </a:r>
            <a:r>
              <a:rPr lang="en-US" sz="3200" i="0" dirty="0">
                <a:latin typeface="Times New Roman" pitchFamily="18" charset="0"/>
              </a:rPr>
              <a:t> </a:t>
            </a:r>
            <a:r>
              <a:rPr lang="en-US" sz="3200" i="0" dirty="0" err="1">
                <a:latin typeface="Times New Roman" pitchFamily="18" charset="0"/>
              </a:rPr>
              <a:t>chứa</a:t>
            </a:r>
            <a:r>
              <a:rPr lang="en-US" sz="3200" i="0" dirty="0">
                <a:latin typeface="Times New Roman" pitchFamily="18" charset="0"/>
              </a:rPr>
              <a:t> </a:t>
            </a:r>
            <a:r>
              <a:rPr lang="en-US" sz="3200" i="0" dirty="0" err="1">
                <a:latin typeface="Times New Roman" pitchFamily="18" charset="0"/>
              </a:rPr>
              <a:t>được</a:t>
            </a:r>
            <a:r>
              <a:rPr lang="en-US" sz="3200" i="0" dirty="0">
                <a:latin typeface="Times New Roman" pitchFamily="18" charset="0"/>
              </a:rPr>
              <a:t> </a:t>
            </a:r>
            <a:r>
              <a:rPr lang="en-US" sz="3200" i="0" dirty="0" err="1">
                <a:latin typeface="Times New Roman" pitchFamily="18" charset="0"/>
              </a:rPr>
              <a:t>lượng</a:t>
            </a:r>
            <a:r>
              <a:rPr lang="en-US" sz="3200" i="0" dirty="0">
                <a:latin typeface="Times New Roman" pitchFamily="18" charset="0"/>
              </a:rPr>
              <a:t> </a:t>
            </a:r>
            <a:r>
              <a:rPr lang="en-US" sz="3200" i="0" dirty="0" err="1">
                <a:latin typeface="Times New Roman" pitchFamily="18" charset="0"/>
              </a:rPr>
              <a:t>thông</a:t>
            </a:r>
            <a:r>
              <a:rPr lang="en-US" sz="3200" i="0" dirty="0">
                <a:latin typeface="Times New Roman" pitchFamily="18" charset="0"/>
              </a:rPr>
              <a:t> tin </a:t>
            </a:r>
            <a:r>
              <a:rPr lang="en-US" sz="3200" i="0" dirty="0" err="1">
                <a:latin typeface="Times New Roman" pitchFamily="18" charset="0"/>
              </a:rPr>
              <a:t>gấp</a:t>
            </a:r>
            <a:r>
              <a:rPr lang="en-US" sz="3200" i="0" dirty="0">
                <a:latin typeface="Times New Roman" pitchFamily="18" charset="0"/>
              </a:rPr>
              <a:t> </a:t>
            </a:r>
            <a:r>
              <a:rPr lang="en-US" sz="3200" i="0" dirty="0" err="1">
                <a:latin typeface="Times New Roman" pitchFamily="18" charset="0"/>
              </a:rPr>
              <a:t>đôi</a:t>
            </a:r>
            <a:r>
              <a:rPr lang="en-US" sz="3200" i="0" dirty="0">
                <a:latin typeface="Times New Roman" pitchFamily="18" charset="0"/>
              </a:rPr>
              <a:t> </a:t>
            </a:r>
            <a:r>
              <a:rPr lang="en-US" sz="3200" i="0" dirty="0" err="1">
                <a:latin typeface="Times New Roman" pitchFamily="18" charset="0"/>
              </a:rPr>
              <a:t>loại</a:t>
            </a:r>
            <a:r>
              <a:rPr lang="en-US" sz="3200" i="0" dirty="0">
                <a:latin typeface="Times New Roman" pitchFamily="18" charset="0"/>
              </a:rPr>
              <a:t> DVD-5. </a:t>
            </a: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Các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loại</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Rectangle 4"/>
          <p:cNvSpPr>
            <a:spLocks noGrp="1" noChangeArrowheads="1"/>
          </p:cNvSpPr>
          <p:nvPr>
            <p:ph sz="quarter" idx="1"/>
          </p:nvPr>
        </p:nvSpPr>
        <p:spPr>
          <a:xfrm>
            <a:off x="457200" y="1676400"/>
            <a:ext cx="4114800" cy="609600"/>
          </a:xfrm>
          <a:noFill/>
          <a:ln/>
        </p:spPr>
        <p:txBody>
          <a:bodyPr>
            <a:normAutofit/>
          </a:bodyPr>
          <a:lstStyle/>
          <a:p>
            <a:r>
              <a:rPr lang="en-US" i="0" dirty="0">
                <a:solidFill>
                  <a:schemeClr val="tx2"/>
                </a:solidFill>
                <a:latin typeface="Times New Roman" pitchFamily="18" charset="0"/>
              </a:rPr>
              <a:t>Minh </a:t>
            </a:r>
            <a:r>
              <a:rPr lang="en-US" i="0" dirty="0" err="1">
                <a:solidFill>
                  <a:schemeClr val="tx2"/>
                </a:solidFill>
                <a:latin typeface="Times New Roman" pitchFamily="18" charset="0"/>
              </a:rPr>
              <a:t>họa</a:t>
            </a:r>
            <a:r>
              <a:rPr lang="en-US" i="0" dirty="0">
                <a:solidFill>
                  <a:schemeClr val="tx2"/>
                </a:solidFill>
                <a:latin typeface="Times New Roman" pitchFamily="18" charset="0"/>
              </a:rPr>
              <a:t> </a:t>
            </a:r>
            <a:r>
              <a:rPr lang="en-US" i="0" dirty="0" err="1">
                <a:solidFill>
                  <a:schemeClr val="tx2"/>
                </a:solidFill>
                <a:latin typeface="Times New Roman" pitchFamily="18" charset="0"/>
              </a:rPr>
              <a:t>cấu</a:t>
            </a:r>
            <a:r>
              <a:rPr lang="en-US" i="0" dirty="0">
                <a:solidFill>
                  <a:schemeClr val="tx2"/>
                </a:solidFill>
                <a:latin typeface="Times New Roman" pitchFamily="18" charset="0"/>
              </a:rPr>
              <a:t> </a:t>
            </a:r>
            <a:r>
              <a:rPr lang="en-US" i="0" dirty="0" err="1">
                <a:solidFill>
                  <a:schemeClr val="tx2"/>
                </a:solidFill>
                <a:latin typeface="Times New Roman" pitchFamily="18" charset="0"/>
              </a:rPr>
              <a:t>tao</a:t>
            </a:r>
            <a:r>
              <a:rPr lang="en-US" i="0" dirty="0">
                <a:solidFill>
                  <a:schemeClr val="tx2"/>
                </a:solidFill>
                <a:latin typeface="Times New Roman" pitchFamily="18" charset="0"/>
              </a:rPr>
              <a:t>:</a:t>
            </a:r>
          </a:p>
        </p:txBody>
      </p:sp>
      <p:pic>
        <p:nvPicPr>
          <p:cNvPr id="132102" name="Picture 6"/>
          <p:cNvPicPr>
            <a:picLocks noChangeAspect="1" noChangeArrowheads="1"/>
          </p:cNvPicPr>
          <p:nvPr/>
        </p:nvPicPr>
        <p:blipFill>
          <a:blip r:embed="rId2" cstate="print"/>
          <a:srcRect/>
          <a:stretch>
            <a:fillRect/>
          </a:stretch>
        </p:blipFill>
        <p:spPr bwMode="auto">
          <a:xfrm>
            <a:off x="1676400" y="2514600"/>
            <a:ext cx="5867400" cy="4132263"/>
          </a:xfrm>
          <a:prstGeom prst="rect">
            <a:avLst/>
          </a:prstGeom>
          <a:noFill/>
        </p:spPr>
      </p:pic>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Các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loại</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Rectangle 4"/>
          <p:cNvSpPr>
            <a:spLocks noGrp="1" noChangeArrowheads="1"/>
          </p:cNvSpPr>
          <p:nvPr>
            <p:ph sz="quarter" idx="1"/>
          </p:nvPr>
        </p:nvSpPr>
        <p:spPr>
          <a:xfrm>
            <a:off x="381000" y="1981200"/>
            <a:ext cx="8334375" cy="4643438"/>
          </a:xfrm>
          <a:noFill/>
          <a:ln/>
        </p:spPr>
        <p:txBody>
          <a:bodyPr>
            <a:normAutofit/>
          </a:bodyPr>
          <a:lstStyle/>
          <a:p>
            <a:r>
              <a:rPr lang="en-US" sz="3200" i="0" dirty="0" err="1">
                <a:latin typeface="Times New Roman" pitchFamily="18" charset="0"/>
              </a:rPr>
              <a:t>Sự</a:t>
            </a:r>
            <a:r>
              <a:rPr lang="en-US" sz="3200" i="0" dirty="0">
                <a:latin typeface="Times New Roman" pitchFamily="18" charset="0"/>
              </a:rPr>
              <a:t> </a:t>
            </a:r>
            <a:r>
              <a:rPr lang="en-US" sz="3200" i="0" dirty="0" err="1">
                <a:latin typeface="Times New Roman" pitchFamily="18" charset="0"/>
              </a:rPr>
              <a:t>cải</a:t>
            </a:r>
            <a:r>
              <a:rPr lang="en-US" sz="3200" i="0" dirty="0">
                <a:latin typeface="Times New Roman" pitchFamily="18" charset="0"/>
              </a:rPr>
              <a:t> </a:t>
            </a:r>
            <a:r>
              <a:rPr lang="en-US" sz="3200" i="0" dirty="0" err="1">
                <a:latin typeface="Times New Roman" pitchFamily="18" charset="0"/>
              </a:rPr>
              <a:t>thiện</a:t>
            </a:r>
            <a:r>
              <a:rPr lang="en-US" sz="3200" i="0" dirty="0">
                <a:latin typeface="Times New Roman" pitchFamily="18" charset="0"/>
              </a:rPr>
              <a:t> </a:t>
            </a:r>
            <a:r>
              <a:rPr lang="en-US" sz="3200" i="0" dirty="0" err="1">
                <a:latin typeface="Times New Roman" pitchFamily="18" charset="0"/>
              </a:rPr>
              <a:t>xa</a:t>
            </a:r>
            <a:r>
              <a:rPr lang="en-US" sz="3200" i="0" dirty="0">
                <a:latin typeface="Times New Roman" pitchFamily="18" charset="0"/>
              </a:rPr>
              <a:t> </a:t>
            </a:r>
            <a:r>
              <a:rPr lang="en-US" sz="3200" i="0" dirty="0" err="1">
                <a:latin typeface="Times New Roman" pitchFamily="18" charset="0"/>
              </a:rPr>
              <a:t>hơn</a:t>
            </a:r>
            <a:r>
              <a:rPr lang="en-US" sz="3200" i="0" dirty="0">
                <a:latin typeface="Times New Roman" pitchFamily="18" charset="0"/>
              </a:rPr>
              <a:t> </a:t>
            </a:r>
            <a:r>
              <a:rPr lang="en-US" sz="3200" i="0" dirty="0" err="1">
                <a:latin typeface="Times New Roman" pitchFamily="18" charset="0"/>
              </a:rPr>
              <a:t>nữa</a:t>
            </a:r>
            <a:r>
              <a:rPr lang="en-US" sz="3200" i="0" dirty="0">
                <a:latin typeface="Times New Roman" pitchFamily="18" charset="0"/>
              </a:rPr>
              <a:t> </a:t>
            </a:r>
            <a:r>
              <a:rPr lang="en-US" sz="3200" i="0" dirty="0" err="1">
                <a:latin typeface="Times New Roman" pitchFamily="18" charset="0"/>
              </a:rPr>
              <a:t>của</a:t>
            </a:r>
            <a:r>
              <a:rPr lang="en-US" sz="3200" i="0" dirty="0">
                <a:latin typeface="Times New Roman" pitchFamily="18" charset="0"/>
              </a:rPr>
              <a:t> CD </a:t>
            </a:r>
            <a:r>
              <a:rPr lang="en-US" sz="3200" i="0" dirty="0" err="1">
                <a:latin typeface="Times New Roman" pitchFamily="18" charset="0"/>
              </a:rPr>
              <a:t>là</a:t>
            </a:r>
            <a:r>
              <a:rPr lang="en-US" sz="3200" i="0" dirty="0">
                <a:latin typeface="Times New Roman" pitchFamily="18" charset="0"/>
              </a:rPr>
              <a:t> </a:t>
            </a:r>
            <a:r>
              <a:rPr lang="en-US" sz="3200" i="0" dirty="0" err="1">
                <a:latin typeface="Times New Roman" pitchFamily="18" charset="0"/>
              </a:rPr>
              <a:t>loại</a:t>
            </a:r>
            <a:r>
              <a:rPr lang="en-US" sz="3200" i="0" dirty="0">
                <a:latin typeface="Times New Roman" pitchFamily="18" charset="0"/>
              </a:rPr>
              <a:t> </a:t>
            </a:r>
            <a:r>
              <a:rPr lang="en-US" sz="3200" i="0" dirty="0" err="1">
                <a:latin typeface="Times New Roman" pitchFamily="18" charset="0"/>
              </a:rPr>
              <a:t>đĩa</a:t>
            </a:r>
            <a:r>
              <a:rPr lang="en-US" sz="3200" i="0" dirty="0">
                <a:latin typeface="Times New Roman" pitchFamily="18" charset="0"/>
              </a:rPr>
              <a:t> </a:t>
            </a:r>
            <a:r>
              <a:rPr lang="en-US" sz="3200" i="0" dirty="0" err="1">
                <a:latin typeface="Times New Roman" pitchFamily="18" charset="0"/>
              </a:rPr>
              <a:t>cạnh</a:t>
            </a:r>
            <a:r>
              <a:rPr lang="en-US" sz="3200" i="0" dirty="0">
                <a:latin typeface="Times New Roman" pitchFamily="18" charset="0"/>
              </a:rPr>
              <a:t> </a:t>
            </a:r>
            <a:r>
              <a:rPr lang="en-US" sz="3200" i="0" dirty="0" err="1">
                <a:latin typeface="Times New Roman" pitchFamily="18" charset="0"/>
              </a:rPr>
              <a:t>kép</a:t>
            </a:r>
            <a:r>
              <a:rPr lang="en-US" sz="3200" i="0" dirty="0">
                <a:latin typeface="Times New Roman" pitchFamily="18" charset="0"/>
              </a:rPr>
              <a:t> </a:t>
            </a:r>
            <a:r>
              <a:rPr lang="en-US" sz="3200" i="0" dirty="0" err="1">
                <a:latin typeface="Times New Roman" pitchFamily="18" charset="0"/>
              </a:rPr>
              <a:t>được</a:t>
            </a:r>
            <a:r>
              <a:rPr lang="en-US" sz="3200" i="0" dirty="0">
                <a:latin typeface="Times New Roman" pitchFamily="18" charset="0"/>
              </a:rPr>
              <a:t> </a:t>
            </a:r>
            <a:r>
              <a:rPr lang="en-US" sz="3200" i="0" dirty="0" err="1">
                <a:latin typeface="Times New Roman" pitchFamily="18" charset="0"/>
              </a:rPr>
              <a:t>giới</a:t>
            </a:r>
            <a:r>
              <a:rPr lang="en-US" sz="3200" i="0" dirty="0">
                <a:latin typeface="Times New Roman" pitchFamily="18" charset="0"/>
              </a:rPr>
              <a:t> </a:t>
            </a:r>
            <a:r>
              <a:rPr lang="en-US" sz="3200" i="0" dirty="0" err="1">
                <a:latin typeface="Times New Roman" pitchFamily="18" charset="0"/>
              </a:rPr>
              <a:t>thiệu</a:t>
            </a:r>
            <a:r>
              <a:rPr lang="en-US" sz="3200" i="0" dirty="0">
                <a:latin typeface="Times New Roman" pitchFamily="18" charset="0"/>
              </a:rPr>
              <a:t> ở </a:t>
            </a:r>
            <a:r>
              <a:rPr lang="en-US" sz="3200" i="0" dirty="0" err="1">
                <a:latin typeface="Times New Roman" pitchFamily="18" charset="0"/>
              </a:rPr>
              <a:t>loại</a:t>
            </a:r>
            <a:r>
              <a:rPr lang="en-US" sz="3200" i="0" dirty="0">
                <a:latin typeface="Times New Roman" pitchFamily="18" charset="0"/>
              </a:rPr>
              <a:t> </a:t>
            </a:r>
            <a:r>
              <a:rPr lang="en-US" sz="3200" i="0" dirty="0" err="1">
                <a:latin typeface="Times New Roman" pitchFamily="18" charset="0"/>
              </a:rPr>
              <a:t>mới</a:t>
            </a:r>
            <a:r>
              <a:rPr lang="en-US" sz="3200" i="0" dirty="0">
                <a:latin typeface="Times New Roman" pitchFamily="18" charset="0"/>
              </a:rPr>
              <a:t>: DVD-10 </a:t>
            </a:r>
            <a:r>
              <a:rPr lang="en-US" sz="3200" i="0" dirty="0" err="1">
                <a:latin typeface="Times New Roman" pitchFamily="18" charset="0"/>
              </a:rPr>
              <a:t>và</a:t>
            </a:r>
            <a:r>
              <a:rPr lang="en-US" sz="3200" i="0" dirty="0">
                <a:latin typeface="Times New Roman" pitchFamily="18" charset="0"/>
              </a:rPr>
              <a:t> DVD-18. </a:t>
            </a:r>
          </a:p>
          <a:p>
            <a:r>
              <a:rPr lang="en-US" sz="3200" i="0" dirty="0">
                <a:latin typeface="Times New Roman" pitchFamily="18" charset="0"/>
              </a:rPr>
              <a:t>DVD-10 </a:t>
            </a:r>
            <a:r>
              <a:rPr lang="en-US" sz="3200" i="0" dirty="0" err="1">
                <a:latin typeface="Times New Roman" pitchFamily="18" charset="0"/>
              </a:rPr>
              <a:t>được</a:t>
            </a:r>
            <a:r>
              <a:rPr lang="en-US" sz="3200" i="0" dirty="0">
                <a:latin typeface="Times New Roman" pitchFamily="18" charset="0"/>
              </a:rPr>
              <a:t> </a:t>
            </a:r>
            <a:r>
              <a:rPr lang="en-US" sz="3200" i="0" dirty="0" err="1">
                <a:latin typeface="Times New Roman" pitchFamily="18" charset="0"/>
              </a:rPr>
              <a:t>tạo</a:t>
            </a:r>
            <a:r>
              <a:rPr lang="en-US" sz="3200" i="0" dirty="0">
                <a:latin typeface="Times New Roman" pitchFamily="18" charset="0"/>
              </a:rPr>
              <a:t> </a:t>
            </a:r>
            <a:r>
              <a:rPr lang="en-US" sz="3200" i="0" dirty="0" err="1">
                <a:latin typeface="Times New Roman" pitchFamily="18" charset="0"/>
              </a:rPr>
              <a:t>bởi</a:t>
            </a:r>
            <a:r>
              <a:rPr lang="en-US" sz="3200" i="0" dirty="0">
                <a:latin typeface="Times New Roman" pitchFamily="18" charset="0"/>
              </a:rPr>
              <a:t> 2 </a:t>
            </a:r>
            <a:r>
              <a:rPr lang="en-US" sz="3200" i="0" dirty="0" err="1">
                <a:latin typeface="Times New Roman" pitchFamily="18" charset="0"/>
              </a:rPr>
              <a:t>lớp</a:t>
            </a:r>
            <a:r>
              <a:rPr lang="en-US" sz="3200" i="0" dirty="0">
                <a:latin typeface="Times New Roman" pitchFamily="18" charset="0"/>
              </a:rPr>
              <a:t> </a:t>
            </a:r>
            <a:r>
              <a:rPr lang="en-US" sz="3200" i="0" dirty="0" err="1">
                <a:latin typeface="Times New Roman" pitchFamily="18" charset="0"/>
              </a:rPr>
              <a:t>kim</a:t>
            </a:r>
            <a:r>
              <a:rPr lang="en-US" sz="3200" i="0" dirty="0">
                <a:latin typeface="Times New Roman" pitchFamily="18" charset="0"/>
              </a:rPr>
              <a:t> </a:t>
            </a:r>
            <a:r>
              <a:rPr lang="en-US" sz="3200" i="0" dirty="0" err="1">
                <a:latin typeface="Times New Roman" pitchFamily="18" charset="0"/>
              </a:rPr>
              <a:t>loại</a:t>
            </a:r>
            <a:r>
              <a:rPr lang="en-US" sz="3200" i="0" dirty="0">
                <a:latin typeface="Times New Roman" pitchFamily="18" charset="0"/>
              </a:rPr>
              <a:t> </a:t>
            </a:r>
            <a:r>
              <a:rPr lang="en-US" sz="3200" i="0" dirty="0" err="1">
                <a:latin typeface="Times New Roman" pitchFamily="18" charset="0"/>
              </a:rPr>
              <a:t>cơ</a:t>
            </a:r>
            <a:r>
              <a:rPr lang="en-US" sz="3200" i="0" dirty="0">
                <a:latin typeface="Times New Roman" pitchFamily="18" charset="0"/>
              </a:rPr>
              <a:t> </a:t>
            </a:r>
            <a:r>
              <a:rPr lang="en-US" sz="3200" i="0" dirty="0" err="1">
                <a:latin typeface="Times New Roman" pitchFamily="18" charset="0"/>
              </a:rPr>
              <a:t>sở</a:t>
            </a:r>
            <a:r>
              <a:rPr lang="en-US" sz="3200" i="0" dirty="0">
                <a:latin typeface="Times New Roman" pitchFamily="18" charset="0"/>
              </a:rPr>
              <a:t> </a:t>
            </a:r>
            <a:r>
              <a:rPr lang="en-US" sz="3200" i="0" dirty="0" err="1">
                <a:latin typeface="Times New Roman" pitchFamily="18" charset="0"/>
              </a:rPr>
              <a:t>phản</a:t>
            </a:r>
            <a:r>
              <a:rPr lang="en-US" sz="3200" i="0" dirty="0">
                <a:latin typeface="Times New Roman" pitchFamily="18" charset="0"/>
              </a:rPr>
              <a:t> </a:t>
            </a:r>
            <a:r>
              <a:rPr lang="en-US" sz="3200" i="0" dirty="0" err="1">
                <a:latin typeface="Times New Roman" pitchFamily="18" charset="0"/>
              </a:rPr>
              <a:t>xạ</a:t>
            </a:r>
            <a:r>
              <a:rPr lang="en-US" sz="3200" i="0" dirty="0">
                <a:latin typeface="Times New Roman" pitchFamily="18" charset="0"/>
              </a:rPr>
              <a:t> </a:t>
            </a:r>
            <a:r>
              <a:rPr lang="en-US" sz="3200" i="0" dirty="0" err="1">
                <a:latin typeface="Times New Roman" pitchFamily="18" charset="0"/>
              </a:rPr>
              <a:t>toàn</a:t>
            </a:r>
            <a:r>
              <a:rPr lang="en-US" sz="3200" i="0" dirty="0">
                <a:latin typeface="Times New Roman" pitchFamily="18" charset="0"/>
              </a:rPr>
              <a:t> </a:t>
            </a:r>
            <a:r>
              <a:rPr lang="en-US" sz="3200" i="0" dirty="0" err="1">
                <a:latin typeface="Times New Roman" pitchFamily="18" charset="0"/>
              </a:rPr>
              <a:t>phần</a:t>
            </a:r>
            <a:r>
              <a:rPr lang="en-US" sz="3200" i="0" dirty="0">
                <a:latin typeface="Times New Roman" pitchFamily="18" charset="0"/>
              </a:rPr>
              <a:t> </a:t>
            </a:r>
            <a:r>
              <a:rPr lang="en-US" sz="3200" i="0" dirty="0" err="1">
                <a:latin typeface="Times New Roman" pitchFamily="18" charset="0"/>
              </a:rPr>
              <a:t>ghép</a:t>
            </a:r>
            <a:r>
              <a:rPr lang="en-US" sz="3200" i="0" dirty="0">
                <a:latin typeface="Times New Roman" pitchFamily="18" charset="0"/>
              </a:rPr>
              <a:t> </a:t>
            </a:r>
            <a:r>
              <a:rPr lang="en-US" sz="3200" i="0" dirty="0" err="1">
                <a:latin typeface="Times New Roman" pitchFamily="18" charset="0"/>
              </a:rPr>
              <a:t>với</a:t>
            </a:r>
            <a:r>
              <a:rPr lang="en-US" sz="3200" i="0" dirty="0">
                <a:latin typeface="Times New Roman" pitchFamily="18" charset="0"/>
              </a:rPr>
              <a:t> </a:t>
            </a:r>
            <a:r>
              <a:rPr lang="en-US" sz="3200" i="0" dirty="0" err="1">
                <a:latin typeface="Times New Roman" pitchFamily="18" charset="0"/>
              </a:rPr>
              <a:t>nhau</a:t>
            </a:r>
            <a:r>
              <a:rPr lang="en-US" sz="3200" i="0" dirty="0">
                <a:latin typeface="Times New Roman" pitchFamily="18" charset="0"/>
              </a:rPr>
              <a:t>. </a:t>
            </a:r>
            <a:r>
              <a:rPr lang="en-US" sz="3200" i="0" dirty="0" err="1">
                <a:latin typeface="Times New Roman" pitchFamily="18" charset="0"/>
              </a:rPr>
              <a:t>Chất</a:t>
            </a:r>
            <a:r>
              <a:rPr lang="en-US" sz="3200" i="0" dirty="0">
                <a:latin typeface="Times New Roman" pitchFamily="18" charset="0"/>
              </a:rPr>
              <a:t> </a:t>
            </a:r>
            <a:r>
              <a:rPr lang="en-US" sz="3200" i="0" dirty="0" err="1">
                <a:latin typeface="Times New Roman" pitchFamily="18" charset="0"/>
              </a:rPr>
              <a:t>gắn</a:t>
            </a:r>
            <a:r>
              <a:rPr lang="en-US" sz="3200" i="0" dirty="0">
                <a:latin typeface="Times New Roman" pitchFamily="18" charset="0"/>
              </a:rPr>
              <a:t> </a:t>
            </a:r>
            <a:r>
              <a:rPr lang="en-US" sz="3200" i="0" dirty="0" err="1">
                <a:latin typeface="Times New Roman" pitchFamily="18" charset="0"/>
              </a:rPr>
              <a:t>kết</a:t>
            </a:r>
            <a:r>
              <a:rPr lang="en-US" sz="3200" i="0" dirty="0">
                <a:latin typeface="Times New Roman" pitchFamily="18" charset="0"/>
              </a:rPr>
              <a:t> </a:t>
            </a:r>
            <a:r>
              <a:rPr lang="en-US" sz="3200" i="0" dirty="0" err="1">
                <a:latin typeface="Times New Roman" pitchFamily="18" charset="0"/>
              </a:rPr>
              <a:t>không</a:t>
            </a:r>
            <a:r>
              <a:rPr lang="en-US" sz="3200" i="0" dirty="0">
                <a:latin typeface="Times New Roman" pitchFamily="18" charset="0"/>
              </a:rPr>
              <a:t> </a:t>
            </a:r>
            <a:r>
              <a:rPr lang="en-US" sz="3200" i="0" dirty="0" err="1">
                <a:latin typeface="Times New Roman" pitchFamily="18" charset="0"/>
              </a:rPr>
              <a:t>nhất</a:t>
            </a:r>
            <a:r>
              <a:rPr lang="en-US" sz="3200" i="0" dirty="0">
                <a:latin typeface="Times New Roman" pitchFamily="18" charset="0"/>
              </a:rPr>
              <a:t> </a:t>
            </a:r>
            <a:r>
              <a:rPr lang="en-US" sz="3200" i="0" dirty="0" err="1">
                <a:latin typeface="Times New Roman" pitchFamily="18" charset="0"/>
              </a:rPr>
              <a:t>thiết</a:t>
            </a:r>
            <a:r>
              <a:rPr lang="en-US" sz="3200" i="0" dirty="0">
                <a:latin typeface="Times New Roman" pitchFamily="18" charset="0"/>
              </a:rPr>
              <a:t> </a:t>
            </a:r>
            <a:r>
              <a:rPr lang="en-US" sz="3200" i="0" dirty="0" err="1">
                <a:latin typeface="Times New Roman" pitchFamily="18" charset="0"/>
              </a:rPr>
              <a:t>phải</a:t>
            </a:r>
            <a:r>
              <a:rPr lang="en-US" sz="3200" i="0" dirty="0">
                <a:latin typeface="Times New Roman" pitchFamily="18" charset="0"/>
              </a:rPr>
              <a:t> </a:t>
            </a:r>
            <a:r>
              <a:rPr lang="en-US" sz="3200" i="0" dirty="0" err="1">
                <a:latin typeface="Times New Roman" pitchFamily="18" charset="0"/>
              </a:rPr>
              <a:t>là</a:t>
            </a:r>
            <a:r>
              <a:rPr lang="en-US" sz="3200" i="0" dirty="0">
                <a:latin typeface="Times New Roman" pitchFamily="18" charset="0"/>
              </a:rPr>
              <a:t> </a:t>
            </a:r>
            <a:r>
              <a:rPr lang="en-US" sz="3200" i="0" dirty="0" err="1">
                <a:latin typeface="Times New Roman" pitchFamily="18" charset="0"/>
              </a:rPr>
              <a:t>trong</a:t>
            </a:r>
            <a:r>
              <a:rPr lang="en-US" sz="3200" i="0" dirty="0">
                <a:latin typeface="Times New Roman" pitchFamily="18" charset="0"/>
              </a:rPr>
              <a:t> </a:t>
            </a:r>
            <a:r>
              <a:rPr lang="en-US" sz="3200" i="0" dirty="0" err="1">
                <a:latin typeface="Times New Roman" pitchFamily="18" charset="0"/>
              </a:rPr>
              <a:t>suốt</a:t>
            </a:r>
            <a:r>
              <a:rPr lang="en-US" sz="3200" i="0" dirty="0">
                <a:latin typeface="Times New Roman" pitchFamily="18" charset="0"/>
              </a:rPr>
              <a:t>. </a:t>
            </a:r>
            <a:r>
              <a:rPr lang="en-US" sz="3200" i="0" dirty="0" err="1">
                <a:latin typeface="Times New Roman" pitchFamily="18" charset="0"/>
              </a:rPr>
              <a:t>Bởi</a:t>
            </a:r>
            <a:r>
              <a:rPr lang="en-US" sz="3200" i="0" dirty="0">
                <a:latin typeface="Times New Roman" pitchFamily="18" charset="0"/>
              </a:rPr>
              <a:t> </a:t>
            </a:r>
            <a:r>
              <a:rPr lang="en-US" sz="3200" i="0" dirty="0" err="1">
                <a:latin typeface="Times New Roman" pitchFamily="18" charset="0"/>
              </a:rPr>
              <a:t>vì</a:t>
            </a:r>
            <a:r>
              <a:rPr lang="en-US" sz="3200" i="0" dirty="0">
                <a:latin typeface="Times New Roman" pitchFamily="18" charset="0"/>
              </a:rPr>
              <a:t> </a:t>
            </a:r>
            <a:r>
              <a:rPr lang="en-US" sz="3200" i="0" dirty="0" err="1">
                <a:latin typeface="Times New Roman" pitchFamily="18" charset="0"/>
              </a:rPr>
              <a:t>dữ</a:t>
            </a:r>
            <a:r>
              <a:rPr lang="en-US" sz="3200" i="0" dirty="0">
                <a:latin typeface="Times New Roman" pitchFamily="18" charset="0"/>
              </a:rPr>
              <a:t> </a:t>
            </a:r>
            <a:r>
              <a:rPr lang="en-US" sz="3200" i="0" dirty="0" err="1">
                <a:latin typeface="Times New Roman" pitchFamily="18" charset="0"/>
              </a:rPr>
              <a:t>liệu</a:t>
            </a:r>
            <a:r>
              <a:rPr lang="en-US" sz="3200" i="0" dirty="0">
                <a:latin typeface="Times New Roman" pitchFamily="18" charset="0"/>
              </a:rPr>
              <a:t> </a:t>
            </a:r>
            <a:r>
              <a:rPr lang="en-US" sz="3200" i="0" dirty="0" err="1">
                <a:latin typeface="Times New Roman" pitchFamily="18" charset="0"/>
              </a:rPr>
              <a:t>được</a:t>
            </a:r>
            <a:r>
              <a:rPr lang="en-US" sz="3200" i="0" dirty="0">
                <a:latin typeface="Times New Roman" pitchFamily="18" charset="0"/>
              </a:rPr>
              <a:t> </a:t>
            </a:r>
            <a:r>
              <a:rPr lang="en-US" sz="3200" i="0" dirty="0" err="1">
                <a:latin typeface="Times New Roman" pitchFamily="18" charset="0"/>
              </a:rPr>
              <a:t>đọc</a:t>
            </a:r>
            <a:r>
              <a:rPr lang="en-US" sz="3200" i="0" dirty="0">
                <a:latin typeface="Times New Roman" pitchFamily="18" charset="0"/>
              </a:rPr>
              <a:t> </a:t>
            </a:r>
            <a:r>
              <a:rPr lang="en-US" sz="3200" i="0" dirty="0" err="1">
                <a:latin typeface="Times New Roman" pitchFamily="18" charset="0"/>
              </a:rPr>
              <a:t>ra</a:t>
            </a:r>
            <a:r>
              <a:rPr lang="en-US" sz="3200" i="0" dirty="0">
                <a:latin typeface="Times New Roman" pitchFamily="18" charset="0"/>
              </a:rPr>
              <a:t> </a:t>
            </a:r>
            <a:r>
              <a:rPr lang="en-US" sz="3200" i="0" dirty="0" err="1">
                <a:latin typeface="Times New Roman" pitchFamily="18" charset="0"/>
              </a:rPr>
              <a:t>bởi</a:t>
            </a:r>
            <a:r>
              <a:rPr lang="en-US" sz="3200" i="0" dirty="0">
                <a:latin typeface="Times New Roman" pitchFamily="18" charset="0"/>
              </a:rPr>
              <a:t> </a:t>
            </a:r>
            <a:r>
              <a:rPr lang="en-US" sz="3200" i="0" dirty="0" err="1">
                <a:latin typeface="Times New Roman" pitchFamily="18" charset="0"/>
              </a:rPr>
              <a:t>chùm</a:t>
            </a:r>
            <a:r>
              <a:rPr lang="en-US" sz="3200" i="0" dirty="0">
                <a:latin typeface="Times New Roman" pitchFamily="18" charset="0"/>
              </a:rPr>
              <a:t> Laser </a:t>
            </a:r>
            <a:r>
              <a:rPr lang="en-US" sz="3200" i="0" dirty="0" err="1">
                <a:latin typeface="Times New Roman" pitchFamily="18" charset="0"/>
              </a:rPr>
              <a:t>từ</a:t>
            </a:r>
            <a:r>
              <a:rPr lang="en-US" sz="3200" i="0" dirty="0">
                <a:latin typeface="Times New Roman" pitchFamily="18" charset="0"/>
              </a:rPr>
              <a:t> 2 </a:t>
            </a:r>
            <a:r>
              <a:rPr lang="en-US" sz="3200" i="0" dirty="0" err="1">
                <a:latin typeface="Times New Roman" pitchFamily="18" charset="0"/>
              </a:rPr>
              <a:t>mặt</a:t>
            </a:r>
            <a:r>
              <a:rPr lang="en-US" sz="3200" i="0" dirty="0">
                <a:latin typeface="Times New Roman" pitchFamily="18" charset="0"/>
              </a:rPr>
              <a:t> </a:t>
            </a:r>
            <a:r>
              <a:rPr lang="en-US" sz="3200" i="0" dirty="0" err="1">
                <a:latin typeface="Times New Roman" pitchFamily="18" charset="0"/>
              </a:rPr>
              <a:t>của</a:t>
            </a:r>
            <a:r>
              <a:rPr lang="en-US" sz="3200" i="0" dirty="0">
                <a:latin typeface="Times New Roman" pitchFamily="18" charset="0"/>
              </a:rPr>
              <a:t> </a:t>
            </a:r>
            <a:r>
              <a:rPr lang="en-US" sz="3200" i="0" dirty="0" err="1">
                <a:latin typeface="Times New Roman" pitchFamily="18" charset="0"/>
              </a:rPr>
              <a:t>đĩa</a:t>
            </a:r>
            <a:r>
              <a:rPr lang="en-US" sz="3200" i="0" dirty="0">
                <a:latin typeface="Times New Roman" pitchFamily="18" charset="0"/>
              </a:rPr>
              <a:t>. </a:t>
            </a: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Các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loại</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Rectangle 4"/>
          <p:cNvSpPr>
            <a:spLocks noGrp="1" noChangeArrowheads="1"/>
          </p:cNvSpPr>
          <p:nvPr>
            <p:ph sz="quarter" idx="1"/>
          </p:nvPr>
        </p:nvSpPr>
        <p:spPr>
          <a:xfrm>
            <a:off x="457200" y="2133600"/>
            <a:ext cx="8334375" cy="3581400"/>
          </a:xfrm>
          <a:noFill/>
          <a:ln/>
        </p:spPr>
        <p:txBody>
          <a:bodyPr>
            <a:normAutofit/>
          </a:bodyPr>
          <a:lstStyle/>
          <a:p>
            <a:r>
              <a:rPr lang="en-US" sz="3600" i="0" dirty="0">
                <a:latin typeface="Times New Roman" pitchFamily="18" charset="0"/>
              </a:rPr>
              <a:t>Do 1 </a:t>
            </a:r>
            <a:r>
              <a:rPr lang="en-US" sz="3600" i="0" dirty="0" err="1">
                <a:latin typeface="Times New Roman" pitchFamily="18" charset="0"/>
              </a:rPr>
              <a:t>nửa</a:t>
            </a:r>
            <a:r>
              <a:rPr lang="en-US" sz="3600" i="0" dirty="0">
                <a:latin typeface="Times New Roman" pitchFamily="18" charset="0"/>
              </a:rPr>
              <a:t> </a:t>
            </a:r>
            <a:r>
              <a:rPr lang="en-US" sz="3600" i="0" dirty="0" err="1">
                <a:latin typeface="Times New Roman" pitchFamily="18" charset="0"/>
              </a:rPr>
              <a:t>dữ</a:t>
            </a:r>
            <a:r>
              <a:rPr lang="en-US" sz="3600" i="0" dirty="0">
                <a:latin typeface="Times New Roman" pitchFamily="18" charset="0"/>
              </a:rPr>
              <a:t> </a:t>
            </a:r>
            <a:r>
              <a:rPr lang="en-US" sz="3600" i="0" dirty="0" err="1">
                <a:latin typeface="Times New Roman" pitchFamily="18" charset="0"/>
              </a:rPr>
              <a:t>liệu</a:t>
            </a:r>
            <a:r>
              <a:rPr lang="en-US" sz="3600" i="0" dirty="0">
                <a:latin typeface="Times New Roman" pitchFamily="18" charset="0"/>
              </a:rPr>
              <a:t> </a:t>
            </a:r>
            <a:r>
              <a:rPr lang="en-US" sz="3600" i="0" dirty="0" err="1">
                <a:latin typeface="Times New Roman" pitchFamily="18" charset="0"/>
              </a:rPr>
              <a:t>nằm</a:t>
            </a:r>
            <a:r>
              <a:rPr lang="en-US" sz="3600" i="0" dirty="0">
                <a:latin typeface="Times New Roman" pitchFamily="18" charset="0"/>
              </a:rPr>
              <a:t> ở </a:t>
            </a:r>
            <a:r>
              <a:rPr lang="en-US" sz="3600" i="0" dirty="0" err="1">
                <a:latin typeface="Times New Roman" pitchFamily="18" charset="0"/>
              </a:rPr>
              <a:t>phía</a:t>
            </a:r>
            <a:r>
              <a:rPr lang="en-US" sz="3600" i="0" dirty="0">
                <a:latin typeface="Times New Roman" pitchFamily="18" charset="0"/>
              </a:rPr>
              <a:t> </a:t>
            </a:r>
            <a:r>
              <a:rPr lang="en-US" sz="3600" i="0" dirty="0" err="1">
                <a:latin typeface="Times New Roman" pitchFamily="18" charset="0"/>
              </a:rPr>
              <a:t>kia</a:t>
            </a:r>
            <a:r>
              <a:rPr lang="en-US" sz="3600" i="0" dirty="0">
                <a:latin typeface="Times New Roman" pitchFamily="18" charset="0"/>
              </a:rPr>
              <a:t> </a:t>
            </a:r>
            <a:r>
              <a:rPr lang="en-US" sz="3600" i="0" dirty="0" err="1">
                <a:latin typeface="Times New Roman" pitchFamily="18" charset="0"/>
              </a:rPr>
              <a:t>của</a:t>
            </a:r>
            <a:r>
              <a:rPr lang="en-US" sz="3600" i="0" dirty="0">
                <a:latin typeface="Times New Roman" pitchFamily="18" charset="0"/>
              </a:rPr>
              <a:t> </a:t>
            </a:r>
            <a:r>
              <a:rPr lang="en-US" sz="3600" i="0" dirty="0" err="1">
                <a:latin typeface="Times New Roman" pitchFamily="18" charset="0"/>
              </a:rPr>
              <a:t>đĩa</a:t>
            </a:r>
            <a:r>
              <a:rPr lang="en-US" sz="3600" i="0" dirty="0">
                <a:latin typeface="Times New Roman" pitchFamily="18" charset="0"/>
              </a:rPr>
              <a:t> </a:t>
            </a:r>
            <a:r>
              <a:rPr lang="en-US" sz="3600" i="0" dirty="0" err="1">
                <a:latin typeface="Times New Roman" pitchFamily="18" charset="0"/>
              </a:rPr>
              <a:t>nên</a:t>
            </a:r>
            <a:r>
              <a:rPr lang="en-US" sz="3600" i="0" dirty="0">
                <a:latin typeface="Times New Roman" pitchFamily="18" charset="0"/>
              </a:rPr>
              <a:t> </a:t>
            </a:r>
            <a:r>
              <a:rPr lang="en-US" sz="3600" i="0" dirty="0" err="1">
                <a:latin typeface="Times New Roman" pitchFamily="18" charset="0"/>
              </a:rPr>
              <a:t>cần</a:t>
            </a:r>
            <a:r>
              <a:rPr lang="en-US" sz="3600" i="0" dirty="0">
                <a:latin typeface="Times New Roman" pitchFamily="18" charset="0"/>
              </a:rPr>
              <a:t> </a:t>
            </a:r>
            <a:r>
              <a:rPr lang="en-US" sz="3600" i="0" dirty="0" err="1">
                <a:latin typeface="Times New Roman" pitchFamily="18" charset="0"/>
              </a:rPr>
              <a:t>đọc</a:t>
            </a:r>
            <a:r>
              <a:rPr lang="en-US" sz="3600" i="0" dirty="0">
                <a:latin typeface="Times New Roman" pitchFamily="18" charset="0"/>
              </a:rPr>
              <a:t> </a:t>
            </a:r>
            <a:r>
              <a:rPr lang="en-US" sz="3600" i="0" dirty="0" err="1">
                <a:latin typeface="Times New Roman" pitchFamily="18" charset="0"/>
              </a:rPr>
              <a:t>thì</a:t>
            </a:r>
            <a:r>
              <a:rPr lang="en-US" sz="3600" i="0" dirty="0">
                <a:latin typeface="Times New Roman" pitchFamily="18" charset="0"/>
              </a:rPr>
              <a:t> </a:t>
            </a:r>
            <a:r>
              <a:rPr lang="en-US" sz="3600" i="0" dirty="0" err="1">
                <a:latin typeface="Times New Roman" pitchFamily="18" charset="0"/>
              </a:rPr>
              <a:t>phải</a:t>
            </a:r>
            <a:r>
              <a:rPr lang="en-US" sz="3600" i="0" dirty="0">
                <a:latin typeface="Times New Roman" pitchFamily="18" charset="0"/>
              </a:rPr>
              <a:t> </a:t>
            </a:r>
            <a:r>
              <a:rPr lang="en-US" sz="3600" i="0" dirty="0" err="1">
                <a:latin typeface="Times New Roman" pitchFamily="18" charset="0"/>
              </a:rPr>
              <a:t>lật</a:t>
            </a:r>
            <a:r>
              <a:rPr lang="en-US" sz="3600" i="0" dirty="0">
                <a:latin typeface="Times New Roman" pitchFamily="18" charset="0"/>
              </a:rPr>
              <a:t> </a:t>
            </a:r>
            <a:r>
              <a:rPr lang="en-US" sz="3600" i="0" dirty="0" err="1">
                <a:latin typeface="Times New Roman" pitchFamily="18" charset="0"/>
              </a:rPr>
              <a:t>sấp</a:t>
            </a:r>
            <a:r>
              <a:rPr lang="en-US" sz="3600" i="0" dirty="0">
                <a:latin typeface="Times New Roman" pitchFamily="18" charset="0"/>
              </a:rPr>
              <a:t> </a:t>
            </a:r>
            <a:r>
              <a:rPr lang="en-US" sz="3600" i="0" dirty="0" err="1">
                <a:latin typeface="Times New Roman" pitchFamily="18" charset="0"/>
              </a:rPr>
              <a:t>đĩa</a:t>
            </a:r>
            <a:r>
              <a:rPr lang="en-US" sz="3600" i="0" dirty="0">
                <a:latin typeface="Times New Roman" pitchFamily="18" charset="0"/>
              </a:rPr>
              <a:t> </a:t>
            </a:r>
            <a:r>
              <a:rPr lang="en-US" sz="3600" i="0" dirty="0" err="1">
                <a:latin typeface="Times New Roman" pitchFamily="18" charset="0"/>
              </a:rPr>
              <a:t>lại</a:t>
            </a:r>
            <a:r>
              <a:rPr lang="en-US" sz="3600" i="0" dirty="0">
                <a:latin typeface="Times New Roman" pitchFamily="18" charset="0"/>
              </a:rPr>
              <a:t>, </a:t>
            </a:r>
            <a:r>
              <a:rPr lang="en-US" sz="3600" i="0" dirty="0" err="1">
                <a:latin typeface="Times New Roman" pitchFamily="18" charset="0"/>
              </a:rPr>
              <a:t>hoặc</a:t>
            </a:r>
            <a:r>
              <a:rPr lang="en-US" sz="3600" i="0" dirty="0">
                <a:latin typeface="Times New Roman" pitchFamily="18" charset="0"/>
              </a:rPr>
              <a:t> </a:t>
            </a:r>
            <a:r>
              <a:rPr lang="en-US" sz="3600" i="0" dirty="0" err="1">
                <a:latin typeface="Times New Roman" pitchFamily="18" charset="0"/>
              </a:rPr>
              <a:t>là</a:t>
            </a:r>
            <a:r>
              <a:rPr lang="en-US" sz="3600" i="0" dirty="0">
                <a:latin typeface="Times New Roman" pitchFamily="18" charset="0"/>
              </a:rPr>
              <a:t> </a:t>
            </a:r>
            <a:r>
              <a:rPr lang="en-US" sz="3600" i="0" dirty="0" err="1">
                <a:latin typeface="Times New Roman" pitchFamily="18" charset="0"/>
              </a:rPr>
              <a:t>phải</a:t>
            </a:r>
            <a:r>
              <a:rPr lang="en-US" sz="3600" i="0" dirty="0">
                <a:latin typeface="Times New Roman" pitchFamily="18" charset="0"/>
              </a:rPr>
              <a:t> </a:t>
            </a:r>
            <a:r>
              <a:rPr lang="en-US" sz="3600" i="0" dirty="0" err="1">
                <a:latin typeface="Times New Roman" pitchFamily="18" charset="0"/>
              </a:rPr>
              <a:t>có</a:t>
            </a:r>
            <a:r>
              <a:rPr lang="en-US" sz="3600" i="0" dirty="0">
                <a:latin typeface="Times New Roman" pitchFamily="18" charset="0"/>
              </a:rPr>
              <a:t> </a:t>
            </a:r>
            <a:r>
              <a:rPr lang="en-US" sz="3600" i="0" dirty="0" err="1">
                <a:latin typeface="Times New Roman" pitchFamily="18" charset="0"/>
              </a:rPr>
              <a:t>loại</a:t>
            </a:r>
            <a:r>
              <a:rPr lang="en-US" sz="3600" i="0" dirty="0">
                <a:latin typeface="Times New Roman" pitchFamily="18" charset="0"/>
              </a:rPr>
              <a:t> </a:t>
            </a:r>
            <a:r>
              <a:rPr lang="en-US" sz="3600" i="0" dirty="0" err="1">
                <a:latin typeface="Times New Roman" pitchFamily="18" charset="0"/>
              </a:rPr>
              <a:t>đầu</a:t>
            </a:r>
            <a:r>
              <a:rPr lang="en-US" sz="3600" i="0" dirty="0">
                <a:latin typeface="Times New Roman" pitchFamily="18" charset="0"/>
              </a:rPr>
              <a:t> </a:t>
            </a:r>
            <a:r>
              <a:rPr lang="en-US" sz="3600" i="0" dirty="0" err="1">
                <a:latin typeface="Times New Roman" pitchFamily="18" charset="0"/>
              </a:rPr>
              <a:t>đọc</a:t>
            </a:r>
            <a:r>
              <a:rPr lang="en-US" sz="3600" i="0" dirty="0">
                <a:latin typeface="Times New Roman" pitchFamily="18" charset="0"/>
              </a:rPr>
              <a:t> </a:t>
            </a:r>
            <a:r>
              <a:rPr lang="en-US" sz="3600" i="0" dirty="0" err="1">
                <a:latin typeface="Times New Roman" pitchFamily="18" charset="0"/>
              </a:rPr>
              <a:t>đĩa</a:t>
            </a:r>
            <a:r>
              <a:rPr lang="en-US" sz="3600" i="0" dirty="0">
                <a:latin typeface="Times New Roman" pitchFamily="18" charset="0"/>
              </a:rPr>
              <a:t> </a:t>
            </a:r>
            <a:r>
              <a:rPr lang="en-US" sz="3600" i="0" dirty="0" err="1">
                <a:latin typeface="Times New Roman" pitchFamily="18" charset="0"/>
              </a:rPr>
              <a:t>có</a:t>
            </a:r>
            <a:r>
              <a:rPr lang="en-US" sz="3600" i="0" dirty="0">
                <a:latin typeface="Times New Roman" pitchFamily="18" charset="0"/>
              </a:rPr>
              <a:t> </a:t>
            </a:r>
            <a:r>
              <a:rPr lang="en-US" sz="3600" i="0" dirty="0" err="1">
                <a:latin typeface="Times New Roman" pitchFamily="18" charset="0"/>
              </a:rPr>
              <a:t>thể</a:t>
            </a:r>
            <a:r>
              <a:rPr lang="en-US" sz="3600" i="0" dirty="0">
                <a:latin typeface="Times New Roman" pitchFamily="18" charset="0"/>
              </a:rPr>
              <a:t> </a:t>
            </a:r>
            <a:r>
              <a:rPr lang="en-US" sz="3600" i="0" dirty="0" err="1">
                <a:latin typeface="Times New Roman" pitchFamily="18" charset="0"/>
              </a:rPr>
              <a:t>đọc</a:t>
            </a:r>
            <a:r>
              <a:rPr lang="en-US" sz="3600" i="0" dirty="0">
                <a:latin typeface="Times New Roman" pitchFamily="18" charset="0"/>
              </a:rPr>
              <a:t> </a:t>
            </a:r>
            <a:r>
              <a:rPr lang="en-US" sz="3600" i="0" dirty="0" err="1">
                <a:latin typeface="Times New Roman" pitchFamily="18" charset="0"/>
              </a:rPr>
              <a:t>được</a:t>
            </a:r>
            <a:r>
              <a:rPr lang="en-US" sz="3600" i="0" dirty="0">
                <a:latin typeface="Times New Roman" pitchFamily="18" charset="0"/>
              </a:rPr>
              <a:t> 2 </a:t>
            </a:r>
            <a:r>
              <a:rPr lang="en-US" sz="3600" i="0" dirty="0" err="1">
                <a:latin typeface="Times New Roman" pitchFamily="18" charset="0"/>
              </a:rPr>
              <a:t>mặt</a:t>
            </a:r>
            <a:r>
              <a:rPr lang="en-US" sz="3600" i="0" dirty="0">
                <a:latin typeface="Times New Roman" pitchFamily="18" charset="0"/>
              </a:rPr>
              <a:t>. </a:t>
            </a:r>
          </a:p>
          <a:p>
            <a:r>
              <a:rPr lang="en-US" sz="3600" i="0" dirty="0" err="1">
                <a:latin typeface="Times New Roman" pitchFamily="18" charset="0"/>
              </a:rPr>
              <a:t>Dĩ</a:t>
            </a:r>
            <a:r>
              <a:rPr lang="en-US" sz="3600" i="0" dirty="0">
                <a:latin typeface="Times New Roman" pitchFamily="18" charset="0"/>
              </a:rPr>
              <a:t> </a:t>
            </a:r>
            <a:r>
              <a:rPr lang="en-US" sz="3600" i="0" dirty="0" err="1">
                <a:latin typeface="Times New Roman" pitchFamily="18" charset="0"/>
              </a:rPr>
              <a:t>nhiên</a:t>
            </a:r>
            <a:r>
              <a:rPr lang="en-US" sz="3600" i="0" dirty="0">
                <a:latin typeface="Times New Roman" pitchFamily="18" charset="0"/>
              </a:rPr>
              <a:t> </a:t>
            </a:r>
            <a:r>
              <a:rPr lang="en-US" sz="3600" i="0" dirty="0" err="1">
                <a:latin typeface="Times New Roman" pitchFamily="18" charset="0"/>
              </a:rPr>
              <a:t>là</a:t>
            </a:r>
            <a:r>
              <a:rPr lang="en-US" sz="3600" i="0" dirty="0">
                <a:latin typeface="Times New Roman" pitchFamily="18" charset="0"/>
              </a:rPr>
              <a:t> dung </a:t>
            </a:r>
            <a:r>
              <a:rPr lang="en-US" sz="3600" i="0" dirty="0" err="1">
                <a:latin typeface="Times New Roman" pitchFamily="18" charset="0"/>
              </a:rPr>
              <a:t>lượng</a:t>
            </a:r>
            <a:r>
              <a:rPr lang="en-US" sz="3600" i="0" dirty="0">
                <a:latin typeface="Times New Roman" pitchFamily="18" charset="0"/>
              </a:rPr>
              <a:t> </a:t>
            </a:r>
            <a:r>
              <a:rPr lang="en-US" sz="3600" i="0" dirty="0" err="1">
                <a:latin typeface="Times New Roman" pitchFamily="18" charset="0"/>
              </a:rPr>
              <a:t>đĩa</a:t>
            </a:r>
            <a:r>
              <a:rPr lang="en-US" sz="3600" i="0" dirty="0">
                <a:latin typeface="Times New Roman" pitchFamily="18" charset="0"/>
              </a:rPr>
              <a:t> </a:t>
            </a:r>
            <a:r>
              <a:rPr lang="en-US" sz="3600" i="0" dirty="0" err="1">
                <a:latin typeface="Times New Roman" pitchFamily="18" charset="0"/>
              </a:rPr>
              <a:t>phải</a:t>
            </a:r>
            <a:r>
              <a:rPr lang="en-US" sz="3600" i="0" dirty="0">
                <a:latin typeface="Times New Roman" pitchFamily="18" charset="0"/>
              </a:rPr>
              <a:t> </a:t>
            </a:r>
            <a:r>
              <a:rPr lang="en-US" sz="3600" i="0" dirty="0" err="1">
                <a:latin typeface="Times New Roman" pitchFamily="18" charset="0"/>
              </a:rPr>
              <a:t>được</a:t>
            </a:r>
            <a:r>
              <a:rPr lang="en-US" sz="3600" i="0" dirty="0">
                <a:latin typeface="Times New Roman" pitchFamily="18" charset="0"/>
              </a:rPr>
              <a:t> </a:t>
            </a:r>
            <a:r>
              <a:rPr lang="en-US" sz="3600" i="0" dirty="0" err="1">
                <a:latin typeface="Times New Roman" pitchFamily="18" charset="0"/>
              </a:rPr>
              <a:t>tăng</a:t>
            </a:r>
            <a:r>
              <a:rPr lang="en-US" sz="3600" i="0" dirty="0">
                <a:latin typeface="Times New Roman" pitchFamily="18" charset="0"/>
              </a:rPr>
              <a:t> </a:t>
            </a:r>
            <a:r>
              <a:rPr lang="en-US" sz="3600" i="0" dirty="0" err="1">
                <a:latin typeface="Times New Roman" pitchFamily="18" charset="0"/>
              </a:rPr>
              <a:t>gấp</a:t>
            </a:r>
            <a:r>
              <a:rPr lang="en-US" sz="3600" i="0" dirty="0">
                <a:latin typeface="Times New Roman" pitchFamily="18" charset="0"/>
              </a:rPr>
              <a:t> </a:t>
            </a:r>
            <a:r>
              <a:rPr lang="en-US" sz="3600" i="0" dirty="0" err="1">
                <a:latin typeface="Times New Roman" pitchFamily="18" charset="0"/>
              </a:rPr>
              <a:t>đôi</a:t>
            </a:r>
            <a:r>
              <a:rPr lang="en-US" sz="3600" i="0" dirty="0">
                <a:latin typeface="Times New Roman" pitchFamily="18" charset="0"/>
              </a:rPr>
              <a:t> 9.4 GB so </a:t>
            </a:r>
            <a:r>
              <a:rPr lang="en-US" sz="3600" i="0" dirty="0" err="1">
                <a:latin typeface="Times New Roman" pitchFamily="18" charset="0"/>
              </a:rPr>
              <a:t>với</a:t>
            </a:r>
            <a:r>
              <a:rPr lang="en-US" sz="3600" i="0" dirty="0">
                <a:latin typeface="Times New Roman" pitchFamily="18" charset="0"/>
              </a:rPr>
              <a:t> </a:t>
            </a:r>
            <a:r>
              <a:rPr lang="en-US" sz="3600" i="0" dirty="0" err="1">
                <a:latin typeface="Times New Roman" pitchFamily="18" charset="0"/>
              </a:rPr>
              <a:t>của</a:t>
            </a:r>
            <a:r>
              <a:rPr lang="en-US" sz="3600" i="0" dirty="0">
                <a:latin typeface="Times New Roman" pitchFamily="18" charset="0"/>
              </a:rPr>
              <a:t> DVD-5.</a:t>
            </a: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Các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loại</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3" name="Rectangle 5"/>
          <p:cNvSpPr>
            <a:spLocks noGrp="1" noChangeArrowheads="1"/>
          </p:cNvSpPr>
          <p:nvPr>
            <p:ph sz="quarter" idx="1"/>
          </p:nvPr>
        </p:nvSpPr>
        <p:spPr>
          <a:xfrm>
            <a:off x="381000" y="1828800"/>
            <a:ext cx="7958138" cy="609600"/>
          </a:xfrm>
          <a:noFill/>
          <a:ln/>
        </p:spPr>
        <p:txBody>
          <a:bodyPr>
            <a:normAutofit/>
          </a:bodyPr>
          <a:lstStyle/>
          <a:p>
            <a:r>
              <a:rPr lang="en-US" i="0" dirty="0">
                <a:solidFill>
                  <a:schemeClr val="tx2"/>
                </a:solidFill>
                <a:latin typeface="Times New Roman" pitchFamily="18" charset="0"/>
              </a:rPr>
              <a:t>Minh </a:t>
            </a:r>
            <a:r>
              <a:rPr lang="en-US" i="0" dirty="0" err="1">
                <a:solidFill>
                  <a:schemeClr val="tx2"/>
                </a:solidFill>
                <a:latin typeface="Times New Roman" pitchFamily="18" charset="0"/>
              </a:rPr>
              <a:t>họa</a:t>
            </a:r>
            <a:r>
              <a:rPr lang="en-US" i="0" dirty="0">
                <a:solidFill>
                  <a:schemeClr val="tx2"/>
                </a:solidFill>
                <a:latin typeface="Times New Roman" pitchFamily="18" charset="0"/>
              </a:rPr>
              <a:t> </a:t>
            </a:r>
            <a:r>
              <a:rPr lang="en-US" i="0" dirty="0" err="1">
                <a:solidFill>
                  <a:schemeClr val="tx2"/>
                </a:solidFill>
                <a:latin typeface="Times New Roman" pitchFamily="18" charset="0"/>
              </a:rPr>
              <a:t>cấu</a:t>
            </a:r>
            <a:r>
              <a:rPr lang="en-US" i="0" dirty="0">
                <a:solidFill>
                  <a:schemeClr val="tx2"/>
                </a:solidFill>
                <a:latin typeface="Times New Roman" pitchFamily="18" charset="0"/>
              </a:rPr>
              <a:t> </a:t>
            </a:r>
            <a:r>
              <a:rPr lang="en-US" i="0" dirty="0" err="1">
                <a:solidFill>
                  <a:schemeClr val="tx2"/>
                </a:solidFill>
                <a:latin typeface="Times New Roman" pitchFamily="18" charset="0"/>
              </a:rPr>
              <a:t>tạo</a:t>
            </a:r>
            <a:r>
              <a:rPr lang="en-US" i="0" dirty="0">
                <a:solidFill>
                  <a:schemeClr val="tx2"/>
                </a:solidFill>
                <a:latin typeface="Times New Roman" pitchFamily="18" charset="0"/>
              </a:rPr>
              <a:t>:</a:t>
            </a:r>
            <a:endParaRPr lang="en-US" sz="3600" i="0" dirty="0">
              <a:solidFill>
                <a:schemeClr val="tx2"/>
              </a:solidFill>
              <a:latin typeface="Times New Roman" pitchFamily="18" charset="0"/>
            </a:endParaRPr>
          </a:p>
        </p:txBody>
      </p:sp>
      <p:pic>
        <p:nvPicPr>
          <p:cNvPr id="135175" name="Picture 7"/>
          <p:cNvPicPr>
            <a:picLocks noChangeAspect="1" noChangeArrowheads="1"/>
          </p:cNvPicPr>
          <p:nvPr/>
        </p:nvPicPr>
        <p:blipFill>
          <a:blip r:embed="rId2" cstate="print"/>
          <a:srcRect/>
          <a:stretch>
            <a:fillRect/>
          </a:stretch>
        </p:blipFill>
        <p:spPr bwMode="auto">
          <a:xfrm>
            <a:off x="2057400" y="2743200"/>
            <a:ext cx="5029200" cy="3951288"/>
          </a:xfrm>
          <a:prstGeom prst="rect">
            <a:avLst/>
          </a:prstGeom>
          <a:noFill/>
        </p:spPr>
      </p:pic>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Các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loại</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7" name="Rectangle 5"/>
          <p:cNvSpPr>
            <a:spLocks noGrp="1" noChangeArrowheads="1"/>
          </p:cNvSpPr>
          <p:nvPr>
            <p:ph sz="quarter" idx="1"/>
          </p:nvPr>
        </p:nvSpPr>
        <p:spPr>
          <a:xfrm>
            <a:off x="381000" y="2667000"/>
            <a:ext cx="8334375" cy="2667000"/>
          </a:xfrm>
          <a:noFill/>
          <a:ln/>
        </p:spPr>
        <p:txBody>
          <a:bodyPr/>
          <a:lstStyle/>
          <a:p>
            <a:r>
              <a:rPr lang="en-US" i="0" dirty="0">
                <a:latin typeface="Times New Roman" pitchFamily="18" charset="0"/>
              </a:rPr>
              <a:t>DVD-18 </a:t>
            </a:r>
            <a:r>
              <a:rPr lang="en-US" i="0" dirty="0" err="1">
                <a:latin typeface="Times New Roman" pitchFamily="18" charset="0"/>
              </a:rPr>
              <a:t>cũng</a:t>
            </a:r>
            <a:r>
              <a:rPr lang="en-US" i="0" dirty="0">
                <a:latin typeface="Times New Roman" pitchFamily="18" charset="0"/>
              </a:rPr>
              <a:t> </a:t>
            </a:r>
            <a:r>
              <a:rPr lang="en-US" i="0" dirty="0" err="1">
                <a:latin typeface="Times New Roman" pitchFamily="18" charset="0"/>
              </a:rPr>
              <a:t>có</a:t>
            </a:r>
            <a:r>
              <a:rPr lang="en-US" i="0" dirty="0">
                <a:latin typeface="Times New Roman" pitchFamily="18" charset="0"/>
              </a:rPr>
              <a:t> 2 </a:t>
            </a:r>
            <a:r>
              <a:rPr lang="en-US" i="0" dirty="0" err="1">
                <a:latin typeface="Times New Roman" pitchFamily="18" charset="0"/>
              </a:rPr>
              <a:t>lớp</a:t>
            </a:r>
            <a:r>
              <a:rPr lang="en-US" i="0" dirty="0">
                <a:latin typeface="Times New Roman" pitchFamily="18" charset="0"/>
              </a:rPr>
              <a:t> </a:t>
            </a:r>
            <a:r>
              <a:rPr lang="en-US" i="0" dirty="0" err="1">
                <a:latin typeface="Times New Roman" pitchFamily="18" charset="0"/>
              </a:rPr>
              <a:t>như</a:t>
            </a:r>
            <a:r>
              <a:rPr lang="en-US" i="0" dirty="0">
                <a:latin typeface="Times New Roman" pitchFamily="18" charset="0"/>
              </a:rPr>
              <a:t> </a:t>
            </a:r>
            <a:r>
              <a:rPr lang="en-US" i="0" dirty="0" err="1">
                <a:latin typeface="Times New Roman" pitchFamily="18" charset="0"/>
              </a:rPr>
              <a:t>vậy</a:t>
            </a:r>
            <a:r>
              <a:rPr lang="en-US" i="0" dirty="0">
                <a:latin typeface="Times New Roman" pitchFamily="18" charset="0"/>
              </a:rPr>
              <a:t> </a:t>
            </a:r>
            <a:r>
              <a:rPr lang="en-US" i="0" dirty="0" err="1">
                <a:latin typeface="Times New Roman" pitchFamily="18" charset="0"/>
              </a:rPr>
              <a:t>nhưng</a:t>
            </a:r>
            <a:r>
              <a:rPr lang="en-US" i="0" dirty="0">
                <a:latin typeface="Times New Roman" pitchFamily="18" charset="0"/>
              </a:rPr>
              <a:t> 2 </a:t>
            </a:r>
            <a:r>
              <a:rPr lang="en-US" i="0" dirty="0" err="1">
                <a:latin typeface="Times New Roman" pitchFamily="18" charset="0"/>
              </a:rPr>
              <a:t>lớp</a:t>
            </a:r>
            <a:r>
              <a:rPr lang="en-US" i="0" dirty="0">
                <a:latin typeface="Times New Roman" pitchFamily="18" charset="0"/>
              </a:rPr>
              <a:t> </a:t>
            </a:r>
            <a:r>
              <a:rPr lang="en-US" i="0" dirty="0" err="1">
                <a:latin typeface="Times New Roman" pitchFamily="18" charset="0"/>
              </a:rPr>
              <a:t>dữ</a:t>
            </a:r>
            <a:r>
              <a:rPr lang="en-US" i="0" dirty="0">
                <a:latin typeface="Times New Roman" pitchFamily="18" charset="0"/>
              </a:rPr>
              <a:t> </a:t>
            </a:r>
            <a:r>
              <a:rPr lang="en-US" i="0" dirty="0" err="1">
                <a:latin typeface="Times New Roman" pitchFamily="18" charset="0"/>
              </a:rPr>
              <a:t>liệu</a:t>
            </a:r>
            <a:r>
              <a:rPr lang="en-US" i="0" dirty="0">
                <a:latin typeface="Times New Roman" pitchFamily="18" charset="0"/>
              </a:rPr>
              <a:t>, </a:t>
            </a:r>
            <a:r>
              <a:rPr lang="en-US" i="0" dirty="0" err="1">
                <a:latin typeface="Times New Roman" pitchFamily="18" charset="0"/>
              </a:rPr>
              <a:t>mà</a:t>
            </a:r>
            <a:r>
              <a:rPr lang="en-US" i="0" dirty="0">
                <a:latin typeface="Times New Roman" pitchFamily="18" charset="0"/>
              </a:rPr>
              <a:t> </a:t>
            </a:r>
            <a:r>
              <a:rPr lang="en-US" i="0" dirty="0" err="1">
                <a:latin typeface="Times New Roman" pitchFamily="18" charset="0"/>
              </a:rPr>
              <a:t>mỗi</a:t>
            </a:r>
            <a:r>
              <a:rPr lang="en-US" i="0" dirty="0">
                <a:latin typeface="Times New Roman" pitchFamily="18" charset="0"/>
              </a:rPr>
              <a:t> </a:t>
            </a:r>
            <a:r>
              <a:rPr lang="en-US" i="0" dirty="0" err="1">
                <a:latin typeface="Times New Roman" pitchFamily="18" charset="0"/>
              </a:rPr>
              <a:t>lớp</a:t>
            </a:r>
            <a:r>
              <a:rPr lang="en-US" i="0" dirty="0">
                <a:latin typeface="Times New Roman" pitchFamily="18" charset="0"/>
              </a:rPr>
              <a:t> </a:t>
            </a:r>
            <a:r>
              <a:rPr lang="en-US" i="0" dirty="0" err="1">
                <a:latin typeface="Times New Roman" pitchFamily="18" charset="0"/>
              </a:rPr>
              <a:t>lại</a:t>
            </a:r>
            <a:r>
              <a:rPr lang="en-US" i="0" dirty="0">
                <a:latin typeface="Times New Roman" pitchFamily="18" charset="0"/>
              </a:rPr>
              <a:t> </a:t>
            </a:r>
            <a:r>
              <a:rPr lang="en-US" i="0" dirty="0" err="1">
                <a:latin typeface="Times New Roman" pitchFamily="18" charset="0"/>
              </a:rPr>
              <a:t>được</a:t>
            </a:r>
            <a:r>
              <a:rPr lang="en-US" i="0" dirty="0">
                <a:latin typeface="Times New Roman" pitchFamily="18" charset="0"/>
              </a:rPr>
              <a:t> </a:t>
            </a:r>
            <a:r>
              <a:rPr lang="en-US" i="0" dirty="0" err="1">
                <a:latin typeface="Times New Roman" pitchFamily="18" charset="0"/>
              </a:rPr>
              <a:t>đọc</a:t>
            </a:r>
            <a:r>
              <a:rPr lang="en-US" i="0" dirty="0">
                <a:latin typeface="Times New Roman" pitchFamily="18" charset="0"/>
              </a:rPr>
              <a:t> </a:t>
            </a:r>
            <a:r>
              <a:rPr lang="en-US" i="0" dirty="0" err="1">
                <a:latin typeface="Times New Roman" pitchFamily="18" charset="0"/>
              </a:rPr>
              <a:t>bởi</a:t>
            </a:r>
            <a:r>
              <a:rPr lang="en-US" i="0" dirty="0">
                <a:latin typeface="Times New Roman" pitchFamily="18" charset="0"/>
              </a:rPr>
              <a:t> 2 </a:t>
            </a:r>
            <a:r>
              <a:rPr lang="en-US" i="0" dirty="0" err="1">
                <a:latin typeface="Times New Roman" pitchFamily="18" charset="0"/>
              </a:rPr>
              <a:t>chùm</a:t>
            </a:r>
            <a:r>
              <a:rPr lang="en-US" i="0" dirty="0">
                <a:latin typeface="Times New Roman" pitchFamily="18" charset="0"/>
              </a:rPr>
              <a:t> </a:t>
            </a:r>
            <a:r>
              <a:rPr lang="en-US" i="0" dirty="0" err="1">
                <a:latin typeface="Times New Roman" pitchFamily="18" charset="0"/>
              </a:rPr>
              <a:t>tia</a:t>
            </a:r>
            <a:r>
              <a:rPr lang="en-US" i="0" dirty="0">
                <a:latin typeface="Times New Roman" pitchFamily="18" charset="0"/>
              </a:rPr>
              <a:t> laser.</a:t>
            </a:r>
          </a:p>
          <a:p>
            <a:r>
              <a:rPr lang="en-US" i="0" dirty="0">
                <a:latin typeface="Times New Roman" pitchFamily="18" charset="0"/>
              </a:rPr>
              <a:t>Do </a:t>
            </a:r>
            <a:r>
              <a:rPr lang="en-US" i="0" dirty="0" err="1">
                <a:latin typeface="Times New Roman" pitchFamily="18" charset="0"/>
              </a:rPr>
              <a:t>đó</a:t>
            </a:r>
            <a:r>
              <a:rPr lang="en-US" i="0" dirty="0">
                <a:latin typeface="Times New Roman" pitchFamily="18" charset="0"/>
              </a:rPr>
              <a:t> </a:t>
            </a:r>
            <a:r>
              <a:rPr lang="en-US" i="0" dirty="0" err="1">
                <a:latin typeface="Times New Roman" pitchFamily="18" charset="0"/>
              </a:rPr>
              <a:t>nó</a:t>
            </a:r>
            <a:r>
              <a:rPr lang="en-US" i="0" dirty="0">
                <a:latin typeface="Times New Roman" pitchFamily="18" charset="0"/>
              </a:rPr>
              <a:t> </a:t>
            </a:r>
            <a:r>
              <a:rPr lang="en-US" i="0" dirty="0" err="1">
                <a:latin typeface="Times New Roman" pitchFamily="18" charset="0"/>
              </a:rPr>
              <a:t>có</a:t>
            </a:r>
            <a:r>
              <a:rPr lang="en-US" i="0" dirty="0">
                <a:latin typeface="Times New Roman" pitchFamily="18" charset="0"/>
              </a:rPr>
              <a:t> dung </a:t>
            </a:r>
            <a:r>
              <a:rPr lang="en-US" i="0" dirty="0" err="1">
                <a:latin typeface="Times New Roman" pitchFamily="18" charset="0"/>
              </a:rPr>
              <a:t>lượng</a:t>
            </a:r>
            <a:r>
              <a:rPr lang="en-US" i="0" dirty="0">
                <a:latin typeface="Times New Roman" pitchFamily="18" charset="0"/>
              </a:rPr>
              <a:t> </a:t>
            </a:r>
            <a:r>
              <a:rPr lang="en-US" i="0" dirty="0" err="1">
                <a:latin typeface="Times New Roman" pitchFamily="18" charset="0"/>
              </a:rPr>
              <a:t>lơn</a:t>
            </a:r>
            <a:r>
              <a:rPr lang="en-US" i="0" dirty="0">
                <a:latin typeface="Times New Roman" pitchFamily="18" charset="0"/>
              </a:rPr>
              <a:t> </a:t>
            </a:r>
            <a:r>
              <a:rPr lang="en-US" i="0" dirty="0" err="1">
                <a:latin typeface="Times New Roman" pitchFamily="18" charset="0"/>
              </a:rPr>
              <a:t>hơn</a:t>
            </a:r>
            <a:r>
              <a:rPr lang="en-US" i="0" dirty="0">
                <a:latin typeface="Times New Roman" pitchFamily="18" charset="0"/>
              </a:rPr>
              <a:t> </a:t>
            </a:r>
            <a:r>
              <a:rPr lang="en-US" i="0" dirty="0" err="1">
                <a:latin typeface="Times New Roman" pitchFamily="18" charset="0"/>
              </a:rPr>
              <a:t>và</a:t>
            </a:r>
            <a:r>
              <a:rPr lang="en-US" i="0" dirty="0">
                <a:latin typeface="Times New Roman" pitchFamily="18" charset="0"/>
              </a:rPr>
              <a:t> </a:t>
            </a:r>
            <a:r>
              <a:rPr lang="en-US" i="0" dirty="0" err="1">
                <a:latin typeface="Times New Roman" pitchFamily="18" charset="0"/>
              </a:rPr>
              <a:t>độ</a:t>
            </a:r>
            <a:r>
              <a:rPr lang="en-US" i="0" dirty="0">
                <a:latin typeface="Times New Roman" pitchFamily="18" charset="0"/>
              </a:rPr>
              <a:t> </a:t>
            </a:r>
            <a:r>
              <a:rPr lang="en-US" i="0" dirty="0" err="1">
                <a:latin typeface="Times New Roman" pitchFamily="18" charset="0"/>
              </a:rPr>
              <a:t>phức</a:t>
            </a:r>
            <a:r>
              <a:rPr lang="en-US" i="0" dirty="0">
                <a:latin typeface="Times New Roman" pitchFamily="18" charset="0"/>
              </a:rPr>
              <a:t> </a:t>
            </a:r>
            <a:r>
              <a:rPr lang="en-US" i="0" dirty="0" err="1">
                <a:latin typeface="Times New Roman" pitchFamily="18" charset="0"/>
              </a:rPr>
              <a:t>tạp</a:t>
            </a:r>
            <a:r>
              <a:rPr lang="en-US" i="0" dirty="0">
                <a:latin typeface="Times New Roman" pitchFamily="18" charset="0"/>
              </a:rPr>
              <a:t> </a:t>
            </a:r>
            <a:r>
              <a:rPr lang="en-US" i="0" dirty="0" err="1">
                <a:latin typeface="Times New Roman" pitchFamily="18" charset="0"/>
              </a:rPr>
              <a:t>cũng</a:t>
            </a:r>
            <a:r>
              <a:rPr lang="en-US" i="0" dirty="0">
                <a:latin typeface="Times New Roman" pitchFamily="18" charset="0"/>
              </a:rPr>
              <a:t> </a:t>
            </a:r>
            <a:r>
              <a:rPr lang="en-US" i="0" dirty="0" err="1">
                <a:latin typeface="Times New Roman" pitchFamily="18" charset="0"/>
              </a:rPr>
              <a:t>tăng</a:t>
            </a:r>
            <a:r>
              <a:rPr lang="en-US" i="0" dirty="0">
                <a:latin typeface="Times New Roman" pitchFamily="18" charset="0"/>
              </a:rPr>
              <a:t> </a:t>
            </a:r>
            <a:r>
              <a:rPr lang="en-US" i="0" dirty="0" err="1">
                <a:latin typeface="Times New Roman" pitchFamily="18" charset="0"/>
              </a:rPr>
              <a:t>lên</a:t>
            </a:r>
            <a:r>
              <a:rPr lang="en-US" i="0" dirty="0">
                <a:latin typeface="Times New Roman" pitchFamily="18" charset="0"/>
              </a:rPr>
              <a:t> </a:t>
            </a:r>
            <a:r>
              <a:rPr lang="en-US" i="0" dirty="0" err="1">
                <a:latin typeface="Times New Roman" pitchFamily="18" charset="0"/>
              </a:rPr>
              <a:t>nhiều</a:t>
            </a:r>
            <a:r>
              <a:rPr lang="en-US" i="0" dirty="0">
                <a:latin typeface="Times New Roman" pitchFamily="18" charset="0"/>
              </a:rPr>
              <a:t>.</a:t>
            </a: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Các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loại</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1" name="Rectangle 5"/>
          <p:cNvSpPr>
            <a:spLocks noGrp="1" noChangeArrowheads="1"/>
          </p:cNvSpPr>
          <p:nvPr>
            <p:ph sz="quarter" idx="1"/>
          </p:nvPr>
        </p:nvSpPr>
        <p:spPr>
          <a:xfrm>
            <a:off x="381000" y="1676400"/>
            <a:ext cx="7958138" cy="533400"/>
          </a:xfrm>
          <a:noFill/>
          <a:ln/>
        </p:spPr>
        <p:txBody>
          <a:bodyPr>
            <a:normAutofit/>
          </a:bodyPr>
          <a:lstStyle/>
          <a:p>
            <a:pPr>
              <a:lnSpc>
                <a:spcPct val="90000"/>
              </a:lnSpc>
            </a:pPr>
            <a:r>
              <a:rPr lang="en-US" i="0" dirty="0">
                <a:solidFill>
                  <a:schemeClr val="tx2"/>
                </a:solidFill>
                <a:latin typeface="Times New Roman" pitchFamily="18" charset="0"/>
              </a:rPr>
              <a:t>Minh </a:t>
            </a:r>
            <a:r>
              <a:rPr lang="en-US" i="0" dirty="0" err="1">
                <a:solidFill>
                  <a:schemeClr val="tx2"/>
                </a:solidFill>
                <a:latin typeface="Times New Roman" pitchFamily="18" charset="0"/>
              </a:rPr>
              <a:t>họa</a:t>
            </a:r>
            <a:r>
              <a:rPr lang="en-US" i="0" dirty="0">
                <a:solidFill>
                  <a:schemeClr val="tx2"/>
                </a:solidFill>
                <a:latin typeface="Times New Roman" pitchFamily="18" charset="0"/>
              </a:rPr>
              <a:t> </a:t>
            </a:r>
            <a:r>
              <a:rPr lang="en-US" i="0" dirty="0" err="1">
                <a:solidFill>
                  <a:schemeClr val="tx2"/>
                </a:solidFill>
                <a:latin typeface="Times New Roman" pitchFamily="18" charset="0"/>
              </a:rPr>
              <a:t>cấu</a:t>
            </a:r>
            <a:r>
              <a:rPr lang="en-US" i="0" dirty="0">
                <a:solidFill>
                  <a:schemeClr val="tx2"/>
                </a:solidFill>
                <a:latin typeface="Times New Roman" pitchFamily="18" charset="0"/>
              </a:rPr>
              <a:t> </a:t>
            </a:r>
            <a:r>
              <a:rPr lang="en-US" i="0" dirty="0" err="1">
                <a:solidFill>
                  <a:schemeClr val="tx2"/>
                </a:solidFill>
                <a:latin typeface="Times New Roman" pitchFamily="18" charset="0"/>
              </a:rPr>
              <a:t>tạo</a:t>
            </a:r>
            <a:r>
              <a:rPr lang="en-US" i="0" dirty="0">
                <a:solidFill>
                  <a:schemeClr val="tx2"/>
                </a:solidFill>
                <a:latin typeface="Times New Roman" pitchFamily="18" charset="0"/>
              </a:rPr>
              <a:t>:</a:t>
            </a:r>
            <a:endParaRPr lang="en-US" sz="3600" i="0" dirty="0">
              <a:solidFill>
                <a:schemeClr val="tx2"/>
              </a:solidFill>
              <a:latin typeface="Times New Roman" pitchFamily="18" charset="0"/>
            </a:endParaRPr>
          </a:p>
        </p:txBody>
      </p:sp>
      <p:pic>
        <p:nvPicPr>
          <p:cNvPr id="137223" name="Picture 7"/>
          <p:cNvPicPr>
            <a:picLocks noChangeAspect="1" noChangeArrowheads="1"/>
          </p:cNvPicPr>
          <p:nvPr/>
        </p:nvPicPr>
        <p:blipFill>
          <a:blip r:embed="rId2" cstate="print"/>
          <a:srcRect/>
          <a:stretch>
            <a:fillRect/>
          </a:stretch>
        </p:blipFill>
        <p:spPr bwMode="auto">
          <a:xfrm>
            <a:off x="2209800" y="2438400"/>
            <a:ext cx="4876800" cy="4083050"/>
          </a:xfrm>
          <a:prstGeom prst="rect">
            <a:avLst/>
          </a:prstGeom>
          <a:noFill/>
        </p:spPr>
      </p:pic>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baseline="0" noProof="0" dirty="0" err="1">
                <a:ln>
                  <a:noFill/>
                </a:ln>
                <a:solidFill>
                  <a:schemeClr val="tx2"/>
                </a:solidFill>
                <a:effectLst/>
                <a:uLnTx/>
                <a:uFillTx/>
                <a:latin typeface="+mn-lt"/>
                <a:ea typeface="+mn-ea"/>
                <a:cs typeface="+mn-cs"/>
              </a:rPr>
              <a:t>Các</a:t>
            </a:r>
            <a:r>
              <a:rPr kumimoji="0" lang="en-US" sz="4400" b="0" i="0" u="none" strike="noStrike" kern="1200" cap="none" spc="0" normalizeH="0" noProof="0" dirty="0">
                <a:ln>
                  <a:noFill/>
                </a:ln>
                <a:solidFill>
                  <a:schemeClr val="tx2"/>
                </a:solidFill>
                <a:effectLst/>
                <a:uLnTx/>
                <a:uFillTx/>
                <a:latin typeface="+mn-lt"/>
                <a:ea typeface="+mn-ea"/>
                <a:cs typeface="+mn-cs"/>
              </a:rPr>
              <a:t> </a:t>
            </a:r>
            <a:r>
              <a:rPr kumimoji="0" lang="en-US" sz="4400" b="0" i="0" u="none" strike="noStrike" kern="1200" cap="none" spc="0" normalizeH="0" noProof="0" dirty="0" err="1">
                <a:ln>
                  <a:noFill/>
                </a:ln>
                <a:solidFill>
                  <a:schemeClr val="tx2"/>
                </a:solidFill>
                <a:effectLst/>
                <a:uLnTx/>
                <a:uFillTx/>
                <a:latin typeface="+mn-lt"/>
                <a:ea typeface="+mn-ea"/>
                <a:cs typeface="+mn-cs"/>
              </a:rPr>
              <a:t>loại</a:t>
            </a:r>
            <a:r>
              <a:rPr kumimoji="0" lang="en-US" sz="4400" b="0" i="0" u="none" strike="noStrike" kern="1200" cap="none" spc="0" normalizeH="0" noProof="0" dirty="0">
                <a:ln>
                  <a:noFill/>
                </a:ln>
                <a:solidFill>
                  <a:schemeClr val="tx2"/>
                </a:solidFill>
                <a:effectLst/>
                <a:uLnTx/>
                <a:uFillTx/>
                <a:latin typeface="+mn-lt"/>
                <a:ea typeface="+mn-ea"/>
                <a:cs typeface="+mn-cs"/>
              </a:rPr>
              <a:t> DVD</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5" name="Rectangle 5"/>
          <p:cNvSpPr>
            <a:spLocks noGrp="1" noChangeArrowheads="1"/>
          </p:cNvSpPr>
          <p:nvPr>
            <p:ph sz="quarter" idx="1"/>
          </p:nvPr>
        </p:nvSpPr>
        <p:spPr>
          <a:xfrm>
            <a:off x="381000" y="1981200"/>
            <a:ext cx="8334375" cy="3733800"/>
          </a:xfrm>
          <a:noFill/>
          <a:ln/>
        </p:spPr>
        <p:txBody>
          <a:bodyPr/>
          <a:lstStyle/>
          <a:p>
            <a:r>
              <a:rPr lang="en-US" i="0" dirty="0" err="1">
                <a:latin typeface="Times New Roman" pitchFamily="18" charset="0"/>
              </a:rPr>
              <a:t>Ngày</a:t>
            </a:r>
            <a:r>
              <a:rPr lang="en-US" i="0" dirty="0">
                <a:latin typeface="Times New Roman" pitchFamily="18" charset="0"/>
              </a:rPr>
              <a:t> nay </a:t>
            </a:r>
            <a:r>
              <a:rPr lang="en-US" i="0" dirty="0" err="1">
                <a:latin typeface="Times New Roman" pitchFamily="18" charset="0"/>
              </a:rPr>
              <a:t>đầu</a:t>
            </a:r>
            <a:r>
              <a:rPr lang="en-US" i="0" dirty="0">
                <a:latin typeface="Times New Roman" pitchFamily="18" charset="0"/>
              </a:rPr>
              <a:t> </a:t>
            </a:r>
            <a:r>
              <a:rPr lang="en-US" i="0" dirty="0" err="1">
                <a:latin typeface="Times New Roman" pitchFamily="18" charset="0"/>
              </a:rPr>
              <a:t>đọc</a:t>
            </a:r>
            <a:r>
              <a:rPr lang="en-US" i="0" dirty="0">
                <a:latin typeface="Times New Roman" pitchFamily="18" charset="0"/>
              </a:rPr>
              <a:t> </a:t>
            </a:r>
            <a:r>
              <a:rPr lang="en-US" i="0" dirty="0" err="1">
                <a:latin typeface="Times New Roman" pitchFamily="18" charset="0"/>
              </a:rPr>
              <a:t>đĩa</a:t>
            </a:r>
            <a:r>
              <a:rPr lang="en-US" i="0" dirty="0">
                <a:latin typeface="Times New Roman" pitchFamily="18" charset="0"/>
              </a:rPr>
              <a:t> DVD </a:t>
            </a:r>
            <a:r>
              <a:rPr lang="en-US" i="0" dirty="0" err="1">
                <a:latin typeface="Times New Roman" pitchFamily="18" charset="0"/>
              </a:rPr>
              <a:t>thì</a:t>
            </a:r>
            <a:r>
              <a:rPr lang="en-US" i="0" dirty="0">
                <a:latin typeface="Times New Roman" pitchFamily="18" charset="0"/>
              </a:rPr>
              <a:t> </a:t>
            </a:r>
            <a:r>
              <a:rPr lang="en-US" i="0" dirty="0" err="1">
                <a:latin typeface="Times New Roman" pitchFamily="18" charset="0"/>
              </a:rPr>
              <a:t>hầu</a:t>
            </a:r>
            <a:r>
              <a:rPr lang="en-US" i="0" dirty="0">
                <a:latin typeface="Times New Roman" pitchFamily="18" charset="0"/>
              </a:rPr>
              <a:t> </a:t>
            </a:r>
            <a:r>
              <a:rPr lang="en-US" i="0" dirty="0" err="1">
                <a:latin typeface="Times New Roman" pitchFamily="18" charset="0"/>
              </a:rPr>
              <a:t>như</a:t>
            </a:r>
            <a:r>
              <a:rPr lang="en-US" i="0" dirty="0">
                <a:latin typeface="Times New Roman" pitchFamily="18" charset="0"/>
              </a:rPr>
              <a:t> </a:t>
            </a:r>
            <a:r>
              <a:rPr lang="en-US" i="0" dirty="0" err="1">
                <a:latin typeface="Times New Roman" pitchFamily="18" charset="0"/>
              </a:rPr>
              <a:t>cũng</a:t>
            </a:r>
            <a:r>
              <a:rPr lang="en-US" i="0" dirty="0">
                <a:latin typeface="Times New Roman" pitchFamily="18" charset="0"/>
              </a:rPr>
              <a:t> </a:t>
            </a:r>
            <a:r>
              <a:rPr lang="en-US" i="0" dirty="0" err="1">
                <a:latin typeface="Times New Roman" pitchFamily="18" charset="0"/>
              </a:rPr>
              <a:t>đọc</a:t>
            </a:r>
            <a:r>
              <a:rPr lang="en-US" i="0" dirty="0">
                <a:latin typeface="Times New Roman" pitchFamily="18" charset="0"/>
              </a:rPr>
              <a:t> </a:t>
            </a:r>
            <a:r>
              <a:rPr lang="en-US" i="0" dirty="0" err="1">
                <a:latin typeface="Times New Roman" pitchFamily="18" charset="0"/>
              </a:rPr>
              <a:t>được</a:t>
            </a:r>
            <a:r>
              <a:rPr lang="en-US" i="0" dirty="0">
                <a:latin typeface="Times New Roman" pitchFamily="18" charset="0"/>
              </a:rPr>
              <a:t> </a:t>
            </a:r>
            <a:r>
              <a:rPr lang="en-US" i="0" dirty="0" err="1">
                <a:latin typeface="Times New Roman" pitchFamily="18" charset="0"/>
              </a:rPr>
              <a:t>các</a:t>
            </a:r>
            <a:r>
              <a:rPr lang="en-US" i="0" dirty="0">
                <a:latin typeface="Times New Roman" pitchFamily="18" charset="0"/>
              </a:rPr>
              <a:t> </a:t>
            </a:r>
            <a:r>
              <a:rPr lang="en-US" i="0" dirty="0" err="1">
                <a:latin typeface="Times New Roman" pitchFamily="18" charset="0"/>
              </a:rPr>
              <a:t>loại</a:t>
            </a:r>
            <a:r>
              <a:rPr lang="en-US" i="0" dirty="0">
                <a:latin typeface="Times New Roman" pitchFamily="18" charset="0"/>
              </a:rPr>
              <a:t> </a:t>
            </a:r>
            <a:r>
              <a:rPr lang="en-US" i="0" dirty="0" err="1">
                <a:latin typeface="Times New Roman" pitchFamily="18" charset="0"/>
              </a:rPr>
              <a:t>khác</a:t>
            </a:r>
            <a:r>
              <a:rPr lang="en-US" i="0" dirty="0">
                <a:latin typeface="Times New Roman" pitchFamily="18" charset="0"/>
              </a:rPr>
              <a:t> </a:t>
            </a:r>
            <a:r>
              <a:rPr lang="en-US" i="0" dirty="0" err="1">
                <a:latin typeface="Times New Roman" pitchFamily="18" charset="0"/>
              </a:rPr>
              <a:t>như</a:t>
            </a:r>
            <a:r>
              <a:rPr lang="en-US" i="0" dirty="0">
                <a:latin typeface="Times New Roman" pitchFamily="18" charset="0"/>
              </a:rPr>
              <a:t>: DVD-RAM DVD-ROM, DVD-Video, DVD-R, CD-Audio, CD-ROM, CD-R, CD-RW, VCD.</a:t>
            </a:r>
          </a:p>
          <a:p>
            <a:r>
              <a:rPr lang="en-US" i="0" dirty="0" err="1">
                <a:latin typeface="Times New Roman" pitchFamily="18" charset="0"/>
              </a:rPr>
              <a:t>Loại</a:t>
            </a:r>
            <a:r>
              <a:rPr lang="en-US" i="0" dirty="0">
                <a:latin typeface="Times New Roman" pitchFamily="18" charset="0"/>
              </a:rPr>
              <a:t> </a:t>
            </a:r>
            <a:r>
              <a:rPr lang="en-US" i="0" dirty="0" err="1">
                <a:latin typeface="Times New Roman" pitchFamily="18" charset="0"/>
              </a:rPr>
              <a:t>đĩa</a:t>
            </a:r>
            <a:r>
              <a:rPr lang="en-US" i="0" dirty="0">
                <a:latin typeface="Times New Roman" pitchFamily="18" charset="0"/>
              </a:rPr>
              <a:t> </a:t>
            </a:r>
            <a:r>
              <a:rPr lang="en-US" i="0" dirty="0" err="1">
                <a:latin typeface="Times New Roman" pitchFamily="18" charset="0"/>
              </a:rPr>
              <a:t>ghi</a:t>
            </a:r>
            <a:r>
              <a:rPr lang="en-US" i="0" dirty="0">
                <a:latin typeface="Times New Roman" pitchFamily="18" charset="0"/>
              </a:rPr>
              <a:t> DVD </a:t>
            </a:r>
            <a:r>
              <a:rPr lang="en-US" i="0" dirty="0" err="1">
                <a:latin typeface="Times New Roman" pitchFamily="18" charset="0"/>
              </a:rPr>
              <a:t>rõ</a:t>
            </a:r>
            <a:r>
              <a:rPr lang="en-US" i="0" dirty="0">
                <a:latin typeface="Times New Roman" pitchFamily="18" charset="0"/>
              </a:rPr>
              <a:t> </a:t>
            </a:r>
            <a:r>
              <a:rPr lang="en-US" i="0" dirty="0" err="1">
                <a:latin typeface="Times New Roman" pitchFamily="18" charset="0"/>
              </a:rPr>
              <a:t>ràng</a:t>
            </a:r>
            <a:r>
              <a:rPr lang="en-US" i="0" dirty="0">
                <a:latin typeface="Times New Roman" pitchFamily="18" charset="0"/>
              </a:rPr>
              <a:t> </a:t>
            </a:r>
            <a:r>
              <a:rPr lang="en-US" i="0" dirty="0" err="1">
                <a:latin typeface="Times New Roman" pitchFamily="18" charset="0"/>
              </a:rPr>
              <a:t>là</a:t>
            </a:r>
            <a:r>
              <a:rPr lang="en-US" i="0" dirty="0">
                <a:latin typeface="Times New Roman" pitchFamily="18" charset="0"/>
              </a:rPr>
              <a:t> </a:t>
            </a:r>
            <a:r>
              <a:rPr lang="en-US" i="0" dirty="0" err="1">
                <a:latin typeface="Times New Roman" pitchFamily="18" charset="0"/>
              </a:rPr>
              <a:t>phức</a:t>
            </a:r>
            <a:r>
              <a:rPr lang="en-US" i="0" dirty="0">
                <a:latin typeface="Times New Roman" pitchFamily="18" charset="0"/>
              </a:rPr>
              <a:t> </a:t>
            </a:r>
            <a:r>
              <a:rPr lang="en-US" i="0" dirty="0" err="1">
                <a:latin typeface="Times New Roman" pitchFamily="18" charset="0"/>
              </a:rPr>
              <a:t>tạp</a:t>
            </a:r>
            <a:r>
              <a:rPr lang="en-US" i="0" dirty="0">
                <a:latin typeface="Times New Roman" pitchFamily="18" charset="0"/>
              </a:rPr>
              <a:t> </a:t>
            </a:r>
            <a:r>
              <a:rPr lang="en-US" i="0" dirty="0" err="1">
                <a:latin typeface="Times New Roman" pitchFamily="18" charset="0"/>
              </a:rPr>
              <a:t>hơn</a:t>
            </a:r>
            <a:r>
              <a:rPr lang="en-US" i="0" dirty="0">
                <a:latin typeface="Times New Roman" pitchFamily="18" charset="0"/>
              </a:rPr>
              <a:t> DVD-ROM </a:t>
            </a:r>
            <a:r>
              <a:rPr lang="en-US" i="0" dirty="0" err="1">
                <a:latin typeface="Times New Roman" pitchFamily="18" charset="0"/>
              </a:rPr>
              <a:t>thông</a:t>
            </a:r>
            <a:r>
              <a:rPr lang="en-US" i="0" dirty="0">
                <a:latin typeface="Times New Roman" pitchFamily="18" charset="0"/>
              </a:rPr>
              <a:t> </a:t>
            </a:r>
            <a:r>
              <a:rPr lang="en-US" i="0" dirty="0" err="1">
                <a:latin typeface="Times New Roman" pitchFamily="18" charset="0"/>
              </a:rPr>
              <a:t>thường</a:t>
            </a:r>
            <a:r>
              <a:rPr lang="en-US" i="0" dirty="0">
                <a:latin typeface="Times New Roman" pitchFamily="18" charset="0"/>
              </a:rPr>
              <a:t>, Laser </a:t>
            </a:r>
            <a:r>
              <a:rPr lang="en-US" i="0" dirty="0" err="1">
                <a:latin typeface="Times New Roman" pitchFamily="18" charset="0"/>
              </a:rPr>
              <a:t>phụ</a:t>
            </a:r>
            <a:r>
              <a:rPr lang="en-US" i="0" dirty="0">
                <a:latin typeface="Times New Roman" pitchFamily="18" charset="0"/>
              </a:rPr>
              <a:t> </a:t>
            </a:r>
            <a:r>
              <a:rPr lang="en-US" i="0" dirty="0" err="1">
                <a:latin typeface="Times New Roman" pitchFamily="18" charset="0"/>
              </a:rPr>
              <a:t>thuộc</a:t>
            </a:r>
            <a:r>
              <a:rPr lang="en-US" i="0" dirty="0">
                <a:latin typeface="Times New Roman" pitchFamily="18" charset="0"/>
              </a:rPr>
              <a:t> </a:t>
            </a:r>
            <a:r>
              <a:rPr lang="en-US" i="0" dirty="0" err="1">
                <a:latin typeface="Times New Roman" pitchFamily="18" charset="0"/>
              </a:rPr>
              <a:t>vào</a:t>
            </a:r>
            <a:r>
              <a:rPr lang="en-US" i="0" dirty="0">
                <a:latin typeface="Times New Roman" pitchFamily="18" charset="0"/>
              </a:rPr>
              <a:t> </a:t>
            </a:r>
            <a:r>
              <a:rPr lang="en-US" i="0" dirty="0" err="1">
                <a:latin typeface="Times New Roman" pitchFamily="18" charset="0"/>
              </a:rPr>
              <a:t>mức</a:t>
            </a:r>
            <a:r>
              <a:rPr lang="en-US" i="0" dirty="0">
                <a:latin typeface="Times New Roman" pitchFamily="18" charset="0"/>
              </a:rPr>
              <a:t> </a:t>
            </a:r>
            <a:r>
              <a:rPr lang="en-US" i="0" dirty="0" err="1">
                <a:latin typeface="Times New Roman" pitchFamily="18" charset="0"/>
              </a:rPr>
              <a:t>năng</a:t>
            </a:r>
            <a:r>
              <a:rPr lang="en-US" i="0" dirty="0">
                <a:latin typeface="Times New Roman" pitchFamily="18" charset="0"/>
              </a:rPr>
              <a:t> </a:t>
            </a:r>
            <a:r>
              <a:rPr lang="en-US" i="0" dirty="0" err="1">
                <a:latin typeface="Times New Roman" pitchFamily="18" charset="0"/>
              </a:rPr>
              <a:t>lượng</a:t>
            </a:r>
            <a:r>
              <a:rPr lang="en-US" i="0" dirty="0">
                <a:latin typeface="Times New Roman" pitchFamily="18" charset="0"/>
              </a:rPr>
              <a:t> </a:t>
            </a:r>
            <a:r>
              <a:rPr lang="en-US" i="0" dirty="0" err="1">
                <a:latin typeface="Times New Roman" pitchFamily="18" charset="0"/>
              </a:rPr>
              <a:t>để</a:t>
            </a:r>
            <a:r>
              <a:rPr lang="en-US" i="0" dirty="0">
                <a:latin typeface="Times New Roman" pitchFamily="18" charset="0"/>
              </a:rPr>
              <a:t> </a:t>
            </a:r>
            <a:r>
              <a:rPr lang="en-US" i="0" dirty="0" err="1">
                <a:latin typeface="Times New Roman" pitchFamily="18" charset="0"/>
              </a:rPr>
              <a:t>đọc</a:t>
            </a:r>
            <a:r>
              <a:rPr lang="en-US" i="0" dirty="0">
                <a:latin typeface="Times New Roman" pitchFamily="18" charset="0"/>
              </a:rPr>
              <a:t>, </a:t>
            </a:r>
            <a:r>
              <a:rPr lang="en-US" i="0" dirty="0" err="1">
                <a:latin typeface="Times New Roman" pitchFamily="18" charset="0"/>
              </a:rPr>
              <a:t>xoá</a:t>
            </a:r>
            <a:r>
              <a:rPr lang="en-US" i="0" dirty="0">
                <a:latin typeface="Times New Roman" pitchFamily="18" charset="0"/>
              </a:rPr>
              <a:t> </a:t>
            </a:r>
            <a:r>
              <a:rPr lang="en-US" i="0" dirty="0" err="1">
                <a:latin typeface="Times New Roman" pitchFamily="18" charset="0"/>
              </a:rPr>
              <a:t>và</a:t>
            </a:r>
            <a:r>
              <a:rPr lang="en-US" i="0" dirty="0">
                <a:latin typeface="Times New Roman" pitchFamily="18" charset="0"/>
              </a:rPr>
              <a:t> </a:t>
            </a:r>
            <a:r>
              <a:rPr lang="en-US" i="0" dirty="0" err="1">
                <a:latin typeface="Times New Roman" pitchFamily="18" charset="0"/>
              </a:rPr>
              <a:t>ghi</a:t>
            </a:r>
            <a:r>
              <a:rPr lang="en-US" i="0" dirty="0">
                <a:latin typeface="Times New Roman" pitchFamily="18" charset="0"/>
              </a:rPr>
              <a:t>. </a:t>
            </a:r>
          </a:p>
        </p:txBody>
      </p:sp>
      <p:sp>
        <p:nvSpPr>
          <p:cNvPr id="5" name="Title 1"/>
          <p:cNvSpPr txBox="1">
            <a:spLocks/>
          </p:cNvSpPr>
          <p:nvPr/>
        </p:nvSpPr>
        <p:spPr>
          <a:xfrm>
            <a:off x="609600" y="381000"/>
            <a:ext cx="8153400" cy="609600"/>
          </a:xfrm>
          <a:prstGeom prst="rect">
            <a:avLst/>
          </a:prstGeom>
        </p:spPr>
        <p:txBody>
          <a:bodyPr vert="horz">
            <a:normAutofit fontScale="92500" lnSpcReduction="20000"/>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DVD-R </a:t>
            </a:r>
            <a:r>
              <a:rPr kumimoji="0" lang="en-US" sz="4400" b="0" i="0" u="none" strike="noStrike" kern="1200" cap="none" spc="0" normalizeH="0" noProof="0" dirty="0" err="1">
                <a:ln>
                  <a:noFill/>
                </a:ln>
                <a:solidFill>
                  <a:schemeClr val="tx2"/>
                </a:solidFill>
                <a:effectLst/>
                <a:uLnTx/>
                <a:uFillTx/>
                <a:latin typeface="+mn-lt"/>
                <a:ea typeface="+mn-ea"/>
                <a:cs typeface="+mn-cs"/>
              </a:rPr>
              <a:t>và</a:t>
            </a:r>
            <a:r>
              <a:rPr kumimoji="0" lang="en-US" sz="4400" b="0" i="0" u="none" strike="noStrike" kern="1200" cap="none" spc="0" normalizeH="0" noProof="0" dirty="0">
                <a:ln>
                  <a:noFill/>
                </a:ln>
                <a:solidFill>
                  <a:schemeClr val="tx2"/>
                </a:solidFill>
                <a:effectLst/>
                <a:uLnTx/>
                <a:uFillTx/>
                <a:latin typeface="+mn-lt"/>
                <a:ea typeface="+mn-ea"/>
                <a:cs typeface="+mn-cs"/>
              </a:rPr>
              <a:t> DVD-RW hay DVD-RAM</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9" name="Rectangle 5"/>
          <p:cNvSpPr>
            <a:spLocks noGrp="1" noChangeArrowheads="1"/>
          </p:cNvSpPr>
          <p:nvPr>
            <p:ph sz="quarter" idx="1"/>
          </p:nvPr>
        </p:nvSpPr>
        <p:spPr>
          <a:xfrm>
            <a:off x="609600" y="2057400"/>
            <a:ext cx="8334375" cy="3276600"/>
          </a:xfrm>
          <a:noFill/>
          <a:ln/>
        </p:spPr>
        <p:txBody>
          <a:bodyPr/>
          <a:lstStyle/>
          <a:p>
            <a:r>
              <a:rPr lang="en-US" i="0" dirty="0" err="1">
                <a:latin typeface="Times New Roman" pitchFamily="18" charset="0"/>
              </a:rPr>
              <a:t>Ứng</a:t>
            </a:r>
            <a:r>
              <a:rPr lang="en-US" i="0" dirty="0">
                <a:latin typeface="Times New Roman" pitchFamily="18" charset="0"/>
              </a:rPr>
              <a:t> </a:t>
            </a:r>
            <a:r>
              <a:rPr lang="en-US" i="0" dirty="0" err="1">
                <a:latin typeface="Times New Roman" pitchFamily="18" charset="0"/>
              </a:rPr>
              <a:t>dụng</a:t>
            </a:r>
            <a:r>
              <a:rPr lang="en-US" i="0" dirty="0">
                <a:latin typeface="Times New Roman" pitchFamily="18" charset="0"/>
              </a:rPr>
              <a:t> video DVD </a:t>
            </a:r>
            <a:r>
              <a:rPr lang="en-US" i="0" dirty="0" err="1">
                <a:latin typeface="Times New Roman" pitchFamily="18" charset="0"/>
              </a:rPr>
              <a:t>phụ</a:t>
            </a:r>
            <a:r>
              <a:rPr lang="en-US" i="0" dirty="0">
                <a:latin typeface="Times New Roman" pitchFamily="18" charset="0"/>
              </a:rPr>
              <a:t> </a:t>
            </a:r>
            <a:r>
              <a:rPr lang="en-US" i="0" dirty="0" err="1">
                <a:latin typeface="Times New Roman" pitchFamily="18" charset="0"/>
              </a:rPr>
              <a:t>thuộc</a:t>
            </a:r>
            <a:r>
              <a:rPr lang="en-US" i="0" dirty="0">
                <a:latin typeface="Times New Roman" pitchFamily="18" charset="0"/>
              </a:rPr>
              <a:t> </a:t>
            </a:r>
            <a:r>
              <a:rPr lang="en-US" i="0" dirty="0" err="1">
                <a:latin typeface="Times New Roman" pitchFamily="18" charset="0"/>
              </a:rPr>
              <a:t>nhiều</a:t>
            </a:r>
            <a:r>
              <a:rPr lang="en-US" i="0" dirty="0">
                <a:latin typeface="Times New Roman" pitchFamily="18" charset="0"/>
              </a:rPr>
              <a:t> </a:t>
            </a:r>
            <a:r>
              <a:rPr lang="en-US" i="0" dirty="0" err="1">
                <a:latin typeface="Times New Roman" pitchFamily="18" charset="0"/>
              </a:rPr>
              <a:t>vào</a:t>
            </a:r>
            <a:r>
              <a:rPr lang="en-US" i="0" dirty="0">
                <a:latin typeface="Times New Roman" pitchFamily="18" charset="0"/>
              </a:rPr>
              <a:t> </a:t>
            </a:r>
            <a:r>
              <a:rPr lang="en-US" i="0" dirty="0" err="1">
                <a:latin typeface="Times New Roman" pitchFamily="18" charset="0"/>
              </a:rPr>
              <a:t>định</a:t>
            </a:r>
            <a:r>
              <a:rPr lang="en-US" i="0" dirty="0">
                <a:latin typeface="Times New Roman" pitchFamily="18" charset="0"/>
              </a:rPr>
              <a:t> </a:t>
            </a:r>
            <a:r>
              <a:rPr lang="en-US" i="0" dirty="0" err="1">
                <a:latin typeface="Times New Roman" pitchFamily="18" charset="0"/>
              </a:rPr>
              <a:t>dạng</a:t>
            </a:r>
            <a:r>
              <a:rPr lang="en-US" i="0" dirty="0">
                <a:latin typeface="Times New Roman" pitchFamily="18" charset="0"/>
              </a:rPr>
              <a:t> </a:t>
            </a:r>
            <a:r>
              <a:rPr lang="en-US" i="0" dirty="0" err="1">
                <a:latin typeface="Times New Roman" pitchFamily="18" charset="0"/>
              </a:rPr>
              <a:t>dữ</a:t>
            </a:r>
            <a:r>
              <a:rPr lang="en-US" i="0" dirty="0">
                <a:latin typeface="Times New Roman" pitchFamily="18" charset="0"/>
              </a:rPr>
              <a:t> </a:t>
            </a:r>
            <a:r>
              <a:rPr lang="en-US" i="0" dirty="0" err="1">
                <a:latin typeface="Times New Roman" pitchFamily="18" charset="0"/>
              </a:rPr>
              <a:t>liệu</a:t>
            </a:r>
            <a:r>
              <a:rPr lang="en-US" i="0" dirty="0">
                <a:latin typeface="Times New Roman" pitchFamily="18" charset="0"/>
              </a:rPr>
              <a:t>. </a:t>
            </a:r>
          </a:p>
          <a:p>
            <a:r>
              <a:rPr lang="en-US" i="0" dirty="0" err="1">
                <a:latin typeface="Times New Roman" pitchFamily="18" charset="0"/>
              </a:rPr>
              <a:t>Dữ</a:t>
            </a:r>
            <a:r>
              <a:rPr lang="en-US" i="0" dirty="0">
                <a:latin typeface="Times New Roman" pitchFamily="18" charset="0"/>
              </a:rPr>
              <a:t> </a:t>
            </a:r>
            <a:r>
              <a:rPr lang="en-US" i="0" dirty="0" err="1">
                <a:latin typeface="Times New Roman" pitchFamily="18" charset="0"/>
              </a:rPr>
              <a:t>liệu</a:t>
            </a:r>
            <a:r>
              <a:rPr lang="en-US" i="0" dirty="0">
                <a:latin typeface="Times New Roman" pitchFamily="18" charset="0"/>
              </a:rPr>
              <a:t> ở </a:t>
            </a:r>
            <a:r>
              <a:rPr lang="en-US" i="0" dirty="0" err="1">
                <a:latin typeface="Times New Roman" pitchFamily="18" charset="0"/>
              </a:rPr>
              <a:t>lớp</a:t>
            </a:r>
            <a:r>
              <a:rPr lang="en-US" i="0" dirty="0">
                <a:latin typeface="Times New Roman" pitchFamily="18" charset="0"/>
              </a:rPr>
              <a:t> </a:t>
            </a:r>
            <a:r>
              <a:rPr lang="en-US" i="0" dirty="0" err="1">
                <a:latin typeface="Times New Roman" pitchFamily="18" charset="0"/>
              </a:rPr>
              <a:t>thứ</a:t>
            </a:r>
            <a:r>
              <a:rPr lang="en-US" i="0" dirty="0">
                <a:latin typeface="Times New Roman" pitchFamily="18" charset="0"/>
              </a:rPr>
              <a:t> </a:t>
            </a:r>
            <a:r>
              <a:rPr lang="en-US" i="0" dirty="0" err="1">
                <a:latin typeface="Times New Roman" pitchFamily="18" charset="0"/>
              </a:rPr>
              <a:t>nhất</a:t>
            </a:r>
            <a:r>
              <a:rPr lang="en-US" i="0" dirty="0">
                <a:latin typeface="Times New Roman" pitchFamily="18" charset="0"/>
              </a:rPr>
              <a:t> </a:t>
            </a:r>
            <a:r>
              <a:rPr lang="en-US" i="0" dirty="0" err="1">
                <a:latin typeface="Times New Roman" pitchFamily="18" charset="0"/>
              </a:rPr>
              <a:t>được</a:t>
            </a:r>
            <a:r>
              <a:rPr lang="en-US" i="0" dirty="0">
                <a:latin typeface="Times New Roman" pitchFamily="18" charset="0"/>
              </a:rPr>
              <a:t> </a:t>
            </a:r>
            <a:r>
              <a:rPr lang="en-US" i="0" dirty="0" err="1">
                <a:latin typeface="Times New Roman" pitchFamily="18" charset="0"/>
              </a:rPr>
              <a:t>bắt</a:t>
            </a:r>
            <a:r>
              <a:rPr lang="en-US" i="0" dirty="0">
                <a:latin typeface="Times New Roman" pitchFamily="18" charset="0"/>
              </a:rPr>
              <a:t> </a:t>
            </a:r>
            <a:r>
              <a:rPr lang="en-US" i="0" dirty="0" err="1">
                <a:latin typeface="Times New Roman" pitchFamily="18" charset="0"/>
              </a:rPr>
              <a:t>đầu</a:t>
            </a:r>
            <a:r>
              <a:rPr lang="en-US" i="0" dirty="0">
                <a:latin typeface="Times New Roman" pitchFamily="18" charset="0"/>
              </a:rPr>
              <a:t> </a:t>
            </a:r>
            <a:r>
              <a:rPr lang="en-US" i="0" dirty="0" err="1">
                <a:latin typeface="Times New Roman" pitchFamily="18" charset="0"/>
              </a:rPr>
              <a:t>từ</a:t>
            </a:r>
            <a:r>
              <a:rPr lang="en-US" i="0" dirty="0">
                <a:latin typeface="Times New Roman" pitchFamily="18" charset="0"/>
              </a:rPr>
              <a:t> </a:t>
            </a:r>
            <a:r>
              <a:rPr lang="en-US" i="0" dirty="0" err="1">
                <a:latin typeface="Times New Roman" pitchFamily="18" charset="0"/>
              </a:rPr>
              <a:t>trong</a:t>
            </a:r>
            <a:r>
              <a:rPr lang="en-US" i="0" dirty="0">
                <a:latin typeface="Times New Roman" pitchFamily="18" charset="0"/>
              </a:rPr>
              <a:t> </a:t>
            </a:r>
            <a:r>
              <a:rPr lang="en-US" i="0" dirty="0" err="1">
                <a:latin typeface="Times New Roman" pitchFamily="18" charset="0"/>
              </a:rPr>
              <a:t>ra</a:t>
            </a:r>
            <a:r>
              <a:rPr lang="en-US" i="0" dirty="0">
                <a:latin typeface="Times New Roman" pitchFamily="18" charset="0"/>
              </a:rPr>
              <a:t> </a:t>
            </a:r>
            <a:r>
              <a:rPr lang="en-US" i="0" dirty="0" err="1">
                <a:latin typeface="Times New Roman" pitchFamily="18" charset="0"/>
              </a:rPr>
              <a:t>ngoài</a:t>
            </a:r>
            <a:r>
              <a:rPr lang="en-US" i="0" dirty="0">
                <a:latin typeface="Times New Roman" pitchFamily="18" charset="0"/>
              </a:rPr>
              <a:t> </a:t>
            </a:r>
            <a:r>
              <a:rPr lang="en-US" i="0" dirty="0" err="1">
                <a:latin typeface="Times New Roman" pitchFamily="18" charset="0"/>
              </a:rPr>
              <a:t>còn</a:t>
            </a:r>
            <a:r>
              <a:rPr lang="en-US" i="0" dirty="0">
                <a:latin typeface="Times New Roman" pitchFamily="18" charset="0"/>
              </a:rPr>
              <a:t> </a:t>
            </a:r>
            <a:r>
              <a:rPr lang="en-US" i="0" dirty="0" err="1">
                <a:latin typeface="Times New Roman" pitchFamily="18" charset="0"/>
              </a:rPr>
              <a:t>lớp</a:t>
            </a:r>
            <a:r>
              <a:rPr lang="en-US" i="0" dirty="0">
                <a:latin typeface="Times New Roman" pitchFamily="18" charset="0"/>
              </a:rPr>
              <a:t> </a:t>
            </a:r>
            <a:r>
              <a:rPr lang="en-US" i="0" dirty="0" err="1">
                <a:latin typeface="Times New Roman" pitchFamily="18" charset="0"/>
              </a:rPr>
              <a:t>thứ</a:t>
            </a:r>
            <a:r>
              <a:rPr lang="en-US" i="0" dirty="0">
                <a:latin typeface="Times New Roman" pitchFamily="18" charset="0"/>
              </a:rPr>
              <a:t> 2 </a:t>
            </a:r>
            <a:r>
              <a:rPr lang="en-US" i="0" dirty="0" err="1">
                <a:latin typeface="Times New Roman" pitchFamily="18" charset="0"/>
              </a:rPr>
              <a:t>thì</a:t>
            </a:r>
            <a:r>
              <a:rPr lang="en-US" i="0" dirty="0">
                <a:latin typeface="Times New Roman" pitchFamily="18" charset="0"/>
              </a:rPr>
              <a:t> </a:t>
            </a:r>
            <a:r>
              <a:rPr lang="en-US" i="0" dirty="0" err="1">
                <a:latin typeface="Times New Roman" pitchFamily="18" charset="0"/>
              </a:rPr>
              <a:t>ngược</a:t>
            </a:r>
            <a:r>
              <a:rPr lang="en-US" i="0" dirty="0">
                <a:latin typeface="Times New Roman" pitchFamily="18" charset="0"/>
              </a:rPr>
              <a:t> </a:t>
            </a:r>
            <a:r>
              <a:rPr lang="en-US" i="0" dirty="0" err="1">
                <a:latin typeface="Times New Roman" pitchFamily="18" charset="0"/>
              </a:rPr>
              <a:t>lại</a:t>
            </a:r>
            <a:r>
              <a:rPr lang="en-US" i="0" dirty="0">
                <a:latin typeface="Times New Roman" pitchFamily="18" charset="0"/>
              </a:rPr>
              <a:t>.</a:t>
            </a:r>
          </a:p>
          <a:p>
            <a:r>
              <a:rPr lang="en-US" i="0" dirty="0" err="1">
                <a:latin typeface="Times New Roman" pitchFamily="18" charset="0"/>
              </a:rPr>
              <a:t>Có</a:t>
            </a:r>
            <a:r>
              <a:rPr lang="en-US" i="0" dirty="0">
                <a:latin typeface="Times New Roman" pitchFamily="18" charset="0"/>
              </a:rPr>
              <a:t> 2 </a:t>
            </a:r>
            <a:r>
              <a:rPr lang="en-US" i="0" dirty="0" err="1">
                <a:latin typeface="Times New Roman" pitchFamily="18" charset="0"/>
              </a:rPr>
              <a:t>loại</a:t>
            </a:r>
            <a:r>
              <a:rPr lang="en-US" i="0" dirty="0">
                <a:latin typeface="Times New Roman" pitchFamily="18" charset="0"/>
              </a:rPr>
              <a:t> </a:t>
            </a:r>
            <a:r>
              <a:rPr lang="en-US" i="0" dirty="0" err="1">
                <a:latin typeface="Times New Roman" pitchFamily="18" charset="0"/>
              </a:rPr>
              <a:t>chuẩn</a:t>
            </a:r>
            <a:r>
              <a:rPr lang="en-US" i="0" dirty="0">
                <a:latin typeface="Times New Roman" pitchFamily="18" charset="0"/>
              </a:rPr>
              <a:t> </a:t>
            </a:r>
            <a:r>
              <a:rPr lang="en-US" i="0" dirty="0" err="1">
                <a:latin typeface="Times New Roman" pitchFamily="18" charset="0"/>
              </a:rPr>
              <a:t>nén</a:t>
            </a:r>
            <a:r>
              <a:rPr lang="en-US" i="0" dirty="0">
                <a:latin typeface="Times New Roman" pitchFamily="18" charset="0"/>
              </a:rPr>
              <a:t> </a:t>
            </a:r>
            <a:r>
              <a:rPr lang="en-US" i="0" dirty="0" err="1">
                <a:latin typeface="Times New Roman" pitchFamily="18" charset="0"/>
              </a:rPr>
              <a:t>dữ</a:t>
            </a:r>
            <a:r>
              <a:rPr lang="en-US" i="0" dirty="0">
                <a:latin typeface="Times New Roman" pitchFamily="18" charset="0"/>
              </a:rPr>
              <a:t> </a:t>
            </a:r>
            <a:r>
              <a:rPr lang="en-US" i="0" dirty="0" err="1">
                <a:latin typeface="Times New Roman" pitchFamily="18" charset="0"/>
              </a:rPr>
              <a:t>liệu</a:t>
            </a:r>
            <a:r>
              <a:rPr lang="en-US" i="0" dirty="0">
                <a:latin typeface="Times New Roman" pitchFamily="18" charset="0"/>
              </a:rPr>
              <a:t> </a:t>
            </a:r>
            <a:r>
              <a:rPr lang="en-US" i="0" dirty="0" err="1">
                <a:latin typeface="Times New Roman" pitchFamily="18" charset="0"/>
              </a:rPr>
              <a:t>cơ</a:t>
            </a:r>
            <a:r>
              <a:rPr lang="en-US" i="0" dirty="0">
                <a:latin typeface="Times New Roman" pitchFamily="18" charset="0"/>
              </a:rPr>
              <a:t> </a:t>
            </a:r>
            <a:r>
              <a:rPr lang="en-US" i="0" dirty="0" err="1">
                <a:latin typeface="Times New Roman" pitchFamily="18" charset="0"/>
              </a:rPr>
              <a:t>bản</a:t>
            </a:r>
            <a:r>
              <a:rPr lang="en-US" i="0" dirty="0">
                <a:latin typeface="Times New Roman" pitchFamily="18" charset="0"/>
              </a:rPr>
              <a:t> </a:t>
            </a:r>
            <a:r>
              <a:rPr lang="en-US" i="0" dirty="0" err="1">
                <a:latin typeface="Times New Roman" pitchFamily="18" charset="0"/>
              </a:rPr>
              <a:t>đầu</a:t>
            </a:r>
            <a:r>
              <a:rPr lang="en-US" i="0" dirty="0">
                <a:latin typeface="Times New Roman" pitchFamily="18" charset="0"/>
              </a:rPr>
              <a:t> </a:t>
            </a:r>
            <a:r>
              <a:rPr lang="en-US" i="0" dirty="0" err="1">
                <a:latin typeface="Times New Roman" pitchFamily="18" charset="0"/>
              </a:rPr>
              <a:t>tiên</a:t>
            </a:r>
            <a:r>
              <a:rPr lang="en-US" i="0" dirty="0">
                <a:latin typeface="Times New Roman" pitchFamily="18" charset="0"/>
              </a:rPr>
              <a:t>  </a:t>
            </a:r>
            <a:r>
              <a:rPr lang="en-US" i="0" dirty="0" err="1">
                <a:latin typeface="Times New Roman" pitchFamily="18" charset="0"/>
              </a:rPr>
              <a:t>là</a:t>
            </a:r>
            <a:r>
              <a:rPr lang="en-US" i="0" dirty="0">
                <a:latin typeface="Times New Roman" pitchFamily="18" charset="0"/>
              </a:rPr>
              <a:t> MPEG-1, MPEG-2.</a:t>
            </a:r>
            <a:endParaRPr lang="en-US" sz="3600" i="0" dirty="0">
              <a:latin typeface="Times New Roman" pitchFamily="18" charset="0"/>
            </a:endParaRP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DVD-Video </a:t>
            </a:r>
            <a:r>
              <a:rPr kumimoji="0" lang="en-US" sz="4400" b="0" i="0" u="none" strike="noStrike" kern="1200" cap="none" spc="0" normalizeH="0" noProof="0" dirty="0" err="1">
                <a:ln>
                  <a:noFill/>
                </a:ln>
                <a:solidFill>
                  <a:schemeClr val="tx2"/>
                </a:solidFill>
                <a:effectLst/>
                <a:uLnTx/>
                <a:uFillTx/>
                <a:latin typeface="+mn-lt"/>
                <a:ea typeface="+mn-ea"/>
                <a:cs typeface="+mn-cs"/>
              </a:rPr>
              <a:t>và</a:t>
            </a:r>
            <a:r>
              <a:rPr kumimoji="0" lang="en-US" sz="4400" b="0" i="0" u="none" strike="noStrike" kern="1200" cap="none" spc="0" normalizeH="0" noProof="0" dirty="0">
                <a:ln>
                  <a:noFill/>
                </a:ln>
                <a:solidFill>
                  <a:schemeClr val="tx2"/>
                </a:solidFill>
                <a:effectLst/>
                <a:uLnTx/>
                <a:uFillTx/>
                <a:latin typeface="+mn-lt"/>
                <a:ea typeface="+mn-ea"/>
                <a:cs typeface="+mn-cs"/>
              </a:rPr>
              <a:t> DVD-Audio</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3" name="Rectangle 5"/>
          <p:cNvSpPr>
            <a:spLocks noGrp="1" noChangeArrowheads="1"/>
          </p:cNvSpPr>
          <p:nvPr>
            <p:ph sz="quarter" idx="1"/>
          </p:nvPr>
        </p:nvSpPr>
        <p:spPr>
          <a:xfrm>
            <a:off x="457200" y="1828800"/>
            <a:ext cx="8334375" cy="4643438"/>
          </a:xfrm>
          <a:noFill/>
          <a:ln/>
        </p:spPr>
        <p:txBody>
          <a:bodyPr/>
          <a:lstStyle/>
          <a:p>
            <a:r>
              <a:rPr lang="en-US" i="0" dirty="0">
                <a:latin typeface="Times New Roman" pitchFamily="18" charset="0"/>
              </a:rPr>
              <a:t>MPEG-2 </a:t>
            </a:r>
            <a:r>
              <a:rPr lang="en-US" i="0" dirty="0" err="1">
                <a:latin typeface="Times New Roman" pitchFamily="18" charset="0"/>
              </a:rPr>
              <a:t>có</a:t>
            </a:r>
            <a:r>
              <a:rPr lang="en-US" i="0" dirty="0">
                <a:latin typeface="Times New Roman" pitchFamily="18" charset="0"/>
              </a:rPr>
              <a:t> </a:t>
            </a:r>
            <a:r>
              <a:rPr lang="en-US" i="0" dirty="0" err="1">
                <a:latin typeface="Times New Roman" pitchFamily="18" charset="0"/>
              </a:rPr>
              <a:t>khả</a:t>
            </a:r>
            <a:r>
              <a:rPr lang="en-US" i="0" dirty="0">
                <a:latin typeface="Times New Roman" pitchFamily="18" charset="0"/>
              </a:rPr>
              <a:t> </a:t>
            </a:r>
            <a:r>
              <a:rPr lang="en-US" i="0" dirty="0" err="1">
                <a:latin typeface="Times New Roman" pitchFamily="18" charset="0"/>
              </a:rPr>
              <a:t>năng</a:t>
            </a:r>
            <a:r>
              <a:rPr lang="en-US" i="0" dirty="0">
                <a:latin typeface="Times New Roman" pitchFamily="18" charset="0"/>
              </a:rPr>
              <a:t> </a:t>
            </a:r>
            <a:r>
              <a:rPr lang="en-US" i="0" dirty="0" err="1">
                <a:latin typeface="Times New Roman" pitchFamily="18" charset="0"/>
              </a:rPr>
              <a:t>lọc</a:t>
            </a:r>
            <a:r>
              <a:rPr lang="en-US" i="0" dirty="0">
                <a:latin typeface="Times New Roman" pitchFamily="18" charset="0"/>
              </a:rPr>
              <a:t> </a:t>
            </a:r>
            <a:r>
              <a:rPr lang="en-US" i="0" dirty="0" err="1">
                <a:latin typeface="Times New Roman" pitchFamily="18" charset="0"/>
              </a:rPr>
              <a:t>khoảng</a:t>
            </a:r>
            <a:r>
              <a:rPr lang="en-US" i="0" dirty="0">
                <a:latin typeface="Times New Roman" pitchFamily="18" charset="0"/>
              </a:rPr>
              <a:t> 97% </a:t>
            </a:r>
            <a:r>
              <a:rPr lang="en-US" i="0" dirty="0" err="1">
                <a:latin typeface="Times New Roman" pitchFamily="18" charset="0"/>
              </a:rPr>
              <a:t>tín</a:t>
            </a:r>
            <a:r>
              <a:rPr lang="en-US" i="0" dirty="0">
                <a:latin typeface="Times New Roman" pitchFamily="18" charset="0"/>
              </a:rPr>
              <a:t> </a:t>
            </a:r>
            <a:r>
              <a:rPr lang="en-US" i="0" dirty="0" err="1">
                <a:latin typeface="Times New Roman" pitchFamily="18" charset="0"/>
              </a:rPr>
              <a:t>hiệu</a:t>
            </a:r>
            <a:r>
              <a:rPr lang="en-US" i="0" dirty="0">
                <a:latin typeface="Times New Roman" pitchFamily="18" charset="0"/>
              </a:rPr>
              <a:t> </a:t>
            </a:r>
            <a:r>
              <a:rPr lang="en-US" i="0" dirty="0" err="1">
                <a:latin typeface="Times New Roman" pitchFamily="18" charset="0"/>
              </a:rPr>
              <a:t>hình</a:t>
            </a:r>
            <a:r>
              <a:rPr lang="en-US" i="0" dirty="0">
                <a:latin typeface="Times New Roman" pitchFamily="18" charset="0"/>
              </a:rPr>
              <a:t> </a:t>
            </a:r>
            <a:r>
              <a:rPr lang="en-US" i="0" dirty="0" err="1">
                <a:latin typeface="Times New Roman" pitchFamily="18" charset="0"/>
              </a:rPr>
              <a:t>ảnh</a:t>
            </a:r>
            <a:r>
              <a:rPr lang="en-US" i="0" dirty="0">
                <a:latin typeface="Times New Roman" pitchFamily="18" charset="0"/>
              </a:rPr>
              <a:t> </a:t>
            </a:r>
            <a:r>
              <a:rPr lang="en-US" i="0" dirty="0" err="1">
                <a:latin typeface="Times New Roman" pitchFamily="18" charset="0"/>
              </a:rPr>
              <a:t>mà</a:t>
            </a:r>
            <a:r>
              <a:rPr lang="en-US" i="0" dirty="0">
                <a:latin typeface="Times New Roman" pitchFamily="18" charset="0"/>
              </a:rPr>
              <a:t> </a:t>
            </a:r>
            <a:r>
              <a:rPr lang="en-US" i="0" dirty="0" err="1">
                <a:latin typeface="Times New Roman" pitchFamily="18" charset="0"/>
              </a:rPr>
              <a:t>chất</a:t>
            </a:r>
            <a:r>
              <a:rPr lang="en-US" i="0" dirty="0">
                <a:latin typeface="Times New Roman" pitchFamily="18" charset="0"/>
              </a:rPr>
              <a:t> </a:t>
            </a:r>
            <a:r>
              <a:rPr lang="en-US" i="0" dirty="0" err="1">
                <a:latin typeface="Times New Roman" pitchFamily="18" charset="0"/>
              </a:rPr>
              <a:t>lượng</a:t>
            </a:r>
            <a:r>
              <a:rPr lang="en-US" i="0" dirty="0">
                <a:latin typeface="Times New Roman" pitchFamily="18" charset="0"/>
              </a:rPr>
              <a:t> </a:t>
            </a:r>
            <a:r>
              <a:rPr lang="en-US" i="0" dirty="0" err="1">
                <a:latin typeface="Times New Roman" pitchFamily="18" charset="0"/>
              </a:rPr>
              <a:t>không</a:t>
            </a:r>
            <a:r>
              <a:rPr lang="en-US" i="0" dirty="0">
                <a:latin typeface="Times New Roman" pitchFamily="18" charset="0"/>
              </a:rPr>
              <a:t> </a:t>
            </a:r>
            <a:r>
              <a:rPr lang="en-US" i="0" dirty="0" err="1">
                <a:latin typeface="Times New Roman" pitchFamily="18" charset="0"/>
              </a:rPr>
              <a:t>thay</a:t>
            </a:r>
            <a:r>
              <a:rPr lang="en-US" i="0" dirty="0">
                <a:latin typeface="Times New Roman" pitchFamily="18" charset="0"/>
              </a:rPr>
              <a:t> </a:t>
            </a:r>
            <a:r>
              <a:rPr lang="en-US" i="0" dirty="0" err="1">
                <a:latin typeface="Times New Roman" pitchFamily="18" charset="0"/>
              </a:rPr>
              <a:t>đổi</a:t>
            </a:r>
            <a:r>
              <a:rPr lang="en-US" i="0" dirty="0">
                <a:latin typeface="Times New Roman" pitchFamily="18" charset="0"/>
              </a:rPr>
              <a:t> </a:t>
            </a:r>
            <a:r>
              <a:rPr lang="en-US" i="0" dirty="0" err="1">
                <a:latin typeface="Times New Roman" pitchFamily="18" charset="0"/>
              </a:rPr>
              <a:t>đáng</a:t>
            </a:r>
            <a:r>
              <a:rPr lang="en-US" i="0" dirty="0">
                <a:latin typeface="Times New Roman" pitchFamily="18" charset="0"/>
              </a:rPr>
              <a:t> </a:t>
            </a:r>
            <a:r>
              <a:rPr lang="en-US" i="0" dirty="0" err="1">
                <a:latin typeface="Times New Roman" pitchFamily="18" charset="0"/>
              </a:rPr>
              <a:t>kể</a:t>
            </a:r>
            <a:r>
              <a:rPr lang="en-US" i="0" dirty="0">
                <a:latin typeface="Times New Roman" pitchFamily="18" charset="0"/>
              </a:rPr>
              <a:t>. </a:t>
            </a:r>
            <a:r>
              <a:rPr lang="en-US" i="0" dirty="0" err="1">
                <a:latin typeface="Times New Roman" pitchFamily="18" charset="0"/>
              </a:rPr>
              <a:t>làm</a:t>
            </a:r>
            <a:r>
              <a:rPr lang="en-US" i="0" dirty="0">
                <a:latin typeface="Times New Roman" pitchFamily="18" charset="0"/>
              </a:rPr>
              <a:t> </a:t>
            </a:r>
            <a:r>
              <a:rPr lang="en-US" i="0" dirty="0" err="1">
                <a:latin typeface="Times New Roman" pitchFamily="18" charset="0"/>
              </a:rPr>
              <a:t>giảm</a:t>
            </a:r>
            <a:r>
              <a:rPr lang="en-US" i="0" dirty="0">
                <a:latin typeface="Times New Roman" pitchFamily="18" charset="0"/>
              </a:rPr>
              <a:t> </a:t>
            </a:r>
            <a:r>
              <a:rPr lang="en-US" i="0" dirty="0" err="1">
                <a:latin typeface="Times New Roman" pitchFamily="18" charset="0"/>
              </a:rPr>
              <a:t>đi</a:t>
            </a:r>
            <a:r>
              <a:rPr lang="en-US" i="0" dirty="0">
                <a:latin typeface="Times New Roman" pitchFamily="18" charset="0"/>
              </a:rPr>
              <a:t> </a:t>
            </a:r>
            <a:r>
              <a:rPr lang="en-US" i="0" dirty="0" err="1">
                <a:latin typeface="Times New Roman" pitchFamily="18" charset="0"/>
              </a:rPr>
              <a:t>tốc</a:t>
            </a:r>
            <a:r>
              <a:rPr lang="en-US" i="0" dirty="0">
                <a:latin typeface="Times New Roman" pitchFamily="18" charset="0"/>
              </a:rPr>
              <a:t> </a:t>
            </a:r>
            <a:r>
              <a:rPr lang="en-US" i="0" dirty="0" err="1">
                <a:latin typeface="Times New Roman" pitchFamily="18" charset="0"/>
              </a:rPr>
              <a:t>độ</a:t>
            </a:r>
            <a:r>
              <a:rPr lang="en-US" i="0" dirty="0">
                <a:latin typeface="Times New Roman" pitchFamily="18" charset="0"/>
              </a:rPr>
              <a:t> </a:t>
            </a:r>
            <a:r>
              <a:rPr lang="en-US" i="0" dirty="0" err="1">
                <a:latin typeface="Times New Roman" pitchFamily="18" charset="0"/>
              </a:rPr>
              <a:t>dọc</a:t>
            </a:r>
            <a:r>
              <a:rPr lang="en-US" i="0" dirty="0">
                <a:latin typeface="Times New Roman" pitchFamily="18" charset="0"/>
              </a:rPr>
              <a:t> </a:t>
            </a:r>
            <a:r>
              <a:rPr lang="en-US" i="0" dirty="0" err="1">
                <a:latin typeface="Times New Roman" pitchFamily="18" charset="0"/>
              </a:rPr>
              <a:t>cho</a:t>
            </a:r>
            <a:r>
              <a:rPr lang="en-US" i="0" dirty="0">
                <a:latin typeface="Times New Roman" pitchFamily="18" charset="0"/>
              </a:rPr>
              <a:t> </a:t>
            </a:r>
            <a:r>
              <a:rPr lang="en-US" i="0" dirty="0" err="1">
                <a:latin typeface="Times New Roman" pitchFamily="18" charset="0"/>
              </a:rPr>
              <a:t>đĩa</a:t>
            </a:r>
            <a:r>
              <a:rPr lang="en-US" i="0" dirty="0">
                <a:latin typeface="Times New Roman" pitchFamily="18" charset="0"/>
              </a:rPr>
              <a:t>(</a:t>
            </a:r>
            <a:r>
              <a:rPr lang="en-US" i="0" dirty="0" err="1">
                <a:latin typeface="Times New Roman" pitchFamily="18" charset="0"/>
              </a:rPr>
              <a:t>vdụ</a:t>
            </a:r>
            <a:r>
              <a:rPr lang="en-US" i="0" dirty="0">
                <a:latin typeface="Times New Roman" pitchFamily="18" charset="0"/>
              </a:rPr>
              <a:t>: </a:t>
            </a:r>
            <a:r>
              <a:rPr lang="en-US" i="0" dirty="0" err="1">
                <a:latin typeface="Times New Roman" pitchFamily="18" charset="0"/>
              </a:rPr>
              <a:t>loại</a:t>
            </a:r>
            <a:r>
              <a:rPr lang="en-US" i="0" dirty="0">
                <a:latin typeface="Times New Roman" pitchFamily="18" charset="0"/>
              </a:rPr>
              <a:t> </a:t>
            </a:r>
            <a:r>
              <a:rPr lang="en-US" i="0" dirty="0" err="1">
                <a:latin typeface="Times New Roman" pitchFamily="18" charset="0"/>
              </a:rPr>
              <a:t>đĩa</a:t>
            </a:r>
            <a:r>
              <a:rPr lang="en-US" i="0" dirty="0">
                <a:latin typeface="Times New Roman" pitchFamily="18" charset="0"/>
              </a:rPr>
              <a:t> 4,7 GB </a:t>
            </a:r>
            <a:r>
              <a:rPr lang="en-US" i="0" dirty="0" err="1">
                <a:latin typeface="Times New Roman" pitchFamily="18" charset="0"/>
              </a:rPr>
              <a:t>ghi</a:t>
            </a:r>
            <a:r>
              <a:rPr lang="en-US" i="0" dirty="0">
                <a:latin typeface="Times New Roman" pitchFamily="18" charset="0"/>
              </a:rPr>
              <a:t> </a:t>
            </a:r>
            <a:r>
              <a:rPr lang="en-US" i="0" dirty="0" err="1">
                <a:latin typeface="Times New Roman" pitchFamily="18" charset="0"/>
              </a:rPr>
              <a:t>được</a:t>
            </a:r>
            <a:r>
              <a:rPr lang="en-US" i="0" dirty="0">
                <a:latin typeface="Times New Roman" pitchFamily="18" charset="0"/>
              </a:rPr>
              <a:t> 133phút video </a:t>
            </a:r>
            <a:r>
              <a:rPr lang="en-US" i="0" dirty="0" err="1">
                <a:latin typeface="Times New Roman" pitchFamily="18" charset="0"/>
              </a:rPr>
              <a:t>thay</a:t>
            </a:r>
            <a:r>
              <a:rPr lang="en-US" i="0" dirty="0">
                <a:latin typeface="Times New Roman" pitchFamily="18" charset="0"/>
              </a:rPr>
              <a:t> </a:t>
            </a:r>
            <a:r>
              <a:rPr lang="en-US" i="0" dirty="0" err="1">
                <a:latin typeface="Times New Roman" pitchFamily="18" charset="0"/>
              </a:rPr>
              <a:t>vì</a:t>
            </a:r>
            <a:r>
              <a:rPr lang="en-US" i="0" dirty="0">
                <a:latin typeface="Times New Roman" pitchFamily="18" charset="0"/>
              </a:rPr>
              <a:t> 4 </a:t>
            </a:r>
            <a:r>
              <a:rPr lang="en-US" i="0" dirty="0" err="1">
                <a:latin typeface="Times New Roman" pitchFamily="18" charset="0"/>
              </a:rPr>
              <a:t>phút</a:t>
            </a:r>
            <a:r>
              <a:rPr lang="en-US" i="0" dirty="0">
                <a:latin typeface="Times New Roman" pitchFamily="18" charset="0"/>
              </a:rPr>
              <a:t>)</a:t>
            </a:r>
          </a:p>
          <a:p>
            <a:r>
              <a:rPr lang="en-US" i="0" dirty="0" err="1">
                <a:latin typeface="Times New Roman" pitchFamily="18" charset="0"/>
              </a:rPr>
              <a:t>Như</a:t>
            </a:r>
            <a:r>
              <a:rPr lang="en-US" i="0" dirty="0">
                <a:latin typeface="Times New Roman" pitchFamily="18" charset="0"/>
              </a:rPr>
              <a:t> </a:t>
            </a:r>
            <a:r>
              <a:rPr lang="en-US" i="0" dirty="0" err="1">
                <a:latin typeface="Times New Roman" pitchFamily="18" charset="0"/>
              </a:rPr>
              <a:t>các</a:t>
            </a:r>
            <a:r>
              <a:rPr lang="en-US" i="0" dirty="0">
                <a:latin typeface="Times New Roman" pitchFamily="18" charset="0"/>
              </a:rPr>
              <a:t> </a:t>
            </a:r>
            <a:r>
              <a:rPr lang="en-US" i="0" dirty="0" err="1">
                <a:latin typeface="Times New Roman" pitchFamily="18" charset="0"/>
              </a:rPr>
              <a:t>loại</a:t>
            </a:r>
            <a:r>
              <a:rPr lang="en-US" i="0" dirty="0">
                <a:latin typeface="Times New Roman" pitchFamily="18" charset="0"/>
              </a:rPr>
              <a:t> </a:t>
            </a:r>
            <a:r>
              <a:rPr lang="en-US" i="0" dirty="0" err="1">
                <a:latin typeface="Times New Roman" pitchFamily="18" charset="0"/>
              </a:rPr>
              <a:t>giải</a:t>
            </a:r>
            <a:r>
              <a:rPr lang="en-US" i="0" dirty="0">
                <a:latin typeface="Times New Roman" pitchFamily="18" charset="0"/>
              </a:rPr>
              <a:t> </a:t>
            </a:r>
            <a:r>
              <a:rPr lang="en-US" i="0" dirty="0" err="1">
                <a:latin typeface="Times New Roman" pitchFamily="18" charset="0"/>
              </a:rPr>
              <a:t>thuật</a:t>
            </a:r>
            <a:r>
              <a:rPr lang="en-US" i="0" dirty="0">
                <a:latin typeface="Times New Roman" pitchFamily="18" charset="0"/>
              </a:rPr>
              <a:t> </a:t>
            </a:r>
            <a:r>
              <a:rPr lang="en-US" i="0" dirty="0" err="1">
                <a:latin typeface="Times New Roman" pitchFamily="18" charset="0"/>
              </a:rPr>
              <a:t>nén</a:t>
            </a:r>
            <a:r>
              <a:rPr lang="en-US" i="0" dirty="0">
                <a:latin typeface="Times New Roman" pitchFamily="18" charset="0"/>
              </a:rPr>
              <a:t> </a:t>
            </a:r>
            <a:r>
              <a:rPr lang="en-US" i="0" dirty="0" err="1">
                <a:latin typeface="Times New Roman" pitchFamily="18" charset="0"/>
              </a:rPr>
              <a:t>khác</a:t>
            </a:r>
            <a:r>
              <a:rPr lang="en-US" i="0" dirty="0">
                <a:latin typeface="Times New Roman" pitchFamily="18" charset="0"/>
              </a:rPr>
              <a:t>, MPEG-2 </a:t>
            </a:r>
            <a:r>
              <a:rPr lang="en-US" i="0" dirty="0" err="1">
                <a:latin typeface="Times New Roman" pitchFamily="18" charset="0"/>
              </a:rPr>
              <a:t>có</a:t>
            </a:r>
            <a:r>
              <a:rPr lang="en-US" i="0" dirty="0">
                <a:latin typeface="Times New Roman" pitchFamily="18" charset="0"/>
              </a:rPr>
              <a:t> </a:t>
            </a:r>
            <a:r>
              <a:rPr lang="en-US" i="0" dirty="0" err="1">
                <a:latin typeface="Times New Roman" pitchFamily="18" charset="0"/>
              </a:rPr>
              <a:t>thể</a:t>
            </a:r>
            <a:r>
              <a:rPr lang="en-US" i="0" dirty="0">
                <a:latin typeface="Times New Roman" pitchFamily="18" charset="0"/>
              </a:rPr>
              <a:t> </a:t>
            </a:r>
            <a:r>
              <a:rPr lang="en-US" i="0" dirty="0" err="1">
                <a:latin typeface="Times New Roman" pitchFamily="18" charset="0"/>
              </a:rPr>
              <a:t>loại</a:t>
            </a:r>
            <a:r>
              <a:rPr lang="en-US" i="0" dirty="0">
                <a:latin typeface="Times New Roman" pitchFamily="18" charset="0"/>
              </a:rPr>
              <a:t> </a:t>
            </a:r>
            <a:r>
              <a:rPr lang="en-US" i="0" dirty="0" err="1">
                <a:latin typeface="Times New Roman" pitchFamily="18" charset="0"/>
              </a:rPr>
              <a:t>các</a:t>
            </a:r>
            <a:r>
              <a:rPr lang="en-US" i="0" dirty="0">
                <a:latin typeface="Times New Roman" pitchFamily="18" charset="0"/>
              </a:rPr>
              <a:t> </a:t>
            </a:r>
            <a:r>
              <a:rPr lang="en-US" i="0" dirty="0" err="1">
                <a:latin typeface="Times New Roman" pitchFamily="18" charset="0"/>
              </a:rPr>
              <a:t>tín</a:t>
            </a:r>
            <a:r>
              <a:rPr lang="en-US" i="0" dirty="0">
                <a:latin typeface="Times New Roman" pitchFamily="18" charset="0"/>
              </a:rPr>
              <a:t> </a:t>
            </a:r>
            <a:r>
              <a:rPr lang="en-US" i="0" dirty="0" err="1">
                <a:latin typeface="Times New Roman" pitchFamily="18" charset="0"/>
              </a:rPr>
              <a:t>hiệu</a:t>
            </a:r>
            <a:r>
              <a:rPr lang="en-US" i="0" dirty="0">
                <a:latin typeface="Times New Roman" pitchFamily="18" charset="0"/>
              </a:rPr>
              <a:t> </a:t>
            </a:r>
            <a:r>
              <a:rPr lang="en-US" i="0" dirty="0" err="1">
                <a:latin typeface="Times New Roman" pitchFamily="18" charset="0"/>
              </a:rPr>
              <a:t>hình</a:t>
            </a:r>
            <a:r>
              <a:rPr lang="en-US" i="0" dirty="0">
                <a:latin typeface="Times New Roman" pitchFamily="18" charset="0"/>
              </a:rPr>
              <a:t> </a:t>
            </a:r>
            <a:r>
              <a:rPr lang="en-US" i="0" dirty="0" err="1">
                <a:latin typeface="Times New Roman" pitchFamily="18" charset="0"/>
              </a:rPr>
              <a:t>ảnh</a:t>
            </a:r>
            <a:r>
              <a:rPr lang="en-US" i="0" dirty="0">
                <a:latin typeface="Times New Roman" pitchFamily="18" charset="0"/>
              </a:rPr>
              <a:t> </a:t>
            </a:r>
            <a:r>
              <a:rPr lang="en-US" i="0" dirty="0" err="1">
                <a:latin typeface="Times New Roman" pitchFamily="18" charset="0"/>
              </a:rPr>
              <a:t>dư</a:t>
            </a:r>
            <a:r>
              <a:rPr lang="en-US" i="0" dirty="0">
                <a:latin typeface="Times New Roman" pitchFamily="18" charset="0"/>
              </a:rPr>
              <a:t> </a:t>
            </a:r>
            <a:r>
              <a:rPr lang="en-US" i="0" dirty="0" err="1">
                <a:latin typeface="Times New Roman" pitchFamily="18" charset="0"/>
              </a:rPr>
              <a:t>thừa</a:t>
            </a:r>
            <a:r>
              <a:rPr lang="en-US" i="0" dirty="0">
                <a:latin typeface="Times New Roman" pitchFamily="18" charset="0"/>
              </a:rPr>
              <a:t>. </a:t>
            </a: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DVD-Video </a:t>
            </a:r>
            <a:r>
              <a:rPr kumimoji="0" lang="en-US" sz="4400" b="0" i="0" u="none" strike="noStrike" kern="1200" cap="none" spc="0" normalizeH="0" noProof="0" dirty="0" err="1">
                <a:ln>
                  <a:noFill/>
                </a:ln>
                <a:solidFill>
                  <a:schemeClr val="tx2"/>
                </a:solidFill>
                <a:effectLst/>
                <a:uLnTx/>
                <a:uFillTx/>
                <a:latin typeface="+mn-lt"/>
                <a:ea typeface="+mn-ea"/>
                <a:cs typeface="+mn-cs"/>
              </a:rPr>
              <a:t>và</a:t>
            </a:r>
            <a:r>
              <a:rPr kumimoji="0" lang="en-US" sz="4400" b="0" i="0" u="none" strike="noStrike" kern="1200" cap="none" spc="0" normalizeH="0" noProof="0" dirty="0">
                <a:ln>
                  <a:noFill/>
                </a:ln>
                <a:solidFill>
                  <a:schemeClr val="tx2"/>
                </a:solidFill>
                <a:effectLst/>
                <a:uLnTx/>
                <a:uFillTx/>
                <a:latin typeface="+mn-lt"/>
                <a:ea typeface="+mn-ea"/>
                <a:cs typeface="+mn-cs"/>
              </a:rPr>
              <a:t> DVD-Audio</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7" name="Rectangle 5"/>
          <p:cNvSpPr>
            <a:spLocks noGrp="1" noChangeArrowheads="1"/>
          </p:cNvSpPr>
          <p:nvPr>
            <p:ph sz="quarter" idx="1"/>
          </p:nvPr>
        </p:nvSpPr>
        <p:spPr>
          <a:xfrm>
            <a:off x="381000" y="1981200"/>
            <a:ext cx="8334375" cy="3810000"/>
          </a:xfrm>
          <a:noFill/>
          <a:ln/>
        </p:spPr>
        <p:txBody>
          <a:bodyPr/>
          <a:lstStyle/>
          <a:p>
            <a:r>
              <a:rPr lang="en-US" i="0" dirty="0">
                <a:latin typeface="Times New Roman" pitchFamily="18" charset="0"/>
              </a:rPr>
              <a:t>DVD </a:t>
            </a:r>
            <a:r>
              <a:rPr lang="en-US" i="0" dirty="0" err="1">
                <a:latin typeface="Times New Roman" pitchFamily="18" charset="0"/>
              </a:rPr>
              <a:t>có</a:t>
            </a:r>
            <a:r>
              <a:rPr lang="en-US" i="0" dirty="0">
                <a:latin typeface="Times New Roman" pitchFamily="18" charset="0"/>
              </a:rPr>
              <a:t> </a:t>
            </a:r>
            <a:r>
              <a:rPr lang="en-US" i="0" dirty="0" err="1">
                <a:latin typeface="Times New Roman" pitchFamily="18" charset="0"/>
              </a:rPr>
              <a:t>thể</a:t>
            </a:r>
            <a:r>
              <a:rPr lang="en-US" i="0" dirty="0">
                <a:latin typeface="Times New Roman" pitchFamily="18" charset="0"/>
              </a:rPr>
              <a:t> </a:t>
            </a:r>
            <a:r>
              <a:rPr lang="en-US" i="0" dirty="0" err="1">
                <a:latin typeface="Times New Roman" pitchFamily="18" charset="0"/>
              </a:rPr>
              <a:t>có</a:t>
            </a:r>
            <a:r>
              <a:rPr lang="en-US" i="0" dirty="0">
                <a:latin typeface="Times New Roman" pitchFamily="18" charset="0"/>
              </a:rPr>
              <a:t> </a:t>
            </a:r>
            <a:r>
              <a:rPr lang="en-US" i="0" dirty="0" err="1">
                <a:latin typeface="Times New Roman" pitchFamily="18" charset="0"/>
              </a:rPr>
              <a:t>tới</a:t>
            </a:r>
            <a:r>
              <a:rPr lang="en-US" i="0" dirty="0">
                <a:latin typeface="Times New Roman" pitchFamily="18" charset="0"/>
              </a:rPr>
              <a:t> 8 track </a:t>
            </a:r>
            <a:r>
              <a:rPr lang="en-US" i="0" dirty="0" err="1">
                <a:latin typeface="Times New Roman" pitchFamily="18" charset="0"/>
              </a:rPr>
              <a:t>cho</a:t>
            </a:r>
            <a:r>
              <a:rPr lang="en-US" i="0" dirty="0">
                <a:latin typeface="Times New Roman" pitchFamily="18" charset="0"/>
              </a:rPr>
              <a:t> </a:t>
            </a:r>
            <a:r>
              <a:rPr lang="en-US" i="0" dirty="0" err="1">
                <a:latin typeface="Times New Roman" pitchFamily="18" charset="0"/>
              </a:rPr>
              <a:t>âm</a:t>
            </a:r>
            <a:r>
              <a:rPr lang="en-US" i="0" dirty="0">
                <a:latin typeface="Times New Roman" pitchFamily="18" charset="0"/>
              </a:rPr>
              <a:t> </a:t>
            </a:r>
            <a:r>
              <a:rPr lang="en-US" i="0" dirty="0" err="1">
                <a:latin typeface="Times New Roman" pitchFamily="18" charset="0"/>
              </a:rPr>
              <a:t>thanh</a:t>
            </a:r>
            <a:r>
              <a:rPr lang="en-US" i="0" dirty="0">
                <a:latin typeface="Times New Roman" pitchFamily="18" charset="0"/>
              </a:rPr>
              <a:t>. </a:t>
            </a:r>
          </a:p>
          <a:p>
            <a:r>
              <a:rPr lang="en-US" i="0" dirty="0" err="1">
                <a:latin typeface="Times New Roman" pitchFamily="18" charset="0"/>
              </a:rPr>
              <a:t>Ngoài</a:t>
            </a:r>
            <a:r>
              <a:rPr lang="en-US" i="0" dirty="0">
                <a:latin typeface="Times New Roman" pitchFamily="18" charset="0"/>
              </a:rPr>
              <a:t> </a:t>
            </a:r>
            <a:r>
              <a:rPr lang="en-US" i="0" dirty="0" err="1">
                <a:latin typeface="Times New Roman" pitchFamily="18" charset="0"/>
              </a:rPr>
              <a:t>ra</a:t>
            </a:r>
            <a:r>
              <a:rPr lang="en-US" i="0" dirty="0">
                <a:latin typeface="Times New Roman" pitchFamily="18" charset="0"/>
              </a:rPr>
              <a:t> </a:t>
            </a:r>
            <a:r>
              <a:rPr lang="en-US" i="0" dirty="0" err="1">
                <a:latin typeface="Times New Roman" pitchFamily="18" charset="0"/>
              </a:rPr>
              <a:t>còn</a:t>
            </a:r>
            <a:r>
              <a:rPr lang="en-US" i="0" dirty="0">
                <a:latin typeface="Times New Roman" pitchFamily="18" charset="0"/>
              </a:rPr>
              <a:t> </a:t>
            </a:r>
            <a:r>
              <a:rPr lang="en-US" i="0" dirty="0" err="1">
                <a:latin typeface="Times New Roman" pitchFamily="18" charset="0"/>
              </a:rPr>
              <a:t>cung</a:t>
            </a:r>
            <a:r>
              <a:rPr lang="en-US" i="0" dirty="0">
                <a:latin typeface="Times New Roman" pitchFamily="18" charset="0"/>
              </a:rPr>
              <a:t> </a:t>
            </a:r>
            <a:r>
              <a:rPr lang="en-US" i="0" dirty="0" err="1">
                <a:latin typeface="Times New Roman" pitchFamily="18" charset="0"/>
              </a:rPr>
              <a:t>cấp</a:t>
            </a:r>
            <a:r>
              <a:rPr lang="en-US" i="0" dirty="0">
                <a:latin typeface="Times New Roman" pitchFamily="18" charset="0"/>
              </a:rPr>
              <a:t> </a:t>
            </a:r>
            <a:r>
              <a:rPr lang="en-US" i="0" dirty="0" err="1">
                <a:latin typeface="Times New Roman" pitchFamily="18" charset="0"/>
              </a:rPr>
              <a:t>chức</a:t>
            </a:r>
            <a:r>
              <a:rPr lang="en-US" i="0" dirty="0">
                <a:latin typeface="Times New Roman" pitchFamily="18" charset="0"/>
              </a:rPr>
              <a:t> </a:t>
            </a:r>
            <a:r>
              <a:rPr lang="en-US" i="0" dirty="0" err="1">
                <a:latin typeface="Times New Roman" pitchFamily="18" charset="0"/>
              </a:rPr>
              <a:t>năng</a:t>
            </a:r>
            <a:r>
              <a:rPr lang="en-US" i="0" dirty="0">
                <a:latin typeface="Times New Roman" pitchFamily="18" charset="0"/>
              </a:rPr>
              <a:t> </a:t>
            </a:r>
            <a:r>
              <a:rPr lang="en-US" i="0" dirty="0" err="1">
                <a:latin typeface="Times New Roman" pitchFamily="18" charset="0"/>
              </a:rPr>
              <a:t>truy</a:t>
            </a:r>
            <a:r>
              <a:rPr lang="en-US" i="0" dirty="0">
                <a:latin typeface="Times New Roman" pitchFamily="18" charset="0"/>
              </a:rPr>
              <a:t> </a:t>
            </a:r>
            <a:r>
              <a:rPr lang="en-US" i="0" dirty="0" err="1">
                <a:latin typeface="Times New Roman" pitchFamily="18" charset="0"/>
              </a:rPr>
              <a:t>cập</a:t>
            </a:r>
            <a:r>
              <a:rPr lang="en-US" i="0" dirty="0">
                <a:latin typeface="Times New Roman" pitchFamily="18" charset="0"/>
              </a:rPr>
              <a:t> </a:t>
            </a:r>
            <a:r>
              <a:rPr lang="en-US" i="0" dirty="0" err="1">
                <a:latin typeface="Times New Roman" pitchFamily="18" charset="0"/>
              </a:rPr>
              <a:t>dữ</a:t>
            </a:r>
            <a:r>
              <a:rPr lang="en-US" i="0" dirty="0">
                <a:latin typeface="Times New Roman" pitchFamily="18" charset="0"/>
              </a:rPr>
              <a:t> </a:t>
            </a:r>
            <a:r>
              <a:rPr lang="en-US" i="0" dirty="0" err="1">
                <a:latin typeface="Times New Roman" pitchFamily="18" charset="0"/>
              </a:rPr>
              <a:t>liệu</a:t>
            </a:r>
            <a:r>
              <a:rPr lang="en-US" i="0" dirty="0">
                <a:latin typeface="Times New Roman" pitchFamily="18" charset="0"/>
              </a:rPr>
              <a:t> </a:t>
            </a:r>
            <a:r>
              <a:rPr lang="en-US" i="0" dirty="0" err="1">
                <a:latin typeface="Times New Roman" pitchFamily="18" charset="0"/>
              </a:rPr>
              <a:t>trực</a:t>
            </a:r>
            <a:r>
              <a:rPr lang="en-US" i="0" dirty="0">
                <a:latin typeface="Times New Roman" pitchFamily="18" charset="0"/>
              </a:rPr>
              <a:t> </a:t>
            </a:r>
            <a:r>
              <a:rPr lang="en-US" i="0" dirty="0" err="1">
                <a:latin typeface="Times New Roman" pitchFamily="18" charset="0"/>
              </a:rPr>
              <a:t>tiếp</a:t>
            </a:r>
            <a:r>
              <a:rPr lang="en-US" i="0" dirty="0">
                <a:latin typeface="Times New Roman" pitchFamily="18" charset="0"/>
              </a:rPr>
              <a:t>. </a:t>
            </a:r>
            <a:r>
              <a:rPr lang="en-US" i="0" dirty="0" err="1">
                <a:latin typeface="Times New Roman" pitchFamily="18" charset="0"/>
              </a:rPr>
              <a:t>Nó</a:t>
            </a:r>
            <a:r>
              <a:rPr lang="en-US" i="0" dirty="0">
                <a:latin typeface="Times New Roman" pitchFamily="18" charset="0"/>
              </a:rPr>
              <a:t> </a:t>
            </a:r>
            <a:r>
              <a:rPr lang="en-US" i="0" dirty="0" err="1">
                <a:latin typeface="Times New Roman" pitchFamily="18" charset="0"/>
              </a:rPr>
              <a:t>còn</a:t>
            </a:r>
            <a:r>
              <a:rPr lang="en-US" i="0" dirty="0">
                <a:latin typeface="Times New Roman" pitchFamily="18" charset="0"/>
              </a:rPr>
              <a:t> </a:t>
            </a:r>
            <a:r>
              <a:rPr lang="en-US" i="0" dirty="0" err="1">
                <a:latin typeface="Times New Roman" pitchFamily="18" charset="0"/>
              </a:rPr>
              <a:t>có</a:t>
            </a:r>
            <a:r>
              <a:rPr lang="en-US" i="0" dirty="0">
                <a:latin typeface="Times New Roman" pitchFamily="18" charset="0"/>
              </a:rPr>
              <a:t> </a:t>
            </a:r>
            <a:r>
              <a:rPr lang="en-US" i="0" dirty="0" err="1">
                <a:latin typeface="Times New Roman" pitchFamily="18" charset="0"/>
              </a:rPr>
              <a:t>khả</a:t>
            </a:r>
            <a:r>
              <a:rPr lang="en-US" i="0" dirty="0">
                <a:latin typeface="Times New Roman" pitchFamily="18" charset="0"/>
              </a:rPr>
              <a:t> </a:t>
            </a:r>
            <a:r>
              <a:rPr lang="en-US" i="0" dirty="0" err="1">
                <a:latin typeface="Times New Roman" pitchFamily="18" charset="0"/>
              </a:rPr>
              <a:t>năng</a:t>
            </a:r>
            <a:r>
              <a:rPr lang="en-US" i="0" dirty="0">
                <a:latin typeface="Times New Roman" pitchFamily="18" charset="0"/>
              </a:rPr>
              <a:t> </a:t>
            </a:r>
            <a:r>
              <a:rPr lang="en-US" i="0" dirty="0" err="1">
                <a:latin typeface="Times New Roman" pitchFamily="18" charset="0"/>
              </a:rPr>
              <a:t>hiển</a:t>
            </a:r>
            <a:r>
              <a:rPr lang="en-US" i="0" dirty="0">
                <a:latin typeface="Times New Roman" pitchFamily="18" charset="0"/>
              </a:rPr>
              <a:t> </a:t>
            </a:r>
            <a:r>
              <a:rPr lang="en-US" i="0" dirty="0" err="1">
                <a:latin typeface="Times New Roman" pitchFamily="18" charset="0"/>
              </a:rPr>
              <a:t>thị</a:t>
            </a:r>
            <a:r>
              <a:rPr lang="en-US" i="0" dirty="0">
                <a:latin typeface="Times New Roman" pitchFamily="18" charset="0"/>
              </a:rPr>
              <a:t> </a:t>
            </a:r>
            <a:r>
              <a:rPr lang="en-US" i="0" dirty="0" err="1">
                <a:latin typeface="Times New Roman" pitchFamily="18" charset="0"/>
              </a:rPr>
              <a:t>phụ</a:t>
            </a:r>
            <a:r>
              <a:rPr lang="en-US" i="0" dirty="0">
                <a:latin typeface="Times New Roman" pitchFamily="18" charset="0"/>
              </a:rPr>
              <a:t> </a:t>
            </a:r>
            <a:r>
              <a:rPr lang="en-US" i="0" dirty="0" err="1">
                <a:latin typeface="Times New Roman" pitchFamily="18" charset="0"/>
              </a:rPr>
              <a:t>đề</a:t>
            </a:r>
            <a:r>
              <a:rPr lang="en-US" i="0" dirty="0">
                <a:latin typeface="Times New Roman" pitchFamily="18" charset="0"/>
              </a:rPr>
              <a:t> </a:t>
            </a:r>
            <a:r>
              <a:rPr lang="en-US" i="0" dirty="0" err="1">
                <a:latin typeface="Times New Roman" pitchFamily="18" charset="0"/>
              </a:rPr>
              <a:t>tới</a:t>
            </a:r>
            <a:r>
              <a:rPr lang="en-US" i="0" dirty="0">
                <a:latin typeface="Times New Roman" pitchFamily="18" charset="0"/>
              </a:rPr>
              <a:t> 32 </a:t>
            </a:r>
            <a:r>
              <a:rPr lang="en-US" i="0" dirty="0" err="1">
                <a:latin typeface="Times New Roman" pitchFamily="18" charset="0"/>
              </a:rPr>
              <a:t>loại</a:t>
            </a:r>
            <a:r>
              <a:rPr lang="en-US" i="0" dirty="0">
                <a:latin typeface="Times New Roman" pitchFamily="18" charset="0"/>
              </a:rPr>
              <a:t> </a:t>
            </a:r>
            <a:r>
              <a:rPr lang="en-US" i="0" dirty="0" err="1">
                <a:latin typeface="Times New Roman" pitchFamily="18" charset="0"/>
              </a:rPr>
              <a:t>ngôn</a:t>
            </a:r>
            <a:r>
              <a:rPr lang="en-US" i="0" dirty="0">
                <a:latin typeface="Times New Roman" pitchFamily="18" charset="0"/>
              </a:rPr>
              <a:t> </a:t>
            </a:r>
            <a:r>
              <a:rPr lang="en-US" i="0" dirty="0" err="1">
                <a:latin typeface="Times New Roman" pitchFamily="18" charset="0"/>
              </a:rPr>
              <a:t>ngữ</a:t>
            </a:r>
            <a:r>
              <a:rPr lang="en-US" i="0" dirty="0">
                <a:latin typeface="Times New Roman" pitchFamily="18" charset="0"/>
              </a:rPr>
              <a:t>. </a:t>
            </a:r>
          </a:p>
          <a:p>
            <a:r>
              <a:rPr lang="en-US" i="0" dirty="0" err="1">
                <a:latin typeface="Times New Roman" pitchFamily="18" charset="0"/>
              </a:rPr>
              <a:t>Chất</a:t>
            </a:r>
            <a:r>
              <a:rPr lang="en-US" i="0" dirty="0">
                <a:latin typeface="Times New Roman" pitchFamily="18" charset="0"/>
              </a:rPr>
              <a:t> </a:t>
            </a:r>
            <a:r>
              <a:rPr lang="en-US" i="0" dirty="0" err="1">
                <a:latin typeface="Times New Roman" pitchFamily="18" charset="0"/>
              </a:rPr>
              <a:t>lượng</a:t>
            </a:r>
            <a:r>
              <a:rPr lang="en-US" i="0" dirty="0">
                <a:latin typeface="Times New Roman" pitchFamily="18" charset="0"/>
              </a:rPr>
              <a:t> </a:t>
            </a:r>
            <a:r>
              <a:rPr lang="en-US" i="0" dirty="0" err="1">
                <a:latin typeface="Times New Roman" pitchFamily="18" charset="0"/>
              </a:rPr>
              <a:t>âm</a:t>
            </a:r>
            <a:r>
              <a:rPr lang="en-US" i="0" dirty="0">
                <a:latin typeface="Times New Roman" pitchFamily="18" charset="0"/>
              </a:rPr>
              <a:t> </a:t>
            </a:r>
            <a:r>
              <a:rPr lang="en-US" i="0" dirty="0" err="1">
                <a:latin typeface="Times New Roman" pitchFamily="18" charset="0"/>
              </a:rPr>
              <a:t>thanh</a:t>
            </a:r>
            <a:r>
              <a:rPr lang="en-US" i="0" dirty="0">
                <a:latin typeface="Times New Roman" pitchFamily="18" charset="0"/>
              </a:rPr>
              <a:t> </a:t>
            </a:r>
            <a:r>
              <a:rPr lang="en-US" i="0" dirty="0" err="1">
                <a:latin typeface="Times New Roman" pitchFamily="18" charset="0"/>
              </a:rPr>
              <a:t>cao</a:t>
            </a:r>
            <a:r>
              <a:rPr lang="en-US" i="0" dirty="0">
                <a:latin typeface="Times New Roman" pitchFamily="18" charset="0"/>
              </a:rPr>
              <a:t>. </a:t>
            </a:r>
          </a:p>
          <a:p>
            <a:r>
              <a:rPr lang="en-US" i="0" dirty="0" err="1">
                <a:latin typeface="Times New Roman" pitchFamily="18" charset="0"/>
              </a:rPr>
              <a:t>Nếu</a:t>
            </a:r>
            <a:r>
              <a:rPr lang="en-US" i="0" dirty="0">
                <a:latin typeface="Times New Roman" pitchFamily="18" charset="0"/>
              </a:rPr>
              <a:t> </a:t>
            </a:r>
            <a:r>
              <a:rPr lang="en-US" i="0" dirty="0" err="1">
                <a:latin typeface="Times New Roman" pitchFamily="18" charset="0"/>
              </a:rPr>
              <a:t>cùng</a:t>
            </a:r>
            <a:r>
              <a:rPr lang="en-US" i="0" dirty="0">
                <a:latin typeface="Times New Roman" pitchFamily="18" charset="0"/>
              </a:rPr>
              <a:t> </a:t>
            </a:r>
            <a:r>
              <a:rPr lang="en-US" i="0" dirty="0" err="1">
                <a:latin typeface="Times New Roman" pitchFamily="18" charset="0"/>
              </a:rPr>
              <a:t>chất</a:t>
            </a:r>
            <a:r>
              <a:rPr lang="en-US" i="0" dirty="0">
                <a:latin typeface="Times New Roman" pitchFamily="18" charset="0"/>
              </a:rPr>
              <a:t> </a:t>
            </a:r>
            <a:r>
              <a:rPr lang="en-US" i="0" dirty="0" err="1">
                <a:latin typeface="Times New Roman" pitchFamily="18" charset="0"/>
              </a:rPr>
              <a:t>lượng</a:t>
            </a:r>
            <a:r>
              <a:rPr lang="en-US" i="0" dirty="0">
                <a:latin typeface="Times New Roman" pitchFamily="18" charset="0"/>
              </a:rPr>
              <a:t> </a:t>
            </a:r>
            <a:r>
              <a:rPr lang="en-US" i="0" dirty="0" err="1">
                <a:latin typeface="Times New Roman" pitchFamily="18" charset="0"/>
              </a:rPr>
              <a:t>âm</a:t>
            </a:r>
            <a:r>
              <a:rPr lang="en-US" i="0" dirty="0">
                <a:latin typeface="Times New Roman" pitchFamily="18" charset="0"/>
              </a:rPr>
              <a:t> </a:t>
            </a:r>
            <a:r>
              <a:rPr lang="en-US" i="0" dirty="0" err="1">
                <a:latin typeface="Times New Roman" pitchFamily="18" charset="0"/>
              </a:rPr>
              <a:t>thanh</a:t>
            </a:r>
            <a:r>
              <a:rPr lang="en-US" i="0" dirty="0">
                <a:latin typeface="Times New Roman" pitchFamily="18" charset="0"/>
              </a:rPr>
              <a:t> </a:t>
            </a:r>
            <a:r>
              <a:rPr lang="en-US" i="0" dirty="0" err="1">
                <a:latin typeface="Times New Roman" pitchFamily="18" charset="0"/>
              </a:rPr>
              <a:t>với</a:t>
            </a:r>
            <a:r>
              <a:rPr lang="en-US" i="0" dirty="0">
                <a:latin typeface="Times New Roman" pitchFamily="18" charset="0"/>
              </a:rPr>
              <a:t> CD </a:t>
            </a:r>
            <a:r>
              <a:rPr lang="en-US" i="0" dirty="0" err="1">
                <a:latin typeface="Times New Roman" pitchFamily="18" charset="0"/>
              </a:rPr>
              <a:t>thì</a:t>
            </a:r>
            <a:r>
              <a:rPr lang="en-US" i="0" dirty="0">
                <a:latin typeface="Times New Roman" pitchFamily="18" charset="0"/>
              </a:rPr>
              <a:t> DVD </a:t>
            </a:r>
            <a:r>
              <a:rPr lang="en-US" i="0" dirty="0" err="1">
                <a:latin typeface="Times New Roman" pitchFamily="18" charset="0"/>
              </a:rPr>
              <a:t>lưu</a:t>
            </a:r>
            <a:r>
              <a:rPr lang="en-US" i="0" dirty="0">
                <a:latin typeface="Times New Roman" pitchFamily="18" charset="0"/>
              </a:rPr>
              <a:t> </a:t>
            </a:r>
            <a:r>
              <a:rPr lang="en-US" i="0" dirty="0" err="1">
                <a:latin typeface="Times New Roman" pitchFamily="18" charset="0"/>
              </a:rPr>
              <a:t>trữ</a:t>
            </a:r>
            <a:r>
              <a:rPr lang="en-US" i="0" dirty="0">
                <a:latin typeface="Times New Roman" pitchFamily="18" charset="0"/>
              </a:rPr>
              <a:t> </a:t>
            </a:r>
            <a:r>
              <a:rPr lang="en-US" i="0" dirty="0" err="1">
                <a:latin typeface="Times New Roman" pitchFamily="18" charset="0"/>
              </a:rPr>
              <a:t>được</a:t>
            </a:r>
            <a:r>
              <a:rPr lang="en-US" i="0" dirty="0">
                <a:latin typeface="Times New Roman" pitchFamily="18" charset="0"/>
              </a:rPr>
              <a:t> </a:t>
            </a:r>
            <a:r>
              <a:rPr lang="en-US" i="0" dirty="0" err="1">
                <a:latin typeface="Times New Roman" pitchFamily="18" charset="0"/>
              </a:rPr>
              <a:t>tới</a:t>
            </a:r>
            <a:r>
              <a:rPr lang="en-US" i="0" dirty="0">
                <a:latin typeface="Times New Roman" pitchFamily="18" charset="0"/>
              </a:rPr>
              <a:t> 7 </a:t>
            </a:r>
            <a:r>
              <a:rPr lang="en-US" i="0" dirty="0" err="1">
                <a:latin typeface="Times New Roman" pitchFamily="18" charset="0"/>
              </a:rPr>
              <a:t>giờ</a:t>
            </a:r>
            <a:r>
              <a:rPr lang="en-US" i="0" dirty="0">
                <a:latin typeface="Times New Roman" pitchFamily="18" charset="0"/>
              </a:rPr>
              <a:t>. </a:t>
            </a:r>
          </a:p>
        </p:txBody>
      </p:sp>
      <p:sp>
        <p:nvSpPr>
          <p:cNvPr id="5"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DVD-Video </a:t>
            </a:r>
            <a:r>
              <a:rPr kumimoji="0" lang="en-US" sz="4400" b="0" i="0" u="none" strike="noStrike" kern="1200" cap="none" spc="0" normalizeH="0" noProof="0" dirty="0" err="1">
                <a:ln>
                  <a:noFill/>
                </a:ln>
                <a:solidFill>
                  <a:schemeClr val="tx2"/>
                </a:solidFill>
                <a:effectLst/>
                <a:uLnTx/>
                <a:uFillTx/>
                <a:latin typeface="+mn-lt"/>
                <a:ea typeface="+mn-ea"/>
                <a:cs typeface="+mn-cs"/>
              </a:rPr>
              <a:t>và</a:t>
            </a:r>
            <a:r>
              <a:rPr kumimoji="0" lang="en-US" sz="4400" b="0" i="0" u="none" strike="noStrike" kern="1200" cap="none" spc="0" normalizeH="0" noProof="0" dirty="0">
                <a:ln>
                  <a:noFill/>
                </a:ln>
                <a:solidFill>
                  <a:schemeClr val="tx2"/>
                </a:solidFill>
                <a:effectLst/>
                <a:uLnTx/>
                <a:uFillTx/>
                <a:latin typeface="+mn-lt"/>
                <a:ea typeface="+mn-ea"/>
                <a:cs typeface="+mn-cs"/>
              </a:rPr>
              <a:t> DVD-Audio</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41" name="Rectangle 5"/>
          <p:cNvSpPr>
            <a:spLocks noGrp="1" noChangeArrowheads="1"/>
          </p:cNvSpPr>
          <p:nvPr>
            <p:ph sz="quarter" idx="1"/>
          </p:nvPr>
        </p:nvSpPr>
        <p:spPr>
          <a:xfrm>
            <a:off x="381000" y="1752600"/>
            <a:ext cx="7958138" cy="1143000"/>
          </a:xfrm>
          <a:noFill/>
          <a:ln/>
        </p:spPr>
        <p:txBody>
          <a:bodyPr/>
          <a:lstStyle/>
          <a:p>
            <a:r>
              <a:rPr lang="en-US" i="0" dirty="0" err="1">
                <a:latin typeface="Times New Roman" pitchFamily="18" charset="0"/>
              </a:rPr>
              <a:t>Chuyển</a:t>
            </a:r>
            <a:r>
              <a:rPr lang="en-US" i="0" dirty="0">
                <a:latin typeface="Times New Roman" pitchFamily="18" charset="0"/>
              </a:rPr>
              <a:t> </a:t>
            </a:r>
            <a:r>
              <a:rPr lang="en-US" i="0" dirty="0" err="1">
                <a:latin typeface="Times New Roman" pitchFamily="18" charset="0"/>
              </a:rPr>
              <a:t>đổi</a:t>
            </a:r>
            <a:r>
              <a:rPr lang="en-US" i="0" dirty="0">
                <a:latin typeface="Times New Roman" pitchFamily="18" charset="0"/>
              </a:rPr>
              <a:t> </a:t>
            </a:r>
            <a:r>
              <a:rPr lang="en-US" i="0" dirty="0" err="1">
                <a:latin typeface="Times New Roman" pitchFamily="18" charset="0"/>
              </a:rPr>
              <a:t>số</a:t>
            </a:r>
            <a:r>
              <a:rPr lang="en-US" i="0" dirty="0">
                <a:latin typeface="Times New Roman" pitchFamily="18" charset="0"/>
              </a:rPr>
              <a:t>- </a:t>
            </a:r>
            <a:r>
              <a:rPr lang="en-US" i="0" dirty="0" err="1">
                <a:latin typeface="Times New Roman" pitchFamily="18" charset="0"/>
              </a:rPr>
              <a:t>tương</a:t>
            </a:r>
            <a:r>
              <a:rPr lang="en-US" i="0" dirty="0">
                <a:latin typeface="Times New Roman" pitchFamily="18" charset="0"/>
              </a:rPr>
              <a:t> </a:t>
            </a:r>
            <a:r>
              <a:rPr lang="en-US" i="0" dirty="0" err="1">
                <a:latin typeface="Times New Roman" pitchFamily="18" charset="0"/>
              </a:rPr>
              <a:t>tự</a:t>
            </a:r>
            <a:r>
              <a:rPr lang="en-US" i="0" dirty="0">
                <a:latin typeface="Times New Roman" pitchFamily="18" charset="0"/>
              </a:rPr>
              <a:t> (DAC) 96kHz/24 bit </a:t>
            </a:r>
            <a:r>
              <a:rPr lang="en-US" i="0" dirty="0" err="1">
                <a:latin typeface="Times New Roman" pitchFamily="18" charset="0"/>
              </a:rPr>
              <a:t>hoặc</a:t>
            </a:r>
            <a:r>
              <a:rPr lang="en-US" i="0" dirty="0">
                <a:latin typeface="Times New Roman" pitchFamily="18" charset="0"/>
              </a:rPr>
              <a:t> 192kHZ/24bit </a:t>
            </a:r>
          </a:p>
        </p:txBody>
      </p:sp>
      <p:sp>
        <p:nvSpPr>
          <p:cNvPr id="142342" name="Rectangle 6"/>
          <p:cNvSpPr>
            <a:spLocks noChangeArrowheads="1"/>
          </p:cNvSpPr>
          <p:nvPr/>
        </p:nvSpPr>
        <p:spPr bwMode="auto">
          <a:xfrm>
            <a:off x="2738438" y="2138363"/>
            <a:ext cx="9144000" cy="0"/>
          </a:xfrm>
          <a:prstGeom prst="rect">
            <a:avLst/>
          </a:prstGeom>
          <a:noFill/>
          <a:ln w="9525">
            <a:noFill/>
            <a:miter lim="800000"/>
            <a:headEnd/>
            <a:tailEnd/>
          </a:ln>
          <a:effectLst/>
        </p:spPr>
        <p:txBody>
          <a:bodyPr>
            <a:spAutoFit/>
          </a:bodyPr>
          <a:lstStyle/>
          <a:p>
            <a:endParaRPr lang="en-US"/>
          </a:p>
        </p:txBody>
      </p:sp>
      <p:sp>
        <p:nvSpPr>
          <p:cNvPr id="142343" name="Rectangle 7"/>
          <p:cNvSpPr>
            <a:spLocks noChangeArrowheads="1"/>
          </p:cNvSpPr>
          <p:nvPr/>
        </p:nvSpPr>
        <p:spPr bwMode="auto">
          <a:xfrm>
            <a:off x="2895600" y="2752725"/>
            <a:ext cx="9144000" cy="0"/>
          </a:xfrm>
          <a:prstGeom prst="rect">
            <a:avLst/>
          </a:prstGeom>
          <a:noFill/>
          <a:ln w="9525">
            <a:noFill/>
            <a:miter lim="800000"/>
            <a:headEnd/>
            <a:tailEnd/>
          </a:ln>
          <a:effectLst/>
        </p:spPr>
        <p:txBody>
          <a:bodyPr>
            <a:spAutoFit/>
          </a:bodyPr>
          <a:lstStyle/>
          <a:p>
            <a:endParaRPr lang="en-US"/>
          </a:p>
        </p:txBody>
      </p:sp>
      <p:pic>
        <p:nvPicPr>
          <p:cNvPr id="142345" name="Picture 9"/>
          <p:cNvPicPr>
            <a:picLocks noChangeAspect="1" noChangeArrowheads="1"/>
          </p:cNvPicPr>
          <p:nvPr/>
        </p:nvPicPr>
        <p:blipFill>
          <a:blip r:embed="rId2" cstate="print"/>
          <a:srcRect/>
          <a:stretch>
            <a:fillRect/>
          </a:stretch>
        </p:blipFill>
        <p:spPr bwMode="auto">
          <a:xfrm>
            <a:off x="762000" y="3200400"/>
            <a:ext cx="7543800" cy="3043238"/>
          </a:xfrm>
          <a:prstGeom prst="rect">
            <a:avLst/>
          </a:prstGeom>
          <a:noFill/>
        </p:spPr>
      </p:pic>
      <p:sp>
        <p:nvSpPr>
          <p:cNvPr id="7"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DVD-Video </a:t>
            </a:r>
            <a:r>
              <a:rPr kumimoji="0" lang="en-US" sz="4400" b="0" i="0" u="none" strike="noStrike" kern="1200" cap="none" spc="0" normalizeH="0" noProof="0" dirty="0" err="1">
                <a:ln>
                  <a:noFill/>
                </a:ln>
                <a:solidFill>
                  <a:schemeClr val="tx2"/>
                </a:solidFill>
                <a:effectLst/>
                <a:uLnTx/>
                <a:uFillTx/>
                <a:latin typeface="+mn-lt"/>
                <a:ea typeface="+mn-ea"/>
                <a:cs typeface="+mn-cs"/>
              </a:rPr>
              <a:t>và</a:t>
            </a:r>
            <a:r>
              <a:rPr kumimoji="0" lang="en-US" sz="4400" b="0" i="0" u="none" strike="noStrike" kern="1200" cap="none" spc="0" normalizeH="0" noProof="0" dirty="0">
                <a:ln>
                  <a:noFill/>
                </a:ln>
                <a:solidFill>
                  <a:schemeClr val="tx2"/>
                </a:solidFill>
                <a:effectLst/>
                <a:uLnTx/>
                <a:uFillTx/>
                <a:latin typeface="+mn-lt"/>
                <a:ea typeface="+mn-ea"/>
                <a:cs typeface="+mn-cs"/>
              </a:rPr>
              <a:t> DVD-Audio</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5" name="Rectangle 5"/>
          <p:cNvSpPr>
            <a:spLocks noGrp="1" noChangeArrowheads="1"/>
          </p:cNvSpPr>
          <p:nvPr>
            <p:ph sz="quarter" idx="1"/>
          </p:nvPr>
        </p:nvSpPr>
        <p:spPr>
          <a:xfrm>
            <a:off x="457200" y="1828800"/>
            <a:ext cx="7958138" cy="609600"/>
          </a:xfrm>
          <a:noFill/>
          <a:ln/>
        </p:spPr>
        <p:txBody>
          <a:bodyPr>
            <a:normAutofit/>
          </a:bodyPr>
          <a:lstStyle/>
          <a:p>
            <a:r>
              <a:rPr lang="en-US" i="0" dirty="0">
                <a:solidFill>
                  <a:schemeClr val="tx2"/>
                </a:solidFill>
                <a:latin typeface="Times New Roman" pitchFamily="18" charset="0"/>
              </a:rPr>
              <a:t>So </a:t>
            </a:r>
            <a:r>
              <a:rPr lang="en-US" i="0" dirty="0" err="1">
                <a:solidFill>
                  <a:schemeClr val="tx2"/>
                </a:solidFill>
                <a:latin typeface="Times New Roman" pitchFamily="18" charset="0"/>
              </a:rPr>
              <a:t>sánh</a:t>
            </a:r>
            <a:r>
              <a:rPr lang="en-US" i="0" dirty="0">
                <a:solidFill>
                  <a:schemeClr val="tx2"/>
                </a:solidFill>
                <a:latin typeface="Times New Roman" pitchFamily="18" charset="0"/>
              </a:rPr>
              <a:t> </a:t>
            </a:r>
            <a:r>
              <a:rPr lang="en-US" i="0" dirty="0" err="1">
                <a:solidFill>
                  <a:schemeClr val="tx2"/>
                </a:solidFill>
                <a:latin typeface="Times New Roman" pitchFamily="18" charset="0"/>
              </a:rPr>
              <a:t>chất</a:t>
            </a:r>
            <a:r>
              <a:rPr lang="en-US" i="0" dirty="0">
                <a:solidFill>
                  <a:schemeClr val="tx2"/>
                </a:solidFill>
                <a:latin typeface="Times New Roman" pitchFamily="18" charset="0"/>
              </a:rPr>
              <a:t> </a:t>
            </a:r>
            <a:r>
              <a:rPr lang="en-US" i="0" dirty="0" err="1">
                <a:solidFill>
                  <a:schemeClr val="tx2"/>
                </a:solidFill>
                <a:latin typeface="Times New Roman" pitchFamily="18" charset="0"/>
              </a:rPr>
              <a:t>lượng</a:t>
            </a:r>
            <a:r>
              <a:rPr lang="en-US" i="0" dirty="0">
                <a:solidFill>
                  <a:schemeClr val="tx2"/>
                </a:solidFill>
                <a:latin typeface="Times New Roman" pitchFamily="18" charset="0"/>
              </a:rPr>
              <a:t> </a:t>
            </a:r>
            <a:r>
              <a:rPr lang="en-US" i="0" dirty="0" err="1">
                <a:solidFill>
                  <a:schemeClr val="tx2"/>
                </a:solidFill>
                <a:latin typeface="Times New Roman" pitchFamily="18" charset="0"/>
              </a:rPr>
              <a:t>biến</a:t>
            </a:r>
            <a:r>
              <a:rPr lang="en-US" i="0" dirty="0">
                <a:solidFill>
                  <a:schemeClr val="tx2"/>
                </a:solidFill>
                <a:latin typeface="Times New Roman" pitchFamily="18" charset="0"/>
              </a:rPr>
              <a:t> </a:t>
            </a:r>
            <a:r>
              <a:rPr lang="en-US" i="0" dirty="0" err="1">
                <a:solidFill>
                  <a:schemeClr val="tx2"/>
                </a:solidFill>
                <a:latin typeface="Times New Roman" pitchFamily="18" charset="0"/>
              </a:rPr>
              <a:t>đổi</a:t>
            </a:r>
            <a:r>
              <a:rPr lang="en-US" i="0" dirty="0">
                <a:solidFill>
                  <a:schemeClr val="tx2"/>
                </a:solidFill>
                <a:latin typeface="Times New Roman" pitchFamily="18" charset="0"/>
              </a:rPr>
              <a:t> </a:t>
            </a:r>
            <a:r>
              <a:rPr lang="en-US" i="0" dirty="0" err="1">
                <a:solidFill>
                  <a:schemeClr val="tx2"/>
                </a:solidFill>
                <a:latin typeface="Times New Roman" pitchFamily="18" charset="0"/>
              </a:rPr>
              <a:t>tín</a:t>
            </a:r>
            <a:r>
              <a:rPr lang="en-US" i="0" dirty="0">
                <a:solidFill>
                  <a:schemeClr val="tx2"/>
                </a:solidFill>
                <a:latin typeface="Times New Roman" pitchFamily="18" charset="0"/>
              </a:rPr>
              <a:t> </a:t>
            </a:r>
            <a:r>
              <a:rPr lang="en-US" i="0" dirty="0" err="1">
                <a:solidFill>
                  <a:schemeClr val="tx2"/>
                </a:solidFill>
                <a:latin typeface="Times New Roman" pitchFamily="18" charset="0"/>
              </a:rPr>
              <a:t>hiệu</a:t>
            </a:r>
            <a:r>
              <a:rPr lang="en-US" i="0" dirty="0">
                <a:solidFill>
                  <a:schemeClr val="tx2"/>
                </a:solidFill>
                <a:latin typeface="Times New Roman" pitchFamily="18" charset="0"/>
              </a:rPr>
              <a:t>:</a:t>
            </a:r>
          </a:p>
        </p:txBody>
      </p:sp>
      <p:sp>
        <p:nvSpPr>
          <p:cNvPr id="143366" name="Rectangle 6"/>
          <p:cNvSpPr>
            <a:spLocks noChangeArrowheads="1"/>
          </p:cNvSpPr>
          <p:nvPr/>
        </p:nvSpPr>
        <p:spPr bwMode="auto">
          <a:xfrm>
            <a:off x="2738438" y="2138363"/>
            <a:ext cx="9144000" cy="0"/>
          </a:xfrm>
          <a:prstGeom prst="rect">
            <a:avLst/>
          </a:prstGeom>
          <a:noFill/>
          <a:ln w="9525">
            <a:noFill/>
            <a:miter lim="800000"/>
            <a:headEnd/>
            <a:tailEnd/>
          </a:ln>
          <a:effectLst/>
        </p:spPr>
        <p:txBody>
          <a:bodyPr>
            <a:spAutoFit/>
          </a:bodyPr>
          <a:lstStyle/>
          <a:p>
            <a:endParaRPr lang="en-US"/>
          </a:p>
        </p:txBody>
      </p:sp>
      <p:pic>
        <p:nvPicPr>
          <p:cNvPr id="143368" name="Picture 8"/>
          <p:cNvPicPr>
            <a:picLocks noChangeAspect="1" noChangeArrowheads="1"/>
          </p:cNvPicPr>
          <p:nvPr/>
        </p:nvPicPr>
        <p:blipFill>
          <a:blip r:embed="rId2" cstate="print"/>
          <a:srcRect/>
          <a:stretch>
            <a:fillRect/>
          </a:stretch>
        </p:blipFill>
        <p:spPr bwMode="auto">
          <a:xfrm>
            <a:off x="1981200" y="2667000"/>
            <a:ext cx="5334000" cy="3754438"/>
          </a:xfrm>
          <a:prstGeom prst="rect">
            <a:avLst/>
          </a:prstGeom>
          <a:noFill/>
        </p:spPr>
      </p:pic>
      <p:sp>
        <p:nvSpPr>
          <p:cNvPr id="6"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DVD-Video </a:t>
            </a:r>
            <a:r>
              <a:rPr kumimoji="0" lang="en-US" sz="4400" b="0" i="0" u="none" strike="noStrike" kern="1200" cap="none" spc="0" normalizeH="0" noProof="0" dirty="0" err="1">
                <a:ln>
                  <a:noFill/>
                </a:ln>
                <a:solidFill>
                  <a:schemeClr val="tx2"/>
                </a:solidFill>
                <a:effectLst/>
                <a:uLnTx/>
                <a:uFillTx/>
                <a:latin typeface="+mn-lt"/>
                <a:ea typeface="+mn-ea"/>
                <a:cs typeface="+mn-cs"/>
              </a:rPr>
              <a:t>và</a:t>
            </a:r>
            <a:r>
              <a:rPr kumimoji="0" lang="en-US" sz="4400" b="0" i="0" u="none" strike="noStrike" kern="1200" cap="none" spc="0" normalizeH="0" noProof="0" dirty="0">
                <a:ln>
                  <a:noFill/>
                </a:ln>
                <a:solidFill>
                  <a:schemeClr val="tx2"/>
                </a:solidFill>
                <a:effectLst/>
                <a:uLnTx/>
                <a:uFillTx/>
                <a:latin typeface="+mn-lt"/>
                <a:ea typeface="+mn-ea"/>
                <a:cs typeface="+mn-cs"/>
              </a:rPr>
              <a:t> DVD-Audio</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9" name="Rectangle 5"/>
          <p:cNvSpPr>
            <a:spLocks noGrp="1" noChangeArrowheads="1"/>
          </p:cNvSpPr>
          <p:nvPr>
            <p:ph sz="quarter" idx="1"/>
          </p:nvPr>
        </p:nvSpPr>
        <p:spPr>
          <a:xfrm>
            <a:off x="533400" y="2057400"/>
            <a:ext cx="8334375" cy="4343400"/>
          </a:xfrm>
          <a:noFill/>
          <a:ln/>
        </p:spPr>
        <p:txBody>
          <a:bodyPr/>
          <a:lstStyle/>
          <a:p>
            <a:r>
              <a:rPr lang="en-US" i="0" dirty="0">
                <a:latin typeface="Times New Roman" pitchFamily="18" charset="0"/>
              </a:rPr>
              <a:t>Ta </a:t>
            </a:r>
            <a:r>
              <a:rPr lang="en-US" i="0" dirty="0" err="1">
                <a:latin typeface="Times New Roman" pitchFamily="18" charset="0"/>
              </a:rPr>
              <a:t>thường</a:t>
            </a:r>
            <a:r>
              <a:rPr lang="en-US" i="0" dirty="0">
                <a:latin typeface="Times New Roman" pitchFamily="18" charset="0"/>
              </a:rPr>
              <a:t> </a:t>
            </a:r>
            <a:r>
              <a:rPr lang="en-US" i="0" dirty="0" err="1">
                <a:latin typeface="Times New Roman" pitchFamily="18" charset="0"/>
              </a:rPr>
              <a:t>sử</a:t>
            </a:r>
            <a:r>
              <a:rPr lang="en-US" i="0" dirty="0">
                <a:latin typeface="Times New Roman" pitchFamily="18" charset="0"/>
              </a:rPr>
              <a:t> </a:t>
            </a:r>
            <a:r>
              <a:rPr lang="en-US" i="0" dirty="0" err="1">
                <a:latin typeface="Times New Roman" pitchFamily="18" charset="0"/>
              </a:rPr>
              <a:t>dụng</a:t>
            </a:r>
            <a:r>
              <a:rPr lang="en-US" i="0" dirty="0">
                <a:latin typeface="Times New Roman" pitchFamily="18" charset="0"/>
              </a:rPr>
              <a:t> </a:t>
            </a:r>
            <a:r>
              <a:rPr lang="en-US" i="0" dirty="0" err="1">
                <a:latin typeface="Times New Roman" pitchFamily="18" charset="0"/>
              </a:rPr>
              <a:t>là</a:t>
            </a:r>
            <a:r>
              <a:rPr lang="en-US" i="0" dirty="0">
                <a:latin typeface="Times New Roman" pitchFamily="18" charset="0"/>
              </a:rPr>
              <a:t> </a:t>
            </a:r>
            <a:r>
              <a:rPr lang="en-US" i="0" dirty="0">
                <a:solidFill>
                  <a:srgbClr val="FF0000"/>
                </a:solidFill>
                <a:latin typeface="Times New Roman" pitchFamily="18" charset="0"/>
              </a:rPr>
              <a:t>Laser </a:t>
            </a:r>
            <a:r>
              <a:rPr lang="en-US" i="0" dirty="0" err="1">
                <a:solidFill>
                  <a:srgbClr val="FF0000"/>
                </a:solidFill>
                <a:latin typeface="Times New Roman" pitchFamily="18" charset="0"/>
              </a:rPr>
              <a:t>đỏ</a:t>
            </a:r>
            <a:r>
              <a:rPr lang="en-US" i="0" dirty="0">
                <a:solidFill>
                  <a:srgbClr val="FF0000"/>
                </a:solidFill>
                <a:latin typeface="Times New Roman" pitchFamily="18" charset="0"/>
              </a:rPr>
              <a:t> </a:t>
            </a:r>
            <a:r>
              <a:rPr lang="en-US" i="0" dirty="0">
                <a:latin typeface="Times New Roman" pitchFamily="18" charset="0"/>
              </a:rPr>
              <a:t>(</a:t>
            </a:r>
            <a:r>
              <a:rPr lang="en-US" i="0" dirty="0" err="1">
                <a:latin typeface="Times New Roman" pitchFamily="18" charset="0"/>
              </a:rPr>
              <a:t>có</a:t>
            </a:r>
            <a:r>
              <a:rPr lang="en-US" i="0" dirty="0">
                <a:latin typeface="Times New Roman" pitchFamily="18" charset="0"/>
              </a:rPr>
              <a:t> </a:t>
            </a:r>
            <a:r>
              <a:rPr lang="en-US" i="0" dirty="0" err="1">
                <a:latin typeface="Times New Roman" pitchFamily="18" charset="0"/>
              </a:rPr>
              <a:t>bước</a:t>
            </a:r>
            <a:r>
              <a:rPr lang="en-US" i="0" dirty="0">
                <a:latin typeface="Times New Roman" pitchFamily="18" charset="0"/>
              </a:rPr>
              <a:t> </a:t>
            </a:r>
            <a:r>
              <a:rPr lang="en-US" i="0" dirty="0" err="1">
                <a:latin typeface="Times New Roman" pitchFamily="18" charset="0"/>
              </a:rPr>
              <a:t>sóng</a:t>
            </a:r>
            <a:r>
              <a:rPr lang="en-US" i="0" dirty="0">
                <a:latin typeface="Times New Roman" pitchFamily="18" charset="0"/>
              </a:rPr>
              <a:t> </a:t>
            </a:r>
            <a:r>
              <a:rPr lang="en-US" i="0" dirty="0" err="1">
                <a:latin typeface="Times New Roman" pitchFamily="18" charset="0"/>
              </a:rPr>
              <a:t>từ</a:t>
            </a:r>
            <a:r>
              <a:rPr lang="en-US" i="0" dirty="0">
                <a:latin typeface="Times New Roman" pitchFamily="18" charset="0"/>
              </a:rPr>
              <a:t> 630nm </a:t>
            </a:r>
            <a:r>
              <a:rPr lang="en-US" i="0" dirty="0" err="1">
                <a:latin typeface="Times New Roman" pitchFamily="18" charset="0"/>
              </a:rPr>
              <a:t>đến</a:t>
            </a:r>
            <a:r>
              <a:rPr lang="en-US" i="0" dirty="0">
                <a:latin typeface="Times New Roman" pitchFamily="18" charset="0"/>
              </a:rPr>
              <a:t> 650nm). </a:t>
            </a:r>
          </a:p>
          <a:p>
            <a:r>
              <a:rPr lang="en-US" i="0" dirty="0" err="1">
                <a:latin typeface="Times New Roman" pitchFamily="18" charset="0"/>
              </a:rPr>
              <a:t>Để</a:t>
            </a:r>
            <a:r>
              <a:rPr lang="en-US" i="0" dirty="0">
                <a:latin typeface="Times New Roman" pitchFamily="18" charset="0"/>
              </a:rPr>
              <a:t> </a:t>
            </a:r>
            <a:r>
              <a:rPr lang="en-US" i="0" dirty="0" err="1">
                <a:latin typeface="Times New Roman" pitchFamily="18" charset="0"/>
              </a:rPr>
              <a:t>tăng</a:t>
            </a:r>
            <a:r>
              <a:rPr lang="en-US" i="0" dirty="0">
                <a:latin typeface="Times New Roman" pitchFamily="18" charset="0"/>
              </a:rPr>
              <a:t> dung </a:t>
            </a:r>
            <a:r>
              <a:rPr lang="en-US" i="0" dirty="0" err="1">
                <a:latin typeface="Times New Roman" pitchFamily="18" charset="0"/>
              </a:rPr>
              <a:t>lượng</a:t>
            </a:r>
            <a:r>
              <a:rPr lang="en-US" i="0" dirty="0">
                <a:latin typeface="Times New Roman" pitchFamily="18" charset="0"/>
              </a:rPr>
              <a:t> </a:t>
            </a:r>
            <a:r>
              <a:rPr lang="en-US" i="0" dirty="0" err="1">
                <a:latin typeface="Times New Roman" pitchFamily="18" charset="0"/>
              </a:rPr>
              <a:t>lưu</a:t>
            </a:r>
            <a:r>
              <a:rPr lang="en-US" i="0" dirty="0">
                <a:latin typeface="Times New Roman" pitchFamily="18" charset="0"/>
              </a:rPr>
              <a:t> </a:t>
            </a:r>
            <a:r>
              <a:rPr lang="en-US" i="0" dirty="0" err="1">
                <a:latin typeface="Times New Roman" pitchFamily="18" charset="0"/>
              </a:rPr>
              <a:t>trữ</a:t>
            </a:r>
            <a:r>
              <a:rPr lang="en-US" i="0" dirty="0">
                <a:latin typeface="Times New Roman" pitchFamily="18" charset="0"/>
              </a:rPr>
              <a:t> </a:t>
            </a:r>
            <a:r>
              <a:rPr lang="en-US" i="0" dirty="0" err="1">
                <a:latin typeface="Times New Roman" pitchFamily="18" charset="0"/>
              </a:rPr>
              <a:t>thì</a:t>
            </a:r>
            <a:r>
              <a:rPr lang="en-US" i="0" dirty="0">
                <a:latin typeface="Times New Roman" pitchFamily="18" charset="0"/>
              </a:rPr>
              <a:t> </a:t>
            </a:r>
            <a:r>
              <a:rPr lang="en-US" i="0" dirty="0" err="1">
                <a:latin typeface="Times New Roman" pitchFamily="18" charset="0"/>
              </a:rPr>
              <a:t>phải</a:t>
            </a:r>
            <a:r>
              <a:rPr lang="en-US" i="0" dirty="0">
                <a:latin typeface="Times New Roman" pitchFamily="18" charset="0"/>
              </a:rPr>
              <a:t> </a:t>
            </a:r>
            <a:r>
              <a:rPr lang="en-US" i="0" dirty="0" err="1">
                <a:latin typeface="Times New Roman" pitchFamily="18" charset="0"/>
              </a:rPr>
              <a:t>sử</a:t>
            </a:r>
            <a:r>
              <a:rPr lang="en-US" i="0" dirty="0">
                <a:latin typeface="Times New Roman" pitchFamily="18" charset="0"/>
              </a:rPr>
              <a:t> </a:t>
            </a:r>
            <a:r>
              <a:rPr lang="en-US" i="0" dirty="0" err="1">
                <a:latin typeface="Times New Roman" pitchFamily="18" charset="0"/>
              </a:rPr>
              <a:t>dụng</a:t>
            </a:r>
            <a:r>
              <a:rPr lang="en-US" i="0" dirty="0">
                <a:latin typeface="Times New Roman" pitchFamily="18" charset="0"/>
              </a:rPr>
              <a:t> </a:t>
            </a:r>
            <a:r>
              <a:rPr lang="en-US" i="0" dirty="0" err="1">
                <a:latin typeface="Times New Roman" pitchFamily="18" charset="0"/>
              </a:rPr>
              <a:t>các</a:t>
            </a:r>
            <a:r>
              <a:rPr lang="en-US" i="0" dirty="0">
                <a:latin typeface="Times New Roman" pitchFamily="18" charset="0"/>
              </a:rPr>
              <a:t> </a:t>
            </a:r>
            <a:r>
              <a:rPr lang="en-US" i="0" dirty="0" err="1">
                <a:latin typeface="Times New Roman" pitchFamily="18" charset="0"/>
              </a:rPr>
              <a:t>ánh</a:t>
            </a:r>
            <a:r>
              <a:rPr lang="en-US" i="0" dirty="0">
                <a:latin typeface="Times New Roman" pitchFamily="18" charset="0"/>
              </a:rPr>
              <a:t> </a:t>
            </a:r>
            <a:r>
              <a:rPr lang="en-US" i="0" dirty="0" err="1">
                <a:latin typeface="Times New Roman" pitchFamily="18" charset="0"/>
              </a:rPr>
              <a:t>sáng</a:t>
            </a:r>
            <a:r>
              <a:rPr lang="en-US" i="0" dirty="0">
                <a:latin typeface="Times New Roman" pitchFamily="18" charset="0"/>
              </a:rPr>
              <a:t> laser </a:t>
            </a:r>
            <a:r>
              <a:rPr lang="en-US" i="0" dirty="0" err="1">
                <a:latin typeface="Times New Roman" pitchFamily="18" charset="0"/>
              </a:rPr>
              <a:t>có</a:t>
            </a:r>
            <a:r>
              <a:rPr lang="en-US" i="0" dirty="0">
                <a:latin typeface="Times New Roman" pitchFamily="18" charset="0"/>
              </a:rPr>
              <a:t> </a:t>
            </a:r>
            <a:r>
              <a:rPr lang="en-US" i="0" dirty="0" err="1">
                <a:latin typeface="Times New Roman" pitchFamily="18" charset="0"/>
              </a:rPr>
              <a:t>bước</a:t>
            </a:r>
            <a:r>
              <a:rPr lang="en-US" i="0" dirty="0">
                <a:latin typeface="Times New Roman" pitchFamily="18" charset="0"/>
              </a:rPr>
              <a:t> </a:t>
            </a:r>
            <a:r>
              <a:rPr lang="en-US" i="0" dirty="0" err="1">
                <a:latin typeface="Times New Roman" pitchFamily="18" charset="0"/>
              </a:rPr>
              <a:t>sóng</a:t>
            </a:r>
            <a:r>
              <a:rPr lang="en-US" i="0" dirty="0">
                <a:latin typeface="Times New Roman" pitchFamily="18" charset="0"/>
              </a:rPr>
              <a:t> </a:t>
            </a:r>
            <a:r>
              <a:rPr lang="en-US" i="0" dirty="0" err="1">
                <a:latin typeface="Times New Roman" pitchFamily="18" charset="0"/>
              </a:rPr>
              <a:t>nhỏ</a:t>
            </a:r>
            <a:r>
              <a:rPr lang="en-US" i="0" dirty="0">
                <a:latin typeface="Times New Roman" pitchFamily="18" charset="0"/>
              </a:rPr>
              <a:t> </a:t>
            </a:r>
            <a:r>
              <a:rPr lang="en-US" i="0" dirty="0" err="1">
                <a:latin typeface="Times New Roman" pitchFamily="18" charset="0"/>
              </a:rPr>
              <a:t>hơn</a:t>
            </a:r>
            <a:r>
              <a:rPr lang="en-US" i="0" dirty="0">
                <a:latin typeface="Times New Roman" pitchFamily="18" charset="0"/>
              </a:rPr>
              <a:t> </a:t>
            </a:r>
            <a:r>
              <a:rPr lang="en-US" i="0" dirty="0" err="1">
                <a:latin typeface="Times New Roman" pitchFamily="18" charset="0"/>
              </a:rPr>
              <a:t>như</a:t>
            </a:r>
            <a:r>
              <a:rPr lang="en-US" i="0" dirty="0">
                <a:latin typeface="Times New Roman" pitchFamily="18" charset="0"/>
              </a:rPr>
              <a:t> </a:t>
            </a:r>
            <a:r>
              <a:rPr lang="en-US" i="0" dirty="0" err="1">
                <a:latin typeface="Times New Roman" pitchFamily="18" charset="0"/>
              </a:rPr>
              <a:t>màu</a:t>
            </a:r>
            <a:r>
              <a:rPr lang="en-US" i="0" dirty="0">
                <a:latin typeface="Times New Roman" pitchFamily="18" charset="0"/>
              </a:rPr>
              <a:t> </a:t>
            </a:r>
            <a:r>
              <a:rPr lang="en-US" i="0" dirty="0" err="1">
                <a:latin typeface="Times New Roman" pitchFamily="18" charset="0"/>
              </a:rPr>
              <a:t>xanh</a:t>
            </a:r>
            <a:r>
              <a:rPr lang="en-US" i="0" dirty="0">
                <a:latin typeface="Times New Roman" pitchFamily="18" charset="0"/>
              </a:rPr>
              <a:t> hay </a:t>
            </a:r>
            <a:r>
              <a:rPr lang="en-US" i="0" dirty="0" err="1">
                <a:latin typeface="Times New Roman" pitchFamily="18" charset="0"/>
              </a:rPr>
              <a:t>tím</a:t>
            </a:r>
            <a:r>
              <a:rPr lang="en-US" i="0" dirty="0">
                <a:latin typeface="Times New Roman" pitchFamily="18" charset="0"/>
              </a:rPr>
              <a:t>.</a:t>
            </a:r>
          </a:p>
          <a:p>
            <a:r>
              <a:rPr lang="en-US" i="0" dirty="0" err="1">
                <a:latin typeface="Times New Roman" pitchFamily="18" charset="0"/>
              </a:rPr>
              <a:t>Như</a:t>
            </a:r>
            <a:r>
              <a:rPr lang="en-US" i="0" dirty="0">
                <a:latin typeface="Times New Roman" pitchFamily="18" charset="0"/>
              </a:rPr>
              <a:t> </a:t>
            </a:r>
            <a:r>
              <a:rPr lang="en-US" i="0" dirty="0" err="1">
                <a:latin typeface="Times New Roman" pitchFamily="18" charset="0"/>
              </a:rPr>
              <a:t>thế</a:t>
            </a:r>
            <a:r>
              <a:rPr lang="en-US" i="0" dirty="0">
                <a:latin typeface="Times New Roman" pitchFamily="18" charset="0"/>
              </a:rPr>
              <a:t> </a:t>
            </a:r>
            <a:r>
              <a:rPr lang="en-US" i="0" dirty="0" err="1">
                <a:latin typeface="Times New Roman" pitchFamily="18" charset="0"/>
              </a:rPr>
              <a:t>ta</a:t>
            </a:r>
            <a:r>
              <a:rPr lang="en-US" i="0" dirty="0">
                <a:latin typeface="Times New Roman" pitchFamily="18" charset="0"/>
              </a:rPr>
              <a:t> </a:t>
            </a:r>
            <a:r>
              <a:rPr lang="en-US" i="0" dirty="0" err="1">
                <a:latin typeface="Times New Roman" pitchFamily="18" charset="0"/>
              </a:rPr>
              <a:t>có</a:t>
            </a:r>
            <a:r>
              <a:rPr lang="en-US" i="0" dirty="0">
                <a:latin typeface="Times New Roman" pitchFamily="18" charset="0"/>
              </a:rPr>
              <a:t> </a:t>
            </a:r>
            <a:r>
              <a:rPr lang="en-US" i="0" dirty="0" err="1">
                <a:latin typeface="Times New Roman" pitchFamily="18" charset="0"/>
              </a:rPr>
              <a:t>thể</a:t>
            </a:r>
            <a:r>
              <a:rPr lang="en-US" i="0" dirty="0">
                <a:latin typeface="Times New Roman" pitchFamily="18" charset="0"/>
              </a:rPr>
              <a:t> </a:t>
            </a:r>
            <a:r>
              <a:rPr lang="en-US" i="0" dirty="0" err="1">
                <a:latin typeface="Times New Roman" pitchFamily="18" charset="0"/>
              </a:rPr>
              <a:t>tăng</a:t>
            </a:r>
            <a:r>
              <a:rPr lang="en-US" i="0" dirty="0">
                <a:latin typeface="Times New Roman" pitchFamily="18" charset="0"/>
              </a:rPr>
              <a:t> </a:t>
            </a:r>
            <a:r>
              <a:rPr lang="en-US" i="0" dirty="0" err="1">
                <a:latin typeface="Times New Roman" pitchFamily="18" charset="0"/>
              </a:rPr>
              <a:t>lên</a:t>
            </a:r>
            <a:r>
              <a:rPr lang="en-US" i="0" dirty="0">
                <a:latin typeface="Times New Roman" pitchFamily="18" charset="0"/>
              </a:rPr>
              <a:t> </a:t>
            </a:r>
            <a:r>
              <a:rPr lang="en-US" i="0" dirty="0" err="1">
                <a:latin typeface="Times New Roman" pitchFamily="18" charset="0"/>
              </a:rPr>
              <a:t>đến</a:t>
            </a:r>
            <a:r>
              <a:rPr lang="en-US" i="0" dirty="0">
                <a:latin typeface="Times New Roman" pitchFamily="18" charset="0"/>
              </a:rPr>
              <a:t> 15GB/1 </a:t>
            </a:r>
            <a:r>
              <a:rPr lang="en-US" i="0" dirty="0" err="1">
                <a:latin typeface="Times New Roman" pitchFamily="18" charset="0"/>
              </a:rPr>
              <a:t>lớp</a:t>
            </a:r>
            <a:r>
              <a:rPr lang="en-US" i="0" dirty="0">
                <a:latin typeface="Times New Roman" pitchFamily="18" charset="0"/>
              </a:rPr>
              <a:t> </a:t>
            </a:r>
            <a:r>
              <a:rPr lang="en-US" i="0" dirty="0" err="1">
                <a:latin typeface="Times New Roman" pitchFamily="18" charset="0"/>
              </a:rPr>
              <a:t>thậm</a:t>
            </a:r>
            <a:r>
              <a:rPr lang="en-US" i="0" dirty="0">
                <a:latin typeface="Times New Roman" pitchFamily="18" charset="0"/>
              </a:rPr>
              <a:t> </a:t>
            </a:r>
            <a:r>
              <a:rPr lang="en-US" i="0" dirty="0" err="1">
                <a:latin typeface="Times New Roman" pitchFamily="18" charset="0"/>
              </a:rPr>
              <a:t>chí</a:t>
            </a:r>
            <a:r>
              <a:rPr lang="en-US" i="0" dirty="0">
                <a:latin typeface="Times New Roman" pitchFamily="18" charset="0"/>
              </a:rPr>
              <a:t> 45GB. </a:t>
            </a:r>
            <a:r>
              <a:rPr lang="en-US" i="0" dirty="0" err="1">
                <a:latin typeface="Times New Roman" pitchFamily="18" charset="0"/>
              </a:rPr>
              <a:t>Nhưng</a:t>
            </a:r>
            <a:r>
              <a:rPr lang="en-US" i="0" dirty="0">
                <a:latin typeface="Times New Roman" pitchFamily="18" charset="0"/>
              </a:rPr>
              <a:t> </a:t>
            </a:r>
            <a:r>
              <a:rPr lang="en-US" i="0" dirty="0" err="1">
                <a:latin typeface="Times New Roman" pitchFamily="18" charset="0"/>
              </a:rPr>
              <a:t>khó</a:t>
            </a:r>
            <a:r>
              <a:rPr lang="en-US" i="0" dirty="0">
                <a:latin typeface="Times New Roman" pitchFamily="18" charset="0"/>
              </a:rPr>
              <a:t> </a:t>
            </a:r>
            <a:r>
              <a:rPr lang="en-US" i="0" dirty="0" err="1">
                <a:latin typeface="Times New Roman" pitchFamily="18" charset="0"/>
              </a:rPr>
              <a:t>thực</a:t>
            </a:r>
            <a:r>
              <a:rPr lang="en-US" i="0" dirty="0">
                <a:latin typeface="Times New Roman" pitchFamily="18" charset="0"/>
              </a:rPr>
              <a:t> </a:t>
            </a:r>
            <a:r>
              <a:rPr lang="en-US" i="0" dirty="0" err="1">
                <a:latin typeface="Times New Roman" pitchFamily="18" charset="0"/>
              </a:rPr>
              <a:t>hiện</a:t>
            </a:r>
            <a:r>
              <a:rPr lang="en-US" i="0" dirty="0">
                <a:latin typeface="Times New Roman" pitchFamily="18" charset="0"/>
              </a:rPr>
              <a:t> </a:t>
            </a:r>
            <a:r>
              <a:rPr lang="en-US" i="0" dirty="0" err="1">
                <a:latin typeface="Times New Roman" pitchFamily="18" charset="0"/>
              </a:rPr>
              <a:t>hơn</a:t>
            </a:r>
            <a:r>
              <a:rPr lang="en-US" i="0" dirty="0">
                <a:latin typeface="Times New Roman" pitchFamily="18" charset="0"/>
              </a:rPr>
              <a:t> </a:t>
            </a:r>
            <a:r>
              <a:rPr lang="en-US" i="0" dirty="0" err="1">
                <a:latin typeface="Times New Roman" pitchFamily="18" charset="0"/>
              </a:rPr>
              <a:t>là</a:t>
            </a:r>
            <a:r>
              <a:rPr lang="en-US" i="0" dirty="0">
                <a:latin typeface="Times New Roman" pitchFamily="18" charset="0"/>
              </a:rPr>
              <a:t> </a:t>
            </a:r>
            <a:r>
              <a:rPr lang="en-US" i="0" dirty="0" err="1">
                <a:latin typeface="Times New Roman" pitchFamily="18" charset="0"/>
              </a:rPr>
              <a:t>bước</a:t>
            </a:r>
            <a:r>
              <a:rPr lang="en-US" i="0" dirty="0">
                <a:latin typeface="Times New Roman" pitchFamily="18" charset="0"/>
              </a:rPr>
              <a:t> </a:t>
            </a:r>
            <a:r>
              <a:rPr lang="en-US" i="0" dirty="0" err="1">
                <a:latin typeface="Times New Roman" pitchFamily="18" charset="0"/>
              </a:rPr>
              <a:t>sóng</a:t>
            </a:r>
            <a:r>
              <a:rPr lang="en-US" i="0" dirty="0">
                <a:latin typeface="Times New Roman" pitchFamily="18" charset="0"/>
              </a:rPr>
              <a:t> </a:t>
            </a:r>
            <a:r>
              <a:rPr lang="en-US" i="0" dirty="0" err="1">
                <a:latin typeface="Times New Roman" pitchFamily="18" charset="0"/>
              </a:rPr>
              <a:t>dài</a:t>
            </a:r>
            <a:r>
              <a:rPr lang="en-US" i="0" dirty="0">
                <a:latin typeface="Times New Roman" pitchFamily="18" charset="0"/>
              </a:rPr>
              <a:t>.</a:t>
            </a:r>
          </a:p>
        </p:txBody>
      </p:sp>
      <p:sp>
        <p:nvSpPr>
          <p:cNvPr id="4" name="Title 1"/>
          <p:cNvSpPr txBox="1">
            <a:spLocks/>
          </p:cNvSpPr>
          <p:nvPr/>
        </p:nvSpPr>
        <p:spPr>
          <a:xfrm>
            <a:off x="609600" y="228600"/>
            <a:ext cx="8153400" cy="990600"/>
          </a:xfrm>
          <a:prstGeom prst="rect">
            <a:avLst/>
          </a:prstGeom>
        </p:spPr>
        <p:txBody>
          <a:bodyPr vert="horz">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Red laser </a:t>
            </a:r>
            <a:r>
              <a:rPr kumimoji="0" lang="en-US" sz="4400" b="0" i="0" u="none" strike="noStrike" kern="1200" cap="none" spc="0" normalizeH="0" noProof="0" dirty="0" err="1">
                <a:ln>
                  <a:noFill/>
                </a:ln>
                <a:solidFill>
                  <a:schemeClr val="tx2"/>
                </a:solidFill>
                <a:effectLst/>
                <a:uLnTx/>
                <a:uFillTx/>
                <a:latin typeface="+mn-lt"/>
                <a:ea typeface="+mn-ea"/>
                <a:cs typeface="+mn-cs"/>
              </a:rPr>
              <a:t>và</a:t>
            </a:r>
            <a:r>
              <a:rPr kumimoji="0" lang="en-US" sz="4400" b="0" i="0" u="none" strike="noStrike" kern="1200" cap="none" spc="0" normalizeH="0" noProof="0" dirty="0">
                <a:ln>
                  <a:noFill/>
                </a:ln>
                <a:solidFill>
                  <a:schemeClr val="tx2"/>
                </a:solidFill>
                <a:effectLst/>
                <a:uLnTx/>
                <a:uFillTx/>
                <a:latin typeface="+mn-lt"/>
                <a:ea typeface="+mn-ea"/>
                <a:cs typeface="+mn-cs"/>
              </a:rPr>
              <a:t> Blue laser</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3" name="Rectangle 5"/>
          <p:cNvSpPr>
            <a:spLocks noGrp="1" noChangeArrowheads="1"/>
          </p:cNvSpPr>
          <p:nvPr>
            <p:ph sz="quarter" idx="1"/>
          </p:nvPr>
        </p:nvSpPr>
        <p:spPr>
          <a:xfrm>
            <a:off x="533400" y="1828800"/>
            <a:ext cx="7958138" cy="4338638"/>
          </a:xfrm>
          <a:noFill/>
          <a:ln/>
        </p:spPr>
        <p:txBody>
          <a:bodyPr/>
          <a:lstStyle/>
          <a:p>
            <a:r>
              <a:rPr lang="en-US" i="0" dirty="0" err="1">
                <a:latin typeface="Times New Roman" pitchFamily="18" charset="0"/>
              </a:rPr>
              <a:t>Để</a:t>
            </a:r>
            <a:r>
              <a:rPr lang="en-US" i="0" dirty="0">
                <a:latin typeface="Times New Roman" pitchFamily="18" charset="0"/>
              </a:rPr>
              <a:t> </a:t>
            </a:r>
            <a:r>
              <a:rPr lang="en-US" i="0" dirty="0" err="1">
                <a:latin typeface="Times New Roman" pitchFamily="18" charset="0"/>
              </a:rPr>
              <a:t>không</a:t>
            </a:r>
            <a:r>
              <a:rPr lang="en-US" i="0" dirty="0">
                <a:latin typeface="Times New Roman" pitchFamily="18" charset="0"/>
              </a:rPr>
              <a:t> </a:t>
            </a:r>
            <a:r>
              <a:rPr lang="en-US" i="0" dirty="0" err="1">
                <a:latin typeface="Times New Roman" pitchFamily="18" charset="0"/>
              </a:rPr>
              <a:t>làm</a:t>
            </a:r>
            <a:r>
              <a:rPr lang="en-US" i="0" dirty="0">
                <a:latin typeface="Times New Roman" pitchFamily="18" charset="0"/>
              </a:rPr>
              <a:t> </a:t>
            </a:r>
            <a:r>
              <a:rPr lang="en-US" i="0" dirty="0" err="1">
                <a:latin typeface="Times New Roman" pitchFamily="18" charset="0"/>
              </a:rPr>
              <a:t>giảm</a:t>
            </a:r>
            <a:r>
              <a:rPr lang="en-US" i="0" dirty="0">
                <a:latin typeface="Times New Roman" pitchFamily="18" charset="0"/>
              </a:rPr>
              <a:t> </a:t>
            </a:r>
            <a:r>
              <a:rPr lang="en-US" i="0" dirty="0" err="1">
                <a:latin typeface="Times New Roman" pitchFamily="18" charset="0"/>
              </a:rPr>
              <a:t>chất</a:t>
            </a:r>
            <a:r>
              <a:rPr lang="en-US" i="0" dirty="0">
                <a:latin typeface="Times New Roman" pitchFamily="18" charset="0"/>
              </a:rPr>
              <a:t> </a:t>
            </a:r>
            <a:r>
              <a:rPr lang="en-US" i="0" dirty="0" err="1">
                <a:latin typeface="Times New Roman" pitchFamily="18" charset="0"/>
              </a:rPr>
              <a:t>lượng</a:t>
            </a:r>
            <a:r>
              <a:rPr lang="en-US" i="0" dirty="0">
                <a:latin typeface="Times New Roman" pitchFamily="18" charset="0"/>
              </a:rPr>
              <a:t> </a:t>
            </a:r>
            <a:r>
              <a:rPr lang="en-US" i="0" dirty="0" err="1">
                <a:latin typeface="Times New Roman" pitchFamily="18" charset="0"/>
              </a:rPr>
              <a:t>của</a:t>
            </a:r>
            <a:r>
              <a:rPr lang="en-US" i="0" dirty="0">
                <a:latin typeface="Times New Roman" pitchFamily="18" charset="0"/>
              </a:rPr>
              <a:t> </a:t>
            </a:r>
            <a:r>
              <a:rPr lang="en-US" i="0" dirty="0" err="1">
                <a:latin typeface="Times New Roman" pitchFamily="18" charset="0"/>
              </a:rPr>
              <a:t>dữ</a:t>
            </a:r>
            <a:r>
              <a:rPr lang="en-US" i="0" dirty="0">
                <a:latin typeface="Times New Roman" pitchFamily="18" charset="0"/>
              </a:rPr>
              <a:t> </a:t>
            </a:r>
            <a:r>
              <a:rPr lang="en-US" i="0" dirty="0" err="1">
                <a:latin typeface="Times New Roman" pitchFamily="18" charset="0"/>
              </a:rPr>
              <a:t>liệu</a:t>
            </a:r>
            <a:r>
              <a:rPr lang="en-US" i="0" dirty="0">
                <a:latin typeface="Times New Roman" pitchFamily="18" charset="0"/>
              </a:rPr>
              <a:t> </a:t>
            </a:r>
            <a:r>
              <a:rPr lang="en-US" i="0" dirty="0" err="1">
                <a:latin typeface="Times New Roman" pitchFamily="18" charset="0"/>
              </a:rPr>
              <a:t>mà</a:t>
            </a:r>
            <a:r>
              <a:rPr lang="en-US" i="0" dirty="0">
                <a:latin typeface="Times New Roman" pitchFamily="18" charset="0"/>
              </a:rPr>
              <a:t> </a:t>
            </a:r>
            <a:r>
              <a:rPr lang="en-US" i="0" dirty="0" err="1">
                <a:latin typeface="Times New Roman" pitchFamily="18" charset="0"/>
              </a:rPr>
              <a:t>không</a:t>
            </a:r>
            <a:r>
              <a:rPr lang="en-US" i="0" dirty="0">
                <a:latin typeface="Times New Roman" pitchFamily="18" charset="0"/>
              </a:rPr>
              <a:t> </a:t>
            </a:r>
            <a:r>
              <a:rPr lang="en-US" i="0" dirty="0" err="1">
                <a:latin typeface="Times New Roman" pitchFamily="18" charset="0"/>
              </a:rPr>
              <a:t>hạn</a:t>
            </a:r>
            <a:r>
              <a:rPr lang="en-US" i="0" dirty="0">
                <a:latin typeface="Times New Roman" pitchFamily="18" charset="0"/>
              </a:rPr>
              <a:t> </a:t>
            </a:r>
            <a:r>
              <a:rPr lang="en-US" i="0" dirty="0" err="1">
                <a:latin typeface="Times New Roman" pitchFamily="18" charset="0"/>
              </a:rPr>
              <a:t>chế</a:t>
            </a:r>
            <a:r>
              <a:rPr lang="en-US" i="0" dirty="0">
                <a:latin typeface="Times New Roman" pitchFamily="18" charset="0"/>
              </a:rPr>
              <a:t> </a:t>
            </a:r>
            <a:r>
              <a:rPr lang="en-US" i="0" dirty="0" err="1">
                <a:latin typeface="Times New Roman" pitchFamily="18" charset="0"/>
              </a:rPr>
              <a:t>số</a:t>
            </a:r>
            <a:r>
              <a:rPr lang="en-US" i="0" dirty="0">
                <a:latin typeface="Times New Roman" pitchFamily="18" charset="0"/>
              </a:rPr>
              <a:t> </a:t>
            </a:r>
            <a:r>
              <a:rPr lang="en-US" i="0" dirty="0" err="1">
                <a:latin typeface="Times New Roman" pitchFamily="18" charset="0"/>
              </a:rPr>
              <a:t>lần</a:t>
            </a:r>
            <a:r>
              <a:rPr lang="en-US" i="0" dirty="0">
                <a:latin typeface="Times New Roman" pitchFamily="18" charset="0"/>
              </a:rPr>
              <a:t> </a:t>
            </a:r>
            <a:r>
              <a:rPr lang="en-US" i="0" dirty="0" err="1">
                <a:latin typeface="Times New Roman" pitchFamily="18" charset="0"/>
              </a:rPr>
              <a:t>ghi</a:t>
            </a:r>
            <a:r>
              <a:rPr lang="en-US" i="0" dirty="0">
                <a:latin typeface="Times New Roman" pitchFamily="18" charset="0"/>
              </a:rPr>
              <a:t>/</a:t>
            </a:r>
            <a:r>
              <a:rPr lang="en-US" i="0" dirty="0" err="1">
                <a:latin typeface="Times New Roman" pitchFamily="18" charset="0"/>
              </a:rPr>
              <a:t>xóa</a:t>
            </a:r>
            <a:r>
              <a:rPr lang="en-US" i="0" dirty="0">
                <a:latin typeface="Times New Roman" pitchFamily="18" charset="0"/>
              </a:rPr>
              <a:t> </a:t>
            </a:r>
            <a:r>
              <a:rPr lang="en-US" i="0" dirty="0" err="1">
                <a:latin typeface="Times New Roman" pitchFamily="18" charset="0"/>
              </a:rPr>
              <a:t>thì</a:t>
            </a:r>
            <a:r>
              <a:rPr lang="en-US" i="0" dirty="0">
                <a:latin typeface="Times New Roman" pitchFamily="18" charset="0"/>
              </a:rPr>
              <a:t> </a:t>
            </a:r>
            <a:r>
              <a:rPr lang="en-US" i="0" dirty="0" err="1">
                <a:latin typeface="Times New Roman" pitchFamily="18" charset="0"/>
              </a:rPr>
              <a:t>người</a:t>
            </a:r>
            <a:r>
              <a:rPr lang="en-US" i="0" dirty="0">
                <a:latin typeface="Times New Roman" pitchFamily="18" charset="0"/>
              </a:rPr>
              <a:t> </a:t>
            </a:r>
            <a:r>
              <a:rPr lang="en-US" i="0" dirty="0" err="1">
                <a:latin typeface="Times New Roman" pitchFamily="18" charset="0"/>
              </a:rPr>
              <a:t>ta</a:t>
            </a:r>
            <a:r>
              <a:rPr lang="en-US" i="0" dirty="0">
                <a:latin typeface="Times New Roman" pitchFamily="18" charset="0"/>
              </a:rPr>
              <a:t> </a:t>
            </a:r>
            <a:r>
              <a:rPr lang="en-US" i="0" dirty="0" err="1">
                <a:latin typeface="Times New Roman" pitchFamily="18" charset="0"/>
              </a:rPr>
              <a:t>sử</a:t>
            </a:r>
            <a:r>
              <a:rPr lang="en-US" i="0" dirty="0">
                <a:latin typeface="Times New Roman" pitchFamily="18" charset="0"/>
              </a:rPr>
              <a:t> </a:t>
            </a:r>
            <a:r>
              <a:rPr lang="en-US" i="0" dirty="0" err="1">
                <a:latin typeface="Times New Roman" pitchFamily="18" charset="0"/>
              </a:rPr>
              <a:t>dụng</a:t>
            </a:r>
            <a:r>
              <a:rPr lang="en-US" i="0" dirty="0">
                <a:latin typeface="Times New Roman" pitchFamily="18" charset="0"/>
              </a:rPr>
              <a:t> </a:t>
            </a:r>
            <a:r>
              <a:rPr lang="en-US" i="0" dirty="0" err="1">
                <a:latin typeface="Times New Roman" pitchFamily="18" charset="0"/>
              </a:rPr>
              <a:t>hệ</a:t>
            </a:r>
            <a:r>
              <a:rPr lang="en-US" i="0" dirty="0">
                <a:latin typeface="Times New Roman" pitchFamily="18" charset="0"/>
              </a:rPr>
              <a:t> </a:t>
            </a:r>
            <a:r>
              <a:rPr lang="en-US" i="0" dirty="0" err="1">
                <a:latin typeface="Times New Roman" pitchFamily="18" charset="0"/>
              </a:rPr>
              <a:t>thống</a:t>
            </a:r>
            <a:r>
              <a:rPr lang="en-US" i="0" dirty="0">
                <a:latin typeface="Times New Roman" pitchFamily="18" charset="0"/>
              </a:rPr>
              <a:t> </a:t>
            </a:r>
            <a:r>
              <a:rPr lang="en-US" i="0" dirty="0" err="1">
                <a:latin typeface="Times New Roman" pitchFamily="18" charset="0"/>
              </a:rPr>
              <a:t>quang</a:t>
            </a:r>
            <a:r>
              <a:rPr lang="en-US" i="0" dirty="0">
                <a:latin typeface="Times New Roman" pitchFamily="18" charset="0"/>
              </a:rPr>
              <a:t> </a:t>
            </a:r>
            <a:r>
              <a:rPr lang="en-US" i="0" dirty="0" err="1">
                <a:latin typeface="Times New Roman" pitchFamily="18" charset="0"/>
              </a:rPr>
              <a:t>từ</a:t>
            </a:r>
            <a:r>
              <a:rPr lang="en-US" i="0" dirty="0">
                <a:latin typeface="Times New Roman" pitchFamily="18" charset="0"/>
              </a:rPr>
              <a:t> (MO).</a:t>
            </a:r>
          </a:p>
          <a:p>
            <a:r>
              <a:rPr lang="en-US" i="0" dirty="0">
                <a:latin typeface="Times New Roman" pitchFamily="18" charset="0"/>
              </a:rPr>
              <a:t>MO </a:t>
            </a:r>
            <a:r>
              <a:rPr lang="en-US" i="0" dirty="0" err="1">
                <a:latin typeface="Times New Roman" pitchFamily="18" charset="0"/>
              </a:rPr>
              <a:t>mang</a:t>
            </a:r>
            <a:r>
              <a:rPr lang="en-US" i="0" dirty="0">
                <a:latin typeface="Times New Roman" pitchFamily="18" charset="0"/>
              </a:rPr>
              <a:t> 2 </a:t>
            </a:r>
            <a:r>
              <a:rPr lang="en-US" i="0" dirty="0" err="1">
                <a:latin typeface="Times New Roman" pitchFamily="18" charset="0"/>
              </a:rPr>
              <a:t>nguyên</a:t>
            </a:r>
            <a:r>
              <a:rPr lang="en-US" i="0" dirty="0">
                <a:latin typeface="Times New Roman" pitchFamily="18" charset="0"/>
              </a:rPr>
              <a:t> </a:t>
            </a:r>
            <a:r>
              <a:rPr lang="en-US" i="0" dirty="0" err="1">
                <a:latin typeface="Times New Roman" pitchFamily="18" charset="0"/>
              </a:rPr>
              <a:t>tắc</a:t>
            </a:r>
            <a:r>
              <a:rPr lang="en-US" i="0" dirty="0">
                <a:latin typeface="Times New Roman" pitchFamily="18" charset="0"/>
              </a:rPr>
              <a:t> </a:t>
            </a:r>
            <a:r>
              <a:rPr lang="en-US" i="0" dirty="0" err="1">
                <a:latin typeface="Times New Roman" pitchFamily="18" charset="0"/>
              </a:rPr>
              <a:t>cơ</a:t>
            </a:r>
            <a:r>
              <a:rPr lang="en-US" i="0" dirty="0">
                <a:latin typeface="Times New Roman" pitchFamily="18" charset="0"/>
              </a:rPr>
              <a:t> </a:t>
            </a:r>
            <a:r>
              <a:rPr lang="en-US" i="0" dirty="0" err="1">
                <a:latin typeface="Times New Roman" pitchFamily="18" charset="0"/>
              </a:rPr>
              <a:t>bản</a:t>
            </a:r>
            <a:r>
              <a:rPr lang="en-US" i="0" dirty="0">
                <a:latin typeface="Times New Roman" pitchFamily="18" charset="0"/>
              </a:rPr>
              <a:t> </a:t>
            </a:r>
            <a:r>
              <a:rPr lang="en-US" i="0" dirty="0" err="1">
                <a:latin typeface="Times New Roman" pitchFamily="18" charset="0"/>
              </a:rPr>
              <a:t>của</a:t>
            </a:r>
            <a:r>
              <a:rPr lang="en-US" i="0" dirty="0">
                <a:latin typeface="Times New Roman" pitchFamily="18" charset="0"/>
              </a:rPr>
              <a:t> </a:t>
            </a:r>
            <a:r>
              <a:rPr lang="en-US" i="0" dirty="0" err="1">
                <a:latin typeface="Times New Roman" pitchFamily="18" charset="0"/>
              </a:rPr>
              <a:t>hệ</a:t>
            </a:r>
            <a:r>
              <a:rPr lang="en-US" i="0" dirty="0">
                <a:latin typeface="Times New Roman" pitchFamily="18" charset="0"/>
              </a:rPr>
              <a:t> </a:t>
            </a:r>
            <a:r>
              <a:rPr lang="en-US" i="0" dirty="0" err="1">
                <a:latin typeface="Times New Roman" pitchFamily="18" charset="0"/>
              </a:rPr>
              <a:t>thống</a:t>
            </a:r>
            <a:r>
              <a:rPr lang="en-US" i="0" dirty="0">
                <a:latin typeface="Times New Roman" pitchFamily="18" charset="0"/>
              </a:rPr>
              <a:t> </a:t>
            </a:r>
            <a:r>
              <a:rPr lang="en-US" i="0" dirty="0" err="1">
                <a:latin typeface="Times New Roman" pitchFamily="18" charset="0"/>
              </a:rPr>
              <a:t>quang</a:t>
            </a:r>
            <a:r>
              <a:rPr lang="en-US" i="0" dirty="0">
                <a:latin typeface="Times New Roman" pitchFamily="18" charset="0"/>
              </a:rPr>
              <a:t> </a:t>
            </a:r>
            <a:r>
              <a:rPr lang="en-US" i="0" dirty="0" err="1">
                <a:latin typeface="Times New Roman" pitchFamily="18" charset="0"/>
              </a:rPr>
              <a:t>và</a:t>
            </a:r>
            <a:r>
              <a:rPr lang="en-US" i="0" dirty="0">
                <a:latin typeface="Times New Roman" pitchFamily="18" charset="0"/>
              </a:rPr>
              <a:t> </a:t>
            </a:r>
            <a:r>
              <a:rPr lang="en-US" i="0" dirty="0" err="1">
                <a:latin typeface="Times New Roman" pitchFamily="18" charset="0"/>
              </a:rPr>
              <a:t>từ</a:t>
            </a:r>
            <a:r>
              <a:rPr lang="en-US" i="0" dirty="0">
                <a:latin typeface="Times New Roman" pitchFamily="18" charset="0"/>
              </a:rPr>
              <a:t> </a:t>
            </a:r>
            <a:r>
              <a:rPr lang="en-US" i="0" dirty="0" err="1">
                <a:latin typeface="Times New Roman" pitchFamily="18" charset="0"/>
              </a:rPr>
              <a:t>là</a:t>
            </a:r>
            <a:r>
              <a:rPr lang="en-US" i="0" dirty="0">
                <a:latin typeface="Times New Roman" pitchFamily="18" charset="0"/>
              </a:rPr>
              <a:t>:</a:t>
            </a:r>
          </a:p>
          <a:p>
            <a:pPr lvl="1"/>
            <a:r>
              <a:rPr lang="en-US" i="0" dirty="0" err="1">
                <a:latin typeface="Times New Roman" pitchFamily="18" charset="0"/>
              </a:rPr>
              <a:t>ghi</a:t>
            </a:r>
            <a:r>
              <a:rPr lang="en-US" i="0" dirty="0">
                <a:latin typeface="Times New Roman" pitchFamily="18" charset="0"/>
              </a:rPr>
              <a:t> </a:t>
            </a:r>
            <a:r>
              <a:rPr lang="en-US" i="0" dirty="0" err="1">
                <a:latin typeface="Times New Roman" pitchFamily="18" charset="0"/>
              </a:rPr>
              <a:t>bằng</a:t>
            </a:r>
            <a:r>
              <a:rPr lang="en-US" i="0" dirty="0">
                <a:latin typeface="Times New Roman" pitchFamily="18" charset="0"/>
              </a:rPr>
              <a:t> </a:t>
            </a:r>
            <a:r>
              <a:rPr lang="en-US" i="0" dirty="0" err="1">
                <a:latin typeface="Times New Roman" pitchFamily="18" charset="0"/>
              </a:rPr>
              <a:t>từ</a:t>
            </a:r>
            <a:endParaRPr lang="en-US" i="0" dirty="0">
              <a:latin typeface="Times New Roman" pitchFamily="18" charset="0"/>
            </a:endParaRPr>
          </a:p>
          <a:p>
            <a:pPr lvl="1"/>
            <a:r>
              <a:rPr lang="en-US" i="0" dirty="0" err="1">
                <a:latin typeface="Times New Roman" pitchFamily="18" charset="0"/>
              </a:rPr>
              <a:t>đọc</a:t>
            </a:r>
            <a:r>
              <a:rPr lang="en-US" i="0" dirty="0">
                <a:latin typeface="Times New Roman" pitchFamily="18" charset="0"/>
              </a:rPr>
              <a:t> </a:t>
            </a:r>
            <a:r>
              <a:rPr lang="en-US" i="0" dirty="0" err="1">
                <a:latin typeface="Times New Roman" pitchFamily="18" charset="0"/>
              </a:rPr>
              <a:t>bằng</a:t>
            </a:r>
            <a:r>
              <a:rPr lang="en-US" i="0" dirty="0">
                <a:latin typeface="Times New Roman" pitchFamily="18" charset="0"/>
              </a:rPr>
              <a:t> </a:t>
            </a:r>
            <a:r>
              <a:rPr lang="en-US" i="0" dirty="0" err="1">
                <a:latin typeface="Times New Roman" pitchFamily="18" charset="0"/>
              </a:rPr>
              <a:t>quang</a:t>
            </a:r>
            <a:r>
              <a:rPr lang="en-US" i="0" dirty="0">
                <a:latin typeface="Times New Roman" pitchFamily="18" charset="0"/>
              </a:rPr>
              <a:t>. </a:t>
            </a:r>
          </a:p>
        </p:txBody>
      </p:sp>
      <p:sp>
        <p:nvSpPr>
          <p:cNvPr id="4" name="Title 1"/>
          <p:cNvSpPr txBox="1">
            <a:spLocks/>
          </p:cNvSpPr>
          <p:nvPr/>
        </p:nvSpPr>
        <p:spPr>
          <a:xfrm>
            <a:off x="609600" y="381000"/>
            <a:ext cx="8153400" cy="838200"/>
          </a:xfrm>
          <a:prstGeom prst="rect">
            <a:avLst/>
          </a:prstGeom>
        </p:spPr>
        <p:txBody>
          <a:bodyPr vert="horz">
            <a:normAutofit fontScale="92500"/>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Magnetic – Optical Storage Systems</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7" name="Rectangle 5"/>
          <p:cNvSpPr>
            <a:spLocks noGrp="1" noChangeArrowheads="1"/>
          </p:cNvSpPr>
          <p:nvPr>
            <p:ph sz="quarter" idx="1"/>
          </p:nvPr>
        </p:nvSpPr>
        <p:spPr>
          <a:xfrm>
            <a:off x="609600" y="1828800"/>
            <a:ext cx="7958138" cy="3881438"/>
          </a:xfrm>
          <a:noFill/>
          <a:ln/>
        </p:spPr>
        <p:txBody>
          <a:bodyPr/>
          <a:lstStyle/>
          <a:p>
            <a:r>
              <a:rPr lang="en-US" i="0" dirty="0" err="1">
                <a:latin typeface="Times New Roman" pitchFamily="18" charset="0"/>
              </a:rPr>
              <a:t>Có</a:t>
            </a:r>
            <a:r>
              <a:rPr lang="en-US" i="0" dirty="0">
                <a:latin typeface="Times New Roman" pitchFamily="18" charset="0"/>
              </a:rPr>
              <a:t> 2 </a:t>
            </a:r>
            <a:r>
              <a:rPr lang="en-US" i="0" dirty="0" err="1">
                <a:latin typeface="Times New Roman" pitchFamily="18" charset="0"/>
              </a:rPr>
              <a:t>loại</a:t>
            </a:r>
            <a:r>
              <a:rPr lang="en-US" i="0" dirty="0">
                <a:latin typeface="Times New Roman" pitchFamily="18" charset="0"/>
              </a:rPr>
              <a:t> </a:t>
            </a:r>
            <a:r>
              <a:rPr lang="en-US" i="0" dirty="0" err="1">
                <a:latin typeface="Times New Roman" pitchFamily="18" charset="0"/>
              </a:rPr>
              <a:t>tiêu</a:t>
            </a:r>
            <a:r>
              <a:rPr lang="en-US" i="0" dirty="0">
                <a:latin typeface="Times New Roman" pitchFamily="18" charset="0"/>
              </a:rPr>
              <a:t> </a:t>
            </a:r>
            <a:r>
              <a:rPr lang="en-US" i="0" dirty="0" err="1">
                <a:latin typeface="Times New Roman" pitchFamily="18" charset="0"/>
              </a:rPr>
              <a:t>chuẩn</a:t>
            </a:r>
            <a:r>
              <a:rPr lang="en-US" i="0" dirty="0">
                <a:latin typeface="Times New Roman" pitchFamily="18" charset="0"/>
              </a:rPr>
              <a:t> </a:t>
            </a:r>
            <a:r>
              <a:rPr lang="en-US" i="0" dirty="0" err="1">
                <a:latin typeface="Times New Roman" pitchFamily="18" charset="0"/>
              </a:rPr>
              <a:t>cho</a:t>
            </a:r>
            <a:r>
              <a:rPr lang="en-US" i="0" dirty="0">
                <a:latin typeface="Times New Roman" pitchFamily="18" charset="0"/>
              </a:rPr>
              <a:t> MO </a:t>
            </a:r>
            <a:r>
              <a:rPr lang="en-US" i="0" dirty="0" err="1">
                <a:latin typeface="Times New Roman" pitchFamily="18" charset="0"/>
              </a:rPr>
              <a:t>là</a:t>
            </a:r>
            <a:r>
              <a:rPr lang="en-US" i="0" dirty="0">
                <a:latin typeface="Times New Roman" pitchFamily="18" charset="0"/>
              </a:rPr>
              <a:t> </a:t>
            </a:r>
            <a:r>
              <a:rPr lang="en-US" i="0" dirty="0" err="1">
                <a:latin typeface="Times New Roman" pitchFamily="18" charset="0"/>
              </a:rPr>
              <a:t>loại</a:t>
            </a:r>
            <a:r>
              <a:rPr lang="en-US" i="0" dirty="0">
                <a:latin typeface="Times New Roman" pitchFamily="18" charset="0"/>
              </a:rPr>
              <a:t> 5.5 inch </a:t>
            </a:r>
            <a:r>
              <a:rPr lang="en-US" i="0" dirty="0" err="1">
                <a:latin typeface="Times New Roman" pitchFamily="18" charset="0"/>
              </a:rPr>
              <a:t>và</a:t>
            </a:r>
            <a:r>
              <a:rPr lang="en-US" i="0" dirty="0">
                <a:latin typeface="Times New Roman" pitchFamily="18" charset="0"/>
              </a:rPr>
              <a:t> 3.5 inch.</a:t>
            </a:r>
          </a:p>
          <a:p>
            <a:r>
              <a:rPr lang="en-US" i="0" dirty="0" err="1">
                <a:latin typeface="Times New Roman" pitchFamily="18" charset="0"/>
              </a:rPr>
              <a:t>Loại</a:t>
            </a:r>
            <a:r>
              <a:rPr lang="en-US" i="0" dirty="0">
                <a:latin typeface="Times New Roman" pitchFamily="18" charset="0"/>
              </a:rPr>
              <a:t> 5.5 inch </a:t>
            </a:r>
            <a:r>
              <a:rPr lang="en-US" i="0" dirty="0" err="1">
                <a:latin typeface="Times New Roman" pitchFamily="18" charset="0"/>
              </a:rPr>
              <a:t>có</a:t>
            </a:r>
            <a:r>
              <a:rPr lang="en-US" i="0" dirty="0">
                <a:latin typeface="Times New Roman" pitchFamily="18" charset="0"/>
              </a:rPr>
              <a:t> dung </a:t>
            </a:r>
            <a:r>
              <a:rPr lang="en-US" i="0" dirty="0" err="1">
                <a:latin typeface="Times New Roman" pitchFamily="18" charset="0"/>
              </a:rPr>
              <a:t>lượng</a:t>
            </a:r>
            <a:r>
              <a:rPr lang="en-US" i="0" dirty="0">
                <a:latin typeface="Times New Roman" pitchFamily="18" charset="0"/>
              </a:rPr>
              <a:t> </a:t>
            </a:r>
            <a:r>
              <a:rPr lang="en-US" i="0" dirty="0" err="1">
                <a:latin typeface="Times New Roman" pitchFamily="18" charset="0"/>
              </a:rPr>
              <a:t>tương</a:t>
            </a:r>
            <a:r>
              <a:rPr lang="en-US" i="0" dirty="0">
                <a:latin typeface="Times New Roman" pitchFamily="18" charset="0"/>
              </a:rPr>
              <a:t> </a:t>
            </a:r>
            <a:r>
              <a:rPr lang="en-US" i="0" dirty="0" err="1">
                <a:latin typeface="Times New Roman" pitchFamily="18" charset="0"/>
              </a:rPr>
              <a:t>đương</a:t>
            </a:r>
            <a:r>
              <a:rPr lang="en-US" i="0" dirty="0">
                <a:latin typeface="Times New Roman" pitchFamily="18" charset="0"/>
              </a:rPr>
              <a:t> CD-ROM.</a:t>
            </a:r>
          </a:p>
          <a:p>
            <a:r>
              <a:rPr lang="en-US" i="0" dirty="0" err="1">
                <a:latin typeface="Times New Roman" pitchFamily="18" charset="0"/>
              </a:rPr>
              <a:t>Với</a:t>
            </a:r>
            <a:r>
              <a:rPr lang="en-US" i="0" dirty="0">
                <a:latin typeface="Times New Roman" pitchFamily="18" charset="0"/>
              </a:rPr>
              <a:t> </a:t>
            </a:r>
            <a:r>
              <a:rPr lang="en-US" i="0" dirty="0" err="1">
                <a:latin typeface="Times New Roman" pitchFamily="18" charset="0"/>
              </a:rPr>
              <a:t>khả</a:t>
            </a:r>
            <a:r>
              <a:rPr lang="en-US" i="0" dirty="0">
                <a:latin typeface="Times New Roman" pitchFamily="18" charset="0"/>
              </a:rPr>
              <a:t> </a:t>
            </a:r>
            <a:r>
              <a:rPr lang="en-US" i="0" dirty="0" err="1">
                <a:latin typeface="Times New Roman" pitchFamily="18" charset="0"/>
              </a:rPr>
              <a:t>năng</a:t>
            </a:r>
            <a:r>
              <a:rPr lang="en-US" i="0" dirty="0">
                <a:latin typeface="Times New Roman" pitchFamily="18" charset="0"/>
              </a:rPr>
              <a:t> </a:t>
            </a:r>
            <a:r>
              <a:rPr lang="en-US" i="0" dirty="0" err="1">
                <a:latin typeface="Times New Roman" pitchFamily="18" charset="0"/>
              </a:rPr>
              <a:t>của</a:t>
            </a:r>
            <a:r>
              <a:rPr lang="en-US" i="0" dirty="0">
                <a:latin typeface="Times New Roman" pitchFamily="18" charset="0"/>
              </a:rPr>
              <a:t> </a:t>
            </a:r>
            <a:r>
              <a:rPr lang="en-US" i="0" dirty="0" err="1">
                <a:latin typeface="Times New Roman" pitchFamily="18" charset="0"/>
              </a:rPr>
              <a:t>mình</a:t>
            </a:r>
            <a:r>
              <a:rPr lang="en-US" i="0" dirty="0">
                <a:latin typeface="Times New Roman" pitchFamily="18" charset="0"/>
              </a:rPr>
              <a:t> MO </a:t>
            </a:r>
            <a:r>
              <a:rPr lang="en-US" i="0" dirty="0" err="1">
                <a:latin typeface="Times New Roman" pitchFamily="18" charset="0"/>
              </a:rPr>
              <a:t>có</a:t>
            </a:r>
            <a:r>
              <a:rPr lang="en-US" i="0" dirty="0">
                <a:latin typeface="Times New Roman" pitchFamily="18" charset="0"/>
              </a:rPr>
              <a:t> </a:t>
            </a:r>
            <a:r>
              <a:rPr lang="en-US" i="0" dirty="0" err="1">
                <a:latin typeface="Times New Roman" pitchFamily="18" charset="0"/>
              </a:rPr>
              <a:t>thể</a:t>
            </a:r>
            <a:r>
              <a:rPr lang="en-US" i="0" dirty="0">
                <a:latin typeface="Times New Roman" pitchFamily="18" charset="0"/>
              </a:rPr>
              <a:t> </a:t>
            </a:r>
            <a:r>
              <a:rPr lang="en-US" i="0" dirty="0" err="1">
                <a:latin typeface="Times New Roman" pitchFamily="18" charset="0"/>
              </a:rPr>
              <a:t>bù</a:t>
            </a:r>
            <a:r>
              <a:rPr lang="en-US" i="0" dirty="0">
                <a:latin typeface="Times New Roman" pitchFamily="18" charset="0"/>
              </a:rPr>
              <a:t> </a:t>
            </a:r>
            <a:r>
              <a:rPr lang="en-US" i="0" dirty="0" err="1">
                <a:latin typeface="Times New Roman" pitchFamily="18" charset="0"/>
              </a:rPr>
              <a:t>vào</a:t>
            </a:r>
            <a:r>
              <a:rPr lang="en-US" i="0" dirty="0">
                <a:latin typeface="Times New Roman" pitchFamily="18" charset="0"/>
              </a:rPr>
              <a:t> </a:t>
            </a:r>
            <a:r>
              <a:rPr lang="en-US" i="0" dirty="0" err="1">
                <a:latin typeface="Times New Roman" pitchFamily="18" charset="0"/>
              </a:rPr>
              <a:t>việc</a:t>
            </a:r>
            <a:r>
              <a:rPr lang="en-US" i="0" dirty="0">
                <a:latin typeface="Times New Roman" pitchFamily="18" charset="0"/>
              </a:rPr>
              <a:t> </a:t>
            </a:r>
            <a:r>
              <a:rPr lang="en-US" i="0" dirty="0" err="1">
                <a:latin typeface="Times New Roman" pitchFamily="18" charset="0"/>
              </a:rPr>
              <a:t>nó</a:t>
            </a:r>
            <a:r>
              <a:rPr lang="en-US" i="0" dirty="0">
                <a:latin typeface="Times New Roman" pitchFamily="18" charset="0"/>
              </a:rPr>
              <a:t> </a:t>
            </a:r>
            <a:r>
              <a:rPr lang="en-US" i="0" dirty="0" err="1">
                <a:latin typeface="Times New Roman" pitchFamily="18" charset="0"/>
              </a:rPr>
              <a:t>không</a:t>
            </a:r>
            <a:r>
              <a:rPr lang="en-US" i="0" dirty="0">
                <a:latin typeface="Times New Roman" pitchFamily="18" charset="0"/>
              </a:rPr>
              <a:t> </a:t>
            </a:r>
            <a:r>
              <a:rPr lang="en-US" i="0" dirty="0" err="1">
                <a:latin typeface="Times New Roman" pitchFamily="18" charset="0"/>
              </a:rPr>
              <a:t>rẻ</a:t>
            </a:r>
            <a:r>
              <a:rPr lang="en-US" i="0" dirty="0">
                <a:latin typeface="Times New Roman" pitchFamily="18" charset="0"/>
              </a:rPr>
              <a:t> </a:t>
            </a:r>
            <a:r>
              <a:rPr lang="en-US" i="0" dirty="0" err="1">
                <a:latin typeface="Times New Roman" pitchFamily="18" charset="0"/>
              </a:rPr>
              <a:t>và</a:t>
            </a:r>
            <a:r>
              <a:rPr lang="en-US" i="0" dirty="0">
                <a:latin typeface="Times New Roman" pitchFamily="18" charset="0"/>
              </a:rPr>
              <a:t> </a:t>
            </a:r>
            <a:r>
              <a:rPr lang="en-US" i="0" dirty="0" err="1">
                <a:latin typeface="Times New Roman" pitchFamily="18" charset="0"/>
              </a:rPr>
              <a:t>nhanh</a:t>
            </a:r>
            <a:r>
              <a:rPr lang="en-US" i="0" dirty="0">
                <a:latin typeface="Times New Roman" pitchFamily="18" charset="0"/>
              </a:rPr>
              <a:t> </a:t>
            </a:r>
            <a:r>
              <a:rPr lang="en-US" i="0" dirty="0" err="1">
                <a:latin typeface="Times New Roman" pitchFamily="18" charset="0"/>
              </a:rPr>
              <a:t>như</a:t>
            </a:r>
            <a:r>
              <a:rPr lang="en-US" i="0" dirty="0">
                <a:latin typeface="Times New Roman" pitchFamily="18" charset="0"/>
              </a:rPr>
              <a:t> </a:t>
            </a:r>
            <a:r>
              <a:rPr lang="en-US" i="0" dirty="0" err="1">
                <a:latin typeface="Times New Roman" pitchFamily="18" charset="0"/>
              </a:rPr>
              <a:t>các</a:t>
            </a:r>
            <a:r>
              <a:rPr lang="en-US" i="0" dirty="0">
                <a:latin typeface="Times New Roman" pitchFamily="18" charset="0"/>
              </a:rPr>
              <a:t> </a:t>
            </a:r>
            <a:r>
              <a:rPr lang="en-US" i="0" dirty="0" err="1">
                <a:latin typeface="Times New Roman" pitchFamily="18" charset="0"/>
              </a:rPr>
              <a:t>loại</a:t>
            </a:r>
            <a:r>
              <a:rPr lang="en-US" i="0" dirty="0">
                <a:latin typeface="Times New Roman" pitchFamily="18" charset="0"/>
              </a:rPr>
              <a:t> CD-R, CD-RW. </a:t>
            </a:r>
          </a:p>
        </p:txBody>
      </p:sp>
      <p:sp>
        <p:nvSpPr>
          <p:cNvPr id="4" name="Title 1"/>
          <p:cNvSpPr txBox="1">
            <a:spLocks/>
          </p:cNvSpPr>
          <p:nvPr/>
        </p:nvSpPr>
        <p:spPr>
          <a:xfrm>
            <a:off x="609600" y="381000"/>
            <a:ext cx="8153400" cy="838200"/>
          </a:xfrm>
          <a:prstGeom prst="rect">
            <a:avLst/>
          </a:prstGeom>
        </p:spPr>
        <p:txBody>
          <a:bodyPr vert="horz">
            <a:normAutofit fontScale="92500"/>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Magnetic – Optical Storage Systems</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61" name="Rectangle 5"/>
          <p:cNvSpPr>
            <a:spLocks noGrp="1" noChangeArrowheads="1"/>
          </p:cNvSpPr>
          <p:nvPr>
            <p:ph sz="quarter" idx="1"/>
          </p:nvPr>
        </p:nvSpPr>
        <p:spPr>
          <a:xfrm>
            <a:off x="685800" y="2667000"/>
            <a:ext cx="7958138" cy="3429000"/>
          </a:xfrm>
          <a:noFill/>
          <a:ln/>
        </p:spPr>
        <p:txBody>
          <a:bodyPr>
            <a:normAutofit/>
          </a:bodyPr>
          <a:lstStyle/>
          <a:p>
            <a:r>
              <a:rPr lang="en-US" i="0" dirty="0" err="1">
                <a:latin typeface="Times New Roman" pitchFamily="18" charset="0"/>
              </a:rPr>
              <a:t>Nhiên</a:t>
            </a:r>
            <a:r>
              <a:rPr lang="en-US" i="0" dirty="0">
                <a:latin typeface="Times New Roman" pitchFamily="18" charset="0"/>
              </a:rPr>
              <a:t> </a:t>
            </a:r>
            <a:r>
              <a:rPr lang="en-US" i="0" dirty="0" err="1">
                <a:latin typeface="Times New Roman" pitchFamily="18" charset="0"/>
              </a:rPr>
              <a:t>liệu</a:t>
            </a:r>
            <a:r>
              <a:rPr lang="en-US" i="0" dirty="0">
                <a:latin typeface="Times New Roman" pitchFamily="18" charset="0"/>
              </a:rPr>
              <a:t> </a:t>
            </a:r>
            <a:r>
              <a:rPr lang="en-US" i="0" dirty="0" err="1">
                <a:latin typeface="Times New Roman" pitchFamily="18" charset="0"/>
              </a:rPr>
              <a:t>từ</a:t>
            </a:r>
            <a:r>
              <a:rPr lang="en-US" i="0" dirty="0">
                <a:latin typeface="Times New Roman" pitchFamily="18" charset="0"/>
              </a:rPr>
              <a:t> </a:t>
            </a:r>
            <a:r>
              <a:rPr lang="en-US" i="0" dirty="0" err="1">
                <a:latin typeface="Times New Roman" pitchFamily="18" charset="0"/>
              </a:rPr>
              <a:t>được</a:t>
            </a:r>
            <a:r>
              <a:rPr lang="en-US" i="0" dirty="0">
                <a:latin typeface="Times New Roman" pitchFamily="18" charset="0"/>
              </a:rPr>
              <a:t> </a:t>
            </a:r>
            <a:r>
              <a:rPr lang="en-US" i="0" dirty="0" err="1">
                <a:latin typeface="Times New Roman" pitchFamily="18" charset="0"/>
              </a:rPr>
              <a:t>đặc</a:t>
            </a:r>
            <a:r>
              <a:rPr lang="en-US" i="0" dirty="0">
                <a:latin typeface="Times New Roman" pitchFamily="18" charset="0"/>
              </a:rPr>
              <a:t> </a:t>
            </a:r>
            <a:r>
              <a:rPr lang="en-US" i="0" dirty="0" err="1">
                <a:latin typeface="Times New Roman" pitchFamily="18" charset="0"/>
              </a:rPr>
              <a:t>trưng</a:t>
            </a:r>
            <a:r>
              <a:rPr lang="en-US" i="0" dirty="0">
                <a:latin typeface="Times New Roman" pitchFamily="18" charset="0"/>
              </a:rPr>
              <a:t> </a:t>
            </a:r>
            <a:r>
              <a:rPr lang="en-US" i="0" dirty="0" err="1">
                <a:latin typeface="Times New Roman" pitchFamily="18" charset="0"/>
              </a:rPr>
              <a:t>bởi</a:t>
            </a:r>
            <a:r>
              <a:rPr lang="en-US" i="0" dirty="0">
                <a:latin typeface="Times New Roman" pitchFamily="18" charset="0"/>
              </a:rPr>
              <a:t> 1 </a:t>
            </a:r>
            <a:r>
              <a:rPr lang="en-US" i="0" dirty="0" err="1">
                <a:latin typeface="Times New Roman" pitchFamily="18" charset="0"/>
              </a:rPr>
              <a:t>nhiệt</a:t>
            </a:r>
            <a:r>
              <a:rPr lang="en-US" i="0" dirty="0">
                <a:latin typeface="Times New Roman" pitchFamily="18" charset="0"/>
              </a:rPr>
              <a:t> </a:t>
            </a:r>
            <a:r>
              <a:rPr lang="en-US" i="0" dirty="0" err="1">
                <a:latin typeface="Times New Roman" pitchFamily="18" charset="0"/>
              </a:rPr>
              <a:t>độ</a:t>
            </a:r>
            <a:r>
              <a:rPr lang="en-US" i="0" dirty="0">
                <a:latin typeface="Times New Roman" pitchFamily="18" charset="0"/>
              </a:rPr>
              <a:t> </a:t>
            </a:r>
            <a:r>
              <a:rPr lang="en-US" i="0" dirty="0" err="1">
                <a:latin typeface="Times New Roman" pitchFamily="18" charset="0"/>
              </a:rPr>
              <a:t>đó</a:t>
            </a:r>
            <a:r>
              <a:rPr lang="en-US" i="0" dirty="0">
                <a:latin typeface="Times New Roman" pitchFamily="18" charset="0"/>
              </a:rPr>
              <a:t> </a:t>
            </a:r>
            <a:r>
              <a:rPr lang="en-US" i="0" dirty="0" err="1">
                <a:latin typeface="Times New Roman" pitchFamily="18" charset="0"/>
              </a:rPr>
              <a:t>là</a:t>
            </a:r>
            <a:r>
              <a:rPr lang="en-US" i="0" dirty="0">
                <a:latin typeface="Times New Roman" pitchFamily="18" charset="0"/>
              </a:rPr>
              <a:t> </a:t>
            </a:r>
            <a:r>
              <a:rPr lang="en-US" i="0" dirty="0" err="1">
                <a:latin typeface="Times New Roman" pitchFamily="18" charset="0"/>
              </a:rPr>
              <a:t>nhiệt</a:t>
            </a:r>
            <a:r>
              <a:rPr lang="en-US" i="0" dirty="0">
                <a:latin typeface="Times New Roman" pitchFamily="18" charset="0"/>
              </a:rPr>
              <a:t> </a:t>
            </a:r>
            <a:r>
              <a:rPr lang="en-US" i="0" dirty="0" err="1">
                <a:latin typeface="Times New Roman" pitchFamily="18" charset="0"/>
              </a:rPr>
              <a:t>độ</a:t>
            </a:r>
            <a:r>
              <a:rPr lang="en-US" i="0" dirty="0">
                <a:latin typeface="Times New Roman" pitchFamily="18" charset="0"/>
              </a:rPr>
              <a:t> Curie.</a:t>
            </a:r>
          </a:p>
          <a:p>
            <a:r>
              <a:rPr lang="en-US" i="0" dirty="0" err="1">
                <a:latin typeface="Times New Roman" pitchFamily="18" charset="0"/>
              </a:rPr>
              <a:t>Nhiệt</a:t>
            </a:r>
            <a:r>
              <a:rPr lang="en-US" i="0" dirty="0">
                <a:latin typeface="Times New Roman" pitchFamily="18" charset="0"/>
              </a:rPr>
              <a:t> </a:t>
            </a:r>
            <a:r>
              <a:rPr lang="en-US" i="0" dirty="0" err="1">
                <a:latin typeface="Times New Roman" pitchFamily="18" charset="0"/>
              </a:rPr>
              <a:t>độ</a:t>
            </a:r>
            <a:r>
              <a:rPr lang="en-US" i="0" dirty="0">
                <a:latin typeface="Times New Roman" pitchFamily="18" charset="0"/>
              </a:rPr>
              <a:t> Curie </a:t>
            </a:r>
            <a:r>
              <a:rPr lang="en-US" i="0" dirty="0" err="1">
                <a:latin typeface="Times New Roman" pitchFamily="18" charset="0"/>
              </a:rPr>
              <a:t>nhiệt</a:t>
            </a:r>
            <a:r>
              <a:rPr lang="en-US" i="0" dirty="0">
                <a:latin typeface="Times New Roman" pitchFamily="18" charset="0"/>
              </a:rPr>
              <a:t> </a:t>
            </a:r>
            <a:r>
              <a:rPr lang="en-US" i="0" dirty="0" err="1">
                <a:latin typeface="Times New Roman" pitchFamily="18" charset="0"/>
              </a:rPr>
              <a:t>độ</a:t>
            </a:r>
            <a:r>
              <a:rPr lang="en-US" i="0" dirty="0">
                <a:latin typeface="Times New Roman" pitchFamily="18" charset="0"/>
              </a:rPr>
              <a:t> </a:t>
            </a:r>
            <a:r>
              <a:rPr lang="en-US" i="0" dirty="0" err="1">
                <a:latin typeface="Times New Roman" pitchFamily="18" charset="0"/>
              </a:rPr>
              <a:t>mà</a:t>
            </a:r>
            <a:r>
              <a:rPr lang="en-US" i="0" dirty="0">
                <a:latin typeface="Times New Roman" pitchFamily="18" charset="0"/>
              </a:rPr>
              <a:t> ở </a:t>
            </a:r>
            <a:r>
              <a:rPr lang="en-US" i="0" dirty="0" err="1">
                <a:latin typeface="Times New Roman" pitchFamily="18" charset="0"/>
              </a:rPr>
              <a:t>đó</a:t>
            </a:r>
            <a:r>
              <a:rPr lang="en-US" i="0" dirty="0">
                <a:latin typeface="Times New Roman" pitchFamily="18" charset="0"/>
              </a:rPr>
              <a:t> </a:t>
            </a:r>
            <a:r>
              <a:rPr lang="en-US" i="0" dirty="0" err="1">
                <a:latin typeface="Times New Roman" pitchFamily="18" charset="0"/>
              </a:rPr>
              <a:t>nó</a:t>
            </a:r>
            <a:r>
              <a:rPr lang="en-US" i="0" dirty="0">
                <a:latin typeface="Times New Roman" pitchFamily="18" charset="0"/>
              </a:rPr>
              <a:t> </a:t>
            </a:r>
            <a:r>
              <a:rPr lang="en-US" i="0" dirty="0" err="1">
                <a:latin typeface="Times New Roman" pitchFamily="18" charset="0"/>
              </a:rPr>
              <a:t>mất</a:t>
            </a:r>
            <a:r>
              <a:rPr lang="en-US" i="0" dirty="0">
                <a:latin typeface="Times New Roman" pitchFamily="18" charset="0"/>
              </a:rPr>
              <a:t> </a:t>
            </a:r>
            <a:r>
              <a:rPr lang="en-US" i="0" dirty="0" err="1">
                <a:latin typeface="Times New Roman" pitchFamily="18" charset="0"/>
              </a:rPr>
              <a:t>từ</a:t>
            </a:r>
            <a:r>
              <a:rPr lang="en-US" i="0" dirty="0">
                <a:latin typeface="Times New Roman" pitchFamily="18" charset="0"/>
              </a:rPr>
              <a:t> </a:t>
            </a:r>
            <a:r>
              <a:rPr lang="en-US" i="0" dirty="0" err="1">
                <a:latin typeface="Times New Roman" pitchFamily="18" charset="0"/>
              </a:rPr>
              <a:t>tính</a:t>
            </a:r>
            <a:r>
              <a:rPr lang="en-US" i="0" dirty="0">
                <a:latin typeface="Times New Roman" pitchFamily="18" charset="0"/>
              </a:rPr>
              <a:t> </a:t>
            </a:r>
            <a:r>
              <a:rPr lang="en-US" i="0" dirty="0" err="1">
                <a:latin typeface="Times New Roman" pitchFamily="18" charset="0"/>
              </a:rPr>
              <a:t>làm</a:t>
            </a:r>
            <a:r>
              <a:rPr lang="en-US" i="0" dirty="0">
                <a:latin typeface="Times New Roman" pitchFamily="18" charset="0"/>
              </a:rPr>
              <a:t> </a:t>
            </a:r>
            <a:r>
              <a:rPr lang="en-US" i="0" dirty="0" err="1">
                <a:latin typeface="Times New Roman" pitchFamily="18" charset="0"/>
              </a:rPr>
              <a:t>mất</a:t>
            </a:r>
            <a:r>
              <a:rPr lang="en-US" i="0" dirty="0">
                <a:latin typeface="Times New Roman" pitchFamily="18" charset="0"/>
              </a:rPr>
              <a:t> </a:t>
            </a:r>
            <a:r>
              <a:rPr lang="en-US" i="0" dirty="0" err="1">
                <a:latin typeface="Times New Roman" pitchFamily="18" charset="0"/>
              </a:rPr>
              <a:t>dữ</a:t>
            </a:r>
            <a:r>
              <a:rPr lang="en-US" i="0" dirty="0">
                <a:latin typeface="Times New Roman" pitchFamily="18" charset="0"/>
              </a:rPr>
              <a:t> </a:t>
            </a:r>
            <a:r>
              <a:rPr lang="en-US" i="0" dirty="0" err="1">
                <a:latin typeface="Times New Roman" pitchFamily="18" charset="0"/>
              </a:rPr>
              <a:t>liệu</a:t>
            </a:r>
            <a:r>
              <a:rPr lang="en-US" i="0" dirty="0">
                <a:latin typeface="Times New Roman" pitchFamily="18" charset="0"/>
              </a:rPr>
              <a:t>.</a:t>
            </a:r>
          </a:p>
          <a:p>
            <a:r>
              <a:rPr lang="en-US" i="0" dirty="0" err="1">
                <a:latin typeface="Times New Roman" pitchFamily="18" charset="0"/>
              </a:rPr>
              <a:t>Với</a:t>
            </a:r>
            <a:r>
              <a:rPr lang="en-US" i="0" dirty="0">
                <a:latin typeface="Times New Roman" pitchFamily="18" charset="0"/>
              </a:rPr>
              <a:t> </a:t>
            </a:r>
            <a:r>
              <a:rPr lang="en-US" i="0" dirty="0" err="1">
                <a:latin typeface="Times New Roman" pitchFamily="18" charset="0"/>
              </a:rPr>
              <a:t>các</a:t>
            </a:r>
            <a:r>
              <a:rPr lang="en-US" i="0" dirty="0">
                <a:latin typeface="Times New Roman" pitchFamily="18" charset="0"/>
              </a:rPr>
              <a:t> </a:t>
            </a:r>
            <a:r>
              <a:rPr lang="en-US" i="0" dirty="0" err="1">
                <a:latin typeface="Times New Roman" pitchFamily="18" charset="0"/>
              </a:rPr>
              <a:t>loại</a:t>
            </a:r>
            <a:r>
              <a:rPr lang="en-US" i="0" dirty="0">
                <a:latin typeface="Times New Roman" pitchFamily="18" charset="0"/>
              </a:rPr>
              <a:t> </a:t>
            </a:r>
            <a:r>
              <a:rPr lang="en-US" i="0" dirty="0" err="1">
                <a:latin typeface="Times New Roman" pitchFamily="18" charset="0"/>
              </a:rPr>
              <a:t>vật</a:t>
            </a:r>
            <a:r>
              <a:rPr lang="en-US" i="0" dirty="0">
                <a:latin typeface="Times New Roman" pitchFamily="18" charset="0"/>
              </a:rPr>
              <a:t> </a:t>
            </a:r>
            <a:r>
              <a:rPr lang="en-US" i="0" dirty="0" err="1">
                <a:latin typeface="Times New Roman" pitchFamily="18" charset="0"/>
              </a:rPr>
              <a:t>liệu</a:t>
            </a:r>
            <a:r>
              <a:rPr lang="en-US" i="0" dirty="0">
                <a:latin typeface="Times New Roman" pitchFamily="18" charset="0"/>
              </a:rPr>
              <a:t> </a:t>
            </a:r>
            <a:r>
              <a:rPr lang="en-US" i="0" dirty="0" err="1">
                <a:latin typeface="Times New Roman" pitchFamily="18" charset="0"/>
              </a:rPr>
              <a:t>từ</a:t>
            </a:r>
            <a:r>
              <a:rPr lang="en-US" i="0" dirty="0">
                <a:latin typeface="Times New Roman" pitchFamily="18" charset="0"/>
              </a:rPr>
              <a:t> </a:t>
            </a:r>
            <a:r>
              <a:rPr lang="en-US" i="0" dirty="0" err="1">
                <a:latin typeface="Times New Roman" pitchFamily="18" charset="0"/>
              </a:rPr>
              <a:t>hiện</a:t>
            </a:r>
            <a:r>
              <a:rPr lang="en-US" i="0" dirty="0">
                <a:latin typeface="Times New Roman" pitchFamily="18" charset="0"/>
              </a:rPr>
              <a:t> </a:t>
            </a:r>
            <a:r>
              <a:rPr lang="en-US" i="0" dirty="0" err="1">
                <a:latin typeface="Times New Roman" pitchFamily="18" charset="0"/>
              </a:rPr>
              <a:t>tại</a:t>
            </a:r>
            <a:r>
              <a:rPr lang="en-US" i="0" dirty="0">
                <a:latin typeface="Times New Roman" pitchFamily="18" charset="0"/>
              </a:rPr>
              <a:t> </a:t>
            </a:r>
            <a:r>
              <a:rPr lang="en-US" i="0" dirty="0" err="1">
                <a:latin typeface="Times New Roman" pitchFamily="18" charset="0"/>
              </a:rPr>
              <a:t>thì</a:t>
            </a:r>
            <a:r>
              <a:rPr lang="en-US" i="0" dirty="0">
                <a:latin typeface="Times New Roman" pitchFamily="18" charset="0"/>
              </a:rPr>
              <a:t> </a:t>
            </a:r>
            <a:r>
              <a:rPr lang="en-US" i="0" dirty="0" err="1">
                <a:latin typeface="Times New Roman" pitchFamily="18" charset="0"/>
              </a:rPr>
              <a:t>nhiệu</a:t>
            </a:r>
            <a:r>
              <a:rPr lang="en-US" i="0" dirty="0">
                <a:latin typeface="Times New Roman" pitchFamily="18" charset="0"/>
              </a:rPr>
              <a:t> </a:t>
            </a:r>
            <a:r>
              <a:rPr lang="en-US" i="0" dirty="0" err="1">
                <a:latin typeface="Times New Roman" pitchFamily="18" charset="0"/>
              </a:rPr>
              <a:t>độ</a:t>
            </a:r>
            <a:r>
              <a:rPr lang="en-US" i="0" dirty="0">
                <a:latin typeface="Times New Roman" pitchFamily="18" charset="0"/>
              </a:rPr>
              <a:t> </a:t>
            </a:r>
            <a:r>
              <a:rPr lang="en-US" i="0" dirty="0" err="1">
                <a:latin typeface="Times New Roman" pitchFamily="18" charset="0"/>
              </a:rPr>
              <a:t>này</a:t>
            </a:r>
            <a:r>
              <a:rPr lang="en-US" i="0" dirty="0">
                <a:latin typeface="Times New Roman" pitchFamily="18" charset="0"/>
              </a:rPr>
              <a:t> </a:t>
            </a:r>
            <a:r>
              <a:rPr lang="en-US" i="0" dirty="0" err="1">
                <a:latin typeface="Times New Roman" pitchFamily="18" charset="0"/>
              </a:rPr>
              <a:t>là</a:t>
            </a:r>
            <a:r>
              <a:rPr lang="en-US" i="0" dirty="0">
                <a:latin typeface="Times New Roman" pitchFamily="18" charset="0"/>
              </a:rPr>
              <a:t> 200 </a:t>
            </a:r>
            <a:r>
              <a:rPr lang="en-US" i="0" dirty="0" err="1">
                <a:latin typeface="Times New Roman" pitchFamily="18" charset="0"/>
              </a:rPr>
              <a:t>độ</a:t>
            </a:r>
            <a:r>
              <a:rPr lang="en-US" i="0" dirty="0">
                <a:latin typeface="Times New Roman" pitchFamily="18" charset="0"/>
              </a:rPr>
              <a:t> C.</a:t>
            </a:r>
          </a:p>
        </p:txBody>
      </p:sp>
      <p:sp>
        <p:nvSpPr>
          <p:cNvPr id="5" name="Rectangle 5"/>
          <p:cNvSpPr txBox="1">
            <a:spLocks noChangeArrowheads="1"/>
          </p:cNvSpPr>
          <p:nvPr/>
        </p:nvSpPr>
        <p:spPr>
          <a:xfrm>
            <a:off x="304800" y="1828800"/>
            <a:ext cx="5638800" cy="685800"/>
          </a:xfrm>
          <a:prstGeom prst="rect">
            <a:avLst/>
          </a:prstGeom>
          <a:noFill/>
          <a:ln/>
        </p:spPr>
        <p:txBody>
          <a:bodyPr vert="horz" lIns="54864" tIns="91440" rtlCol="0">
            <a:normAutofit/>
          </a:bodyPr>
          <a:lstStyle/>
          <a:p>
            <a:r>
              <a:rPr lang="en-US" sz="3200" dirty="0" err="1">
                <a:latin typeface="Times New Roman" pitchFamily="18" charset="0"/>
              </a:rPr>
              <a:t>Hoạt</a:t>
            </a:r>
            <a:r>
              <a:rPr lang="en-US" sz="3200" dirty="0">
                <a:latin typeface="Times New Roman" pitchFamily="18" charset="0"/>
              </a:rPr>
              <a:t> </a:t>
            </a:r>
            <a:r>
              <a:rPr lang="en-US" sz="3200" dirty="0" err="1">
                <a:latin typeface="Times New Roman" pitchFamily="18" charset="0"/>
              </a:rPr>
              <a:t>động</a:t>
            </a:r>
            <a:r>
              <a:rPr lang="en-US" sz="3200" dirty="0">
                <a:latin typeface="Times New Roman" pitchFamily="18" charset="0"/>
              </a:rPr>
              <a:t> </a:t>
            </a:r>
            <a:r>
              <a:rPr lang="en-US" sz="3200" dirty="0" err="1">
                <a:latin typeface="Times New Roman" pitchFamily="18" charset="0"/>
              </a:rPr>
              <a:t>ghi-đọc</a:t>
            </a:r>
            <a:r>
              <a:rPr lang="en-US" sz="3200" dirty="0">
                <a:latin typeface="Times New Roman" pitchFamily="18" charset="0"/>
              </a:rPr>
              <a:t>:</a:t>
            </a:r>
            <a:endParaRPr lang="en-US" sz="3200" dirty="0">
              <a:latin typeface="Arial Black" pitchFamily="34" charset="0"/>
            </a:endParaRPr>
          </a:p>
        </p:txBody>
      </p:sp>
      <p:sp>
        <p:nvSpPr>
          <p:cNvPr id="6" name="Title 1"/>
          <p:cNvSpPr txBox="1">
            <a:spLocks/>
          </p:cNvSpPr>
          <p:nvPr/>
        </p:nvSpPr>
        <p:spPr>
          <a:xfrm>
            <a:off x="609600" y="381000"/>
            <a:ext cx="8153400" cy="838200"/>
          </a:xfrm>
          <a:prstGeom prst="rect">
            <a:avLst/>
          </a:prstGeom>
        </p:spPr>
        <p:txBody>
          <a:bodyPr vert="horz">
            <a:normAutofit fontScale="92500"/>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Magnetic – Optical Storage Systems</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5" name="Rectangle 5"/>
          <p:cNvSpPr>
            <a:spLocks noGrp="1" noChangeArrowheads="1"/>
          </p:cNvSpPr>
          <p:nvPr>
            <p:ph sz="quarter" idx="1"/>
          </p:nvPr>
        </p:nvSpPr>
        <p:spPr>
          <a:xfrm>
            <a:off x="381000" y="1905000"/>
            <a:ext cx="7958138" cy="685800"/>
          </a:xfrm>
          <a:noFill/>
          <a:ln/>
        </p:spPr>
        <p:txBody>
          <a:bodyPr/>
          <a:lstStyle/>
          <a:p>
            <a:r>
              <a:rPr lang="en-US" i="0" dirty="0" err="1">
                <a:solidFill>
                  <a:schemeClr val="tx2"/>
                </a:solidFill>
                <a:latin typeface="Times New Roman" pitchFamily="18" charset="0"/>
              </a:rPr>
              <a:t>Sơ</a:t>
            </a:r>
            <a:r>
              <a:rPr lang="en-US" i="0" dirty="0">
                <a:solidFill>
                  <a:schemeClr val="tx2"/>
                </a:solidFill>
                <a:latin typeface="Times New Roman" pitchFamily="18" charset="0"/>
              </a:rPr>
              <a:t> </a:t>
            </a:r>
            <a:r>
              <a:rPr lang="en-US" i="0" dirty="0" err="1">
                <a:solidFill>
                  <a:schemeClr val="tx2"/>
                </a:solidFill>
                <a:latin typeface="Times New Roman" pitchFamily="18" charset="0"/>
              </a:rPr>
              <a:t>đồ</a:t>
            </a:r>
            <a:r>
              <a:rPr lang="en-US" i="0" dirty="0">
                <a:solidFill>
                  <a:schemeClr val="tx2"/>
                </a:solidFill>
                <a:latin typeface="Times New Roman" pitchFamily="18" charset="0"/>
              </a:rPr>
              <a:t> minh </a:t>
            </a:r>
            <a:r>
              <a:rPr lang="en-US" i="0" dirty="0" err="1">
                <a:solidFill>
                  <a:schemeClr val="tx2"/>
                </a:solidFill>
                <a:latin typeface="Times New Roman" pitchFamily="18" charset="0"/>
              </a:rPr>
              <a:t>họa</a:t>
            </a:r>
            <a:r>
              <a:rPr lang="en-US" i="0" dirty="0">
                <a:solidFill>
                  <a:schemeClr val="tx2"/>
                </a:solidFill>
                <a:latin typeface="Times New Roman" pitchFamily="18" charset="0"/>
              </a:rPr>
              <a:t> :</a:t>
            </a:r>
          </a:p>
        </p:txBody>
      </p:sp>
      <p:sp>
        <p:nvSpPr>
          <p:cNvPr id="148486" name="Rectangle 6"/>
          <p:cNvSpPr>
            <a:spLocks noChangeArrowheads="1"/>
          </p:cNvSpPr>
          <p:nvPr/>
        </p:nvSpPr>
        <p:spPr bwMode="auto">
          <a:xfrm>
            <a:off x="2438400" y="1781175"/>
            <a:ext cx="9144000" cy="0"/>
          </a:xfrm>
          <a:prstGeom prst="rect">
            <a:avLst/>
          </a:prstGeom>
          <a:noFill/>
          <a:ln w="9525">
            <a:noFill/>
            <a:miter lim="800000"/>
            <a:headEnd/>
            <a:tailEnd/>
          </a:ln>
          <a:effectLst/>
        </p:spPr>
        <p:txBody>
          <a:bodyPr>
            <a:spAutoFit/>
          </a:bodyPr>
          <a:lstStyle/>
          <a:p>
            <a:endParaRPr lang="en-US"/>
          </a:p>
        </p:txBody>
      </p:sp>
      <p:pic>
        <p:nvPicPr>
          <p:cNvPr id="148488" name="Picture 8"/>
          <p:cNvPicPr>
            <a:picLocks noChangeAspect="1" noChangeArrowheads="1"/>
          </p:cNvPicPr>
          <p:nvPr/>
        </p:nvPicPr>
        <p:blipFill>
          <a:blip r:embed="rId2" cstate="print"/>
          <a:srcRect/>
          <a:stretch>
            <a:fillRect/>
          </a:stretch>
        </p:blipFill>
        <p:spPr bwMode="auto">
          <a:xfrm>
            <a:off x="1828800" y="2743200"/>
            <a:ext cx="5029200" cy="3884613"/>
          </a:xfrm>
          <a:prstGeom prst="rect">
            <a:avLst/>
          </a:prstGeom>
          <a:noFill/>
        </p:spPr>
      </p:pic>
      <p:sp>
        <p:nvSpPr>
          <p:cNvPr id="6" name="Title 1"/>
          <p:cNvSpPr txBox="1">
            <a:spLocks/>
          </p:cNvSpPr>
          <p:nvPr/>
        </p:nvSpPr>
        <p:spPr>
          <a:xfrm>
            <a:off x="609600" y="381000"/>
            <a:ext cx="8153400" cy="838200"/>
          </a:xfrm>
          <a:prstGeom prst="rect">
            <a:avLst/>
          </a:prstGeom>
        </p:spPr>
        <p:txBody>
          <a:bodyPr vert="horz">
            <a:normAutofit fontScale="92500"/>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Magnetic – Optical Storage Systems</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9" name="Rectangle 5"/>
          <p:cNvSpPr>
            <a:spLocks noGrp="1" noChangeArrowheads="1"/>
          </p:cNvSpPr>
          <p:nvPr>
            <p:ph sz="quarter" idx="1"/>
          </p:nvPr>
        </p:nvSpPr>
        <p:spPr>
          <a:xfrm>
            <a:off x="533400" y="1752600"/>
            <a:ext cx="8382000" cy="4495800"/>
          </a:xfrm>
          <a:noFill/>
          <a:ln/>
        </p:spPr>
        <p:txBody>
          <a:bodyPr>
            <a:normAutofit/>
          </a:bodyPr>
          <a:lstStyle/>
          <a:p>
            <a:r>
              <a:rPr lang="en-US" sz="2800" i="0" dirty="0">
                <a:latin typeface="Times New Roman" pitchFamily="18" charset="0"/>
              </a:rPr>
              <a:t>Ở </a:t>
            </a:r>
            <a:r>
              <a:rPr lang="en-US" sz="2800" i="0" dirty="0" err="1">
                <a:latin typeface="Times New Roman" pitchFamily="18" charset="0"/>
              </a:rPr>
              <a:t>nhiệt</a:t>
            </a:r>
            <a:r>
              <a:rPr lang="en-US" sz="2800" i="0" dirty="0">
                <a:latin typeface="Times New Roman" pitchFamily="18" charset="0"/>
              </a:rPr>
              <a:t> </a:t>
            </a:r>
            <a:r>
              <a:rPr lang="en-US" sz="2800" i="0" dirty="0" err="1">
                <a:latin typeface="Times New Roman" pitchFamily="18" charset="0"/>
              </a:rPr>
              <a:t>độ</a:t>
            </a:r>
            <a:r>
              <a:rPr lang="en-US" sz="2800" i="0" dirty="0">
                <a:latin typeface="Times New Roman" pitchFamily="18" charset="0"/>
              </a:rPr>
              <a:t> </a:t>
            </a:r>
            <a:r>
              <a:rPr lang="en-US" sz="2800" i="0" dirty="0" err="1">
                <a:latin typeface="Times New Roman" pitchFamily="18" charset="0"/>
              </a:rPr>
              <a:t>cao</a:t>
            </a:r>
            <a:r>
              <a:rPr lang="en-US" sz="2800" i="0" dirty="0">
                <a:latin typeface="Times New Roman" pitchFamily="18" charset="0"/>
              </a:rPr>
              <a:t> </a:t>
            </a:r>
            <a:r>
              <a:rPr lang="en-US" sz="2800" i="0" dirty="0" err="1">
                <a:latin typeface="Times New Roman" pitchFamily="18" charset="0"/>
              </a:rPr>
              <a:t>hơn</a:t>
            </a:r>
            <a:r>
              <a:rPr lang="en-US" sz="2800" i="0" dirty="0">
                <a:latin typeface="Times New Roman" pitchFamily="18" charset="0"/>
              </a:rPr>
              <a:t> </a:t>
            </a:r>
            <a:r>
              <a:rPr lang="en-US" sz="2800" i="0" dirty="0" err="1">
                <a:latin typeface="Times New Roman" pitchFamily="18" charset="0"/>
              </a:rPr>
              <a:t>cho</a:t>
            </a:r>
            <a:r>
              <a:rPr lang="en-US" sz="2800" i="0" dirty="0">
                <a:latin typeface="Times New Roman" pitchFamily="18" charset="0"/>
              </a:rPr>
              <a:t> </a:t>
            </a:r>
            <a:r>
              <a:rPr lang="en-US" sz="2800" i="0" dirty="0" err="1">
                <a:latin typeface="Times New Roman" pitchFamily="18" charset="0"/>
              </a:rPr>
              <a:t>phép</a:t>
            </a:r>
            <a:r>
              <a:rPr lang="en-US" sz="2800" i="0" dirty="0">
                <a:latin typeface="Times New Roman" pitchFamily="18" charset="0"/>
              </a:rPr>
              <a:t> </a:t>
            </a:r>
            <a:r>
              <a:rPr lang="en-US" sz="2800" i="0" dirty="0" err="1">
                <a:latin typeface="Times New Roman" pitchFamily="18" charset="0"/>
              </a:rPr>
              <a:t>ta</a:t>
            </a:r>
            <a:r>
              <a:rPr lang="en-US" sz="2800" i="0" dirty="0">
                <a:latin typeface="Times New Roman" pitchFamily="18" charset="0"/>
              </a:rPr>
              <a:t> </a:t>
            </a:r>
            <a:r>
              <a:rPr lang="en-US" sz="2800" i="0" dirty="0" err="1">
                <a:latin typeface="Times New Roman" pitchFamily="18" charset="0"/>
              </a:rPr>
              <a:t>ghi</a:t>
            </a:r>
            <a:r>
              <a:rPr lang="en-US" sz="2800" i="0" dirty="0">
                <a:latin typeface="Times New Roman" pitchFamily="18" charset="0"/>
              </a:rPr>
              <a:t> </a:t>
            </a:r>
            <a:r>
              <a:rPr lang="en-US" sz="2800" i="0" dirty="0" err="1">
                <a:latin typeface="Times New Roman" pitchFamily="18" charset="0"/>
              </a:rPr>
              <a:t>dữ</a:t>
            </a:r>
            <a:r>
              <a:rPr lang="en-US" sz="2800" i="0" dirty="0">
                <a:latin typeface="Times New Roman" pitchFamily="18" charset="0"/>
              </a:rPr>
              <a:t> </a:t>
            </a:r>
            <a:r>
              <a:rPr lang="en-US" sz="2800" i="0" dirty="0" err="1">
                <a:latin typeface="Times New Roman" pitchFamily="18" charset="0"/>
              </a:rPr>
              <a:t>liệu</a:t>
            </a:r>
            <a:r>
              <a:rPr lang="en-US" sz="2800" i="0" dirty="0">
                <a:latin typeface="Times New Roman" pitchFamily="18" charset="0"/>
              </a:rPr>
              <a:t>.</a:t>
            </a:r>
          </a:p>
          <a:p>
            <a:r>
              <a:rPr lang="en-US" sz="2800" i="0" dirty="0" err="1">
                <a:latin typeface="Times New Roman" pitchFamily="18" charset="0"/>
              </a:rPr>
              <a:t>Có</a:t>
            </a:r>
            <a:r>
              <a:rPr lang="en-US" sz="2800" i="0" dirty="0">
                <a:latin typeface="Times New Roman" pitchFamily="18" charset="0"/>
              </a:rPr>
              <a:t> </a:t>
            </a:r>
            <a:r>
              <a:rPr lang="en-US" sz="2800" i="0" dirty="0" err="1">
                <a:latin typeface="Times New Roman" pitchFamily="18" charset="0"/>
              </a:rPr>
              <a:t>thể</a:t>
            </a:r>
            <a:r>
              <a:rPr lang="en-US" sz="2800" i="0" dirty="0">
                <a:latin typeface="Times New Roman" pitchFamily="18" charset="0"/>
              </a:rPr>
              <a:t> </a:t>
            </a:r>
            <a:r>
              <a:rPr lang="en-US" sz="2800" i="0" dirty="0" err="1">
                <a:latin typeface="Times New Roman" pitchFamily="18" charset="0"/>
              </a:rPr>
              <a:t>dùng</a:t>
            </a:r>
            <a:r>
              <a:rPr lang="en-US" sz="2800" i="0" dirty="0">
                <a:latin typeface="Times New Roman" pitchFamily="18" charset="0"/>
              </a:rPr>
              <a:t> Laser </a:t>
            </a:r>
            <a:r>
              <a:rPr lang="en-US" sz="2800" i="0" dirty="0" err="1">
                <a:latin typeface="Times New Roman" pitchFamily="18" charset="0"/>
              </a:rPr>
              <a:t>năng</a:t>
            </a:r>
            <a:r>
              <a:rPr lang="en-US" sz="2800" i="0" dirty="0">
                <a:latin typeface="Times New Roman" pitchFamily="18" charset="0"/>
              </a:rPr>
              <a:t> </a:t>
            </a:r>
            <a:r>
              <a:rPr lang="en-US" sz="2800" i="0" dirty="0" err="1">
                <a:latin typeface="Times New Roman" pitchFamily="18" charset="0"/>
              </a:rPr>
              <a:t>lượng</a:t>
            </a:r>
            <a:r>
              <a:rPr lang="en-US" sz="2800" i="0" dirty="0">
                <a:latin typeface="Times New Roman" pitchFamily="18" charset="0"/>
              </a:rPr>
              <a:t> </a:t>
            </a:r>
            <a:r>
              <a:rPr lang="en-US" sz="2800" i="0" dirty="0" err="1">
                <a:latin typeface="Times New Roman" pitchFamily="18" charset="0"/>
              </a:rPr>
              <a:t>nhỏ</a:t>
            </a:r>
            <a:r>
              <a:rPr lang="en-US" sz="2800" i="0" dirty="0">
                <a:latin typeface="Times New Roman" pitchFamily="18" charset="0"/>
              </a:rPr>
              <a:t> </a:t>
            </a:r>
            <a:r>
              <a:rPr lang="en-US" sz="2800" i="0" dirty="0" err="1">
                <a:latin typeface="Times New Roman" pitchFamily="18" charset="0"/>
              </a:rPr>
              <a:t>để</a:t>
            </a:r>
            <a:r>
              <a:rPr lang="en-US" sz="2800" i="0" dirty="0">
                <a:latin typeface="Times New Roman" pitchFamily="18" charset="0"/>
              </a:rPr>
              <a:t> </a:t>
            </a:r>
            <a:r>
              <a:rPr lang="en-US" sz="2800" i="0" dirty="0" err="1">
                <a:latin typeface="Times New Roman" pitchFamily="18" charset="0"/>
              </a:rPr>
              <a:t>ghi</a:t>
            </a:r>
            <a:r>
              <a:rPr lang="en-US" sz="2800" i="0" dirty="0">
                <a:latin typeface="Times New Roman" pitchFamily="18" charset="0"/>
              </a:rPr>
              <a:t> </a:t>
            </a:r>
            <a:r>
              <a:rPr lang="en-US" sz="2800" i="0" dirty="0" err="1">
                <a:latin typeface="Times New Roman" pitchFamily="18" charset="0"/>
              </a:rPr>
              <a:t>vì</a:t>
            </a:r>
            <a:r>
              <a:rPr lang="en-US" sz="2800" i="0" dirty="0">
                <a:latin typeface="Times New Roman" pitchFamily="18" charset="0"/>
              </a:rPr>
              <a:t> </a:t>
            </a:r>
            <a:r>
              <a:rPr lang="en-US" sz="2800" i="0" dirty="0" err="1">
                <a:latin typeface="Times New Roman" pitchFamily="18" charset="0"/>
              </a:rPr>
              <a:t>tất</a:t>
            </a:r>
            <a:r>
              <a:rPr lang="en-US" sz="2800" i="0" dirty="0">
                <a:latin typeface="Times New Roman" pitchFamily="18" charset="0"/>
              </a:rPr>
              <a:t> </a:t>
            </a:r>
            <a:r>
              <a:rPr lang="en-US" sz="2800" i="0" dirty="0" err="1">
                <a:latin typeface="Times New Roman" pitchFamily="18" charset="0"/>
              </a:rPr>
              <a:t>cả</a:t>
            </a:r>
            <a:r>
              <a:rPr lang="en-US" sz="2800" i="0" dirty="0">
                <a:latin typeface="Times New Roman" pitchFamily="18" charset="0"/>
              </a:rPr>
              <a:t> </a:t>
            </a:r>
            <a:r>
              <a:rPr lang="en-US" sz="2800" i="0" dirty="0" err="1">
                <a:latin typeface="Times New Roman" pitchFamily="18" charset="0"/>
              </a:rPr>
              <a:t>năng</a:t>
            </a:r>
            <a:r>
              <a:rPr lang="en-US" sz="2800" i="0" dirty="0">
                <a:latin typeface="Times New Roman" pitchFamily="18" charset="0"/>
              </a:rPr>
              <a:t> </a:t>
            </a:r>
            <a:r>
              <a:rPr lang="en-US" sz="2800" i="0" dirty="0" err="1">
                <a:latin typeface="Times New Roman" pitchFamily="18" charset="0"/>
              </a:rPr>
              <a:t>lượng</a:t>
            </a:r>
            <a:r>
              <a:rPr lang="en-US" sz="2800" i="0" dirty="0">
                <a:latin typeface="Times New Roman" pitchFamily="18" charset="0"/>
              </a:rPr>
              <a:t> </a:t>
            </a:r>
            <a:r>
              <a:rPr lang="en-US" sz="2800" i="0" dirty="0" err="1">
                <a:latin typeface="Times New Roman" pitchFamily="18" charset="0"/>
              </a:rPr>
              <a:t>tập</a:t>
            </a:r>
            <a:r>
              <a:rPr lang="en-US" sz="2800" i="0" dirty="0">
                <a:latin typeface="Times New Roman" pitchFamily="18" charset="0"/>
              </a:rPr>
              <a:t> </a:t>
            </a:r>
            <a:r>
              <a:rPr lang="en-US" sz="2800" i="0" dirty="0" err="1">
                <a:latin typeface="Times New Roman" pitchFamily="18" charset="0"/>
              </a:rPr>
              <a:t>trung</a:t>
            </a:r>
            <a:r>
              <a:rPr lang="en-US" sz="2800" i="0" dirty="0">
                <a:latin typeface="Times New Roman" pitchFamily="18" charset="0"/>
              </a:rPr>
              <a:t> </a:t>
            </a:r>
            <a:r>
              <a:rPr lang="en-US" sz="2800" i="0" dirty="0" err="1">
                <a:latin typeface="Times New Roman" pitchFamily="18" charset="0"/>
              </a:rPr>
              <a:t>vào</a:t>
            </a:r>
            <a:r>
              <a:rPr lang="en-US" sz="2800" i="0" dirty="0">
                <a:latin typeface="Times New Roman" pitchFamily="18" charset="0"/>
              </a:rPr>
              <a:t> </a:t>
            </a:r>
            <a:r>
              <a:rPr lang="en-US" sz="2800" i="0" dirty="0" err="1">
                <a:latin typeface="Times New Roman" pitchFamily="18" charset="0"/>
              </a:rPr>
              <a:t>một</a:t>
            </a:r>
            <a:r>
              <a:rPr lang="en-US" sz="2800" i="0" dirty="0">
                <a:latin typeface="Times New Roman" pitchFamily="18" charset="0"/>
              </a:rPr>
              <a:t> </a:t>
            </a:r>
            <a:r>
              <a:rPr lang="en-US" sz="2800" i="0" dirty="0" err="1">
                <a:latin typeface="Times New Roman" pitchFamily="18" charset="0"/>
              </a:rPr>
              <a:t>điểm</a:t>
            </a:r>
            <a:r>
              <a:rPr lang="en-US" sz="2800" i="0" dirty="0">
                <a:latin typeface="Times New Roman" pitchFamily="18" charset="0"/>
              </a:rPr>
              <a:t> </a:t>
            </a:r>
            <a:r>
              <a:rPr lang="en-US" sz="2800" i="0" dirty="0" err="1">
                <a:latin typeface="Times New Roman" pitchFamily="18" charset="0"/>
              </a:rPr>
              <a:t>rất</a:t>
            </a:r>
            <a:r>
              <a:rPr lang="en-US" sz="2800" i="0" dirty="0">
                <a:latin typeface="Times New Roman" pitchFamily="18" charset="0"/>
              </a:rPr>
              <a:t> </a:t>
            </a:r>
            <a:r>
              <a:rPr lang="en-US" sz="2800" i="0" dirty="0" err="1">
                <a:latin typeface="Times New Roman" pitchFamily="18" charset="0"/>
              </a:rPr>
              <a:t>nhỏ</a:t>
            </a:r>
            <a:r>
              <a:rPr lang="en-US" sz="2800" i="0" dirty="0">
                <a:latin typeface="Times New Roman" pitchFamily="18" charset="0"/>
              </a:rPr>
              <a:t>. </a:t>
            </a:r>
          </a:p>
          <a:p>
            <a:r>
              <a:rPr lang="en-US" sz="2800" i="0" dirty="0" err="1">
                <a:latin typeface="Times New Roman" pitchFamily="18" charset="0"/>
              </a:rPr>
              <a:t>Đọc</a:t>
            </a:r>
            <a:r>
              <a:rPr lang="en-US" sz="2800" i="0" dirty="0">
                <a:latin typeface="Times New Roman" pitchFamily="18" charset="0"/>
              </a:rPr>
              <a:t> </a:t>
            </a:r>
            <a:r>
              <a:rPr lang="en-US" sz="2800" i="0" dirty="0" err="1">
                <a:latin typeface="Times New Roman" pitchFamily="18" charset="0"/>
              </a:rPr>
              <a:t>dữ</a:t>
            </a:r>
            <a:r>
              <a:rPr lang="en-US" sz="2800" i="0" dirty="0">
                <a:latin typeface="Times New Roman" pitchFamily="18" charset="0"/>
              </a:rPr>
              <a:t> </a:t>
            </a:r>
            <a:r>
              <a:rPr lang="en-US" sz="2800" i="0" dirty="0" err="1">
                <a:latin typeface="Times New Roman" pitchFamily="18" charset="0"/>
              </a:rPr>
              <a:t>liệu</a:t>
            </a:r>
            <a:r>
              <a:rPr lang="en-US" sz="2800" i="0" dirty="0">
                <a:latin typeface="Times New Roman" pitchFamily="18" charset="0"/>
              </a:rPr>
              <a:t> </a:t>
            </a:r>
            <a:r>
              <a:rPr lang="en-US" sz="2800" i="0" dirty="0" err="1">
                <a:latin typeface="Times New Roman" pitchFamily="18" charset="0"/>
              </a:rPr>
              <a:t>dựa</a:t>
            </a:r>
            <a:r>
              <a:rPr lang="en-US" sz="2800" i="0" dirty="0">
                <a:latin typeface="Times New Roman" pitchFamily="18" charset="0"/>
              </a:rPr>
              <a:t> </a:t>
            </a:r>
            <a:r>
              <a:rPr lang="en-US" sz="2800" i="0" dirty="0" err="1">
                <a:latin typeface="Times New Roman" pitchFamily="18" charset="0"/>
              </a:rPr>
              <a:t>vào</a:t>
            </a:r>
            <a:r>
              <a:rPr lang="en-US" sz="2800" i="0" dirty="0">
                <a:latin typeface="Times New Roman" pitchFamily="18" charset="0"/>
              </a:rPr>
              <a:t> </a:t>
            </a:r>
            <a:r>
              <a:rPr lang="en-US" sz="2800" i="0" dirty="0" err="1">
                <a:latin typeface="Times New Roman" pitchFamily="18" charset="0"/>
              </a:rPr>
              <a:t>sự</a:t>
            </a:r>
            <a:r>
              <a:rPr lang="en-US" sz="2800" i="0" dirty="0">
                <a:latin typeface="Times New Roman" pitchFamily="18" charset="0"/>
              </a:rPr>
              <a:t> </a:t>
            </a:r>
            <a:r>
              <a:rPr lang="en-US" sz="2800" i="0" dirty="0" err="1">
                <a:latin typeface="Times New Roman" pitchFamily="18" charset="0"/>
              </a:rPr>
              <a:t>phân</a:t>
            </a:r>
            <a:r>
              <a:rPr lang="en-US" sz="2800" i="0" dirty="0">
                <a:latin typeface="Times New Roman" pitchFamily="18" charset="0"/>
              </a:rPr>
              <a:t> </a:t>
            </a:r>
            <a:r>
              <a:rPr lang="en-US" sz="2800" i="0" dirty="0" err="1">
                <a:latin typeface="Times New Roman" pitchFamily="18" charset="0"/>
              </a:rPr>
              <a:t>cực</a:t>
            </a:r>
            <a:r>
              <a:rPr lang="en-US" sz="2800" i="0" dirty="0">
                <a:latin typeface="Times New Roman" pitchFamily="18" charset="0"/>
              </a:rPr>
              <a:t> </a:t>
            </a:r>
            <a:r>
              <a:rPr lang="en-US" sz="2800" i="0" dirty="0" err="1">
                <a:latin typeface="Times New Roman" pitchFamily="18" charset="0"/>
              </a:rPr>
              <a:t>ánh</a:t>
            </a:r>
            <a:r>
              <a:rPr lang="en-US" sz="2800" i="0" dirty="0">
                <a:latin typeface="Times New Roman" pitchFamily="18" charset="0"/>
              </a:rPr>
              <a:t> </a:t>
            </a:r>
            <a:r>
              <a:rPr lang="en-US" sz="2800" i="0" dirty="0" err="1">
                <a:latin typeface="Times New Roman" pitchFamily="18" charset="0"/>
              </a:rPr>
              <a:t>sáng</a:t>
            </a:r>
            <a:r>
              <a:rPr lang="en-US" sz="2800" i="0" dirty="0">
                <a:latin typeface="Times New Roman" pitchFamily="18" charset="0"/>
              </a:rPr>
              <a:t> (</a:t>
            </a:r>
            <a:r>
              <a:rPr lang="en-US" sz="2800" i="0" dirty="0" err="1">
                <a:latin typeface="Times New Roman" pitchFamily="18" charset="0"/>
              </a:rPr>
              <a:t>hiệu</a:t>
            </a:r>
            <a:r>
              <a:rPr lang="en-US" sz="2800" i="0" dirty="0">
                <a:latin typeface="Times New Roman" pitchFamily="18" charset="0"/>
              </a:rPr>
              <a:t> </a:t>
            </a:r>
            <a:r>
              <a:rPr lang="en-US" sz="2800" i="0" dirty="0" err="1">
                <a:latin typeface="Times New Roman" pitchFamily="18" charset="0"/>
              </a:rPr>
              <a:t>ứng</a:t>
            </a:r>
            <a:r>
              <a:rPr lang="en-US" sz="2800" i="0" dirty="0">
                <a:latin typeface="Times New Roman" pitchFamily="18" charset="0"/>
              </a:rPr>
              <a:t> Kerr)</a:t>
            </a:r>
          </a:p>
          <a:p>
            <a:pPr lvl="1"/>
            <a:r>
              <a:rPr lang="en-US" sz="2500" i="0" dirty="0" err="1">
                <a:latin typeface="Times New Roman" pitchFamily="18" charset="0"/>
              </a:rPr>
              <a:t>Khi</a:t>
            </a:r>
            <a:r>
              <a:rPr lang="en-US" sz="2500" i="0" dirty="0">
                <a:latin typeface="Times New Roman" pitchFamily="18" charset="0"/>
              </a:rPr>
              <a:t> qua </a:t>
            </a:r>
            <a:r>
              <a:rPr lang="en-US" sz="2500" i="0" dirty="0" err="1">
                <a:latin typeface="Times New Roman" pitchFamily="18" charset="0"/>
              </a:rPr>
              <a:t>bề</a:t>
            </a:r>
            <a:r>
              <a:rPr lang="en-US" sz="2500" i="0" dirty="0">
                <a:latin typeface="Times New Roman" pitchFamily="18" charset="0"/>
              </a:rPr>
              <a:t> </a:t>
            </a:r>
            <a:r>
              <a:rPr lang="en-US" sz="2500" i="0" dirty="0" err="1">
                <a:latin typeface="Times New Roman" pitchFamily="18" charset="0"/>
              </a:rPr>
              <a:t>mặt</a:t>
            </a:r>
            <a:r>
              <a:rPr lang="en-US" sz="2500" i="0" dirty="0">
                <a:latin typeface="Times New Roman" pitchFamily="18" charset="0"/>
              </a:rPr>
              <a:t>, </a:t>
            </a:r>
            <a:r>
              <a:rPr lang="en-US" sz="2500" i="0" dirty="0" err="1">
                <a:latin typeface="Times New Roman" pitchFamily="18" charset="0"/>
              </a:rPr>
              <a:t>phân</a:t>
            </a:r>
            <a:r>
              <a:rPr lang="en-US" sz="2500" i="0" dirty="0">
                <a:latin typeface="Times New Roman" pitchFamily="18" charset="0"/>
              </a:rPr>
              <a:t> </a:t>
            </a:r>
            <a:r>
              <a:rPr lang="en-US" sz="2500" i="0" dirty="0" err="1">
                <a:latin typeface="Times New Roman" pitchFamily="18" charset="0"/>
              </a:rPr>
              <a:t>cực</a:t>
            </a:r>
            <a:r>
              <a:rPr lang="en-US" sz="2500" i="0" dirty="0">
                <a:latin typeface="Times New Roman" pitchFamily="18" charset="0"/>
              </a:rPr>
              <a:t> </a:t>
            </a:r>
            <a:r>
              <a:rPr lang="en-US" sz="2500" i="0" dirty="0" err="1">
                <a:latin typeface="Times New Roman" pitchFamily="18" charset="0"/>
              </a:rPr>
              <a:t>ánh</a:t>
            </a:r>
            <a:r>
              <a:rPr lang="en-US" sz="2500" i="0" dirty="0">
                <a:latin typeface="Times New Roman" pitchFamily="18" charset="0"/>
              </a:rPr>
              <a:t> </a:t>
            </a:r>
            <a:r>
              <a:rPr lang="en-US" sz="2500" i="0" dirty="0" err="1">
                <a:latin typeface="Times New Roman" pitchFamily="18" charset="0"/>
              </a:rPr>
              <a:t>sáng</a:t>
            </a:r>
            <a:r>
              <a:rPr lang="en-US" sz="2500" i="0" dirty="0">
                <a:latin typeface="Times New Roman" pitchFamily="18" charset="0"/>
              </a:rPr>
              <a:t> </a:t>
            </a:r>
            <a:r>
              <a:rPr lang="en-US" sz="2500" i="0" dirty="0" err="1">
                <a:latin typeface="Times New Roman" pitchFamily="18" charset="0"/>
              </a:rPr>
              <a:t>của</a:t>
            </a:r>
            <a:r>
              <a:rPr lang="en-US" sz="2500" i="0" dirty="0">
                <a:latin typeface="Times New Roman" pitchFamily="18" charset="0"/>
              </a:rPr>
              <a:t> </a:t>
            </a:r>
            <a:r>
              <a:rPr lang="en-US" sz="2500" i="0" dirty="0" err="1">
                <a:latin typeface="Times New Roman" pitchFamily="18" charset="0"/>
              </a:rPr>
              <a:t>chùm</a:t>
            </a:r>
            <a:r>
              <a:rPr lang="en-US" sz="2500" i="0" dirty="0">
                <a:latin typeface="Times New Roman" pitchFamily="18" charset="0"/>
              </a:rPr>
              <a:t> </a:t>
            </a:r>
            <a:r>
              <a:rPr lang="en-US" sz="2500" i="0" dirty="0" err="1">
                <a:latin typeface="Times New Roman" pitchFamily="18" charset="0"/>
              </a:rPr>
              <a:t>phản</a:t>
            </a:r>
            <a:r>
              <a:rPr lang="en-US" sz="2500" i="0" dirty="0">
                <a:latin typeface="Times New Roman" pitchFamily="18" charset="0"/>
              </a:rPr>
              <a:t> </a:t>
            </a:r>
            <a:r>
              <a:rPr lang="en-US" sz="2500" i="0" dirty="0" err="1">
                <a:latin typeface="Times New Roman" pitchFamily="18" charset="0"/>
              </a:rPr>
              <a:t>xạ</a:t>
            </a:r>
            <a:r>
              <a:rPr lang="en-US" sz="2500" i="0" dirty="0">
                <a:latin typeface="Times New Roman" pitchFamily="18" charset="0"/>
              </a:rPr>
              <a:t> </a:t>
            </a:r>
            <a:r>
              <a:rPr lang="en-US" sz="2500" i="0" dirty="0" err="1">
                <a:latin typeface="Times New Roman" pitchFamily="18" charset="0"/>
              </a:rPr>
              <a:t>có</a:t>
            </a:r>
            <a:r>
              <a:rPr lang="en-US" sz="2500" i="0" dirty="0">
                <a:latin typeface="Times New Roman" pitchFamily="18" charset="0"/>
              </a:rPr>
              <a:t> </a:t>
            </a:r>
            <a:r>
              <a:rPr lang="en-US" sz="2500" i="0" dirty="0" err="1">
                <a:latin typeface="Times New Roman" pitchFamily="18" charset="0"/>
              </a:rPr>
              <a:t>sự</a:t>
            </a:r>
            <a:r>
              <a:rPr lang="en-US" sz="2500" i="0" dirty="0">
                <a:latin typeface="Times New Roman" pitchFamily="18" charset="0"/>
              </a:rPr>
              <a:t> </a:t>
            </a:r>
            <a:r>
              <a:rPr lang="en-US" sz="2500" i="0" dirty="0" err="1">
                <a:latin typeface="Times New Roman" pitchFamily="18" charset="0"/>
              </a:rPr>
              <a:t>thay</a:t>
            </a:r>
            <a:r>
              <a:rPr lang="en-US" sz="2500" i="0" dirty="0">
                <a:latin typeface="Times New Roman" pitchFamily="18" charset="0"/>
              </a:rPr>
              <a:t> </a:t>
            </a:r>
            <a:r>
              <a:rPr lang="en-US" sz="2500" i="0" dirty="0" err="1">
                <a:latin typeface="Times New Roman" pitchFamily="18" charset="0"/>
              </a:rPr>
              <a:t>đổi</a:t>
            </a:r>
            <a:r>
              <a:rPr lang="en-US" sz="2500" i="0" dirty="0">
                <a:latin typeface="Times New Roman" pitchFamily="18" charset="0"/>
              </a:rPr>
              <a:t> </a:t>
            </a:r>
            <a:r>
              <a:rPr lang="en-US" sz="2500" i="0" dirty="0" err="1">
                <a:latin typeface="Times New Roman" pitchFamily="18" charset="0"/>
              </a:rPr>
              <a:t>nhỏ</a:t>
            </a:r>
            <a:r>
              <a:rPr lang="en-US" sz="2500" i="0" dirty="0">
                <a:latin typeface="Times New Roman" pitchFamily="18" charset="0"/>
              </a:rPr>
              <a:t> (</a:t>
            </a:r>
            <a:r>
              <a:rPr lang="en-US" sz="2500" i="0" dirty="0" err="1">
                <a:latin typeface="Times New Roman" pitchFamily="18" charset="0"/>
              </a:rPr>
              <a:t>khoảng</a:t>
            </a:r>
            <a:r>
              <a:rPr lang="en-US" sz="2500" i="0" dirty="0">
                <a:latin typeface="Times New Roman" pitchFamily="18" charset="0"/>
              </a:rPr>
              <a:t> 0.5 </a:t>
            </a:r>
            <a:r>
              <a:rPr lang="en-US" sz="2500" i="0" dirty="0" err="1">
                <a:latin typeface="Times New Roman" pitchFamily="18" charset="0"/>
              </a:rPr>
              <a:t>độ</a:t>
            </a:r>
            <a:r>
              <a:rPr lang="en-US" sz="2500" i="0" dirty="0">
                <a:latin typeface="Times New Roman" pitchFamily="18" charset="0"/>
              </a:rPr>
              <a:t>). </a:t>
            </a:r>
            <a:r>
              <a:rPr lang="en-US" sz="2500" i="0" dirty="0" err="1">
                <a:latin typeface="Times New Roman" pitchFamily="18" charset="0"/>
              </a:rPr>
              <a:t>Sự</a:t>
            </a:r>
            <a:r>
              <a:rPr lang="en-US" sz="2500" i="0" dirty="0">
                <a:latin typeface="Times New Roman" pitchFamily="18" charset="0"/>
              </a:rPr>
              <a:t> </a:t>
            </a:r>
            <a:r>
              <a:rPr lang="en-US" sz="2500" i="0" dirty="0" err="1">
                <a:latin typeface="Times New Roman" pitchFamily="18" charset="0"/>
              </a:rPr>
              <a:t>thay</a:t>
            </a:r>
            <a:r>
              <a:rPr lang="en-US" sz="2500" i="0" dirty="0">
                <a:latin typeface="Times New Roman" pitchFamily="18" charset="0"/>
              </a:rPr>
              <a:t> </a:t>
            </a:r>
            <a:r>
              <a:rPr lang="en-US" sz="2500" i="0" dirty="0" err="1">
                <a:latin typeface="Times New Roman" pitchFamily="18" charset="0"/>
              </a:rPr>
              <a:t>đổi</a:t>
            </a:r>
            <a:r>
              <a:rPr lang="en-US" sz="2500" i="0" dirty="0">
                <a:latin typeface="Times New Roman" pitchFamily="18" charset="0"/>
              </a:rPr>
              <a:t> </a:t>
            </a:r>
            <a:r>
              <a:rPr lang="en-US" sz="2500" i="0" dirty="0" err="1">
                <a:latin typeface="Times New Roman" pitchFamily="18" charset="0"/>
              </a:rPr>
              <a:t>này</a:t>
            </a:r>
            <a:r>
              <a:rPr lang="en-US" sz="2500" i="0" dirty="0">
                <a:latin typeface="Times New Roman" pitchFamily="18" charset="0"/>
              </a:rPr>
              <a:t> </a:t>
            </a:r>
            <a:r>
              <a:rPr lang="en-US" sz="2500" i="0" dirty="0" err="1">
                <a:latin typeface="Times New Roman" pitchFamily="18" charset="0"/>
              </a:rPr>
              <a:t>có</a:t>
            </a:r>
            <a:r>
              <a:rPr lang="en-US" sz="2500" i="0" dirty="0">
                <a:latin typeface="Times New Roman" pitchFamily="18" charset="0"/>
              </a:rPr>
              <a:t> </a:t>
            </a:r>
            <a:r>
              <a:rPr lang="en-US" sz="2500" i="0" dirty="0" err="1">
                <a:latin typeface="Times New Roman" pitchFamily="18" charset="0"/>
              </a:rPr>
              <a:t>thể</a:t>
            </a:r>
            <a:r>
              <a:rPr lang="en-US" sz="2500" i="0" dirty="0">
                <a:latin typeface="Times New Roman" pitchFamily="18" charset="0"/>
              </a:rPr>
              <a:t> </a:t>
            </a:r>
            <a:r>
              <a:rPr lang="en-US" sz="2500" i="0" dirty="0" err="1">
                <a:latin typeface="Times New Roman" pitchFamily="18" charset="0"/>
              </a:rPr>
              <a:t>dùng</a:t>
            </a:r>
            <a:r>
              <a:rPr lang="en-US" sz="2500" i="0" dirty="0">
                <a:latin typeface="Times New Roman" pitchFamily="18" charset="0"/>
              </a:rPr>
              <a:t> </a:t>
            </a:r>
            <a:r>
              <a:rPr lang="en-US" sz="2500" i="0" dirty="0" err="1">
                <a:latin typeface="Times New Roman" pitchFamily="18" charset="0"/>
              </a:rPr>
              <a:t>để</a:t>
            </a:r>
            <a:r>
              <a:rPr lang="en-US" sz="2500" i="0" dirty="0">
                <a:latin typeface="Times New Roman" pitchFamily="18" charset="0"/>
              </a:rPr>
              <a:t> </a:t>
            </a:r>
            <a:r>
              <a:rPr lang="en-US" sz="2500" i="0" dirty="0" err="1">
                <a:latin typeface="Times New Roman" pitchFamily="18" charset="0"/>
              </a:rPr>
              <a:t>nhận</a:t>
            </a:r>
            <a:r>
              <a:rPr lang="en-US" sz="2500" i="0" dirty="0">
                <a:latin typeface="Times New Roman" pitchFamily="18" charset="0"/>
              </a:rPr>
              <a:t> </a:t>
            </a:r>
            <a:r>
              <a:rPr lang="en-US" sz="2500" i="0" dirty="0" err="1">
                <a:latin typeface="Times New Roman" pitchFamily="18" charset="0"/>
              </a:rPr>
              <a:t>ra</a:t>
            </a:r>
            <a:r>
              <a:rPr lang="en-US" sz="2500" i="0" dirty="0">
                <a:latin typeface="Times New Roman" pitchFamily="18" charset="0"/>
              </a:rPr>
              <a:t> </a:t>
            </a:r>
            <a:r>
              <a:rPr lang="en-US" sz="2500" i="0" dirty="0" err="1">
                <a:latin typeface="Times New Roman" pitchFamily="18" charset="0"/>
              </a:rPr>
              <a:t>các</a:t>
            </a:r>
            <a:r>
              <a:rPr lang="en-US" sz="2500" i="0" dirty="0">
                <a:latin typeface="Times New Roman" pitchFamily="18" charset="0"/>
              </a:rPr>
              <a:t> bit 0 </a:t>
            </a:r>
            <a:r>
              <a:rPr lang="en-US" sz="2500" i="0" dirty="0" err="1">
                <a:latin typeface="Times New Roman" pitchFamily="18" charset="0"/>
              </a:rPr>
              <a:t>và</a:t>
            </a:r>
            <a:r>
              <a:rPr lang="en-US" sz="2500" i="0" dirty="0">
                <a:latin typeface="Times New Roman" pitchFamily="18" charset="0"/>
              </a:rPr>
              <a:t> 1.</a:t>
            </a:r>
          </a:p>
          <a:p>
            <a:pPr>
              <a:lnSpc>
                <a:spcPct val="90000"/>
              </a:lnSpc>
            </a:pPr>
            <a:endParaRPr lang="en-US" sz="2800" i="0" dirty="0">
              <a:latin typeface="Times New Roman" pitchFamily="18" charset="0"/>
            </a:endParaRPr>
          </a:p>
        </p:txBody>
      </p:sp>
      <p:sp>
        <p:nvSpPr>
          <p:cNvPr id="4" name="Title 1"/>
          <p:cNvSpPr txBox="1">
            <a:spLocks/>
          </p:cNvSpPr>
          <p:nvPr/>
        </p:nvSpPr>
        <p:spPr>
          <a:xfrm>
            <a:off x="609600" y="381000"/>
            <a:ext cx="8153400" cy="838200"/>
          </a:xfrm>
          <a:prstGeom prst="rect">
            <a:avLst/>
          </a:prstGeom>
        </p:spPr>
        <p:txBody>
          <a:bodyPr vert="horz">
            <a:normAutofit fontScale="92500"/>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Magnetic – Optical Storage Systems</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0533" name="Rectangle 5"/>
          <p:cNvSpPr>
            <a:spLocks noGrp="1" noChangeArrowheads="1"/>
          </p:cNvSpPr>
          <p:nvPr>
            <p:ph sz="quarter" idx="1"/>
          </p:nvPr>
        </p:nvSpPr>
        <p:spPr>
          <a:xfrm>
            <a:off x="228600" y="1828800"/>
            <a:ext cx="7958138" cy="533400"/>
          </a:xfrm>
          <a:noFill/>
          <a:ln/>
        </p:spPr>
        <p:txBody>
          <a:bodyPr>
            <a:normAutofit/>
          </a:bodyPr>
          <a:lstStyle/>
          <a:p>
            <a:pPr>
              <a:lnSpc>
                <a:spcPct val="90000"/>
              </a:lnSpc>
            </a:pPr>
            <a:r>
              <a:rPr lang="en-US" i="0" dirty="0" err="1">
                <a:solidFill>
                  <a:schemeClr val="tx2"/>
                </a:solidFill>
                <a:latin typeface="Times New Roman" pitchFamily="18" charset="0"/>
              </a:rPr>
              <a:t>Thiết</a:t>
            </a:r>
            <a:r>
              <a:rPr lang="en-US" i="0" dirty="0">
                <a:solidFill>
                  <a:schemeClr val="tx2"/>
                </a:solidFill>
                <a:latin typeface="Times New Roman" pitchFamily="18" charset="0"/>
              </a:rPr>
              <a:t> </a:t>
            </a:r>
            <a:r>
              <a:rPr lang="en-US" i="0" dirty="0" err="1">
                <a:solidFill>
                  <a:schemeClr val="tx2"/>
                </a:solidFill>
                <a:latin typeface="Times New Roman" pitchFamily="18" charset="0"/>
              </a:rPr>
              <a:t>kế</a:t>
            </a:r>
            <a:r>
              <a:rPr lang="en-US" i="0" dirty="0">
                <a:solidFill>
                  <a:schemeClr val="tx2"/>
                </a:solidFill>
                <a:latin typeface="Times New Roman" pitchFamily="18" charset="0"/>
              </a:rPr>
              <a:t> </a:t>
            </a:r>
            <a:r>
              <a:rPr lang="en-US" i="0" dirty="0" err="1">
                <a:solidFill>
                  <a:schemeClr val="tx2"/>
                </a:solidFill>
                <a:latin typeface="Times New Roman" pitchFamily="18" charset="0"/>
              </a:rPr>
              <a:t>cơ</a:t>
            </a:r>
            <a:r>
              <a:rPr lang="en-US" i="0" dirty="0">
                <a:solidFill>
                  <a:schemeClr val="tx2"/>
                </a:solidFill>
                <a:latin typeface="Times New Roman" pitchFamily="18" charset="0"/>
              </a:rPr>
              <a:t> </a:t>
            </a:r>
            <a:r>
              <a:rPr lang="en-US" i="0" dirty="0" err="1">
                <a:solidFill>
                  <a:schemeClr val="tx2"/>
                </a:solidFill>
                <a:latin typeface="Times New Roman" pitchFamily="18" charset="0"/>
              </a:rPr>
              <a:t>bản</a:t>
            </a:r>
            <a:r>
              <a:rPr lang="en-US" i="0" dirty="0">
                <a:solidFill>
                  <a:schemeClr val="tx2"/>
                </a:solidFill>
                <a:latin typeface="Times New Roman" pitchFamily="18" charset="0"/>
              </a:rPr>
              <a:t> </a:t>
            </a:r>
            <a:r>
              <a:rPr lang="en-US" i="0" dirty="0" err="1">
                <a:solidFill>
                  <a:schemeClr val="tx2"/>
                </a:solidFill>
                <a:latin typeface="Times New Roman" pitchFamily="18" charset="0"/>
              </a:rPr>
              <a:t>của</a:t>
            </a:r>
            <a:r>
              <a:rPr lang="en-US" i="0" dirty="0">
                <a:solidFill>
                  <a:schemeClr val="tx2"/>
                </a:solidFill>
                <a:latin typeface="Times New Roman" pitchFamily="18" charset="0"/>
              </a:rPr>
              <a:t> </a:t>
            </a:r>
            <a:r>
              <a:rPr lang="en-US" i="0" dirty="0" err="1">
                <a:solidFill>
                  <a:schemeClr val="tx2"/>
                </a:solidFill>
                <a:latin typeface="Times New Roman" pitchFamily="18" charset="0"/>
              </a:rPr>
              <a:t>đĩa</a:t>
            </a:r>
            <a:r>
              <a:rPr lang="en-US" i="0" dirty="0">
                <a:solidFill>
                  <a:schemeClr val="tx2"/>
                </a:solidFill>
                <a:latin typeface="Times New Roman" pitchFamily="18" charset="0"/>
              </a:rPr>
              <a:t> MO:</a:t>
            </a:r>
            <a:endParaRPr lang="en-US" i="0" dirty="0">
              <a:solidFill>
                <a:schemeClr val="tx2"/>
              </a:solidFill>
              <a:latin typeface="Times New Roman" pitchFamily="18" charset="0"/>
              <a:cs typeface="Times New Roman" pitchFamily="18" charset="0"/>
            </a:endParaRPr>
          </a:p>
        </p:txBody>
      </p:sp>
      <p:pic>
        <p:nvPicPr>
          <p:cNvPr id="150536" name="Picture 8"/>
          <p:cNvPicPr>
            <a:picLocks noChangeAspect="1" noChangeArrowheads="1"/>
          </p:cNvPicPr>
          <p:nvPr/>
        </p:nvPicPr>
        <p:blipFill>
          <a:blip r:embed="rId2" cstate="print"/>
          <a:srcRect/>
          <a:stretch>
            <a:fillRect/>
          </a:stretch>
        </p:blipFill>
        <p:spPr bwMode="auto">
          <a:xfrm>
            <a:off x="1600200" y="2514600"/>
            <a:ext cx="5562600" cy="4052888"/>
          </a:xfrm>
          <a:prstGeom prst="rect">
            <a:avLst/>
          </a:prstGeom>
          <a:noFill/>
        </p:spPr>
      </p:pic>
      <p:sp>
        <p:nvSpPr>
          <p:cNvPr id="5" name="Title 1"/>
          <p:cNvSpPr txBox="1">
            <a:spLocks/>
          </p:cNvSpPr>
          <p:nvPr/>
        </p:nvSpPr>
        <p:spPr>
          <a:xfrm>
            <a:off x="609600" y="381000"/>
            <a:ext cx="8153400" cy="838200"/>
          </a:xfrm>
          <a:prstGeom prst="rect">
            <a:avLst/>
          </a:prstGeom>
        </p:spPr>
        <p:txBody>
          <a:bodyPr vert="horz">
            <a:normAutofit fontScale="92500"/>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US" sz="4400" b="0" i="0" u="none" strike="noStrike" kern="1200" cap="none" spc="0" normalizeH="0" noProof="0" dirty="0">
                <a:ln>
                  <a:noFill/>
                </a:ln>
                <a:solidFill>
                  <a:schemeClr val="tx2"/>
                </a:solidFill>
                <a:effectLst/>
                <a:uLnTx/>
                <a:uFillTx/>
                <a:latin typeface="+mn-lt"/>
                <a:ea typeface="+mn-ea"/>
                <a:cs typeface="+mn-cs"/>
              </a:rPr>
              <a:t>Magnetic – Optical Storage Systems</a:t>
            </a:r>
            <a:endParaRPr kumimoji="0" lang="en-US" sz="4400" b="0" i="0" u="none" strike="noStrike" kern="1200" cap="none" spc="0" normalizeH="0" baseline="0" noProof="0" dirty="0">
              <a:ln>
                <a:noFill/>
              </a:ln>
              <a:solidFill>
                <a:schemeClr val="tx2"/>
              </a:solidFill>
              <a:effectLst/>
              <a:uLnTx/>
              <a:uFillTx/>
              <a:latin typeface="+mn-lt"/>
              <a:ea typeface="+mn-ea"/>
              <a:cs typeface="+mn-cs"/>
            </a:endParaRP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vi-VN" dirty="0"/>
              <a:t>Hệ thống băng sử dụng kỹ thuật đ</a:t>
            </a:r>
            <a:r>
              <a:rPr lang="en-US" dirty="0" err="1"/>
              <a:t>ọc</a:t>
            </a:r>
            <a:r>
              <a:rPr lang="vi-VN" dirty="0"/>
              <a:t> và ghi giống hệ thống đĩa từ.</a:t>
            </a:r>
          </a:p>
          <a:p>
            <a:r>
              <a:rPr lang="vi-VN" dirty="0"/>
              <a:t>Lớp phủ ngoài băng bao gồm những phần tử kim loại tinh khiết bằng chất </a:t>
            </a:r>
            <a:r>
              <a:rPr lang="en-US" dirty="0"/>
              <a:t>r</a:t>
            </a:r>
            <a:r>
              <a:rPr lang="vi-VN" dirty="0"/>
              <a:t>ắn đặc biệt hoặc những màng mạ kim loại.</a:t>
            </a:r>
          </a:p>
          <a:p>
            <a:r>
              <a:rPr lang="vi-VN" dirty="0"/>
              <a:t>Bề rộng băng từ 0.38cm  -&gt; 1.27cm, thường được đóng gói thành cuộn qua 1 trục quay.</a:t>
            </a:r>
            <a:endParaRPr lang="en-US" dirty="0"/>
          </a:p>
        </p:txBody>
      </p:sp>
      <p:sp>
        <p:nvSpPr>
          <p:cNvPr id="4" name="Rectangle 2"/>
          <p:cNvSpPr>
            <a:spLocks noGrp="1" noChangeArrowheads="1"/>
          </p:cNvSpPr>
          <p:nvPr>
            <p:ph type="title"/>
          </p:nvPr>
        </p:nvSpPr>
        <p:spPr>
          <a:xfrm>
            <a:off x="612648" y="228600"/>
            <a:ext cx="8153400" cy="990600"/>
          </a:xfrm>
          <a:noFill/>
          <a:ln/>
        </p:spPr>
        <p:txBody>
          <a:bodyPr anchor="ctr"/>
          <a:lstStyle/>
          <a:p>
            <a:r>
              <a:rPr lang="en-US" dirty="0"/>
              <a:t>MAGNETIC TAPE</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vi-VN" dirty="0"/>
              <a:t>Dữ liệu trên băng từ được cấu trúc thành nhiều track song song, hệ thống băng từ đầu tiên sử dụng 9 tracks, rồi 18 hoặc 36 tracks tương ứng 1byte hoặc 2 byte.</a:t>
            </a:r>
          </a:p>
          <a:p>
            <a:r>
              <a:rPr lang="vi-VN" dirty="0"/>
              <a:t>Mật độ ghi điển hình 1600 khung/inch. Sau khi ổ băng từ hoàn thành việc ghi 1 record nó sẽ qua vùng khe hở (gap).</a:t>
            </a:r>
          </a:p>
          <a:p>
            <a:endParaRPr lang="en-US" dirty="0"/>
          </a:p>
        </p:txBody>
      </p:sp>
      <p:sp>
        <p:nvSpPr>
          <p:cNvPr id="4" name="Rectangle 2"/>
          <p:cNvSpPr>
            <a:spLocks noGrp="1" noChangeArrowheads="1"/>
          </p:cNvSpPr>
          <p:nvPr>
            <p:ph type="title"/>
          </p:nvPr>
        </p:nvSpPr>
        <p:spPr>
          <a:xfrm>
            <a:off x="612648" y="228600"/>
            <a:ext cx="8153400" cy="990600"/>
          </a:xfrm>
          <a:noFill/>
          <a:ln/>
        </p:spPr>
        <p:txBody>
          <a:bodyPr anchor="ctr"/>
          <a:lstStyle/>
          <a:p>
            <a:r>
              <a:rPr lang="en-US" dirty="0"/>
              <a:t>MAGNETIC TAPE</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vi-VN" dirty="0"/>
              <a:t>Nếu tổ chức các record vật lí quá ngắn không lớn hơn bao nhiêu so với khe hở thì hiệu suất sử dụng băng từ sẽ rất thấp.</a:t>
            </a:r>
          </a:p>
          <a:p>
            <a:r>
              <a:rPr lang="vi-VN" dirty="0"/>
              <a:t>Nếu kích thước record quá lớn thì mất hiệu suất khi gặp phải tổ chức vùng dữ liệu bé.</a:t>
            </a:r>
          </a:p>
          <a:p>
            <a:endParaRPr lang="en-US" dirty="0"/>
          </a:p>
        </p:txBody>
      </p:sp>
      <p:sp>
        <p:nvSpPr>
          <p:cNvPr id="4" name="Rectangle 2"/>
          <p:cNvSpPr>
            <a:spLocks noGrp="1" noChangeArrowheads="1"/>
          </p:cNvSpPr>
          <p:nvPr>
            <p:ph type="title"/>
          </p:nvPr>
        </p:nvSpPr>
        <p:spPr>
          <a:xfrm>
            <a:off x="612648" y="228600"/>
            <a:ext cx="8153400" cy="990600"/>
          </a:xfrm>
          <a:noFill/>
          <a:ln/>
        </p:spPr>
        <p:txBody>
          <a:bodyPr anchor="ctr"/>
          <a:lstStyle/>
          <a:p>
            <a:r>
              <a:rPr lang="en-US" dirty="0"/>
              <a:t>MAGNETIC TAPE</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noFill/>
          <a:ln/>
        </p:spPr>
        <p:txBody>
          <a:bodyPr anchor="ctr"/>
          <a:lstStyle/>
          <a:p>
            <a:r>
              <a:rPr lang="en-US" dirty="0"/>
              <a:t>MAGNETIC TAPE</a:t>
            </a:r>
          </a:p>
        </p:txBody>
      </p:sp>
      <p:grpSp>
        <p:nvGrpSpPr>
          <p:cNvPr id="4" name="Group 56"/>
          <p:cNvGrpSpPr>
            <a:grpSpLocks/>
          </p:cNvGrpSpPr>
          <p:nvPr/>
        </p:nvGrpSpPr>
        <p:grpSpPr bwMode="auto">
          <a:xfrm>
            <a:off x="914400" y="5791200"/>
            <a:ext cx="3352800" cy="304800"/>
            <a:chOff x="1776" y="1176168"/>
            <a:chExt cx="2112" cy="4691232"/>
          </a:xfrm>
        </p:grpSpPr>
        <p:sp>
          <p:nvSpPr>
            <p:cNvPr id="148537" name="Rectangle 57"/>
            <p:cNvSpPr>
              <a:spLocks noChangeArrowheads="1"/>
            </p:cNvSpPr>
            <p:nvPr/>
          </p:nvSpPr>
          <p:spPr bwMode="auto">
            <a:xfrm>
              <a:off x="2016" y="1176168"/>
              <a:ext cx="1584" cy="385"/>
            </a:xfrm>
            <a:prstGeom prst="rect">
              <a:avLst/>
            </a:prstGeom>
            <a:solidFill>
              <a:schemeClr val="bg1"/>
            </a:solidFill>
            <a:ln w="9525">
              <a:solidFill>
                <a:schemeClr val="bg1"/>
              </a:solidFill>
              <a:miter lim="800000"/>
              <a:headEnd/>
              <a:tailEnd/>
            </a:ln>
            <a:effectLst/>
          </p:spPr>
          <p:txBody>
            <a:bodyPr wrap="none" anchor="ctr"/>
            <a:lstStyle/>
            <a:p>
              <a:pPr algn="ctr" eaLnBrk="1" hangingPunct="1"/>
              <a:r>
                <a:rPr lang="en-US" sz="2400" dirty="0" err="1">
                  <a:latin typeface="VNI-Aptima" pitchFamily="2" charset="0"/>
                  <a:cs typeface="Times New Roman" pitchFamily="18" charset="0"/>
                </a:rPr>
                <a:t>Chieàu</a:t>
              </a:r>
              <a:r>
                <a:rPr lang="en-US" sz="2400" dirty="0">
                  <a:latin typeface="VNI-Aptima" pitchFamily="2" charset="0"/>
                  <a:cs typeface="Times New Roman" pitchFamily="18" charset="0"/>
                </a:rPr>
                <a:t> </a:t>
              </a:r>
              <a:r>
                <a:rPr lang="en-US" sz="2400" dirty="0" err="1">
                  <a:latin typeface="VNI-Aptima" pitchFamily="2" charset="0"/>
                  <a:cs typeface="Times New Roman" pitchFamily="18" charset="0"/>
                </a:rPr>
                <a:t>di</a:t>
              </a:r>
              <a:r>
                <a:rPr lang="en-US" sz="2400" dirty="0">
                  <a:latin typeface="VNI-Aptima" pitchFamily="2" charset="0"/>
                  <a:cs typeface="Times New Roman" pitchFamily="18" charset="0"/>
                </a:rPr>
                <a:t> </a:t>
              </a:r>
              <a:r>
                <a:rPr lang="en-US" sz="2400" dirty="0" err="1">
                  <a:latin typeface="VNI-Aptima" pitchFamily="2" charset="0"/>
                  <a:cs typeface="Times New Roman" pitchFamily="18" charset="0"/>
                </a:rPr>
                <a:t>chuyeån</a:t>
              </a:r>
              <a:r>
                <a:rPr lang="en-US" sz="2400" dirty="0">
                  <a:latin typeface="VNI-Aptima" pitchFamily="2" charset="0"/>
                  <a:cs typeface="Times New Roman" pitchFamily="18" charset="0"/>
                </a:rPr>
                <a:t> </a:t>
              </a:r>
              <a:r>
                <a:rPr lang="en-US" sz="2400" dirty="0" err="1">
                  <a:latin typeface="VNI-Aptima" pitchFamily="2" charset="0"/>
                  <a:cs typeface="Times New Roman" pitchFamily="18" charset="0"/>
                </a:rPr>
                <a:t>baêng</a:t>
              </a:r>
              <a:r>
                <a:rPr lang="en-US" sz="2400" dirty="0">
                  <a:latin typeface="VNI-Aptima" pitchFamily="2" charset="0"/>
                  <a:cs typeface="Times New Roman" pitchFamily="18" charset="0"/>
                </a:rPr>
                <a:t> </a:t>
              </a:r>
              <a:r>
                <a:rPr lang="en-US" sz="2400" dirty="0" err="1">
                  <a:latin typeface="VNI-Aptima" pitchFamily="2" charset="0"/>
                  <a:cs typeface="Times New Roman" pitchFamily="18" charset="0"/>
                </a:rPr>
                <a:t>töø</a:t>
              </a:r>
              <a:endParaRPr lang="en-US" sz="2400" dirty="0">
                <a:latin typeface="VNI-Aptima" pitchFamily="2" charset="0"/>
                <a:cs typeface="Times New Roman" pitchFamily="18" charset="0"/>
              </a:endParaRPr>
            </a:p>
          </p:txBody>
        </p:sp>
        <p:sp>
          <p:nvSpPr>
            <p:cNvPr id="148538" name="Line 58"/>
            <p:cNvSpPr>
              <a:spLocks noChangeShapeType="1"/>
            </p:cNvSpPr>
            <p:nvPr/>
          </p:nvSpPr>
          <p:spPr bwMode="auto">
            <a:xfrm>
              <a:off x="1776" y="5867400"/>
              <a:ext cx="2112" cy="0"/>
            </a:xfrm>
            <a:prstGeom prst="line">
              <a:avLst/>
            </a:prstGeom>
            <a:noFill/>
            <a:ln w="28575">
              <a:solidFill>
                <a:schemeClr val="tx1"/>
              </a:solidFill>
              <a:prstDash val="dash"/>
              <a:round/>
              <a:headEnd/>
              <a:tailEnd type="triangle" w="med" len="med"/>
            </a:ln>
            <a:effectLst/>
          </p:spPr>
          <p:txBody>
            <a:bodyPr/>
            <a:lstStyle/>
            <a:p>
              <a:endParaRPr lang="en-US">
                <a:latin typeface="VNI-Aptima" pitchFamily="2" charset="0"/>
              </a:endParaRPr>
            </a:p>
          </p:txBody>
        </p:sp>
      </p:grpSp>
      <p:grpSp>
        <p:nvGrpSpPr>
          <p:cNvPr id="63" name="Group 62"/>
          <p:cNvGrpSpPr/>
          <p:nvPr/>
        </p:nvGrpSpPr>
        <p:grpSpPr>
          <a:xfrm>
            <a:off x="228600" y="1600200"/>
            <a:ext cx="8610600" cy="4191000"/>
            <a:chOff x="228600" y="1371600"/>
            <a:chExt cx="8610600" cy="3962400"/>
          </a:xfrm>
        </p:grpSpPr>
        <p:grpSp>
          <p:nvGrpSpPr>
            <p:cNvPr id="2" name="Group 3"/>
            <p:cNvGrpSpPr>
              <a:grpSpLocks/>
            </p:cNvGrpSpPr>
            <p:nvPr/>
          </p:nvGrpSpPr>
          <p:grpSpPr bwMode="auto">
            <a:xfrm>
              <a:off x="3962400" y="2819400"/>
              <a:ext cx="2133600" cy="1066800"/>
              <a:chOff x="2256" y="1776"/>
              <a:chExt cx="1344" cy="672"/>
            </a:xfrm>
          </p:grpSpPr>
          <p:sp>
            <p:nvSpPr>
              <p:cNvPr id="148484" name="Line 4"/>
              <p:cNvSpPr>
                <a:spLocks noChangeShapeType="1"/>
              </p:cNvSpPr>
              <p:nvPr/>
            </p:nvSpPr>
            <p:spPr bwMode="auto">
              <a:xfrm>
                <a:off x="2256" y="1776"/>
                <a:ext cx="1344" cy="0"/>
              </a:xfrm>
              <a:prstGeom prst="line">
                <a:avLst/>
              </a:prstGeom>
              <a:noFill/>
              <a:ln w="9525">
                <a:solidFill>
                  <a:schemeClr val="tx1"/>
                </a:solidFill>
                <a:round/>
                <a:headEnd/>
                <a:tailEnd/>
              </a:ln>
              <a:effectLst/>
            </p:spPr>
            <p:txBody>
              <a:bodyPr/>
              <a:lstStyle/>
              <a:p>
                <a:endParaRPr lang="en-US"/>
              </a:p>
            </p:txBody>
          </p:sp>
          <p:sp>
            <p:nvSpPr>
              <p:cNvPr id="148485" name="Line 5"/>
              <p:cNvSpPr>
                <a:spLocks noChangeShapeType="1"/>
              </p:cNvSpPr>
              <p:nvPr/>
            </p:nvSpPr>
            <p:spPr bwMode="auto">
              <a:xfrm>
                <a:off x="2256" y="1872"/>
                <a:ext cx="1344" cy="0"/>
              </a:xfrm>
              <a:prstGeom prst="line">
                <a:avLst/>
              </a:prstGeom>
              <a:noFill/>
              <a:ln w="9525">
                <a:solidFill>
                  <a:schemeClr val="tx1"/>
                </a:solidFill>
                <a:round/>
                <a:headEnd/>
                <a:tailEnd/>
              </a:ln>
              <a:effectLst/>
            </p:spPr>
            <p:txBody>
              <a:bodyPr/>
              <a:lstStyle/>
              <a:p>
                <a:endParaRPr lang="en-US"/>
              </a:p>
            </p:txBody>
          </p:sp>
          <p:sp>
            <p:nvSpPr>
              <p:cNvPr id="148486" name="Line 6"/>
              <p:cNvSpPr>
                <a:spLocks noChangeShapeType="1"/>
              </p:cNvSpPr>
              <p:nvPr/>
            </p:nvSpPr>
            <p:spPr bwMode="auto">
              <a:xfrm>
                <a:off x="2256" y="1968"/>
                <a:ext cx="1344" cy="0"/>
              </a:xfrm>
              <a:prstGeom prst="line">
                <a:avLst/>
              </a:prstGeom>
              <a:noFill/>
              <a:ln w="9525">
                <a:solidFill>
                  <a:schemeClr val="tx1"/>
                </a:solidFill>
                <a:round/>
                <a:headEnd/>
                <a:tailEnd/>
              </a:ln>
              <a:effectLst/>
            </p:spPr>
            <p:txBody>
              <a:bodyPr/>
              <a:lstStyle/>
              <a:p>
                <a:endParaRPr lang="en-US"/>
              </a:p>
            </p:txBody>
          </p:sp>
          <p:sp>
            <p:nvSpPr>
              <p:cNvPr id="148487" name="Line 7"/>
              <p:cNvSpPr>
                <a:spLocks noChangeShapeType="1"/>
              </p:cNvSpPr>
              <p:nvPr/>
            </p:nvSpPr>
            <p:spPr bwMode="auto">
              <a:xfrm>
                <a:off x="2256" y="2064"/>
                <a:ext cx="1344" cy="0"/>
              </a:xfrm>
              <a:prstGeom prst="line">
                <a:avLst/>
              </a:prstGeom>
              <a:noFill/>
              <a:ln w="9525">
                <a:solidFill>
                  <a:schemeClr val="tx1"/>
                </a:solidFill>
                <a:round/>
                <a:headEnd/>
                <a:tailEnd/>
              </a:ln>
              <a:effectLst/>
            </p:spPr>
            <p:txBody>
              <a:bodyPr/>
              <a:lstStyle/>
              <a:p>
                <a:endParaRPr lang="en-US"/>
              </a:p>
            </p:txBody>
          </p:sp>
          <p:sp>
            <p:nvSpPr>
              <p:cNvPr id="148488" name="Line 8"/>
              <p:cNvSpPr>
                <a:spLocks noChangeShapeType="1"/>
              </p:cNvSpPr>
              <p:nvPr/>
            </p:nvSpPr>
            <p:spPr bwMode="auto">
              <a:xfrm>
                <a:off x="2256" y="2160"/>
                <a:ext cx="1344" cy="0"/>
              </a:xfrm>
              <a:prstGeom prst="line">
                <a:avLst/>
              </a:prstGeom>
              <a:noFill/>
              <a:ln w="9525">
                <a:solidFill>
                  <a:schemeClr val="tx1"/>
                </a:solidFill>
                <a:round/>
                <a:headEnd/>
                <a:tailEnd/>
              </a:ln>
              <a:effectLst/>
            </p:spPr>
            <p:txBody>
              <a:bodyPr/>
              <a:lstStyle/>
              <a:p>
                <a:endParaRPr lang="en-US"/>
              </a:p>
            </p:txBody>
          </p:sp>
          <p:sp>
            <p:nvSpPr>
              <p:cNvPr id="148489" name="Line 9"/>
              <p:cNvSpPr>
                <a:spLocks noChangeShapeType="1"/>
              </p:cNvSpPr>
              <p:nvPr/>
            </p:nvSpPr>
            <p:spPr bwMode="auto">
              <a:xfrm>
                <a:off x="2256" y="2256"/>
                <a:ext cx="1344" cy="0"/>
              </a:xfrm>
              <a:prstGeom prst="line">
                <a:avLst/>
              </a:prstGeom>
              <a:noFill/>
              <a:ln w="9525">
                <a:solidFill>
                  <a:schemeClr val="tx1"/>
                </a:solidFill>
                <a:round/>
                <a:headEnd/>
                <a:tailEnd/>
              </a:ln>
              <a:effectLst/>
            </p:spPr>
            <p:txBody>
              <a:bodyPr/>
              <a:lstStyle/>
              <a:p>
                <a:endParaRPr lang="en-US"/>
              </a:p>
            </p:txBody>
          </p:sp>
          <p:sp>
            <p:nvSpPr>
              <p:cNvPr id="148490" name="Line 10"/>
              <p:cNvSpPr>
                <a:spLocks noChangeShapeType="1"/>
              </p:cNvSpPr>
              <p:nvPr/>
            </p:nvSpPr>
            <p:spPr bwMode="auto">
              <a:xfrm>
                <a:off x="2256" y="2352"/>
                <a:ext cx="1344" cy="0"/>
              </a:xfrm>
              <a:prstGeom prst="line">
                <a:avLst/>
              </a:prstGeom>
              <a:noFill/>
              <a:ln w="9525">
                <a:solidFill>
                  <a:schemeClr val="tx1"/>
                </a:solidFill>
                <a:round/>
                <a:headEnd/>
                <a:tailEnd/>
              </a:ln>
              <a:effectLst/>
            </p:spPr>
            <p:txBody>
              <a:bodyPr/>
              <a:lstStyle/>
              <a:p>
                <a:endParaRPr lang="en-US"/>
              </a:p>
            </p:txBody>
          </p:sp>
          <p:sp>
            <p:nvSpPr>
              <p:cNvPr id="148491" name="Line 11"/>
              <p:cNvSpPr>
                <a:spLocks noChangeShapeType="1"/>
              </p:cNvSpPr>
              <p:nvPr/>
            </p:nvSpPr>
            <p:spPr bwMode="auto">
              <a:xfrm>
                <a:off x="2256" y="2448"/>
                <a:ext cx="1344" cy="0"/>
              </a:xfrm>
              <a:prstGeom prst="line">
                <a:avLst/>
              </a:prstGeom>
              <a:noFill/>
              <a:ln w="9525">
                <a:solidFill>
                  <a:schemeClr val="tx1"/>
                </a:solidFill>
                <a:round/>
                <a:headEnd/>
                <a:tailEnd/>
              </a:ln>
              <a:effectLst/>
            </p:spPr>
            <p:txBody>
              <a:bodyPr/>
              <a:lstStyle/>
              <a:p>
                <a:endParaRPr lang="en-US"/>
              </a:p>
            </p:txBody>
          </p:sp>
          <p:sp>
            <p:nvSpPr>
              <p:cNvPr id="148492" name="Line 12"/>
              <p:cNvSpPr>
                <a:spLocks noChangeShapeType="1"/>
              </p:cNvSpPr>
              <p:nvPr/>
            </p:nvSpPr>
            <p:spPr bwMode="auto">
              <a:xfrm>
                <a:off x="2256" y="1776"/>
                <a:ext cx="0" cy="672"/>
              </a:xfrm>
              <a:prstGeom prst="line">
                <a:avLst/>
              </a:prstGeom>
              <a:noFill/>
              <a:ln w="9525">
                <a:solidFill>
                  <a:schemeClr val="tx1"/>
                </a:solidFill>
                <a:round/>
                <a:headEnd/>
                <a:tailEnd/>
              </a:ln>
              <a:effectLst/>
            </p:spPr>
            <p:txBody>
              <a:bodyPr/>
              <a:lstStyle/>
              <a:p>
                <a:endParaRPr lang="en-US"/>
              </a:p>
            </p:txBody>
          </p:sp>
          <p:sp>
            <p:nvSpPr>
              <p:cNvPr id="148493" name="Line 13"/>
              <p:cNvSpPr>
                <a:spLocks noChangeShapeType="1"/>
              </p:cNvSpPr>
              <p:nvPr/>
            </p:nvSpPr>
            <p:spPr bwMode="auto">
              <a:xfrm>
                <a:off x="2352" y="1776"/>
                <a:ext cx="0" cy="672"/>
              </a:xfrm>
              <a:prstGeom prst="line">
                <a:avLst/>
              </a:prstGeom>
              <a:noFill/>
              <a:ln w="9525">
                <a:solidFill>
                  <a:schemeClr val="tx1"/>
                </a:solidFill>
                <a:round/>
                <a:headEnd/>
                <a:tailEnd/>
              </a:ln>
              <a:effectLst/>
            </p:spPr>
            <p:txBody>
              <a:bodyPr/>
              <a:lstStyle/>
              <a:p>
                <a:endParaRPr lang="en-US"/>
              </a:p>
            </p:txBody>
          </p:sp>
          <p:sp>
            <p:nvSpPr>
              <p:cNvPr id="148494" name="Line 14"/>
              <p:cNvSpPr>
                <a:spLocks noChangeShapeType="1"/>
              </p:cNvSpPr>
              <p:nvPr/>
            </p:nvSpPr>
            <p:spPr bwMode="auto">
              <a:xfrm>
                <a:off x="2448" y="1776"/>
                <a:ext cx="0" cy="672"/>
              </a:xfrm>
              <a:prstGeom prst="line">
                <a:avLst/>
              </a:prstGeom>
              <a:noFill/>
              <a:ln w="9525">
                <a:solidFill>
                  <a:schemeClr val="tx1"/>
                </a:solidFill>
                <a:round/>
                <a:headEnd/>
                <a:tailEnd/>
              </a:ln>
              <a:effectLst/>
            </p:spPr>
            <p:txBody>
              <a:bodyPr/>
              <a:lstStyle/>
              <a:p>
                <a:endParaRPr lang="en-US"/>
              </a:p>
            </p:txBody>
          </p:sp>
          <p:sp>
            <p:nvSpPr>
              <p:cNvPr id="148495" name="Line 15"/>
              <p:cNvSpPr>
                <a:spLocks noChangeShapeType="1"/>
              </p:cNvSpPr>
              <p:nvPr/>
            </p:nvSpPr>
            <p:spPr bwMode="auto">
              <a:xfrm>
                <a:off x="3360" y="1776"/>
                <a:ext cx="0" cy="672"/>
              </a:xfrm>
              <a:prstGeom prst="line">
                <a:avLst/>
              </a:prstGeom>
              <a:noFill/>
              <a:ln w="9525">
                <a:solidFill>
                  <a:schemeClr val="tx1"/>
                </a:solidFill>
                <a:round/>
                <a:headEnd/>
                <a:tailEnd/>
              </a:ln>
              <a:effectLst/>
            </p:spPr>
            <p:txBody>
              <a:bodyPr/>
              <a:lstStyle/>
              <a:p>
                <a:endParaRPr lang="en-US"/>
              </a:p>
            </p:txBody>
          </p:sp>
          <p:sp>
            <p:nvSpPr>
              <p:cNvPr id="148496" name="Line 16"/>
              <p:cNvSpPr>
                <a:spLocks noChangeShapeType="1"/>
              </p:cNvSpPr>
              <p:nvPr/>
            </p:nvSpPr>
            <p:spPr bwMode="auto">
              <a:xfrm>
                <a:off x="3456" y="1776"/>
                <a:ext cx="0" cy="672"/>
              </a:xfrm>
              <a:prstGeom prst="line">
                <a:avLst/>
              </a:prstGeom>
              <a:noFill/>
              <a:ln w="9525">
                <a:solidFill>
                  <a:schemeClr val="tx1"/>
                </a:solidFill>
                <a:round/>
                <a:headEnd/>
                <a:tailEnd/>
              </a:ln>
              <a:effectLst/>
            </p:spPr>
            <p:txBody>
              <a:bodyPr/>
              <a:lstStyle/>
              <a:p>
                <a:endParaRPr lang="en-US"/>
              </a:p>
            </p:txBody>
          </p:sp>
          <p:sp>
            <p:nvSpPr>
              <p:cNvPr id="148497" name="Line 17"/>
              <p:cNvSpPr>
                <a:spLocks noChangeShapeType="1"/>
              </p:cNvSpPr>
              <p:nvPr/>
            </p:nvSpPr>
            <p:spPr bwMode="auto">
              <a:xfrm>
                <a:off x="3600" y="1776"/>
                <a:ext cx="0" cy="672"/>
              </a:xfrm>
              <a:prstGeom prst="line">
                <a:avLst/>
              </a:prstGeom>
              <a:noFill/>
              <a:ln w="9525">
                <a:solidFill>
                  <a:schemeClr val="tx1"/>
                </a:solidFill>
                <a:round/>
                <a:headEnd/>
                <a:tailEnd/>
              </a:ln>
              <a:effectLst/>
            </p:spPr>
            <p:txBody>
              <a:bodyPr/>
              <a:lstStyle/>
              <a:p>
                <a:endParaRPr lang="en-US"/>
              </a:p>
            </p:txBody>
          </p:sp>
        </p:grpSp>
        <p:sp>
          <p:nvSpPr>
            <p:cNvPr id="148498" name="Line 18"/>
            <p:cNvSpPr>
              <a:spLocks noChangeShapeType="1"/>
            </p:cNvSpPr>
            <p:nvPr/>
          </p:nvSpPr>
          <p:spPr bwMode="auto">
            <a:xfrm>
              <a:off x="914400" y="2819400"/>
              <a:ext cx="2133600" cy="0"/>
            </a:xfrm>
            <a:prstGeom prst="line">
              <a:avLst/>
            </a:prstGeom>
            <a:noFill/>
            <a:ln w="9525">
              <a:solidFill>
                <a:schemeClr val="tx1"/>
              </a:solidFill>
              <a:round/>
              <a:headEnd/>
              <a:tailEnd/>
            </a:ln>
            <a:effectLst/>
          </p:spPr>
          <p:txBody>
            <a:bodyPr/>
            <a:lstStyle/>
            <a:p>
              <a:endParaRPr lang="en-US"/>
            </a:p>
          </p:txBody>
        </p:sp>
        <p:sp>
          <p:nvSpPr>
            <p:cNvPr id="148499" name="Line 19"/>
            <p:cNvSpPr>
              <a:spLocks noChangeShapeType="1"/>
            </p:cNvSpPr>
            <p:nvPr/>
          </p:nvSpPr>
          <p:spPr bwMode="auto">
            <a:xfrm>
              <a:off x="914400" y="2971800"/>
              <a:ext cx="2133600" cy="0"/>
            </a:xfrm>
            <a:prstGeom prst="line">
              <a:avLst/>
            </a:prstGeom>
            <a:noFill/>
            <a:ln w="9525">
              <a:solidFill>
                <a:schemeClr val="tx1"/>
              </a:solidFill>
              <a:round/>
              <a:headEnd/>
              <a:tailEnd/>
            </a:ln>
            <a:effectLst/>
          </p:spPr>
          <p:txBody>
            <a:bodyPr/>
            <a:lstStyle/>
            <a:p>
              <a:endParaRPr lang="en-US"/>
            </a:p>
          </p:txBody>
        </p:sp>
        <p:sp>
          <p:nvSpPr>
            <p:cNvPr id="148500" name="Line 20"/>
            <p:cNvSpPr>
              <a:spLocks noChangeShapeType="1"/>
            </p:cNvSpPr>
            <p:nvPr/>
          </p:nvSpPr>
          <p:spPr bwMode="auto">
            <a:xfrm>
              <a:off x="914400" y="3124200"/>
              <a:ext cx="2133600" cy="0"/>
            </a:xfrm>
            <a:prstGeom prst="line">
              <a:avLst/>
            </a:prstGeom>
            <a:noFill/>
            <a:ln w="9525">
              <a:solidFill>
                <a:schemeClr val="tx1"/>
              </a:solidFill>
              <a:round/>
              <a:headEnd/>
              <a:tailEnd/>
            </a:ln>
            <a:effectLst/>
          </p:spPr>
          <p:txBody>
            <a:bodyPr/>
            <a:lstStyle/>
            <a:p>
              <a:endParaRPr lang="en-US"/>
            </a:p>
          </p:txBody>
        </p:sp>
        <p:sp>
          <p:nvSpPr>
            <p:cNvPr id="148501" name="Line 21"/>
            <p:cNvSpPr>
              <a:spLocks noChangeShapeType="1"/>
            </p:cNvSpPr>
            <p:nvPr/>
          </p:nvSpPr>
          <p:spPr bwMode="auto">
            <a:xfrm>
              <a:off x="914400" y="3276600"/>
              <a:ext cx="2133600" cy="0"/>
            </a:xfrm>
            <a:prstGeom prst="line">
              <a:avLst/>
            </a:prstGeom>
            <a:noFill/>
            <a:ln w="9525">
              <a:solidFill>
                <a:schemeClr val="tx1"/>
              </a:solidFill>
              <a:round/>
              <a:headEnd/>
              <a:tailEnd/>
            </a:ln>
            <a:effectLst/>
          </p:spPr>
          <p:txBody>
            <a:bodyPr/>
            <a:lstStyle/>
            <a:p>
              <a:endParaRPr lang="en-US"/>
            </a:p>
          </p:txBody>
        </p:sp>
        <p:sp>
          <p:nvSpPr>
            <p:cNvPr id="148502" name="Line 22"/>
            <p:cNvSpPr>
              <a:spLocks noChangeShapeType="1"/>
            </p:cNvSpPr>
            <p:nvPr/>
          </p:nvSpPr>
          <p:spPr bwMode="auto">
            <a:xfrm>
              <a:off x="914400" y="3429000"/>
              <a:ext cx="2133600" cy="0"/>
            </a:xfrm>
            <a:prstGeom prst="line">
              <a:avLst/>
            </a:prstGeom>
            <a:noFill/>
            <a:ln w="9525">
              <a:solidFill>
                <a:schemeClr val="tx1"/>
              </a:solidFill>
              <a:round/>
              <a:headEnd/>
              <a:tailEnd/>
            </a:ln>
            <a:effectLst/>
          </p:spPr>
          <p:txBody>
            <a:bodyPr/>
            <a:lstStyle/>
            <a:p>
              <a:endParaRPr lang="en-US"/>
            </a:p>
          </p:txBody>
        </p:sp>
        <p:sp>
          <p:nvSpPr>
            <p:cNvPr id="148503" name="Line 23"/>
            <p:cNvSpPr>
              <a:spLocks noChangeShapeType="1"/>
            </p:cNvSpPr>
            <p:nvPr/>
          </p:nvSpPr>
          <p:spPr bwMode="auto">
            <a:xfrm>
              <a:off x="914400" y="3581400"/>
              <a:ext cx="2133600" cy="0"/>
            </a:xfrm>
            <a:prstGeom prst="line">
              <a:avLst/>
            </a:prstGeom>
            <a:noFill/>
            <a:ln w="9525">
              <a:solidFill>
                <a:schemeClr val="tx1"/>
              </a:solidFill>
              <a:round/>
              <a:headEnd/>
              <a:tailEnd/>
            </a:ln>
            <a:effectLst/>
          </p:spPr>
          <p:txBody>
            <a:bodyPr/>
            <a:lstStyle/>
            <a:p>
              <a:endParaRPr lang="en-US"/>
            </a:p>
          </p:txBody>
        </p:sp>
        <p:sp>
          <p:nvSpPr>
            <p:cNvPr id="148504" name="Line 24"/>
            <p:cNvSpPr>
              <a:spLocks noChangeShapeType="1"/>
            </p:cNvSpPr>
            <p:nvPr/>
          </p:nvSpPr>
          <p:spPr bwMode="auto">
            <a:xfrm>
              <a:off x="914400" y="3733800"/>
              <a:ext cx="2133600" cy="0"/>
            </a:xfrm>
            <a:prstGeom prst="line">
              <a:avLst/>
            </a:prstGeom>
            <a:noFill/>
            <a:ln w="9525">
              <a:solidFill>
                <a:schemeClr val="tx1"/>
              </a:solidFill>
              <a:round/>
              <a:headEnd/>
              <a:tailEnd/>
            </a:ln>
            <a:effectLst/>
          </p:spPr>
          <p:txBody>
            <a:bodyPr/>
            <a:lstStyle/>
            <a:p>
              <a:endParaRPr lang="en-US"/>
            </a:p>
          </p:txBody>
        </p:sp>
        <p:sp>
          <p:nvSpPr>
            <p:cNvPr id="148505" name="Line 25"/>
            <p:cNvSpPr>
              <a:spLocks noChangeShapeType="1"/>
            </p:cNvSpPr>
            <p:nvPr/>
          </p:nvSpPr>
          <p:spPr bwMode="auto">
            <a:xfrm>
              <a:off x="914400" y="3886200"/>
              <a:ext cx="2133600" cy="0"/>
            </a:xfrm>
            <a:prstGeom prst="line">
              <a:avLst/>
            </a:prstGeom>
            <a:noFill/>
            <a:ln w="9525">
              <a:solidFill>
                <a:schemeClr val="tx1"/>
              </a:solidFill>
              <a:round/>
              <a:headEnd/>
              <a:tailEnd/>
            </a:ln>
            <a:effectLst/>
          </p:spPr>
          <p:txBody>
            <a:bodyPr/>
            <a:lstStyle/>
            <a:p>
              <a:endParaRPr lang="en-US"/>
            </a:p>
          </p:txBody>
        </p:sp>
        <p:sp>
          <p:nvSpPr>
            <p:cNvPr id="148506" name="Line 26"/>
            <p:cNvSpPr>
              <a:spLocks noChangeShapeType="1"/>
            </p:cNvSpPr>
            <p:nvPr/>
          </p:nvSpPr>
          <p:spPr bwMode="auto">
            <a:xfrm>
              <a:off x="1981200" y="2819400"/>
              <a:ext cx="0" cy="1066800"/>
            </a:xfrm>
            <a:prstGeom prst="line">
              <a:avLst/>
            </a:prstGeom>
            <a:noFill/>
            <a:ln w="9525">
              <a:solidFill>
                <a:schemeClr val="tx1"/>
              </a:solidFill>
              <a:round/>
              <a:headEnd/>
              <a:tailEnd/>
            </a:ln>
            <a:effectLst/>
          </p:spPr>
          <p:txBody>
            <a:bodyPr/>
            <a:lstStyle/>
            <a:p>
              <a:endParaRPr lang="en-US"/>
            </a:p>
          </p:txBody>
        </p:sp>
        <p:sp>
          <p:nvSpPr>
            <p:cNvPr id="148507" name="Line 27"/>
            <p:cNvSpPr>
              <a:spLocks noChangeShapeType="1"/>
            </p:cNvSpPr>
            <p:nvPr/>
          </p:nvSpPr>
          <p:spPr bwMode="auto">
            <a:xfrm>
              <a:off x="1828800" y="2819400"/>
              <a:ext cx="0" cy="1066800"/>
            </a:xfrm>
            <a:prstGeom prst="line">
              <a:avLst/>
            </a:prstGeom>
            <a:noFill/>
            <a:ln w="9525">
              <a:solidFill>
                <a:schemeClr val="tx1"/>
              </a:solidFill>
              <a:round/>
              <a:headEnd/>
              <a:tailEnd/>
            </a:ln>
            <a:effectLst/>
          </p:spPr>
          <p:txBody>
            <a:bodyPr/>
            <a:lstStyle/>
            <a:p>
              <a:endParaRPr lang="en-US"/>
            </a:p>
          </p:txBody>
        </p:sp>
        <p:sp>
          <p:nvSpPr>
            <p:cNvPr id="148508" name="Line 28"/>
            <p:cNvSpPr>
              <a:spLocks noChangeShapeType="1"/>
            </p:cNvSpPr>
            <p:nvPr/>
          </p:nvSpPr>
          <p:spPr bwMode="auto">
            <a:xfrm>
              <a:off x="1676400" y="2819400"/>
              <a:ext cx="0" cy="1066800"/>
            </a:xfrm>
            <a:prstGeom prst="line">
              <a:avLst/>
            </a:prstGeom>
            <a:noFill/>
            <a:ln w="9525">
              <a:solidFill>
                <a:schemeClr val="tx1"/>
              </a:solidFill>
              <a:round/>
              <a:headEnd/>
              <a:tailEnd/>
            </a:ln>
            <a:effectLst/>
          </p:spPr>
          <p:txBody>
            <a:bodyPr/>
            <a:lstStyle/>
            <a:p>
              <a:endParaRPr lang="en-US"/>
            </a:p>
          </p:txBody>
        </p:sp>
        <p:sp>
          <p:nvSpPr>
            <p:cNvPr id="148509" name="Line 29"/>
            <p:cNvSpPr>
              <a:spLocks noChangeShapeType="1"/>
            </p:cNvSpPr>
            <p:nvPr/>
          </p:nvSpPr>
          <p:spPr bwMode="auto">
            <a:xfrm>
              <a:off x="2667000" y="2819400"/>
              <a:ext cx="0" cy="1066800"/>
            </a:xfrm>
            <a:prstGeom prst="line">
              <a:avLst/>
            </a:prstGeom>
            <a:noFill/>
            <a:ln w="9525">
              <a:solidFill>
                <a:schemeClr val="tx1"/>
              </a:solidFill>
              <a:round/>
              <a:headEnd/>
              <a:tailEnd/>
            </a:ln>
            <a:effectLst/>
          </p:spPr>
          <p:txBody>
            <a:bodyPr/>
            <a:lstStyle/>
            <a:p>
              <a:endParaRPr lang="en-US"/>
            </a:p>
          </p:txBody>
        </p:sp>
        <p:sp>
          <p:nvSpPr>
            <p:cNvPr id="148510" name="Line 30"/>
            <p:cNvSpPr>
              <a:spLocks noChangeShapeType="1"/>
            </p:cNvSpPr>
            <p:nvPr/>
          </p:nvSpPr>
          <p:spPr bwMode="auto">
            <a:xfrm>
              <a:off x="2819400" y="2819400"/>
              <a:ext cx="0" cy="1066800"/>
            </a:xfrm>
            <a:prstGeom prst="line">
              <a:avLst/>
            </a:prstGeom>
            <a:noFill/>
            <a:ln w="9525">
              <a:solidFill>
                <a:schemeClr val="tx1"/>
              </a:solidFill>
              <a:round/>
              <a:headEnd/>
              <a:tailEnd/>
            </a:ln>
            <a:effectLst/>
          </p:spPr>
          <p:txBody>
            <a:bodyPr/>
            <a:lstStyle/>
            <a:p>
              <a:endParaRPr lang="en-US"/>
            </a:p>
          </p:txBody>
        </p:sp>
        <p:sp>
          <p:nvSpPr>
            <p:cNvPr id="148511" name="Line 31"/>
            <p:cNvSpPr>
              <a:spLocks noChangeShapeType="1"/>
            </p:cNvSpPr>
            <p:nvPr/>
          </p:nvSpPr>
          <p:spPr bwMode="auto">
            <a:xfrm>
              <a:off x="3048000" y="2819400"/>
              <a:ext cx="0" cy="1066800"/>
            </a:xfrm>
            <a:prstGeom prst="line">
              <a:avLst/>
            </a:prstGeom>
            <a:noFill/>
            <a:ln w="9525">
              <a:solidFill>
                <a:schemeClr val="tx1"/>
              </a:solidFill>
              <a:round/>
              <a:headEnd/>
              <a:tailEnd/>
            </a:ln>
            <a:effectLst/>
          </p:spPr>
          <p:txBody>
            <a:bodyPr/>
            <a:lstStyle/>
            <a:p>
              <a:endParaRPr lang="en-US"/>
            </a:p>
          </p:txBody>
        </p:sp>
        <p:grpSp>
          <p:nvGrpSpPr>
            <p:cNvPr id="3" name="Group 32"/>
            <p:cNvGrpSpPr>
              <a:grpSpLocks/>
            </p:cNvGrpSpPr>
            <p:nvPr/>
          </p:nvGrpSpPr>
          <p:grpSpPr bwMode="auto">
            <a:xfrm>
              <a:off x="6934200" y="2819400"/>
              <a:ext cx="1905000" cy="1066800"/>
              <a:chOff x="4080" y="1776"/>
              <a:chExt cx="1200" cy="672"/>
            </a:xfrm>
          </p:grpSpPr>
          <p:sp>
            <p:nvSpPr>
              <p:cNvPr id="148513" name="Line 33"/>
              <p:cNvSpPr>
                <a:spLocks noChangeShapeType="1"/>
              </p:cNvSpPr>
              <p:nvPr/>
            </p:nvSpPr>
            <p:spPr bwMode="auto">
              <a:xfrm>
                <a:off x="4080" y="1776"/>
                <a:ext cx="1104" cy="0"/>
              </a:xfrm>
              <a:prstGeom prst="line">
                <a:avLst/>
              </a:prstGeom>
              <a:noFill/>
              <a:ln w="9525">
                <a:solidFill>
                  <a:schemeClr val="tx1"/>
                </a:solidFill>
                <a:round/>
                <a:headEnd/>
                <a:tailEnd/>
              </a:ln>
              <a:effectLst/>
            </p:spPr>
            <p:txBody>
              <a:bodyPr/>
              <a:lstStyle/>
              <a:p>
                <a:endParaRPr lang="en-US"/>
              </a:p>
            </p:txBody>
          </p:sp>
          <p:sp>
            <p:nvSpPr>
              <p:cNvPr id="148514" name="Line 34"/>
              <p:cNvSpPr>
                <a:spLocks noChangeShapeType="1"/>
              </p:cNvSpPr>
              <p:nvPr/>
            </p:nvSpPr>
            <p:spPr bwMode="auto">
              <a:xfrm>
                <a:off x="4080" y="1872"/>
                <a:ext cx="1152" cy="0"/>
              </a:xfrm>
              <a:prstGeom prst="line">
                <a:avLst/>
              </a:prstGeom>
              <a:noFill/>
              <a:ln w="9525">
                <a:solidFill>
                  <a:schemeClr val="tx1"/>
                </a:solidFill>
                <a:round/>
                <a:headEnd/>
                <a:tailEnd/>
              </a:ln>
              <a:effectLst/>
            </p:spPr>
            <p:txBody>
              <a:bodyPr/>
              <a:lstStyle/>
              <a:p>
                <a:endParaRPr lang="en-US"/>
              </a:p>
            </p:txBody>
          </p:sp>
          <p:sp>
            <p:nvSpPr>
              <p:cNvPr id="148515" name="Line 35"/>
              <p:cNvSpPr>
                <a:spLocks noChangeShapeType="1"/>
              </p:cNvSpPr>
              <p:nvPr/>
            </p:nvSpPr>
            <p:spPr bwMode="auto">
              <a:xfrm>
                <a:off x="4080" y="1968"/>
                <a:ext cx="1200" cy="0"/>
              </a:xfrm>
              <a:prstGeom prst="line">
                <a:avLst/>
              </a:prstGeom>
              <a:noFill/>
              <a:ln w="9525">
                <a:solidFill>
                  <a:schemeClr val="tx1"/>
                </a:solidFill>
                <a:round/>
                <a:headEnd/>
                <a:tailEnd/>
              </a:ln>
              <a:effectLst/>
            </p:spPr>
            <p:txBody>
              <a:bodyPr/>
              <a:lstStyle/>
              <a:p>
                <a:endParaRPr lang="en-US"/>
              </a:p>
            </p:txBody>
          </p:sp>
          <p:sp>
            <p:nvSpPr>
              <p:cNvPr id="148516" name="Line 36"/>
              <p:cNvSpPr>
                <a:spLocks noChangeShapeType="1"/>
              </p:cNvSpPr>
              <p:nvPr/>
            </p:nvSpPr>
            <p:spPr bwMode="auto">
              <a:xfrm>
                <a:off x="4080" y="2064"/>
                <a:ext cx="1152" cy="0"/>
              </a:xfrm>
              <a:prstGeom prst="line">
                <a:avLst/>
              </a:prstGeom>
              <a:noFill/>
              <a:ln w="9525">
                <a:solidFill>
                  <a:schemeClr val="tx1"/>
                </a:solidFill>
                <a:round/>
                <a:headEnd/>
                <a:tailEnd/>
              </a:ln>
              <a:effectLst/>
            </p:spPr>
            <p:txBody>
              <a:bodyPr/>
              <a:lstStyle/>
              <a:p>
                <a:endParaRPr lang="en-US"/>
              </a:p>
            </p:txBody>
          </p:sp>
          <p:sp>
            <p:nvSpPr>
              <p:cNvPr id="148517" name="Line 37"/>
              <p:cNvSpPr>
                <a:spLocks noChangeShapeType="1"/>
              </p:cNvSpPr>
              <p:nvPr/>
            </p:nvSpPr>
            <p:spPr bwMode="auto">
              <a:xfrm>
                <a:off x="4080" y="2160"/>
                <a:ext cx="1152" cy="0"/>
              </a:xfrm>
              <a:prstGeom prst="line">
                <a:avLst/>
              </a:prstGeom>
              <a:noFill/>
              <a:ln w="9525">
                <a:solidFill>
                  <a:schemeClr val="tx1"/>
                </a:solidFill>
                <a:round/>
                <a:headEnd/>
                <a:tailEnd/>
              </a:ln>
              <a:effectLst/>
            </p:spPr>
            <p:txBody>
              <a:bodyPr/>
              <a:lstStyle/>
              <a:p>
                <a:endParaRPr lang="en-US"/>
              </a:p>
            </p:txBody>
          </p:sp>
          <p:sp>
            <p:nvSpPr>
              <p:cNvPr id="148518" name="Line 38"/>
              <p:cNvSpPr>
                <a:spLocks noChangeShapeType="1"/>
              </p:cNvSpPr>
              <p:nvPr/>
            </p:nvSpPr>
            <p:spPr bwMode="auto">
              <a:xfrm>
                <a:off x="4080" y="2256"/>
                <a:ext cx="1104" cy="0"/>
              </a:xfrm>
              <a:prstGeom prst="line">
                <a:avLst/>
              </a:prstGeom>
              <a:noFill/>
              <a:ln w="9525">
                <a:solidFill>
                  <a:schemeClr val="tx1"/>
                </a:solidFill>
                <a:round/>
                <a:headEnd/>
                <a:tailEnd/>
              </a:ln>
              <a:effectLst/>
            </p:spPr>
            <p:txBody>
              <a:bodyPr/>
              <a:lstStyle/>
              <a:p>
                <a:endParaRPr lang="en-US"/>
              </a:p>
            </p:txBody>
          </p:sp>
          <p:sp>
            <p:nvSpPr>
              <p:cNvPr id="148519" name="Line 39"/>
              <p:cNvSpPr>
                <a:spLocks noChangeShapeType="1"/>
              </p:cNvSpPr>
              <p:nvPr/>
            </p:nvSpPr>
            <p:spPr bwMode="auto">
              <a:xfrm>
                <a:off x="4080" y="2352"/>
                <a:ext cx="1104" cy="0"/>
              </a:xfrm>
              <a:prstGeom prst="line">
                <a:avLst/>
              </a:prstGeom>
              <a:noFill/>
              <a:ln w="9525">
                <a:solidFill>
                  <a:schemeClr val="tx1"/>
                </a:solidFill>
                <a:round/>
                <a:headEnd/>
                <a:tailEnd/>
              </a:ln>
              <a:effectLst/>
            </p:spPr>
            <p:txBody>
              <a:bodyPr/>
              <a:lstStyle/>
              <a:p>
                <a:endParaRPr lang="en-US"/>
              </a:p>
            </p:txBody>
          </p:sp>
          <p:sp>
            <p:nvSpPr>
              <p:cNvPr id="148520" name="Line 40"/>
              <p:cNvSpPr>
                <a:spLocks noChangeShapeType="1"/>
              </p:cNvSpPr>
              <p:nvPr/>
            </p:nvSpPr>
            <p:spPr bwMode="auto">
              <a:xfrm>
                <a:off x="4080" y="2448"/>
                <a:ext cx="1104" cy="0"/>
              </a:xfrm>
              <a:prstGeom prst="line">
                <a:avLst/>
              </a:prstGeom>
              <a:noFill/>
              <a:ln w="9525">
                <a:solidFill>
                  <a:schemeClr val="tx1"/>
                </a:solidFill>
                <a:round/>
                <a:headEnd/>
                <a:tailEnd/>
              </a:ln>
              <a:effectLst/>
            </p:spPr>
            <p:txBody>
              <a:bodyPr/>
              <a:lstStyle/>
              <a:p>
                <a:endParaRPr lang="en-US"/>
              </a:p>
            </p:txBody>
          </p:sp>
          <p:sp>
            <p:nvSpPr>
              <p:cNvPr id="148521" name="Line 41"/>
              <p:cNvSpPr>
                <a:spLocks noChangeShapeType="1"/>
              </p:cNvSpPr>
              <p:nvPr/>
            </p:nvSpPr>
            <p:spPr bwMode="auto">
              <a:xfrm>
                <a:off x="4080" y="1776"/>
                <a:ext cx="0" cy="672"/>
              </a:xfrm>
              <a:prstGeom prst="line">
                <a:avLst/>
              </a:prstGeom>
              <a:noFill/>
              <a:ln w="9525">
                <a:solidFill>
                  <a:schemeClr val="tx1"/>
                </a:solidFill>
                <a:round/>
                <a:headEnd/>
                <a:tailEnd/>
              </a:ln>
              <a:effectLst/>
            </p:spPr>
            <p:txBody>
              <a:bodyPr/>
              <a:lstStyle/>
              <a:p>
                <a:endParaRPr lang="en-US"/>
              </a:p>
            </p:txBody>
          </p:sp>
          <p:sp>
            <p:nvSpPr>
              <p:cNvPr id="148522" name="Line 42"/>
              <p:cNvSpPr>
                <a:spLocks noChangeShapeType="1"/>
              </p:cNvSpPr>
              <p:nvPr/>
            </p:nvSpPr>
            <p:spPr bwMode="auto">
              <a:xfrm>
                <a:off x="4176" y="1776"/>
                <a:ext cx="0" cy="672"/>
              </a:xfrm>
              <a:prstGeom prst="line">
                <a:avLst/>
              </a:prstGeom>
              <a:noFill/>
              <a:ln w="9525">
                <a:solidFill>
                  <a:schemeClr val="tx1"/>
                </a:solidFill>
                <a:round/>
                <a:headEnd/>
                <a:tailEnd/>
              </a:ln>
              <a:effectLst/>
            </p:spPr>
            <p:txBody>
              <a:bodyPr/>
              <a:lstStyle/>
              <a:p>
                <a:endParaRPr lang="en-US"/>
              </a:p>
            </p:txBody>
          </p:sp>
          <p:sp>
            <p:nvSpPr>
              <p:cNvPr id="148523" name="Line 43"/>
              <p:cNvSpPr>
                <a:spLocks noChangeShapeType="1"/>
              </p:cNvSpPr>
              <p:nvPr/>
            </p:nvSpPr>
            <p:spPr bwMode="auto">
              <a:xfrm>
                <a:off x="4272" y="1776"/>
                <a:ext cx="0" cy="672"/>
              </a:xfrm>
              <a:prstGeom prst="line">
                <a:avLst/>
              </a:prstGeom>
              <a:noFill/>
              <a:ln w="9525">
                <a:solidFill>
                  <a:schemeClr val="tx1"/>
                </a:solidFill>
                <a:round/>
                <a:headEnd/>
                <a:tailEnd/>
              </a:ln>
              <a:effectLst/>
            </p:spPr>
            <p:txBody>
              <a:bodyPr/>
              <a:lstStyle/>
              <a:p>
                <a:endParaRPr lang="en-US"/>
              </a:p>
            </p:txBody>
          </p:sp>
        </p:grpSp>
        <p:sp>
          <p:nvSpPr>
            <p:cNvPr id="148524" name="Line 44"/>
            <p:cNvSpPr>
              <a:spLocks noChangeShapeType="1"/>
            </p:cNvSpPr>
            <p:nvPr/>
          </p:nvSpPr>
          <p:spPr bwMode="auto">
            <a:xfrm flipV="1">
              <a:off x="1676400" y="4419600"/>
              <a:ext cx="6705600" cy="0"/>
            </a:xfrm>
            <a:prstGeom prst="line">
              <a:avLst/>
            </a:prstGeom>
            <a:noFill/>
            <a:ln w="9525">
              <a:solidFill>
                <a:schemeClr val="tx1"/>
              </a:solidFill>
              <a:round/>
              <a:headEnd/>
              <a:tailEnd/>
            </a:ln>
            <a:effectLst/>
          </p:spPr>
          <p:txBody>
            <a:bodyPr/>
            <a:lstStyle/>
            <a:p>
              <a:endParaRPr lang="en-US"/>
            </a:p>
          </p:txBody>
        </p:sp>
        <p:sp>
          <p:nvSpPr>
            <p:cNvPr id="148525" name="Line 45"/>
            <p:cNvSpPr>
              <a:spLocks noChangeShapeType="1"/>
            </p:cNvSpPr>
            <p:nvPr/>
          </p:nvSpPr>
          <p:spPr bwMode="auto">
            <a:xfrm flipV="1">
              <a:off x="1676400" y="2286000"/>
              <a:ext cx="6705600" cy="0"/>
            </a:xfrm>
            <a:prstGeom prst="line">
              <a:avLst/>
            </a:prstGeom>
            <a:noFill/>
            <a:ln w="9525">
              <a:solidFill>
                <a:schemeClr val="tx1"/>
              </a:solidFill>
              <a:round/>
              <a:headEnd/>
              <a:tailEnd/>
            </a:ln>
            <a:effectLst/>
          </p:spPr>
          <p:txBody>
            <a:bodyPr/>
            <a:lstStyle/>
            <a:p>
              <a:endParaRPr lang="en-US"/>
            </a:p>
          </p:txBody>
        </p:sp>
        <p:sp>
          <p:nvSpPr>
            <p:cNvPr id="148526" name="Line 46"/>
            <p:cNvSpPr>
              <a:spLocks noChangeShapeType="1"/>
            </p:cNvSpPr>
            <p:nvPr/>
          </p:nvSpPr>
          <p:spPr bwMode="auto">
            <a:xfrm>
              <a:off x="1143000" y="1905000"/>
              <a:ext cx="533400" cy="838200"/>
            </a:xfrm>
            <a:prstGeom prst="line">
              <a:avLst/>
            </a:prstGeom>
            <a:noFill/>
            <a:ln w="9525">
              <a:solidFill>
                <a:schemeClr val="tx1"/>
              </a:solidFill>
              <a:round/>
              <a:headEnd/>
              <a:tailEnd type="triangle" w="med" len="med"/>
            </a:ln>
            <a:effectLst/>
          </p:spPr>
          <p:txBody>
            <a:bodyPr/>
            <a:lstStyle/>
            <a:p>
              <a:endParaRPr lang="en-US"/>
            </a:p>
          </p:txBody>
        </p:sp>
        <p:sp>
          <p:nvSpPr>
            <p:cNvPr id="148527" name="Line 47"/>
            <p:cNvSpPr>
              <a:spLocks noChangeShapeType="1"/>
            </p:cNvSpPr>
            <p:nvPr/>
          </p:nvSpPr>
          <p:spPr bwMode="auto">
            <a:xfrm>
              <a:off x="533400" y="2438400"/>
              <a:ext cx="381000" cy="381000"/>
            </a:xfrm>
            <a:prstGeom prst="line">
              <a:avLst/>
            </a:prstGeom>
            <a:noFill/>
            <a:ln w="9525">
              <a:solidFill>
                <a:schemeClr val="tx1"/>
              </a:solidFill>
              <a:round/>
              <a:headEnd/>
              <a:tailEnd/>
            </a:ln>
            <a:effectLst/>
          </p:spPr>
          <p:txBody>
            <a:bodyPr/>
            <a:lstStyle/>
            <a:p>
              <a:endParaRPr lang="en-US"/>
            </a:p>
          </p:txBody>
        </p:sp>
        <p:sp>
          <p:nvSpPr>
            <p:cNvPr id="148528" name="Line 48"/>
            <p:cNvSpPr>
              <a:spLocks noChangeShapeType="1"/>
            </p:cNvSpPr>
            <p:nvPr/>
          </p:nvSpPr>
          <p:spPr bwMode="auto">
            <a:xfrm>
              <a:off x="533400" y="2590800"/>
              <a:ext cx="381000" cy="381000"/>
            </a:xfrm>
            <a:prstGeom prst="line">
              <a:avLst/>
            </a:prstGeom>
            <a:noFill/>
            <a:ln w="9525">
              <a:solidFill>
                <a:schemeClr val="tx1"/>
              </a:solidFill>
              <a:round/>
              <a:headEnd/>
              <a:tailEnd/>
            </a:ln>
            <a:effectLst/>
          </p:spPr>
          <p:txBody>
            <a:bodyPr/>
            <a:lstStyle/>
            <a:p>
              <a:endParaRPr lang="en-US"/>
            </a:p>
          </p:txBody>
        </p:sp>
        <p:sp>
          <p:nvSpPr>
            <p:cNvPr id="148529" name="AutoShape 49"/>
            <p:cNvSpPr>
              <a:spLocks/>
            </p:cNvSpPr>
            <p:nvPr/>
          </p:nvSpPr>
          <p:spPr bwMode="auto">
            <a:xfrm rot="16200000">
              <a:off x="4838700" y="3619500"/>
              <a:ext cx="304800" cy="2057400"/>
            </a:xfrm>
            <a:prstGeom prst="leftBrace">
              <a:avLst>
                <a:gd name="adj1" fmla="val 56250"/>
                <a:gd name="adj2" fmla="val 50000"/>
              </a:avLst>
            </a:prstGeom>
            <a:noFill/>
            <a:ln w="9525">
              <a:solidFill>
                <a:schemeClr val="tx1"/>
              </a:solidFill>
              <a:round/>
              <a:headEnd/>
              <a:tailEnd/>
            </a:ln>
            <a:effectLst/>
          </p:spPr>
          <p:txBody>
            <a:bodyPr wrap="none" anchor="ctr"/>
            <a:lstStyle/>
            <a:p>
              <a:endParaRPr lang="en-US"/>
            </a:p>
          </p:txBody>
        </p:sp>
        <p:sp>
          <p:nvSpPr>
            <p:cNvPr id="148530" name="AutoShape 50"/>
            <p:cNvSpPr>
              <a:spLocks/>
            </p:cNvSpPr>
            <p:nvPr/>
          </p:nvSpPr>
          <p:spPr bwMode="auto">
            <a:xfrm rot="5400000">
              <a:off x="3390900" y="1714500"/>
              <a:ext cx="228600" cy="762000"/>
            </a:xfrm>
            <a:prstGeom prst="leftBrace">
              <a:avLst>
                <a:gd name="adj1" fmla="val 27778"/>
                <a:gd name="adj2" fmla="val 50000"/>
              </a:avLst>
            </a:prstGeom>
            <a:noFill/>
            <a:ln w="9525">
              <a:solidFill>
                <a:schemeClr val="tx1"/>
              </a:solidFill>
              <a:round/>
              <a:headEnd/>
              <a:tailEnd/>
            </a:ln>
            <a:effectLst/>
          </p:spPr>
          <p:txBody>
            <a:bodyPr wrap="none" anchor="ctr"/>
            <a:lstStyle/>
            <a:p>
              <a:endParaRPr lang="en-US"/>
            </a:p>
          </p:txBody>
        </p:sp>
        <p:sp>
          <p:nvSpPr>
            <p:cNvPr id="148531" name="Line 51"/>
            <p:cNvSpPr>
              <a:spLocks noChangeShapeType="1"/>
            </p:cNvSpPr>
            <p:nvPr/>
          </p:nvSpPr>
          <p:spPr bwMode="auto">
            <a:xfrm>
              <a:off x="533400" y="3657600"/>
              <a:ext cx="381000" cy="228600"/>
            </a:xfrm>
            <a:prstGeom prst="line">
              <a:avLst/>
            </a:prstGeom>
            <a:noFill/>
            <a:ln w="9525">
              <a:solidFill>
                <a:schemeClr val="tx1"/>
              </a:solidFill>
              <a:round/>
              <a:headEnd/>
              <a:tailEnd/>
            </a:ln>
            <a:effectLst/>
          </p:spPr>
          <p:txBody>
            <a:bodyPr/>
            <a:lstStyle/>
            <a:p>
              <a:endParaRPr lang="en-US"/>
            </a:p>
          </p:txBody>
        </p:sp>
        <p:sp>
          <p:nvSpPr>
            <p:cNvPr id="148532" name="Rectangle 52"/>
            <p:cNvSpPr>
              <a:spLocks noChangeArrowheads="1"/>
            </p:cNvSpPr>
            <p:nvPr/>
          </p:nvSpPr>
          <p:spPr bwMode="auto">
            <a:xfrm>
              <a:off x="228600" y="2209800"/>
              <a:ext cx="762000" cy="381000"/>
            </a:xfrm>
            <a:prstGeom prst="rect">
              <a:avLst/>
            </a:prstGeom>
            <a:solidFill>
              <a:schemeClr val="bg1"/>
            </a:solidFill>
            <a:ln w="9525">
              <a:solidFill>
                <a:schemeClr val="bg1"/>
              </a:solidFill>
              <a:miter lim="800000"/>
              <a:headEnd/>
              <a:tailEnd/>
            </a:ln>
            <a:effectLst/>
          </p:spPr>
          <p:txBody>
            <a:bodyPr wrap="none" anchor="ctr"/>
            <a:lstStyle/>
            <a:p>
              <a:pPr algn="ctr" eaLnBrk="1" hangingPunct="1"/>
              <a:r>
                <a:rPr lang="en-US" sz="1800"/>
                <a:t>Track 1</a:t>
              </a:r>
            </a:p>
          </p:txBody>
        </p:sp>
        <p:sp>
          <p:nvSpPr>
            <p:cNvPr id="148533" name="Rectangle 53"/>
            <p:cNvSpPr>
              <a:spLocks noChangeArrowheads="1"/>
            </p:cNvSpPr>
            <p:nvPr/>
          </p:nvSpPr>
          <p:spPr bwMode="auto">
            <a:xfrm>
              <a:off x="228600" y="3352800"/>
              <a:ext cx="762000" cy="381000"/>
            </a:xfrm>
            <a:prstGeom prst="rect">
              <a:avLst/>
            </a:prstGeom>
            <a:solidFill>
              <a:schemeClr val="bg1"/>
            </a:solidFill>
            <a:ln w="9525">
              <a:solidFill>
                <a:schemeClr val="bg1"/>
              </a:solidFill>
              <a:miter lim="800000"/>
              <a:headEnd/>
              <a:tailEnd/>
            </a:ln>
            <a:effectLst/>
          </p:spPr>
          <p:txBody>
            <a:bodyPr wrap="none" anchor="ctr"/>
            <a:lstStyle/>
            <a:p>
              <a:pPr algn="ctr" eaLnBrk="1" hangingPunct="1"/>
              <a:r>
                <a:rPr lang="en-US" sz="1800"/>
                <a:t>Track 9</a:t>
              </a:r>
            </a:p>
          </p:txBody>
        </p:sp>
        <p:sp>
          <p:nvSpPr>
            <p:cNvPr id="148534" name="Rectangle 54"/>
            <p:cNvSpPr>
              <a:spLocks noChangeArrowheads="1"/>
            </p:cNvSpPr>
            <p:nvPr/>
          </p:nvSpPr>
          <p:spPr bwMode="auto">
            <a:xfrm>
              <a:off x="3124200" y="1447800"/>
              <a:ext cx="1219200" cy="533400"/>
            </a:xfrm>
            <a:prstGeom prst="rect">
              <a:avLst/>
            </a:prstGeom>
            <a:solidFill>
              <a:schemeClr val="bg1"/>
            </a:solidFill>
            <a:ln w="9525">
              <a:solidFill>
                <a:schemeClr val="bg1"/>
              </a:solidFill>
              <a:miter lim="800000"/>
              <a:headEnd/>
              <a:tailEnd/>
            </a:ln>
            <a:effectLst/>
          </p:spPr>
          <p:txBody>
            <a:bodyPr wrap="none" anchor="ctr"/>
            <a:lstStyle/>
            <a:p>
              <a:pPr algn="ctr" eaLnBrk="1" hangingPunct="1"/>
              <a:r>
                <a:rPr lang="en-US" sz="1800" dirty="0" err="1"/>
                <a:t>Khe</a:t>
              </a:r>
              <a:r>
                <a:rPr lang="en-US" sz="1800" dirty="0"/>
                <a:t> </a:t>
              </a:r>
              <a:r>
                <a:rPr lang="en-US" sz="1800" dirty="0" err="1"/>
                <a:t>hở</a:t>
              </a:r>
              <a:endParaRPr lang="en-US" sz="1800" dirty="0"/>
            </a:p>
          </p:txBody>
        </p:sp>
        <p:sp>
          <p:nvSpPr>
            <p:cNvPr id="148535" name="Rectangle 55"/>
            <p:cNvSpPr>
              <a:spLocks noChangeArrowheads="1"/>
            </p:cNvSpPr>
            <p:nvPr/>
          </p:nvSpPr>
          <p:spPr bwMode="auto">
            <a:xfrm>
              <a:off x="4343400" y="4800600"/>
              <a:ext cx="1524000" cy="533400"/>
            </a:xfrm>
            <a:prstGeom prst="rect">
              <a:avLst/>
            </a:prstGeom>
            <a:solidFill>
              <a:schemeClr val="bg1"/>
            </a:solidFill>
            <a:ln w="9525">
              <a:solidFill>
                <a:schemeClr val="bg1"/>
              </a:solidFill>
              <a:miter lim="800000"/>
              <a:headEnd/>
              <a:tailEnd/>
            </a:ln>
            <a:effectLst/>
          </p:spPr>
          <p:txBody>
            <a:bodyPr wrap="none" anchor="ctr"/>
            <a:lstStyle/>
            <a:p>
              <a:pPr algn="ctr" eaLnBrk="1" hangingPunct="1"/>
              <a:r>
                <a:rPr lang="en-US" sz="2000" dirty="0"/>
                <a:t>Physical record</a:t>
              </a:r>
            </a:p>
          </p:txBody>
        </p:sp>
        <p:sp>
          <p:nvSpPr>
            <p:cNvPr id="148539" name="Rectangle 59"/>
            <p:cNvSpPr>
              <a:spLocks noChangeArrowheads="1"/>
            </p:cNvSpPr>
            <p:nvPr/>
          </p:nvSpPr>
          <p:spPr bwMode="auto">
            <a:xfrm>
              <a:off x="533400" y="1371600"/>
              <a:ext cx="914400" cy="381000"/>
            </a:xfrm>
            <a:prstGeom prst="rect">
              <a:avLst/>
            </a:prstGeom>
            <a:solidFill>
              <a:schemeClr val="bg1"/>
            </a:solidFill>
            <a:ln w="9525">
              <a:solidFill>
                <a:schemeClr val="bg1"/>
              </a:solidFill>
              <a:miter lim="800000"/>
              <a:headEnd/>
              <a:tailEnd/>
            </a:ln>
            <a:effectLst/>
          </p:spPr>
          <p:txBody>
            <a:bodyPr wrap="none" anchor="ctr"/>
            <a:lstStyle/>
            <a:p>
              <a:pPr algn="ctr" eaLnBrk="1" hangingPunct="1"/>
              <a:r>
                <a:rPr lang="en-US" sz="1800" dirty="0"/>
                <a:t>Frame 1</a:t>
              </a:r>
            </a:p>
          </p:txBody>
        </p:sp>
        <p:sp>
          <p:nvSpPr>
            <p:cNvPr id="148540" name="Rectangle 60"/>
            <p:cNvSpPr>
              <a:spLocks noChangeArrowheads="1"/>
            </p:cNvSpPr>
            <p:nvPr/>
          </p:nvSpPr>
          <p:spPr bwMode="auto">
            <a:xfrm>
              <a:off x="1600200" y="1371600"/>
              <a:ext cx="914400" cy="381000"/>
            </a:xfrm>
            <a:prstGeom prst="rect">
              <a:avLst/>
            </a:prstGeom>
            <a:solidFill>
              <a:schemeClr val="bg1"/>
            </a:solidFill>
            <a:ln w="9525">
              <a:solidFill>
                <a:schemeClr val="bg1"/>
              </a:solidFill>
              <a:miter lim="800000"/>
              <a:headEnd/>
              <a:tailEnd/>
            </a:ln>
            <a:effectLst/>
          </p:spPr>
          <p:txBody>
            <a:bodyPr wrap="none" anchor="ctr"/>
            <a:lstStyle/>
            <a:p>
              <a:pPr algn="ctr" eaLnBrk="1" hangingPunct="1"/>
              <a:r>
                <a:rPr lang="en-US" sz="1800" dirty="0"/>
                <a:t>Frame 2</a:t>
              </a:r>
            </a:p>
          </p:txBody>
        </p:sp>
        <p:sp>
          <p:nvSpPr>
            <p:cNvPr id="148541" name="Line 61"/>
            <p:cNvSpPr>
              <a:spLocks noChangeShapeType="1"/>
            </p:cNvSpPr>
            <p:nvPr/>
          </p:nvSpPr>
          <p:spPr bwMode="auto">
            <a:xfrm flipH="1">
              <a:off x="1905000" y="1828800"/>
              <a:ext cx="228600" cy="914400"/>
            </a:xfrm>
            <a:prstGeom prst="line">
              <a:avLst/>
            </a:prstGeom>
            <a:noFill/>
            <a:ln w="9525">
              <a:solidFill>
                <a:schemeClr val="tx1"/>
              </a:solidFill>
              <a:round/>
              <a:headEnd/>
              <a:tailEnd type="triangle" w="med" len="med"/>
            </a:ln>
            <a:effectLst/>
          </p:spPr>
          <p:txBody>
            <a:bodyPr/>
            <a:lstStyle/>
            <a:p>
              <a:endParaRPr lang="en-US"/>
            </a:p>
          </p:txBody>
        </p:sp>
      </p:grpSp>
      <p:sp>
        <p:nvSpPr>
          <p:cNvPr id="64" name="Rectangle 62"/>
          <p:cNvSpPr>
            <a:spLocks noChangeArrowheads="1"/>
          </p:cNvSpPr>
          <p:nvPr/>
        </p:nvSpPr>
        <p:spPr bwMode="auto">
          <a:xfrm>
            <a:off x="1066800" y="6248400"/>
            <a:ext cx="7620000" cy="609600"/>
          </a:xfrm>
          <a:prstGeom prst="rect">
            <a:avLst/>
          </a:prstGeom>
          <a:solidFill>
            <a:schemeClr val="bg1"/>
          </a:solidFill>
          <a:ln w="9525">
            <a:solidFill>
              <a:schemeClr val="bg1"/>
            </a:solidFill>
            <a:miter lim="800000"/>
            <a:headEnd/>
            <a:tailEnd/>
          </a:ln>
          <a:effectLst/>
        </p:spPr>
        <p:txBody>
          <a:bodyPr wrap="none" anchor="ctr"/>
          <a:lstStyle/>
          <a:p>
            <a:pPr algn="ctr" eaLnBrk="1" hangingPunct="1"/>
            <a:r>
              <a:rPr lang="en-US" sz="2000" b="1" u="sng" dirty="0" err="1">
                <a:latin typeface="VNI-Aptima" pitchFamily="2" charset="0"/>
              </a:rPr>
              <a:t>Thoâng</a:t>
            </a:r>
            <a:r>
              <a:rPr lang="en-US" sz="2000" b="1" u="sng" dirty="0">
                <a:latin typeface="VNI-Aptima" pitchFamily="2" charset="0"/>
              </a:rPr>
              <a:t> tin </a:t>
            </a:r>
            <a:r>
              <a:rPr lang="en-US" sz="2000" b="1" u="sng" dirty="0" err="1">
                <a:latin typeface="VNI-Aptima" pitchFamily="2" charset="0"/>
              </a:rPr>
              <a:t>treân</a:t>
            </a:r>
            <a:r>
              <a:rPr lang="en-US" sz="2000" b="1" u="sng" dirty="0">
                <a:latin typeface="VNI-Aptima" pitchFamily="2" charset="0"/>
              </a:rPr>
              <a:t> </a:t>
            </a:r>
            <a:r>
              <a:rPr lang="en-US" sz="2000" b="1" u="sng" dirty="0" err="1">
                <a:latin typeface="VNI-Aptima" pitchFamily="2" charset="0"/>
              </a:rPr>
              <a:t>baêng</a:t>
            </a:r>
            <a:r>
              <a:rPr lang="en-US" sz="2000" b="1" u="sng" dirty="0">
                <a:latin typeface="VNI-Aptima" pitchFamily="2" charset="0"/>
              </a:rPr>
              <a:t> </a:t>
            </a:r>
            <a:r>
              <a:rPr lang="en-US" sz="2000" b="1" u="sng" dirty="0" err="1">
                <a:latin typeface="VNI-Aptima" pitchFamily="2" charset="0"/>
              </a:rPr>
              <a:t>töø</a:t>
            </a:r>
            <a:r>
              <a:rPr lang="en-US" sz="2000" b="1" u="sng" dirty="0">
                <a:latin typeface="VNI-Aptima" pitchFamily="2" charset="0"/>
              </a:rPr>
              <a:t> </a:t>
            </a:r>
            <a:r>
              <a:rPr lang="en-US" sz="2000" b="1" u="sng" dirty="0" err="1">
                <a:latin typeface="VNI-Aptima" pitchFamily="2" charset="0"/>
              </a:rPr>
              <a:t>ñöôïc</a:t>
            </a:r>
            <a:r>
              <a:rPr lang="en-US" sz="2000" b="1" u="sng" dirty="0">
                <a:latin typeface="VNI-Aptima" pitchFamily="2" charset="0"/>
              </a:rPr>
              <a:t> </a:t>
            </a:r>
            <a:r>
              <a:rPr lang="en-US" sz="2000" b="1" u="sng" dirty="0" err="1">
                <a:latin typeface="VNI-Aptima" pitchFamily="2" charset="0"/>
              </a:rPr>
              <a:t>ghi</a:t>
            </a:r>
            <a:r>
              <a:rPr lang="en-US" sz="2000" b="1" u="sng" dirty="0">
                <a:latin typeface="VNI-Aptima" pitchFamily="2" charset="0"/>
              </a:rPr>
              <a:t> </a:t>
            </a:r>
            <a:r>
              <a:rPr lang="en-US" sz="2000" b="1" u="sng" dirty="0" err="1">
                <a:latin typeface="VNI-Aptima" pitchFamily="2" charset="0"/>
              </a:rPr>
              <a:t>thaønh</a:t>
            </a:r>
            <a:r>
              <a:rPr lang="en-US" sz="2000" b="1" u="sng" dirty="0">
                <a:latin typeface="VNI-Aptima" pitchFamily="2" charset="0"/>
              </a:rPr>
              <a:t> 1 </a:t>
            </a:r>
            <a:r>
              <a:rPr lang="en-US" sz="2000" b="1" u="sng" dirty="0" err="1">
                <a:latin typeface="VNI-Aptima" pitchFamily="2" charset="0"/>
              </a:rPr>
              <a:t>chuoãi</a:t>
            </a:r>
            <a:r>
              <a:rPr lang="en-US" sz="2000" b="1" u="sng" dirty="0">
                <a:latin typeface="VNI-Aptima" pitchFamily="2" charset="0"/>
              </a:rPr>
              <a:t> </a:t>
            </a:r>
            <a:r>
              <a:rPr lang="en-US" sz="2000" b="1" u="sng" dirty="0" err="1">
                <a:latin typeface="VNI-Aptima" pitchFamily="2" charset="0"/>
              </a:rPr>
              <a:t>caùc</a:t>
            </a:r>
            <a:r>
              <a:rPr lang="en-US" sz="2000" b="1" u="sng" dirty="0">
                <a:latin typeface="VNI-Aptima" pitchFamily="2" charset="0"/>
              </a:rPr>
              <a:t> ma </a:t>
            </a:r>
            <a:r>
              <a:rPr lang="en-US" sz="2000" b="1" u="sng" dirty="0" err="1">
                <a:latin typeface="VNI-Aptima" pitchFamily="2" charset="0"/>
              </a:rPr>
              <a:t>traän</a:t>
            </a:r>
            <a:r>
              <a:rPr lang="en-US" sz="2000" b="1" u="sng" dirty="0">
                <a:latin typeface="VNI-Aptima" pitchFamily="2" charset="0"/>
              </a:rPr>
              <a:t> bit </a:t>
            </a:r>
            <a:r>
              <a:rPr lang="en-US" sz="2000" b="1" u="sng" dirty="0" err="1">
                <a:latin typeface="VNI-Aptima" pitchFamily="2" charset="0"/>
              </a:rPr>
              <a:t>chöõ</a:t>
            </a:r>
            <a:r>
              <a:rPr lang="en-US" sz="2000" b="1" u="sng" dirty="0">
                <a:latin typeface="VNI-Aptima" pitchFamily="2" charset="0"/>
              </a:rPr>
              <a:t> </a:t>
            </a:r>
            <a:r>
              <a:rPr lang="en-US" sz="2000" b="1" u="sng" dirty="0" err="1">
                <a:latin typeface="VNI-Aptima" pitchFamily="2" charset="0"/>
              </a:rPr>
              <a:t>nhaät</a:t>
            </a:r>
            <a:r>
              <a:rPr lang="en-US" sz="2000" b="1" u="sng" dirty="0">
                <a:latin typeface="VNI-Aptima" pitchFamily="2" charset="0"/>
              </a:rPr>
              <a:t>.</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vi-VN" dirty="0"/>
              <a:t>Băng từ là thiết bị truy xuất tuần tự.</a:t>
            </a:r>
          </a:p>
          <a:p>
            <a:r>
              <a:rPr lang="vi-VN" dirty="0"/>
              <a:t>Ban đầu băng được đặt ở vị trí khởi động, để đọc record vật lí N, trước hết phải đọc qua N-1 record ban đầu rồi mới đến record cần truy xuất .</a:t>
            </a:r>
          </a:p>
          <a:p>
            <a:r>
              <a:rPr lang="vi-VN" dirty="0"/>
              <a:t>Muốn đọc record ở cuối băng, chương trình phải đọc gần như toàn bộ băng từ.</a:t>
            </a:r>
          </a:p>
          <a:p>
            <a:endParaRPr lang="en-US" dirty="0"/>
          </a:p>
        </p:txBody>
      </p:sp>
      <p:sp>
        <p:nvSpPr>
          <p:cNvPr id="4" name="Rectangle 2"/>
          <p:cNvSpPr txBox="1">
            <a:spLocks noChangeArrowheads="1"/>
          </p:cNvSpPr>
          <p:nvPr/>
        </p:nvSpPr>
        <p:spPr>
          <a:xfrm>
            <a:off x="685800" y="228600"/>
            <a:ext cx="8153400" cy="990600"/>
          </a:xfrm>
          <a:prstGeom prst="rect">
            <a:avLst/>
          </a:prstGeom>
          <a:noFill/>
          <a:ln/>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2"/>
                </a:solidFill>
                <a:effectLst/>
                <a:uLnTx/>
                <a:uFillTx/>
                <a:latin typeface="+mj-lt"/>
                <a:ea typeface="+mj-ea"/>
                <a:cs typeface="+mj-cs"/>
              </a:rPr>
              <a:t>MAGNETIC TAPE</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Flash disk</a:t>
            </a:r>
          </a:p>
        </p:txBody>
      </p:sp>
      <p:sp>
        <p:nvSpPr>
          <p:cNvPr id="3" name="Content Placeholder 2"/>
          <p:cNvSpPr>
            <a:spLocks noGrp="1"/>
          </p:cNvSpPr>
          <p:nvPr>
            <p:ph sz="quarter" idx="1"/>
          </p:nvPr>
        </p:nvSpPr>
        <p:spPr/>
        <p:txBody>
          <a:bodyPr/>
          <a:lstStyle/>
          <a:p>
            <a:r>
              <a:rPr lang="vi-VN" dirty="0"/>
              <a:t>Bộ nhớ bán dẫn cực nhanh (flash memory)</a:t>
            </a:r>
          </a:p>
          <a:p>
            <a:r>
              <a:rPr lang="vi-VN" dirty="0"/>
              <a:t>Thường kết nối qua cổng USB</a:t>
            </a:r>
          </a:p>
          <a:p>
            <a:r>
              <a:rPr lang="vi-VN" dirty="0"/>
              <a:t>Không phải dạng đĩa</a:t>
            </a:r>
          </a:p>
          <a:p>
            <a:r>
              <a:rPr lang="vi-VN" dirty="0"/>
              <a:t>Dung lượng tăng nhanh (64 MB – 2 GB)</a:t>
            </a:r>
          </a:p>
          <a:p>
            <a:r>
              <a:rPr lang="vi-VN" dirty="0"/>
              <a:t>Thuận tiện</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F016TGp">
  <a:themeElements>
    <a:clrScheme name="F016TGp 3">
      <a:dk1>
        <a:srgbClr val="333333"/>
      </a:dk1>
      <a:lt1>
        <a:srgbClr val="FFFFFF"/>
      </a:lt1>
      <a:dk2>
        <a:srgbClr val="FFFFFF"/>
      </a:dk2>
      <a:lt2>
        <a:srgbClr val="B2B2B2"/>
      </a:lt2>
      <a:accent1>
        <a:srgbClr val="1C40B2"/>
      </a:accent1>
      <a:accent2>
        <a:srgbClr val="E14A21"/>
      </a:accent2>
      <a:accent3>
        <a:srgbClr val="FFFFFF"/>
      </a:accent3>
      <a:accent4>
        <a:srgbClr val="2A2A2A"/>
      </a:accent4>
      <a:accent5>
        <a:srgbClr val="ABAFD5"/>
      </a:accent5>
      <a:accent6>
        <a:srgbClr val="CC421D"/>
      </a:accent6>
      <a:hlink>
        <a:srgbClr val="3392E9"/>
      </a:hlink>
      <a:folHlink>
        <a:srgbClr val="6544CE"/>
      </a:folHlink>
    </a:clrScheme>
    <a:fontScheme name="F016TGp">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016TGp 1">
        <a:dk1>
          <a:srgbClr val="4D4D4D"/>
        </a:dk1>
        <a:lt1>
          <a:srgbClr val="FFFFFF"/>
        </a:lt1>
        <a:dk2>
          <a:srgbClr val="FFFFFF"/>
        </a:dk2>
        <a:lt2>
          <a:srgbClr val="B2B2B2"/>
        </a:lt2>
        <a:accent1>
          <a:srgbClr val="058089"/>
        </a:accent1>
        <a:accent2>
          <a:srgbClr val="99CC00"/>
        </a:accent2>
        <a:accent3>
          <a:srgbClr val="FFFFFF"/>
        </a:accent3>
        <a:accent4>
          <a:srgbClr val="404040"/>
        </a:accent4>
        <a:accent5>
          <a:srgbClr val="AAC0C4"/>
        </a:accent5>
        <a:accent6>
          <a:srgbClr val="8AB900"/>
        </a:accent6>
        <a:hlink>
          <a:srgbClr val="3194CB"/>
        </a:hlink>
        <a:folHlink>
          <a:srgbClr val="B55813"/>
        </a:folHlink>
      </a:clrScheme>
      <a:clrMap bg1="lt1" tx1="dk1" bg2="lt2" tx2="dk2" accent1="accent1" accent2="accent2" accent3="accent3" accent4="accent4" accent5="accent5" accent6="accent6" hlink="hlink" folHlink="folHlink"/>
    </a:extraClrScheme>
    <a:extraClrScheme>
      <a:clrScheme name="F016TGp 2">
        <a:dk1>
          <a:srgbClr val="333333"/>
        </a:dk1>
        <a:lt1>
          <a:srgbClr val="FFFFFF"/>
        </a:lt1>
        <a:dk2>
          <a:srgbClr val="FFFFFF"/>
        </a:dk2>
        <a:lt2>
          <a:srgbClr val="B2B2B2"/>
        </a:lt2>
        <a:accent1>
          <a:srgbClr val="2C8EC4"/>
        </a:accent1>
        <a:accent2>
          <a:srgbClr val="CFBE6B"/>
        </a:accent2>
        <a:accent3>
          <a:srgbClr val="FFFFFF"/>
        </a:accent3>
        <a:accent4>
          <a:srgbClr val="2A2A2A"/>
        </a:accent4>
        <a:accent5>
          <a:srgbClr val="ACC6DE"/>
        </a:accent5>
        <a:accent6>
          <a:srgbClr val="BBAC60"/>
        </a:accent6>
        <a:hlink>
          <a:srgbClr val="D98445"/>
        </a:hlink>
        <a:folHlink>
          <a:srgbClr val="8A712A"/>
        </a:folHlink>
      </a:clrScheme>
      <a:clrMap bg1="lt1" tx1="dk1" bg2="lt2" tx2="dk2" accent1="accent1" accent2="accent2" accent3="accent3" accent4="accent4" accent5="accent5" accent6="accent6" hlink="hlink" folHlink="folHlink"/>
    </a:extraClrScheme>
    <a:extraClrScheme>
      <a:clrScheme name="F016TGp 3">
        <a:dk1>
          <a:srgbClr val="333333"/>
        </a:dk1>
        <a:lt1>
          <a:srgbClr val="FFFFFF"/>
        </a:lt1>
        <a:dk2>
          <a:srgbClr val="FFFFFF"/>
        </a:dk2>
        <a:lt2>
          <a:srgbClr val="B2B2B2"/>
        </a:lt2>
        <a:accent1>
          <a:srgbClr val="1C40B2"/>
        </a:accent1>
        <a:accent2>
          <a:srgbClr val="E14A21"/>
        </a:accent2>
        <a:accent3>
          <a:srgbClr val="FFFFFF"/>
        </a:accent3>
        <a:accent4>
          <a:srgbClr val="2A2A2A"/>
        </a:accent4>
        <a:accent5>
          <a:srgbClr val="ABAFD5"/>
        </a:accent5>
        <a:accent6>
          <a:srgbClr val="CC421D"/>
        </a:accent6>
        <a:hlink>
          <a:srgbClr val="3392E9"/>
        </a:hlink>
        <a:folHlink>
          <a:srgbClr val="6544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22644</TotalTime>
  <Words>6536</Words>
  <Application>Microsoft Office PowerPoint</Application>
  <PresentationFormat>On-screen Show (4:3)</PresentationFormat>
  <Paragraphs>808</Paragraphs>
  <Slides>143</Slides>
  <Notes>12</Notes>
  <HiddenSlides>3</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143</vt:i4>
      </vt:variant>
    </vt:vector>
  </HeadingPairs>
  <TitlesOfParts>
    <vt:vector size="157" baseType="lpstr">
      <vt:lpstr>Arial</vt:lpstr>
      <vt:lpstr>Arial Black</vt:lpstr>
      <vt:lpstr>Calibri</vt:lpstr>
      <vt:lpstr>Monotype Sorts</vt:lpstr>
      <vt:lpstr>Tahoma</vt:lpstr>
      <vt:lpstr>Times New Roman</vt:lpstr>
      <vt:lpstr>Tw Cen MT</vt:lpstr>
      <vt:lpstr>Verdana</vt:lpstr>
      <vt:lpstr>VNI-Aptima</vt:lpstr>
      <vt:lpstr>VNI-Times</vt:lpstr>
      <vt:lpstr>Wingdings</vt:lpstr>
      <vt:lpstr>Wingdings 2</vt:lpstr>
      <vt:lpstr>Median</vt:lpstr>
      <vt:lpstr>F016TGp</vt:lpstr>
      <vt:lpstr>BỘ NHỚ MÁY TÍNH</vt:lpstr>
      <vt:lpstr>Các đặc trưng của hệ thống nhớ</vt:lpstr>
      <vt:lpstr>Các đặc trưng của hệ thống nhớ</vt:lpstr>
      <vt:lpstr>Phương thức truy cập tuần tự</vt:lpstr>
      <vt:lpstr>Phương thức truy cập trực tiếp</vt:lpstr>
      <vt:lpstr>Phương thức truy cập ngẫu nhiên</vt:lpstr>
      <vt:lpstr>Associative (liên kết)</vt:lpstr>
      <vt:lpstr>Các đặc trưng của hệ thống nhớ</vt:lpstr>
      <vt:lpstr>Các đặc trưng của hệ thống nhớ</vt:lpstr>
      <vt:lpstr>Phân cấp hệ thống nhớ</vt:lpstr>
      <vt:lpstr>Phân cấp hệ thống nhớ</vt:lpstr>
      <vt:lpstr>Phân cấp hệ thống nhớ</vt:lpstr>
      <vt:lpstr>Phân tích hiệu suất bộ nhớ cache</vt:lpstr>
      <vt:lpstr>Bộ nhớ bán dẫn</vt:lpstr>
      <vt:lpstr>Tổ chức ô nhớ</vt:lpstr>
      <vt:lpstr>ROM (Read Only Memory)</vt:lpstr>
      <vt:lpstr>Các kiểu ROM</vt:lpstr>
      <vt:lpstr>Các kiểu ROM</vt:lpstr>
      <vt:lpstr>RAM (Random Access Memory)</vt:lpstr>
      <vt:lpstr>SRAM (Static RAM) – RAM tĩnh</vt:lpstr>
      <vt:lpstr>SRAM cell</vt:lpstr>
      <vt:lpstr>DRAM (Dynamic RAM) – RAM động</vt:lpstr>
      <vt:lpstr>DRAM cell</vt:lpstr>
      <vt:lpstr>Các DRAM tiên tiến</vt:lpstr>
      <vt:lpstr>Tổ chức của chip nhớ</vt:lpstr>
      <vt:lpstr>Các tín hiệu của chip nhớ</vt:lpstr>
      <vt:lpstr>Tổ chức của DRAM</vt:lpstr>
      <vt:lpstr>Chip nhớ</vt:lpstr>
      <vt:lpstr>Thiết kế module nhớ bán dẫn</vt:lpstr>
      <vt:lpstr>Tăng độ dài từ nhớ</vt:lpstr>
      <vt:lpstr>Ví dụ tăng độ dài từ nhớ</vt:lpstr>
      <vt:lpstr>Bài toán tăng độ dài từ nhớ tổng quát</vt:lpstr>
      <vt:lpstr>Tăng số lượng từ nhớ</vt:lpstr>
      <vt:lpstr>Ví dụ tăng số lượng từ nhớ</vt:lpstr>
      <vt:lpstr>Bộ giải mã 2-&gt;4</vt:lpstr>
      <vt:lpstr>Bài tập</vt:lpstr>
      <vt:lpstr>Bộ nhớ chính</vt:lpstr>
      <vt:lpstr>Tổ chức bộ nhớ đan xen</vt:lpstr>
      <vt:lpstr>m=8 bit -&gt; một băng nhớ tuyến tính</vt:lpstr>
      <vt:lpstr>m=16 bit -&gt; hai băng nhớ đan xen</vt:lpstr>
      <vt:lpstr>m=32 bit -&gt; bốn băng nhớ đan xen</vt:lpstr>
      <vt:lpstr>m=64 bit -&gt; tám băng nhớ đan xen</vt:lpstr>
      <vt:lpstr>Bộ nhớ đệm nhanh (Cache memory)</vt:lpstr>
      <vt:lpstr>Ví dụ về thao tác của cache</vt:lpstr>
      <vt:lpstr>Vì sao Caching nâng cao tốc độ xử lý</vt:lpstr>
      <vt:lpstr>Hoạt động đọc cache</vt:lpstr>
      <vt:lpstr>Cấu trúc chung của cache/bộ nhớ chính</vt:lpstr>
      <vt:lpstr>Cấu trúc chung của cache/bộ nhớ chính</vt:lpstr>
      <vt:lpstr>Các phương pháp ánh xạ địa chỉ</vt:lpstr>
      <vt:lpstr>Ánh xạ trực tiếp</vt:lpstr>
      <vt:lpstr>Ánh xạ trực tiếp</vt:lpstr>
      <vt:lpstr>Ánh xạ liên kết toàn phần</vt:lpstr>
      <vt:lpstr>Ánh xạ liên kết toàn phần</vt:lpstr>
      <vt:lpstr>Ánh xạ liên kết tập hợp</vt:lpstr>
      <vt:lpstr>Ánh xạ liên kết tập hợp</vt:lpstr>
      <vt:lpstr>Ví dụ</vt:lpstr>
      <vt:lpstr>Ví dụ</vt:lpstr>
      <vt:lpstr>Các giải thuật thay thế block trong cache</vt:lpstr>
      <vt:lpstr>Các giải thuật thay thế block trong cache</vt:lpstr>
      <vt:lpstr>Phương pháp ghi dữ liệu khi cache hit</vt:lpstr>
      <vt:lpstr>Cache trên các bộ xử lý Intel</vt:lpstr>
      <vt:lpstr>Sơ đồ Pentium 4</vt:lpstr>
      <vt:lpstr>Bộ nhớ ngoài</vt:lpstr>
      <vt:lpstr>Đĩa từ</vt:lpstr>
      <vt:lpstr>Kỹ thuật Đọc và Ghi</vt:lpstr>
      <vt:lpstr>Ghi cảm ứng/Đọc điện từ </vt:lpstr>
      <vt:lpstr>Tổ chức và định dạng dữ liệu</vt:lpstr>
      <vt:lpstr>Tổ chức và định dạng dữ liệu</vt:lpstr>
      <vt:lpstr> Đĩa từ (Platter)</vt:lpstr>
      <vt:lpstr>Các đặc tính đĩa từ</vt:lpstr>
      <vt:lpstr>Nhiều đĩa (Multiple Platters)</vt:lpstr>
      <vt:lpstr>Cylinders</vt:lpstr>
      <vt:lpstr>Điã mềm</vt:lpstr>
      <vt:lpstr>Đĩa cứng</vt:lpstr>
      <vt:lpstr>RAID</vt:lpstr>
      <vt:lpstr>RAID 0</vt:lpstr>
      <vt:lpstr>RAID 1</vt:lpstr>
      <vt:lpstr>RAID 2</vt:lpstr>
      <vt:lpstr>RAID 3</vt:lpstr>
      <vt:lpstr>RAID 4</vt:lpstr>
      <vt:lpstr>RAID 5</vt:lpstr>
      <vt:lpstr>RAID 6</vt:lpstr>
      <vt:lpstr>Network Attached Storage (NAS) vs Storage Area Network (SAN)</vt:lpstr>
      <vt:lpstr>NAS vs SAN (tt)</vt:lpstr>
      <vt:lpstr>Đĩa quang - CD</vt:lpstr>
      <vt:lpstr>PowerPoint Presentation</vt:lpstr>
      <vt:lpstr>PowerPoint Presentation</vt:lpstr>
      <vt:lpstr>Đĩa quang - CD</vt:lpstr>
      <vt:lpstr>Đĩa quang - CD</vt:lpstr>
      <vt:lpstr>Đĩa quang - CD</vt:lpstr>
      <vt:lpstr>Đĩa quang - CD Player</vt:lpstr>
      <vt:lpstr>Đĩa quang - CD Player</vt:lpstr>
      <vt:lpstr>Đĩa quang - CD Player</vt:lpstr>
      <vt:lpstr>Đĩa quang - CD</vt:lpstr>
      <vt:lpstr>Đĩa quang - CD</vt:lpstr>
      <vt:lpstr>Đĩa quang - CD</vt:lpstr>
      <vt:lpstr>Đĩa quang - CD</vt:lpstr>
      <vt:lpstr>Đĩa quang - CD</vt:lpstr>
      <vt:lpstr>DVD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MAGNETIC TAPE</vt:lpstr>
      <vt:lpstr>MAGNETIC TAPE</vt:lpstr>
      <vt:lpstr>MAGNETIC TAPE</vt:lpstr>
      <vt:lpstr>MAGNETIC TAPE</vt:lpstr>
      <vt:lpstr>PowerPoint Presentation</vt:lpstr>
      <vt:lpstr>Flash disk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BỘ NHỚ MÁY TÍNH</dc:title>
  <dc:creator>HDT</dc:creator>
  <cp:lastModifiedBy>Tran Thien Thanh</cp:lastModifiedBy>
  <cp:revision>246</cp:revision>
  <dcterms:created xsi:type="dcterms:W3CDTF">2009-09-21T15:33:46Z</dcterms:created>
  <dcterms:modified xsi:type="dcterms:W3CDTF">2021-10-18T07:33:37Z</dcterms:modified>
</cp:coreProperties>
</file>