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  <p:sldMasterId id="2147483725" r:id="rId2"/>
  </p:sldMasterIdLst>
  <p:notesMasterIdLst>
    <p:notesMasterId r:id="rId103"/>
  </p:notesMasterIdLst>
  <p:sldIdLst>
    <p:sldId id="385" r:id="rId3"/>
    <p:sldId id="355" r:id="rId4"/>
    <p:sldId id="259" r:id="rId5"/>
    <p:sldId id="264" r:id="rId6"/>
    <p:sldId id="265" r:id="rId7"/>
    <p:sldId id="266" r:id="rId8"/>
    <p:sldId id="267" r:id="rId9"/>
    <p:sldId id="257" r:id="rId10"/>
    <p:sldId id="258" r:id="rId11"/>
    <p:sldId id="260" r:id="rId12"/>
    <p:sldId id="268" r:id="rId13"/>
    <p:sldId id="332" r:id="rId14"/>
    <p:sldId id="333" r:id="rId15"/>
    <p:sldId id="335" r:id="rId16"/>
    <p:sldId id="336" r:id="rId17"/>
    <p:sldId id="337" r:id="rId18"/>
    <p:sldId id="339" r:id="rId19"/>
    <p:sldId id="340" r:id="rId20"/>
    <p:sldId id="271" r:id="rId21"/>
    <p:sldId id="272" r:id="rId22"/>
    <p:sldId id="273" r:id="rId23"/>
    <p:sldId id="274" r:id="rId24"/>
    <p:sldId id="342" r:id="rId25"/>
    <p:sldId id="276" r:id="rId26"/>
    <p:sldId id="277" r:id="rId27"/>
    <p:sldId id="278" r:id="rId28"/>
    <p:sldId id="279" r:id="rId29"/>
    <p:sldId id="280" r:id="rId30"/>
    <p:sldId id="344" r:id="rId31"/>
    <p:sldId id="345" r:id="rId32"/>
    <p:sldId id="346" r:id="rId33"/>
    <p:sldId id="281" r:id="rId34"/>
    <p:sldId id="282" r:id="rId35"/>
    <p:sldId id="283" r:id="rId36"/>
    <p:sldId id="285" r:id="rId37"/>
    <p:sldId id="286" r:id="rId38"/>
    <p:sldId id="287" r:id="rId39"/>
    <p:sldId id="288" r:id="rId40"/>
    <p:sldId id="289" r:id="rId41"/>
    <p:sldId id="290" r:id="rId42"/>
    <p:sldId id="292" r:id="rId43"/>
    <p:sldId id="294" r:id="rId44"/>
    <p:sldId id="295" r:id="rId45"/>
    <p:sldId id="298" r:id="rId46"/>
    <p:sldId id="299" r:id="rId47"/>
    <p:sldId id="371" r:id="rId48"/>
    <p:sldId id="372" r:id="rId49"/>
    <p:sldId id="373" r:id="rId50"/>
    <p:sldId id="300" r:id="rId51"/>
    <p:sldId id="374" r:id="rId52"/>
    <p:sldId id="376" r:id="rId53"/>
    <p:sldId id="301" r:id="rId54"/>
    <p:sldId id="302" r:id="rId55"/>
    <p:sldId id="380" r:id="rId56"/>
    <p:sldId id="303" r:id="rId57"/>
    <p:sldId id="304" r:id="rId58"/>
    <p:sldId id="305" r:id="rId59"/>
    <p:sldId id="306" r:id="rId60"/>
    <p:sldId id="357" r:id="rId61"/>
    <p:sldId id="358" r:id="rId62"/>
    <p:sldId id="360" r:id="rId63"/>
    <p:sldId id="387" r:id="rId64"/>
    <p:sldId id="361" r:id="rId65"/>
    <p:sldId id="388" r:id="rId66"/>
    <p:sldId id="379" r:id="rId67"/>
    <p:sldId id="386" r:id="rId68"/>
    <p:sldId id="307" r:id="rId69"/>
    <p:sldId id="362" r:id="rId70"/>
    <p:sldId id="363" r:id="rId71"/>
    <p:sldId id="364" r:id="rId72"/>
    <p:sldId id="365" r:id="rId73"/>
    <p:sldId id="369" r:id="rId74"/>
    <p:sldId id="308" r:id="rId75"/>
    <p:sldId id="309" r:id="rId76"/>
    <p:sldId id="370" r:id="rId77"/>
    <p:sldId id="366" r:id="rId78"/>
    <p:sldId id="367" r:id="rId79"/>
    <p:sldId id="368" r:id="rId80"/>
    <p:sldId id="310" r:id="rId81"/>
    <p:sldId id="311" r:id="rId82"/>
    <p:sldId id="312" r:id="rId83"/>
    <p:sldId id="313" r:id="rId84"/>
    <p:sldId id="315" r:id="rId85"/>
    <p:sldId id="317" r:id="rId86"/>
    <p:sldId id="318" r:id="rId87"/>
    <p:sldId id="319" r:id="rId88"/>
    <p:sldId id="320" r:id="rId89"/>
    <p:sldId id="321" r:id="rId90"/>
    <p:sldId id="323" r:id="rId91"/>
    <p:sldId id="326" r:id="rId92"/>
    <p:sldId id="327" r:id="rId93"/>
    <p:sldId id="330" r:id="rId94"/>
    <p:sldId id="384" r:id="rId95"/>
    <p:sldId id="351" r:id="rId96"/>
    <p:sldId id="352" r:id="rId97"/>
    <p:sldId id="353" r:id="rId98"/>
    <p:sldId id="354" r:id="rId99"/>
    <p:sldId id="381" r:id="rId100"/>
    <p:sldId id="382" r:id="rId101"/>
    <p:sldId id="383" r:id="rId10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98"/>
  </p:normalViewPr>
  <p:slideViewPr>
    <p:cSldViewPr>
      <p:cViewPr varScale="1">
        <p:scale>
          <a:sx n="108" d="100"/>
          <a:sy n="108" d="100"/>
        </p:scale>
        <p:origin x="117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tableStyles" Target="tableStyles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95BD44-7BCF-4AFB-BB9B-9DC6298D7792}" type="datetimeFigureOut">
              <a:rPr lang="en-US" smtClean="0"/>
              <a:pPr/>
              <a:t>5/30/2025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0DE42-0870-4131-8FC5-587C4679650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BE9220-9FAA-48BD-9BC3-1293547FAF94}" type="slidenum">
              <a:rPr lang="en-US" smtClean="0">
                <a:latin typeface="Arial" charset="0"/>
              </a:rPr>
              <a:pPr/>
              <a:t>1</a:t>
            </a:fld>
            <a:endParaRPr lang="en-US">
              <a:latin typeface="Arial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B0AEE5-77CF-4942-9FBA-74998B20B52C}" type="slidenum">
              <a:rPr lang="en-US"/>
              <a:pPr/>
              <a:t>5</a:t>
            </a:fld>
            <a:endParaRPr lang="en-US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CFF61E-B641-496B-8BE9-AD3DD18CA9BE}" type="slidenum">
              <a:rPr lang="en-US"/>
              <a:pPr/>
              <a:t>6</a:t>
            </a:fld>
            <a:endParaRPr lang="en-US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B6A20A-9DF8-4DA9-B131-64E998DD2142}" type="slidenum">
              <a:rPr lang="en-US"/>
              <a:pPr/>
              <a:t>7</a:t>
            </a:fld>
            <a:endParaRPr lang="en-U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32B865-4D28-4746-802E-9E347F1E7594}" type="slidenum">
              <a:rPr lang="en-US"/>
              <a:pPr/>
              <a:t>11</a:t>
            </a:fld>
            <a:endParaRPr lang="en-US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C907AB-A929-419D-9CBF-7F9489FF73D5}" type="slidenum">
              <a:rPr lang="en-US"/>
              <a:pPr/>
              <a:t>19</a:t>
            </a:fld>
            <a:endParaRPr lang="en-US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F81D25-4436-4C46-8D99-36F4AEF2BA4F}" type="slidenum">
              <a:rPr lang="en-US"/>
              <a:pPr/>
              <a:t>20</a:t>
            </a:fld>
            <a:endParaRPr lang="en-US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B7FDA8-D14C-418A-B7A5-2B4D41045A0C}" type="slidenum">
              <a:rPr lang="en-US"/>
              <a:pPr/>
              <a:t>21</a:t>
            </a:fld>
            <a:endParaRPr lang="en-US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151B9F-7536-4ACA-ACF2-23EF7C4F0B4C}" type="slidenum">
              <a:rPr lang="en-US"/>
              <a:pPr/>
              <a:t>22</a:t>
            </a:fld>
            <a:endParaRPr lang="en-US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C8CCE7-718F-43C1-8918-FAE38D7F9B37}" type="slidenum">
              <a:rPr lang="en-US"/>
              <a:pPr/>
              <a:t>24</a:t>
            </a:fld>
            <a:endParaRPr lang="en-US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281BE2-737C-4F84-A9A9-8FE0C5BBA581}" type="slidenum">
              <a:rPr lang="en-US"/>
              <a:pPr/>
              <a:t>25</a:t>
            </a:fld>
            <a:endParaRPr lang="en-US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B4AACB-E5B2-431F-A6BB-E27E04DC1FB8}" type="slidenum">
              <a:rPr lang="en-US"/>
              <a:pPr/>
              <a:t>26</a:t>
            </a:fld>
            <a:endParaRPr lang="en-US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5EC597-FE0C-4266-89C7-13B5654F6A65}" type="slidenum">
              <a:rPr lang="en-US"/>
              <a:pPr/>
              <a:t>27</a:t>
            </a:fld>
            <a:endParaRPr lang="en-US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B0DE42-0870-4131-8FC5-587C46796504}" type="slidenum">
              <a:rPr lang="en-US" smtClean="0"/>
              <a:pPr/>
              <a:t>98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FC7F68C-9FDC-4D4A-9374-83EB3A370D6D}" type="datetime1">
              <a:rPr lang="en-US" smtClean="0"/>
              <a:t>5/30/2025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Kiến thức – Kỹ năng – Sáng tạo – Hội nhập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1B1909-6478-4E29-80D9-2BAD17A634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ED2A3-32C7-41C2-823A-BA16EFD277E5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Kiến thức – Kỹ năng – Sáng tạo –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1B1909-6478-4E29-80D9-2BAD17A634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28AD8-1414-4BEB-AEF4-B06E3EE6B9B1}" type="datetime1">
              <a:rPr lang="en-US" smtClean="0"/>
              <a:t>5/30/2025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11B1909-6478-4E29-80D9-2BAD17A634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Kiến thức – Kỹ năng – Sáng tạo – Hội nhập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951" y="6162578"/>
            <a:ext cx="3553321" cy="69542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7DAF5CE-99F2-4471-B785-A9A1FF6213F1}" type="datetime1">
              <a:rPr lang="en-US" smtClean="0"/>
              <a:t>5/30/2025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11B1909-6478-4E29-80D9-2BAD17A634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Kiến thức – Kỹ năng – Sáng tạo – Hội nhập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3BF7FDAE-FB57-4C73-BD2F-3B0A27304337}" type="datetime1">
              <a:rPr lang="en-US" smtClean="0"/>
              <a:t>5/30/2025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11B1909-6478-4E29-80D9-2BAD17A634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/>
              <a:t>Kiến thức – Kỹ năng – Sáng tạo – Hội nhập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6093A-9AC3-4AF5-9DDB-936B795B2994}" type="datetime1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Kiến thức – Kỹ năng – Sáng tạo – Hội nhập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1B1909-6478-4E29-80D9-2BAD17A634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60D55-787D-45E0-BACC-EB87EBC455F8}" type="datetime1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Kiến thức – Kỹ năng – Sáng tạo – Hội nhập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1B1909-6478-4E29-80D9-2BAD17A634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951" y="6162578"/>
            <a:ext cx="3553321" cy="695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48DDD-98B1-4BDB-BDAF-9B923F297D0D}" type="datetime1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Kiến thức – Kỹ năng – Sáng tạo –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11B1909-6478-4E29-80D9-2BAD17A634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5F481332-618B-40F0-986D-469CD43419C7}" type="datetime1">
              <a:rPr lang="en-US" smtClean="0"/>
              <a:t>5/30/2025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11B1909-6478-4E29-80D9-2BAD17A634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en-US"/>
              <a:t>Kiến thức – Kỹ năng – Sáng tạo – Hội nhập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4C7A-2538-4ABB-AF9F-24107D86D2C8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Kiến thức – Kỹ năng – Sáng tạo –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B1909-6478-4E29-80D9-2BAD17A634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65D7456-9BE9-4C82-B8ED-947E9DA54462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en-US"/>
              <a:t>Kiến thức – Kỹ năng – Sáng tạo – Hội nhập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11B1909-6478-4E29-80D9-2BAD17A634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951" y="6162578"/>
            <a:ext cx="3553321" cy="69542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204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31800" y="62293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C303B9A-8F53-4A5F-BD86-6B09D0529C29}" type="datetime1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2935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Kiến thức – Kỹ năng – Sáng tạo –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31000" y="62293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6540364E-1338-400C-BDB8-C024960EA3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>
            <a:spLocks noChangeArrowheads="1"/>
          </p:cNvSpPr>
          <p:nvPr/>
        </p:nvSpPr>
        <p:spPr bwMode="gray">
          <a:xfrm>
            <a:off x="0" y="2538413"/>
            <a:ext cx="9144000" cy="38862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Freeform 13"/>
          <p:cNvSpPr>
            <a:spLocks/>
          </p:cNvSpPr>
          <p:nvPr/>
        </p:nvSpPr>
        <p:spPr bwMode="gray">
          <a:xfrm>
            <a:off x="0" y="2995613"/>
            <a:ext cx="9144000" cy="3862387"/>
          </a:xfrm>
          <a:custGeom>
            <a:avLst/>
            <a:gdLst/>
            <a:ahLst/>
            <a:cxnLst>
              <a:cxn ang="0">
                <a:pos x="13" y="2430"/>
              </a:cxn>
              <a:cxn ang="0">
                <a:pos x="1456" y="0"/>
              </a:cxn>
              <a:cxn ang="0">
                <a:pos x="5754" y="5"/>
              </a:cxn>
              <a:cxn ang="0">
                <a:pos x="5760" y="2433"/>
              </a:cxn>
              <a:cxn ang="0">
                <a:pos x="0" y="2430"/>
              </a:cxn>
            </a:cxnLst>
            <a:rect l="0" t="0" r="r" b="b"/>
            <a:pathLst>
              <a:path w="5760" h="2433">
                <a:moveTo>
                  <a:pt x="13" y="2430"/>
                </a:moveTo>
                <a:lnTo>
                  <a:pt x="1456" y="0"/>
                </a:lnTo>
                <a:lnTo>
                  <a:pt x="5754" y="5"/>
                </a:lnTo>
                <a:lnTo>
                  <a:pt x="5760" y="2433"/>
                </a:lnTo>
                <a:lnTo>
                  <a:pt x="0" y="2430"/>
                </a:lnTo>
              </a:path>
            </a:pathLst>
          </a:custGeom>
          <a:solidFill>
            <a:srgbClr val="FFFFFF">
              <a:alpha val="5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reeform 4"/>
          <p:cNvSpPr>
            <a:spLocks/>
          </p:cNvSpPr>
          <p:nvPr/>
        </p:nvSpPr>
        <p:spPr bwMode="gray">
          <a:xfrm>
            <a:off x="2582863" y="1506538"/>
            <a:ext cx="6562725" cy="1042987"/>
          </a:xfrm>
          <a:custGeom>
            <a:avLst/>
            <a:gdLst/>
            <a:ahLst/>
            <a:cxnLst>
              <a:cxn ang="0">
                <a:pos x="0" y="657"/>
              </a:cxn>
              <a:cxn ang="0">
                <a:pos x="4134" y="657"/>
              </a:cxn>
              <a:cxn ang="0">
                <a:pos x="4134" y="0"/>
              </a:cxn>
              <a:cxn ang="0">
                <a:pos x="373" y="2"/>
              </a:cxn>
              <a:cxn ang="0">
                <a:pos x="0" y="657"/>
              </a:cxn>
            </a:cxnLst>
            <a:rect l="0" t="0" r="r" b="b"/>
            <a:pathLst>
              <a:path w="4134" h="657">
                <a:moveTo>
                  <a:pt x="0" y="657"/>
                </a:moveTo>
                <a:lnTo>
                  <a:pt x="4134" y="657"/>
                </a:lnTo>
                <a:lnTo>
                  <a:pt x="4134" y="0"/>
                </a:lnTo>
                <a:lnTo>
                  <a:pt x="373" y="2"/>
                </a:lnTo>
                <a:lnTo>
                  <a:pt x="0" y="65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Freeform 5"/>
          <p:cNvSpPr>
            <a:spLocks/>
          </p:cNvSpPr>
          <p:nvPr/>
        </p:nvSpPr>
        <p:spPr bwMode="ltGray">
          <a:xfrm>
            <a:off x="-6350" y="2541588"/>
            <a:ext cx="2593975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634" y="0"/>
              </a:cxn>
              <a:cxn ang="0">
                <a:pos x="1456" y="289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634" h="289">
                <a:moveTo>
                  <a:pt x="0" y="0"/>
                </a:moveTo>
                <a:lnTo>
                  <a:pt x="1634" y="0"/>
                </a:lnTo>
                <a:lnTo>
                  <a:pt x="1456" y="289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8686800" y="5867400"/>
            <a:ext cx="155575" cy="417513"/>
            <a:chOff x="5472" y="3792"/>
            <a:chExt cx="184" cy="120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2" y="3792"/>
              <a:ext cx="184" cy="48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Rectangle 9"/>
            <p:cNvSpPr>
              <a:spLocks noChangeArrowheads="1"/>
            </p:cNvSpPr>
            <p:nvPr userDrawn="1"/>
          </p:nvSpPr>
          <p:spPr bwMode="auto">
            <a:xfrm>
              <a:off x="5472" y="3864"/>
              <a:ext cx="182" cy="4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1" name="Text Box 22"/>
          <p:cNvSpPr txBox="1">
            <a:spLocks noChangeArrowheads="1"/>
          </p:cNvSpPr>
          <p:nvPr userDrawn="1"/>
        </p:nvSpPr>
        <p:spPr bwMode="white">
          <a:xfrm>
            <a:off x="304800" y="5986463"/>
            <a:ext cx="67056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1" dirty="0">
                <a:solidFill>
                  <a:schemeClr val="accent1"/>
                </a:solidFill>
              </a:rPr>
              <a:t>Posts and Telecommunications Institute of Technology</a:t>
            </a:r>
          </a:p>
        </p:txBody>
      </p:sp>
      <p:sp>
        <p:nvSpPr>
          <p:cNvPr id="113670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3200400" y="1447800"/>
            <a:ext cx="5943600" cy="1012825"/>
          </a:xfrm>
        </p:spPr>
        <p:txBody>
          <a:bodyPr/>
          <a:lstStyle>
            <a:lvl1pPr>
              <a:defRPr sz="3600">
                <a:latin typeface="Verdana" pitchFamily="34" charset="0"/>
              </a:defRPr>
            </a:lvl1pPr>
          </a:lstStyle>
          <a:p>
            <a:r>
              <a:rPr lang="en-US"/>
              <a:t>RAM (RANDOM ACCESS MEMORY)</a:t>
            </a:r>
          </a:p>
        </p:txBody>
      </p:sp>
      <p:sp>
        <p:nvSpPr>
          <p:cNvPr id="113671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5867400"/>
            <a:ext cx="6781800" cy="3810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8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AFD051-4C8B-4AA3-A06F-D7D2A1A49D66}" type="datetime1">
              <a:rPr lang="en-US" smtClean="0"/>
              <a:t>5/30/2025</a:t>
            </a:fld>
            <a:endParaRPr lang="en-US"/>
          </a:p>
        </p:txBody>
      </p:sp>
      <p:sp>
        <p:nvSpPr>
          <p:cNvPr id="13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14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8B6F03-F596-4EE9-BEC7-24C19DD51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ED10B-C918-41ED-81C8-08D1930D67F1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F43CF-8DDD-4273-8494-05DE2579A0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D9826-C039-4E0C-B480-8FC5DCE385D8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203F66-707A-4871-BC47-BADCE04E2F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4B37A3-53CC-4F2F-9A31-E68A0EF48C8E}" type="datetime1">
              <a:rPr lang="en-US" smtClean="0"/>
              <a:t>5/30/2025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98C20-30C2-4CE4-9501-58E7C42869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DA511-B57C-41EA-8F99-D1FEDE28F423}" type="datetime1">
              <a:rPr lang="en-US" smtClean="0"/>
              <a:t>5/30/2025</a:t>
            </a:fld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A4206-EF80-4C2B-8D1C-81A63567FE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11D3D5-A3E9-4123-9A51-5A5DCF611F50}" type="datetime1">
              <a:rPr lang="en-US" smtClean="0"/>
              <a:t>5/30/2025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CEBF13-C45E-476F-949F-D1245E877D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951" y="6162578"/>
            <a:ext cx="3553321" cy="695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1E0831-45FE-4B9D-B1B0-DB25706932D4}" type="datetime1">
              <a:rPr lang="en-US" smtClean="0"/>
              <a:t>5/30/2025</a:t>
            </a:fld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628BF-BE46-42BC-8819-D3072B0D7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011" y="6156400"/>
            <a:ext cx="3553321" cy="695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5CA5D-A146-47EE-9563-E7037D4A01F1}" type="datetime1">
              <a:rPr lang="en-US" smtClean="0"/>
              <a:t>5/30/2025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3266E-0A10-42B6-90A3-F4A3453158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729" y="6162578"/>
            <a:ext cx="3553321" cy="695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51AC2D-6E48-4659-93AD-CABE66DDE437}" type="datetime1">
              <a:rPr lang="en-US" smtClean="0"/>
              <a:t>5/30/2025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60BFA-FBC7-405A-A6A8-09EAE5EBA0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00" y="6131686"/>
            <a:ext cx="3553321" cy="695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501CEA-3611-489A-951D-DDD6CC5755B2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63CB10-18FD-49A7-A0C0-C337285204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62578"/>
            <a:ext cx="3553321" cy="695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20955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1341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108037-DD9F-43C9-B5EB-F504956D175C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8D21ED-03FA-4A35-B48E-680DDE08F1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46102"/>
            <a:ext cx="3553321" cy="695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74638"/>
            <a:ext cx="6096000" cy="7159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802094-D187-4F5B-AF3B-2B7FC18DB30D}" type="datetime1">
              <a:rPr lang="en-US" smtClean="0"/>
              <a:t>5/30/2025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84690-8377-4993-92CD-B3B0BA63ED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" y="6053089"/>
            <a:ext cx="3553321" cy="695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74638"/>
            <a:ext cx="6096000" cy="7159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447800"/>
            <a:ext cx="8229600" cy="4800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10135-85C2-40E3-8DEF-03BC71F2119C}" type="datetime1">
              <a:rPr lang="en-US" smtClean="0"/>
              <a:t>5/30/2025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136A1-FF9E-44D9-AE34-E23C0A3B7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62578"/>
            <a:ext cx="3553321" cy="69542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DF45392-B44E-4F5C-A9C1-C90DC7DA12BF}" type="datetime1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Kiến thức – Kỹ năng – Sáng tạo – Hội nhập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11B1909-6478-4E29-80D9-2BAD17A6349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2951" y="6162578"/>
            <a:ext cx="3553321" cy="6954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1" name="Rectangle 11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gradFill rotWithShape="1">
            <a:gsLst>
              <a:gs pos="0">
                <a:schemeClr val="hlink">
                  <a:gamma/>
                  <a:tint val="0"/>
                  <a:invGamma/>
                </a:schemeClr>
              </a:gs>
              <a:gs pos="100000">
                <a:schemeClr val="hlink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12643" name="Freeform 3"/>
          <p:cNvSpPr>
            <a:spLocks/>
          </p:cNvSpPr>
          <p:nvPr/>
        </p:nvSpPr>
        <p:spPr bwMode="gray">
          <a:xfrm>
            <a:off x="2124075" y="260350"/>
            <a:ext cx="7027863" cy="720725"/>
          </a:xfrm>
          <a:custGeom>
            <a:avLst/>
            <a:gdLst/>
            <a:ahLst/>
            <a:cxnLst>
              <a:cxn ang="0">
                <a:pos x="0" y="657"/>
              </a:cxn>
              <a:cxn ang="0">
                <a:pos x="4134" y="657"/>
              </a:cxn>
              <a:cxn ang="0">
                <a:pos x="4134" y="0"/>
              </a:cxn>
              <a:cxn ang="0">
                <a:pos x="401" y="1"/>
              </a:cxn>
              <a:cxn ang="0">
                <a:pos x="0" y="657"/>
              </a:cxn>
            </a:cxnLst>
            <a:rect l="0" t="0" r="r" b="b"/>
            <a:pathLst>
              <a:path w="4134" h="657">
                <a:moveTo>
                  <a:pt x="0" y="657"/>
                </a:moveTo>
                <a:lnTo>
                  <a:pt x="4134" y="657"/>
                </a:lnTo>
                <a:lnTo>
                  <a:pt x="4134" y="0"/>
                </a:lnTo>
                <a:lnTo>
                  <a:pt x="401" y="1"/>
                </a:lnTo>
                <a:lnTo>
                  <a:pt x="0" y="657"/>
                </a:lnTo>
                <a:close/>
              </a:path>
            </a:pathLst>
          </a:cu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644" name="Freeform 4"/>
          <p:cNvSpPr>
            <a:spLocks/>
          </p:cNvSpPr>
          <p:nvPr/>
        </p:nvSpPr>
        <p:spPr bwMode="ltGray">
          <a:xfrm>
            <a:off x="0" y="981075"/>
            <a:ext cx="2124075" cy="2889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338" y="0"/>
              </a:cxn>
              <a:cxn ang="0">
                <a:pos x="1138" y="182"/>
              </a:cxn>
              <a:cxn ang="0">
                <a:pos x="0" y="181"/>
              </a:cxn>
              <a:cxn ang="0">
                <a:pos x="0" y="0"/>
              </a:cxn>
            </a:cxnLst>
            <a:rect l="0" t="0" r="r" b="b"/>
            <a:pathLst>
              <a:path w="1338" h="182">
                <a:moveTo>
                  <a:pt x="0" y="0"/>
                </a:moveTo>
                <a:lnTo>
                  <a:pt x="1338" y="0"/>
                </a:lnTo>
                <a:lnTo>
                  <a:pt x="1138" y="182"/>
                </a:lnTo>
                <a:lnTo>
                  <a:pt x="0" y="18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white">
          <a:xfrm>
            <a:off x="2743200" y="274638"/>
            <a:ext cx="60960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26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j-lt"/>
              </a:defRPr>
            </a:lvl1pPr>
          </a:lstStyle>
          <a:p>
            <a:pPr>
              <a:defRPr/>
            </a:pPr>
            <a:fld id="{24A72441-5BAE-4035-B68B-9F6403E095E7}" type="datetime1">
              <a:rPr lang="en-US" smtClean="0"/>
              <a:t>5/30/2025</a:t>
            </a:fld>
            <a:endParaRPr lang="en-US"/>
          </a:p>
        </p:txBody>
      </p:sp>
      <p:sp>
        <p:nvSpPr>
          <p:cNvPr id="1126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Kiến thức – Kỹ năng – Sáng tạo – Hội nhập</a:t>
            </a:r>
          </a:p>
        </p:txBody>
      </p:sp>
      <p:sp>
        <p:nvSpPr>
          <p:cNvPr id="1126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j-lt"/>
              </a:defRPr>
            </a:lvl1pPr>
          </a:lstStyle>
          <a:p>
            <a:pPr>
              <a:defRPr/>
            </a:pPr>
            <a:fld id="{34649747-F9AA-4208-B3EE-E62F44C882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2650" name="Text Box 10"/>
          <p:cNvSpPr txBox="1">
            <a:spLocks noChangeArrowheads="1"/>
          </p:cNvSpPr>
          <p:nvPr/>
        </p:nvSpPr>
        <p:spPr bwMode="auto">
          <a:xfrm>
            <a:off x="9525" y="1023938"/>
            <a:ext cx="2057400" cy="22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60000"/>
              </a:lnSpc>
              <a:spcBef>
                <a:spcPct val="50000"/>
              </a:spcBef>
              <a:defRPr/>
            </a:pPr>
            <a:r>
              <a:rPr lang="en-US" sz="1400" b="1" dirty="0">
                <a:solidFill>
                  <a:srgbClr val="F8F8F8"/>
                </a:solidFill>
              </a:rPr>
              <a:t>KTMT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32951" y="6162578"/>
            <a:ext cx="3553321" cy="6954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bg1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bg1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bg1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chemeClr val="bg1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 i="1">
          <a:solidFill>
            <a:schemeClr val="bg1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 i="1">
          <a:solidFill>
            <a:schemeClr val="bg1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 i="1">
          <a:solidFill>
            <a:schemeClr val="bg1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 i="1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l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Arial" charset="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0000"/>
        <a:buFont typeface="Arial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400" dirty="0"/>
              <a:t>KHỐI XỬ LÝ TRUNG TÂM - CPU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gray">
          <a:xfrm>
            <a:off x="1066800" y="1524000"/>
            <a:ext cx="7696200" cy="3886200"/>
          </a:xfrm>
          <a:prstGeom prst="rect">
            <a:avLst/>
          </a:prstGeom>
          <a:noFill/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Char char="v"/>
              <a:defRPr/>
            </a:pPr>
            <a:r>
              <a:rPr lang="vi-VN" sz="2800" kern="0" dirty="0">
                <a:solidFill>
                  <a:schemeClr val="accent1"/>
                </a:solidFill>
              </a:rPr>
              <a:t>Sơ đồ khối tổng quát và các thành phần chức năng của CPU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Char char="v"/>
              <a:defRPr/>
            </a:pPr>
            <a:r>
              <a:rPr lang="vi-VN" sz="2800" kern="0" dirty="0">
                <a:solidFill>
                  <a:schemeClr val="accent1"/>
                </a:solidFill>
              </a:rPr>
              <a:t>Các thanh ghi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Char char="v"/>
              <a:defRPr/>
            </a:pPr>
            <a:r>
              <a:rPr lang="vi-VN" sz="2800" kern="0" dirty="0">
                <a:solidFill>
                  <a:schemeClr val="accent1"/>
                </a:solidFill>
              </a:rPr>
              <a:t>Khối điều khiển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Char char="v"/>
              <a:defRPr/>
            </a:pPr>
            <a:r>
              <a:rPr lang="vi-VN" sz="2800" kern="0" dirty="0">
                <a:solidFill>
                  <a:schemeClr val="accent1"/>
                </a:solidFill>
              </a:rPr>
              <a:t>Khối l</a:t>
            </a:r>
            <a:r>
              <a:rPr lang="en-US" sz="2800" kern="0" dirty="0">
                <a:solidFill>
                  <a:schemeClr val="accent1"/>
                </a:solidFill>
              </a:rPr>
              <a:t>o</a:t>
            </a:r>
            <a:r>
              <a:rPr lang="vi-VN" sz="2800" kern="0" dirty="0">
                <a:solidFill>
                  <a:schemeClr val="accent1"/>
                </a:solidFill>
              </a:rPr>
              <a:t>gic v</a:t>
            </a:r>
            <a:endParaRPr lang="en-US" sz="2800" kern="0" dirty="0">
              <a:solidFill>
                <a:schemeClr val="accent1"/>
              </a:solidFill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Char char="v"/>
              <a:defRPr/>
            </a:pPr>
            <a:r>
              <a:rPr lang="vi-VN" sz="2800" kern="0" dirty="0">
                <a:solidFill>
                  <a:schemeClr val="accent1"/>
                </a:solidFill>
              </a:rPr>
              <a:t>à số học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Char char="v"/>
              <a:defRPr/>
            </a:pPr>
            <a:r>
              <a:rPr lang="vi-VN" sz="2800" kern="0" dirty="0">
                <a:solidFill>
                  <a:schemeClr val="accent1"/>
                </a:solidFill>
              </a:rPr>
              <a:t>System Bus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Char char="v"/>
              <a:defRPr/>
            </a:pPr>
            <a:r>
              <a:rPr lang="vi-VN" sz="2800" kern="0" dirty="0">
                <a:solidFill>
                  <a:schemeClr val="accent1"/>
                </a:solidFill>
              </a:rPr>
              <a:t>Tập lệnh máy tính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Minh </a:t>
            </a:r>
            <a:r>
              <a:rPr lang="en-US" dirty="0" err="1"/>
              <a:t>họa</a:t>
            </a:r>
            <a:endParaRPr lang="en-US" dirty="0"/>
          </a:p>
        </p:txBody>
      </p:sp>
      <p:pic>
        <p:nvPicPr>
          <p:cNvPr id="1026" name="Picture 2" descr="C:\Users\huynht2\Documents\Downloads\800px-Bo_mach_ch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76400"/>
            <a:ext cx="7620000" cy="5086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 b="16606"/>
          <a:stretch>
            <a:fillRect/>
          </a:stretch>
        </p:blipFill>
        <p:spPr bwMode="auto">
          <a:xfrm>
            <a:off x="1752600" y="1655763"/>
            <a:ext cx="5334000" cy="4951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Arrow Connector 7"/>
          <p:cNvCxnSpPr/>
          <p:nvPr/>
        </p:nvCxnSpPr>
        <p:spPr>
          <a:xfrm rot="5400000">
            <a:off x="3048000" y="3810000"/>
            <a:ext cx="2895600" cy="1588"/>
          </a:xfrm>
          <a:prstGeom prst="straightConnector1">
            <a:avLst/>
          </a:prstGeom>
          <a:ln>
            <a:tailEnd type="non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4114800" y="23622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495800" y="35814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0800000">
            <a:off x="3962400" y="52578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05600" y="1905000"/>
            <a:ext cx="76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0</a:t>
            </a:r>
          </a:p>
          <a:p>
            <a:r>
              <a:rPr lang="en-US" sz="1000" dirty="0"/>
              <a:t>1</a:t>
            </a:r>
          </a:p>
          <a:p>
            <a:r>
              <a:rPr lang="en-US" sz="1000" dirty="0"/>
              <a:t>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4629090"/>
            <a:ext cx="76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n-2</a:t>
            </a:r>
          </a:p>
          <a:p>
            <a:r>
              <a:rPr lang="en-US" sz="1000" dirty="0"/>
              <a:t>n-1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2400" y="1701225"/>
            <a:ext cx="114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System Bus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Bus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 b="30487"/>
          <a:stretch>
            <a:fillRect/>
          </a:stretch>
        </p:blipFill>
        <p:spPr bwMode="auto">
          <a:xfrm>
            <a:off x="457200" y="2620963"/>
            <a:ext cx="8153400" cy="225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 Bus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err="1"/>
              <a:t>Mang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endParaRPr lang="en-GB" dirty="0"/>
          </a:p>
          <a:p>
            <a:pPr lvl="1"/>
            <a:r>
              <a:rPr lang="en-GB" dirty="0" err="1"/>
              <a:t>Không</a:t>
            </a:r>
            <a:r>
              <a:rPr lang="en-GB" dirty="0"/>
              <a:t>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sự</a:t>
            </a:r>
            <a:r>
              <a:rPr lang="en-GB" dirty="0"/>
              <a:t> </a:t>
            </a:r>
            <a:r>
              <a:rPr lang="en-GB" dirty="0" err="1"/>
              <a:t>khác</a:t>
            </a:r>
            <a:r>
              <a:rPr lang="en-GB" dirty="0"/>
              <a:t> </a:t>
            </a:r>
            <a:r>
              <a:rPr lang="en-GB" dirty="0" err="1"/>
              <a:t>nhau</a:t>
            </a:r>
            <a:r>
              <a:rPr lang="en-GB" dirty="0"/>
              <a:t> </a:t>
            </a:r>
            <a:r>
              <a:rPr lang="en-GB" dirty="0" err="1"/>
              <a:t>giữa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trường</a:t>
            </a:r>
            <a:r>
              <a:rPr lang="en-GB" dirty="0"/>
              <a:t> </a:t>
            </a:r>
            <a:r>
              <a:rPr lang="en-GB" dirty="0" err="1"/>
              <a:t>hợp</a:t>
            </a:r>
            <a:r>
              <a:rPr lang="en-GB" dirty="0"/>
              <a:t> </a:t>
            </a:r>
            <a:r>
              <a:rPr lang="en-GB" dirty="0" err="1"/>
              <a:t>này</a:t>
            </a:r>
            <a:r>
              <a:rPr lang="en-GB" dirty="0"/>
              <a:t>.</a:t>
            </a:r>
          </a:p>
          <a:p>
            <a:r>
              <a:rPr lang="en-GB" dirty="0" err="1"/>
              <a:t>Độ</a:t>
            </a:r>
            <a:r>
              <a:rPr lang="en-GB" dirty="0"/>
              <a:t> </a:t>
            </a:r>
            <a:r>
              <a:rPr lang="en-GB" dirty="0" err="1"/>
              <a:t>rộng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Bus </a:t>
            </a:r>
            <a:r>
              <a:rPr lang="en-GB" dirty="0" err="1"/>
              <a:t>sẽ</a:t>
            </a:r>
            <a:r>
              <a:rPr lang="en-GB" dirty="0"/>
              <a:t> </a:t>
            </a:r>
            <a:r>
              <a:rPr lang="en-GB" dirty="0" err="1"/>
              <a:t>quyết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b="1" dirty="0" err="1"/>
              <a:t>khả</a:t>
            </a:r>
            <a:r>
              <a:rPr lang="en-GB" b="1" dirty="0"/>
              <a:t> </a:t>
            </a:r>
            <a:r>
              <a:rPr lang="en-GB" b="1" dirty="0" err="1"/>
              <a:t>năng</a:t>
            </a:r>
            <a:r>
              <a:rPr lang="en-GB" b="1" dirty="0"/>
              <a:t> </a:t>
            </a:r>
            <a:r>
              <a:rPr lang="en-GB" b="1" dirty="0" err="1"/>
              <a:t>chuyển</a:t>
            </a:r>
            <a:r>
              <a:rPr lang="en-GB" b="1" dirty="0"/>
              <a:t> </a:t>
            </a:r>
            <a:r>
              <a:rPr lang="en-GB" b="1" dirty="0" err="1"/>
              <a:t>tải</a:t>
            </a:r>
            <a:r>
              <a:rPr lang="en-GB" b="1" dirty="0"/>
              <a:t> </a:t>
            </a:r>
            <a:r>
              <a:rPr lang="en-GB" b="1" dirty="0" err="1"/>
              <a:t>dữ</a:t>
            </a:r>
            <a:r>
              <a:rPr lang="en-GB" b="1" dirty="0"/>
              <a:t> </a:t>
            </a:r>
            <a:r>
              <a:rPr lang="en-GB" b="1" dirty="0" err="1"/>
              <a:t>liệu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CPU</a:t>
            </a:r>
          </a:p>
          <a:p>
            <a:pPr lvl="1"/>
            <a:r>
              <a:rPr lang="en-GB" dirty="0"/>
              <a:t>8, 16, 32, 64 bit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Address bus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err="1"/>
              <a:t>Xác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nguồn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đích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dữ</a:t>
            </a:r>
            <a:r>
              <a:rPr lang="en-GB" dirty="0"/>
              <a:t> </a:t>
            </a:r>
            <a:r>
              <a:rPr lang="en-GB" dirty="0" err="1"/>
              <a:t>liệu</a:t>
            </a:r>
            <a:endParaRPr lang="en-GB" dirty="0"/>
          </a:p>
          <a:p>
            <a:pPr lvl="1"/>
            <a:r>
              <a:rPr lang="en-GB" dirty="0"/>
              <a:t>CPU </a:t>
            </a:r>
            <a:r>
              <a:rPr lang="en-GB" dirty="0" err="1"/>
              <a:t>cần</a:t>
            </a:r>
            <a:r>
              <a:rPr lang="en-GB" dirty="0"/>
              <a:t> </a:t>
            </a:r>
            <a:r>
              <a:rPr lang="en-GB" dirty="0" err="1"/>
              <a:t>xác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địa</a:t>
            </a:r>
            <a:r>
              <a:rPr lang="en-GB" dirty="0"/>
              <a:t> </a:t>
            </a:r>
            <a:r>
              <a:rPr lang="en-GB" dirty="0" err="1"/>
              <a:t>chỉ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ô </a:t>
            </a:r>
            <a:r>
              <a:rPr lang="en-GB" dirty="0" err="1"/>
              <a:t>nhớ</a:t>
            </a:r>
            <a:r>
              <a:rPr lang="en-GB" dirty="0"/>
              <a:t> </a:t>
            </a:r>
            <a:r>
              <a:rPr lang="en-GB" dirty="0" err="1"/>
              <a:t>cần</a:t>
            </a:r>
            <a:r>
              <a:rPr lang="en-GB" dirty="0"/>
              <a:t> </a:t>
            </a:r>
            <a:r>
              <a:rPr lang="en-GB" dirty="0" err="1"/>
              <a:t>đọc</a:t>
            </a:r>
            <a:endParaRPr lang="en-GB" dirty="0"/>
          </a:p>
          <a:p>
            <a:r>
              <a:rPr lang="en-GB" dirty="0" err="1"/>
              <a:t>Độ</a:t>
            </a:r>
            <a:r>
              <a:rPr lang="en-GB" dirty="0"/>
              <a:t> </a:t>
            </a:r>
            <a:r>
              <a:rPr lang="en-GB" dirty="0" err="1"/>
              <a:t>rộng</a:t>
            </a:r>
            <a:r>
              <a:rPr lang="en-GB" dirty="0"/>
              <a:t> Bus </a:t>
            </a:r>
            <a:r>
              <a:rPr lang="en-GB" dirty="0" err="1"/>
              <a:t>xác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b="1" dirty="0" err="1"/>
              <a:t>khả</a:t>
            </a:r>
            <a:r>
              <a:rPr lang="en-GB" b="1" dirty="0"/>
              <a:t> </a:t>
            </a:r>
            <a:r>
              <a:rPr lang="en-GB" b="1" dirty="0" err="1"/>
              <a:t>năng</a:t>
            </a:r>
            <a:r>
              <a:rPr lang="en-GB" b="1" dirty="0"/>
              <a:t> </a:t>
            </a:r>
            <a:r>
              <a:rPr lang="en-GB" b="1" dirty="0" err="1"/>
              <a:t>nhớ</a:t>
            </a:r>
            <a:r>
              <a:rPr lang="en-GB" b="1" dirty="0"/>
              <a:t> </a:t>
            </a:r>
            <a:r>
              <a:rPr lang="en-GB" b="1" dirty="0" err="1"/>
              <a:t>tối</a:t>
            </a:r>
            <a:r>
              <a:rPr lang="en-GB" b="1" dirty="0"/>
              <a:t> </a:t>
            </a:r>
            <a:r>
              <a:rPr lang="en-GB" b="1" dirty="0" err="1"/>
              <a:t>đa</a:t>
            </a:r>
            <a:r>
              <a:rPr lang="en-GB" dirty="0"/>
              <a:t> </a:t>
            </a:r>
            <a:r>
              <a:rPr lang="en-GB" dirty="0" err="1"/>
              <a:t>của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thống</a:t>
            </a:r>
            <a:endParaRPr lang="en-GB" dirty="0"/>
          </a:p>
          <a:p>
            <a:pPr lvl="1"/>
            <a:r>
              <a:rPr lang="en-GB" dirty="0"/>
              <a:t>8088 </a:t>
            </a:r>
            <a:r>
              <a:rPr lang="en-GB" dirty="0" err="1"/>
              <a:t>dùng</a:t>
            </a:r>
            <a:r>
              <a:rPr lang="en-GB" dirty="0"/>
              <a:t> 16 bit </a:t>
            </a:r>
            <a:r>
              <a:rPr lang="en-GB" dirty="0" err="1"/>
              <a:t>địa</a:t>
            </a:r>
            <a:r>
              <a:rPr lang="en-GB" dirty="0"/>
              <a:t> </a:t>
            </a:r>
            <a:r>
              <a:rPr lang="en-GB" dirty="0" err="1"/>
              <a:t>chỉ</a:t>
            </a:r>
            <a:r>
              <a:rPr lang="en-GB" dirty="0"/>
              <a:t> =&gt; </a:t>
            </a:r>
            <a:r>
              <a:rPr lang="en-GB" dirty="0" err="1"/>
              <a:t>không</a:t>
            </a:r>
            <a:r>
              <a:rPr lang="en-GB" dirty="0"/>
              <a:t> </a:t>
            </a:r>
            <a:r>
              <a:rPr lang="en-GB" dirty="0" err="1"/>
              <a:t>gian</a:t>
            </a:r>
            <a:r>
              <a:rPr lang="en-GB" dirty="0"/>
              <a:t> </a:t>
            </a:r>
            <a:r>
              <a:rPr lang="en-GB" dirty="0" err="1"/>
              <a:t>địa</a:t>
            </a:r>
            <a:r>
              <a:rPr lang="en-GB" dirty="0"/>
              <a:t> </a:t>
            </a:r>
            <a:r>
              <a:rPr lang="en-GB" dirty="0" err="1"/>
              <a:t>chỉ</a:t>
            </a:r>
            <a:r>
              <a:rPr lang="en-GB" dirty="0"/>
              <a:t> </a:t>
            </a:r>
            <a:r>
              <a:rPr lang="en-GB" dirty="0" err="1"/>
              <a:t>là</a:t>
            </a:r>
            <a:r>
              <a:rPr lang="en-GB" dirty="0"/>
              <a:t> 64K.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Control Bus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err="1"/>
              <a:t>Điều</a:t>
            </a:r>
            <a:r>
              <a:rPr lang="en-GB" dirty="0"/>
              <a:t> </a:t>
            </a:r>
            <a:r>
              <a:rPr lang="en-GB" dirty="0" err="1"/>
              <a:t>khiển</a:t>
            </a:r>
            <a:r>
              <a:rPr lang="en-GB" dirty="0"/>
              <a:t>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thời</a:t>
            </a:r>
            <a:r>
              <a:rPr lang="en-GB" dirty="0"/>
              <a:t> </a:t>
            </a:r>
            <a:r>
              <a:rPr lang="en-GB" dirty="0" err="1"/>
              <a:t>thông</a:t>
            </a:r>
            <a:r>
              <a:rPr lang="en-GB" dirty="0"/>
              <a:t> tin</a:t>
            </a:r>
          </a:p>
          <a:p>
            <a:pPr lvl="1"/>
            <a:r>
              <a:rPr lang="en-GB" dirty="0" err="1"/>
              <a:t>Tín</a:t>
            </a:r>
            <a:r>
              <a:rPr lang="en-GB" dirty="0"/>
              <a:t> </a:t>
            </a:r>
            <a:r>
              <a:rPr lang="en-GB" dirty="0" err="1"/>
              <a:t>hiệu</a:t>
            </a:r>
            <a:r>
              <a:rPr lang="en-GB" dirty="0"/>
              <a:t> </a:t>
            </a:r>
            <a:r>
              <a:rPr lang="en-GB" dirty="0" err="1"/>
              <a:t>đọc</a:t>
            </a:r>
            <a:r>
              <a:rPr lang="en-GB" dirty="0"/>
              <a:t>/</a:t>
            </a:r>
            <a:r>
              <a:rPr lang="en-GB" dirty="0" err="1"/>
              <a:t>ghi</a:t>
            </a:r>
            <a:r>
              <a:rPr lang="en-GB" dirty="0"/>
              <a:t> </a:t>
            </a:r>
            <a:r>
              <a:rPr lang="en-GB" dirty="0" err="1"/>
              <a:t>bộ</a:t>
            </a:r>
            <a:r>
              <a:rPr lang="en-GB" dirty="0"/>
              <a:t> </a:t>
            </a:r>
            <a:r>
              <a:rPr lang="en-GB" dirty="0" err="1"/>
              <a:t>nhớ</a:t>
            </a:r>
            <a:endParaRPr lang="en-GB" dirty="0"/>
          </a:p>
          <a:p>
            <a:pPr lvl="1"/>
            <a:r>
              <a:rPr lang="en-GB" dirty="0" err="1"/>
              <a:t>Yêu</a:t>
            </a:r>
            <a:r>
              <a:rPr lang="en-GB" dirty="0"/>
              <a:t> </a:t>
            </a:r>
            <a:r>
              <a:rPr lang="en-GB" dirty="0" err="1"/>
              <a:t>cầu</a:t>
            </a:r>
            <a:r>
              <a:rPr lang="en-GB" dirty="0"/>
              <a:t> </a:t>
            </a:r>
            <a:r>
              <a:rPr lang="en-GB" dirty="0" err="1"/>
              <a:t>ngắt</a:t>
            </a:r>
            <a:endParaRPr lang="en-GB" dirty="0"/>
          </a:p>
          <a:p>
            <a:pPr lvl="1"/>
            <a:r>
              <a:rPr lang="en-GB" dirty="0" err="1"/>
              <a:t>Tín</a:t>
            </a:r>
            <a:r>
              <a:rPr lang="en-GB" dirty="0"/>
              <a:t> </a:t>
            </a:r>
            <a:r>
              <a:rPr lang="en-GB" dirty="0" err="1"/>
              <a:t>hiệu</a:t>
            </a:r>
            <a:r>
              <a:rPr lang="en-GB" dirty="0"/>
              <a:t> </a:t>
            </a:r>
            <a:r>
              <a:rPr lang="en-GB" dirty="0" err="1"/>
              <a:t>đồng</a:t>
            </a:r>
            <a:r>
              <a:rPr lang="en-GB" dirty="0"/>
              <a:t> </a:t>
            </a:r>
            <a:r>
              <a:rPr lang="en-GB" dirty="0" err="1"/>
              <a:t>hồ</a:t>
            </a:r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CPU</a:t>
            </a:r>
          </a:p>
        </p:txBody>
      </p:sp>
      <p:sp>
        <p:nvSpPr>
          <p:cNvPr id="5" name="Oval 20" descr="50%"/>
          <p:cNvSpPr>
            <a:spLocks noChangeArrowheads="1"/>
          </p:cNvSpPr>
          <p:nvPr/>
        </p:nvSpPr>
        <p:spPr bwMode="auto">
          <a:xfrm>
            <a:off x="3886200" y="2057400"/>
            <a:ext cx="4724400" cy="4648200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6" name="Oval 25"/>
          <p:cNvSpPr>
            <a:spLocks noChangeArrowheads="1"/>
          </p:cNvSpPr>
          <p:nvPr/>
        </p:nvSpPr>
        <p:spPr bwMode="auto">
          <a:xfrm>
            <a:off x="5410200" y="3581400"/>
            <a:ext cx="1524000" cy="152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7" name="Oval 21"/>
          <p:cNvSpPr>
            <a:spLocks noChangeArrowheads="1"/>
          </p:cNvSpPr>
          <p:nvPr/>
        </p:nvSpPr>
        <p:spPr bwMode="auto">
          <a:xfrm>
            <a:off x="46482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8" name="Oval 22"/>
          <p:cNvSpPr>
            <a:spLocks noChangeArrowheads="1"/>
          </p:cNvSpPr>
          <p:nvPr/>
        </p:nvSpPr>
        <p:spPr bwMode="auto">
          <a:xfrm>
            <a:off x="76200" y="2971800"/>
            <a:ext cx="1981200" cy="2057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9" name="Oval 23"/>
          <p:cNvSpPr>
            <a:spLocks noChangeArrowheads="1"/>
          </p:cNvSpPr>
          <p:nvPr/>
        </p:nvSpPr>
        <p:spPr bwMode="auto">
          <a:xfrm>
            <a:off x="64008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0" name="Oval 24"/>
          <p:cNvSpPr>
            <a:spLocks noChangeArrowheads="1"/>
          </p:cNvSpPr>
          <p:nvPr/>
        </p:nvSpPr>
        <p:spPr bwMode="auto">
          <a:xfrm>
            <a:off x="5486400" y="48006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1" name="Text Box 26"/>
          <p:cNvSpPr txBox="1">
            <a:spLocks noChangeArrowheads="1"/>
          </p:cNvSpPr>
          <p:nvPr/>
        </p:nvSpPr>
        <p:spPr bwMode="auto">
          <a:xfrm>
            <a:off x="603250" y="3016250"/>
            <a:ext cx="1073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GB"/>
              <a:t>Computer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6553200" y="2971800"/>
            <a:ext cx="1201268" cy="925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GB" dirty="0"/>
              <a:t>Arithmetic</a:t>
            </a:r>
          </a:p>
          <a:p>
            <a:pPr algn="l"/>
            <a:r>
              <a:rPr lang="en-GB" dirty="0"/>
              <a:t>and </a:t>
            </a:r>
          </a:p>
          <a:p>
            <a:pPr algn="l"/>
            <a:r>
              <a:rPr lang="en-GB"/>
              <a:t>Logic </a:t>
            </a:r>
            <a:r>
              <a:rPr lang="en-GB" dirty="0"/>
              <a:t>Unit</a:t>
            </a:r>
          </a:p>
        </p:txBody>
      </p:sp>
      <p:sp>
        <p:nvSpPr>
          <p:cNvPr id="13" name="Text Box 28"/>
          <p:cNvSpPr txBox="1">
            <a:spLocks noChangeArrowheads="1"/>
          </p:cNvSpPr>
          <p:nvPr/>
        </p:nvSpPr>
        <p:spPr bwMode="auto">
          <a:xfrm>
            <a:off x="5715000" y="5133975"/>
            <a:ext cx="8350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GB"/>
              <a:t>Control</a:t>
            </a:r>
          </a:p>
          <a:p>
            <a:pPr algn="l"/>
            <a:r>
              <a:rPr lang="en-GB"/>
              <a:t>Unit</a:t>
            </a:r>
          </a:p>
        </p:txBody>
      </p:sp>
      <p:sp>
        <p:nvSpPr>
          <p:cNvPr id="14" name="Text Box 29"/>
          <p:cNvSpPr txBox="1">
            <a:spLocks noChangeArrowheads="1"/>
          </p:cNvSpPr>
          <p:nvPr/>
        </p:nvSpPr>
        <p:spPr bwMode="auto">
          <a:xfrm>
            <a:off x="5410200" y="4067175"/>
            <a:ext cx="157003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GB"/>
              <a:t>Internal CPU</a:t>
            </a:r>
          </a:p>
          <a:p>
            <a:pPr algn="l"/>
            <a:r>
              <a:rPr lang="en-GB"/>
              <a:t>Interconnection</a:t>
            </a:r>
          </a:p>
        </p:txBody>
      </p:sp>
      <p:sp>
        <p:nvSpPr>
          <p:cNvPr id="15" name="Line 30"/>
          <p:cNvSpPr>
            <a:spLocks noChangeShapeType="1"/>
          </p:cNvSpPr>
          <p:nvPr/>
        </p:nvSpPr>
        <p:spPr bwMode="auto">
          <a:xfrm flipV="1">
            <a:off x="1524000" y="2209800"/>
            <a:ext cx="3886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" name="Line 31"/>
          <p:cNvSpPr>
            <a:spLocks noChangeShapeType="1"/>
          </p:cNvSpPr>
          <p:nvPr/>
        </p:nvSpPr>
        <p:spPr bwMode="auto">
          <a:xfrm>
            <a:off x="1524000" y="4343400"/>
            <a:ext cx="37338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7" name="Text Box 34"/>
          <p:cNvSpPr txBox="1">
            <a:spLocks noChangeArrowheads="1"/>
          </p:cNvSpPr>
          <p:nvPr/>
        </p:nvSpPr>
        <p:spPr bwMode="auto">
          <a:xfrm>
            <a:off x="4829175" y="3168650"/>
            <a:ext cx="1038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GB"/>
              <a:t>Registers</a:t>
            </a:r>
          </a:p>
        </p:txBody>
      </p:sp>
      <p:sp>
        <p:nvSpPr>
          <p:cNvPr id="18" name="Oval 37"/>
          <p:cNvSpPr>
            <a:spLocks noChangeArrowheads="1"/>
          </p:cNvSpPr>
          <p:nvPr/>
        </p:nvSpPr>
        <p:spPr bwMode="auto">
          <a:xfrm>
            <a:off x="1219200" y="3581400"/>
            <a:ext cx="6858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" name="Text Box 38"/>
          <p:cNvSpPr txBox="1">
            <a:spLocks noChangeArrowheads="1"/>
          </p:cNvSpPr>
          <p:nvPr/>
        </p:nvSpPr>
        <p:spPr bwMode="auto">
          <a:xfrm>
            <a:off x="1327150" y="3810000"/>
            <a:ext cx="5016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r>
              <a:rPr lang="en-US" sz="1200"/>
              <a:t>CPU</a:t>
            </a:r>
            <a:endParaRPr lang="en-US"/>
          </a:p>
        </p:txBody>
      </p:sp>
      <p:sp>
        <p:nvSpPr>
          <p:cNvPr id="20" name="Oval 39"/>
          <p:cNvSpPr>
            <a:spLocks noChangeArrowheads="1"/>
          </p:cNvSpPr>
          <p:nvPr/>
        </p:nvSpPr>
        <p:spPr bwMode="auto">
          <a:xfrm>
            <a:off x="304800" y="3276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r>
              <a:rPr lang="en-US" sz="1200"/>
              <a:t>I/O</a:t>
            </a:r>
            <a:endParaRPr lang="en-US"/>
          </a:p>
        </p:txBody>
      </p:sp>
      <p:sp>
        <p:nvSpPr>
          <p:cNvPr id="21" name="Oval 40"/>
          <p:cNvSpPr>
            <a:spLocks noChangeArrowheads="1"/>
          </p:cNvSpPr>
          <p:nvPr/>
        </p:nvSpPr>
        <p:spPr bwMode="auto">
          <a:xfrm>
            <a:off x="381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2" name="Oval 41"/>
          <p:cNvSpPr>
            <a:spLocks noChangeArrowheads="1"/>
          </p:cNvSpPr>
          <p:nvPr/>
        </p:nvSpPr>
        <p:spPr bwMode="auto">
          <a:xfrm>
            <a:off x="609600" y="3581400"/>
            <a:ext cx="6858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3" name="Text Box 43"/>
          <p:cNvSpPr txBox="1">
            <a:spLocks noChangeArrowheads="1"/>
          </p:cNvSpPr>
          <p:nvPr/>
        </p:nvSpPr>
        <p:spPr bwMode="auto">
          <a:xfrm>
            <a:off x="381000" y="4373563"/>
            <a:ext cx="7302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r>
              <a:rPr lang="en-US" sz="1200"/>
              <a:t>Memory</a:t>
            </a:r>
            <a:endParaRPr lang="en-US"/>
          </a:p>
        </p:txBody>
      </p: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606425" y="3810000"/>
            <a:ext cx="688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r>
              <a:rPr lang="en-US" sz="1200"/>
              <a:t>System</a:t>
            </a:r>
          </a:p>
          <a:p>
            <a:r>
              <a:rPr lang="en-US" sz="1200"/>
              <a:t>Bus</a:t>
            </a:r>
          </a:p>
        </p:txBody>
      </p:sp>
      <p:sp>
        <p:nvSpPr>
          <p:cNvPr id="25" name="Text Box 46"/>
          <p:cNvSpPr txBox="1">
            <a:spLocks noChangeArrowheads="1"/>
          </p:cNvSpPr>
          <p:nvPr/>
        </p:nvSpPr>
        <p:spPr bwMode="auto">
          <a:xfrm>
            <a:off x="5910263" y="2317750"/>
            <a:ext cx="7191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r>
              <a:rPr lang="en-US" sz="2000"/>
              <a:t>CPU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CPU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 l="12009" t="6415" r="12009" b="12039"/>
          <a:stretch>
            <a:fillRect/>
          </a:stretch>
        </p:blipFill>
        <p:spPr bwMode="auto">
          <a:xfrm>
            <a:off x="1219200" y="1524000"/>
            <a:ext cx="67056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048000"/>
            <a:ext cx="4419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686800" cy="44958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(fetch instruction):</a:t>
            </a:r>
          </a:p>
          <a:p>
            <a:pPr lvl="1"/>
            <a:r>
              <a:rPr lang="en-US" dirty="0"/>
              <a:t>CPU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endParaRPr lang="en-US" dirty="0"/>
          </a:p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(decode instruction ):</a:t>
            </a:r>
          </a:p>
          <a:p>
            <a:pPr lvl="1"/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endParaRPr lang="en-US" dirty="0"/>
          </a:p>
          <a:p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(fetch data):</a:t>
            </a:r>
          </a:p>
          <a:p>
            <a:pPr lvl="1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cổngvào</a:t>
            </a:r>
            <a:r>
              <a:rPr lang="en-US" dirty="0"/>
              <a:t>/</a:t>
            </a:r>
            <a:r>
              <a:rPr lang="en-US" dirty="0" err="1"/>
              <a:t>ra</a:t>
            </a:r>
            <a:endParaRPr lang="en-US" dirty="0"/>
          </a:p>
          <a:p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(process data):</a:t>
            </a:r>
          </a:p>
          <a:p>
            <a:pPr lvl="1"/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hay logic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(write data):</a:t>
            </a:r>
          </a:p>
          <a:p>
            <a:pPr lvl="1"/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/</a:t>
            </a:r>
            <a:r>
              <a:rPr lang="en-US" dirty="0" err="1"/>
              <a:t>ra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Chu </a:t>
            </a:r>
            <a:r>
              <a:rPr lang="en-GB" dirty="0" err="1"/>
              <a:t>kỳ</a:t>
            </a:r>
            <a:r>
              <a:rPr lang="en-GB" dirty="0"/>
              <a:t> </a:t>
            </a:r>
            <a:r>
              <a:rPr lang="en-GB" dirty="0" err="1"/>
              <a:t>lệnh</a:t>
            </a:r>
            <a:endParaRPr lang="en-GB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2 </a:t>
            </a:r>
            <a:r>
              <a:rPr lang="en-GB" dirty="0" err="1"/>
              <a:t>bước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Fetch (</a:t>
            </a:r>
            <a:r>
              <a:rPr lang="en-GB" dirty="0" err="1"/>
              <a:t>nạp</a:t>
            </a:r>
            <a:r>
              <a:rPr lang="en-GB" dirty="0"/>
              <a:t> </a:t>
            </a:r>
            <a:r>
              <a:rPr lang="en-GB" dirty="0" err="1"/>
              <a:t>lệnh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Execute (</a:t>
            </a:r>
            <a:r>
              <a:rPr lang="en-GB" dirty="0" err="1"/>
              <a:t>thực</a:t>
            </a:r>
            <a:r>
              <a:rPr lang="en-GB" dirty="0"/>
              <a:t> </a:t>
            </a:r>
            <a:r>
              <a:rPr lang="en-GB" dirty="0" err="1"/>
              <a:t>thi</a:t>
            </a:r>
            <a:r>
              <a:rPr lang="en-GB" dirty="0"/>
              <a:t>)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 b="40727"/>
          <a:stretch>
            <a:fillRect/>
          </a:stretch>
        </p:blipFill>
        <p:spPr bwMode="auto">
          <a:xfrm>
            <a:off x="228600" y="3479800"/>
            <a:ext cx="8763000" cy="217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en-US" dirty="0"/>
          </a:p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en-US" dirty="0"/>
          </a:p>
          <a:p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hạng</a:t>
            </a:r>
            <a:endParaRPr lang="en-US" dirty="0"/>
          </a:p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en-US" dirty="0"/>
          </a:p>
          <a:p>
            <a:r>
              <a:rPr lang="en-US" dirty="0" err="1"/>
              <a:t>Cất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hạng</a:t>
            </a:r>
            <a:endParaRPr lang="en-US" dirty="0"/>
          </a:p>
          <a:p>
            <a:r>
              <a:rPr lang="en-US" dirty="0" err="1"/>
              <a:t>Ngắt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8229600" cy="2111009"/>
          </a:xfrm>
        </p:spPr>
        <p:txBody>
          <a:bodyPr>
            <a:normAutofit fontScale="77500" lnSpcReduction="20000"/>
          </a:bodyPr>
          <a:lstStyle/>
          <a:p>
            <a:r>
              <a:rPr lang="vi-VN" dirty="0"/>
              <a:t>CPU đưa địa chỉ của lệnh cần nhận từ bộ đếm chương trình PC ra bus địa chỉ</a:t>
            </a:r>
          </a:p>
          <a:p>
            <a:r>
              <a:rPr lang="vi-VN" dirty="0"/>
              <a:t>CPU phát tín hiệu điều khiển đọc bộ nhớ</a:t>
            </a:r>
          </a:p>
          <a:p>
            <a:r>
              <a:rPr lang="vi-VN" dirty="0"/>
              <a:t>Lệnh từ bộ nhớ được đặt lên bus dữ liệu và được CPU copy vào thanh ghi lệnh IR</a:t>
            </a:r>
          </a:p>
          <a:p>
            <a:r>
              <a:rPr lang="vi-VN" dirty="0"/>
              <a:t>CPU tăng nội dung PC để trỏ sang lệnh kế</a:t>
            </a:r>
            <a:r>
              <a:rPr lang="en-US" dirty="0"/>
              <a:t> </a:t>
            </a:r>
            <a:r>
              <a:rPr lang="vi-VN" dirty="0"/>
              <a:t>tiếp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733800"/>
            <a:ext cx="52578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vi-VN" dirty="0"/>
              <a:t>Lệnh từ thanh ghi lệnh IR được đưa đến đơn vị điều khiển</a:t>
            </a:r>
          </a:p>
          <a:p>
            <a:r>
              <a:rPr lang="vi-VN" dirty="0"/>
              <a:t>Đơn vị điều khiển tiến hành giải mã lệnh để</a:t>
            </a:r>
            <a:r>
              <a:rPr lang="en-US" dirty="0"/>
              <a:t> </a:t>
            </a:r>
            <a:r>
              <a:rPr lang="vi-VN" dirty="0"/>
              <a:t>xác định thao tác phải thực hiện</a:t>
            </a:r>
          </a:p>
          <a:p>
            <a:r>
              <a:rPr lang="vi-VN" dirty="0"/>
              <a:t>Giải mã lệnh xảy ra bên trong CPU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133600"/>
          </a:xfrm>
        </p:spPr>
        <p:txBody>
          <a:bodyPr>
            <a:normAutofit/>
          </a:bodyPr>
          <a:lstStyle/>
          <a:p>
            <a:r>
              <a:rPr lang="vi-VN" sz="2800" dirty="0"/>
              <a:t>CPU đưa địa chỉ của toán hạng ra bus địa chỉ</a:t>
            </a:r>
          </a:p>
          <a:p>
            <a:r>
              <a:rPr lang="vi-VN" sz="2800" dirty="0"/>
              <a:t>CPU phát tín hiệu điều khiển đọc</a:t>
            </a:r>
          </a:p>
          <a:p>
            <a:r>
              <a:rPr lang="vi-VN" sz="2800" dirty="0"/>
              <a:t>Toán hạng được đọc vào CPU</a:t>
            </a:r>
          </a:p>
          <a:p>
            <a:r>
              <a:rPr lang="vi-VN" sz="2800" dirty="0"/>
              <a:t>Tương tự như nhận lệnh</a:t>
            </a:r>
            <a:endParaRPr lang="en-US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3733800"/>
            <a:ext cx="520065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gián</a:t>
            </a:r>
            <a:r>
              <a:rPr lang="en-US" dirty="0"/>
              <a:t> </a:t>
            </a:r>
            <a:r>
              <a:rPr lang="en-US" dirty="0" err="1"/>
              <a:t>tiếp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534400" cy="2057400"/>
          </a:xfrm>
        </p:spPr>
        <p:txBody>
          <a:bodyPr>
            <a:normAutofit fontScale="55000" lnSpcReduction="20000"/>
          </a:bodyPr>
          <a:lstStyle/>
          <a:p>
            <a:r>
              <a:rPr lang="vi-VN" dirty="0"/>
              <a:t>CPU đưa địa chỉ ra bus địa chỉ</a:t>
            </a:r>
          </a:p>
          <a:p>
            <a:r>
              <a:rPr lang="vi-VN" dirty="0"/>
              <a:t>CPU phát tín hiệu điều khiển đọc</a:t>
            </a:r>
          </a:p>
          <a:p>
            <a:r>
              <a:rPr lang="vi-VN" dirty="0"/>
              <a:t>Nội dung ngăn nhớ được đọc vào CPU, </a:t>
            </a:r>
            <a:r>
              <a:rPr lang="vi-VN" b="1" dirty="0"/>
              <a:t>đó</a:t>
            </a:r>
            <a:r>
              <a:rPr lang="en-US" b="1" dirty="0"/>
              <a:t> </a:t>
            </a:r>
            <a:r>
              <a:rPr lang="vi-VN" b="1" dirty="0"/>
              <a:t>chính là địa chỉ của toán hạng</a:t>
            </a:r>
            <a:r>
              <a:rPr lang="en-US" b="1" dirty="0"/>
              <a:t> </a:t>
            </a:r>
            <a:r>
              <a:rPr lang="en-US" i="1" dirty="0"/>
              <a:t>(</a:t>
            </a:r>
            <a:r>
              <a:rPr lang="en-US" i="1" dirty="0" err="1"/>
              <a:t>gián</a:t>
            </a:r>
            <a:r>
              <a:rPr lang="en-US" i="1" dirty="0"/>
              <a:t> </a:t>
            </a:r>
            <a:r>
              <a:rPr lang="en-US" i="1" dirty="0" err="1"/>
              <a:t>tiếp</a:t>
            </a:r>
            <a:r>
              <a:rPr lang="en-US" i="1" dirty="0"/>
              <a:t>)</a:t>
            </a:r>
            <a:endParaRPr lang="vi-VN" i="1" dirty="0"/>
          </a:p>
          <a:p>
            <a:r>
              <a:rPr lang="vi-VN" dirty="0"/>
              <a:t>Địa chỉ này được CPU phát ra bus địa chỉ để</a:t>
            </a:r>
            <a:r>
              <a:rPr lang="en-US" dirty="0"/>
              <a:t> </a:t>
            </a:r>
            <a:r>
              <a:rPr lang="vi-VN" dirty="0"/>
              <a:t>tìm ra toán hạng</a:t>
            </a:r>
          </a:p>
          <a:p>
            <a:r>
              <a:rPr lang="vi-VN" dirty="0"/>
              <a:t>CPU phát tín hiệu điều khiển đọc</a:t>
            </a:r>
          </a:p>
          <a:p>
            <a:r>
              <a:rPr lang="vi-VN" dirty="0"/>
              <a:t>Toán hạng được đọc vào CPU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3733800"/>
            <a:ext cx="5257800" cy="2922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vi-VN" dirty="0"/>
              <a:t>Có nhiều dạng tuỳ thuộc vào lệnh</a:t>
            </a:r>
          </a:p>
          <a:p>
            <a:r>
              <a:rPr lang="vi-VN" dirty="0"/>
              <a:t>Có thể là:</a:t>
            </a:r>
          </a:p>
          <a:p>
            <a:pPr lvl="1"/>
            <a:r>
              <a:rPr lang="vi-VN" dirty="0"/>
              <a:t>Đọc/Ghi bộ nhớ</a:t>
            </a:r>
          </a:p>
          <a:p>
            <a:pPr lvl="1"/>
            <a:r>
              <a:rPr lang="vi-VN" dirty="0"/>
              <a:t>Vào/Ra</a:t>
            </a:r>
          </a:p>
          <a:p>
            <a:pPr lvl="1"/>
            <a:r>
              <a:rPr lang="vi-VN" dirty="0"/>
              <a:t>Chuyển giữa các thanh ghi</a:t>
            </a:r>
          </a:p>
          <a:p>
            <a:pPr lvl="1"/>
            <a:r>
              <a:rPr lang="vi-VN" dirty="0"/>
              <a:t>Thao tác số học/logic</a:t>
            </a:r>
          </a:p>
          <a:p>
            <a:pPr lvl="1"/>
            <a:r>
              <a:rPr lang="vi-VN" dirty="0"/>
              <a:t>Chuyển điều khiển (rẽ nhánh)</a:t>
            </a:r>
          </a:p>
          <a:p>
            <a:pPr lvl="1"/>
            <a:r>
              <a:rPr lang="vi-VN" dirty="0"/>
              <a:t>…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hạng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24000"/>
            <a:ext cx="8229600" cy="1730009"/>
          </a:xfrm>
        </p:spPr>
        <p:txBody>
          <a:bodyPr>
            <a:normAutofit/>
          </a:bodyPr>
          <a:lstStyle/>
          <a:p>
            <a:r>
              <a:rPr lang="vi-VN" sz="2000" dirty="0"/>
              <a:t>CPU đưa địa chỉ ra bus địa chỉ</a:t>
            </a:r>
          </a:p>
          <a:p>
            <a:r>
              <a:rPr lang="vi-VN" sz="2000" dirty="0"/>
              <a:t>CPU đưa dữ liệu cần ghi ra bus dữ liệu</a:t>
            </a:r>
          </a:p>
          <a:p>
            <a:r>
              <a:rPr lang="vi-VN" sz="2000" dirty="0"/>
              <a:t>CPU phát tín hiệu điều khiển ghi</a:t>
            </a:r>
          </a:p>
          <a:p>
            <a:r>
              <a:rPr lang="vi-VN" sz="2000" dirty="0"/>
              <a:t>Dữ liệu trên bus dữ liệu được copy đến vị trí</a:t>
            </a:r>
            <a:r>
              <a:rPr lang="en-US" sz="2000" dirty="0"/>
              <a:t> </a:t>
            </a:r>
            <a:r>
              <a:rPr lang="vi-VN" sz="2000" dirty="0"/>
              <a:t>xác định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3352800"/>
            <a:ext cx="5791200" cy="309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3" cstate="print"/>
          <a:srcRect b="20042"/>
          <a:stretch>
            <a:fillRect/>
          </a:stretch>
        </p:blipFill>
        <p:spPr bwMode="auto">
          <a:xfrm>
            <a:off x="2209800" y="1752600"/>
            <a:ext cx="4876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– Chu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en-US" dirty="0"/>
          </a:p>
        </p:txBody>
      </p:sp>
      <p:pic>
        <p:nvPicPr>
          <p:cNvPr id="52228" name="Picture 4"/>
          <p:cNvPicPr>
            <a:picLocks noChangeAspect="1" noChangeArrowheads="1"/>
          </p:cNvPicPr>
          <p:nvPr/>
        </p:nvPicPr>
        <p:blipFill>
          <a:blip r:embed="rId3" cstate="print"/>
          <a:srcRect b="27023"/>
          <a:stretch>
            <a:fillRect/>
          </a:stretch>
        </p:blipFill>
        <p:spPr bwMode="auto">
          <a:xfrm>
            <a:off x="457200" y="1851025"/>
            <a:ext cx="8229600" cy="424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Ngắt</a:t>
            </a:r>
            <a:r>
              <a:rPr lang="en-GB" dirty="0"/>
              <a:t> (Interrupts)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458200" cy="5105400"/>
          </a:xfrm>
        </p:spPr>
        <p:txBody>
          <a:bodyPr>
            <a:normAutofit lnSpcReduction="10000"/>
          </a:bodyPr>
          <a:lstStyle/>
          <a:p>
            <a:r>
              <a:rPr lang="en-GB" dirty="0" err="1"/>
              <a:t>Là</a:t>
            </a:r>
            <a:r>
              <a:rPr lang="en-GB" dirty="0"/>
              <a:t> </a:t>
            </a:r>
            <a:r>
              <a:rPr lang="en-GB" dirty="0" err="1"/>
              <a:t>kỹ</a:t>
            </a:r>
            <a:r>
              <a:rPr lang="en-GB" dirty="0"/>
              <a:t> </a:t>
            </a:r>
            <a:r>
              <a:rPr lang="en-GB" dirty="0" err="1"/>
              <a:t>thuật</a:t>
            </a:r>
            <a:r>
              <a:rPr lang="en-GB" dirty="0"/>
              <a:t> </a:t>
            </a:r>
            <a:r>
              <a:rPr lang="en-GB" dirty="0" err="1"/>
              <a:t>cho</a:t>
            </a:r>
            <a:r>
              <a:rPr lang="en-GB" dirty="0"/>
              <a:t> </a:t>
            </a:r>
            <a:r>
              <a:rPr lang="en-GB" dirty="0" err="1"/>
              <a:t>phép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module </a:t>
            </a:r>
            <a:r>
              <a:rPr lang="en-GB" dirty="0" err="1"/>
              <a:t>khác</a:t>
            </a:r>
            <a:r>
              <a:rPr lang="en-GB" dirty="0"/>
              <a:t> (I/O) </a:t>
            </a:r>
            <a:r>
              <a:rPr lang="en-GB" dirty="0" err="1"/>
              <a:t>có</a:t>
            </a:r>
            <a:r>
              <a:rPr lang="en-GB" dirty="0"/>
              <a:t> </a:t>
            </a:r>
            <a:r>
              <a:rPr lang="en-GB" dirty="0" err="1"/>
              <a:t>thể</a:t>
            </a:r>
            <a:r>
              <a:rPr lang="en-GB" dirty="0"/>
              <a:t> </a:t>
            </a:r>
            <a:r>
              <a:rPr lang="en-GB" dirty="0" err="1"/>
              <a:t>ngắt</a:t>
            </a:r>
            <a:r>
              <a:rPr lang="en-GB" dirty="0"/>
              <a:t> </a:t>
            </a:r>
            <a:r>
              <a:rPr lang="en-GB" dirty="0" err="1"/>
              <a:t>ngang</a:t>
            </a:r>
            <a:r>
              <a:rPr lang="en-GB" dirty="0"/>
              <a:t> </a:t>
            </a:r>
            <a:r>
              <a:rPr lang="en-GB" dirty="0" err="1"/>
              <a:t>tiến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</a:t>
            </a:r>
            <a:r>
              <a:rPr lang="en-GB" dirty="0" err="1"/>
              <a:t>xử</a:t>
            </a:r>
            <a:r>
              <a:rPr lang="en-GB" dirty="0"/>
              <a:t> </a:t>
            </a:r>
            <a:r>
              <a:rPr lang="en-GB" dirty="0" err="1"/>
              <a:t>lý</a:t>
            </a:r>
            <a:r>
              <a:rPr lang="en-GB" dirty="0"/>
              <a:t> </a:t>
            </a:r>
            <a:r>
              <a:rPr lang="en-GB" dirty="0" err="1"/>
              <a:t>bình</a:t>
            </a:r>
            <a:r>
              <a:rPr lang="en-GB" dirty="0"/>
              <a:t> </a:t>
            </a:r>
            <a:r>
              <a:rPr lang="en-GB" dirty="0" err="1"/>
              <a:t>thường</a:t>
            </a:r>
            <a:endParaRPr lang="en-GB" dirty="0"/>
          </a:p>
          <a:p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loại</a:t>
            </a:r>
            <a:r>
              <a:rPr lang="en-GB" dirty="0"/>
              <a:t> </a:t>
            </a:r>
            <a:r>
              <a:rPr lang="en-GB" dirty="0" err="1"/>
              <a:t>ngắt</a:t>
            </a:r>
            <a:r>
              <a:rPr lang="en-GB" dirty="0"/>
              <a:t>:</a:t>
            </a:r>
          </a:p>
          <a:p>
            <a:pPr lvl="1"/>
            <a:r>
              <a:rPr lang="en-GB" dirty="0" err="1"/>
              <a:t>Chương</a:t>
            </a:r>
            <a:r>
              <a:rPr lang="en-GB" dirty="0"/>
              <a:t> </a:t>
            </a:r>
            <a:r>
              <a:rPr lang="en-GB" dirty="0" err="1"/>
              <a:t>trình</a:t>
            </a:r>
            <a:r>
              <a:rPr lang="en-GB" dirty="0"/>
              <a:t> (program)</a:t>
            </a:r>
          </a:p>
          <a:p>
            <a:pPr lvl="2"/>
            <a:r>
              <a:rPr lang="en-GB" dirty="0"/>
              <a:t>overflow, division by zero</a:t>
            </a:r>
          </a:p>
          <a:p>
            <a:pPr lvl="1"/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thời</a:t>
            </a:r>
            <a:r>
              <a:rPr lang="en-GB" dirty="0"/>
              <a:t> (Timer)</a:t>
            </a:r>
          </a:p>
          <a:p>
            <a:pPr lvl="2"/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tạo</a:t>
            </a:r>
            <a:r>
              <a:rPr lang="en-GB" dirty="0"/>
              <a:t> </a:t>
            </a:r>
            <a:r>
              <a:rPr lang="en-GB" dirty="0" err="1"/>
              <a:t>bởi</a:t>
            </a:r>
            <a:r>
              <a:rPr lang="en-GB" dirty="0"/>
              <a:t> </a:t>
            </a:r>
            <a:r>
              <a:rPr lang="en-GB" dirty="0" err="1"/>
              <a:t>bộ</a:t>
            </a:r>
            <a:r>
              <a:rPr lang="en-GB" dirty="0"/>
              <a:t> </a:t>
            </a:r>
            <a:r>
              <a:rPr lang="en-GB" dirty="0" err="1"/>
              <a:t>định</a:t>
            </a:r>
            <a:r>
              <a:rPr lang="en-GB" dirty="0"/>
              <a:t> </a:t>
            </a:r>
            <a:r>
              <a:rPr lang="en-GB" dirty="0" err="1"/>
              <a:t>thời</a:t>
            </a:r>
            <a:r>
              <a:rPr lang="en-GB" dirty="0"/>
              <a:t> </a:t>
            </a:r>
            <a:r>
              <a:rPr lang="en-GB" dirty="0" err="1"/>
              <a:t>bên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CPU</a:t>
            </a:r>
          </a:p>
          <a:p>
            <a:pPr lvl="2"/>
            <a:r>
              <a:rPr lang="en-GB" dirty="0" err="1"/>
              <a:t>Được</a:t>
            </a:r>
            <a:r>
              <a:rPr lang="en-GB" dirty="0"/>
              <a:t> </a:t>
            </a:r>
            <a:r>
              <a:rPr lang="en-GB" dirty="0" err="1"/>
              <a:t>dùng</a:t>
            </a:r>
            <a:r>
              <a:rPr lang="en-GB" dirty="0"/>
              <a:t> ở </a:t>
            </a:r>
            <a:r>
              <a:rPr lang="en-GB" dirty="0" err="1"/>
              <a:t>chế</a:t>
            </a:r>
            <a:r>
              <a:rPr lang="en-GB" dirty="0"/>
              <a:t> </a:t>
            </a:r>
            <a:r>
              <a:rPr lang="en-GB" dirty="0" err="1"/>
              <a:t>độ</a:t>
            </a:r>
            <a:r>
              <a:rPr lang="en-GB" dirty="0"/>
              <a:t> </a:t>
            </a:r>
            <a:r>
              <a:rPr lang="en-GB" dirty="0" err="1"/>
              <a:t>độc</a:t>
            </a:r>
            <a:r>
              <a:rPr lang="en-GB" dirty="0"/>
              <a:t> </a:t>
            </a:r>
            <a:r>
              <a:rPr lang="en-GB" dirty="0" err="1"/>
              <a:t>quyển</a:t>
            </a:r>
            <a:r>
              <a:rPr lang="en-GB" dirty="0"/>
              <a:t> </a:t>
            </a:r>
            <a:r>
              <a:rPr lang="en-GB" dirty="0" err="1"/>
              <a:t>trong</a:t>
            </a:r>
            <a:r>
              <a:rPr lang="en-GB" dirty="0"/>
              <a:t> </a:t>
            </a:r>
            <a:r>
              <a:rPr lang="en-GB" dirty="0" err="1"/>
              <a:t>các</a:t>
            </a:r>
            <a:r>
              <a:rPr lang="en-GB" dirty="0"/>
              <a:t> </a:t>
            </a:r>
            <a:r>
              <a:rPr lang="en-GB" dirty="0" err="1"/>
              <a:t>hệ</a:t>
            </a:r>
            <a:r>
              <a:rPr lang="en-GB" dirty="0"/>
              <a:t> </a:t>
            </a:r>
            <a:r>
              <a:rPr lang="en-GB" dirty="0" err="1"/>
              <a:t>thống</a:t>
            </a:r>
            <a:r>
              <a:rPr lang="en-GB" dirty="0"/>
              <a:t> </a:t>
            </a:r>
            <a:r>
              <a:rPr lang="en-GB" dirty="0" err="1"/>
              <a:t>đa</a:t>
            </a:r>
            <a:r>
              <a:rPr lang="en-GB" dirty="0"/>
              <a:t> </a:t>
            </a:r>
            <a:r>
              <a:rPr lang="en-GB" dirty="0" err="1"/>
              <a:t>nhiệm</a:t>
            </a:r>
            <a:endParaRPr lang="en-GB" dirty="0"/>
          </a:p>
          <a:p>
            <a:pPr lvl="1"/>
            <a:r>
              <a:rPr lang="en-GB" dirty="0"/>
              <a:t>I/O</a:t>
            </a:r>
          </a:p>
          <a:p>
            <a:pPr lvl="2"/>
            <a:r>
              <a:rPr lang="en-GB" dirty="0" err="1"/>
              <a:t>Từ</a:t>
            </a:r>
            <a:r>
              <a:rPr lang="en-GB" dirty="0"/>
              <a:t> I/O controller</a:t>
            </a:r>
          </a:p>
          <a:p>
            <a:pPr lvl="1"/>
            <a:r>
              <a:rPr lang="en-GB" dirty="0" err="1"/>
              <a:t>Lỗi</a:t>
            </a:r>
            <a:r>
              <a:rPr lang="en-GB" dirty="0"/>
              <a:t> </a:t>
            </a:r>
            <a:r>
              <a:rPr lang="en-GB" dirty="0" err="1"/>
              <a:t>phần</a:t>
            </a:r>
            <a:r>
              <a:rPr lang="en-GB" dirty="0"/>
              <a:t> </a:t>
            </a:r>
            <a:r>
              <a:rPr lang="en-GB" dirty="0" err="1"/>
              <a:t>cứng</a:t>
            </a:r>
            <a:endParaRPr lang="en-GB" dirty="0"/>
          </a:p>
          <a:p>
            <a:pPr lvl="2"/>
            <a:r>
              <a:rPr lang="en-GB" dirty="0"/>
              <a:t>memory parity error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pic>
        <p:nvPicPr>
          <p:cNvPr id="53253" name="Picture 5"/>
          <p:cNvPicPr>
            <a:picLocks noChangeAspect="1" noChangeArrowheads="1"/>
          </p:cNvPicPr>
          <p:nvPr/>
        </p:nvPicPr>
        <p:blipFill>
          <a:blip r:embed="rId3" cstate="print"/>
          <a:srcRect b="14285"/>
          <a:stretch>
            <a:fillRect/>
          </a:stretch>
        </p:blipFill>
        <p:spPr bwMode="auto">
          <a:xfrm>
            <a:off x="533400" y="1676400"/>
            <a:ext cx="8001000" cy="500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ngắt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8229600" cy="2514599"/>
          </a:xfrm>
        </p:spPr>
        <p:txBody>
          <a:bodyPr>
            <a:normAutofit fontScale="62500" lnSpcReduction="20000"/>
          </a:bodyPr>
          <a:lstStyle/>
          <a:p>
            <a:r>
              <a:rPr lang="vi-VN" dirty="0"/>
              <a:t>Nội dung của bộ đếm chương trình PC (địa chỉ tr</a:t>
            </a:r>
            <a:r>
              <a:rPr lang="en-US" dirty="0"/>
              <a:t>ả </a:t>
            </a:r>
            <a:r>
              <a:rPr lang="vi-VN" dirty="0"/>
              <a:t>về sau khi ngắt) được đưa ra bus dữ liệu</a:t>
            </a:r>
          </a:p>
          <a:p>
            <a:r>
              <a:rPr lang="vi-VN" dirty="0"/>
              <a:t>CPU đưa địa chỉ (thường được lấy từ con trỏ ngăn</a:t>
            </a:r>
            <a:r>
              <a:rPr lang="en-US" dirty="0"/>
              <a:t> </a:t>
            </a:r>
            <a:r>
              <a:rPr lang="vi-VN" dirty="0"/>
              <a:t>xếp SP) ra bus địa chỉ</a:t>
            </a:r>
          </a:p>
          <a:p>
            <a:r>
              <a:rPr lang="vi-VN" dirty="0"/>
              <a:t>CPU phát tín hiệu điều khiển ghi bộ nhớ</a:t>
            </a:r>
          </a:p>
          <a:p>
            <a:r>
              <a:rPr lang="vi-VN" dirty="0"/>
              <a:t>Địa chỉ tr</a:t>
            </a:r>
            <a:r>
              <a:rPr lang="en-US" dirty="0"/>
              <a:t>ả</a:t>
            </a:r>
            <a:r>
              <a:rPr lang="vi-VN" dirty="0"/>
              <a:t> về trên bus dữ liệu được ghi ra vị trí xác định (ở ngăn xếp)</a:t>
            </a:r>
          </a:p>
          <a:p>
            <a:r>
              <a:rPr lang="vi-VN" dirty="0"/>
              <a:t>Địa chỉ lệnh đầu tiên của chương trình con điều khiển ngắt được nạp vào PC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3352800"/>
            <a:ext cx="517017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Lưu</a:t>
            </a:r>
            <a:r>
              <a:rPr lang="en-US" sz="3200" dirty="0"/>
              <a:t> </a:t>
            </a:r>
            <a:r>
              <a:rPr lang="en-US" sz="3200" dirty="0" err="1"/>
              <a:t>đồ</a:t>
            </a:r>
            <a:r>
              <a:rPr lang="en-US" sz="3200" dirty="0"/>
              <a:t> </a:t>
            </a:r>
            <a:r>
              <a:rPr lang="en-US" sz="3200" dirty="0" err="1"/>
              <a:t>trạng</a:t>
            </a:r>
            <a:r>
              <a:rPr lang="en-US" sz="3200" dirty="0"/>
              <a:t> </a:t>
            </a:r>
            <a:r>
              <a:rPr lang="en-US" sz="3200" dirty="0" err="1"/>
              <a:t>thái</a:t>
            </a:r>
            <a:r>
              <a:rPr lang="en-US" sz="3200" dirty="0"/>
              <a:t> </a:t>
            </a:r>
            <a:r>
              <a:rPr lang="en-US" sz="3200" dirty="0" err="1"/>
              <a:t>trong</a:t>
            </a:r>
            <a:r>
              <a:rPr lang="en-US" sz="3200" dirty="0"/>
              <a:t> </a:t>
            </a:r>
            <a:r>
              <a:rPr lang="en-US" sz="3200" dirty="0" err="1"/>
              <a:t>chu</a:t>
            </a:r>
            <a:r>
              <a:rPr lang="en-US" sz="3200" dirty="0"/>
              <a:t> </a:t>
            </a:r>
            <a:r>
              <a:rPr lang="en-US" sz="3200" dirty="0" err="1"/>
              <a:t>kỳ</a:t>
            </a:r>
            <a:r>
              <a:rPr lang="en-US" sz="3200" dirty="0"/>
              <a:t> </a:t>
            </a:r>
            <a:r>
              <a:rPr lang="en-US" sz="3200" dirty="0" err="1"/>
              <a:t>lệnh</a:t>
            </a:r>
            <a:r>
              <a:rPr lang="en-US" sz="3200" dirty="0"/>
              <a:t> </a:t>
            </a:r>
            <a:r>
              <a:rPr lang="en-US" sz="3200" dirty="0" err="1"/>
              <a:t>có</a:t>
            </a:r>
            <a:r>
              <a:rPr lang="en-US" sz="3200" dirty="0"/>
              <a:t> </a:t>
            </a:r>
            <a:r>
              <a:rPr lang="en-US" sz="3200" dirty="0" err="1"/>
              <a:t>ngắt</a:t>
            </a:r>
            <a:endParaRPr lang="en-US" sz="3200" dirty="0"/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3" cstate="print"/>
          <a:srcRect b="24263"/>
          <a:stretch>
            <a:fillRect/>
          </a:stretch>
        </p:blipFill>
        <p:spPr bwMode="auto">
          <a:xfrm>
            <a:off x="457200" y="2343150"/>
            <a:ext cx="8153400" cy="337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ngắt</a:t>
            </a:r>
            <a:endParaRPr 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1600200"/>
            <a:ext cx="8382000" cy="4743450"/>
          </a:xfrm>
        </p:spPr>
        <p:txBody>
          <a:bodyPr>
            <a:normAutofit/>
          </a:bodyPr>
          <a:lstStyle/>
          <a:p>
            <a:r>
              <a:rPr lang="en-US" dirty="0" err="1"/>
              <a:t>Cấm</a:t>
            </a:r>
            <a:r>
              <a:rPr lang="en-US" dirty="0"/>
              <a:t> </a:t>
            </a:r>
            <a:r>
              <a:rPr lang="en-US" dirty="0" err="1"/>
              <a:t>ngắt</a:t>
            </a:r>
            <a:endParaRPr lang="en-US" dirty="0"/>
          </a:p>
          <a:p>
            <a:pPr lvl="1"/>
            <a:r>
              <a:rPr lang="en-US" dirty="0"/>
              <a:t>CPU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qua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,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.</a:t>
            </a:r>
          </a:p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ngắt</a:t>
            </a:r>
            <a:endParaRPr lang="en-US" dirty="0"/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, CPU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- </a:t>
            </a:r>
            <a:r>
              <a:rPr lang="en-US" dirty="0" err="1"/>
              <a:t>Tuần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</p:txBody>
      </p:sp>
      <p:pic>
        <p:nvPicPr>
          <p:cNvPr id="59396" name="Picture 4"/>
          <p:cNvPicPr>
            <a:picLocks noChangeAspect="1" noChangeArrowheads="1"/>
          </p:cNvPicPr>
          <p:nvPr/>
        </p:nvPicPr>
        <p:blipFill>
          <a:blip r:embed="rId3" cstate="print"/>
          <a:srcRect b="57561"/>
          <a:stretch>
            <a:fillRect/>
          </a:stretch>
        </p:blipFill>
        <p:spPr bwMode="auto">
          <a:xfrm>
            <a:off x="1066800" y="1766888"/>
            <a:ext cx="7010400" cy="4557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- </a:t>
            </a:r>
            <a:r>
              <a:rPr lang="en-US" dirty="0" err="1"/>
              <a:t>Lồng</a:t>
            </a:r>
            <a:endParaRPr lang="en-US" dirty="0"/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3" cstate="print"/>
          <a:srcRect t="47769" b="8717"/>
          <a:stretch>
            <a:fillRect/>
          </a:stretch>
        </p:blipFill>
        <p:spPr bwMode="auto">
          <a:xfrm>
            <a:off x="762000" y="1676400"/>
            <a:ext cx="7467600" cy="497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ngắt</a:t>
            </a:r>
            <a:endParaRPr lang="en-US" dirty="0"/>
          </a:p>
        </p:txBody>
      </p:sp>
      <p:pic>
        <p:nvPicPr>
          <p:cNvPr id="11366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33400" y="1752600"/>
            <a:ext cx="8102600" cy="4724400"/>
          </a:xfrm>
          <a:noFill/>
          <a:ln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Đường</a:t>
            </a:r>
            <a:r>
              <a:rPr lang="en-US" sz="3600" dirty="0"/>
              <a:t> </a:t>
            </a:r>
            <a:r>
              <a:rPr lang="en-US" sz="3600" dirty="0" err="1"/>
              <a:t>ống</a:t>
            </a:r>
            <a:r>
              <a:rPr lang="en-US" sz="3600" dirty="0"/>
              <a:t> </a:t>
            </a:r>
            <a:r>
              <a:rPr lang="en-US" sz="3600" dirty="0" err="1"/>
              <a:t>lệnh</a:t>
            </a:r>
            <a:r>
              <a:rPr lang="en-US" sz="3600" dirty="0"/>
              <a:t> (Instruction Pipelining)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71650"/>
            <a:ext cx="8077200" cy="4171950"/>
          </a:xfrm>
        </p:spPr>
        <p:txBody>
          <a:bodyPr>
            <a:normAutofit fontScale="92500" lnSpcReduction="20000"/>
          </a:bodyPr>
          <a:lstStyle/>
          <a:p>
            <a:r>
              <a:rPr lang="vi-VN" dirty="0"/>
              <a:t>Chia chu  trình lệnh  thành các công đoạn và cho phép thực hiện gối lên nhau (như dây chuyền lắp ráp)</a:t>
            </a:r>
            <a:endParaRPr lang="en-US" dirty="0"/>
          </a:p>
          <a:p>
            <a:r>
              <a:rPr lang="vi-VN" dirty="0"/>
              <a:t>Chẳng hạn có 6 công đoạn:</a:t>
            </a:r>
          </a:p>
          <a:p>
            <a:pPr lvl="1"/>
            <a:r>
              <a:rPr lang="vi-VN" dirty="0"/>
              <a:t>Nhận lệnh  (Fetch Instruction – FI)</a:t>
            </a:r>
          </a:p>
          <a:p>
            <a:pPr lvl="1"/>
            <a:r>
              <a:rPr lang="vi-VN" dirty="0"/>
              <a:t>Giải mã lệnh (Decode Instruction – DI)</a:t>
            </a:r>
          </a:p>
          <a:p>
            <a:pPr lvl="1"/>
            <a:r>
              <a:rPr lang="en-US" dirty="0"/>
              <a:t>T</a:t>
            </a:r>
            <a:r>
              <a:rPr lang="vi-VN" dirty="0"/>
              <a:t>ính địa chỉ toán hạng (Calculate Operand Address – CO)</a:t>
            </a:r>
          </a:p>
          <a:p>
            <a:pPr lvl="1"/>
            <a:r>
              <a:rPr lang="vi-VN" dirty="0"/>
              <a:t>Nhận toán hạng (Fetch Operands – FO)</a:t>
            </a:r>
          </a:p>
          <a:p>
            <a:pPr lvl="1"/>
            <a:r>
              <a:rPr lang="vi-VN" dirty="0"/>
              <a:t>Thực hiện lệnh (Execute Instruction – EI)</a:t>
            </a:r>
          </a:p>
          <a:p>
            <a:pPr lvl="1"/>
            <a:r>
              <a:rPr lang="vi-VN" dirty="0"/>
              <a:t>Ghi toán hạng (Write Operands – WO)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Biểu</a:t>
            </a:r>
            <a:r>
              <a:rPr lang="en-US" sz="3600" dirty="0"/>
              <a:t> </a:t>
            </a:r>
            <a:r>
              <a:rPr lang="en-US" sz="3600" dirty="0" err="1"/>
              <a:t>đồ</a:t>
            </a:r>
            <a:r>
              <a:rPr lang="en-US" sz="3600" dirty="0"/>
              <a:t> </a:t>
            </a:r>
            <a:r>
              <a:rPr lang="en-US" sz="3600" dirty="0" err="1"/>
              <a:t>thời</a:t>
            </a:r>
            <a:r>
              <a:rPr lang="en-US" sz="3600" dirty="0"/>
              <a:t> </a:t>
            </a:r>
            <a:r>
              <a:rPr lang="en-US" sz="3600" dirty="0" err="1"/>
              <a:t>gian</a:t>
            </a:r>
            <a:r>
              <a:rPr lang="en-US" sz="3600" dirty="0"/>
              <a:t> </a:t>
            </a:r>
            <a:r>
              <a:rPr lang="en-US" sz="3600" dirty="0" err="1"/>
              <a:t>của</a:t>
            </a:r>
            <a:r>
              <a:rPr lang="en-US" sz="3600" dirty="0"/>
              <a:t> </a:t>
            </a:r>
            <a:r>
              <a:rPr lang="en-US" sz="3600" dirty="0" err="1"/>
              <a:t>đường</a:t>
            </a:r>
            <a:r>
              <a:rPr lang="en-US" sz="3600" dirty="0"/>
              <a:t> </a:t>
            </a:r>
            <a:r>
              <a:rPr lang="en-US" sz="3600" dirty="0" err="1"/>
              <a:t>ống</a:t>
            </a:r>
            <a:r>
              <a:rPr lang="en-US" sz="3600" dirty="0"/>
              <a:t> </a:t>
            </a:r>
            <a:r>
              <a:rPr lang="en-US" sz="3600" dirty="0" err="1"/>
              <a:t>lệnh</a:t>
            </a:r>
            <a:endParaRPr lang="en-US" sz="3600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711740"/>
            <a:ext cx="8026400" cy="4765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ống</a:t>
            </a:r>
            <a:r>
              <a:rPr lang="en-US" dirty="0"/>
              <a:t> </a:t>
            </a:r>
            <a:r>
              <a:rPr lang="en-US" dirty="0" err="1"/>
              <a:t>lệnh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1885950"/>
            <a:ext cx="7950200" cy="2838450"/>
          </a:xfrm>
        </p:spPr>
        <p:txBody>
          <a:bodyPr>
            <a:normAutofit/>
          </a:bodyPr>
          <a:lstStyle/>
          <a:p>
            <a:r>
              <a:rPr lang="vi-VN" dirty="0"/>
              <a:t>Xung đột cấu trúc: do nhiều công đoạn dùng chung một tài nguyên</a:t>
            </a:r>
          </a:p>
          <a:p>
            <a:r>
              <a:rPr lang="vi-VN" dirty="0"/>
              <a:t>Xung đột dữ liệu: lệnh sau sử dụng dữ liệu kết quả của lệnh trước</a:t>
            </a:r>
          </a:p>
          <a:p>
            <a:r>
              <a:rPr lang="vi-VN" dirty="0"/>
              <a:t>Xung đột điều khiển: do rẽ nhánh gây ra</a:t>
            </a:r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685800" y="6019800"/>
            <a:ext cx="7950200" cy="457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Char char=""/>
              <a:tabLst/>
              <a:defRPr/>
            </a:pPr>
            <a:r>
              <a:rPr kumimoji="0" lang="en-US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Cách</a:t>
            </a:r>
            <a:r>
              <a:rPr kumimoji="0" lang="en-US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i="1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giải</a:t>
            </a:r>
            <a:r>
              <a:rPr kumimoji="0" lang="en-US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i="1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quyết</a:t>
            </a:r>
            <a:r>
              <a:rPr kumimoji="0" lang="en-US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en-US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bài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tập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tìm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hiểu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cho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sinh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viên</a:t>
            </a:r>
            <a:r>
              <a:rPr kumimoji="0" lang="en-US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CPU</a:t>
            </a:r>
          </a:p>
        </p:txBody>
      </p:sp>
      <p:sp>
        <p:nvSpPr>
          <p:cNvPr id="5" name="Oval 20" descr="50%"/>
          <p:cNvSpPr>
            <a:spLocks noChangeArrowheads="1"/>
          </p:cNvSpPr>
          <p:nvPr/>
        </p:nvSpPr>
        <p:spPr bwMode="auto">
          <a:xfrm>
            <a:off x="3886200" y="2057400"/>
            <a:ext cx="4724400" cy="4648200"/>
          </a:xfrm>
          <a:prstGeom prst="ellipse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6" name="Oval 25"/>
          <p:cNvSpPr>
            <a:spLocks noChangeArrowheads="1"/>
          </p:cNvSpPr>
          <p:nvPr/>
        </p:nvSpPr>
        <p:spPr bwMode="auto">
          <a:xfrm>
            <a:off x="5410200" y="3581400"/>
            <a:ext cx="1524000" cy="152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7" name="Oval 21"/>
          <p:cNvSpPr>
            <a:spLocks noChangeArrowheads="1"/>
          </p:cNvSpPr>
          <p:nvPr/>
        </p:nvSpPr>
        <p:spPr bwMode="auto">
          <a:xfrm>
            <a:off x="46482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8" name="Oval 22"/>
          <p:cNvSpPr>
            <a:spLocks noChangeArrowheads="1"/>
          </p:cNvSpPr>
          <p:nvPr/>
        </p:nvSpPr>
        <p:spPr bwMode="auto">
          <a:xfrm>
            <a:off x="76200" y="2971800"/>
            <a:ext cx="1981200" cy="2057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9" name="Oval 23"/>
          <p:cNvSpPr>
            <a:spLocks noChangeArrowheads="1"/>
          </p:cNvSpPr>
          <p:nvPr/>
        </p:nvSpPr>
        <p:spPr bwMode="auto">
          <a:xfrm>
            <a:off x="6400800" y="27432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0" name="Oval 24"/>
          <p:cNvSpPr>
            <a:spLocks noChangeArrowheads="1"/>
          </p:cNvSpPr>
          <p:nvPr/>
        </p:nvSpPr>
        <p:spPr bwMode="auto">
          <a:xfrm>
            <a:off x="5486400" y="4800600"/>
            <a:ext cx="1371600" cy="13716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1" name="Text Box 26"/>
          <p:cNvSpPr txBox="1">
            <a:spLocks noChangeArrowheads="1"/>
          </p:cNvSpPr>
          <p:nvPr/>
        </p:nvSpPr>
        <p:spPr bwMode="auto">
          <a:xfrm>
            <a:off x="603250" y="3016250"/>
            <a:ext cx="1073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GB"/>
              <a:t>Computer</a:t>
            </a:r>
            <a:endParaRPr lang="en-GB" sz="2400">
              <a:latin typeface="Times New Roman" pitchFamily="18" charset="0"/>
            </a:endParaRPr>
          </a:p>
        </p:txBody>
      </p:sp>
      <p:sp>
        <p:nvSpPr>
          <p:cNvPr id="12" name="Text Box 27"/>
          <p:cNvSpPr txBox="1">
            <a:spLocks noChangeArrowheads="1"/>
          </p:cNvSpPr>
          <p:nvPr/>
        </p:nvSpPr>
        <p:spPr bwMode="auto">
          <a:xfrm>
            <a:off x="6553200" y="2971800"/>
            <a:ext cx="1207680" cy="925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GB" dirty="0"/>
              <a:t>Arithmetic</a:t>
            </a:r>
          </a:p>
          <a:p>
            <a:pPr algn="l"/>
            <a:r>
              <a:rPr lang="en-GB" dirty="0"/>
              <a:t>and </a:t>
            </a:r>
          </a:p>
          <a:p>
            <a:pPr algn="l"/>
            <a:r>
              <a:rPr lang="en-GB"/>
              <a:t>Logic Unit</a:t>
            </a:r>
          </a:p>
        </p:txBody>
      </p:sp>
      <p:sp>
        <p:nvSpPr>
          <p:cNvPr id="13" name="Text Box 28"/>
          <p:cNvSpPr txBox="1">
            <a:spLocks noChangeArrowheads="1"/>
          </p:cNvSpPr>
          <p:nvPr/>
        </p:nvSpPr>
        <p:spPr bwMode="auto">
          <a:xfrm>
            <a:off x="5715000" y="5133975"/>
            <a:ext cx="8350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GB"/>
              <a:t>Control</a:t>
            </a:r>
          </a:p>
          <a:p>
            <a:pPr algn="l"/>
            <a:r>
              <a:rPr lang="en-GB"/>
              <a:t>Unit</a:t>
            </a:r>
          </a:p>
        </p:txBody>
      </p:sp>
      <p:sp>
        <p:nvSpPr>
          <p:cNvPr id="14" name="Text Box 29"/>
          <p:cNvSpPr txBox="1">
            <a:spLocks noChangeArrowheads="1"/>
          </p:cNvSpPr>
          <p:nvPr/>
        </p:nvSpPr>
        <p:spPr bwMode="auto">
          <a:xfrm>
            <a:off x="5410200" y="4067175"/>
            <a:ext cx="1570038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GB"/>
              <a:t>Internal CPU</a:t>
            </a:r>
          </a:p>
          <a:p>
            <a:pPr algn="l"/>
            <a:r>
              <a:rPr lang="en-GB"/>
              <a:t>Interconnection</a:t>
            </a:r>
          </a:p>
        </p:txBody>
      </p:sp>
      <p:sp>
        <p:nvSpPr>
          <p:cNvPr id="15" name="Line 30"/>
          <p:cNvSpPr>
            <a:spLocks noChangeShapeType="1"/>
          </p:cNvSpPr>
          <p:nvPr/>
        </p:nvSpPr>
        <p:spPr bwMode="auto">
          <a:xfrm flipV="1">
            <a:off x="1524000" y="2209800"/>
            <a:ext cx="38862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6" name="Line 31"/>
          <p:cNvSpPr>
            <a:spLocks noChangeShapeType="1"/>
          </p:cNvSpPr>
          <p:nvPr/>
        </p:nvSpPr>
        <p:spPr bwMode="auto">
          <a:xfrm>
            <a:off x="1524000" y="4343400"/>
            <a:ext cx="37338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7" name="Text Box 34"/>
          <p:cNvSpPr txBox="1">
            <a:spLocks noChangeArrowheads="1"/>
          </p:cNvSpPr>
          <p:nvPr/>
        </p:nvSpPr>
        <p:spPr bwMode="auto">
          <a:xfrm>
            <a:off x="4829175" y="3168650"/>
            <a:ext cx="103822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l"/>
            <a:r>
              <a:rPr lang="en-GB"/>
              <a:t>Registers</a:t>
            </a:r>
          </a:p>
        </p:txBody>
      </p:sp>
      <p:sp>
        <p:nvSpPr>
          <p:cNvPr id="18" name="Oval 37"/>
          <p:cNvSpPr>
            <a:spLocks noChangeArrowheads="1"/>
          </p:cNvSpPr>
          <p:nvPr/>
        </p:nvSpPr>
        <p:spPr bwMode="auto">
          <a:xfrm>
            <a:off x="1219200" y="3581400"/>
            <a:ext cx="6858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19" name="Text Box 38"/>
          <p:cNvSpPr txBox="1">
            <a:spLocks noChangeArrowheads="1"/>
          </p:cNvSpPr>
          <p:nvPr/>
        </p:nvSpPr>
        <p:spPr bwMode="auto">
          <a:xfrm>
            <a:off x="1327150" y="3810000"/>
            <a:ext cx="5016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r>
              <a:rPr lang="en-US" sz="1200"/>
              <a:t>CPU</a:t>
            </a:r>
            <a:endParaRPr lang="en-US"/>
          </a:p>
        </p:txBody>
      </p:sp>
      <p:sp>
        <p:nvSpPr>
          <p:cNvPr id="20" name="Oval 39"/>
          <p:cNvSpPr>
            <a:spLocks noChangeArrowheads="1"/>
          </p:cNvSpPr>
          <p:nvPr/>
        </p:nvSpPr>
        <p:spPr bwMode="auto">
          <a:xfrm>
            <a:off x="304800" y="3276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r>
              <a:rPr lang="en-US" sz="1200"/>
              <a:t>I/O</a:t>
            </a:r>
            <a:endParaRPr lang="en-US"/>
          </a:p>
        </p:txBody>
      </p:sp>
      <p:sp>
        <p:nvSpPr>
          <p:cNvPr id="21" name="Oval 40"/>
          <p:cNvSpPr>
            <a:spLocks noChangeArrowheads="1"/>
          </p:cNvSpPr>
          <p:nvPr/>
        </p:nvSpPr>
        <p:spPr bwMode="auto">
          <a:xfrm>
            <a:off x="381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2" name="Oval 41"/>
          <p:cNvSpPr>
            <a:spLocks noChangeArrowheads="1"/>
          </p:cNvSpPr>
          <p:nvPr/>
        </p:nvSpPr>
        <p:spPr bwMode="auto">
          <a:xfrm>
            <a:off x="609600" y="3581400"/>
            <a:ext cx="6858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endParaRPr lang="en-US"/>
          </a:p>
        </p:txBody>
      </p:sp>
      <p:sp>
        <p:nvSpPr>
          <p:cNvPr id="23" name="Text Box 43"/>
          <p:cNvSpPr txBox="1">
            <a:spLocks noChangeArrowheads="1"/>
          </p:cNvSpPr>
          <p:nvPr/>
        </p:nvSpPr>
        <p:spPr bwMode="auto">
          <a:xfrm>
            <a:off x="381000" y="4373563"/>
            <a:ext cx="7302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r>
              <a:rPr lang="en-US" sz="1200"/>
              <a:t>Memory</a:t>
            </a:r>
            <a:endParaRPr lang="en-US"/>
          </a:p>
        </p:txBody>
      </p:sp>
      <p:sp>
        <p:nvSpPr>
          <p:cNvPr id="24" name="Text Box 44"/>
          <p:cNvSpPr txBox="1">
            <a:spLocks noChangeArrowheads="1"/>
          </p:cNvSpPr>
          <p:nvPr/>
        </p:nvSpPr>
        <p:spPr bwMode="auto">
          <a:xfrm>
            <a:off x="606425" y="3810000"/>
            <a:ext cx="688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r>
              <a:rPr lang="en-US" sz="1200"/>
              <a:t>System</a:t>
            </a:r>
          </a:p>
          <a:p>
            <a:r>
              <a:rPr lang="en-US" sz="1200"/>
              <a:t>Bus</a:t>
            </a:r>
          </a:p>
        </p:txBody>
      </p:sp>
      <p:sp>
        <p:nvSpPr>
          <p:cNvPr id="25" name="Text Box 46"/>
          <p:cNvSpPr txBox="1">
            <a:spLocks noChangeArrowheads="1"/>
          </p:cNvSpPr>
          <p:nvPr/>
        </p:nvSpPr>
        <p:spPr bwMode="auto">
          <a:xfrm>
            <a:off x="5910263" y="2317750"/>
            <a:ext cx="7191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0000" tIns="46800" rIns="90000" bIns="46800" anchor="ctr">
            <a:spAutoFit/>
          </a:bodyPr>
          <a:lstStyle/>
          <a:p>
            <a:r>
              <a:rPr lang="en-US" sz="2000"/>
              <a:t>CPU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 –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8229600" cy="1730009"/>
          </a:xfrm>
        </p:spPr>
        <p:txBody>
          <a:bodyPr>
            <a:normAutofit/>
          </a:bodyPr>
          <a:lstStyle/>
          <a:p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: </a:t>
            </a:r>
            <a:r>
              <a:rPr lang="en-US" sz="2400" dirty="0" err="1"/>
              <a:t>cộng</a:t>
            </a:r>
            <a:r>
              <a:rPr lang="en-US" sz="2400" dirty="0"/>
              <a:t>, </a:t>
            </a:r>
            <a:r>
              <a:rPr lang="en-US" sz="2400" dirty="0" err="1"/>
              <a:t>trừ</a:t>
            </a:r>
            <a:r>
              <a:rPr lang="en-US" sz="2400" dirty="0"/>
              <a:t>, </a:t>
            </a:r>
            <a:r>
              <a:rPr lang="en-US" sz="2400" dirty="0" err="1"/>
              <a:t>nhân</a:t>
            </a:r>
            <a:r>
              <a:rPr lang="en-US" sz="2400" dirty="0"/>
              <a:t>, </a:t>
            </a:r>
            <a:r>
              <a:rPr lang="en-US" sz="2400" dirty="0" err="1"/>
              <a:t>chia</a:t>
            </a:r>
            <a:r>
              <a:rPr lang="en-US" sz="2400" dirty="0"/>
              <a:t>, </a:t>
            </a:r>
            <a:r>
              <a:rPr lang="en-US" sz="2400" dirty="0" err="1"/>
              <a:t>tăng</a:t>
            </a:r>
            <a:r>
              <a:rPr lang="en-US" sz="2400" dirty="0"/>
              <a:t> </a:t>
            </a:r>
            <a:r>
              <a:rPr lang="en-US" sz="2400" dirty="0" err="1"/>
              <a:t>giảm</a:t>
            </a:r>
            <a:r>
              <a:rPr lang="en-US" sz="2400" dirty="0"/>
              <a:t>, </a:t>
            </a:r>
            <a:r>
              <a:rPr lang="en-US" sz="2400" dirty="0" err="1"/>
              <a:t>đảo</a:t>
            </a:r>
            <a:r>
              <a:rPr lang="en-US" sz="2400" dirty="0"/>
              <a:t> </a:t>
            </a:r>
            <a:r>
              <a:rPr lang="en-US" sz="2400" dirty="0" err="1"/>
              <a:t>dấu</a:t>
            </a:r>
            <a:endParaRPr lang="en-US" sz="2400" dirty="0"/>
          </a:p>
          <a:p>
            <a:r>
              <a:rPr lang="en-US" sz="2400" dirty="0"/>
              <a:t>Logic: AND, OR, XOR, NOT,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dịch</a:t>
            </a:r>
            <a:r>
              <a:rPr lang="en-US" sz="2400" dirty="0"/>
              <a:t> bit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3276600"/>
            <a:ext cx="4419600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3124200"/>
            <a:ext cx="4419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 –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" y="1851391"/>
            <a:ext cx="4800600" cy="4625609"/>
          </a:xfrm>
        </p:spPr>
        <p:txBody>
          <a:bodyPr>
            <a:noAutofit/>
          </a:bodyPr>
          <a:lstStyle/>
          <a:p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lệnh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bộ</a:t>
            </a:r>
            <a:r>
              <a:rPr lang="en-US" sz="2000" dirty="0"/>
              <a:t> </a:t>
            </a:r>
            <a:r>
              <a:rPr lang="en-US" sz="2000" dirty="0" err="1"/>
              <a:t>nhớ</a:t>
            </a:r>
            <a:r>
              <a:rPr lang="en-US" sz="2000" dirty="0"/>
              <a:t> </a:t>
            </a:r>
            <a:r>
              <a:rPr lang="en-US" sz="2000" dirty="0" err="1"/>
              <a:t>đưa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thanh</a:t>
            </a:r>
            <a:r>
              <a:rPr lang="en-US" sz="2000" dirty="0"/>
              <a:t> </a:t>
            </a:r>
            <a:r>
              <a:rPr lang="en-US" sz="2000" dirty="0" err="1"/>
              <a:t>ghi</a:t>
            </a:r>
            <a:r>
              <a:rPr lang="en-US" sz="2000" dirty="0"/>
              <a:t> </a:t>
            </a:r>
            <a:r>
              <a:rPr lang="en-US" sz="2000" dirty="0" err="1"/>
              <a:t>lệnh</a:t>
            </a:r>
            <a:endParaRPr lang="en-US" sz="2000" dirty="0"/>
          </a:p>
          <a:p>
            <a:r>
              <a:rPr lang="en-US" sz="2000" dirty="0" err="1"/>
              <a:t>Tăng</a:t>
            </a:r>
            <a:r>
              <a:rPr lang="en-US" sz="2000" dirty="0"/>
              <a:t> </a:t>
            </a:r>
            <a:r>
              <a:rPr lang="en-US" sz="2000" dirty="0" err="1"/>
              <a:t>nội</a:t>
            </a:r>
            <a:r>
              <a:rPr lang="en-US" sz="2000" dirty="0"/>
              <a:t> dung </a:t>
            </a:r>
            <a:r>
              <a:rPr lang="en-US" sz="2000" dirty="0" err="1"/>
              <a:t>của</a:t>
            </a:r>
            <a:r>
              <a:rPr lang="en-US" sz="2000" dirty="0"/>
              <a:t> PC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trỏ</a:t>
            </a:r>
            <a:r>
              <a:rPr lang="en-US" sz="2000" dirty="0"/>
              <a:t> sang </a:t>
            </a:r>
            <a:r>
              <a:rPr lang="en-US" sz="2000" dirty="0" err="1"/>
              <a:t>lệnh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tiếp</a:t>
            </a:r>
            <a:endParaRPr lang="en-US" sz="2000" dirty="0"/>
          </a:p>
          <a:p>
            <a:r>
              <a:rPr lang="en-US" sz="2000" dirty="0" err="1"/>
              <a:t>Giải</a:t>
            </a:r>
            <a:r>
              <a:rPr lang="en-US" sz="2000" dirty="0"/>
              <a:t> </a:t>
            </a:r>
            <a:r>
              <a:rPr lang="en-US" sz="2000" dirty="0" err="1"/>
              <a:t>mã</a:t>
            </a:r>
            <a:r>
              <a:rPr lang="en-US" sz="2000" dirty="0"/>
              <a:t> </a:t>
            </a:r>
            <a:r>
              <a:rPr lang="en-US" sz="2000" dirty="0" err="1"/>
              <a:t>lệnh</a:t>
            </a:r>
            <a:r>
              <a:rPr lang="en-US" sz="2000" dirty="0"/>
              <a:t> </a:t>
            </a: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</a:t>
            </a:r>
            <a:r>
              <a:rPr lang="en-US" sz="2000" dirty="0" err="1"/>
              <a:t>thao</a:t>
            </a:r>
            <a:r>
              <a:rPr lang="en-US" sz="2000" dirty="0"/>
              <a:t> </a:t>
            </a:r>
            <a:r>
              <a:rPr lang="en-US" sz="2000" dirty="0" err="1"/>
              <a:t>tác</a:t>
            </a:r>
            <a:r>
              <a:rPr lang="en-US" sz="2000" dirty="0"/>
              <a:t> </a:t>
            </a:r>
            <a:r>
              <a:rPr lang="en-US" sz="2000" dirty="0" err="1"/>
              <a:t>mà</a:t>
            </a:r>
            <a:r>
              <a:rPr lang="en-US" sz="2000" dirty="0"/>
              <a:t> </a:t>
            </a:r>
            <a:r>
              <a:rPr lang="en-US" sz="2000" dirty="0" err="1"/>
              <a:t>lệnh</a:t>
            </a:r>
            <a:r>
              <a:rPr lang="en-US" sz="2000" dirty="0"/>
              <a:t> </a:t>
            </a:r>
            <a:r>
              <a:rPr lang="en-US" sz="2000" dirty="0" err="1"/>
              <a:t>yêu</a:t>
            </a:r>
            <a:r>
              <a:rPr lang="en-US" sz="2000" dirty="0"/>
              <a:t> </a:t>
            </a:r>
            <a:r>
              <a:rPr lang="en-US" sz="2000" dirty="0" err="1"/>
              <a:t>cầu</a:t>
            </a:r>
            <a:endParaRPr lang="en-US" sz="2000" dirty="0"/>
          </a:p>
          <a:p>
            <a:r>
              <a:rPr lang="en-US" sz="2000" dirty="0" err="1"/>
              <a:t>Phát</a:t>
            </a:r>
            <a:r>
              <a:rPr lang="en-US" sz="2000" dirty="0"/>
              <a:t> </a:t>
            </a:r>
            <a:r>
              <a:rPr lang="en-US" sz="2000" dirty="0" err="1"/>
              <a:t>ra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tín</a:t>
            </a:r>
            <a:r>
              <a:rPr lang="en-US" sz="2000" dirty="0"/>
              <a:t> </a:t>
            </a:r>
            <a:r>
              <a:rPr lang="en-US" sz="2000" dirty="0" err="1"/>
              <a:t>hiệu</a:t>
            </a:r>
            <a:r>
              <a:rPr lang="en-US" sz="2000" dirty="0"/>
              <a:t> </a:t>
            </a:r>
            <a:r>
              <a:rPr lang="en-US" sz="2000" dirty="0" err="1"/>
              <a:t>điều</a:t>
            </a:r>
            <a:r>
              <a:rPr lang="en-US" sz="2000" dirty="0"/>
              <a:t> </a:t>
            </a:r>
            <a:r>
              <a:rPr lang="en-US" sz="2000" dirty="0" err="1"/>
              <a:t>khiển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hiện</a:t>
            </a:r>
            <a:r>
              <a:rPr lang="en-US" sz="2000" dirty="0"/>
              <a:t> </a:t>
            </a:r>
            <a:r>
              <a:rPr lang="en-US" sz="2000" dirty="0" err="1"/>
              <a:t>lệnh</a:t>
            </a:r>
            <a:endParaRPr lang="en-US" sz="2000" dirty="0"/>
          </a:p>
          <a:p>
            <a:r>
              <a:rPr lang="en-US" sz="2000" dirty="0" err="1"/>
              <a:t>Nhận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tín</a:t>
            </a:r>
            <a:r>
              <a:rPr lang="en-US" sz="2000" dirty="0"/>
              <a:t> </a:t>
            </a:r>
            <a:r>
              <a:rPr lang="en-US" sz="2000" dirty="0" err="1"/>
              <a:t>hiệu</a:t>
            </a:r>
            <a:r>
              <a:rPr lang="en-US" sz="2000" dirty="0"/>
              <a:t> </a:t>
            </a:r>
            <a:r>
              <a:rPr lang="en-US" sz="2000" dirty="0" err="1"/>
              <a:t>yêu</a:t>
            </a:r>
            <a:r>
              <a:rPr lang="en-US" sz="2000" dirty="0"/>
              <a:t> </a:t>
            </a:r>
            <a:r>
              <a:rPr lang="en-US" sz="2000" dirty="0" err="1"/>
              <a:t>cầu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bus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thống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đáp</a:t>
            </a:r>
            <a:r>
              <a:rPr lang="en-US" sz="2000" dirty="0"/>
              <a:t> </a:t>
            </a:r>
            <a:r>
              <a:rPr lang="en-US" sz="2000" dirty="0" err="1"/>
              <a:t>ứng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yêu</a:t>
            </a:r>
            <a:r>
              <a:rPr lang="en-US" sz="2000" dirty="0"/>
              <a:t> </a:t>
            </a:r>
            <a:r>
              <a:rPr lang="en-US" sz="2000" dirty="0" err="1"/>
              <a:t>cầu</a:t>
            </a:r>
            <a:r>
              <a:rPr lang="en-US" sz="2000" dirty="0"/>
              <a:t> </a:t>
            </a:r>
            <a:r>
              <a:rPr lang="en-US" sz="2000" dirty="0" err="1"/>
              <a:t>đó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2209800"/>
            <a:ext cx="42672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2943225"/>
            <a:ext cx="4214906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tín</a:t>
            </a:r>
            <a:r>
              <a:rPr lang="en-US" sz="3600" dirty="0"/>
              <a:t> </a:t>
            </a:r>
            <a:r>
              <a:rPr lang="en-US" sz="3600" dirty="0" err="1"/>
              <a:t>hiệu</a:t>
            </a:r>
            <a:r>
              <a:rPr lang="en-US" sz="3600" dirty="0"/>
              <a:t> </a:t>
            </a:r>
            <a:r>
              <a:rPr lang="en-US" sz="3600" dirty="0" err="1"/>
              <a:t>đưa</a:t>
            </a:r>
            <a:r>
              <a:rPr lang="en-US" sz="3600" dirty="0"/>
              <a:t> </a:t>
            </a:r>
            <a:r>
              <a:rPr lang="en-US" sz="3600" dirty="0" err="1"/>
              <a:t>đến</a:t>
            </a:r>
            <a:r>
              <a:rPr lang="en-US" sz="3600" dirty="0"/>
              <a:t> </a:t>
            </a:r>
            <a:r>
              <a:rPr lang="en-US" sz="3600" dirty="0" err="1"/>
              <a:t>đơn</a:t>
            </a:r>
            <a:r>
              <a:rPr lang="en-US" sz="3600" dirty="0"/>
              <a:t> </a:t>
            </a:r>
            <a:r>
              <a:rPr lang="en-US" sz="3600" dirty="0" err="1"/>
              <a:t>vị</a:t>
            </a:r>
            <a:r>
              <a:rPr lang="en-US" sz="3600" dirty="0"/>
              <a:t> </a:t>
            </a:r>
            <a:r>
              <a:rPr lang="en-US" sz="3600" dirty="0" err="1"/>
              <a:t>điều</a:t>
            </a:r>
            <a:r>
              <a:rPr lang="en-US" sz="3600" dirty="0"/>
              <a:t> </a:t>
            </a:r>
            <a:r>
              <a:rPr lang="en-US" sz="3600" dirty="0" err="1"/>
              <a:t>khiển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235952" cy="2438400"/>
          </a:xfrm>
        </p:spPr>
        <p:txBody>
          <a:bodyPr>
            <a:normAutofit/>
          </a:bodyPr>
          <a:lstStyle/>
          <a:p>
            <a:r>
              <a:rPr lang="vi-VN" sz="2000" dirty="0"/>
              <a:t>Clock: tín hiệu nhịp từ mạch tạo dao động bên ngoài.</a:t>
            </a:r>
            <a:endParaRPr lang="en-US" sz="2000" dirty="0"/>
          </a:p>
          <a:p>
            <a:r>
              <a:rPr lang="vi-VN" sz="2000" dirty="0"/>
              <a:t>Mã lệnh từ thanh ghi lệnh đưa đến để giải mã.</a:t>
            </a:r>
            <a:endParaRPr lang="en-US" sz="2000" dirty="0"/>
          </a:p>
          <a:p>
            <a:r>
              <a:rPr lang="vi-VN" sz="2000" dirty="0"/>
              <a:t>Các cờ từ thanh ghi cờ cho biết trạng thái của CPU.</a:t>
            </a:r>
          </a:p>
          <a:p>
            <a:r>
              <a:rPr lang="vi-VN" sz="2000" dirty="0"/>
              <a:t>Các tín hiệu yêu cầu từ bus điều khiển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tín</a:t>
            </a:r>
            <a:r>
              <a:rPr lang="en-US" sz="3600" dirty="0"/>
              <a:t> </a:t>
            </a:r>
            <a:r>
              <a:rPr lang="en-US" sz="3600" dirty="0" err="1"/>
              <a:t>hiệu</a:t>
            </a:r>
            <a:r>
              <a:rPr lang="en-US" sz="3600" dirty="0"/>
              <a:t> </a:t>
            </a:r>
            <a:r>
              <a:rPr lang="en-US" sz="3600" dirty="0" err="1"/>
              <a:t>đi</a:t>
            </a:r>
            <a:r>
              <a:rPr lang="en-US" sz="3600" dirty="0"/>
              <a:t> </a:t>
            </a:r>
            <a:r>
              <a:rPr lang="en-US" sz="3600" dirty="0" err="1"/>
              <a:t>ra</a:t>
            </a:r>
            <a:r>
              <a:rPr lang="en-US" sz="3600" dirty="0"/>
              <a:t> </a:t>
            </a:r>
            <a:r>
              <a:rPr lang="en-US" sz="3600" dirty="0" err="1"/>
              <a:t>từ</a:t>
            </a:r>
            <a:r>
              <a:rPr lang="en-US" sz="3600" dirty="0"/>
              <a:t> </a:t>
            </a:r>
            <a:r>
              <a:rPr lang="en-US" sz="3600" dirty="0" err="1"/>
              <a:t>đơn</a:t>
            </a:r>
            <a:r>
              <a:rPr lang="en-US" sz="3600" dirty="0"/>
              <a:t> </a:t>
            </a:r>
            <a:r>
              <a:rPr lang="en-US" sz="3600" dirty="0" err="1"/>
              <a:t>vị</a:t>
            </a:r>
            <a:r>
              <a:rPr lang="en-US" sz="3600" dirty="0"/>
              <a:t> </a:t>
            </a:r>
            <a:r>
              <a:rPr lang="en-US" sz="3600" dirty="0" err="1"/>
              <a:t>điều</a:t>
            </a:r>
            <a:r>
              <a:rPr lang="en-US" sz="3600" dirty="0"/>
              <a:t> </a:t>
            </a:r>
            <a:r>
              <a:rPr lang="en-US" sz="3600" dirty="0" err="1"/>
              <a:t>khiển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540752" cy="2895600"/>
          </a:xfrm>
        </p:spPr>
        <p:txBody>
          <a:bodyPr>
            <a:normAutofit/>
          </a:bodyPr>
          <a:lstStyle/>
          <a:p>
            <a:r>
              <a:rPr lang="vi-VN" sz="2000" dirty="0"/>
              <a:t>Các tín hiệu điều khiển bên trong CPU:</a:t>
            </a:r>
          </a:p>
          <a:p>
            <a:pPr lvl="1"/>
            <a:r>
              <a:rPr lang="vi-VN" sz="2000" dirty="0"/>
              <a:t>Điều khiển các thanh ghi</a:t>
            </a:r>
          </a:p>
          <a:p>
            <a:pPr lvl="1"/>
            <a:r>
              <a:rPr lang="vi-VN" sz="2000" dirty="0"/>
              <a:t>Điều khiển ALU</a:t>
            </a:r>
          </a:p>
          <a:p>
            <a:r>
              <a:rPr lang="vi-VN" sz="2000" dirty="0"/>
              <a:t>Các tín hiệu điều khiển bên ngoài CPU:</a:t>
            </a:r>
          </a:p>
          <a:p>
            <a:pPr lvl="1"/>
            <a:r>
              <a:rPr lang="vi-VN" sz="2000" dirty="0"/>
              <a:t>Điều khiển bộ nhớ</a:t>
            </a:r>
          </a:p>
          <a:p>
            <a:pPr lvl="1"/>
            <a:r>
              <a:rPr lang="vi-VN" sz="2000" dirty="0"/>
              <a:t>Điều khiển các môđun vào-ra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3352800"/>
            <a:ext cx="3681506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(Registers)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vi-VN" dirty="0"/>
              <a:t>Chức năng và đặc điểm:</a:t>
            </a:r>
          </a:p>
          <a:p>
            <a:pPr lvl="1"/>
            <a:r>
              <a:rPr lang="vi-VN" dirty="0"/>
              <a:t>Tập hợp các thanh ghi nằm trong CPU</a:t>
            </a:r>
          </a:p>
          <a:p>
            <a:pPr lvl="1"/>
            <a:r>
              <a:rPr lang="vi-VN" dirty="0"/>
              <a:t>Chứa các thông tin tạm thời phục vụ cho hoạt động ở thời điểm hiện tại của CPU</a:t>
            </a:r>
          </a:p>
          <a:p>
            <a:pPr lvl="1"/>
            <a:r>
              <a:rPr lang="vi-VN" dirty="0"/>
              <a:t>Được coi là</a:t>
            </a:r>
            <a:r>
              <a:rPr lang="en-US" dirty="0"/>
              <a:t> </a:t>
            </a:r>
            <a:r>
              <a:rPr lang="vi-VN" dirty="0"/>
              <a:t>mức đầu tiên của hệ thống nhớ</a:t>
            </a:r>
          </a:p>
          <a:p>
            <a:pPr lvl="1"/>
            <a:r>
              <a:rPr lang="vi-VN" dirty="0"/>
              <a:t>Tuỳ thuộc vào bộ xử lý cụ thể</a:t>
            </a:r>
            <a:endParaRPr lang="en-US" dirty="0"/>
          </a:p>
          <a:p>
            <a:pPr lvl="1"/>
            <a:r>
              <a:rPr lang="vi-VN" dirty="0"/>
              <a:t>Số lượng thanh ghi nhiều </a:t>
            </a:r>
            <a:r>
              <a:rPr lang="en-US" dirty="0"/>
              <a:t>-&gt;</a:t>
            </a:r>
            <a:r>
              <a:rPr lang="vi-VN" dirty="0"/>
              <a:t> tăng hiệu năng của CPU</a:t>
            </a:r>
          </a:p>
          <a:p>
            <a:pPr lvl="1"/>
            <a:r>
              <a:rPr lang="vi-VN" dirty="0"/>
              <a:t>Có hai loại thanh ghi</a:t>
            </a:r>
          </a:p>
          <a:p>
            <a:pPr lvl="2"/>
            <a:r>
              <a:rPr lang="vi-VN" dirty="0"/>
              <a:t>Các thanh ghi lập trình được</a:t>
            </a:r>
          </a:p>
          <a:p>
            <a:pPr lvl="2"/>
            <a:r>
              <a:rPr lang="vi-VN" dirty="0"/>
              <a:t>Các thanh ghi không lập trình được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loại</a:t>
            </a:r>
            <a:r>
              <a:rPr lang="en-US" sz="3600" dirty="0"/>
              <a:t> </a:t>
            </a:r>
            <a:r>
              <a:rPr lang="en-US" sz="3600" dirty="0" err="1"/>
              <a:t>thanh</a:t>
            </a:r>
            <a:r>
              <a:rPr lang="en-US" sz="3600" dirty="0"/>
              <a:t> </a:t>
            </a:r>
            <a:r>
              <a:rPr lang="en-US" sz="3600" dirty="0" err="1"/>
              <a:t>ghi</a:t>
            </a:r>
            <a:r>
              <a:rPr lang="en-US" sz="3600" dirty="0"/>
              <a:t> </a:t>
            </a:r>
            <a:r>
              <a:rPr lang="en-US" sz="3600" dirty="0" err="1"/>
              <a:t>theo</a:t>
            </a:r>
            <a:r>
              <a:rPr lang="en-US" sz="3600" dirty="0"/>
              <a:t> </a:t>
            </a:r>
            <a:r>
              <a:rPr lang="en-US" sz="3600" dirty="0" err="1"/>
              <a:t>chức</a:t>
            </a:r>
            <a:r>
              <a:rPr lang="en-US" sz="3600" dirty="0"/>
              <a:t> </a:t>
            </a:r>
            <a:r>
              <a:rPr lang="en-US" sz="3600" dirty="0" err="1"/>
              <a:t>năng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dirty="0"/>
              <a:t>Thanh ghi địa chỉ:</a:t>
            </a:r>
            <a:endParaRPr lang="en-US" dirty="0"/>
          </a:p>
          <a:p>
            <a:pPr lvl="1"/>
            <a:r>
              <a:rPr lang="vi-VN" dirty="0"/>
              <a:t>quản lý địa chỉ của ngăn nhớ hay cổng vào-ra.</a:t>
            </a:r>
          </a:p>
          <a:p>
            <a:r>
              <a:rPr lang="vi-VN" dirty="0"/>
              <a:t>Thanh ghi dữ liệu:</a:t>
            </a:r>
            <a:endParaRPr lang="en-US" dirty="0"/>
          </a:p>
          <a:p>
            <a:pPr lvl="1"/>
            <a:r>
              <a:rPr lang="vi-VN" dirty="0"/>
              <a:t>chứa tạm thời các dữ liệu</a:t>
            </a:r>
            <a:r>
              <a:rPr lang="en-US" dirty="0"/>
              <a:t>.</a:t>
            </a:r>
            <a:endParaRPr lang="vi-VN" dirty="0"/>
          </a:p>
          <a:p>
            <a:r>
              <a:rPr lang="vi-VN" dirty="0"/>
              <a:t>Thanh ghi đa năng:</a:t>
            </a:r>
            <a:endParaRPr lang="en-US" dirty="0"/>
          </a:p>
          <a:p>
            <a:pPr lvl="1"/>
            <a:r>
              <a:rPr lang="vi-VN" dirty="0"/>
              <a:t>có thể chứa địa chỉ hoặc dữ liệu.</a:t>
            </a:r>
          </a:p>
          <a:p>
            <a:r>
              <a:rPr lang="vi-VN" dirty="0"/>
              <a:t>Thanh ghi điều khiển/trạng thái:</a:t>
            </a:r>
            <a:endParaRPr lang="en-US" dirty="0"/>
          </a:p>
          <a:p>
            <a:pPr lvl="1"/>
            <a:r>
              <a:rPr lang="en-US" dirty="0"/>
              <a:t>c</a:t>
            </a:r>
            <a:r>
              <a:rPr lang="vi-VN" dirty="0"/>
              <a:t>hứa các thông tin điều khiển và trạng thái của CPU.</a:t>
            </a:r>
          </a:p>
          <a:p>
            <a:r>
              <a:rPr lang="vi-VN" dirty="0"/>
              <a:t>Thanh ghi lệnh:</a:t>
            </a:r>
            <a:endParaRPr lang="en-US" dirty="0"/>
          </a:p>
          <a:p>
            <a:pPr lvl="1"/>
            <a:r>
              <a:rPr lang="vi-VN" dirty="0"/>
              <a:t>chứa lệnh đang được thực hiện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điển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vi-VN" dirty="0"/>
              <a:t>Các thanh ghi địa chỉ</a:t>
            </a:r>
          </a:p>
          <a:p>
            <a:pPr lvl="1"/>
            <a:r>
              <a:rPr lang="vi-VN" dirty="0"/>
              <a:t>Bộ đếm chương trình PC (Program Counter)</a:t>
            </a:r>
          </a:p>
          <a:p>
            <a:pPr lvl="1"/>
            <a:r>
              <a:rPr lang="vi-VN" dirty="0"/>
              <a:t>Con trỏ dữ liệu DP (Data Pointer)</a:t>
            </a:r>
          </a:p>
          <a:p>
            <a:pPr lvl="1"/>
            <a:r>
              <a:rPr lang="vi-VN" dirty="0"/>
              <a:t>Con trỏ ngăn xếp SP (Stack Pointer)</a:t>
            </a:r>
          </a:p>
          <a:p>
            <a:pPr lvl="1"/>
            <a:r>
              <a:rPr lang="vi-VN" dirty="0"/>
              <a:t>Thanh ghi cơ sở và thanh ghi chỉ số</a:t>
            </a:r>
            <a:r>
              <a:rPr lang="en-US" dirty="0"/>
              <a:t> </a:t>
            </a:r>
            <a:r>
              <a:rPr lang="vi-VN" dirty="0"/>
              <a:t>(Base Register &amp; Index Register)</a:t>
            </a:r>
          </a:p>
          <a:p>
            <a:r>
              <a:rPr lang="vi-VN" dirty="0"/>
              <a:t>Các thanh ghi dữ liệu</a:t>
            </a:r>
          </a:p>
          <a:p>
            <a:r>
              <a:rPr lang="vi-VN" dirty="0"/>
              <a:t>Thanh ghi trạng thái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đếm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775191"/>
            <a:ext cx="4876800" cy="4625609"/>
          </a:xfrm>
        </p:spPr>
        <p:txBody>
          <a:bodyPr>
            <a:normAutofit/>
          </a:bodyPr>
          <a:lstStyle/>
          <a:p>
            <a:r>
              <a:rPr lang="vi-VN" sz="2800" dirty="0"/>
              <a:t>Còn được gọi là con trỏ lệnh </a:t>
            </a:r>
            <a:r>
              <a:rPr lang="en-US" sz="2800" dirty="0"/>
              <a:t>IP</a:t>
            </a:r>
            <a:endParaRPr lang="vi-VN" sz="2800" dirty="0"/>
          </a:p>
          <a:p>
            <a:r>
              <a:rPr lang="vi-VN" sz="2800" dirty="0"/>
              <a:t>Giữ địa chỉ của lệnh tiếp theo sẽ được nhận vào.</a:t>
            </a:r>
          </a:p>
          <a:p>
            <a:r>
              <a:rPr lang="vi-VN" sz="2800" dirty="0"/>
              <a:t>Sau khi một lệnh được nhận vào, nội dung PC tự động tăng để trỏ sang lệnh kế tiếp.</a:t>
            </a:r>
            <a:endParaRPr lang="en-U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981200"/>
            <a:ext cx="39624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- 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3352800" cy="1958609"/>
          </a:xfrm>
        </p:spPr>
        <p:txBody>
          <a:bodyPr>
            <a:normAutofit/>
          </a:bodyPr>
          <a:lstStyle/>
          <a:p>
            <a:r>
              <a:rPr lang="vi-VN" dirty="0"/>
              <a:t>Chứa  địa  chỉ của  ngăn  nhớ dữ liệu mà</a:t>
            </a:r>
            <a:r>
              <a:rPr lang="en-US" dirty="0"/>
              <a:t> </a:t>
            </a:r>
            <a:r>
              <a:rPr lang="vi-VN" dirty="0"/>
              <a:t>CPU muốn truy nhập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09999" y="2286000"/>
            <a:ext cx="5334001" cy="380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-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Ngăn xếp là vùng nhớ có</a:t>
            </a:r>
            <a:r>
              <a:rPr lang="en-US" dirty="0"/>
              <a:t> </a:t>
            </a:r>
            <a:r>
              <a:rPr lang="vi-VN" dirty="0"/>
              <a:t>cấu trúc LIFO</a:t>
            </a:r>
            <a:r>
              <a:rPr lang="en-US" dirty="0"/>
              <a:t> </a:t>
            </a:r>
            <a:r>
              <a:rPr lang="vi-VN" dirty="0"/>
              <a:t>(Last In – First Out)</a:t>
            </a:r>
          </a:p>
          <a:p>
            <a:r>
              <a:rPr lang="vi-VN" dirty="0"/>
              <a:t>Ngăn xếp thường dùng để phục vụ cho chương trình con</a:t>
            </a:r>
          </a:p>
          <a:p>
            <a:r>
              <a:rPr lang="vi-VN" dirty="0"/>
              <a:t>Đáy ngăn xếp là</a:t>
            </a:r>
            <a:r>
              <a:rPr lang="en-US" dirty="0"/>
              <a:t> </a:t>
            </a:r>
            <a:r>
              <a:rPr lang="vi-VN" dirty="0"/>
              <a:t>một ngăn nhớ xác định</a:t>
            </a:r>
          </a:p>
          <a:p>
            <a:r>
              <a:rPr lang="vi-VN" dirty="0"/>
              <a:t>Đỉnh ngăn xếp là thông tin nằm  ở vị trí</a:t>
            </a:r>
            <a:r>
              <a:rPr lang="en-US" dirty="0"/>
              <a:t> </a:t>
            </a:r>
            <a:r>
              <a:rPr lang="vi-VN" dirty="0"/>
              <a:t>trên cùng trong ngăn xếp</a:t>
            </a:r>
          </a:p>
          <a:p>
            <a:r>
              <a:rPr lang="vi-VN" dirty="0"/>
              <a:t>Đỉnh ngăn xếp có thể bị thay đổi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1600200"/>
            <a:ext cx="350520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- 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851391"/>
            <a:ext cx="5791200" cy="4625609"/>
          </a:xfrm>
        </p:spPr>
        <p:txBody>
          <a:bodyPr>
            <a:noAutofit/>
          </a:bodyPr>
          <a:lstStyle/>
          <a:p>
            <a:r>
              <a:rPr lang="vi-VN" sz="2000" dirty="0"/>
              <a:t>SP chứa địa chỉ của ngăn nhớ đỉnh ngăn xếp</a:t>
            </a:r>
          </a:p>
          <a:p>
            <a:r>
              <a:rPr lang="vi-VN" sz="2000" dirty="0"/>
              <a:t>Khi cất một thông tin vào ngăn xếp:</a:t>
            </a:r>
          </a:p>
          <a:p>
            <a:pPr lvl="1"/>
            <a:r>
              <a:rPr lang="vi-VN" sz="1600" dirty="0"/>
              <a:t>Nội dung của SP tự động</a:t>
            </a:r>
            <a:r>
              <a:rPr lang="en-US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giảm</a:t>
            </a:r>
            <a:r>
              <a:rPr lang="en-US" sz="1600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endParaRPr lang="vi-VN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vi-VN" sz="1600" dirty="0"/>
              <a:t>Thông tin được cất vào ngăn nhớ được trỏ bởi SP</a:t>
            </a:r>
          </a:p>
          <a:p>
            <a:r>
              <a:rPr lang="vi-VN" sz="2000" dirty="0"/>
              <a:t>Khi lấy một thông tin ra khỏi ngăn xếp:</a:t>
            </a:r>
          </a:p>
          <a:p>
            <a:pPr lvl="1"/>
            <a:r>
              <a:rPr lang="vi-VN" sz="1600" dirty="0"/>
              <a:t>Thông tin được đọc từ ngăn nhớ được trỏ bởi SP</a:t>
            </a:r>
          </a:p>
          <a:p>
            <a:pPr lvl="1"/>
            <a:r>
              <a:rPr lang="vi-VN" sz="1600" dirty="0"/>
              <a:t>Nội dung của SP tự động </a:t>
            </a:r>
            <a:r>
              <a:rPr lang="en-US" sz="16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tăng</a:t>
            </a:r>
            <a:endParaRPr lang="vi-VN" sz="16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vi-VN" sz="2000" dirty="0"/>
              <a:t>Khi ngăn xếp rỗng, SP trỏ vào đáy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8534400" y="1808202"/>
            <a:ext cx="838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0</a:t>
            </a:r>
          </a:p>
          <a:p>
            <a:r>
              <a:rPr lang="en-US" sz="1400" dirty="0"/>
              <a:t>1</a:t>
            </a:r>
          </a:p>
          <a:p>
            <a:r>
              <a:rPr lang="en-US" sz="1400" dirty="0"/>
              <a:t>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0" y="5334000"/>
            <a:ext cx="76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…</a:t>
            </a:r>
          </a:p>
          <a:p>
            <a:r>
              <a:rPr lang="en-US" sz="1400" dirty="0"/>
              <a:t>n-2</a:t>
            </a:r>
          </a:p>
          <a:p>
            <a:r>
              <a:rPr lang="en-US" sz="1400" dirty="0"/>
              <a:t>n-1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Thanh</a:t>
            </a:r>
            <a:r>
              <a:rPr lang="en-US" sz="3600" dirty="0"/>
              <a:t> </a:t>
            </a:r>
            <a:r>
              <a:rPr lang="en-US" sz="3600" dirty="0" err="1"/>
              <a:t>ghi</a:t>
            </a:r>
            <a:r>
              <a:rPr lang="en-US" sz="3600" dirty="0"/>
              <a:t> </a:t>
            </a:r>
            <a:r>
              <a:rPr lang="en-US" sz="3600" dirty="0" err="1"/>
              <a:t>cơ</a:t>
            </a:r>
            <a:r>
              <a:rPr lang="en-US" sz="3600" dirty="0"/>
              <a:t> </a:t>
            </a:r>
            <a:r>
              <a:rPr lang="en-US" sz="3600" dirty="0" err="1"/>
              <a:t>sở</a:t>
            </a:r>
            <a:r>
              <a:rPr lang="en-US" sz="3600" dirty="0"/>
              <a:t> </a:t>
            </a:r>
            <a:r>
              <a:rPr lang="en-US" sz="3600" dirty="0" err="1"/>
              <a:t>và</a:t>
            </a:r>
            <a:r>
              <a:rPr lang="en-US" sz="3600" dirty="0"/>
              <a:t> </a:t>
            </a:r>
            <a:r>
              <a:rPr lang="en-US" sz="3600" dirty="0" err="1"/>
              <a:t>thanh</a:t>
            </a:r>
            <a:r>
              <a:rPr lang="en-US" sz="3600" dirty="0"/>
              <a:t> </a:t>
            </a:r>
            <a:r>
              <a:rPr lang="en-US" sz="3600" dirty="0" err="1"/>
              <a:t>ghi</a:t>
            </a:r>
            <a:r>
              <a:rPr lang="en-US" sz="3600" dirty="0"/>
              <a:t> </a:t>
            </a:r>
            <a:r>
              <a:rPr lang="en-US" sz="3600" dirty="0" err="1"/>
              <a:t>chỉ</a:t>
            </a:r>
            <a:r>
              <a:rPr lang="en-US" sz="3600" dirty="0"/>
              <a:t> </a:t>
            </a:r>
            <a:r>
              <a:rPr lang="en-US" sz="3600" dirty="0" err="1"/>
              <a:t>số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775191"/>
            <a:ext cx="4572000" cy="4778009"/>
          </a:xfrm>
        </p:spPr>
        <p:txBody>
          <a:bodyPr>
            <a:normAutofit/>
          </a:bodyPr>
          <a:lstStyle/>
          <a:p>
            <a:r>
              <a:rPr lang="vi-VN" sz="2400" dirty="0"/>
              <a:t>Thanh ghi cơ sở: chứa  địa  chỉ của ngăn nhớ cơ sở (địa chỉ cơ sở)</a:t>
            </a:r>
            <a:endParaRPr lang="en-US" sz="2400" dirty="0"/>
          </a:p>
          <a:p>
            <a:r>
              <a:rPr lang="vi-VN" sz="2400" dirty="0"/>
              <a:t>Thanh ghi chỉ số: chứa độ lệch địa chỉ giữa ngăn nhớ mà CPU cần truy nhập</a:t>
            </a:r>
            <a:r>
              <a:rPr lang="en-US" sz="2400" dirty="0"/>
              <a:t> </a:t>
            </a:r>
            <a:r>
              <a:rPr lang="vi-VN" sz="2400" dirty="0"/>
              <a:t>so với ngăn nhớ cơ sở (chỉ số)</a:t>
            </a:r>
          </a:p>
          <a:p>
            <a:r>
              <a:rPr lang="vi-VN" sz="2400" dirty="0"/>
              <a:t>Địa chỉ của ngăn nhớ cần truy nhập = địa chỉ cơ sở + chỉ số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1676400"/>
            <a:ext cx="4419600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vi-VN" dirty="0"/>
              <a:t>Chứa các dữ liệu tạm thời hoặc các kết quả trung gian</a:t>
            </a:r>
          </a:p>
          <a:p>
            <a:r>
              <a:rPr lang="vi-VN" dirty="0"/>
              <a:t>Cần có nhiều thanh ghi dữ liệu</a:t>
            </a:r>
          </a:p>
          <a:p>
            <a:r>
              <a:rPr lang="vi-VN" dirty="0"/>
              <a:t>Các thanh ghi số nguyên: 8, 16, 32, 64 bit</a:t>
            </a:r>
          </a:p>
          <a:p>
            <a:r>
              <a:rPr lang="vi-VN" dirty="0"/>
              <a:t>Các thanh ghi số dấu chấm động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 err="1"/>
              <a:t>Thanh</a:t>
            </a:r>
            <a:r>
              <a:rPr lang="en-US" sz="4800" dirty="0"/>
              <a:t> </a:t>
            </a:r>
            <a:r>
              <a:rPr lang="en-US" sz="4800" dirty="0" err="1"/>
              <a:t>ghi</a:t>
            </a:r>
            <a:r>
              <a:rPr lang="en-US" sz="4800" dirty="0"/>
              <a:t> </a:t>
            </a:r>
            <a:r>
              <a:rPr lang="en-US" sz="4800" dirty="0" err="1"/>
              <a:t>đa</a:t>
            </a:r>
            <a:r>
              <a:rPr lang="en-US" sz="4800" dirty="0"/>
              <a:t> </a:t>
            </a:r>
            <a:r>
              <a:rPr lang="en-US" sz="4800" dirty="0" err="1"/>
              <a:t>năng</a:t>
            </a:r>
            <a:r>
              <a:rPr lang="en-US" sz="4800" dirty="0"/>
              <a:t>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4876800"/>
          </a:xfrm>
        </p:spPr>
        <p:txBody>
          <a:bodyPr>
            <a:noAutofit/>
          </a:bodyPr>
          <a:lstStyle/>
          <a:p>
            <a:r>
              <a:rPr lang="vi-VN" sz="2000" dirty="0">
                <a:solidFill>
                  <a:srgbClr val="FF0000"/>
                </a:solidFill>
              </a:rPr>
              <a:t>Có nhiệm vụ ghi tham số cho mã lệnh, đây cũng là nơi lệnh trả kết quả về sau khi được thực hiện.</a:t>
            </a:r>
          </a:p>
          <a:p>
            <a:r>
              <a:rPr lang="vi-VN" sz="2000" dirty="0"/>
              <a:t>AX (accumulator</a:t>
            </a:r>
            <a:r>
              <a:rPr lang="en-US" sz="2000" dirty="0"/>
              <a:t>, 16 bit</a:t>
            </a:r>
            <a:r>
              <a:rPr lang="vi-VN" sz="2000" dirty="0"/>
              <a:t>)</a:t>
            </a:r>
            <a:r>
              <a:rPr lang="en-US" sz="2000" dirty="0"/>
              <a:t>: </a:t>
            </a:r>
            <a:r>
              <a:rPr lang="vi-VN" sz="2000" dirty="0"/>
              <a:t>chứa kết quả các thao tác lệnh.</a:t>
            </a:r>
          </a:p>
          <a:p>
            <a:r>
              <a:rPr lang="vi-VN" sz="2000" dirty="0"/>
              <a:t>BX (base</a:t>
            </a:r>
            <a:r>
              <a:rPr lang="en-US" sz="2000" dirty="0"/>
              <a:t>, 16 bit</a:t>
            </a:r>
            <a:r>
              <a:rPr lang="vi-VN" sz="2000" dirty="0"/>
              <a:t>) </a:t>
            </a:r>
            <a:r>
              <a:rPr lang="en-US" sz="2000" dirty="0"/>
              <a:t>: </a:t>
            </a:r>
            <a:r>
              <a:rPr lang="vi-VN" sz="2000" dirty="0"/>
              <a:t>chứa địa chỉ cơ sở của một bảng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lệnh</a:t>
            </a:r>
            <a:r>
              <a:rPr lang="en-US" sz="2000" dirty="0"/>
              <a:t> XLAT.</a:t>
            </a:r>
            <a:endParaRPr lang="vi-VN" sz="2000" dirty="0"/>
          </a:p>
          <a:p>
            <a:r>
              <a:rPr lang="vi-VN" sz="2000" dirty="0"/>
              <a:t>CX (count</a:t>
            </a:r>
            <a:r>
              <a:rPr lang="en-US" sz="2000" dirty="0"/>
              <a:t>, 16 bit</a:t>
            </a:r>
            <a:r>
              <a:rPr lang="vi-VN" sz="2000" dirty="0"/>
              <a:t>)</a:t>
            </a:r>
            <a:r>
              <a:rPr lang="en-US" sz="2000" dirty="0"/>
              <a:t>: </a:t>
            </a:r>
            <a:r>
              <a:rPr lang="vi-VN" sz="2000" dirty="0"/>
              <a:t>chứ</a:t>
            </a:r>
            <a:r>
              <a:rPr lang="en-US" sz="2000" dirty="0"/>
              <a:t>a</a:t>
            </a:r>
            <a:r>
              <a:rPr lang="vi-VN" sz="2000" dirty="0"/>
              <a:t> số lần lặp trong trường hợp các lệnh LOOP.</a:t>
            </a:r>
            <a:endParaRPr lang="en-US" sz="2000" dirty="0"/>
          </a:p>
          <a:p>
            <a:pPr lvl="1"/>
            <a:r>
              <a:rPr lang="vi-VN" sz="2000" i="1" dirty="0"/>
              <a:t>Thanh ghi thấp CL được dùng để chứa (nhớ) số lần quay hoặc dịch của các lệnh quay và dịch.</a:t>
            </a:r>
          </a:p>
          <a:p>
            <a:r>
              <a:rPr lang="vi-VN" sz="2000" dirty="0"/>
              <a:t>DX (data</a:t>
            </a:r>
            <a:r>
              <a:rPr lang="en-US" sz="2000" dirty="0"/>
              <a:t>, 16 bit</a:t>
            </a:r>
            <a:r>
              <a:rPr lang="vi-VN" sz="2000" dirty="0"/>
              <a:t>)</a:t>
            </a:r>
            <a:r>
              <a:rPr lang="en-US" sz="2000" dirty="0"/>
              <a:t>: </a:t>
            </a:r>
            <a:r>
              <a:rPr lang="vi-VN" sz="2000" dirty="0"/>
              <a:t>AX tham gia vào các thao tác của ph</a:t>
            </a:r>
            <a:r>
              <a:rPr lang="en-US" sz="2000" dirty="0" err="1"/>
              <a:t>ép</a:t>
            </a:r>
            <a:r>
              <a:rPr lang="vi-VN" sz="2000" dirty="0"/>
              <a:t> nhân hoặc cùng thanh ghi hia các số 16 bit.</a:t>
            </a:r>
            <a:endParaRPr lang="en-US" sz="2000" dirty="0"/>
          </a:p>
          <a:p>
            <a:pPr lvl="1"/>
            <a:r>
              <a:rPr lang="vi-VN" sz="2000" i="1" dirty="0"/>
              <a:t>DX còn dùng để chứa địa chỉ 16 bit của các cổng cứng (dài hơn 8 bit) trong các lệnh truy nhập các cổng ngoại vi</a:t>
            </a:r>
            <a:r>
              <a:rPr lang="en-US" sz="2000" i="1"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vi-VN" dirty="0"/>
              <a:t>Thanh ghi đoạn : Thanh ghi lệch </a:t>
            </a:r>
            <a:r>
              <a:rPr lang="en-US" dirty="0"/>
              <a:t>(</a:t>
            </a:r>
            <a:r>
              <a:rPr lang="vi-VN" dirty="0"/>
              <a:t>segment:offset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vi-VN" dirty="0"/>
              <a:t>CS (code segment</a:t>
            </a:r>
            <a:r>
              <a:rPr lang="en-US" dirty="0"/>
              <a:t>, 16 bit</a:t>
            </a:r>
            <a:r>
              <a:rPr lang="vi-VN" dirty="0"/>
              <a:t>)</a:t>
            </a:r>
            <a:r>
              <a:rPr lang="en-US" dirty="0"/>
              <a:t>: </a:t>
            </a:r>
            <a:r>
              <a:rPr lang="vi-VN" dirty="0"/>
              <a:t>phối hợp với con trỏ lệnh IP để ghi địa chỉ mã lệnh trong bộ nhớ.</a:t>
            </a:r>
            <a:endParaRPr lang="en-US" dirty="0"/>
          </a:p>
          <a:p>
            <a:pPr lvl="1"/>
            <a:r>
              <a:rPr lang="vi-VN" dirty="0"/>
              <a:t>CS:IP.</a:t>
            </a:r>
          </a:p>
          <a:p>
            <a:r>
              <a:rPr lang="vi-VN" dirty="0"/>
              <a:t>DS (data segment</a:t>
            </a:r>
            <a:r>
              <a:rPr lang="en-US" dirty="0"/>
              <a:t>, 16 bit</a:t>
            </a:r>
            <a:r>
              <a:rPr lang="vi-VN" dirty="0"/>
              <a:t>)</a:t>
            </a:r>
            <a:r>
              <a:rPr lang="en-US" dirty="0"/>
              <a:t>: </a:t>
            </a:r>
            <a:r>
              <a:rPr lang="vi-VN" dirty="0"/>
              <a:t>phối hợp với </a:t>
            </a:r>
            <a:r>
              <a:rPr lang="en-US" dirty="0"/>
              <a:t>2</a:t>
            </a:r>
            <a:r>
              <a:rPr lang="vi-VN" dirty="0"/>
              <a:t> thanh ghi chỉ số SI và DI để đánh địa chỉ cho dữ liệu.</a:t>
            </a:r>
            <a:endParaRPr lang="en-US" dirty="0"/>
          </a:p>
          <a:p>
            <a:pPr lvl="1"/>
            <a:r>
              <a:rPr lang="en-US" dirty="0"/>
              <a:t>D</a:t>
            </a:r>
            <a:r>
              <a:rPr lang="vi-VN" dirty="0"/>
              <a:t>ữ liệu cần đọc vào là DS:SI</a:t>
            </a:r>
            <a:endParaRPr lang="en-US" dirty="0"/>
          </a:p>
          <a:p>
            <a:pPr lvl="1"/>
            <a:r>
              <a:rPr lang="en-US" dirty="0"/>
              <a:t>D</a:t>
            </a:r>
            <a:r>
              <a:rPr lang="vi-VN" dirty="0"/>
              <a:t>ữ liệu cần ghi ra là DS:DI.</a:t>
            </a:r>
          </a:p>
          <a:p>
            <a:r>
              <a:rPr lang="vi-VN" dirty="0"/>
              <a:t>SS (stack segment</a:t>
            </a:r>
            <a:r>
              <a:rPr lang="en-US" dirty="0"/>
              <a:t>, 16 bit</a:t>
            </a:r>
            <a:r>
              <a:rPr lang="vi-VN" dirty="0"/>
              <a:t>) </a:t>
            </a:r>
            <a:r>
              <a:rPr lang="en-US" dirty="0"/>
              <a:t>: đ</a:t>
            </a:r>
            <a:r>
              <a:rPr lang="vi-VN" dirty="0"/>
              <a:t>ịa chỉ đỉnh của ngăn xếp được biểu diễn cùng với con trỏ ngăn xếp SP là SS:SP.</a:t>
            </a:r>
          </a:p>
          <a:p>
            <a:r>
              <a:rPr lang="vi-VN" dirty="0"/>
              <a:t>ES (extra segment</a:t>
            </a:r>
            <a:r>
              <a:rPr lang="en-US" dirty="0"/>
              <a:t>, 16 bit</a:t>
            </a:r>
            <a:r>
              <a:rPr lang="vi-VN" dirty="0"/>
              <a:t>)</a:t>
            </a:r>
            <a:r>
              <a:rPr lang="en-US" dirty="0"/>
              <a:t>: </a:t>
            </a:r>
            <a:r>
              <a:rPr lang="vi-VN" dirty="0"/>
              <a:t>dùng để đánh địa chỉ một chuỗi.</a:t>
            </a:r>
            <a:endParaRPr lang="en-US" dirty="0"/>
          </a:p>
          <a:p>
            <a:pPr lvl="1"/>
            <a:r>
              <a:rPr lang="vi-VN" dirty="0"/>
              <a:t>ES:DI là địa chỉ chuỗi cần viết đến (chuỗi đích)</a:t>
            </a:r>
            <a:endParaRPr lang="en-US" dirty="0"/>
          </a:p>
          <a:p>
            <a:pPr lvl="1"/>
            <a:r>
              <a:rPr lang="en-US" dirty="0"/>
              <a:t>E</a:t>
            </a:r>
            <a:r>
              <a:rPr lang="vi-VN" dirty="0"/>
              <a:t>S:SI là địa chỉ ch</a:t>
            </a:r>
            <a:r>
              <a:rPr lang="en-US" dirty="0"/>
              <a:t>u</a:t>
            </a:r>
            <a:r>
              <a:rPr lang="vi-VN" dirty="0"/>
              <a:t>ỗi đọc vào (chuỗi nguồn).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95400" y="2057400"/>
            <a:ext cx="6477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/>
              <a:t>Địa chỉ vật lý = Thanh ghi đoạn x 16 + Thanh ghi lệch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Thanh</a:t>
            </a:r>
            <a:r>
              <a:rPr lang="en-US" sz="3600" dirty="0"/>
              <a:t> </a:t>
            </a:r>
            <a:r>
              <a:rPr lang="en-US" sz="3600" dirty="0" err="1"/>
              <a:t>ghi</a:t>
            </a:r>
            <a:r>
              <a:rPr lang="en-US" sz="3600" dirty="0"/>
              <a:t> con </a:t>
            </a:r>
            <a:r>
              <a:rPr lang="en-US" sz="3600" dirty="0" err="1"/>
              <a:t>trỏ</a:t>
            </a:r>
            <a:r>
              <a:rPr lang="en-US" sz="3600" dirty="0"/>
              <a:t> </a:t>
            </a:r>
            <a:r>
              <a:rPr lang="en-US" sz="3600" dirty="0" err="1"/>
              <a:t>và</a:t>
            </a:r>
            <a:r>
              <a:rPr lang="en-US" sz="3600" dirty="0"/>
              <a:t> </a:t>
            </a:r>
            <a:r>
              <a:rPr lang="en-US" sz="3600" dirty="0" err="1"/>
              <a:t>chỉ</a:t>
            </a:r>
            <a:r>
              <a:rPr lang="en-US" sz="3600" dirty="0"/>
              <a:t> </a:t>
            </a:r>
            <a:r>
              <a:rPr lang="en-US" sz="3600" dirty="0" err="1"/>
              <a:t>số</a:t>
            </a:r>
            <a:r>
              <a:rPr lang="en-US" sz="3600" dirty="0"/>
              <a:t>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vi-VN" dirty="0"/>
              <a:t>IP (instruction pointer)</a:t>
            </a:r>
            <a:endParaRPr lang="en-US" dirty="0"/>
          </a:p>
          <a:p>
            <a:pPr lvl="1"/>
            <a:r>
              <a:rPr lang="vi-VN" dirty="0"/>
              <a:t>trỏ tới lệnh máy tiếp theo.</a:t>
            </a:r>
            <a:endParaRPr lang="en-US" dirty="0"/>
          </a:p>
          <a:p>
            <a:pPr lvl="1"/>
            <a:r>
              <a:rPr lang="en-US" dirty="0"/>
              <a:t>đ</a:t>
            </a:r>
            <a:r>
              <a:rPr lang="vi-VN" dirty="0"/>
              <a:t>ịa chỉ đoạn được ghi trong CS</a:t>
            </a:r>
            <a:r>
              <a:rPr lang="en-US" dirty="0"/>
              <a:t> (</a:t>
            </a:r>
            <a:r>
              <a:rPr lang="vi-VN" dirty="0"/>
              <a:t>CS:IP</a:t>
            </a:r>
            <a:r>
              <a:rPr lang="en-US" dirty="0"/>
              <a:t>)</a:t>
            </a:r>
          </a:p>
          <a:p>
            <a:r>
              <a:rPr lang="vi-VN" dirty="0"/>
              <a:t>BP (base pointer)</a:t>
            </a:r>
            <a:endParaRPr lang="en-US" dirty="0"/>
          </a:p>
          <a:p>
            <a:pPr lvl="1"/>
            <a:r>
              <a:rPr lang="en-US" dirty="0"/>
              <a:t>t</a:t>
            </a:r>
            <a:r>
              <a:rPr lang="vi-VN" dirty="0"/>
              <a:t>rỏ về dữ liệu bộ nhớ mà địa chỉ đoạn được ghi trong </a:t>
            </a:r>
            <a:r>
              <a:rPr lang="en-US" dirty="0"/>
              <a:t>D</a:t>
            </a:r>
            <a:r>
              <a:rPr lang="vi-VN" dirty="0"/>
              <a:t>S</a:t>
            </a:r>
            <a:r>
              <a:rPr lang="en-US" dirty="0"/>
              <a:t> (D</a:t>
            </a:r>
            <a:r>
              <a:rPr lang="vi-VN" dirty="0"/>
              <a:t>S:BP</a:t>
            </a:r>
            <a:r>
              <a:rPr lang="en-US" dirty="0"/>
              <a:t>)</a:t>
            </a:r>
            <a:r>
              <a:rPr lang="vi-VN" dirty="0"/>
              <a:t>.</a:t>
            </a:r>
          </a:p>
          <a:p>
            <a:r>
              <a:rPr lang="vi-VN" dirty="0"/>
              <a:t>SP (stack pointer)</a:t>
            </a:r>
            <a:endParaRPr lang="en-US" dirty="0"/>
          </a:p>
          <a:p>
            <a:pPr lvl="1"/>
            <a:r>
              <a:rPr lang="vi-VN" dirty="0"/>
              <a:t>trỏ vào đỉnh ngăn xếp mà địa chỉ đoạn được ghi trong SS</a:t>
            </a:r>
            <a:r>
              <a:rPr lang="en-US" dirty="0"/>
              <a:t> (S</a:t>
            </a:r>
            <a:r>
              <a:rPr lang="vi-VN" dirty="0"/>
              <a:t>S:SP</a:t>
            </a:r>
            <a:r>
              <a:rPr lang="en-US" dirty="0"/>
              <a:t>)</a:t>
            </a:r>
            <a:r>
              <a:rPr lang="vi-VN" dirty="0"/>
              <a:t>.</a:t>
            </a:r>
          </a:p>
          <a:p>
            <a:r>
              <a:rPr lang="vi-VN" dirty="0"/>
              <a:t>SI (source index)</a:t>
            </a:r>
            <a:endParaRPr lang="en-US" dirty="0"/>
          </a:p>
          <a:p>
            <a:pPr lvl="1"/>
            <a:r>
              <a:rPr lang="vi-VN" dirty="0"/>
              <a:t>trỏ vào dữ liệu mà địa chỉ đoạn được ghi trong DS</a:t>
            </a:r>
            <a:r>
              <a:rPr lang="en-US" dirty="0"/>
              <a:t> (</a:t>
            </a:r>
            <a:r>
              <a:rPr lang="vi-VN" dirty="0"/>
              <a:t>DS:SI</a:t>
            </a:r>
            <a:r>
              <a:rPr lang="en-US" dirty="0"/>
              <a:t>)</a:t>
            </a:r>
            <a:r>
              <a:rPr lang="vi-VN" dirty="0"/>
              <a:t>.</a:t>
            </a:r>
          </a:p>
          <a:p>
            <a:r>
              <a:rPr lang="vi-VN" dirty="0"/>
              <a:t>DI (destination index)</a:t>
            </a:r>
            <a:endParaRPr lang="en-US" dirty="0"/>
          </a:p>
          <a:p>
            <a:pPr lvl="1"/>
            <a:r>
              <a:rPr lang="vi-VN" dirty="0"/>
              <a:t>trỏ vào đoạn dữ liệu mà địa chỉ đoạn ghi trong DS</a:t>
            </a:r>
            <a:r>
              <a:rPr lang="en-US" dirty="0"/>
              <a:t>(</a:t>
            </a:r>
            <a:r>
              <a:rPr lang="vi-VN" dirty="0"/>
              <a:t>DS:DI</a:t>
            </a:r>
            <a:r>
              <a:rPr lang="en-US" dirty="0"/>
              <a:t>)</a:t>
            </a:r>
            <a:r>
              <a:rPr lang="vi-VN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Thanh</a:t>
            </a:r>
            <a:r>
              <a:rPr lang="en-US" sz="3200" dirty="0"/>
              <a:t> </a:t>
            </a:r>
            <a:r>
              <a:rPr lang="en-US" sz="3200" dirty="0" err="1"/>
              <a:t>ghi</a:t>
            </a:r>
            <a:r>
              <a:rPr lang="en-US" sz="3200" dirty="0"/>
              <a:t> </a:t>
            </a:r>
            <a:r>
              <a:rPr lang="en-US" sz="3200" dirty="0" err="1"/>
              <a:t>trạng</a:t>
            </a:r>
            <a:r>
              <a:rPr lang="en-US" sz="3200" dirty="0"/>
              <a:t> </a:t>
            </a:r>
            <a:r>
              <a:rPr lang="en-US" sz="3200" dirty="0" err="1"/>
              <a:t>thái</a:t>
            </a:r>
            <a:r>
              <a:rPr lang="en-US" sz="3200" dirty="0"/>
              <a:t> – status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8229600" cy="3025409"/>
          </a:xfrm>
        </p:spPr>
        <p:txBody>
          <a:bodyPr>
            <a:normAutofit/>
          </a:bodyPr>
          <a:lstStyle/>
          <a:p>
            <a:r>
              <a:rPr lang="vi-VN" dirty="0"/>
              <a:t>Còn gọi là thanh ghi cờ (Flag Register)</a:t>
            </a:r>
          </a:p>
          <a:p>
            <a:r>
              <a:rPr lang="vi-VN" dirty="0"/>
              <a:t>Chứa các thông tin trạng thái của CPU</a:t>
            </a:r>
          </a:p>
          <a:p>
            <a:r>
              <a:rPr lang="vi-VN" dirty="0"/>
              <a:t>Các cờ phép toán: báo hiệu trạng thái của kết  quả</a:t>
            </a:r>
            <a:r>
              <a:rPr lang="en-US" dirty="0"/>
              <a:t> </a:t>
            </a:r>
            <a:r>
              <a:rPr lang="vi-VN" dirty="0"/>
              <a:t>phép toán</a:t>
            </a:r>
          </a:p>
          <a:p>
            <a:r>
              <a:rPr lang="vi-VN" dirty="0"/>
              <a:t>Các cờ điều khiển: biểu thị trạng thái điều khiển của CPU</a:t>
            </a:r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133600"/>
            <a:ext cx="8458200" cy="4114800"/>
          </a:xfrm>
        </p:spPr>
        <p:txBody>
          <a:bodyPr>
            <a:noAutofit/>
          </a:bodyPr>
          <a:lstStyle/>
          <a:p>
            <a:r>
              <a:rPr lang="vi-VN" sz="1800" dirty="0"/>
              <a:t>Bit 0: CF (carry flag) cờ nhớ</a:t>
            </a:r>
            <a:endParaRPr lang="en-US" sz="1800" dirty="0"/>
          </a:p>
          <a:p>
            <a:pPr lvl="1"/>
            <a:r>
              <a:rPr lang="vi-VN" sz="1800" dirty="0"/>
              <a:t>CF=1 khi có nhớ hoặc mượn từ MSB.</a:t>
            </a:r>
          </a:p>
          <a:p>
            <a:r>
              <a:rPr lang="en-US" sz="1800" dirty="0"/>
              <a:t>Bit 2: PF (parity flag) </a:t>
            </a:r>
            <a:r>
              <a:rPr lang="en-US" sz="1800" dirty="0" err="1"/>
              <a:t>cờ</a:t>
            </a:r>
            <a:r>
              <a:rPr lang="en-US" sz="1800" dirty="0"/>
              <a:t> parity</a:t>
            </a:r>
          </a:p>
          <a:p>
            <a:pPr lvl="1"/>
            <a:r>
              <a:rPr lang="en-US" sz="1800" dirty="0"/>
              <a:t>PF </a:t>
            </a:r>
            <a:r>
              <a:rPr lang="en-US" sz="1800" dirty="0" err="1"/>
              <a:t>phản</a:t>
            </a:r>
            <a:r>
              <a:rPr lang="en-US" sz="1800" dirty="0"/>
              <a:t> </a:t>
            </a:r>
            <a:r>
              <a:rPr lang="en-US" sz="1800" dirty="0" err="1"/>
              <a:t>ảnh</a:t>
            </a:r>
            <a:r>
              <a:rPr lang="en-US" sz="1800" dirty="0"/>
              <a:t> </a:t>
            </a:r>
            <a:r>
              <a:rPr lang="en-US" sz="1800" dirty="0" err="1"/>
              <a:t>tính</a:t>
            </a:r>
            <a:r>
              <a:rPr lang="en-US" sz="1800" dirty="0"/>
              <a:t> </a:t>
            </a:r>
            <a:r>
              <a:rPr lang="en-US" sz="1800" dirty="0" err="1"/>
              <a:t>chẵn</a:t>
            </a:r>
            <a:r>
              <a:rPr lang="en-US" sz="1800" dirty="0"/>
              <a:t> (parity)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tổng</a:t>
            </a:r>
            <a:r>
              <a:rPr lang="en-US" sz="1800" dirty="0"/>
              <a:t> </a:t>
            </a:r>
            <a:r>
              <a:rPr lang="en-US" sz="1800" dirty="0" err="1"/>
              <a:t>số</a:t>
            </a:r>
            <a:r>
              <a:rPr lang="en-US" sz="1800" dirty="0"/>
              <a:t> bit 1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quả</a:t>
            </a:r>
            <a:r>
              <a:rPr lang="en-US" sz="1800" dirty="0"/>
              <a:t>.</a:t>
            </a:r>
          </a:p>
          <a:p>
            <a:pPr lvl="1"/>
            <a:r>
              <a:rPr lang="en-US" sz="1800" dirty="0" err="1"/>
              <a:t>Cở</a:t>
            </a:r>
            <a:r>
              <a:rPr lang="en-US" sz="1800" dirty="0"/>
              <a:t> PF =1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tổng</a:t>
            </a:r>
            <a:r>
              <a:rPr lang="en-US" sz="1800" dirty="0"/>
              <a:t> </a:t>
            </a:r>
            <a:r>
              <a:rPr lang="en-US" sz="1800" dirty="0" err="1"/>
              <a:t>số</a:t>
            </a:r>
            <a:r>
              <a:rPr lang="en-US" sz="1800" dirty="0"/>
              <a:t> bit 1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quả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chẵn</a:t>
            </a:r>
            <a:r>
              <a:rPr lang="en-US" sz="1800" dirty="0"/>
              <a:t>.</a:t>
            </a:r>
          </a:p>
          <a:p>
            <a:r>
              <a:rPr lang="vi-VN" sz="1800" dirty="0"/>
              <a:t>Bit 4: AF (auxliary carry flag) cờ nhớ phụ dùng cho các phép tính với mã BCD.</a:t>
            </a:r>
            <a:endParaRPr lang="en-US" sz="1800" dirty="0"/>
          </a:p>
          <a:p>
            <a:pPr lvl="1"/>
            <a:r>
              <a:rPr lang="vi-VN" sz="1800" dirty="0"/>
              <a:t>AF = 1 khi có nhớ hoặc mượn từ một số BCD thấp (4 bit thấp) sang một số BCD cao (4 bit cao).</a:t>
            </a:r>
          </a:p>
          <a:p>
            <a:r>
              <a:rPr lang="en-US" sz="1800" dirty="0"/>
              <a:t>Bit 6: ZF (zero flag) </a:t>
            </a:r>
            <a:r>
              <a:rPr lang="en-US" sz="1800" dirty="0" err="1"/>
              <a:t>cờ</a:t>
            </a:r>
            <a:r>
              <a:rPr lang="en-US" sz="1800" dirty="0"/>
              <a:t> </a:t>
            </a:r>
            <a:r>
              <a:rPr lang="en-US" sz="1800" dirty="0" err="1"/>
              <a:t>rỗng</a:t>
            </a:r>
            <a:r>
              <a:rPr lang="en-US" sz="1800" dirty="0"/>
              <a:t>, ZF = 1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quả</a:t>
            </a:r>
            <a:r>
              <a:rPr lang="en-US" sz="1800" dirty="0"/>
              <a:t> </a:t>
            </a:r>
            <a:r>
              <a:rPr lang="en-US" sz="1800" dirty="0" err="1"/>
              <a:t>bằng</a:t>
            </a:r>
            <a:r>
              <a:rPr lang="en-US" sz="1800" dirty="0"/>
              <a:t> 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76952" y="1676400"/>
          <a:ext cx="6619248" cy="304800"/>
        </p:xfrm>
        <a:graphic>
          <a:graphicData uri="http://schemas.openxmlformats.org/drawingml/2006/table">
            <a:tbl>
              <a:tblPr/>
              <a:tblGrid>
                <a:gridCol w="413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C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Thanh</a:t>
            </a:r>
            <a:r>
              <a:rPr lang="en-US" sz="3600" dirty="0"/>
              <a:t> </a:t>
            </a:r>
            <a:r>
              <a:rPr lang="en-US" sz="3600" dirty="0" err="1"/>
              <a:t>ghi</a:t>
            </a:r>
            <a:r>
              <a:rPr lang="en-US" sz="3600" dirty="0"/>
              <a:t> </a:t>
            </a:r>
            <a:r>
              <a:rPr lang="en-US" sz="3600" dirty="0" err="1"/>
              <a:t>trạng</a:t>
            </a:r>
            <a:r>
              <a:rPr lang="en-US" sz="3600" dirty="0"/>
              <a:t> </a:t>
            </a:r>
            <a:r>
              <a:rPr lang="en-US" sz="3600" dirty="0" err="1"/>
              <a:t>thái</a:t>
            </a:r>
            <a:r>
              <a:rPr lang="en-US" sz="3600" dirty="0"/>
              <a:t> (8088/8086) - </a:t>
            </a:r>
            <a:r>
              <a:rPr lang="en-US" sz="3600" dirty="0" err="1"/>
              <a:t>tt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2362200"/>
            <a:ext cx="8378952" cy="4114800"/>
          </a:xfrm>
        </p:spPr>
        <p:txBody>
          <a:bodyPr>
            <a:noAutofit/>
          </a:bodyPr>
          <a:lstStyle/>
          <a:p>
            <a:r>
              <a:rPr lang="en-US" sz="1800" dirty="0"/>
              <a:t>Bit 7: SF (sign flag) </a:t>
            </a:r>
            <a:r>
              <a:rPr lang="en-US" sz="1800" dirty="0" err="1"/>
              <a:t>cờ</a:t>
            </a:r>
            <a:r>
              <a:rPr lang="en-US" sz="1800" dirty="0"/>
              <a:t> </a:t>
            </a:r>
            <a:r>
              <a:rPr lang="en-US" sz="1800" dirty="0" err="1"/>
              <a:t>dấu</a:t>
            </a:r>
            <a:r>
              <a:rPr lang="en-US" sz="1800" dirty="0"/>
              <a:t>, SF = 1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quả</a:t>
            </a:r>
            <a:r>
              <a:rPr lang="en-US" sz="1800" dirty="0"/>
              <a:t> </a:t>
            </a:r>
            <a:r>
              <a:rPr lang="en-US" sz="1800" dirty="0" err="1"/>
              <a:t>âm</a:t>
            </a:r>
            <a:r>
              <a:rPr lang="en-US" sz="1800" dirty="0"/>
              <a:t>.</a:t>
            </a:r>
          </a:p>
          <a:p>
            <a:r>
              <a:rPr lang="vi-VN" sz="1800" dirty="0"/>
              <a:t>Bit 8: TF (trap flag) cờ bẫy</a:t>
            </a:r>
            <a:r>
              <a:rPr lang="en-US" sz="1800" dirty="0"/>
              <a:t>, </a:t>
            </a:r>
            <a:r>
              <a:rPr lang="vi-VN" sz="1800" dirty="0"/>
              <a:t>TF = 1 khi vi xử lý ở trong chế độ chạy từng lệnh</a:t>
            </a:r>
            <a:r>
              <a:rPr lang="en-US" sz="1800" dirty="0"/>
              <a:t>.</a:t>
            </a:r>
            <a:endParaRPr lang="vi-VN" sz="1800" dirty="0"/>
          </a:p>
          <a:p>
            <a:r>
              <a:rPr lang="vi-VN" sz="1800" dirty="0"/>
              <a:t>Bit 9: IF (interrupt enable flag) cờ cho phép ngắt</a:t>
            </a:r>
            <a:endParaRPr lang="en-US" sz="1800" dirty="0"/>
          </a:p>
          <a:p>
            <a:pPr lvl="1"/>
            <a:r>
              <a:rPr lang="vi-VN" sz="1800" dirty="0"/>
              <a:t>IF = 1 cho phép các yêu cầu ngắt che được (maskable interrupt) được tác động.</a:t>
            </a:r>
          </a:p>
          <a:p>
            <a:r>
              <a:rPr lang="vi-VN" sz="1800" dirty="0"/>
              <a:t>Bit A: DF (direction flag) cờ hướng</a:t>
            </a:r>
            <a:endParaRPr lang="en-US" sz="1800" dirty="0"/>
          </a:p>
          <a:p>
            <a:pPr lvl="1"/>
            <a:r>
              <a:rPr lang="vi-VN" sz="1800" dirty="0"/>
              <a:t>DF = 1 khi CPU làm việc với chuỗi ký tự theo thứ tự từ phải sang trái (lùi).</a:t>
            </a:r>
          </a:p>
          <a:p>
            <a:r>
              <a:rPr lang="vi-VN" sz="1800" dirty="0"/>
              <a:t>Bit B: OF (overflow) cờ tràn</a:t>
            </a:r>
            <a:endParaRPr lang="en-US" sz="1800" dirty="0"/>
          </a:p>
          <a:p>
            <a:pPr lvl="1"/>
            <a:r>
              <a:rPr lang="vi-VN" sz="1800" dirty="0"/>
              <a:t>OF =1 khi kết quả vượt ra ngoài giới hạn, xảy ra đối với phép tính có dấu.</a:t>
            </a:r>
            <a:endParaRPr lang="en-US" sz="1800" dirty="0"/>
          </a:p>
          <a:p>
            <a:endParaRPr lang="en-US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76952" y="1676400"/>
          <a:ext cx="6619248" cy="304800"/>
        </p:xfrm>
        <a:graphic>
          <a:graphicData uri="http://schemas.openxmlformats.org/drawingml/2006/table">
            <a:tbl>
              <a:tblPr/>
              <a:tblGrid>
                <a:gridCol w="413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370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 Black" pitchFamily="34" charset="0"/>
                          <a:ea typeface="Times New Roman"/>
                          <a:cs typeface="Times New Roman"/>
                        </a:rPr>
                        <a:t>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 Black" pitchFamily="34" charset="0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 Black" pitchFamily="34" charset="0"/>
                          <a:ea typeface="Times New Roman"/>
                          <a:cs typeface="Times New Roman"/>
                        </a:rPr>
                        <a:t>C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cờ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vi-VN" sz="2400" dirty="0"/>
              <a:t>Cờ Zero (cờ rỗng):</a:t>
            </a:r>
            <a:endParaRPr lang="en-US" sz="2400" dirty="0"/>
          </a:p>
          <a:p>
            <a:pPr lvl="1"/>
            <a:r>
              <a:rPr lang="vi-VN" sz="2100" dirty="0"/>
              <a:t>được thiết lập lên</a:t>
            </a:r>
            <a:r>
              <a:rPr lang="en-US" sz="2100" dirty="0"/>
              <a:t> </a:t>
            </a:r>
            <a:r>
              <a:rPr lang="vi-VN" sz="2100" dirty="0"/>
              <a:t>1 khi kết quả của phép toán bằng 0.</a:t>
            </a:r>
          </a:p>
          <a:p>
            <a:r>
              <a:rPr lang="vi-VN" sz="2400" dirty="0"/>
              <a:t>Cờ Sign (cờ dấu):</a:t>
            </a:r>
            <a:endParaRPr lang="en-US" sz="2400" dirty="0"/>
          </a:p>
          <a:p>
            <a:pPr lvl="1"/>
            <a:r>
              <a:rPr lang="vi-VN" sz="2100" dirty="0"/>
              <a:t>được thiết lập lên 1 khi kết quả</a:t>
            </a:r>
            <a:r>
              <a:rPr lang="en-US" sz="2100" dirty="0"/>
              <a:t> </a:t>
            </a:r>
            <a:r>
              <a:rPr lang="vi-VN" sz="2100" dirty="0"/>
              <a:t>phép toán nhỏ hơn 0</a:t>
            </a:r>
          </a:p>
          <a:p>
            <a:r>
              <a:rPr lang="vi-VN" sz="2400" dirty="0"/>
              <a:t>Cờ Carry (cờ nhớ):</a:t>
            </a:r>
            <a:endParaRPr lang="en-US" sz="2400" dirty="0"/>
          </a:p>
          <a:p>
            <a:pPr lvl="1"/>
            <a:r>
              <a:rPr lang="vi-VN" sz="2100" dirty="0"/>
              <a:t>được thiết lập lên 1 nếu phép toán có nhớ ra ngoài bit cao nhất </a:t>
            </a:r>
            <a:r>
              <a:rPr lang="en-US" sz="2100" dirty="0"/>
              <a:t>-&gt;</a:t>
            </a:r>
            <a:r>
              <a:rPr lang="vi-VN" sz="2100" dirty="0"/>
              <a:t> </a:t>
            </a:r>
            <a:r>
              <a:rPr lang="vi-VN" sz="2100" i="1" dirty="0">
                <a:solidFill>
                  <a:srgbClr val="FF0000"/>
                </a:solidFill>
              </a:rPr>
              <a:t>cờ báo tràn với số không dấu</a:t>
            </a:r>
            <a:r>
              <a:rPr lang="vi-VN" sz="2100" dirty="0"/>
              <a:t>.</a:t>
            </a:r>
          </a:p>
          <a:p>
            <a:r>
              <a:rPr lang="vi-VN" sz="2400" dirty="0"/>
              <a:t>Cờ Overflow (cờ tràn):</a:t>
            </a:r>
            <a:endParaRPr lang="en-US" sz="2400" dirty="0"/>
          </a:p>
          <a:p>
            <a:pPr lvl="1"/>
            <a:r>
              <a:rPr lang="vi-VN" sz="2100" dirty="0"/>
              <a:t>được  thiếp lập lên</a:t>
            </a:r>
            <a:r>
              <a:rPr lang="en-US" sz="2100" dirty="0"/>
              <a:t> </a:t>
            </a:r>
            <a:r>
              <a:rPr lang="vi-VN" sz="2100" dirty="0"/>
              <a:t>1 nếu cộng hai số nguyên cùng dấu mà</a:t>
            </a:r>
            <a:r>
              <a:rPr lang="en-US" sz="2100" dirty="0"/>
              <a:t> </a:t>
            </a:r>
            <a:r>
              <a:rPr lang="vi-VN" sz="2100" dirty="0"/>
              <a:t>kết quả có</a:t>
            </a:r>
            <a:r>
              <a:rPr lang="en-US" sz="2100" dirty="0"/>
              <a:t> </a:t>
            </a:r>
            <a:r>
              <a:rPr lang="vi-VN" sz="2100" dirty="0"/>
              <a:t>dấu ngược lại </a:t>
            </a:r>
            <a:r>
              <a:rPr lang="en-US" sz="2100" dirty="0"/>
              <a:t>-&gt;</a:t>
            </a:r>
            <a:r>
              <a:rPr lang="vi-VN" sz="2100" dirty="0"/>
              <a:t> </a:t>
            </a:r>
            <a:r>
              <a:rPr lang="vi-VN" sz="2100" i="1" dirty="0">
                <a:solidFill>
                  <a:srgbClr val="FF0000"/>
                </a:solidFill>
              </a:rPr>
              <a:t>cờ báo tràn với số có</a:t>
            </a:r>
            <a:r>
              <a:rPr lang="en-US" sz="2100" i="1" dirty="0">
                <a:solidFill>
                  <a:srgbClr val="FF0000"/>
                </a:solidFill>
              </a:rPr>
              <a:t> </a:t>
            </a:r>
            <a:r>
              <a:rPr lang="vi-VN" sz="2100" i="1" dirty="0">
                <a:solidFill>
                  <a:srgbClr val="FF0000"/>
                </a:solidFill>
              </a:rPr>
              <a:t>dấu</a:t>
            </a:r>
            <a:r>
              <a:rPr lang="vi-VN" sz="2100" dirty="0"/>
              <a:t>.</a:t>
            </a:r>
            <a:endParaRPr lang="en-US" sz="2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cờ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Cờ</a:t>
            </a:r>
            <a:r>
              <a:rPr lang="en-US" dirty="0"/>
              <a:t> Interrupt (</a:t>
            </a:r>
            <a:r>
              <a:rPr lang="en-US" dirty="0" err="1"/>
              <a:t>Cờ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Nếu</a:t>
            </a:r>
            <a:r>
              <a:rPr lang="en-US" dirty="0"/>
              <a:t> IF = 1 -&gt; CPU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tới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IF =  0 -&gt; CPU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cấm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tới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VXL 8088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628775"/>
            <a:ext cx="6553200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vi-VN" dirty="0"/>
              <a:t>Mỗi bộ xử lý có</a:t>
            </a:r>
            <a:r>
              <a:rPr lang="en-US" dirty="0"/>
              <a:t> </a:t>
            </a:r>
            <a:r>
              <a:rPr lang="vi-VN" dirty="0"/>
              <a:t>một tập lệnh xác định</a:t>
            </a:r>
          </a:p>
          <a:p>
            <a:r>
              <a:rPr lang="vi-VN" dirty="0"/>
              <a:t>Tập lệnh thường có hàng chục đến hàng trăm lệnh</a:t>
            </a:r>
          </a:p>
          <a:p>
            <a:r>
              <a:rPr lang="vi-VN" dirty="0"/>
              <a:t>Mỗi lệnh là</a:t>
            </a:r>
            <a:r>
              <a:rPr lang="en-US" dirty="0"/>
              <a:t> </a:t>
            </a:r>
            <a:r>
              <a:rPr lang="vi-VN" dirty="0"/>
              <a:t>một chuỗi số nhị phân mà</a:t>
            </a:r>
            <a:r>
              <a:rPr lang="en-US" dirty="0"/>
              <a:t> </a:t>
            </a:r>
            <a:r>
              <a:rPr lang="vi-VN" dirty="0"/>
              <a:t>bộ xử lý hiểu được để thực hiện một thao tác xác định</a:t>
            </a:r>
          </a:p>
          <a:p>
            <a:r>
              <a:rPr lang="vi-VN" dirty="0"/>
              <a:t>Các lệnh được mô tả bằng các ký hiệu gợi nhớ </a:t>
            </a:r>
            <a:r>
              <a:rPr lang="en-US" dirty="0"/>
              <a:t>-&gt; </a:t>
            </a:r>
            <a:r>
              <a:rPr lang="vi-VN" dirty="0"/>
              <a:t>chính là các lệnh của hợp ngữ</a:t>
            </a: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máy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743200"/>
            <a:ext cx="8229600" cy="3657600"/>
          </a:xfrm>
        </p:spPr>
        <p:txBody>
          <a:bodyPr>
            <a:normAutofit/>
          </a:bodyPr>
          <a:lstStyle/>
          <a:p>
            <a:r>
              <a:rPr lang="vi-VN" sz="2400" dirty="0"/>
              <a:t>Mã thao tác (operation code  </a:t>
            </a:r>
            <a:r>
              <a:rPr lang="en-US" sz="2400" dirty="0"/>
              <a:t>-&gt; </a:t>
            </a:r>
            <a:r>
              <a:rPr lang="vi-VN" sz="2400" dirty="0"/>
              <a:t>opcode)</a:t>
            </a:r>
            <a:endParaRPr lang="en-US" sz="2400" dirty="0"/>
          </a:p>
          <a:p>
            <a:pPr lvl="1"/>
            <a:r>
              <a:rPr lang="en-US" sz="2000" dirty="0"/>
              <a:t>M</a:t>
            </a:r>
            <a:r>
              <a:rPr lang="vi-VN" sz="2000" dirty="0"/>
              <a:t>ã hóa cho thao tác mà</a:t>
            </a:r>
            <a:r>
              <a:rPr lang="en-US" sz="2000" dirty="0"/>
              <a:t> </a:t>
            </a:r>
            <a:r>
              <a:rPr lang="vi-VN" sz="2000" dirty="0"/>
              <a:t>bộ xử lý phải thực hiện</a:t>
            </a:r>
          </a:p>
          <a:p>
            <a:r>
              <a:rPr lang="vi-VN" sz="2400" dirty="0"/>
              <a:t>Địa chỉ toán hạng: chỉ ra nơi chứa các toán hạng mà thao tác sẽ tác động</a:t>
            </a:r>
          </a:p>
          <a:p>
            <a:pPr lvl="1"/>
            <a:r>
              <a:rPr lang="vi-VN" sz="2400" dirty="0"/>
              <a:t>Toán hạng nguồn: </a:t>
            </a:r>
            <a:r>
              <a:rPr lang="vi-VN" sz="2400" b="1" dirty="0">
                <a:solidFill>
                  <a:srgbClr val="FF0000"/>
                </a:solidFill>
              </a:rPr>
              <a:t>dữ liệu vào </a:t>
            </a:r>
            <a:r>
              <a:rPr lang="vi-VN" sz="2400" dirty="0"/>
              <a:t>của thao tác</a:t>
            </a:r>
          </a:p>
          <a:p>
            <a:pPr lvl="1"/>
            <a:r>
              <a:rPr lang="vi-VN" sz="2400" dirty="0"/>
              <a:t>Toán hạng đích: </a:t>
            </a:r>
            <a:r>
              <a:rPr lang="vi-VN" sz="2400" b="1" dirty="0">
                <a:solidFill>
                  <a:srgbClr val="FF0000"/>
                </a:solidFill>
              </a:rPr>
              <a:t>dữ liệu ra </a:t>
            </a:r>
            <a:r>
              <a:rPr lang="vi-VN" sz="2400" dirty="0"/>
              <a:t>của thao tác</a:t>
            </a:r>
            <a:endParaRPr 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752600"/>
            <a:ext cx="6781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kiểu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vi-VN" dirty="0"/>
              <a:t>Chuyển dữ liệu</a:t>
            </a:r>
          </a:p>
          <a:p>
            <a:r>
              <a:rPr lang="vi-VN" dirty="0"/>
              <a:t>Xử lý số học với số nguyên</a:t>
            </a:r>
          </a:p>
          <a:p>
            <a:r>
              <a:rPr lang="vi-VN" dirty="0"/>
              <a:t>Xử lý logic</a:t>
            </a:r>
          </a:p>
          <a:p>
            <a:r>
              <a:rPr lang="vi-VN" dirty="0"/>
              <a:t>Điều khiển vào-ra</a:t>
            </a:r>
          </a:p>
          <a:p>
            <a:r>
              <a:rPr lang="vi-VN" dirty="0"/>
              <a:t>Chuyển điều khiển (rẽ nhánh)</a:t>
            </a:r>
          </a:p>
          <a:p>
            <a:r>
              <a:rPr lang="vi-VN" dirty="0"/>
              <a:t>Điều khiển hệ thống</a:t>
            </a:r>
          </a:p>
          <a:p>
            <a:r>
              <a:rPr lang="vi-VN" dirty="0"/>
              <a:t>Xử lý số dấu chấm động</a:t>
            </a:r>
          </a:p>
          <a:p>
            <a:r>
              <a:rPr lang="vi-VN" dirty="0"/>
              <a:t>Xử lý các dữ liệu chuyên dụng</a:t>
            </a: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vi-VN" dirty="0"/>
              <a:t>MOVE</a:t>
            </a:r>
            <a:r>
              <a:rPr lang="en-US" dirty="0"/>
              <a:t>		</a:t>
            </a:r>
            <a:r>
              <a:rPr lang="vi-VN" dirty="0"/>
              <a:t>Copy dữ liệu từ nguồn đến đích</a:t>
            </a:r>
          </a:p>
          <a:p>
            <a:r>
              <a:rPr lang="vi-VN" dirty="0"/>
              <a:t>LOAD</a:t>
            </a:r>
            <a:r>
              <a:rPr lang="en-US" dirty="0"/>
              <a:t>		</a:t>
            </a:r>
            <a:r>
              <a:rPr lang="vi-VN" dirty="0"/>
              <a:t>Nạp dữ liệu từ bộ nhớ đến bộ xử lý</a:t>
            </a:r>
          </a:p>
          <a:p>
            <a:r>
              <a:rPr lang="vi-VN" dirty="0"/>
              <a:t>STORE</a:t>
            </a:r>
            <a:r>
              <a:rPr lang="en-US" dirty="0"/>
              <a:t>		</a:t>
            </a:r>
            <a:r>
              <a:rPr lang="vi-VN" dirty="0"/>
              <a:t>Cất dữ liệu từ bộ xử lý đến bộ nhớ</a:t>
            </a:r>
          </a:p>
          <a:p>
            <a:r>
              <a:rPr lang="vi-VN" dirty="0"/>
              <a:t>EXCHANGE</a:t>
            </a:r>
            <a:r>
              <a:rPr lang="en-US" dirty="0"/>
              <a:t>	</a:t>
            </a:r>
            <a:r>
              <a:rPr lang="vi-VN" dirty="0"/>
              <a:t>Trao đổi nội dung của nguồn và đích</a:t>
            </a:r>
          </a:p>
          <a:p>
            <a:r>
              <a:rPr lang="vi-VN" dirty="0"/>
              <a:t>CLEAR</a:t>
            </a:r>
            <a:r>
              <a:rPr lang="en-US" dirty="0"/>
              <a:t>		</a:t>
            </a:r>
            <a:r>
              <a:rPr lang="vi-VN" dirty="0"/>
              <a:t>Chuyển các bit 0 vào toán hạng đích</a:t>
            </a:r>
          </a:p>
          <a:p>
            <a:r>
              <a:rPr lang="vi-VN" dirty="0"/>
              <a:t>SET</a:t>
            </a:r>
            <a:r>
              <a:rPr lang="en-US" dirty="0"/>
              <a:t>			</a:t>
            </a:r>
            <a:r>
              <a:rPr lang="vi-VN" dirty="0"/>
              <a:t>Chuyển các bit 1 vào toán hạng đích</a:t>
            </a:r>
          </a:p>
          <a:p>
            <a:r>
              <a:rPr lang="vi-VN" dirty="0"/>
              <a:t>PUSH</a:t>
            </a:r>
            <a:r>
              <a:rPr lang="en-US" dirty="0"/>
              <a:t>		</a:t>
            </a:r>
            <a:r>
              <a:rPr lang="vi-VN" dirty="0"/>
              <a:t>Cất nội dung toán hạng nguồn vào </a:t>
            </a:r>
            <a:r>
              <a:rPr lang="en-US" dirty="0"/>
              <a:t>			</a:t>
            </a:r>
            <a:r>
              <a:rPr lang="vi-VN" dirty="0"/>
              <a:t>ngăn xếp</a:t>
            </a:r>
          </a:p>
          <a:p>
            <a:r>
              <a:rPr lang="vi-VN" dirty="0"/>
              <a:t>POP</a:t>
            </a:r>
            <a:r>
              <a:rPr lang="en-US" dirty="0"/>
              <a:t>			</a:t>
            </a:r>
            <a:r>
              <a:rPr lang="vi-VN" dirty="0"/>
              <a:t>Lấy nội  dung  đỉnh  ngăn xếp  đưa  </a:t>
            </a:r>
            <a:r>
              <a:rPr lang="en-US" dirty="0"/>
              <a:t>			</a:t>
            </a:r>
            <a:r>
              <a:rPr lang="vi-VN" dirty="0"/>
              <a:t>đến toán hạng đích</a:t>
            </a:r>
            <a:endParaRPr lang="en-US" dirty="0"/>
          </a:p>
          <a:p>
            <a:r>
              <a:rPr lang="en-US" dirty="0" err="1"/>
              <a:t>Lệnh</a:t>
            </a:r>
            <a:r>
              <a:rPr lang="en-US" dirty="0"/>
              <a:t> XLAT		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MOVE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3276600" cy="3482609"/>
          </a:xfrm>
        </p:spPr>
        <p:txBody>
          <a:bodyPr>
            <a:noAutofit/>
          </a:bodyPr>
          <a:lstStyle/>
          <a:p>
            <a:r>
              <a:rPr lang="en-US" sz="2000" dirty="0"/>
              <a:t>MOV Des, Source</a:t>
            </a:r>
          </a:p>
          <a:p>
            <a:r>
              <a:rPr lang="en-GB" sz="2000" b="1" u="sng" dirty="0" err="1">
                <a:ea typeface="Times New Roman" pitchFamily="18" charset="0"/>
                <a:cs typeface="Times New Roman" pitchFamily="18" charset="0"/>
              </a:rPr>
              <a:t>Ví</a:t>
            </a:r>
            <a:r>
              <a:rPr lang="en-GB" sz="2000" b="1" u="sng" dirty="0">
                <a:ea typeface="Times New Roman" pitchFamily="18" charset="0"/>
                <a:cs typeface="Times New Roman" pitchFamily="18" charset="0"/>
              </a:rPr>
              <a:t> </a:t>
            </a:r>
            <a:r>
              <a:rPr lang="en-GB" sz="2000" b="1" u="sng" dirty="0" err="1">
                <a:ea typeface="Times New Roman" pitchFamily="18" charset="0"/>
                <a:cs typeface="Times New Roman" pitchFamily="18" charset="0"/>
              </a:rPr>
              <a:t>dụ</a:t>
            </a:r>
            <a:r>
              <a:rPr lang="en-GB" sz="2000" b="1" u="sng" dirty="0">
                <a:ea typeface="Times New Roman" pitchFamily="18" charset="0"/>
                <a:cs typeface="Times New Roman" pitchFamily="18" charset="0"/>
              </a:rPr>
              <a:t>:</a:t>
            </a:r>
          </a:p>
          <a:p>
            <a:pPr marL="557784" lvl="2" indent="0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GB" sz="2000" dirty="0">
              <a:ea typeface="Times New Roman" pitchFamily="18" charset="0"/>
              <a:cs typeface="Times New Roman" pitchFamily="18" charset="0"/>
            </a:endParaRPr>
          </a:p>
          <a:p>
            <a:pPr marL="557784" lvl="2" indent="0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GB" sz="2000" dirty="0">
                <a:ea typeface="Times New Roman" pitchFamily="18" charset="0"/>
                <a:cs typeface="Times New Roman" pitchFamily="18" charset="0"/>
              </a:rPr>
              <a:t>MOV 100H, AX</a:t>
            </a:r>
            <a:endParaRPr lang="en-US" sz="2000" dirty="0">
              <a:cs typeface="Arial" pitchFamily="34" charset="0"/>
            </a:endParaRPr>
          </a:p>
          <a:p>
            <a:pPr marL="557784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GB" sz="2000" dirty="0">
                <a:ea typeface="Times New Roman" pitchFamily="18" charset="0"/>
                <a:cs typeface="Times New Roman" pitchFamily="18" charset="0"/>
              </a:rPr>
              <a:t>MOV AX, MEM1</a:t>
            </a:r>
            <a:endParaRPr lang="en-US" sz="2000" dirty="0">
              <a:cs typeface="Arial" pitchFamily="34" charset="0"/>
            </a:endParaRPr>
          </a:p>
          <a:p>
            <a:pPr marL="557784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GB" sz="2000" dirty="0">
                <a:ea typeface="Times New Roman" pitchFamily="18" charset="0"/>
                <a:cs typeface="Times New Roman" pitchFamily="18" charset="0"/>
              </a:rPr>
              <a:t>MOV AX, BX</a:t>
            </a:r>
            <a:endParaRPr lang="en-US" sz="2000" dirty="0">
              <a:cs typeface="Arial" pitchFamily="34" charset="0"/>
            </a:endParaRPr>
          </a:p>
          <a:p>
            <a:pPr marL="557784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GB" sz="2000" dirty="0">
                <a:ea typeface="Times New Roman" pitchFamily="18" charset="0"/>
                <a:cs typeface="Times New Roman" pitchFamily="18" charset="0"/>
              </a:rPr>
              <a:t>MOV AX, FFFFH</a:t>
            </a:r>
          </a:p>
          <a:p>
            <a:pPr marL="557784" lvl="2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GB" sz="2000" dirty="0">
              <a:cs typeface="Times New Roman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429000" y="1927591"/>
            <a:ext cx="5334000" cy="3482609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557784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Example:</a:t>
            </a:r>
          </a:p>
          <a:p>
            <a:pPr marL="557784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57784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ORG 100h</a:t>
            </a:r>
          </a:p>
          <a:p>
            <a:pPr marL="557784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MOV AX, 0B800h    ; set AX = B800h (VGA memory).</a:t>
            </a:r>
          </a:p>
          <a:p>
            <a:pPr marL="557784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MOV DS, AX        ; copy value of AX to DS.</a:t>
            </a:r>
          </a:p>
          <a:p>
            <a:pPr marL="557784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MOV CL, 'A'       ; CL = 41h (ASCII code).</a:t>
            </a:r>
          </a:p>
          <a:p>
            <a:pPr marL="557784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MOV CH, 01011111b ; CL = color attribute.</a:t>
            </a:r>
          </a:p>
          <a:p>
            <a:pPr marL="557784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MOV BX, 15Eh      ; BX = position on screen.</a:t>
            </a:r>
          </a:p>
          <a:p>
            <a:pPr marL="557784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MOV [BX], CX      ; w.[0B800h:015Eh] = CX.</a:t>
            </a:r>
          </a:p>
          <a:p>
            <a:pPr marL="557784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75000"/>
              <a:buFont typeface="Wingdings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               ; returns to operating system.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Minh </a:t>
            </a:r>
            <a:r>
              <a:rPr lang="en-US" sz="3600" dirty="0" err="1"/>
              <a:t>họa</a:t>
            </a:r>
            <a:r>
              <a:rPr lang="en-US" sz="3600" dirty="0"/>
              <a:t> </a:t>
            </a:r>
            <a:r>
              <a:rPr lang="en-US" sz="3600" dirty="0" err="1"/>
              <a:t>lệnh</a:t>
            </a:r>
            <a:r>
              <a:rPr lang="en-US" sz="3600" dirty="0"/>
              <a:t> </a:t>
            </a:r>
            <a:r>
              <a:rPr lang="vi-VN" sz="3600" dirty="0"/>
              <a:t>EXCHANGE</a:t>
            </a:r>
            <a:r>
              <a:rPr lang="en-US" sz="3600" dirty="0"/>
              <a:t> (8088/8086)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8229600" cy="739409"/>
          </a:xfrm>
        </p:spPr>
        <p:txBody>
          <a:bodyPr/>
          <a:lstStyle/>
          <a:p>
            <a:r>
              <a:rPr lang="en-US" dirty="0"/>
              <a:t>XCHG </a:t>
            </a:r>
            <a:r>
              <a:rPr lang="en-US" dirty="0" err="1"/>
              <a:t>Des,Source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43000" y="2209800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3200" dirty="0"/>
              <a:t> XCHG AH, AL</a:t>
            </a:r>
          </a:p>
          <a:p>
            <a:r>
              <a:rPr lang="en-GB" sz="3200" dirty="0"/>
              <a:t> XCHG AL, [BX]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4191000" y="2362200"/>
            <a:ext cx="3962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/>
              <a:t>[BX] </a:t>
            </a:r>
            <a:r>
              <a:rPr lang="en-GB" sz="2000" dirty="0" err="1"/>
              <a:t>là</a:t>
            </a:r>
            <a:r>
              <a:rPr lang="en-GB" sz="2000" dirty="0"/>
              <a:t> ô </a:t>
            </a:r>
            <a:r>
              <a:rPr lang="en-GB" sz="2000" dirty="0" err="1"/>
              <a:t>nhớ</a:t>
            </a:r>
            <a:r>
              <a:rPr lang="en-GB" sz="2000" dirty="0"/>
              <a:t> </a:t>
            </a:r>
            <a:r>
              <a:rPr lang="en-GB" sz="2000" dirty="0" err="1"/>
              <a:t>có</a:t>
            </a:r>
            <a:r>
              <a:rPr lang="en-GB" sz="2000" dirty="0"/>
              <a:t> </a:t>
            </a:r>
            <a:r>
              <a:rPr lang="en-GB" sz="2000" dirty="0" err="1"/>
              <a:t>địa</a:t>
            </a:r>
            <a:r>
              <a:rPr lang="en-GB" sz="2000" dirty="0"/>
              <a:t> </a:t>
            </a:r>
            <a:r>
              <a:rPr lang="en-GB" sz="2000" dirty="0" err="1"/>
              <a:t>chỉ</a:t>
            </a:r>
            <a:r>
              <a:rPr lang="en-GB" sz="2000" dirty="0"/>
              <a:t> DS:BX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1219200" y="3418582"/>
            <a:ext cx="457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Exchange values of two operands. </a:t>
            </a:r>
          </a:p>
          <a:p>
            <a:r>
              <a:rPr lang="en-GB" sz="1600" dirty="0"/>
              <a:t>Algorithm: operand1 &lt; - &gt; operand2 </a:t>
            </a:r>
          </a:p>
          <a:p>
            <a:endParaRPr lang="en-GB" sz="1600" dirty="0"/>
          </a:p>
          <a:p>
            <a:r>
              <a:rPr lang="en-GB" sz="1600" dirty="0"/>
              <a:t> Example:</a:t>
            </a:r>
          </a:p>
          <a:p>
            <a:r>
              <a:rPr lang="en-GB" sz="1600" dirty="0"/>
              <a:t>ORG 100h;</a:t>
            </a:r>
          </a:p>
          <a:p>
            <a:r>
              <a:rPr lang="en-GB" sz="1600" dirty="0"/>
              <a:t>MOV AL, 5;</a:t>
            </a:r>
          </a:p>
          <a:p>
            <a:r>
              <a:rPr lang="en-GB" sz="1600" dirty="0"/>
              <a:t>MOV AH, 2;</a:t>
            </a:r>
          </a:p>
          <a:p>
            <a:r>
              <a:rPr lang="en-GB" sz="1600" dirty="0"/>
              <a:t>XCHG AL, AH   ; AL = 2, AH = 5</a:t>
            </a:r>
          </a:p>
          <a:p>
            <a:r>
              <a:rPr lang="en-GB" sz="1600" dirty="0"/>
              <a:t>XCHG AL, AH   ; AL = 5, AH = 2</a:t>
            </a:r>
          </a:p>
          <a:p>
            <a:r>
              <a:rPr lang="en-GB" sz="1600" dirty="0"/>
              <a:t>RET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LEA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Load Effective Address</a:t>
            </a:r>
            <a:endParaRPr lang="en-US" sz="2700" dirty="0"/>
          </a:p>
          <a:p>
            <a:r>
              <a:rPr lang="en-US" sz="2700" dirty="0" err="1"/>
              <a:t>Lấy</a:t>
            </a:r>
            <a:r>
              <a:rPr lang="en-US" sz="2700" dirty="0"/>
              <a:t> </a:t>
            </a:r>
            <a:r>
              <a:rPr lang="en-US" sz="2700" dirty="0" err="1"/>
              <a:t>địa</a:t>
            </a:r>
            <a:r>
              <a:rPr lang="en-US" sz="2700" dirty="0"/>
              <a:t> </a:t>
            </a:r>
            <a:r>
              <a:rPr lang="en-US" sz="2700" dirty="0" err="1"/>
              <a:t>chỉ</a:t>
            </a:r>
            <a:r>
              <a:rPr lang="en-US" sz="2700" dirty="0"/>
              <a:t> offset </a:t>
            </a:r>
            <a:r>
              <a:rPr lang="en-US" sz="2700" dirty="0" err="1"/>
              <a:t>của</a:t>
            </a:r>
            <a:r>
              <a:rPr lang="en-US" sz="2700" dirty="0"/>
              <a:t> </a:t>
            </a:r>
            <a:r>
              <a:rPr lang="en-US" sz="2700" dirty="0" err="1"/>
              <a:t>biến</a:t>
            </a:r>
            <a:r>
              <a:rPr lang="en-US" sz="2700" dirty="0"/>
              <a:t> </a:t>
            </a:r>
            <a:r>
              <a:rPr lang="en-US" sz="2700" dirty="0" err="1"/>
              <a:t>vào</a:t>
            </a:r>
            <a:r>
              <a:rPr lang="en-US" sz="2700" dirty="0"/>
              <a:t> </a:t>
            </a:r>
            <a:r>
              <a:rPr lang="en-US" sz="2700" dirty="0" err="1"/>
              <a:t>thanh</a:t>
            </a:r>
            <a:r>
              <a:rPr lang="en-US" sz="2700" dirty="0"/>
              <a:t> </a:t>
            </a:r>
            <a:r>
              <a:rPr lang="en-US" sz="2700" dirty="0" err="1"/>
              <a:t>ghi</a:t>
            </a:r>
            <a:endParaRPr lang="en-US" sz="2700" dirty="0"/>
          </a:p>
          <a:p>
            <a:r>
              <a:rPr lang="en-US" dirty="0"/>
              <a:t>LEA Des, Source</a:t>
            </a:r>
          </a:p>
          <a:p>
            <a:pPr lvl="1"/>
            <a:r>
              <a:rPr lang="vi-VN" dirty="0"/>
              <a:t>Đích </a:t>
            </a:r>
            <a:r>
              <a:rPr lang="en-US" dirty="0"/>
              <a:t>: </a:t>
            </a:r>
            <a:r>
              <a:rPr lang="vi-VN" dirty="0"/>
              <a:t>BX, CX, DX, BP, SI, DI.</a:t>
            </a:r>
          </a:p>
          <a:p>
            <a:pPr lvl="1"/>
            <a:r>
              <a:rPr lang="vi-VN" dirty="0"/>
              <a:t>Nguồn là tên biến trong đoạn DS được chỉ rõ trong lệnh hoặc ô nhớ cụ thể.</a:t>
            </a:r>
            <a:endParaRPr lang="en-US" dirty="0"/>
          </a:p>
          <a:p>
            <a:r>
              <a:rPr lang="en-US" dirty="0"/>
              <a:t>LEA DX, MSG	; </a:t>
            </a:r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MSG </a:t>
            </a:r>
            <a:r>
              <a:rPr lang="en-US" dirty="0" err="1"/>
              <a:t>vào</a:t>
            </a:r>
            <a:r>
              <a:rPr lang="en-US" dirty="0"/>
              <a:t> DX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LEA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dirty="0"/>
              <a:t>Load Effective Address: LEA 	 REG, memory</a:t>
            </a:r>
          </a:p>
          <a:p>
            <a:r>
              <a:rPr lang="en-US" sz="2800" dirty="0"/>
              <a:t>Algorithm:</a:t>
            </a:r>
          </a:p>
          <a:p>
            <a:pPr lvl="1">
              <a:buNone/>
            </a:pPr>
            <a:r>
              <a:rPr lang="en-US" sz="2500" dirty="0"/>
              <a:t>REG = address of memory (offset)</a:t>
            </a:r>
          </a:p>
          <a:p>
            <a:r>
              <a:rPr lang="en-US" sz="2800" dirty="0"/>
              <a:t> Example: </a:t>
            </a:r>
          </a:p>
          <a:p>
            <a:pPr lvl="1">
              <a:buNone/>
            </a:pPr>
            <a:r>
              <a:rPr lang="en-US" sz="2500" dirty="0"/>
              <a:t>MOV BX, 35h</a:t>
            </a:r>
          </a:p>
          <a:p>
            <a:pPr lvl="1">
              <a:buNone/>
            </a:pPr>
            <a:r>
              <a:rPr lang="en-US" sz="2500" dirty="0"/>
              <a:t>MOV DI, 12h</a:t>
            </a:r>
          </a:p>
          <a:p>
            <a:pPr lvl="1">
              <a:buNone/>
            </a:pPr>
            <a:r>
              <a:rPr lang="en-US" sz="2500" dirty="0"/>
              <a:t>LEA SI, [BX+DI]    ; SI = 35h + 12h = 47h </a:t>
            </a:r>
          </a:p>
          <a:p>
            <a:r>
              <a:rPr lang="en-US" sz="2800" dirty="0"/>
              <a:t> Note: The integrated 8086 assembler automatically replaces LEA with a more efficient MOV where possible. For example: </a:t>
            </a:r>
          </a:p>
          <a:p>
            <a:pPr lvl="1">
              <a:buNone/>
            </a:pPr>
            <a:r>
              <a:rPr lang="en-US" sz="2500" dirty="0"/>
              <a:t>org 100h</a:t>
            </a:r>
          </a:p>
          <a:p>
            <a:pPr lvl="1">
              <a:buNone/>
            </a:pPr>
            <a:r>
              <a:rPr lang="en-US" sz="2500" dirty="0"/>
              <a:t>LEA AX, m       ; AX = offset of m = 0104h</a:t>
            </a:r>
          </a:p>
          <a:p>
            <a:pPr lvl="1">
              <a:buNone/>
            </a:pPr>
            <a:r>
              <a:rPr lang="en-US" sz="2500" dirty="0"/>
              <a:t>RET</a:t>
            </a:r>
          </a:p>
          <a:p>
            <a:pPr lvl="1">
              <a:buNone/>
            </a:pPr>
            <a:r>
              <a:rPr lang="en-US" sz="2500" dirty="0"/>
              <a:t>m  </a:t>
            </a:r>
            <a:r>
              <a:rPr lang="en-US" sz="2500" dirty="0" err="1"/>
              <a:t>dw</a:t>
            </a:r>
            <a:r>
              <a:rPr lang="en-US" sz="2500" dirty="0"/>
              <a:t>  1234h</a:t>
            </a:r>
          </a:p>
          <a:p>
            <a:pPr lvl="1">
              <a:buNone/>
            </a:pPr>
            <a:r>
              <a:rPr lang="en-US" sz="2500" dirty="0"/>
              <a:t>END</a:t>
            </a:r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Minh </a:t>
            </a:r>
            <a:r>
              <a:rPr lang="en-US" sz="3600" dirty="0" err="1"/>
              <a:t>họa</a:t>
            </a:r>
            <a:r>
              <a:rPr lang="en-US" sz="3600" dirty="0"/>
              <a:t> </a:t>
            </a:r>
            <a:r>
              <a:rPr lang="en-US" sz="3600" dirty="0" err="1"/>
              <a:t>lệnh</a:t>
            </a:r>
            <a:r>
              <a:rPr lang="en-US" sz="3600" dirty="0"/>
              <a:t> PUSH/POP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-152400" y="1676400"/>
            <a:ext cx="9448800" cy="4419600"/>
          </a:xfrm>
        </p:spPr>
        <p:txBody>
          <a:bodyPr/>
          <a:lstStyle/>
          <a:p>
            <a:r>
              <a:rPr lang="en-US" b="1" dirty="0"/>
              <a:t>PUSH – </a:t>
            </a:r>
            <a:r>
              <a:rPr lang="en-US" dirty="0" err="1"/>
              <a:t>Cất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  <a:p>
            <a:r>
              <a:rPr lang="en-US" b="1" dirty="0"/>
              <a:t>POP –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xếp</a:t>
            </a: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PUSH </a:t>
            </a:r>
            <a:r>
              <a:rPr lang="en-US" b="1" dirty="0" err="1">
                <a:solidFill>
                  <a:srgbClr val="FF0000"/>
                </a:solidFill>
              </a:rPr>
              <a:t>Nguồn</a:t>
            </a:r>
            <a:r>
              <a:rPr lang="en-US" b="1" dirty="0">
                <a:solidFill>
                  <a:srgbClr val="FF0000"/>
                </a:solidFill>
              </a:rPr>
              <a:t> (</a:t>
            </a:r>
            <a:r>
              <a:rPr lang="en-US" dirty="0">
                <a:solidFill>
                  <a:srgbClr val="FF0000"/>
                </a:solidFill>
              </a:rPr>
              <a:t>SP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SP - 2 ;</a:t>
            </a:r>
            <a:r>
              <a:rPr lang="en-US" dirty="0" err="1">
                <a:solidFill>
                  <a:srgbClr val="FF0000"/>
                </a:solidFill>
              </a:rPr>
              <a:t>Nguồn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 {SP}).</a:t>
            </a:r>
          </a:p>
          <a:p>
            <a:pPr lvl="1">
              <a:buFont typeface="Wingdings" pitchFamily="2" charset="2"/>
              <a:buChar char="q"/>
            </a:pPr>
            <a:r>
              <a:rPr lang="vi-VN" dirty="0">
                <a:solidFill>
                  <a:srgbClr val="FF0000"/>
                </a:solidFill>
              </a:rPr>
              <a:t>PUSH BX	; cất BX vào ngăn xếp, tại vị trí do SP chỉ ra.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POP </a:t>
            </a:r>
            <a:r>
              <a:rPr lang="en-US" b="1" dirty="0" err="1">
                <a:solidFill>
                  <a:srgbClr val="FF0000"/>
                </a:solidFill>
              </a:rPr>
              <a:t>Đích</a:t>
            </a:r>
            <a:r>
              <a:rPr lang="en-US" b="1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Đích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 {SP};</a:t>
            </a:r>
            <a:r>
              <a:rPr lang="en-US" dirty="0">
                <a:solidFill>
                  <a:srgbClr val="FF0000"/>
                </a:solidFill>
              </a:rPr>
              <a:t>SP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	SP + 2)</a:t>
            </a:r>
          </a:p>
          <a:p>
            <a:pPr lvl="1">
              <a:buFont typeface="Wingdings" pitchFamily="2" charset="2"/>
              <a:buChar char="q"/>
            </a:pPr>
            <a:r>
              <a:rPr lang="vi-VN" dirty="0">
                <a:solidFill>
                  <a:srgbClr val="FF0000"/>
                </a:solidFill>
              </a:rPr>
              <a:t>POP DX	</a:t>
            </a:r>
            <a:r>
              <a:rPr lang="en-US" dirty="0">
                <a:solidFill>
                  <a:srgbClr val="FF0000"/>
                </a:solidFill>
              </a:rPr>
              <a:t>	</a:t>
            </a:r>
            <a:r>
              <a:rPr lang="vi-VN" dirty="0">
                <a:solidFill>
                  <a:srgbClr val="FF0000"/>
                </a:solidFill>
              </a:rPr>
              <a:t>; lấy 2 byte từ đỉnh ngăn xếp, đưa vào DX.</a:t>
            </a:r>
            <a:endParaRPr lang="en-US" dirty="0">
              <a:solidFill>
                <a:srgbClr val="FF0000"/>
              </a:solidFill>
              <a:sym typeface="Symbol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Minh </a:t>
            </a:r>
            <a:r>
              <a:rPr lang="en-US" sz="3600" dirty="0" err="1"/>
              <a:t>họa</a:t>
            </a:r>
            <a:r>
              <a:rPr lang="en-US" sz="3600" dirty="0"/>
              <a:t> </a:t>
            </a:r>
            <a:r>
              <a:rPr lang="en-US" sz="3600" dirty="0" err="1"/>
              <a:t>lệnh</a:t>
            </a:r>
            <a:r>
              <a:rPr lang="en-US" sz="3600" dirty="0"/>
              <a:t> PUSH/POP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Example:</a:t>
            </a:r>
          </a:p>
          <a:p>
            <a:pPr lvl="1">
              <a:buNone/>
            </a:pPr>
            <a:r>
              <a:rPr lang="en-US" b="1" dirty="0"/>
              <a:t>MOV AX, 1234h</a:t>
            </a:r>
          </a:p>
          <a:p>
            <a:pPr lvl="1">
              <a:buNone/>
            </a:pPr>
            <a:r>
              <a:rPr lang="en-US" b="1" dirty="0"/>
              <a:t>PUSH AX</a:t>
            </a:r>
          </a:p>
          <a:p>
            <a:pPr lvl="1">
              <a:buNone/>
            </a:pPr>
            <a:r>
              <a:rPr lang="en-US" b="1" dirty="0"/>
              <a:t>POP  DX     ; DX = 1234h</a:t>
            </a:r>
          </a:p>
          <a:p>
            <a:pPr lvl="1">
              <a:buNone/>
            </a:pPr>
            <a:r>
              <a:rPr lang="en-US" b="1" dirty="0"/>
              <a:t>RET</a:t>
            </a:r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Lệnh</a:t>
            </a:r>
            <a:r>
              <a:rPr lang="en-US" dirty="0"/>
              <a:t> XLATB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 err="1"/>
              <a:t>Tran</a:t>
            </a:r>
            <a:r>
              <a:rPr lang="en-US" u="sng" dirty="0" err="1"/>
              <a:t>sLAT</a:t>
            </a:r>
            <a:r>
              <a:rPr lang="en-US" dirty="0" err="1"/>
              <a:t>e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“</a:t>
            </a:r>
            <a:r>
              <a:rPr lang="en-US" dirty="0" err="1"/>
              <a:t>Dịch</a:t>
            </a:r>
            <a:r>
              <a:rPr lang="en-US" dirty="0"/>
              <a:t>”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AL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dời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AL</a:t>
            </a:r>
          </a:p>
          <a:p>
            <a:pPr lvl="1">
              <a:lnSpc>
                <a:spcPct val="90000"/>
              </a:lnSpc>
            </a:pP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: XLATB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hạng</a:t>
            </a:r>
            <a:r>
              <a:rPr 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‘Input’: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BX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  <a:p>
            <a:pPr lvl="2">
              <a:lnSpc>
                <a:spcPct val="90000"/>
              </a:lnSpc>
            </a:pPr>
            <a:r>
              <a:rPr lang="en-US" dirty="0"/>
              <a:t>AL </a:t>
            </a:r>
            <a:r>
              <a:rPr lang="en-US" dirty="0" err="1"/>
              <a:t>chứa</a:t>
            </a:r>
            <a:r>
              <a:rPr lang="en-US" dirty="0"/>
              <a:t> byte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‘Output’: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AL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BX+AL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Lệnh</a:t>
            </a:r>
            <a:r>
              <a:rPr lang="en-US" dirty="0"/>
              <a:t> XLATB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Translate byte from table.</a:t>
            </a:r>
          </a:p>
          <a:p>
            <a:pPr>
              <a:lnSpc>
                <a:spcPct val="90000"/>
              </a:lnSpc>
            </a:pPr>
            <a:r>
              <a:rPr lang="en-US" dirty="0"/>
              <a:t> Copy value of memory byte at DS:[BX + unsigned AL] to AL register. 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Algorithm: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 AL = DS:[BX + unsigned AL] 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 Example: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 lvl="2">
              <a:lnSpc>
                <a:spcPct val="90000"/>
              </a:lnSpc>
              <a:buNone/>
            </a:pPr>
            <a:r>
              <a:rPr lang="en-US" dirty="0"/>
              <a:t>ORG 100h</a:t>
            </a:r>
          </a:p>
          <a:p>
            <a:pPr lvl="2">
              <a:lnSpc>
                <a:spcPct val="90000"/>
              </a:lnSpc>
              <a:buNone/>
            </a:pPr>
            <a:r>
              <a:rPr lang="en-US" dirty="0"/>
              <a:t>LEA BX, </a:t>
            </a:r>
            <a:r>
              <a:rPr lang="en-US" dirty="0" err="1"/>
              <a:t>dat</a:t>
            </a:r>
            <a:endParaRPr lang="en-US" dirty="0"/>
          </a:p>
          <a:p>
            <a:pPr lvl="2">
              <a:lnSpc>
                <a:spcPct val="90000"/>
              </a:lnSpc>
              <a:buNone/>
            </a:pPr>
            <a:r>
              <a:rPr lang="en-US" dirty="0"/>
              <a:t>MOV AL, 2</a:t>
            </a:r>
          </a:p>
          <a:p>
            <a:pPr lvl="2">
              <a:lnSpc>
                <a:spcPct val="90000"/>
              </a:lnSpc>
              <a:buNone/>
            </a:pPr>
            <a:r>
              <a:rPr lang="en-US" dirty="0"/>
              <a:t>XLATB     ; AL = 33h</a:t>
            </a:r>
          </a:p>
          <a:p>
            <a:pPr lvl="2">
              <a:lnSpc>
                <a:spcPct val="90000"/>
              </a:lnSpc>
              <a:buNone/>
            </a:pPr>
            <a:endParaRPr lang="en-US" dirty="0"/>
          </a:p>
          <a:p>
            <a:pPr lvl="2">
              <a:lnSpc>
                <a:spcPct val="90000"/>
              </a:lnSpc>
              <a:buNone/>
            </a:pPr>
            <a:r>
              <a:rPr lang="en-US" dirty="0"/>
              <a:t>RET</a:t>
            </a:r>
          </a:p>
          <a:p>
            <a:pPr lvl="2">
              <a:lnSpc>
                <a:spcPct val="90000"/>
              </a:lnSpc>
              <a:buNone/>
            </a:pPr>
            <a:endParaRPr lang="en-US" dirty="0"/>
          </a:p>
          <a:p>
            <a:pPr lvl="2">
              <a:lnSpc>
                <a:spcPct val="90000"/>
              </a:lnSpc>
              <a:buNone/>
            </a:pPr>
            <a:r>
              <a:rPr lang="en-US" dirty="0" err="1"/>
              <a:t>dat</a:t>
            </a:r>
            <a:r>
              <a:rPr lang="en-US" dirty="0"/>
              <a:t> DB 11h, 22h</a:t>
            </a:r>
            <a:r>
              <a:rPr lang="en-US" dirty="0">
                <a:solidFill>
                  <a:srgbClr val="FF0000"/>
                </a:solidFill>
              </a:rPr>
              <a:t>, 33h</a:t>
            </a:r>
            <a:r>
              <a:rPr lang="en-US" dirty="0"/>
              <a:t>, 44h, 55h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vi-VN" sz="2400" dirty="0"/>
              <a:t>ADD</a:t>
            </a:r>
            <a:r>
              <a:rPr lang="en-US" sz="2400" dirty="0"/>
              <a:t>		</a:t>
            </a:r>
            <a:r>
              <a:rPr lang="vi-VN" sz="2400" dirty="0"/>
              <a:t>Cộng hai toán hạng</a:t>
            </a:r>
          </a:p>
          <a:p>
            <a:r>
              <a:rPr lang="vi-VN" sz="2400" dirty="0"/>
              <a:t>SUBTRACT</a:t>
            </a:r>
            <a:r>
              <a:rPr lang="en-US" sz="2400" dirty="0"/>
              <a:t>		</a:t>
            </a:r>
            <a:r>
              <a:rPr lang="vi-VN" sz="2400" dirty="0"/>
              <a:t>Trừ hai toán hạng</a:t>
            </a:r>
          </a:p>
          <a:p>
            <a:r>
              <a:rPr lang="vi-VN" sz="2400" dirty="0"/>
              <a:t>MULTIPLY</a:t>
            </a:r>
            <a:r>
              <a:rPr lang="en-US" sz="2400" dirty="0"/>
              <a:t>		</a:t>
            </a:r>
            <a:r>
              <a:rPr lang="vi-VN" sz="2400" dirty="0"/>
              <a:t>Nhân hai toán hạng</a:t>
            </a:r>
          </a:p>
          <a:p>
            <a:r>
              <a:rPr lang="vi-VN" sz="2400" dirty="0"/>
              <a:t>DIVIDE</a:t>
            </a:r>
            <a:r>
              <a:rPr lang="en-US" sz="2400" dirty="0"/>
              <a:t>		</a:t>
            </a:r>
            <a:r>
              <a:rPr lang="vi-VN" sz="2400" dirty="0"/>
              <a:t>Chia hai toán hạng</a:t>
            </a:r>
          </a:p>
          <a:p>
            <a:r>
              <a:rPr lang="vi-VN" sz="2400" dirty="0"/>
              <a:t>ABSOLUTE</a:t>
            </a:r>
            <a:r>
              <a:rPr lang="en-US" sz="2400" dirty="0"/>
              <a:t>		</a:t>
            </a:r>
            <a:r>
              <a:rPr lang="vi-VN" sz="2400" dirty="0"/>
              <a:t>Lấy trị tuyệt đối toán hạng</a:t>
            </a:r>
          </a:p>
          <a:p>
            <a:r>
              <a:rPr lang="vi-VN" sz="2400" dirty="0"/>
              <a:t>NEGATE</a:t>
            </a:r>
            <a:r>
              <a:rPr lang="en-US" sz="2400" dirty="0"/>
              <a:t>		</a:t>
            </a:r>
            <a:r>
              <a:rPr lang="vi-VN" sz="2400" dirty="0"/>
              <a:t>Đổi dấu toán hạng (lấy bù 2)</a:t>
            </a:r>
          </a:p>
          <a:p>
            <a:r>
              <a:rPr lang="vi-VN" sz="2400" dirty="0"/>
              <a:t>INCREMENT</a:t>
            </a:r>
            <a:r>
              <a:rPr lang="en-US" sz="2400" dirty="0"/>
              <a:t>	</a:t>
            </a:r>
            <a:r>
              <a:rPr lang="vi-VN" sz="2400" dirty="0"/>
              <a:t>Tăng toán hạng thêm 1</a:t>
            </a:r>
          </a:p>
          <a:p>
            <a:r>
              <a:rPr lang="vi-VN" sz="2400" dirty="0"/>
              <a:t>DECREMENT</a:t>
            </a:r>
            <a:r>
              <a:rPr lang="en-US" sz="2400" dirty="0"/>
              <a:t>	</a:t>
            </a:r>
            <a:r>
              <a:rPr lang="vi-VN" sz="2400" dirty="0"/>
              <a:t>Giảm toán hạng đi 1</a:t>
            </a:r>
          </a:p>
          <a:p>
            <a:r>
              <a:rPr lang="vi-VN" sz="2400" dirty="0"/>
              <a:t>COMPARE</a:t>
            </a:r>
            <a:r>
              <a:rPr lang="en-US" sz="2400" dirty="0"/>
              <a:t>		</a:t>
            </a:r>
            <a:r>
              <a:rPr lang="vi-VN" sz="2400" dirty="0"/>
              <a:t>Trừ 2 toán hạng để lập cờ</a:t>
            </a:r>
            <a:endParaRPr lang="en-US" sz="2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Minh </a:t>
            </a:r>
            <a:r>
              <a:rPr lang="en-US" sz="3600" dirty="0" err="1"/>
              <a:t>họa</a:t>
            </a:r>
            <a:r>
              <a:rPr lang="en-US" sz="3600" dirty="0"/>
              <a:t> </a:t>
            </a:r>
            <a:r>
              <a:rPr lang="en-US" sz="3600" dirty="0" err="1"/>
              <a:t>lệnh</a:t>
            </a:r>
            <a:r>
              <a:rPr lang="en-US" sz="3600" dirty="0"/>
              <a:t> ADD/SUB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8229600" cy="81560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ADD </a:t>
            </a:r>
            <a:r>
              <a:rPr lang="en-US" dirty="0" err="1"/>
              <a:t>Des,Source</a:t>
            </a:r>
            <a:endParaRPr lang="en-US" dirty="0"/>
          </a:p>
          <a:p>
            <a:r>
              <a:rPr lang="en-US" dirty="0"/>
              <a:t>SUB </a:t>
            </a:r>
            <a:r>
              <a:rPr lang="en-US" dirty="0" err="1"/>
              <a:t>Des,Source</a:t>
            </a:r>
            <a:endParaRPr lang="en-US" dirty="0"/>
          </a:p>
          <a:p>
            <a:endParaRPr lang="en-US" dirty="0"/>
          </a:p>
        </p:txBody>
      </p:sp>
      <p:sp>
        <p:nvSpPr>
          <p:cNvPr id="116737" name="Rectangle 1"/>
          <p:cNvSpPr>
            <a:spLocks noChangeArrowheads="1"/>
          </p:cNvSpPr>
          <p:nvPr/>
        </p:nvSpPr>
        <p:spPr bwMode="auto">
          <a:xfrm>
            <a:off x="2895600" y="2667000"/>
            <a:ext cx="5791200" cy="132343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ADD AX, BX	;  AX </a:t>
            </a:r>
            <a:r>
              <a:rPr kumimoji="0" 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</a:t>
            </a:r>
            <a:r>
              <a:rPr kumimoji="0" 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AX+BX</a:t>
            </a:r>
            <a:endParaRPr kumimoji="0" 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ADD AL, 74H	;  AX </a:t>
            </a:r>
            <a:r>
              <a:rPr kumimoji="0" 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AX+ 74H</a:t>
            </a:r>
            <a:endParaRPr kumimoji="0" 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SUB CL, AL	; CL </a:t>
            </a:r>
            <a:r>
              <a:rPr kumimoji="0" 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CL – AL</a:t>
            </a:r>
            <a:endParaRPr kumimoji="0" 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  <a:sym typeface="Symbol" pitchFamily="18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  <a:sym typeface="Symbol" pitchFamily="18" charset="2"/>
              </a:rPr>
              <a:t>SUB AX, 0405H	; AX </a:t>
            </a:r>
            <a:r>
              <a:rPr kumimoji="0" 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AX - 0405H.</a:t>
            </a:r>
            <a:r>
              <a:rPr kumimoji="0" lang="en-US" sz="20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  <a:sym typeface="Symbol" pitchFamily="18" charset="2"/>
              </a:rPr>
              <a:t> </a:t>
            </a:r>
            <a:endParaRPr kumimoji="0" lang="en-US" sz="20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  <a:sym typeface="Symbol" pitchFamily="18" charset="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800" y="4572000"/>
            <a:ext cx="777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 u="sng" dirty="0"/>
              <a:t>Ví dụ: </a:t>
            </a:r>
            <a:r>
              <a:rPr lang="vi-VN" sz="2000" dirty="0"/>
              <a:t>Viết đoạn chương trình ngôn ngữ assembly để cộng 5H với 3H, dùng các thanh ghi AL, BL.</a:t>
            </a:r>
          </a:p>
          <a:p>
            <a:r>
              <a:rPr lang="pt-BR" sz="2000" dirty="0"/>
              <a:t>MOV AL, 05H	; AL </a:t>
            </a:r>
            <a:r>
              <a:rPr lang="pt-BR" sz="2000" dirty="0">
                <a:sym typeface="Symbol"/>
              </a:rPr>
              <a:t> 05H</a:t>
            </a:r>
          </a:p>
          <a:p>
            <a:r>
              <a:rPr lang="pt-BR" sz="2000" dirty="0"/>
              <a:t>MOV BL, 03H	; BL </a:t>
            </a:r>
            <a:r>
              <a:rPr lang="pt-BR" sz="2000" dirty="0">
                <a:sym typeface="Symbol"/>
              </a:rPr>
              <a:t> 03H</a:t>
            </a:r>
          </a:p>
          <a:p>
            <a:r>
              <a:rPr lang="pt-BR" sz="2000" dirty="0"/>
              <a:t>ADD AL, BL	; AL </a:t>
            </a:r>
            <a:r>
              <a:rPr lang="pt-BR" sz="2000" dirty="0">
                <a:sym typeface="Symbol"/>
              </a:rPr>
              <a:t> 05H+03H =08H</a:t>
            </a:r>
          </a:p>
          <a:p>
            <a:r>
              <a:rPr lang="en-US" sz="2000" dirty="0"/>
              <a:t>MOV 100H, AL	; Di </a:t>
            </a:r>
            <a:r>
              <a:rPr lang="en-US" sz="2000" dirty="0" err="1"/>
              <a:t>chuyển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AL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vị</a:t>
            </a:r>
            <a:r>
              <a:rPr lang="en-US" sz="2000" dirty="0"/>
              <a:t> </a:t>
            </a:r>
            <a:r>
              <a:rPr lang="en-US" sz="2000" dirty="0" err="1"/>
              <a:t>trí</a:t>
            </a:r>
            <a:r>
              <a:rPr lang="en-US" sz="2000" dirty="0"/>
              <a:t> </a:t>
            </a:r>
            <a:r>
              <a:rPr lang="en-US" sz="2000" dirty="0" err="1"/>
              <a:t>nhớ</a:t>
            </a:r>
            <a:r>
              <a:rPr lang="en-US" sz="2000" dirty="0"/>
              <a:t> DS:100H.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MUL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8229600" cy="287300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MUL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nguồn</a:t>
            </a:r>
            <a:endParaRPr lang="en-US" dirty="0"/>
          </a:p>
          <a:p>
            <a:pPr lvl="1"/>
            <a:r>
              <a:rPr lang="en-US" dirty="0"/>
              <a:t>MUL BX</a:t>
            </a:r>
          </a:p>
          <a:p>
            <a:pPr lvl="1"/>
            <a:r>
              <a:rPr lang="vi-VN" dirty="0"/>
              <a:t>MUL MEM1</a:t>
            </a:r>
          </a:p>
          <a:p>
            <a:r>
              <a:rPr lang="en-US" dirty="0"/>
              <a:t>S</a:t>
            </a:r>
            <a:r>
              <a:rPr lang="vi-VN" dirty="0"/>
              <a:t>ố được nhân phải được chuyển vào thanh ghi AX hoặc AL</a:t>
            </a:r>
            <a:endParaRPr lang="en-US" dirty="0"/>
          </a:p>
          <a:p>
            <a:r>
              <a:rPr lang="vi-VN" dirty="0"/>
              <a:t>Khi </a:t>
            </a:r>
            <a:r>
              <a:rPr lang="en-US" dirty="0"/>
              <a:t>2</a:t>
            </a:r>
            <a:r>
              <a:rPr lang="vi-VN" dirty="0"/>
              <a:t> byte nhân với nhau thì kết quả được gửi lưu vào thanh ghi AX</a:t>
            </a:r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4845784"/>
            <a:ext cx="88392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b="1" u="sng" dirty="0"/>
              <a:t>Ví dụ</a:t>
            </a:r>
            <a:r>
              <a:rPr lang="vi-VN" sz="2000" dirty="0"/>
              <a:t>. Viết đoạn chương trình nhân 5H với 3H, dùng thanh ghi CL.</a:t>
            </a:r>
          </a:p>
          <a:p>
            <a:r>
              <a:rPr lang="pt-BR" sz="2000" dirty="0"/>
              <a:t>MOV AL, 05H	; AL </a:t>
            </a:r>
            <a:r>
              <a:rPr lang="pt-BR" sz="2000" dirty="0">
                <a:sym typeface="Symbol"/>
              </a:rPr>
              <a:t> 05H (số được nhân)</a:t>
            </a:r>
          </a:p>
          <a:p>
            <a:r>
              <a:rPr lang="pt-BR" sz="2000" dirty="0"/>
              <a:t>MOV CL, 03H	; CL </a:t>
            </a:r>
            <a:r>
              <a:rPr lang="pt-BR" sz="2000" dirty="0">
                <a:sym typeface="Symbol"/>
              </a:rPr>
              <a:t> 03H (số nhân)</a:t>
            </a:r>
          </a:p>
          <a:p>
            <a:r>
              <a:rPr lang="en-US" sz="2000" dirty="0"/>
              <a:t>MUL CL		; AL </a:t>
            </a:r>
            <a:r>
              <a:rPr lang="en-US" sz="2000" dirty="0">
                <a:sym typeface="Symbol"/>
              </a:rPr>
              <a:t> 0FH (</a:t>
            </a:r>
            <a:r>
              <a:rPr lang="en-US" sz="2000" dirty="0" err="1">
                <a:sym typeface="Symbol"/>
              </a:rPr>
              <a:t>kết</a:t>
            </a:r>
            <a:r>
              <a:rPr lang="en-US" sz="2000" dirty="0">
                <a:sym typeface="Symbol"/>
              </a:rPr>
              <a:t> </a:t>
            </a:r>
            <a:r>
              <a:rPr lang="en-US" sz="2000" dirty="0" err="1">
                <a:sym typeface="Symbol"/>
              </a:rPr>
              <a:t>quả</a:t>
            </a:r>
            <a:r>
              <a:rPr lang="en-US" sz="2000" dirty="0">
                <a:sym typeface="Symbol"/>
              </a:rPr>
              <a:t>)</a:t>
            </a:r>
          </a:p>
          <a:p>
            <a:r>
              <a:rPr lang="en-US" sz="2000" dirty="0"/>
              <a:t>MOV MEM1, AL	; </a:t>
            </a:r>
            <a:r>
              <a:rPr lang="en-US" sz="2000" dirty="0" err="1"/>
              <a:t>chuyển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quả</a:t>
            </a:r>
            <a:r>
              <a:rPr lang="en-US" sz="2000" dirty="0"/>
              <a:t> (0FH) </a:t>
            </a:r>
            <a:r>
              <a:rPr lang="en-US" sz="2000" dirty="0" err="1"/>
              <a:t>từ</a:t>
            </a:r>
            <a:r>
              <a:rPr lang="en-US" sz="2000" dirty="0"/>
              <a:t> AL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vị</a:t>
            </a:r>
            <a:r>
              <a:rPr lang="en-US" sz="2000" dirty="0"/>
              <a:t> </a:t>
            </a:r>
            <a:r>
              <a:rPr lang="en-US" sz="2000" dirty="0" err="1"/>
              <a:t>trí</a:t>
            </a:r>
            <a:r>
              <a:rPr lang="en-US" sz="2000" dirty="0"/>
              <a:t> </a:t>
            </a:r>
            <a:r>
              <a:rPr lang="en-US" sz="2000" dirty="0" err="1"/>
              <a:t>nhớ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nhãn</a:t>
            </a:r>
            <a:r>
              <a:rPr lang="en-US" sz="2000" dirty="0"/>
              <a:t> MEM1.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DIV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8458200" cy="4625609"/>
          </a:xfrm>
        </p:spPr>
        <p:txBody>
          <a:bodyPr>
            <a:normAutofit/>
          </a:bodyPr>
          <a:lstStyle/>
          <a:p>
            <a:r>
              <a:rPr lang="en-US" dirty="0"/>
              <a:t>DIV </a:t>
            </a:r>
            <a:r>
              <a:rPr lang="en-US" dirty="0" err="1"/>
              <a:t>số_chia_nguồn</a:t>
            </a:r>
            <a:endParaRPr lang="en-US" dirty="0"/>
          </a:p>
          <a:p>
            <a:r>
              <a:rPr lang="vi-VN" dirty="0"/>
              <a:t>Số bị chia phải là một số không dấu 16 bit chứa trong thanh ghi AX.</a:t>
            </a:r>
            <a:endParaRPr lang="en-US" dirty="0"/>
          </a:p>
          <a:p>
            <a:r>
              <a:rPr lang="vi-VN" dirty="0"/>
              <a:t>Kết quả </a:t>
            </a:r>
            <a:r>
              <a:rPr lang="vi-VN" i="1" dirty="0">
                <a:solidFill>
                  <a:srgbClr val="FF0000"/>
                </a:solidFill>
              </a:rPr>
              <a:t>thương số sẽ ở trong thanh ghi AL</a:t>
            </a:r>
            <a:r>
              <a:rPr lang="vi-VN" dirty="0"/>
              <a:t>, còn </a:t>
            </a:r>
            <a:r>
              <a:rPr lang="vi-VN" i="1" dirty="0">
                <a:solidFill>
                  <a:srgbClr val="FF0000"/>
                </a:solidFill>
              </a:rPr>
              <a:t>số dư thì ở trong thanh ghi AH</a:t>
            </a:r>
            <a:r>
              <a:rPr lang="vi-VN" dirty="0"/>
              <a:t>.</a:t>
            </a:r>
            <a:endParaRPr lang="en-US" dirty="0"/>
          </a:p>
          <a:p>
            <a:r>
              <a:rPr lang="en-US" sz="2200" b="1" u="sng" dirty="0" err="1"/>
              <a:t>Ví</a:t>
            </a:r>
            <a:r>
              <a:rPr lang="en-US" sz="2200" b="1" u="sng" dirty="0"/>
              <a:t> </a:t>
            </a:r>
            <a:r>
              <a:rPr lang="en-US" sz="2200" b="1" u="sng" dirty="0" err="1"/>
              <a:t>dụ</a:t>
            </a:r>
            <a:r>
              <a:rPr lang="en-US" sz="2200" b="1" u="sng" dirty="0"/>
              <a:t>:</a:t>
            </a:r>
            <a:r>
              <a:rPr lang="en-US" sz="2200" dirty="0"/>
              <a:t> </a:t>
            </a:r>
            <a:r>
              <a:rPr lang="vi-VN" sz="2200" dirty="0"/>
              <a:t>Viết đoạn chương trình để chia 6H cho 3H, dùng thanh ghi CL.</a:t>
            </a:r>
            <a:endParaRPr lang="en-US" sz="2200" dirty="0"/>
          </a:p>
          <a:p>
            <a:pPr lvl="1"/>
            <a:r>
              <a:rPr lang="vi-VN" sz="2200" dirty="0"/>
              <a:t>MOV AX, 0006H</a:t>
            </a:r>
            <a:r>
              <a:rPr lang="en-US" sz="2200" dirty="0"/>
              <a:t>	</a:t>
            </a:r>
            <a:r>
              <a:rPr lang="vi-VN" sz="2200" dirty="0"/>
              <a:t>;AX </a:t>
            </a:r>
            <a:r>
              <a:rPr lang="vi-VN" sz="2200" dirty="0">
                <a:sym typeface="Symbol"/>
              </a:rPr>
              <a:t> 6H</a:t>
            </a:r>
          </a:p>
          <a:p>
            <a:pPr lvl="1"/>
            <a:r>
              <a:rPr lang="pt-BR" sz="2200" dirty="0"/>
              <a:t>MOV CL, 03H	;CL </a:t>
            </a:r>
            <a:r>
              <a:rPr lang="pt-BR" sz="2200" dirty="0">
                <a:sym typeface="Symbol"/>
              </a:rPr>
              <a:t> 3H</a:t>
            </a:r>
          </a:p>
          <a:p>
            <a:pPr lvl="1"/>
            <a:r>
              <a:rPr lang="pt-BR" sz="2200" dirty="0"/>
              <a:t>DIV CL		;AHAL </a:t>
            </a:r>
            <a:r>
              <a:rPr lang="pt-BR" sz="2200" dirty="0">
                <a:sym typeface="Symbol"/>
              </a:rPr>
              <a:t> 00H (số dư), 02H (thương số)</a:t>
            </a:r>
            <a:endParaRPr lang="en-US" sz="2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Minh </a:t>
            </a:r>
            <a:r>
              <a:rPr lang="en-US" sz="3600" dirty="0" err="1"/>
              <a:t>họa</a:t>
            </a:r>
            <a:r>
              <a:rPr lang="en-US" sz="3600" dirty="0"/>
              <a:t> </a:t>
            </a:r>
            <a:r>
              <a:rPr lang="en-US" sz="3600" dirty="0" err="1"/>
              <a:t>lệnh</a:t>
            </a:r>
            <a:r>
              <a:rPr lang="en-US" sz="3600" dirty="0"/>
              <a:t> INC/DEC/NEG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vi-VN" sz="2400" dirty="0"/>
              <a:t>INC đích 	Mô tả: Đích </a:t>
            </a:r>
            <a:r>
              <a:rPr lang="vi-VN" sz="2400" dirty="0">
                <a:sym typeface="Symbol"/>
              </a:rPr>
              <a:t> Đích +1</a:t>
            </a:r>
          </a:p>
          <a:p>
            <a:r>
              <a:rPr lang="vi-VN" sz="2400" dirty="0"/>
              <a:t>DEC đích 	Mô tả: Đích </a:t>
            </a:r>
            <a:r>
              <a:rPr lang="vi-VN" sz="2400" dirty="0">
                <a:sym typeface="Symbol"/>
              </a:rPr>
              <a:t> Đích -1</a:t>
            </a:r>
            <a:endParaRPr lang="en-US" sz="2400" dirty="0">
              <a:sym typeface="Symbol"/>
            </a:endParaRPr>
          </a:p>
          <a:p>
            <a:r>
              <a:rPr lang="en-US" sz="2400" dirty="0"/>
              <a:t>NEG </a:t>
            </a:r>
            <a:r>
              <a:rPr lang="en-US" sz="2400" dirty="0" err="1"/>
              <a:t>đích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2362200" y="3505200"/>
            <a:ext cx="541020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MOV AH,2 	;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MOV CX,256 	;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0-255</a:t>
            </a:r>
          </a:p>
          <a:p>
            <a:pPr>
              <a:lnSpc>
                <a:spcPct val="80000"/>
              </a:lnSpc>
            </a:pPr>
            <a:r>
              <a:rPr lang="en-US" dirty="0"/>
              <a:t>MOV DL,0	; DL </a:t>
            </a:r>
            <a:r>
              <a:rPr lang="en-US" dirty="0" err="1"/>
              <a:t>mã</a:t>
            </a:r>
            <a:r>
              <a:rPr lang="en-US" dirty="0"/>
              <a:t> ASCII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NUL</a:t>
            </a:r>
          </a:p>
          <a:p>
            <a:pPr>
              <a:lnSpc>
                <a:spcPct val="80000"/>
              </a:lnSpc>
            </a:pPr>
            <a:r>
              <a:rPr lang="en-US" dirty="0"/>
              <a:t>INT 21H 		;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INC DL		; </a:t>
            </a:r>
            <a:r>
              <a:rPr lang="en-US" dirty="0" err="1"/>
              <a:t>tăng</a:t>
            </a:r>
            <a:r>
              <a:rPr lang="en-US" dirty="0"/>
              <a:t> DL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DEC CX		; </a:t>
            </a:r>
            <a:r>
              <a:rPr lang="en-US" dirty="0" err="1"/>
              <a:t>đếm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in</a:t>
            </a:r>
          </a:p>
          <a:p>
            <a:pPr>
              <a:lnSpc>
                <a:spcPct val="80000"/>
              </a:lnSpc>
            </a:pPr>
            <a:r>
              <a:rPr lang="en-US" dirty="0"/>
              <a:t>NEG AX 	;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dấu</a:t>
            </a:r>
            <a:r>
              <a:rPr lang="en-US" dirty="0"/>
              <a:t> AX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CMP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CMP - Compare Byte or Word (so </a:t>
            </a:r>
            <a:r>
              <a:rPr lang="en-US" b="1" dirty="0" err="1"/>
              <a:t>sánh</a:t>
            </a:r>
            <a:r>
              <a:rPr lang="en-US" b="1" dirty="0"/>
              <a:t> 2 byte hay 2 </a:t>
            </a:r>
            <a:r>
              <a:rPr lang="en-US" b="1" dirty="0" err="1"/>
              <a:t>từ</a:t>
            </a:r>
            <a:r>
              <a:rPr lang="en-US" b="1" dirty="0"/>
              <a:t>).</a:t>
            </a:r>
          </a:p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: 	CMP </a:t>
            </a:r>
            <a:r>
              <a:rPr lang="en-US" dirty="0" err="1"/>
              <a:t>Đích</a:t>
            </a:r>
            <a:r>
              <a:rPr lang="en-US" dirty="0"/>
              <a:t>, </a:t>
            </a:r>
            <a:r>
              <a:rPr lang="en-US" dirty="0" err="1"/>
              <a:t>Gốc</a:t>
            </a:r>
            <a:r>
              <a:rPr lang="en-US" dirty="0"/>
              <a:t>.</a:t>
            </a:r>
          </a:p>
          <a:p>
            <a:r>
              <a:rPr lang="vi-VN" dirty="0"/>
              <a:t>Lệnh này chỉ tạo các cờ, không lưu kết quả so sánh;</a:t>
            </a:r>
            <a:endParaRPr lang="en-US" dirty="0"/>
          </a:p>
          <a:p>
            <a:r>
              <a:rPr lang="en-US" dirty="0"/>
              <a:t>L</a:t>
            </a:r>
            <a:r>
              <a:rPr lang="vi-VN" dirty="0"/>
              <a:t>ệnh này thường được dùng để tạo cờ cho các lệnh nhảy có điều kiện.</a:t>
            </a:r>
          </a:p>
          <a:p>
            <a:pPr lvl="1">
              <a:buNone/>
            </a:pPr>
            <a:r>
              <a:rPr lang="en-US" dirty="0"/>
              <a:t>				CF		ZF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dirty="0" err="1"/>
              <a:t>Đích</a:t>
            </a:r>
            <a:r>
              <a:rPr lang="en-US" dirty="0"/>
              <a:t> = </a:t>
            </a:r>
            <a:r>
              <a:rPr lang="en-US" dirty="0" err="1"/>
              <a:t>Nguồn</a:t>
            </a:r>
            <a:r>
              <a:rPr lang="en-US" dirty="0"/>
              <a:t>	0		1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dirty="0" err="1"/>
              <a:t>Đích</a:t>
            </a:r>
            <a:r>
              <a:rPr lang="en-US" dirty="0"/>
              <a:t> &gt; </a:t>
            </a:r>
            <a:r>
              <a:rPr lang="en-US" dirty="0" err="1"/>
              <a:t>Nguồn</a:t>
            </a:r>
            <a:r>
              <a:rPr lang="en-US" dirty="0"/>
              <a:t>	0		0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dirty="0" err="1"/>
              <a:t>Đích</a:t>
            </a:r>
            <a:r>
              <a:rPr lang="en-US" dirty="0"/>
              <a:t> &lt; </a:t>
            </a:r>
            <a:r>
              <a:rPr lang="en-US" dirty="0" err="1"/>
              <a:t>Nguồn</a:t>
            </a:r>
            <a:r>
              <a:rPr lang="en-US" dirty="0"/>
              <a:t>	1		0.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4495800"/>
          </a:xfrm>
        </p:spPr>
        <p:txBody>
          <a:bodyPr>
            <a:noAutofit/>
          </a:bodyPr>
          <a:lstStyle/>
          <a:p>
            <a:r>
              <a:rPr lang="vi-VN" sz="2400" dirty="0"/>
              <a:t>AND</a:t>
            </a:r>
            <a:r>
              <a:rPr lang="en-US" sz="2400" dirty="0"/>
              <a:t>		</a:t>
            </a:r>
            <a:r>
              <a:rPr lang="vi-VN" sz="2400" dirty="0"/>
              <a:t>Thực hiện phép AND hai toán hạng</a:t>
            </a:r>
          </a:p>
          <a:p>
            <a:r>
              <a:rPr lang="vi-VN" sz="2400" dirty="0"/>
              <a:t>OR</a:t>
            </a:r>
            <a:r>
              <a:rPr lang="en-US" sz="2400" dirty="0"/>
              <a:t>		</a:t>
            </a:r>
            <a:r>
              <a:rPr lang="vi-VN" sz="2400" dirty="0"/>
              <a:t>Thực hiện phép OR hai toán hạng</a:t>
            </a:r>
          </a:p>
          <a:p>
            <a:r>
              <a:rPr lang="vi-VN" sz="2400" dirty="0"/>
              <a:t>XOR</a:t>
            </a:r>
            <a:r>
              <a:rPr lang="en-US" sz="2400" dirty="0"/>
              <a:t>		</a:t>
            </a:r>
            <a:r>
              <a:rPr lang="vi-VN" sz="2400" dirty="0"/>
              <a:t>Thực hiện phép XOR hai toán hạng</a:t>
            </a:r>
          </a:p>
          <a:p>
            <a:r>
              <a:rPr lang="vi-VN" sz="2400" dirty="0"/>
              <a:t>NOT</a:t>
            </a:r>
            <a:r>
              <a:rPr lang="en-US" sz="2400" dirty="0"/>
              <a:t>		</a:t>
            </a:r>
            <a:r>
              <a:rPr lang="vi-VN" sz="2400" dirty="0"/>
              <a:t>Đảo bit của toán hạng (lấy bù 1)</a:t>
            </a:r>
          </a:p>
          <a:p>
            <a:r>
              <a:rPr lang="vi-VN" sz="2400" dirty="0"/>
              <a:t>TEST</a:t>
            </a:r>
            <a:r>
              <a:rPr lang="en-US" sz="2400" dirty="0"/>
              <a:t>	</a:t>
            </a:r>
            <a:r>
              <a:rPr lang="vi-VN" sz="2400" dirty="0"/>
              <a:t>Thực hiện phép AND 2 toán hạng để lập cờ</a:t>
            </a:r>
          </a:p>
          <a:p>
            <a:r>
              <a:rPr lang="vi-VN" sz="2400" dirty="0"/>
              <a:t>SHIFT</a:t>
            </a:r>
            <a:r>
              <a:rPr lang="en-US" sz="2400" dirty="0"/>
              <a:t>	</a:t>
            </a:r>
            <a:r>
              <a:rPr lang="vi-VN" sz="2400" dirty="0"/>
              <a:t>Dịch trái (phải) toán hạng</a:t>
            </a:r>
          </a:p>
          <a:p>
            <a:r>
              <a:rPr lang="vi-VN" sz="2400" dirty="0"/>
              <a:t>ROTATE</a:t>
            </a:r>
            <a:r>
              <a:rPr lang="en-US" sz="2400" dirty="0"/>
              <a:t>	</a:t>
            </a:r>
            <a:r>
              <a:rPr lang="vi-VN" sz="2400" dirty="0"/>
              <a:t>Quay trái (phải) toán hạng</a:t>
            </a:r>
            <a:endParaRPr lang="en-US" sz="2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AND, OR, XOR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vi-VN" dirty="0"/>
              <a:t>Giả sử có hai thanh ghi chứa dữ liệu như sau:</a:t>
            </a:r>
          </a:p>
          <a:p>
            <a:pPr lvl="1"/>
            <a:r>
              <a:rPr lang="vi-VN" dirty="0"/>
              <a:t>(R1) = 1010 1010</a:t>
            </a:r>
          </a:p>
          <a:p>
            <a:pPr lvl="1"/>
            <a:r>
              <a:rPr lang="vi-VN" dirty="0"/>
              <a:t>(R2) = 0000 1111</a:t>
            </a:r>
          </a:p>
          <a:p>
            <a:r>
              <a:rPr lang="vi-VN" dirty="0"/>
              <a:t>R1 </a:t>
            </a:r>
            <a:r>
              <a:rPr lang="en-US" dirty="0"/>
              <a:t>&lt;- </a:t>
            </a:r>
            <a:r>
              <a:rPr lang="vi-VN" dirty="0"/>
              <a:t>(R1) AND (R2) = 0000 1010</a:t>
            </a:r>
          </a:p>
          <a:p>
            <a:pPr lvl="1"/>
            <a:r>
              <a:rPr lang="vi-VN" b="1" i="1" dirty="0"/>
              <a:t>Phép toán AND dùng để </a:t>
            </a:r>
            <a:r>
              <a:rPr lang="vi-VN" b="1" i="1" dirty="0">
                <a:solidFill>
                  <a:srgbClr val="FF0000"/>
                </a:solidFill>
              </a:rPr>
              <a:t>xoá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vi-VN" b="1" i="1" dirty="0">
                <a:solidFill>
                  <a:srgbClr val="FF0000"/>
                </a:solidFill>
              </a:rPr>
              <a:t>một số bit </a:t>
            </a:r>
            <a:r>
              <a:rPr lang="vi-VN" b="1" i="1" dirty="0"/>
              <a:t>và giữ nguyên một số bit còn lại của toán hạng.</a:t>
            </a:r>
          </a:p>
          <a:p>
            <a:endParaRPr lang="en-US" dirty="0"/>
          </a:p>
          <a:p>
            <a:r>
              <a:rPr lang="vi-VN" dirty="0"/>
              <a:t>R1</a:t>
            </a:r>
            <a:r>
              <a:rPr lang="en-US" dirty="0"/>
              <a:t>&lt;-</a:t>
            </a:r>
            <a:r>
              <a:rPr lang="vi-VN" dirty="0"/>
              <a:t> (R1) OR (R2) = 1010 1111</a:t>
            </a:r>
          </a:p>
          <a:p>
            <a:pPr lvl="1"/>
            <a:r>
              <a:rPr lang="vi-VN" b="1" i="1" dirty="0"/>
              <a:t>Phép toán OR dùng để </a:t>
            </a:r>
            <a:r>
              <a:rPr lang="vi-VN" b="1" i="1" dirty="0">
                <a:solidFill>
                  <a:srgbClr val="FF0000"/>
                </a:solidFill>
              </a:rPr>
              <a:t>thiết lập một số bit </a:t>
            </a:r>
            <a:r>
              <a:rPr lang="vi-VN" b="1" i="1" dirty="0"/>
              <a:t>và giữ</a:t>
            </a:r>
            <a:r>
              <a:rPr lang="en-US" b="1" i="1" dirty="0"/>
              <a:t> </a:t>
            </a:r>
            <a:r>
              <a:rPr lang="vi-VN" b="1" i="1" dirty="0"/>
              <a:t>nguyên một số bit còn lại của toán hạng.</a:t>
            </a:r>
          </a:p>
          <a:p>
            <a:endParaRPr lang="en-US" dirty="0"/>
          </a:p>
          <a:p>
            <a:r>
              <a:rPr lang="vi-VN" dirty="0"/>
              <a:t>R1</a:t>
            </a:r>
            <a:r>
              <a:rPr lang="en-US" dirty="0"/>
              <a:t>&lt;-</a:t>
            </a:r>
            <a:r>
              <a:rPr lang="vi-VN" dirty="0"/>
              <a:t> (R1) XOR (R2) = 1010 0101</a:t>
            </a:r>
          </a:p>
          <a:p>
            <a:pPr lvl="1"/>
            <a:r>
              <a:rPr lang="vi-VN" b="1" i="1" dirty="0"/>
              <a:t>Phép toán XOR  dùng để </a:t>
            </a:r>
            <a:r>
              <a:rPr lang="vi-VN" b="1" i="1" dirty="0">
                <a:solidFill>
                  <a:srgbClr val="FF0000"/>
                </a:solidFill>
              </a:rPr>
              <a:t>đảo một số bit </a:t>
            </a:r>
            <a:r>
              <a:rPr lang="vi-VN" b="1" i="1" dirty="0"/>
              <a:t>và giữ nguyên</a:t>
            </a:r>
            <a:r>
              <a:rPr lang="en-US" b="1" i="1" dirty="0"/>
              <a:t> </a:t>
            </a:r>
            <a:r>
              <a:rPr lang="vi-VN" b="1" i="1" dirty="0"/>
              <a:t>một số bit còn lại của toán hạng.</a:t>
            </a:r>
            <a:endParaRPr lang="en-US" b="1" i="1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Minh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TEST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4495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TEST </a:t>
            </a:r>
            <a:r>
              <a:rPr lang="en-US" dirty="0" err="1"/>
              <a:t>Đích</a:t>
            </a:r>
            <a:r>
              <a:rPr lang="en-US" dirty="0"/>
              <a:t>, </a:t>
            </a:r>
            <a:r>
              <a:rPr lang="en-US" dirty="0" err="1"/>
              <a:t>Nguồn</a:t>
            </a:r>
            <a:endParaRPr lang="en-US" dirty="0"/>
          </a:p>
          <a:p>
            <a:r>
              <a:rPr lang="vi-VN" dirty="0"/>
              <a:t>Sau lệnh này các toán hạng không bị thay đổi và kết quả không được lưu giữ.</a:t>
            </a:r>
            <a:endParaRPr lang="en-US" dirty="0"/>
          </a:p>
          <a:p>
            <a:r>
              <a:rPr lang="vi-VN" dirty="0"/>
              <a:t>Các cờ được tạo ra sẽ được dùng làm điều kiện cho các lệnh nhảy có điều kiện.</a:t>
            </a:r>
            <a:endParaRPr lang="en-US" dirty="0"/>
          </a:p>
          <a:p>
            <a:r>
              <a:rPr lang="vi-VN" dirty="0"/>
              <a:t>Lệnh này cũng có tác dụng che như một mặt nạ.</a:t>
            </a:r>
          </a:p>
          <a:p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Xoá</a:t>
            </a:r>
            <a:r>
              <a:rPr lang="en-US" dirty="0"/>
              <a:t>: CF, OF</a:t>
            </a:r>
          </a:p>
          <a:p>
            <a:pPr lvl="1"/>
            <a:r>
              <a:rPr lang="vi-VN" dirty="0"/>
              <a:t>Cập nhật: PF, SF, ZF (PF chỉ liên quan đến 8 bit thấp)</a:t>
            </a:r>
            <a:endParaRPr lang="en-US" dirty="0"/>
          </a:p>
          <a:p>
            <a:pPr lvl="1"/>
            <a:r>
              <a:rPr lang="vi-VN" dirty="0"/>
              <a:t>Không xác định: AF.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lvl="2">
              <a:buNone/>
            </a:pPr>
            <a:r>
              <a:rPr lang="vi-VN" dirty="0"/>
              <a:t>TEST AH, AL	;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AND</a:t>
            </a:r>
            <a:r>
              <a:rPr lang="vi-VN" dirty="0"/>
              <a:t> AH với AL để tạo cờ.</a:t>
            </a:r>
          </a:p>
          <a:p>
            <a:pPr lvl="2">
              <a:buNone/>
            </a:pPr>
            <a:r>
              <a:rPr lang="en-US" dirty="0"/>
              <a:t>TEST AH, 01H	; Bit 0 </a:t>
            </a:r>
            <a:r>
              <a:rPr lang="en-US" dirty="0" err="1"/>
              <a:t>của</a:t>
            </a:r>
            <a:r>
              <a:rPr lang="en-US" dirty="0"/>
              <a:t> AH = 0?</a:t>
            </a:r>
          </a:p>
          <a:p>
            <a:pPr lvl="2">
              <a:buNone/>
            </a:pPr>
            <a:r>
              <a:rPr lang="en-US" dirty="0"/>
              <a:t>TEST BP, [BX][DI]	;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AND BP </a:t>
            </a:r>
            <a:r>
              <a:rPr lang="en-US" dirty="0" err="1"/>
              <a:t>với</a:t>
            </a:r>
            <a:r>
              <a:rPr lang="en-US" dirty="0"/>
              <a:t> ô </a:t>
            </a:r>
            <a:r>
              <a:rPr lang="en-US" dirty="0" err="1"/>
              <a:t>nhớ</a:t>
            </a:r>
            <a:r>
              <a:rPr lang="en-US" dirty="0"/>
              <a:t> DS:BX+DI.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Minh </a:t>
            </a:r>
            <a:r>
              <a:rPr lang="en-US" sz="3600" dirty="0" err="1"/>
              <a:t>họa</a:t>
            </a:r>
            <a:r>
              <a:rPr lang="en-US" sz="3600" dirty="0"/>
              <a:t> </a:t>
            </a:r>
            <a:r>
              <a:rPr lang="en-US" sz="3600" dirty="0" err="1"/>
              <a:t>lệnh</a:t>
            </a:r>
            <a:r>
              <a:rPr lang="en-US" sz="3600" dirty="0"/>
              <a:t> </a:t>
            </a:r>
            <a:r>
              <a:rPr lang="en-US" sz="3600" dirty="0" err="1"/>
              <a:t>Dịch</a:t>
            </a:r>
            <a:r>
              <a:rPr lang="en-US" sz="3600" dirty="0"/>
              <a:t> </a:t>
            </a:r>
            <a:r>
              <a:rPr lang="en-US" sz="3600" dirty="0" err="1"/>
              <a:t>trái</a:t>
            </a:r>
            <a:r>
              <a:rPr lang="en-US" sz="3600" dirty="0"/>
              <a:t>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8382000" cy="2568209"/>
          </a:xfrm>
        </p:spPr>
        <p:txBody>
          <a:bodyPr>
            <a:normAutofit/>
          </a:bodyPr>
          <a:lstStyle/>
          <a:p>
            <a:r>
              <a:rPr lang="en-US" b="1" dirty="0"/>
              <a:t>SAL- Shift arithmetically Left (</a:t>
            </a:r>
            <a:r>
              <a:rPr lang="en-US" b="1" dirty="0" err="1"/>
              <a:t>Dịch</a:t>
            </a:r>
            <a:r>
              <a:rPr lang="en-US" b="1" dirty="0"/>
              <a:t> </a:t>
            </a:r>
            <a:r>
              <a:rPr lang="en-US" b="1" dirty="0" err="1"/>
              <a:t>trái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)</a:t>
            </a:r>
          </a:p>
          <a:p>
            <a:r>
              <a:rPr lang="en-US" b="1" dirty="0"/>
              <a:t>SHL- Shift (Logically) Left (</a:t>
            </a:r>
            <a:r>
              <a:rPr lang="en-US" b="1" dirty="0" err="1"/>
              <a:t>Dịch</a:t>
            </a:r>
            <a:r>
              <a:rPr lang="en-US" b="1" dirty="0"/>
              <a:t> </a:t>
            </a:r>
            <a:r>
              <a:rPr lang="en-US" b="1" dirty="0" err="1"/>
              <a:t>trái</a:t>
            </a:r>
            <a:r>
              <a:rPr lang="en-US" b="1" dirty="0"/>
              <a:t> logic).</a:t>
            </a:r>
          </a:p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SAL </a:t>
            </a:r>
            <a:r>
              <a:rPr lang="en-US" dirty="0" err="1"/>
              <a:t>Đích</a:t>
            </a:r>
            <a:r>
              <a:rPr lang="en-US" dirty="0"/>
              <a:t>, CL</a:t>
            </a:r>
          </a:p>
          <a:p>
            <a:pPr lvl="1"/>
            <a:r>
              <a:rPr lang="en-US" dirty="0"/>
              <a:t>SHL </a:t>
            </a:r>
            <a:r>
              <a:rPr lang="en-US" dirty="0" err="1"/>
              <a:t>Đích</a:t>
            </a:r>
            <a:r>
              <a:rPr lang="en-US" dirty="0"/>
              <a:t>, CL	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22882" name="Group 2"/>
          <p:cNvGrpSpPr>
            <a:grpSpLocks/>
          </p:cNvGrpSpPr>
          <p:nvPr/>
        </p:nvGrpSpPr>
        <p:grpSpPr bwMode="auto">
          <a:xfrm>
            <a:off x="2057400" y="4800600"/>
            <a:ext cx="5334000" cy="304800"/>
            <a:chOff x="2241" y="2704"/>
            <a:chExt cx="7200" cy="360"/>
          </a:xfrm>
        </p:grpSpPr>
        <p:sp>
          <p:nvSpPr>
            <p:cNvPr id="122883" name="Text Box 3"/>
            <p:cNvSpPr txBox="1">
              <a:spLocks noChangeArrowheads="1"/>
            </p:cNvSpPr>
            <p:nvPr/>
          </p:nvSpPr>
          <p:spPr bwMode="auto">
            <a:xfrm>
              <a:off x="2241" y="2704"/>
              <a:ext cx="72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CF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2884" name="Text Box 4"/>
            <p:cNvSpPr txBox="1">
              <a:spLocks noChangeArrowheads="1"/>
            </p:cNvSpPr>
            <p:nvPr/>
          </p:nvSpPr>
          <p:spPr bwMode="auto">
            <a:xfrm>
              <a:off x="3501" y="2704"/>
              <a:ext cx="486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MSB                 			        LSB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2885" name="Line 5"/>
            <p:cNvSpPr>
              <a:spLocks noChangeShapeType="1"/>
            </p:cNvSpPr>
            <p:nvPr/>
          </p:nvSpPr>
          <p:spPr bwMode="auto">
            <a:xfrm>
              <a:off x="4221" y="270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886" name="Line 6"/>
            <p:cNvSpPr>
              <a:spLocks noChangeShapeType="1"/>
            </p:cNvSpPr>
            <p:nvPr/>
          </p:nvSpPr>
          <p:spPr bwMode="auto">
            <a:xfrm>
              <a:off x="7641" y="270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887" name="Line 7"/>
            <p:cNvSpPr>
              <a:spLocks noChangeShapeType="1"/>
            </p:cNvSpPr>
            <p:nvPr/>
          </p:nvSpPr>
          <p:spPr bwMode="auto">
            <a:xfrm flipH="1">
              <a:off x="5301" y="2884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888" name="Line 8"/>
            <p:cNvSpPr>
              <a:spLocks noChangeShapeType="1"/>
            </p:cNvSpPr>
            <p:nvPr/>
          </p:nvSpPr>
          <p:spPr bwMode="auto">
            <a:xfrm flipH="1">
              <a:off x="8361" y="288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889" name="Text Box 9"/>
            <p:cNvSpPr txBox="1">
              <a:spLocks noChangeArrowheads="1"/>
            </p:cNvSpPr>
            <p:nvPr/>
          </p:nvSpPr>
          <p:spPr bwMode="auto">
            <a:xfrm>
              <a:off x="8721" y="2704"/>
              <a:ext cx="720" cy="3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rPr>
                <a:t>0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2890" name="Line 10"/>
            <p:cNvSpPr>
              <a:spLocks noChangeShapeType="1"/>
            </p:cNvSpPr>
            <p:nvPr/>
          </p:nvSpPr>
          <p:spPr bwMode="auto">
            <a:xfrm flipH="1">
              <a:off x="2961" y="288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4800600" y="6096000"/>
            <a:ext cx="2743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CL: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dịch</a:t>
            </a:r>
            <a:endParaRPr lang="en-US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Minh </a:t>
            </a:r>
            <a:r>
              <a:rPr lang="en-US" sz="3600" dirty="0" err="1"/>
              <a:t>họa</a:t>
            </a:r>
            <a:r>
              <a:rPr lang="en-US" sz="3600" dirty="0"/>
              <a:t> </a:t>
            </a:r>
            <a:r>
              <a:rPr lang="en-US" sz="3600" dirty="0" err="1"/>
              <a:t>lệnh</a:t>
            </a:r>
            <a:r>
              <a:rPr lang="en-US" sz="3600" dirty="0"/>
              <a:t> </a:t>
            </a:r>
            <a:r>
              <a:rPr lang="en-US" sz="3600" dirty="0" err="1"/>
              <a:t>Dịch</a:t>
            </a:r>
            <a:r>
              <a:rPr lang="en-US" sz="3600" dirty="0"/>
              <a:t> </a:t>
            </a:r>
            <a:r>
              <a:rPr lang="en-US" sz="3600" dirty="0" err="1"/>
              <a:t>phải</a:t>
            </a:r>
            <a:r>
              <a:rPr lang="en-US" sz="3600" dirty="0"/>
              <a:t>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8458200" cy="1958609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SAR - Shift Arithmetically Right (</a:t>
            </a:r>
            <a:r>
              <a:rPr lang="en-US" sz="2800" dirty="0" err="1"/>
              <a:t>Dịch</a:t>
            </a:r>
            <a:r>
              <a:rPr lang="en-US" sz="2800" dirty="0"/>
              <a:t> </a:t>
            </a:r>
            <a:r>
              <a:rPr lang="en-US" sz="2800" dirty="0" err="1"/>
              <a:t>phải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học</a:t>
            </a:r>
            <a:r>
              <a:rPr lang="en-US" sz="2800" dirty="0"/>
              <a:t>).</a:t>
            </a:r>
          </a:p>
          <a:p>
            <a:r>
              <a:rPr lang="en-US" sz="2800" b="1" dirty="0"/>
              <a:t>SHR- Shift (Logically) Right (</a:t>
            </a:r>
            <a:r>
              <a:rPr lang="en-US" sz="2800" b="1" dirty="0" err="1"/>
              <a:t>Dịch</a:t>
            </a:r>
            <a:r>
              <a:rPr lang="en-US" sz="2800" b="1" dirty="0"/>
              <a:t> </a:t>
            </a:r>
            <a:r>
              <a:rPr lang="en-US" sz="2800" b="1" dirty="0" err="1"/>
              <a:t>phải</a:t>
            </a:r>
            <a:r>
              <a:rPr lang="en-US" sz="2800" b="1" dirty="0"/>
              <a:t> logic).</a:t>
            </a:r>
            <a:endParaRPr lang="en-US" sz="2800" dirty="0"/>
          </a:p>
          <a:p>
            <a:r>
              <a:rPr lang="en-US" sz="2800" dirty="0" err="1"/>
              <a:t>Viết</a:t>
            </a:r>
            <a:r>
              <a:rPr lang="en-US" sz="2800" dirty="0"/>
              <a:t> </a:t>
            </a:r>
            <a:r>
              <a:rPr lang="en-US" sz="2800" dirty="0" err="1"/>
              <a:t>lệnh</a:t>
            </a:r>
            <a:r>
              <a:rPr lang="en-US" sz="2800" dirty="0"/>
              <a:t>:	</a:t>
            </a:r>
          </a:p>
          <a:p>
            <a:pPr lvl="1"/>
            <a:r>
              <a:rPr lang="en-US" sz="2500" dirty="0"/>
              <a:t>SAR </a:t>
            </a:r>
            <a:r>
              <a:rPr lang="en-US" sz="2500" dirty="0" err="1"/>
              <a:t>Đích</a:t>
            </a:r>
            <a:r>
              <a:rPr lang="en-US" sz="2500" dirty="0"/>
              <a:t>, CL</a:t>
            </a:r>
          </a:p>
          <a:p>
            <a:pPr lvl="1"/>
            <a:r>
              <a:rPr lang="en-US" sz="2500" dirty="0"/>
              <a:t>SHR </a:t>
            </a:r>
            <a:r>
              <a:rPr lang="en-US" sz="2500" dirty="0" err="1"/>
              <a:t>Đích</a:t>
            </a:r>
            <a:r>
              <a:rPr lang="en-US" sz="2500" dirty="0"/>
              <a:t>, CL</a:t>
            </a:r>
          </a:p>
          <a:p>
            <a:endParaRPr lang="en-US" sz="2800" dirty="0"/>
          </a:p>
          <a:p>
            <a:endParaRPr lang="en-US" sz="2800" dirty="0"/>
          </a:p>
        </p:txBody>
      </p:sp>
      <p:grpSp>
        <p:nvGrpSpPr>
          <p:cNvPr id="123906" name="Group 2"/>
          <p:cNvGrpSpPr>
            <a:grpSpLocks/>
          </p:cNvGrpSpPr>
          <p:nvPr/>
        </p:nvGrpSpPr>
        <p:grpSpPr bwMode="auto">
          <a:xfrm>
            <a:off x="2057400" y="3962400"/>
            <a:ext cx="4483100" cy="527050"/>
            <a:chOff x="3501" y="8824"/>
            <a:chExt cx="6300" cy="540"/>
          </a:xfrm>
        </p:grpSpPr>
        <p:sp>
          <p:nvSpPr>
            <p:cNvPr id="123907" name="Text Box 3"/>
            <p:cNvSpPr txBox="1">
              <a:spLocks noChangeArrowheads="1"/>
            </p:cNvSpPr>
            <p:nvPr/>
          </p:nvSpPr>
          <p:spPr bwMode="auto">
            <a:xfrm>
              <a:off x="9081" y="8824"/>
              <a:ext cx="72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CF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908" name="Text Box 4"/>
            <p:cNvSpPr txBox="1">
              <a:spLocks noChangeArrowheads="1"/>
            </p:cNvSpPr>
            <p:nvPr/>
          </p:nvSpPr>
          <p:spPr bwMode="auto">
            <a:xfrm>
              <a:off x="3861" y="8824"/>
              <a:ext cx="486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MSB                 			        LSB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3909" name="Line 5"/>
            <p:cNvSpPr>
              <a:spLocks noChangeShapeType="1"/>
            </p:cNvSpPr>
            <p:nvPr/>
          </p:nvSpPr>
          <p:spPr bwMode="auto">
            <a:xfrm>
              <a:off x="4581" y="882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910" name="Line 6"/>
            <p:cNvSpPr>
              <a:spLocks noChangeShapeType="1"/>
            </p:cNvSpPr>
            <p:nvPr/>
          </p:nvSpPr>
          <p:spPr bwMode="auto">
            <a:xfrm>
              <a:off x="8001" y="882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911" name="Line 7"/>
            <p:cNvSpPr>
              <a:spLocks noChangeShapeType="1"/>
            </p:cNvSpPr>
            <p:nvPr/>
          </p:nvSpPr>
          <p:spPr bwMode="auto">
            <a:xfrm flipH="1">
              <a:off x="5661" y="9004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912" name="Line 8"/>
            <p:cNvSpPr>
              <a:spLocks noChangeShapeType="1"/>
            </p:cNvSpPr>
            <p:nvPr/>
          </p:nvSpPr>
          <p:spPr bwMode="auto">
            <a:xfrm>
              <a:off x="8721" y="900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913" name="Line 9"/>
            <p:cNvSpPr>
              <a:spLocks noChangeShapeType="1"/>
            </p:cNvSpPr>
            <p:nvPr/>
          </p:nvSpPr>
          <p:spPr bwMode="auto">
            <a:xfrm>
              <a:off x="4221" y="9184"/>
              <a:ext cx="0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914" name="Line 10"/>
            <p:cNvSpPr>
              <a:spLocks noChangeShapeType="1"/>
            </p:cNvSpPr>
            <p:nvPr/>
          </p:nvSpPr>
          <p:spPr bwMode="auto">
            <a:xfrm flipH="1">
              <a:off x="3501" y="9364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915" name="Line 11"/>
            <p:cNvSpPr>
              <a:spLocks noChangeShapeType="1"/>
            </p:cNvSpPr>
            <p:nvPr/>
          </p:nvSpPr>
          <p:spPr bwMode="auto">
            <a:xfrm flipV="1">
              <a:off x="3501" y="900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916" name="Line 12"/>
            <p:cNvSpPr>
              <a:spLocks noChangeShapeType="1"/>
            </p:cNvSpPr>
            <p:nvPr/>
          </p:nvSpPr>
          <p:spPr bwMode="auto">
            <a:xfrm>
              <a:off x="3501" y="9004"/>
              <a:ext cx="3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2209800" y="5562600"/>
            <a:ext cx="5867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SAR: </a:t>
            </a:r>
            <a:r>
              <a:rPr lang="en-US" b="1" i="1" dirty="0" err="1">
                <a:solidFill>
                  <a:srgbClr val="FF0000"/>
                </a:solidFill>
              </a:rPr>
              <a:t>Dùng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cho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số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có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dấu</a:t>
            </a:r>
            <a:r>
              <a:rPr lang="en-US" b="1" i="1" dirty="0">
                <a:solidFill>
                  <a:srgbClr val="FF0000"/>
                </a:solidFill>
              </a:rPr>
              <a:t> (MSB </a:t>
            </a:r>
            <a:r>
              <a:rPr lang="en-US" b="1" i="1" dirty="0" err="1">
                <a:solidFill>
                  <a:srgbClr val="FF0000"/>
                </a:solidFill>
              </a:rPr>
              <a:t>giữ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lại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làm</a:t>
            </a:r>
            <a:r>
              <a:rPr lang="en-US" b="1" i="1" dirty="0">
                <a:solidFill>
                  <a:srgbClr val="FF0000"/>
                </a:solidFill>
              </a:rPr>
              <a:t> bit </a:t>
            </a:r>
            <a:r>
              <a:rPr lang="en-US" b="1" i="1" dirty="0" err="1">
                <a:solidFill>
                  <a:srgbClr val="FF0000"/>
                </a:solidFill>
              </a:rPr>
              <a:t>dấu</a:t>
            </a:r>
            <a:r>
              <a:rPr lang="en-US" b="1" i="1" dirty="0">
                <a:solidFill>
                  <a:srgbClr val="FF0000"/>
                </a:solidFill>
              </a:rPr>
              <a:t>)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SHR: </a:t>
            </a:r>
            <a:r>
              <a:rPr lang="en-US" b="1" i="1" dirty="0" err="1">
                <a:solidFill>
                  <a:srgbClr val="FF0000"/>
                </a:solidFill>
              </a:rPr>
              <a:t>Dùng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cho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số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không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dấu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Minh </a:t>
            </a:r>
            <a:r>
              <a:rPr lang="en-US" sz="3600" dirty="0" err="1"/>
              <a:t>họa</a:t>
            </a:r>
            <a:r>
              <a:rPr lang="en-US" sz="3600" dirty="0"/>
              <a:t> </a:t>
            </a:r>
            <a:r>
              <a:rPr lang="en-US" sz="3600" dirty="0" err="1"/>
              <a:t>lệnh</a:t>
            </a:r>
            <a:r>
              <a:rPr lang="en-US" sz="3600" dirty="0"/>
              <a:t> Quay </a:t>
            </a:r>
            <a:r>
              <a:rPr lang="en-US" sz="3600" dirty="0" err="1"/>
              <a:t>vòng</a:t>
            </a:r>
            <a:r>
              <a:rPr lang="en-US" sz="3600" dirty="0"/>
              <a:t> (8088/8086)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ROL - Rotate All Bit to the Left (Quay </a:t>
            </a:r>
            <a:r>
              <a:rPr lang="en-US" sz="2400" b="1" dirty="0" err="1"/>
              <a:t>vòng</a:t>
            </a:r>
            <a:r>
              <a:rPr lang="en-US" sz="2400" b="1" dirty="0"/>
              <a:t> sang </a:t>
            </a:r>
            <a:r>
              <a:rPr lang="en-US" sz="2400" b="1" dirty="0" err="1"/>
              <a:t>trái</a:t>
            </a:r>
            <a:r>
              <a:rPr lang="en-US" sz="2400" b="1" dirty="0"/>
              <a:t>)</a:t>
            </a:r>
          </a:p>
          <a:p>
            <a:pPr lvl="1"/>
            <a:r>
              <a:rPr lang="en-US" sz="2400" dirty="0" err="1"/>
              <a:t>Viết</a:t>
            </a:r>
            <a:r>
              <a:rPr lang="en-US" sz="2400" dirty="0"/>
              <a:t> </a:t>
            </a:r>
            <a:r>
              <a:rPr lang="en-US" sz="2400" dirty="0" err="1"/>
              <a:t>lệnh</a:t>
            </a:r>
            <a:r>
              <a:rPr lang="en-US" sz="2400" dirty="0"/>
              <a:t>:	ROL </a:t>
            </a:r>
            <a:r>
              <a:rPr lang="en-US" sz="2400" dirty="0" err="1"/>
              <a:t>Đích</a:t>
            </a:r>
            <a:r>
              <a:rPr lang="en-US" sz="2400" dirty="0"/>
              <a:t>, CL</a:t>
            </a:r>
          </a:p>
          <a:p>
            <a:pPr lvl="1"/>
            <a:endParaRPr lang="en-US" sz="2400" dirty="0"/>
          </a:p>
          <a:p>
            <a:endParaRPr lang="en-US" sz="2400" b="1" dirty="0"/>
          </a:p>
          <a:p>
            <a:r>
              <a:rPr lang="en-US" sz="2400" b="1" dirty="0"/>
              <a:t>ROR - Rotate All Bit to the Right (Quay </a:t>
            </a:r>
            <a:r>
              <a:rPr lang="en-US" sz="2400" b="1" dirty="0" err="1"/>
              <a:t>vòng</a:t>
            </a:r>
            <a:r>
              <a:rPr lang="en-US" sz="2400" b="1" dirty="0"/>
              <a:t> sang </a:t>
            </a:r>
            <a:r>
              <a:rPr lang="en-US" sz="2400" b="1" dirty="0" err="1"/>
              <a:t>phải</a:t>
            </a:r>
            <a:r>
              <a:rPr lang="en-US" sz="2400" b="1" dirty="0"/>
              <a:t>).</a:t>
            </a:r>
          </a:p>
          <a:p>
            <a:pPr lvl="1"/>
            <a:r>
              <a:rPr lang="en-US" sz="2400" dirty="0" err="1"/>
              <a:t>Viết</a:t>
            </a:r>
            <a:r>
              <a:rPr lang="en-US" sz="2400" dirty="0"/>
              <a:t> </a:t>
            </a:r>
            <a:r>
              <a:rPr lang="en-US" sz="2400" dirty="0" err="1"/>
              <a:t>lệnh</a:t>
            </a:r>
            <a:r>
              <a:rPr lang="en-US" sz="2400" dirty="0"/>
              <a:t>:	ROR </a:t>
            </a:r>
            <a:r>
              <a:rPr lang="en-US" sz="2400" dirty="0" err="1"/>
              <a:t>Đích</a:t>
            </a:r>
            <a:r>
              <a:rPr lang="en-US" sz="2400" dirty="0"/>
              <a:t>, CL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r>
              <a:rPr lang="en-US" sz="2600" b="1" u="sng" dirty="0" err="1"/>
              <a:t>Ví</a:t>
            </a:r>
            <a:r>
              <a:rPr lang="en-US" sz="2600" b="1" u="sng" dirty="0"/>
              <a:t> </a:t>
            </a:r>
            <a:r>
              <a:rPr lang="en-US" sz="2600" b="1" u="sng" dirty="0" err="1"/>
              <a:t>dụ</a:t>
            </a:r>
            <a:r>
              <a:rPr lang="en-US" sz="2600" b="1" u="sng" dirty="0"/>
              <a:t>:</a:t>
            </a:r>
          </a:p>
          <a:p>
            <a:r>
              <a:rPr lang="en-US" sz="2600" dirty="0"/>
              <a:t>ROL BX, 1	; quay </a:t>
            </a:r>
            <a:r>
              <a:rPr lang="en-US" sz="2600" dirty="0" err="1"/>
              <a:t>vòng</a:t>
            </a:r>
            <a:r>
              <a:rPr lang="en-US" sz="2600" dirty="0"/>
              <a:t> sang </a:t>
            </a:r>
            <a:r>
              <a:rPr lang="en-US" sz="2600" dirty="0" err="1"/>
              <a:t>trái</a:t>
            </a:r>
            <a:r>
              <a:rPr lang="en-US" sz="2600" dirty="0"/>
              <a:t> </a:t>
            </a:r>
            <a:r>
              <a:rPr lang="en-US" sz="2600" dirty="0" err="1"/>
              <a:t>thanh</a:t>
            </a:r>
            <a:r>
              <a:rPr lang="en-US" sz="2600" dirty="0"/>
              <a:t> </a:t>
            </a:r>
            <a:r>
              <a:rPr lang="en-US" sz="2600" dirty="0" err="1"/>
              <a:t>ghi</a:t>
            </a:r>
            <a:r>
              <a:rPr lang="en-US" sz="2600" dirty="0"/>
              <a:t> BX.</a:t>
            </a:r>
          </a:p>
          <a:p>
            <a:r>
              <a:rPr lang="vi-VN" sz="2600" dirty="0"/>
              <a:t>MOV CL, 4	; đặt số lần quay vào thanh ghi CL.</a:t>
            </a:r>
          </a:p>
          <a:p>
            <a:r>
              <a:rPr lang="en-US" sz="2600" dirty="0"/>
              <a:t>ROL AL, CL	; quay </a:t>
            </a:r>
            <a:r>
              <a:rPr lang="en-US" sz="2600" dirty="0" err="1"/>
              <a:t>vòng</a:t>
            </a:r>
            <a:r>
              <a:rPr lang="en-US" sz="2600" dirty="0"/>
              <a:t> sang </a:t>
            </a:r>
            <a:r>
              <a:rPr lang="en-US" sz="2600" dirty="0" err="1"/>
              <a:t>trái</a:t>
            </a:r>
            <a:r>
              <a:rPr lang="en-US" sz="2600" dirty="0"/>
              <a:t> </a:t>
            </a:r>
            <a:r>
              <a:rPr lang="en-US" sz="2600" dirty="0" err="1"/>
              <a:t>thanh</a:t>
            </a:r>
            <a:r>
              <a:rPr lang="en-US" sz="2600" dirty="0"/>
              <a:t> </a:t>
            </a:r>
            <a:r>
              <a:rPr lang="en-US" sz="2600" dirty="0" err="1"/>
              <a:t>ghi</a:t>
            </a:r>
            <a:r>
              <a:rPr lang="en-US" sz="2600" dirty="0"/>
              <a:t> AL 4 </a:t>
            </a:r>
            <a:r>
              <a:rPr lang="en-US" sz="2600" dirty="0" err="1"/>
              <a:t>lần</a:t>
            </a:r>
            <a:r>
              <a:rPr lang="en-US" sz="2600" dirty="0"/>
              <a:t>.</a:t>
            </a:r>
          </a:p>
          <a:p>
            <a:endParaRPr lang="en-US" sz="2600" dirty="0"/>
          </a:p>
        </p:txBody>
      </p:sp>
      <p:grpSp>
        <p:nvGrpSpPr>
          <p:cNvPr id="124930" name="Group 2"/>
          <p:cNvGrpSpPr>
            <a:grpSpLocks/>
          </p:cNvGrpSpPr>
          <p:nvPr/>
        </p:nvGrpSpPr>
        <p:grpSpPr bwMode="auto">
          <a:xfrm>
            <a:off x="2209800" y="2362200"/>
            <a:ext cx="4572000" cy="609600"/>
            <a:chOff x="2241" y="12910"/>
            <a:chExt cx="6120" cy="720"/>
          </a:xfrm>
        </p:grpSpPr>
        <p:sp>
          <p:nvSpPr>
            <p:cNvPr id="124931" name="Text Box 3"/>
            <p:cNvSpPr txBox="1">
              <a:spLocks noChangeArrowheads="1"/>
            </p:cNvSpPr>
            <p:nvPr/>
          </p:nvSpPr>
          <p:spPr bwMode="auto">
            <a:xfrm>
              <a:off x="2241" y="12910"/>
              <a:ext cx="72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CF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4932" name="Text Box 4"/>
            <p:cNvSpPr txBox="1">
              <a:spLocks noChangeArrowheads="1"/>
            </p:cNvSpPr>
            <p:nvPr/>
          </p:nvSpPr>
          <p:spPr bwMode="auto">
            <a:xfrm>
              <a:off x="3501" y="12914"/>
              <a:ext cx="486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MSB                 			        LSB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4933" name="Line 5"/>
            <p:cNvSpPr>
              <a:spLocks noChangeShapeType="1"/>
            </p:cNvSpPr>
            <p:nvPr/>
          </p:nvSpPr>
          <p:spPr bwMode="auto">
            <a:xfrm>
              <a:off x="4221" y="1291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34" name="Line 6"/>
            <p:cNvSpPr>
              <a:spLocks noChangeShapeType="1"/>
            </p:cNvSpPr>
            <p:nvPr/>
          </p:nvSpPr>
          <p:spPr bwMode="auto">
            <a:xfrm>
              <a:off x="7641" y="1291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35" name="Line 7"/>
            <p:cNvSpPr>
              <a:spLocks noChangeShapeType="1"/>
            </p:cNvSpPr>
            <p:nvPr/>
          </p:nvSpPr>
          <p:spPr bwMode="auto">
            <a:xfrm flipH="1">
              <a:off x="5301" y="13094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36" name="Line 8"/>
            <p:cNvSpPr>
              <a:spLocks noChangeShapeType="1"/>
            </p:cNvSpPr>
            <p:nvPr/>
          </p:nvSpPr>
          <p:spPr bwMode="auto">
            <a:xfrm flipH="1">
              <a:off x="2961" y="1309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37" name="Line 9"/>
            <p:cNvSpPr>
              <a:spLocks noChangeShapeType="1"/>
            </p:cNvSpPr>
            <p:nvPr/>
          </p:nvSpPr>
          <p:spPr bwMode="auto">
            <a:xfrm>
              <a:off x="3861" y="13630"/>
              <a:ext cx="41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38" name="Line 10"/>
            <p:cNvSpPr>
              <a:spLocks noChangeShapeType="1"/>
            </p:cNvSpPr>
            <p:nvPr/>
          </p:nvSpPr>
          <p:spPr bwMode="auto">
            <a:xfrm>
              <a:off x="3861" y="13270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39" name="Line 11"/>
            <p:cNvSpPr>
              <a:spLocks noChangeShapeType="1"/>
            </p:cNvSpPr>
            <p:nvPr/>
          </p:nvSpPr>
          <p:spPr bwMode="auto">
            <a:xfrm flipV="1">
              <a:off x="8001" y="13270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4950" name="Group 22"/>
          <p:cNvGrpSpPr>
            <a:grpSpLocks/>
          </p:cNvGrpSpPr>
          <p:nvPr/>
        </p:nvGrpSpPr>
        <p:grpSpPr bwMode="auto">
          <a:xfrm>
            <a:off x="2362200" y="3886200"/>
            <a:ext cx="4343400" cy="533400"/>
            <a:chOff x="3861" y="4324"/>
            <a:chExt cx="6120" cy="720"/>
          </a:xfrm>
        </p:grpSpPr>
        <p:sp>
          <p:nvSpPr>
            <p:cNvPr id="124951" name="Text Box 23"/>
            <p:cNvSpPr txBox="1">
              <a:spLocks noChangeArrowheads="1"/>
            </p:cNvSpPr>
            <p:nvPr/>
          </p:nvSpPr>
          <p:spPr bwMode="auto">
            <a:xfrm>
              <a:off x="9261" y="4324"/>
              <a:ext cx="72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CF</a:t>
              </a: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4952" name="Text Box 24"/>
            <p:cNvSpPr txBox="1">
              <a:spLocks noChangeArrowheads="1"/>
            </p:cNvSpPr>
            <p:nvPr/>
          </p:nvSpPr>
          <p:spPr bwMode="auto">
            <a:xfrm>
              <a:off x="3861" y="4328"/>
              <a:ext cx="4860" cy="3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MSB                 			        LSB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4953" name="Line 25"/>
            <p:cNvSpPr>
              <a:spLocks noChangeShapeType="1"/>
            </p:cNvSpPr>
            <p:nvPr/>
          </p:nvSpPr>
          <p:spPr bwMode="auto">
            <a:xfrm>
              <a:off x="4581" y="432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54" name="Line 26"/>
            <p:cNvSpPr>
              <a:spLocks noChangeShapeType="1"/>
            </p:cNvSpPr>
            <p:nvPr/>
          </p:nvSpPr>
          <p:spPr bwMode="auto">
            <a:xfrm>
              <a:off x="8001" y="432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55" name="Line 27"/>
            <p:cNvSpPr>
              <a:spLocks noChangeShapeType="1"/>
            </p:cNvSpPr>
            <p:nvPr/>
          </p:nvSpPr>
          <p:spPr bwMode="auto">
            <a:xfrm flipH="1">
              <a:off x="5661" y="4508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56" name="Line 28"/>
            <p:cNvSpPr>
              <a:spLocks noChangeShapeType="1"/>
            </p:cNvSpPr>
            <p:nvPr/>
          </p:nvSpPr>
          <p:spPr bwMode="auto">
            <a:xfrm flipH="1">
              <a:off x="8721" y="450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57" name="Line 29"/>
            <p:cNvSpPr>
              <a:spLocks noChangeShapeType="1"/>
            </p:cNvSpPr>
            <p:nvPr/>
          </p:nvSpPr>
          <p:spPr bwMode="auto">
            <a:xfrm>
              <a:off x="4221" y="5044"/>
              <a:ext cx="41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58" name="Line 30"/>
            <p:cNvSpPr>
              <a:spLocks noChangeShapeType="1"/>
            </p:cNvSpPr>
            <p:nvPr/>
          </p:nvSpPr>
          <p:spPr bwMode="auto">
            <a:xfrm>
              <a:off x="4221" y="468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59" name="Line 31"/>
            <p:cNvSpPr>
              <a:spLocks noChangeShapeType="1"/>
            </p:cNvSpPr>
            <p:nvPr/>
          </p:nvSpPr>
          <p:spPr bwMode="auto">
            <a:xfrm flipV="1">
              <a:off x="8361" y="4684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lệnh</a:t>
            </a:r>
            <a:r>
              <a:rPr lang="en-US" sz="3600" dirty="0"/>
              <a:t> </a:t>
            </a:r>
            <a:r>
              <a:rPr lang="en-US" sz="3600" dirty="0" err="1"/>
              <a:t>vào</a:t>
            </a:r>
            <a:r>
              <a:rPr lang="en-US" sz="3600" dirty="0"/>
              <a:t> </a:t>
            </a:r>
            <a:r>
              <a:rPr lang="en-US" sz="3600" dirty="0" err="1"/>
              <a:t>ra</a:t>
            </a:r>
            <a:r>
              <a:rPr lang="en-US" sz="3600" dirty="0"/>
              <a:t> </a:t>
            </a:r>
            <a:r>
              <a:rPr lang="en-US" sz="3600" dirty="0" err="1"/>
              <a:t>chuyên</a:t>
            </a:r>
            <a:r>
              <a:rPr lang="en-US" sz="3600" dirty="0"/>
              <a:t> </a:t>
            </a:r>
            <a:r>
              <a:rPr lang="en-US" sz="3600" dirty="0" err="1"/>
              <a:t>dụng</a:t>
            </a:r>
            <a:r>
              <a:rPr lang="en-US" sz="3600" dirty="0"/>
              <a:t> (8088/8086)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775191"/>
            <a:ext cx="8229600" cy="2187209"/>
          </a:xfrm>
          <a:prstGeom prst="rect">
            <a:avLst/>
          </a:prstGeom>
        </p:spPr>
        <p:txBody>
          <a:bodyPr vert="horz" lIns="54864" tIns="91440" rtlCol="0">
            <a:noAutofit/>
          </a:bodyPr>
          <a:lstStyle/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Acc, Port	(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Đọc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dữ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liệu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từ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Cổng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vào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thanh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ghi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 Port, Acc 	(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Đưa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dữ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liệu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từ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thanh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ghi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Cổng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AL, DX		(DX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dùng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để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lưu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địa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chỉ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cổng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</a:p>
          <a:p>
            <a:pPr marL="438912" marR="0" lvl="0" indent="-3200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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 DX, AX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5200" y="5105400"/>
            <a:ext cx="2437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38912" lvl="0" indent="-320040">
              <a:buClr>
                <a:schemeClr val="accent1"/>
              </a:buClr>
              <a:buSzPct val="80000"/>
              <a:defRPr/>
            </a:pPr>
            <a:r>
              <a:rPr lang="en-GB" dirty="0"/>
              <a:t>AL (8 bit), AX (16 bit)</a:t>
            </a:r>
            <a:endParaRPr 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vi-VN" dirty="0"/>
              <a:t>JUMP (BRANCH) -</a:t>
            </a:r>
            <a:r>
              <a:rPr lang="en-US" dirty="0"/>
              <a:t> </a:t>
            </a:r>
            <a:r>
              <a:rPr lang="vi-VN" dirty="0"/>
              <a:t>Lệnh nhảy không điều kiện:</a:t>
            </a:r>
          </a:p>
          <a:p>
            <a:pPr lvl="1"/>
            <a:r>
              <a:rPr lang="vi-VN" dirty="0"/>
              <a:t>Nạp vào PC một địa chỉ xác định</a:t>
            </a:r>
          </a:p>
          <a:p>
            <a:r>
              <a:rPr lang="vi-VN" dirty="0"/>
              <a:t>JUMP CONDITIONAL -</a:t>
            </a:r>
            <a:r>
              <a:rPr lang="en-US" dirty="0"/>
              <a:t> </a:t>
            </a:r>
            <a:r>
              <a:rPr lang="vi-VN" dirty="0"/>
              <a:t>Lệnh nhảy có điều kiện:</a:t>
            </a:r>
          </a:p>
          <a:p>
            <a:pPr lvl="1"/>
            <a:r>
              <a:rPr lang="vi-VN" dirty="0"/>
              <a:t>Điều kiện đúng </a:t>
            </a:r>
            <a:r>
              <a:rPr lang="en-US" dirty="0"/>
              <a:t>-&gt;</a:t>
            </a:r>
            <a:r>
              <a:rPr lang="vi-VN" dirty="0"/>
              <a:t> nạp PC một địa chỉ xác định</a:t>
            </a:r>
          </a:p>
          <a:p>
            <a:pPr lvl="1"/>
            <a:r>
              <a:rPr lang="vi-VN" dirty="0"/>
              <a:t>Điều kiện sai </a:t>
            </a:r>
            <a:r>
              <a:rPr lang="en-US" dirty="0"/>
              <a:t>-&gt;</a:t>
            </a:r>
            <a:r>
              <a:rPr lang="vi-VN" dirty="0"/>
              <a:t> không làm gì</a:t>
            </a:r>
            <a:r>
              <a:rPr lang="en-US" dirty="0"/>
              <a:t> </a:t>
            </a:r>
            <a:r>
              <a:rPr lang="vi-VN" dirty="0"/>
              <a:t>cả</a:t>
            </a:r>
          </a:p>
          <a:p>
            <a:r>
              <a:rPr lang="vi-VN" dirty="0"/>
              <a:t>CALL -</a:t>
            </a:r>
            <a:r>
              <a:rPr lang="en-US" dirty="0"/>
              <a:t> </a:t>
            </a:r>
            <a:r>
              <a:rPr lang="vi-VN" dirty="0"/>
              <a:t>Lệnh gọi chương trình con:</a:t>
            </a:r>
          </a:p>
          <a:p>
            <a:pPr lvl="1"/>
            <a:r>
              <a:rPr lang="vi-VN" dirty="0"/>
              <a:t>Cất nội dung của PC (địa chỉ tr</a:t>
            </a:r>
            <a:r>
              <a:rPr lang="en-US" dirty="0"/>
              <a:t>ả</a:t>
            </a:r>
            <a:r>
              <a:rPr lang="vi-VN" dirty="0"/>
              <a:t> về) ra một vị trí xác định (thường ở Stack)</a:t>
            </a:r>
          </a:p>
          <a:p>
            <a:pPr lvl="1"/>
            <a:r>
              <a:rPr lang="vi-VN" dirty="0"/>
              <a:t>Nạp vào PC địa chỉ của lệnh đầu tiên của chương trình con</a:t>
            </a:r>
          </a:p>
          <a:p>
            <a:r>
              <a:rPr lang="vi-VN" dirty="0"/>
              <a:t>RETURN -</a:t>
            </a:r>
            <a:r>
              <a:rPr lang="en-US" dirty="0"/>
              <a:t> </a:t>
            </a:r>
            <a:r>
              <a:rPr lang="vi-VN" dirty="0"/>
              <a:t>Lệnh trở về từ chương trình con:</a:t>
            </a:r>
          </a:p>
          <a:p>
            <a:pPr lvl="1"/>
            <a:r>
              <a:rPr lang="vi-VN" dirty="0"/>
              <a:t>Khôi phục địa chỉ trở về trả lại cho PC để trở về chương trình chính</a:t>
            </a:r>
            <a:endParaRPr lang="en-US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rẽ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3733800" cy="4625609"/>
          </a:xfrm>
        </p:spPr>
        <p:txBody>
          <a:bodyPr/>
          <a:lstStyle/>
          <a:p>
            <a:r>
              <a:rPr lang="vi-VN" dirty="0"/>
              <a:t>Chuyển tới  thực hiện lệnh ở vị trí có địa chỉ XXX:</a:t>
            </a:r>
          </a:p>
          <a:p>
            <a:r>
              <a:rPr lang="vi-VN" dirty="0"/>
              <a:t>PC</a:t>
            </a:r>
            <a:r>
              <a:rPr lang="en-US" dirty="0"/>
              <a:t> &lt;-</a:t>
            </a:r>
            <a:r>
              <a:rPr lang="vi-VN" dirty="0"/>
              <a:t> XXX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752600"/>
            <a:ext cx="3295650" cy="4881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rẽ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5715000" cy="4625609"/>
          </a:xfrm>
        </p:spPr>
        <p:txBody>
          <a:bodyPr>
            <a:normAutofit fontScale="92500" lnSpcReduction="10000"/>
          </a:bodyPr>
          <a:lstStyle/>
          <a:p>
            <a:r>
              <a:rPr lang="vi-VN" dirty="0"/>
              <a:t>Trong lệnh có kèm theo điều kiện</a:t>
            </a:r>
          </a:p>
          <a:p>
            <a:r>
              <a:rPr lang="vi-VN" dirty="0"/>
              <a:t>Kiểm tra điều kiện trong lệnh:</a:t>
            </a:r>
          </a:p>
          <a:p>
            <a:pPr lvl="1"/>
            <a:r>
              <a:rPr lang="vi-VN" dirty="0"/>
              <a:t>Nếu điều kiện đúng </a:t>
            </a:r>
            <a:r>
              <a:rPr lang="en-US" dirty="0"/>
              <a:t>-&gt;</a:t>
            </a:r>
            <a:r>
              <a:rPr lang="vi-VN" dirty="0"/>
              <a:t> chuyển tới thực hiện lệnh ở vị</a:t>
            </a:r>
            <a:r>
              <a:rPr lang="en-US" dirty="0"/>
              <a:t> </a:t>
            </a:r>
            <a:r>
              <a:rPr lang="vi-VN" dirty="0"/>
              <a:t>trí có địa chỉ XXX</a:t>
            </a:r>
          </a:p>
          <a:p>
            <a:pPr lvl="2"/>
            <a:r>
              <a:rPr lang="vi-VN" dirty="0"/>
              <a:t>PC</a:t>
            </a:r>
            <a:r>
              <a:rPr lang="en-US" dirty="0"/>
              <a:t> &lt;-</a:t>
            </a:r>
            <a:r>
              <a:rPr lang="vi-VN" dirty="0"/>
              <a:t> XXX</a:t>
            </a:r>
          </a:p>
          <a:p>
            <a:pPr lvl="1"/>
            <a:r>
              <a:rPr lang="vi-VN" dirty="0"/>
              <a:t>Nếu điều  kiện  sai </a:t>
            </a:r>
            <a:r>
              <a:rPr lang="en-US" dirty="0"/>
              <a:t>-&gt;</a:t>
            </a:r>
            <a:r>
              <a:rPr lang="vi-VN" dirty="0"/>
              <a:t> chuyển  sang  thực hiện lệnh kế</a:t>
            </a:r>
            <a:r>
              <a:rPr lang="en-US" dirty="0"/>
              <a:t> </a:t>
            </a:r>
            <a:r>
              <a:rPr lang="vi-VN" dirty="0"/>
              <a:t>tiếp</a:t>
            </a:r>
          </a:p>
          <a:p>
            <a:r>
              <a:rPr lang="vi-VN" dirty="0"/>
              <a:t>Điều kiện thường được kiểm tra thông qua các cờ</a:t>
            </a:r>
          </a:p>
          <a:p>
            <a:r>
              <a:rPr lang="vi-VN" dirty="0"/>
              <a:t>Có nhiều lệnh rẽ nhánh có điều kiện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00200"/>
            <a:ext cx="30480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Lệnh</a:t>
            </a:r>
            <a:r>
              <a:rPr lang="en-US" dirty="0"/>
              <a:t> CALL </a:t>
            </a:r>
            <a:r>
              <a:rPr lang="en-US" dirty="0" err="1"/>
              <a:t>và</a:t>
            </a:r>
            <a:r>
              <a:rPr lang="en-US" dirty="0"/>
              <a:t> RETURN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775191"/>
            <a:ext cx="5562600" cy="4854209"/>
          </a:xfrm>
        </p:spPr>
        <p:txBody>
          <a:bodyPr>
            <a:normAutofit fontScale="85000" lnSpcReduction="20000"/>
          </a:bodyPr>
          <a:lstStyle/>
          <a:p>
            <a:r>
              <a:rPr lang="vi-VN" dirty="0"/>
              <a:t>Lệnh gọi chương trình con: lệnh CALL</a:t>
            </a:r>
          </a:p>
          <a:p>
            <a:pPr lvl="1"/>
            <a:r>
              <a:rPr lang="vi-VN" dirty="0"/>
              <a:t>Cất nội dung PC (chứa địa chỉ của lệnh kế tiếp) ra Stack</a:t>
            </a:r>
          </a:p>
          <a:p>
            <a:pPr lvl="1"/>
            <a:r>
              <a:rPr lang="vi-VN" dirty="0"/>
              <a:t>Nạp vào PC địa chỉ của lệnh đầu tiên của chương trình con được gọi</a:t>
            </a:r>
          </a:p>
          <a:p>
            <a:pPr lvl="1"/>
            <a:r>
              <a:rPr lang="en-US" dirty="0"/>
              <a:t>-&gt;</a:t>
            </a:r>
            <a:r>
              <a:rPr lang="vi-VN" dirty="0"/>
              <a:t>Bộ xử lý được chuyển sang thực hiện chương trình con tương ứng</a:t>
            </a:r>
          </a:p>
          <a:p>
            <a:r>
              <a:rPr lang="vi-VN" dirty="0"/>
              <a:t>Lệnh trở về từ chương trình con: lệnh RETURN</a:t>
            </a:r>
          </a:p>
          <a:p>
            <a:pPr lvl="1"/>
            <a:r>
              <a:rPr lang="vi-VN" dirty="0"/>
              <a:t>Lấy địa chỉ của lệnh kế tiếp được cất ở Stack nạp</a:t>
            </a:r>
            <a:r>
              <a:rPr lang="en-US" dirty="0"/>
              <a:t> </a:t>
            </a:r>
            <a:r>
              <a:rPr lang="vi-VN" dirty="0"/>
              <a:t>trả lại cho PC </a:t>
            </a:r>
            <a:r>
              <a:rPr lang="en-US" dirty="0"/>
              <a:t>-&gt;</a:t>
            </a:r>
            <a:r>
              <a:rPr lang="vi-VN" dirty="0"/>
              <a:t> Bộ xử lý được điều khiển quay trở</a:t>
            </a:r>
            <a:r>
              <a:rPr lang="en-US" dirty="0"/>
              <a:t> </a:t>
            </a:r>
            <a:r>
              <a:rPr lang="vi-VN" dirty="0"/>
              <a:t>về thực hiện tiếp lệnh nằm sau lệnh CALL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600200"/>
            <a:ext cx="3657600" cy="4946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vi-VN" sz="2400" dirty="0"/>
              <a:t>NO OPERATION</a:t>
            </a:r>
            <a:r>
              <a:rPr lang="en-US" sz="2400" dirty="0"/>
              <a:t>	</a:t>
            </a:r>
            <a:r>
              <a:rPr lang="vi-VN" sz="2400" dirty="0"/>
              <a:t>Không thực hiện gì</a:t>
            </a:r>
            <a:r>
              <a:rPr lang="en-US" sz="2400" dirty="0"/>
              <a:t> </a:t>
            </a:r>
            <a:r>
              <a:rPr lang="vi-VN" sz="2400" dirty="0"/>
              <a:t>cả</a:t>
            </a:r>
          </a:p>
          <a:p>
            <a:r>
              <a:rPr lang="vi-VN" sz="2400" dirty="0"/>
              <a:t>HALT </a:t>
            </a:r>
            <a:r>
              <a:rPr lang="en-US" sz="2400" dirty="0"/>
              <a:t>		</a:t>
            </a:r>
            <a:r>
              <a:rPr lang="vi-VN" sz="2400" dirty="0"/>
              <a:t>Dừng thực hiện chương trình</a:t>
            </a:r>
          </a:p>
          <a:p>
            <a:r>
              <a:rPr lang="vi-VN" sz="2400" dirty="0"/>
              <a:t>WAIT</a:t>
            </a:r>
            <a:r>
              <a:rPr lang="en-US" sz="2400" dirty="0"/>
              <a:t>		</a:t>
            </a:r>
            <a:r>
              <a:rPr lang="vi-VN" sz="2400" dirty="0"/>
              <a:t>Tạm dừng thực hiện chương </a:t>
            </a:r>
            <a:r>
              <a:rPr lang="en-US" sz="2400" dirty="0"/>
              <a:t>				</a:t>
            </a:r>
            <a:r>
              <a:rPr lang="vi-VN" sz="2400" dirty="0"/>
              <a:t>trình, lặp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vi-VN" sz="2400" dirty="0"/>
              <a:t>kiểm tra điều kiệ</a:t>
            </a:r>
            <a:r>
              <a:rPr lang="en-US" sz="2400" dirty="0"/>
              <a:t>n 			</a:t>
            </a:r>
            <a:r>
              <a:rPr lang="vi-VN" sz="2400" dirty="0"/>
              <a:t>cho đến khi thoả mãn thì tiếp tục </a:t>
            </a:r>
            <a:r>
              <a:rPr lang="en-US" sz="2400" dirty="0"/>
              <a:t>			t</a:t>
            </a:r>
            <a:r>
              <a:rPr lang="vi-VN" sz="2400" dirty="0"/>
              <a:t>hực hiện</a:t>
            </a:r>
          </a:p>
          <a:p>
            <a:r>
              <a:rPr lang="vi-VN" sz="2400" dirty="0"/>
              <a:t>LOCK</a:t>
            </a:r>
            <a:r>
              <a:rPr lang="en-US" sz="2400" dirty="0"/>
              <a:t>		</a:t>
            </a:r>
            <a:r>
              <a:rPr lang="vi-VN" sz="2400" dirty="0"/>
              <a:t>Cấm không cho xin chuyển </a:t>
            </a:r>
            <a:r>
              <a:rPr lang="en-US" sz="2400" dirty="0"/>
              <a:t>				</a:t>
            </a:r>
            <a:r>
              <a:rPr lang="vi-VN" sz="2400" dirty="0"/>
              <a:t>nhượng bus</a:t>
            </a:r>
          </a:p>
          <a:p>
            <a:r>
              <a:rPr lang="vi-VN" sz="2400" dirty="0"/>
              <a:t>UNLOCK</a:t>
            </a:r>
            <a:r>
              <a:rPr lang="en-US" sz="2400" dirty="0"/>
              <a:t>		</a:t>
            </a:r>
            <a:r>
              <a:rPr lang="vi-VN" sz="2400" dirty="0"/>
              <a:t>Cho phép xin chuyển nhượng bus</a:t>
            </a:r>
            <a:endParaRPr lang="en-US" sz="2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Khái niệm về định địa chỉ (addressing)</a:t>
            </a:r>
          </a:p>
          <a:p>
            <a:pPr lvl="1"/>
            <a:r>
              <a:rPr lang="vi-VN" dirty="0"/>
              <a:t>Toán hạng của lệnh có thể là:</a:t>
            </a:r>
          </a:p>
          <a:p>
            <a:pPr lvl="2"/>
            <a:r>
              <a:rPr lang="vi-VN" dirty="0"/>
              <a:t>Một giá trị cụ thể</a:t>
            </a:r>
          </a:p>
          <a:p>
            <a:pPr lvl="2"/>
            <a:r>
              <a:rPr lang="vi-VN" dirty="0"/>
              <a:t>Nội dung của thanh ghi</a:t>
            </a:r>
          </a:p>
          <a:p>
            <a:pPr lvl="2"/>
            <a:r>
              <a:rPr lang="vi-VN" dirty="0"/>
              <a:t>Nội dung của ngăn nhớ hoặc cổng vào-ra</a:t>
            </a:r>
          </a:p>
          <a:p>
            <a:r>
              <a:rPr lang="en-US" dirty="0"/>
              <a:t>P</a:t>
            </a:r>
            <a:r>
              <a:rPr lang="vi-VN" dirty="0"/>
              <a:t>hương pháp định địa chỉ là cách thức địa </a:t>
            </a:r>
            <a:r>
              <a:rPr lang="en-US" dirty="0"/>
              <a:t> </a:t>
            </a:r>
            <a:r>
              <a:rPr lang="vi-VN" dirty="0"/>
              <a:t>chỉ hoá trong trường địa chỉ của lệnh để</a:t>
            </a:r>
            <a:r>
              <a:rPr lang="en-US" dirty="0"/>
              <a:t> </a:t>
            </a:r>
            <a:r>
              <a:rPr lang="vi-VN" dirty="0"/>
              <a:t>xác định toán hạng.</a:t>
            </a:r>
            <a:endParaRPr 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phương</a:t>
            </a:r>
            <a:r>
              <a:rPr lang="en-US" sz="3200" dirty="0"/>
              <a:t> </a:t>
            </a:r>
            <a:r>
              <a:rPr lang="en-US" sz="3200" dirty="0" err="1"/>
              <a:t>pháp</a:t>
            </a:r>
            <a:r>
              <a:rPr lang="en-US" sz="3200" dirty="0"/>
              <a:t> </a:t>
            </a:r>
            <a:r>
              <a:rPr lang="en-US" sz="3200" dirty="0" err="1"/>
              <a:t>định</a:t>
            </a:r>
            <a:r>
              <a:rPr lang="en-US" sz="3200" dirty="0"/>
              <a:t> </a:t>
            </a:r>
            <a:r>
              <a:rPr lang="en-US" sz="3200" dirty="0" err="1"/>
              <a:t>địa</a:t>
            </a:r>
            <a:r>
              <a:rPr lang="en-US" sz="3200" dirty="0"/>
              <a:t> </a:t>
            </a:r>
            <a:r>
              <a:rPr lang="en-US" sz="3200" dirty="0" err="1"/>
              <a:t>chỉ</a:t>
            </a:r>
            <a:r>
              <a:rPr lang="en-US" sz="3200" dirty="0"/>
              <a:t> </a:t>
            </a:r>
            <a:r>
              <a:rPr lang="en-US" sz="3200" dirty="0" err="1"/>
              <a:t>thông</a:t>
            </a:r>
            <a:r>
              <a:rPr lang="en-US" sz="3200" dirty="0"/>
              <a:t> </a:t>
            </a:r>
            <a:r>
              <a:rPr lang="en-US" sz="3200" dirty="0" err="1"/>
              <a:t>dụng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vi-VN" dirty="0"/>
              <a:t>Định địa chỉ tức thì</a:t>
            </a:r>
          </a:p>
          <a:p>
            <a:r>
              <a:rPr lang="vi-VN" dirty="0"/>
              <a:t>Định địa chỉ thanh ghi</a:t>
            </a:r>
          </a:p>
          <a:p>
            <a:r>
              <a:rPr lang="vi-VN" dirty="0"/>
              <a:t>Định địa chỉ trực tiếp</a:t>
            </a:r>
          </a:p>
          <a:p>
            <a:r>
              <a:rPr lang="vi-VN" dirty="0"/>
              <a:t>Định địa chỉ gián tiếp qua thanh ghi</a:t>
            </a:r>
          </a:p>
          <a:p>
            <a:r>
              <a:rPr lang="vi-VN" dirty="0"/>
              <a:t>Định địa chỉ gián tiếp qua ngăn nhớ</a:t>
            </a:r>
          </a:p>
          <a:p>
            <a:r>
              <a:rPr lang="vi-VN" dirty="0"/>
              <a:t>Định địa chỉ dịch chuyển</a:t>
            </a:r>
            <a:endParaRPr lang="en-US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thì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8382000" cy="3254009"/>
          </a:xfrm>
        </p:spPr>
        <p:txBody>
          <a:bodyPr>
            <a:normAutofit fontScale="85000" lnSpcReduction="20000"/>
          </a:bodyPr>
          <a:lstStyle/>
          <a:p>
            <a:r>
              <a:rPr lang="vi-VN" dirty="0"/>
              <a:t>Toán hạng nằm ngay trong Trường địa chỉ của lệnh</a:t>
            </a:r>
          </a:p>
          <a:p>
            <a:r>
              <a:rPr lang="vi-VN" dirty="0"/>
              <a:t>Chỉ có thể là toán hạng nguồn</a:t>
            </a:r>
          </a:p>
          <a:p>
            <a:r>
              <a:rPr lang="vi-VN" u="sng" dirty="0"/>
              <a:t>Ví</a:t>
            </a:r>
            <a:r>
              <a:rPr lang="en-US" u="sng" dirty="0"/>
              <a:t> </a:t>
            </a:r>
            <a:r>
              <a:rPr lang="vi-VN" u="sng" dirty="0"/>
              <a:t>dụ:</a:t>
            </a:r>
          </a:p>
          <a:p>
            <a:pPr lvl="2"/>
            <a:r>
              <a:rPr lang="vi-VN" dirty="0"/>
              <a:t>ADD    R1,5    ; R1</a:t>
            </a:r>
            <a:r>
              <a:rPr lang="en-US" dirty="0"/>
              <a:t>&lt;-</a:t>
            </a:r>
            <a:r>
              <a:rPr lang="vi-VN" dirty="0"/>
              <a:t> R1+5</a:t>
            </a:r>
          </a:p>
          <a:p>
            <a:r>
              <a:rPr lang="vi-VN" dirty="0"/>
              <a:t>Không tham chiếu bộ nhớ</a:t>
            </a:r>
          </a:p>
          <a:p>
            <a:r>
              <a:rPr lang="vi-VN" dirty="0"/>
              <a:t>Truy nhập toán hạng rất nhanh</a:t>
            </a:r>
          </a:p>
          <a:p>
            <a:r>
              <a:rPr lang="vi-VN" dirty="0"/>
              <a:t>Dải giá trị của toán hạng bị hạn chế</a:t>
            </a:r>
          </a:p>
          <a:p>
            <a:r>
              <a:rPr lang="vi-VN" dirty="0"/>
              <a:t>Sơ đồ định địa chỉ tức thì: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5181600"/>
            <a:ext cx="6929886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775191"/>
            <a:ext cx="4191000" cy="4625609"/>
          </a:xfrm>
        </p:spPr>
        <p:txBody>
          <a:bodyPr>
            <a:normAutofit fontScale="77500" lnSpcReduction="20000"/>
          </a:bodyPr>
          <a:lstStyle/>
          <a:p>
            <a:r>
              <a:rPr lang="vi-VN" dirty="0"/>
              <a:t>Toán hạng được chứa trong thanh ghi có tên trong Trường địa chỉ của lệnh</a:t>
            </a:r>
          </a:p>
          <a:p>
            <a:r>
              <a:rPr lang="vi-VN" dirty="0"/>
              <a:t>Vídụ:</a:t>
            </a:r>
          </a:p>
          <a:p>
            <a:pPr lvl="2"/>
            <a:r>
              <a:rPr lang="vi-VN" dirty="0"/>
              <a:t>ADD  R1, R2 ; R1</a:t>
            </a:r>
            <a:r>
              <a:rPr lang="en-US" dirty="0"/>
              <a:t>&lt;-</a:t>
            </a:r>
            <a:r>
              <a:rPr lang="vi-VN" dirty="0"/>
              <a:t> R1+R2</a:t>
            </a:r>
          </a:p>
          <a:p>
            <a:r>
              <a:rPr lang="vi-VN" dirty="0"/>
              <a:t>Số lượng thanh ghi ít </a:t>
            </a:r>
            <a:r>
              <a:rPr lang="en-US" dirty="0"/>
              <a:t>-&gt;</a:t>
            </a:r>
            <a:r>
              <a:rPr lang="vi-VN" dirty="0"/>
              <a:t> Trường địa chỉ chỉ cần ít bit</a:t>
            </a:r>
          </a:p>
          <a:p>
            <a:r>
              <a:rPr lang="vi-VN" dirty="0"/>
              <a:t>Không tham chiếu bộ nhớ</a:t>
            </a:r>
          </a:p>
          <a:p>
            <a:r>
              <a:rPr lang="vi-VN" dirty="0"/>
              <a:t>Truy nhập toán hạng nhanh</a:t>
            </a:r>
          </a:p>
          <a:p>
            <a:r>
              <a:rPr lang="vi-VN" dirty="0">
                <a:solidFill>
                  <a:srgbClr val="FF0000"/>
                </a:solidFill>
              </a:rPr>
              <a:t>Tăng số lượng thanh ghi </a:t>
            </a:r>
            <a:r>
              <a:rPr lang="en-US" dirty="0">
                <a:solidFill>
                  <a:srgbClr val="FF0000"/>
                </a:solidFill>
              </a:rPr>
              <a:t>-&gt; </a:t>
            </a:r>
            <a:r>
              <a:rPr lang="vi-VN" dirty="0">
                <a:solidFill>
                  <a:srgbClr val="FF0000"/>
                </a:solidFill>
              </a:rPr>
              <a:t>hiệu quả hơn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2057400"/>
            <a:ext cx="4343400" cy="441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75191"/>
            <a:ext cx="4343400" cy="4625609"/>
          </a:xfrm>
        </p:spPr>
        <p:txBody>
          <a:bodyPr>
            <a:normAutofit fontScale="85000" lnSpcReduction="20000"/>
          </a:bodyPr>
          <a:lstStyle/>
          <a:p>
            <a:r>
              <a:rPr lang="vi-VN" dirty="0"/>
              <a:t>Toán hạng là ngăn nhớ có địa chỉ được chỉ</a:t>
            </a:r>
            <a:r>
              <a:rPr lang="en-US" dirty="0"/>
              <a:t> </a:t>
            </a:r>
            <a:r>
              <a:rPr lang="vi-VN" dirty="0"/>
              <a:t>ra trực tiếp trong Trường địa chỉ của lệnh </a:t>
            </a:r>
          </a:p>
          <a:p>
            <a:r>
              <a:rPr lang="vi-VN" dirty="0"/>
              <a:t>Ví</a:t>
            </a:r>
            <a:r>
              <a:rPr lang="en-US" dirty="0"/>
              <a:t> </a:t>
            </a:r>
            <a:r>
              <a:rPr lang="vi-VN" dirty="0"/>
              <a:t>dụ: ADD R1, A ; </a:t>
            </a:r>
            <a:r>
              <a:rPr lang="en-US" dirty="0"/>
              <a:t>	</a:t>
            </a:r>
            <a:r>
              <a:rPr lang="vi-VN" dirty="0"/>
              <a:t>R1</a:t>
            </a:r>
            <a:r>
              <a:rPr lang="en-US" dirty="0"/>
              <a:t>&lt;-</a:t>
            </a:r>
            <a:r>
              <a:rPr lang="vi-VN" dirty="0"/>
              <a:t> R1+(A)</a:t>
            </a:r>
          </a:p>
          <a:p>
            <a:pPr lvl="1"/>
            <a:r>
              <a:rPr lang="vi-VN" dirty="0"/>
              <a:t>Cộng nội dung  thanh  ghi  R1 với nội dung của ngăn nhớ có địa chỉ là</a:t>
            </a:r>
            <a:r>
              <a:rPr lang="en-US" dirty="0"/>
              <a:t> </a:t>
            </a:r>
            <a:r>
              <a:rPr lang="vi-VN" dirty="0"/>
              <a:t>A</a:t>
            </a:r>
          </a:p>
          <a:p>
            <a:pPr lvl="1"/>
            <a:r>
              <a:rPr lang="vi-VN" dirty="0"/>
              <a:t>Tìm toán hạng trong bộ nhớ</a:t>
            </a:r>
            <a:r>
              <a:rPr lang="en-US" dirty="0"/>
              <a:t> </a:t>
            </a:r>
            <a:r>
              <a:rPr lang="vi-VN" dirty="0"/>
              <a:t>ở địa chỉ A</a:t>
            </a:r>
          </a:p>
          <a:p>
            <a:r>
              <a:rPr lang="vi-VN" dirty="0"/>
              <a:t>CPU tham chiếu bộ nhớ một lần để truy </a:t>
            </a:r>
            <a:r>
              <a:rPr lang="en-US" dirty="0"/>
              <a:t> </a:t>
            </a:r>
            <a:r>
              <a:rPr lang="vi-VN" dirty="0"/>
              <a:t>nhập dữ liệu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199" y="1828800"/>
            <a:ext cx="4495801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28600" y="609600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ADD AL, [100H]   ; </a:t>
            </a:r>
            <a:r>
              <a:rPr lang="en-US" i="1" dirty="0" err="1"/>
              <a:t>Cộng</a:t>
            </a:r>
            <a:r>
              <a:rPr lang="en-US" i="1" dirty="0"/>
              <a:t> </a:t>
            </a:r>
            <a:r>
              <a:rPr lang="en-GB" i="1" dirty="0" err="1"/>
              <a:t>nội</a:t>
            </a:r>
            <a:r>
              <a:rPr lang="en-GB" i="1" dirty="0"/>
              <a:t> dung ô </a:t>
            </a:r>
            <a:r>
              <a:rPr lang="en-GB" i="1" dirty="0" err="1"/>
              <a:t>nhớ</a:t>
            </a:r>
            <a:r>
              <a:rPr lang="en-GB" i="1" dirty="0"/>
              <a:t> </a:t>
            </a:r>
            <a:r>
              <a:rPr lang="en-GB" i="1" dirty="0" err="1"/>
              <a:t>có</a:t>
            </a:r>
            <a:r>
              <a:rPr lang="en-GB" i="1" dirty="0"/>
              <a:t> </a:t>
            </a:r>
            <a:r>
              <a:rPr lang="en-GB" i="1" dirty="0" err="1"/>
              <a:t>địa</a:t>
            </a:r>
            <a:r>
              <a:rPr lang="en-GB" i="1" dirty="0"/>
              <a:t> </a:t>
            </a:r>
            <a:r>
              <a:rPr lang="en-GB" i="1" dirty="0" err="1"/>
              <a:t>chỉ</a:t>
            </a:r>
            <a:r>
              <a:rPr lang="en-GB" i="1" dirty="0"/>
              <a:t> DS:100H </a:t>
            </a:r>
            <a:r>
              <a:rPr lang="en-GB" i="1" dirty="0" err="1"/>
              <a:t>với</a:t>
            </a:r>
            <a:r>
              <a:rPr lang="en-GB" i="1" dirty="0"/>
              <a:t> AL</a:t>
            </a:r>
            <a:endParaRPr lang="en-US" dirty="0"/>
          </a:p>
          <a:p>
            <a:r>
              <a:rPr lang="en-US" dirty="0"/>
              <a:t>MOV MEM1, AL	;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của</a:t>
            </a:r>
            <a:r>
              <a:rPr lang="en-US" dirty="0"/>
              <a:t> AL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nhãn</a:t>
            </a:r>
            <a:r>
              <a:rPr lang="en-US" dirty="0"/>
              <a:t> MEM1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gián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qua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775191"/>
            <a:ext cx="4724400" cy="4930409"/>
          </a:xfrm>
        </p:spPr>
        <p:txBody>
          <a:bodyPr>
            <a:noAutofit/>
          </a:bodyPr>
          <a:lstStyle/>
          <a:p>
            <a:r>
              <a:rPr lang="vi-VN" sz="2400" dirty="0"/>
              <a:t>Toán hạng là ngăn nhớ có địa chỉ nằm </a:t>
            </a:r>
            <a:r>
              <a:rPr lang="en-US" sz="2400" dirty="0"/>
              <a:t>t</a:t>
            </a:r>
            <a:r>
              <a:rPr lang="vi-VN" sz="2400" dirty="0"/>
              <a:t>rong thanh ghi</a:t>
            </a:r>
          </a:p>
          <a:p>
            <a:r>
              <a:rPr lang="vi-VN" sz="2400" dirty="0"/>
              <a:t>Trường địa chỉ của lệnh cho biết tên thanh ghi đó</a:t>
            </a:r>
          </a:p>
          <a:p>
            <a:r>
              <a:rPr lang="vi-VN" sz="2400" i="1" dirty="0"/>
              <a:t>Thanh ghi có thể là ngầm định</a:t>
            </a:r>
          </a:p>
          <a:p>
            <a:r>
              <a:rPr lang="vi-VN" sz="2400" dirty="0"/>
              <a:t>Thanh ghi này được gọi là thanh ghi con trỏ</a:t>
            </a:r>
            <a:endParaRPr lang="en-US" sz="2400" dirty="0"/>
          </a:p>
          <a:p>
            <a:r>
              <a:rPr lang="vi-VN" sz="2400" dirty="0"/>
              <a:t>Vùng nhớ có thể được tham chiếu </a:t>
            </a:r>
            <a:r>
              <a:rPr lang="en-US" sz="2400" dirty="0" err="1"/>
              <a:t>khá</a:t>
            </a:r>
            <a:r>
              <a:rPr lang="en-US" sz="2400" dirty="0"/>
              <a:t> </a:t>
            </a:r>
            <a:r>
              <a:rPr lang="vi-VN" sz="2400" dirty="0"/>
              <a:t>lớn (2</a:t>
            </a:r>
            <a:r>
              <a:rPr lang="vi-VN" sz="2400" baseline="30000" dirty="0"/>
              <a:t>n</a:t>
            </a:r>
            <a:r>
              <a:rPr lang="vi-VN" sz="2400" dirty="0"/>
              <a:t>), (với n là độ dài của thanh ghi)</a:t>
            </a:r>
            <a:endParaRPr lang="en-US" sz="2400" dirty="0"/>
          </a:p>
          <a:p>
            <a:r>
              <a:rPr lang="en-US" sz="2400" dirty="0"/>
              <a:t>VD: </a:t>
            </a:r>
            <a:r>
              <a:rPr lang="en-GB" sz="2400" dirty="0"/>
              <a:t>MOV AL, [BX]; </a:t>
            </a:r>
            <a:r>
              <a:rPr lang="en-GB" sz="1800" i="1" dirty="0" err="1"/>
              <a:t>Chuyển</a:t>
            </a:r>
            <a:r>
              <a:rPr lang="en-GB" sz="1800" i="1" dirty="0"/>
              <a:t> </a:t>
            </a:r>
            <a:r>
              <a:rPr lang="en-GB" sz="1800" i="1" dirty="0" err="1"/>
              <a:t>nội</a:t>
            </a:r>
            <a:r>
              <a:rPr lang="en-GB" sz="1800" i="1" dirty="0"/>
              <a:t> dung ô </a:t>
            </a:r>
            <a:r>
              <a:rPr lang="en-GB" sz="1800" i="1" dirty="0" err="1"/>
              <a:t>nhớ</a:t>
            </a:r>
            <a:r>
              <a:rPr lang="en-GB" sz="1800" i="1" dirty="0"/>
              <a:t> </a:t>
            </a:r>
            <a:r>
              <a:rPr lang="en-GB" sz="1800" i="1" dirty="0" err="1"/>
              <a:t>có</a:t>
            </a:r>
            <a:r>
              <a:rPr lang="en-GB" sz="1800" i="1" dirty="0"/>
              <a:t> </a:t>
            </a:r>
            <a:r>
              <a:rPr lang="en-GB" sz="1800" i="1" dirty="0" err="1"/>
              <a:t>địa</a:t>
            </a:r>
            <a:r>
              <a:rPr lang="en-GB" sz="1800" i="1" dirty="0"/>
              <a:t> </a:t>
            </a:r>
            <a:r>
              <a:rPr lang="en-GB" sz="1800" i="1" dirty="0" err="1"/>
              <a:t>chỉ</a:t>
            </a:r>
            <a:r>
              <a:rPr lang="en-GB" sz="1800" i="1" dirty="0"/>
              <a:t> DS:BX </a:t>
            </a:r>
            <a:r>
              <a:rPr lang="en-GB" sz="1800" i="1" dirty="0" err="1"/>
              <a:t>vào</a:t>
            </a:r>
            <a:r>
              <a:rPr lang="en-GB" sz="1800" i="1" dirty="0"/>
              <a:t> AL</a:t>
            </a:r>
            <a:endParaRPr lang="en-US" sz="2400" i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905000"/>
            <a:ext cx="4495800" cy="446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Định</a:t>
            </a:r>
            <a:r>
              <a:rPr lang="en-US" sz="3600" dirty="0"/>
              <a:t> </a:t>
            </a:r>
            <a:r>
              <a:rPr lang="en-US" sz="3600" dirty="0" err="1"/>
              <a:t>địa</a:t>
            </a:r>
            <a:r>
              <a:rPr lang="en-US" sz="3600" dirty="0"/>
              <a:t> </a:t>
            </a:r>
            <a:r>
              <a:rPr lang="en-US" sz="3600" dirty="0" err="1"/>
              <a:t>chỉ</a:t>
            </a:r>
            <a:r>
              <a:rPr lang="en-US" sz="3600" dirty="0"/>
              <a:t> </a:t>
            </a:r>
            <a:r>
              <a:rPr lang="en-US" sz="3600" dirty="0" err="1"/>
              <a:t>gián</a:t>
            </a:r>
            <a:r>
              <a:rPr lang="en-US" sz="3600" dirty="0"/>
              <a:t> </a:t>
            </a:r>
            <a:r>
              <a:rPr lang="en-US" sz="3600" dirty="0" err="1"/>
              <a:t>tiếp</a:t>
            </a:r>
            <a:r>
              <a:rPr lang="en-US" sz="3600" dirty="0"/>
              <a:t> qua </a:t>
            </a:r>
            <a:r>
              <a:rPr lang="en-US" sz="3600" dirty="0" err="1"/>
              <a:t>ngăn</a:t>
            </a:r>
            <a:r>
              <a:rPr lang="en-US" sz="3600" dirty="0"/>
              <a:t> </a:t>
            </a:r>
            <a:r>
              <a:rPr lang="en-US" sz="3600" dirty="0" err="1"/>
              <a:t>nhớ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775191"/>
            <a:ext cx="5181600" cy="4244609"/>
          </a:xfrm>
        </p:spPr>
        <p:txBody>
          <a:bodyPr>
            <a:normAutofit fontScale="85000" lnSpcReduction="10000"/>
          </a:bodyPr>
          <a:lstStyle/>
          <a:p>
            <a:r>
              <a:rPr lang="vi-VN" dirty="0"/>
              <a:t>Ngăn nhớ được trỏ bởi Trường địa chỉ của lệnh chứa địa chỉ của toán hạng</a:t>
            </a:r>
          </a:p>
          <a:p>
            <a:r>
              <a:rPr lang="vi-VN" dirty="0"/>
              <a:t>Có thể gián tiếp nhiều lần</a:t>
            </a:r>
          </a:p>
          <a:p>
            <a:r>
              <a:rPr lang="vi-VN" dirty="0"/>
              <a:t>Giống như khái niệm biến con trỏ và biến động trong lập trình</a:t>
            </a:r>
          </a:p>
          <a:p>
            <a:r>
              <a:rPr lang="vi-VN" dirty="0"/>
              <a:t>CPU phải thực hiện tham chiếu bộ nhớ</a:t>
            </a:r>
            <a:r>
              <a:rPr lang="en-US" dirty="0"/>
              <a:t> </a:t>
            </a:r>
            <a:r>
              <a:rPr lang="vi-VN" dirty="0"/>
              <a:t>nhiều lần để tìm toán hạng </a:t>
            </a:r>
            <a:r>
              <a:rPr lang="en-US" dirty="0"/>
              <a:t>-&gt;</a:t>
            </a:r>
            <a:r>
              <a:rPr lang="vi-VN" dirty="0"/>
              <a:t> chậm</a:t>
            </a:r>
          </a:p>
          <a:p>
            <a:r>
              <a:rPr lang="vi-VN" dirty="0"/>
              <a:t>Vùng nhớ có thể được tham chiếu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vi-VN" dirty="0"/>
              <a:t>lớn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1892300"/>
            <a:ext cx="4038600" cy="450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chuyển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76401"/>
            <a:ext cx="8229600" cy="2133600"/>
          </a:xfrm>
        </p:spPr>
        <p:txBody>
          <a:bodyPr>
            <a:normAutofit fontScale="77500" lnSpcReduction="20000"/>
          </a:bodyPr>
          <a:lstStyle/>
          <a:p>
            <a:r>
              <a:rPr lang="vi-VN" dirty="0"/>
              <a:t>Để xác định toán hạng</a:t>
            </a:r>
            <a:r>
              <a:rPr lang="en-US" dirty="0"/>
              <a:t>,</a:t>
            </a:r>
            <a:r>
              <a:rPr lang="vi-VN" dirty="0"/>
              <a:t> Trường địa chỉ của lệnh chứa hai thành phần:</a:t>
            </a:r>
          </a:p>
          <a:p>
            <a:pPr lvl="1"/>
            <a:r>
              <a:rPr lang="vi-VN" dirty="0"/>
              <a:t>Tên thanh ghi</a:t>
            </a:r>
          </a:p>
          <a:p>
            <a:pPr lvl="1"/>
            <a:r>
              <a:rPr lang="vi-VN" dirty="0"/>
              <a:t>Hằng số</a:t>
            </a:r>
          </a:p>
          <a:p>
            <a:r>
              <a:rPr lang="vi-VN" dirty="0"/>
              <a:t>Địa chỉ của toán hạng = nội dung thanh ghi </a:t>
            </a:r>
            <a:r>
              <a:rPr lang="en-US" dirty="0"/>
              <a:t>+ </a:t>
            </a:r>
            <a:r>
              <a:rPr lang="vi-VN" dirty="0"/>
              <a:t>hằng số</a:t>
            </a:r>
          </a:p>
          <a:p>
            <a:r>
              <a:rPr lang="vi-VN" dirty="0"/>
              <a:t>Thanh ghi có thể được ngầm định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3657600"/>
            <a:ext cx="44196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28600" y="5858470"/>
            <a:ext cx="541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dirty="0"/>
              <a:t>//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AND BP </a:t>
            </a:r>
            <a:r>
              <a:rPr lang="en-US" dirty="0" err="1"/>
              <a:t>với</a:t>
            </a:r>
            <a:r>
              <a:rPr lang="en-US" dirty="0"/>
              <a:t> ô </a:t>
            </a:r>
            <a:r>
              <a:rPr lang="en-US" dirty="0" err="1"/>
              <a:t>nhớ</a:t>
            </a:r>
            <a:r>
              <a:rPr lang="en-US" dirty="0"/>
              <a:t> DS:BX+DI.</a:t>
            </a:r>
          </a:p>
          <a:p>
            <a:pPr marL="0" lvl="2">
              <a:buNone/>
            </a:pPr>
            <a:r>
              <a:rPr lang="en-US" dirty="0"/>
              <a:t>TEST BP, [BX][DI]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8650" y="1752600"/>
            <a:ext cx="78867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Intel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4-bit: 4004</a:t>
            </a:r>
          </a:p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8-bit: 8008, 8080, 8085</a:t>
            </a:r>
          </a:p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16-bit: 8086/8088, 80186, 80286</a:t>
            </a:r>
          </a:p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32-bit:</a:t>
            </a:r>
          </a:p>
          <a:p>
            <a:pPr lvl="1"/>
            <a:r>
              <a:rPr lang="en-US" dirty="0"/>
              <a:t>80386, 80486,</a:t>
            </a:r>
          </a:p>
          <a:p>
            <a:pPr lvl="1"/>
            <a:r>
              <a:rPr lang="en-US" dirty="0"/>
              <a:t>Pentium, Pentium II</a:t>
            </a:r>
          </a:p>
          <a:p>
            <a:pPr lvl="1"/>
            <a:r>
              <a:rPr lang="en-US" dirty="0"/>
              <a:t>Celeron, Pentium III,</a:t>
            </a:r>
          </a:p>
          <a:p>
            <a:pPr lvl="1"/>
            <a:r>
              <a:rPr lang="en-US" dirty="0"/>
              <a:t>Pentium IV</a:t>
            </a:r>
          </a:p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64-bit: Itanium</a:t>
            </a:r>
          </a:p>
          <a:p>
            <a:r>
              <a:rPr lang="en-US" dirty="0"/>
              <a:t>128 bit?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16-bit (IA-16)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vi-VN" dirty="0"/>
              <a:t>Các thanh ghi bên trong: 16-bit</a:t>
            </a:r>
          </a:p>
          <a:p>
            <a:r>
              <a:rPr lang="vi-VN" dirty="0"/>
              <a:t>Xử lý các phép toán số nguyên với 16-bit</a:t>
            </a:r>
          </a:p>
          <a:p>
            <a:r>
              <a:rPr lang="vi-VN" dirty="0"/>
              <a:t>Quản lý bộ nhớ theo đoạn 64 Kbytes</a:t>
            </a:r>
          </a:p>
          <a:p>
            <a:r>
              <a:rPr lang="vi-VN" dirty="0"/>
              <a:t>Mở đầu cho dòng máy tính IBM-PC</a:t>
            </a:r>
            <a:endParaRPr lang="en-US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32-bit (IA-32)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dirty="0"/>
              <a:t>Các thanh ghi bên trong: 32 bit</a:t>
            </a:r>
          </a:p>
          <a:p>
            <a:r>
              <a:rPr lang="vi-VN" dirty="0"/>
              <a:t>Xử lý các phép toán số nguyên với 32-bit</a:t>
            </a:r>
          </a:p>
          <a:p>
            <a:r>
              <a:rPr lang="vi-VN" dirty="0"/>
              <a:t>Có 3 chế độ làm việc</a:t>
            </a:r>
          </a:p>
          <a:p>
            <a:pPr lvl="1"/>
            <a:r>
              <a:rPr lang="vi-VN" dirty="0"/>
              <a:t>Chế độ 8086 thực (</a:t>
            </a:r>
            <a:r>
              <a:rPr lang="en-US" dirty="0"/>
              <a:t>R</a:t>
            </a:r>
            <a:r>
              <a:rPr lang="vi-VN" dirty="0"/>
              <a:t>eal 8086 mode): làm việc như một bộ xử lý 8086</a:t>
            </a:r>
          </a:p>
          <a:p>
            <a:pPr lvl="1"/>
            <a:r>
              <a:rPr lang="vi-VN" dirty="0"/>
              <a:t>Chế độ 8086 ảo (Virtual 8086 mode): làm việc như nhiều bộ xử lý 8086 (đa nhiệm 16-bit)</a:t>
            </a:r>
          </a:p>
          <a:p>
            <a:pPr lvl="1"/>
            <a:r>
              <a:rPr lang="vi-VN" dirty="0"/>
              <a:t>Chế độ bảo vệ (Protected mode)</a:t>
            </a:r>
          </a:p>
          <a:p>
            <a:pPr lvl="2"/>
            <a:r>
              <a:rPr lang="vi-VN" dirty="0"/>
              <a:t>Đa nhiệm 32-bit</a:t>
            </a:r>
          </a:p>
          <a:p>
            <a:pPr lvl="2"/>
            <a:r>
              <a:rPr lang="vi-VN" dirty="0"/>
              <a:t>Quản lý bộ nhớ</a:t>
            </a:r>
            <a:r>
              <a:rPr lang="en-US" dirty="0"/>
              <a:t> </a:t>
            </a:r>
            <a:r>
              <a:rPr lang="vi-VN" dirty="0"/>
              <a:t>ảo</a:t>
            </a:r>
          </a:p>
          <a:p>
            <a:r>
              <a:rPr lang="vi-VN" dirty="0"/>
              <a:t>Xử lý các phép toán số dấu chấm động (từ</a:t>
            </a:r>
            <a:r>
              <a:rPr lang="en-US" dirty="0"/>
              <a:t> </a:t>
            </a:r>
            <a:r>
              <a:rPr lang="vi-VN" dirty="0"/>
              <a:t>80486)</a:t>
            </a:r>
            <a:endParaRPr lang="en-US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64-bit (IA-64)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Các thanh ghi bên trong: 64 bit</a:t>
            </a:r>
          </a:p>
          <a:p>
            <a:r>
              <a:rPr lang="vi-VN" dirty="0"/>
              <a:t>Xử lý các phép toán số nguyên với 64-bit</a:t>
            </a:r>
          </a:p>
          <a:p>
            <a:r>
              <a:rPr lang="vi-VN" dirty="0"/>
              <a:t>Xử lý các phép toán số dấu chấm động</a:t>
            </a:r>
          </a:p>
          <a:p>
            <a:r>
              <a:rPr lang="vi-VN" dirty="0"/>
              <a:t>Không tương thích phần cứng với các bộ xử lý trước đó</a:t>
            </a:r>
          </a:p>
          <a:p>
            <a:r>
              <a:rPr lang="vi-VN" dirty="0"/>
              <a:t>Tương thích phần mềm bằng cách giả lập môi trường</a:t>
            </a:r>
            <a:endParaRPr lang="en-US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Cấu</a:t>
            </a:r>
            <a:r>
              <a:rPr lang="en-US" sz="3200" dirty="0"/>
              <a:t> </a:t>
            </a:r>
            <a:r>
              <a:rPr lang="en-US" sz="3200" dirty="0" err="1"/>
              <a:t>trúc</a:t>
            </a:r>
            <a:r>
              <a:rPr lang="en-US" sz="3200" dirty="0"/>
              <a:t> </a:t>
            </a:r>
            <a:r>
              <a:rPr lang="en-US" sz="3200" dirty="0" err="1"/>
              <a:t>chung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bộ</a:t>
            </a:r>
            <a:r>
              <a:rPr lang="en-US" sz="3200" dirty="0"/>
              <a:t> </a:t>
            </a:r>
            <a:r>
              <a:rPr lang="en-US" sz="3200" dirty="0" err="1"/>
              <a:t>xử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tiên</a:t>
            </a:r>
            <a:r>
              <a:rPr lang="en-US" sz="3200" dirty="0"/>
              <a:t> </a:t>
            </a:r>
            <a:r>
              <a:rPr lang="en-US" sz="3200" dirty="0" err="1"/>
              <a:t>tiến</a:t>
            </a:r>
            <a:endParaRPr lang="en-US" sz="3200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1663700"/>
            <a:ext cx="8793131" cy="496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Cấu</a:t>
            </a:r>
            <a:r>
              <a:rPr lang="en-US" sz="3200" dirty="0"/>
              <a:t> </a:t>
            </a:r>
            <a:r>
              <a:rPr lang="en-US" sz="3200" dirty="0" err="1"/>
              <a:t>trúc</a:t>
            </a:r>
            <a:r>
              <a:rPr lang="en-US" sz="3200" dirty="0"/>
              <a:t> </a:t>
            </a:r>
            <a:r>
              <a:rPr lang="en-US" sz="3200" dirty="0" err="1"/>
              <a:t>chung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bộ</a:t>
            </a:r>
            <a:r>
              <a:rPr lang="en-US" sz="3200" dirty="0"/>
              <a:t> </a:t>
            </a:r>
            <a:r>
              <a:rPr lang="en-US" sz="3200" dirty="0" err="1"/>
              <a:t>xử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tiên</a:t>
            </a:r>
            <a:r>
              <a:rPr lang="en-US" sz="3200" dirty="0"/>
              <a:t> </a:t>
            </a:r>
            <a:r>
              <a:rPr lang="en-US" sz="3200" dirty="0" err="1"/>
              <a:t>tiến</a:t>
            </a:r>
            <a:r>
              <a:rPr lang="en-US" sz="3200" dirty="0"/>
              <a:t> (</a:t>
            </a:r>
            <a:r>
              <a:rPr lang="en-US" sz="3200" dirty="0" err="1"/>
              <a:t>tt</a:t>
            </a:r>
            <a:r>
              <a:rPr lang="en-US" sz="32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vi-VN" dirty="0"/>
              <a:t>Các đơn vị xử lý dữ liệu</a:t>
            </a:r>
          </a:p>
          <a:p>
            <a:pPr lvl="1"/>
            <a:r>
              <a:rPr lang="vi-VN" dirty="0"/>
              <a:t>Các đơn vị số nguyên (IU: Integer Unit)</a:t>
            </a:r>
          </a:p>
          <a:p>
            <a:pPr lvl="1"/>
            <a:r>
              <a:rPr lang="vi-VN" dirty="0"/>
              <a:t>Các đơn vị số dấu chấm động (FPU: Floating Point</a:t>
            </a:r>
            <a:r>
              <a:rPr lang="en-US" dirty="0"/>
              <a:t> </a:t>
            </a:r>
            <a:r>
              <a:rPr lang="vi-VN" dirty="0"/>
              <a:t>Unit)</a:t>
            </a:r>
          </a:p>
          <a:p>
            <a:pPr lvl="1"/>
            <a:r>
              <a:rPr lang="vi-VN" dirty="0"/>
              <a:t>Các đơn vị có chức năng đặc biệt (SFU: Special Function Unit)</a:t>
            </a:r>
          </a:p>
          <a:p>
            <a:pPr lvl="2"/>
            <a:r>
              <a:rPr lang="vi-VN" dirty="0"/>
              <a:t>Xử lý âm thanh, tiếng nói.</a:t>
            </a:r>
            <a:endParaRPr lang="en-US" dirty="0"/>
          </a:p>
          <a:p>
            <a:pPr lvl="2"/>
            <a:r>
              <a:rPr lang="vi-VN" dirty="0"/>
              <a:t>Hình ảnh, vector</a:t>
            </a:r>
            <a:endParaRPr lang="en-US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Cấu</a:t>
            </a:r>
            <a:r>
              <a:rPr lang="en-US" sz="3200" dirty="0"/>
              <a:t> </a:t>
            </a:r>
            <a:r>
              <a:rPr lang="en-US" sz="3200" dirty="0" err="1"/>
              <a:t>trúc</a:t>
            </a:r>
            <a:r>
              <a:rPr lang="en-US" sz="3200" dirty="0"/>
              <a:t> </a:t>
            </a:r>
            <a:r>
              <a:rPr lang="en-US" sz="3200" dirty="0" err="1"/>
              <a:t>chung</a:t>
            </a:r>
            <a:r>
              <a:rPr lang="en-US" sz="3200" dirty="0"/>
              <a:t>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bộ</a:t>
            </a:r>
            <a:r>
              <a:rPr lang="en-US" sz="3200" dirty="0"/>
              <a:t> </a:t>
            </a:r>
            <a:r>
              <a:rPr lang="en-US" sz="3200" dirty="0" err="1"/>
              <a:t>xử</a:t>
            </a:r>
            <a:r>
              <a:rPr lang="en-US" sz="3200" dirty="0"/>
              <a:t> </a:t>
            </a:r>
            <a:r>
              <a:rPr lang="en-US" sz="3200" dirty="0" err="1"/>
              <a:t>lý</a:t>
            </a:r>
            <a:r>
              <a:rPr lang="en-US" sz="3200" dirty="0"/>
              <a:t> </a:t>
            </a:r>
            <a:r>
              <a:rPr lang="en-US" sz="3200" dirty="0" err="1"/>
              <a:t>tiên</a:t>
            </a:r>
            <a:r>
              <a:rPr lang="en-US" sz="3200" dirty="0"/>
              <a:t> </a:t>
            </a:r>
            <a:r>
              <a:rPr lang="en-US" sz="3200" dirty="0" err="1"/>
              <a:t>tiến</a:t>
            </a:r>
            <a:r>
              <a:rPr lang="en-US" sz="3200" dirty="0"/>
              <a:t> (</a:t>
            </a:r>
            <a:r>
              <a:rPr lang="en-US" sz="3200" dirty="0" err="1"/>
              <a:t>tt</a:t>
            </a:r>
            <a:r>
              <a:rPr lang="en-US" sz="32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dirty="0"/>
              <a:t>Bộ nhớ Cache</a:t>
            </a:r>
          </a:p>
          <a:p>
            <a:pPr lvl="1"/>
            <a:r>
              <a:rPr lang="vi-VN" dirty="0"/>
              <a:t>Được tích hợp trên chip vi xử lý</a:t>
            </a:r>
          </a:p>
          <a:p>
            <a:pPr lvl="1"/>
            <a:r>
              <a:rPr lang="vi-VN" dirty="0"/>
              <a:t>Bao gồm 2 mức cache</a:t>
            </a:r>
          </a:p>
          <a:p>
            <a:pPr lvl="2"/>
            <a:r>
              <a:rPr lang="vi-VN" dirty="0"/>
              <a:t>Cache L1: gồm 2 thành phần tách rời cache lệnh và </a:t>
            </a:r>
            <a:r>
              <a:rPr lang="en-US" dirty="0"/>
              <a:t>c</a:t>
            </a:r>
            <a:r>
              <a:rPr lang="vi-VN" dirty="0"/>
              <a:t>ache dữ liệu.</a:t>
            </a:r>
          </a:p>
          <a:p>
            <a:pPr lvl="2"/>
            <a:r>
              <a:rPr lang="vi-VN" dirty="0"/>
              <a:t>Cache L2: dùng chung cho cả lệnh và dữ liệu.</a:t>
            </a:r>
            <a:endParaRPr lang="en-US" dirty="0"/>
          </a:p>
          <a:p>
            <a:pPr lvl="2"/>
            <a:r>
              <a:rPr lang="en-US" dirty="0"/>
              <a:t>-&gt; </a:t>
            </a:r>
            <a:r>
              <a:rPr lang="vi-VN" dirty="0"/>
              <a:t>Giải quyết xung đột khi nhận lệnh và</a:t>
            </a:r>
            <a:r>
              <a:rPr lang="en-US" dirty="0"/>
              <a:t> </a:t>
            </a:r>
            <a:r>
              <a:rPr lang="vi-VN" dirty="0"/>
              <a:t>dữ liệu</a:t>
            </a:r>
          </a:p>
          <a:p>
            <a:r>
              <a:rPr lang="vi-VN" dirty="0"/>
              <a:t>Đơn vị quản lý bộ nhớ</a:t>
            </a:r>
          </a:p>
          <a:p>
            <a:pPr lvl="1"/>
            <a:r>
              <a:rPr lang="vi-VN" dirty="0"/>
              <a:t>Chuyển đổi địa chỉ ảo thành địa chỉ xử lý.</a:t>
            </a:r>
          </a:p>
          <a:p>
            <a:pPr lvl="1"/>
            <a:r>
              <a:rPr lang="vi-VN" dirty="0"/>
              <a:t>Cung cấp cơ chế phân trang/phân đoạn.</a:t>
            </a:r>
          </a:p>
          <a:p>
            <a:pPr lvl="1"/>
            <a:r>
              <a:rPr lang="vi-VN" dirty="0"/>
              <a:t>Cung cấp chế độ bảo vệ bộ nhớ.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016TGp">
  <a:themeElements>
    <a:clrScheme name="F016TGp 3">
      <a:dk1>
        <a:srgbClr val="333333"/>
      </a:dk1>
      <a:lt1>
        <a:srgbClr val="FFFFFF"/>
      </a:lt1>
      <a:dk2>
        <a:srgbClr val="FFFFFF"/>
      </a:dk2>
      <a:lt2>
        <a:srgbClr val="B2B2B2"/>
      </a:lt2>
      <a:accent1>
        <a:srgbClr val="1C40B2"/>
      </a:accent1>
      <a:accent2>
        <a:srgbClr val="E14A21"/>
      </a:accent2>
      <a:accent3>
        <a:srgbClr val="FFFFFF"/>
      </a:accent3>
      <a:accent4>
        <a:srgbClr val="2A2A2A"/>
      </a:accent4>
      <a:accent5>
        <a:srgbClr val="ABAFD5"/>
      </a:accent5>
      <a:accent6>
        <a:srgbClr val="CC421D"/>
      </a:accent6>
      <a:hlink>
        <a:srgbClr val="3392E9"/>
      </a:hlink>
      <a:folHlink>
        <a:srgbClr val="6544CE"/>
      </a:folHlink>
    </a:clrScheme>
    <a:fontScheme name="F016TGp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016TGp 1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3194CB"/>
        </a:hlink>
        <a:folHlink>
          <a:srgbClr val="B5581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016TGp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D98445"/>
        </a:hlink>
        <a:folHlink>
          <a:srgbClr val="8A712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016TGp 3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1C40B2"/>
        </a:accent1>
        <a:accent2>
          <a:srgbClr val="E14A21"/>
        </a:accent2>
        <a:accent3>
          <a:srgbClr val="FFFFFF"/>
        </a:accent3>
        <a:accent4>
          <a:srgbClr val="2A2A2A"/>
        </a:accent4>
        <a:accent5>
          <a:srgbClr val="ABAFD5"/>
        </a:accent5>
        <a:accent6>
          <a:srgbClr val="CC421D"/>
        </a:accent6>
        <a:hlink>
          <a:srgbClr val="3392E9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26529</TotalTime>
  <Words>6564</Words>
  <Application>Microsoft Office PowerPoint</Application>
  <PresentationFormat>On-screen Show (4:3)</PresentationFormat>
  <Paragraphs>785</Paragraphs>
  <Slides>100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100</vt:i4>
      </vt:variant>
    </vt:vector>
  </HeadingPairs>
  <TitlesOfParts>
    <vt:vector size="112" baseType="lpstr">
      <vt:lpstr>Arial</vt:lpstr>
      <vt:lpstr>Arial Black</vt:lpstr>
      <vt:lpstr>Calibri</vt:lpstr>
      <vt:lpstr>Symbol</vt:lpstr>
      <vt:lpstr>Tahoma</vt:lpstr>
      <vt:lpstr>Times New Roman</vt:lpstr>
      <vt:lpstr>Tw Cen MT</vt:lpstr>
      <vt:lpstr>Verdana</vt:lpstr>
      <vt:lpstr>Wingdings</vt:lpstr>
      <vt:lpstr>Wingdings 2</vt:lpstr>
      <vt:lpstr>Median</vt:lpstr>
      <vt:lpstr>F016TGp</vt:lpstr>
      <vt:lpstr>KHỐI XỬ LÝ TRUNG TÂM - CPU</vt:lpstr>
      <vt:lpstr>Minh họa</vt:lpstr>
      <vt:lpstr>Các thành phần của máy tính</vt:lpstr>
      <vt:lpstr>Hệ thống Bus</vt:lpstr>
      <vt:lpstr>Data Bus</vt:lpstr>
      <vt:lpstr>Address bus</vt:lpstr>
      <vt:lpstr>Control Bus</vt:lpstr>
      <vt:lpstr>Các thành phần chính của CPU</vt:lpstr>
      <vt:lpstr>Cấu trúc bên trong CPU</vt:lpstr>
      <vt:lpstr>Nhiệm vụ của CPU</vt:lpstr>
      <vt:lpstr>Chu kỳ lệnh</vt:lpstr>
      <vt:lpstr>Chu kỳ lệnh</vt:lpstr>
      <vt:lpstr>Nhận lệnh</vt:lpstr>
      <vt:lpstr>Giải mã lệnh</vt:lpstr>
      <vt:lpstr>Nhận dữ liệu</vt:lpstr>
      <vt:lpstr>Nhận dữ liệu gián tiếp</vt:lpstr>
      <vt:lpstr>Thực thi lệnh</vt:lpstr>
      <vt:lpstr>Ghi toán hạng</vt:lpstr>
      <vt:lpstr>Ví dụ về thực thi chương trình</vt:lpstr>
      <vt:lpstr>Lưu đồ trạng thái – Chu kỳ lệnh</vt:lpstr>
      <vt:lpstr>Ngắt (Interrupts)</vt:lpstr>
      <vt:lpstr>Tương tác ngắt và chương trình</vt:lpstr>
      <vt:lpstr>Chu kỳ lệnh có ngắt</vt:lpstr>
      <vt:lpstr>Lưu đồ trạng thái trong chu kỳ lệnh có ngắt</vt:lpstr>
      <vt:lpstr>Đa ngắt</vt:lpstr>
      <vt:lpstr>Đa ngắt- Tuần tự</vt:lpstr>
      <vt:lpstr>Đa ngắt- Lồng</vt:lpstr>
      <vt:lpstr>Minh họa đa ngắt</vt:lpstr>
      <vt:lpstr>Đường ống lệnh (Instruction Pipelining)</vt:lpstr>
      <vt:lpstr>Biểu đồ thời gian của đường ống lệnh</vt:lpstr>
      <vt:lpstr>Các xung đột của đường ống lệnh</vt:lpstr>
      <vt:lpstr>Các thành phần chính của CPU</vt:lpstr>
      <vt:lpstr>ALU – Đơn vị số học và logic</vt:lpstr>
      <vt:lpstr>CU – Đơn vị điều khiển</vt:lpstr>
      <vt:lpstr>Các tín hiệu đưa đến đơn vị điều khiển</vt:lpstr>
      <vt:lpstr>Các tín hiệu đi ra từ đơn vị điều khiển</vt:lpstr>
      <vt:lpstr>Tập thanh ghi (Registers)</vt:lpstr>
      <vt:lpstr>Phân loại thanh ghi theo chức năng</vt:lpstr>
      <vt:lpstr>Một số thanh ghi điển hình</vt:lpstr>
      <vt:lpstr>Bộ đếm chương trình PC</vt:lpstr>
      <vt:lpstr>Thanh ghi con trỏ dữ liệu - DP</vt:lpstr>
      <vt:lpstr>Ngăn xếp - stack</vt:lpstr>
      <vt:lpstr>Con trỏ ngăn xếp - SP</vt:lpstr>
      <vt:lpstr>Thanh ghi cơ sở và thanh ghi chỉ số</vt:lpstr>
      <vt:lpstr>Các thanh ghi dữ liệu</vt:lpstr>
      <vt:lpstr>Thanh ghi đa năng (8088/8086)</vt:lpstr>
      <vt:lpstr>Thanh ghi đoạn (8088/8086)</vt:lpstr>
      <vt:lpstr>Thanh ghi con trỏ và chỉ số (8088/8086)</vt:lpstr>
      <vt:lpstr>Thanh ghi trạng thái – status register</vt:lpstr>
      <vt:lpstr>Thanh ghi trạng thái (8088/8086)</vt:lpstr>
      <vt:lpstr>Thanh ghi trạng thái (8088/8086) - tt</vt:lpstr>
      <vt:lpstr>Ví dụ cờ phép toán</vt:lpstr>
      <vt:lpstr>Ví dụ cờ điều khiển</vt:lpstr>
      <vt:lpstr>Kiến trúc bộ VXL 8088</vt:lpstr>
      <vt:lpstr>Tập lệnh máy tính</vt:lpstr>
      <vt:lpstr>Các thành phần của lệnh máy</vt:lpstr>
      <vt:lpstr>Các kiểu thao tác</vt:lpstr>
      <vt:lpstr>Các lệnh chuyển dữ liệu</vt:lpstr>
      <vt:lpstr>Minh họa lệnh MOVE (8088/8086)</vt:lpstr>
      <vt:lpstr>Minh họa lệnh EXCHANGE (8088/8086) </vt:lpstr>
      <vt:lpstr>Minh họa lệnh LEA (8088/8086)</vt:lpstr>
      <vt:lpstr>Minh họa lệnh LEA (8088/8086)</vt:lpstr>
      <vt:lpstr>Minh họa lệnh PUSH/POP (8088/8086)</vt:lpstr>
      <vt:lpstr>Minh họa lệnh PUSH/POP (8088/8086)</vt:lpstr>
      <vt:lpstr>Lệnh XLATB</vt:lpstr>
      <vt:lpstr>Lệnh XLATB</vt:lpstr>
      <vt:lpstr>Các lệnh số học</vt:lpstr>
      <vt:lpstr>Minh họa lệnh ADD/SUB (8088/8086)</vt:lpstr>
      <vt:lpstr>Minh họa lệnh MUL (8088/8086)</vt:lpstr>
      <vt:lpstr>Minh họa lệnh DIV (8088/8086)</vt:lpstr>
      <vt:lpstr>Minh họa lệnh INC/DEC/NEG (8088/8086)</vt:lpstr>
      <vt:lpstr>Minh họa lệnh CMP (8088/8086)</vt:lpstr>
      <vt:lpstr>Các lệnh logic</vt:lpstr>
      <vt:lpstr>Minh họa các lệnh AND, OR, XOR</vt:lpstr>
      <vt:lpstr>Minh họa lệnh TEST (8088/8086)</vt:lpstr>
      <vt:lpstr>Minh họa lệnh Dịch trái (8088/8086)</vt:lpstr>
      <vt:lpstr>Minh họa lệnh Dịch phải (8088/8086)</vt:lpstr>
      <vt:lpstr>Minh họa lệnh Quay vòng (8088/8086)</vt:lpstr>
      <vt:lpstr>Các lệnh vào ra chuyên dụng (8088/8086)</vt:lpstr>
      <vt:lpstr>Các lệnh chuyển điều khiển</vt:lpstr>
      <vt:lpstr>Lệnh rẽ nhánh không điều kiện</vt:lpstr>
      <vt:lpstr>Lệnh rẽ nhánh có điều kiện</vt:lpstr>
      <vt:lpstr>Lệnh CALL và RETURN</vt:lpstr>
      <vt:lpstr>Các lệnh điều khiển hệ thống</vt:lpstr>
      <vt:lpstr>Các phương pháp định địa chỉ</vt:lpstr>
      <vt:lpstr>Các phương pháp định địa chỉ thông dụng</vt:lpstr>
      <vt:lpstr>Định địa chỉ tức thì</vt:lpstr>
      <vt:lpstr>Định địa chỉ thanh ghi</vt:lpstr>
      <vt:lpstr>Định địa chỉ trực tiếp</vt:lpstr>
      <vt:lpstr>Định địa chỉ gián tiếp qua thanh ghi</vt:lpstr>
      <vt:lpstr>Định địa chỉ gián tiếp qua ngăn nhớ</vt:lpstr>
      <vt:lpstr>Định địa chỉ dịch chuyển</vt:lpstr>
      <vt:lpstr>Các Phương Pháp Định địa chỉ</vt:lpstr>
      <vt:lpstr>Kiến trúc Intel</vt:lpstr>
      <vt:lpstr>Kiến trúc 16-bit (IA-16)</vt:lpstr>
      <vt:lpstr>Kiến trúc 32-bit (IA-32)</vt:lpstr>
      <vt:lpstr>Kiến trúc 64-bit (IA-64)</vt:lpstr>
      <vt:lpstr>Cấu trúc chung của các bộ xử lý tiên tiến</vt:lpstr>
      <vt:lpstr>Cấu trúc chung của các bộ xử lý tiên tiến (tt)</vt:lpstr>
      <vt:lpstr>Cấu trúc chung của các bộ xử lý tiên tiến (tt)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KHỐI XỬ LÝ TRUNG TÂM - CPU</dc:title>
  <dc:creator>HDT</dc:creator>
  <cp:lastModifiedBy>admin</cp:lastModifiedBy>
  <cp:revision>291</cp:revision>
  <dcterms:created xsi:type="dcterms:W3CDTF">2009-09-18T14:26:38Z</dcterms:created>
  <dcterms:modified xsi:type="dcterms:W3CDTF">2025-05-30T06:20:18Z</dcterms:modified>
</cp:coreProperties>
</file>